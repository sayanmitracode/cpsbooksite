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24" r:id="rId2"/>
    <p:sldId id="951" r:id="rId3"/>
    <p:sldId id="955" r:id="rId4"/>
    <p:sldId id="952" r:id="rId5"/>
    <p:sldId id="313" r:id="rId6"/>
    <p:sldId id="567" r:id="rId7"/>
    <p:sldId id="264" r:id="rId8"/>
    <p:sldId id="286" r:id="rId9"/>
    <p:sldId id="960" r:id="rId10"/>
    <p:sldId id="491" r:id="rId11"/>
    <p:sldId id="916" r:id="rId12"/>
    <p:sldId id="274" r:id="rId13"/>
    <p:sldId id="915" r:id="rId14"/>
    <p:sldId id="953" r:id="rId15"/>
    <p:sldId id="917" r:id="rId16"/>
    <p:sldId id="948" r:id="rId17"/>
    <p:sldId id="33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677"/>
    <p:restoredTop sz="94690"/>
  </p:normalViewPr>
  <p:slideViewPr>
    <p:cSldViewPr snapToGrid="0" snapToObjects="1" showGuides="1">
      <p:cViewPr varScale="1">
        <p:scale>
          <a:sx n="90" d="100"/>
          <a:sy n="90" d="100"/>
        </p:scale>
        <p:origin x="208" y="824"/>
      </p:cViewPr>
      <p:guideLst>
        <p:guide orient="horz" pos="2160"/>
        <p:guide pos="38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2:51.5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1295 24575,'39'-30'0,"-8"4"0,26-21 0,-20 17 0,6-6 0,-2 5 0,-5 1 0,6-5 0,-14 12 0,4-5 0,5-3 0,-8 12 0,12-10 0,-20 17 0,11-4 0,-5 1 0,0 3 0,4-4 0,-4 6 0,6-1 0,0-1 0,0 1 0,0 0 0,-6 1 0,13-6 0,-16 5 0,17-5 0,-20 6 0,5 0 0,-1 4 0,3-4 0,-1 5 0,5-6 0,-5 0 0,0 1 0,5-2 0,-5 2 0,6 4 0,0-4 0,0 4 0,0-1 0,0-3 0,7 4 0,1-6 0,1 5 0,-3-3 0,16-2 0,-17 5 0,17-8 0,-28 9 0,5-5 0,-11 5 0,11-4 0,-11 4 0,5-4 0,0-1 0,-4 5 0,9-4 0,-3-1 0,5-1 0,0-4 0,6 4 0,-4 1 0,5-1 0,0 1 0,-6-1 0,28 0 0,-24 1 0,25-5 0,-27 9 0,9-12 0,-22 17 0,5-12 0,-13 13 0,0-7 0,4 2 0,-3-4 0,4 0 0,0-5 0,-5 5 0,4-9 0,-4 3 0,5 0 0,-4-3 0,3 8 0,-8-8 0,8 7 0,-3-7 0,4 8 0,-5-3 0,4 4 0,-9 0 0,8 1 0,-8 4 0,3-3 0,-8 7 0,-1-3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2:54.21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9 1 24575,'-5'4'0,"2"5"0,3 1 0,0 4 0,0-5 0,4 1 0,1-1 0,0 0 0,3 0 0,-3-4 0,0-5 0,-1-5 0,-4-3 0,0-1 0,0 4 0,0 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2:55.9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27 24575,'9'0'0,"-1"0"0,-3-8 0,-1 2 0,-4-3 0,0 6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2:59.71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0 629 24575,'18'-14'0,"1"-1"0,1 0 0,-5 0 0,4 5 0,-4 1 0,5-1 0,0-1 0,6 1 0,22-6 0,-3 3 0,17-4 0,-14 0 0,0 3 0,0-3 0,-7 5 0,5 0 0,-11 6 0,4-4 0,1 9 0,-6-9 0,6 9 0,-1-4 0,-4 5 0,17 0 0,-9 0 0,19 0 0,-4 0 0,7 0 0,-1 0 0,0 0 0,0 0 0,1 0 0,0 0 0,-1 0 0,0 0 0,14 0 0,-10 0 0,-18 0 0,0 0 0,12 0 0,23 0 0,-36 0 0,14 0 0,-6 0 0,9 0 0,-1 0 0,-8 0 0,6 0 0,-5 0 0,-1 0 0,35 0 0,-27 0 0,29 0 0,-29 6 0,0-5 0,0 5 0,9-6 0,-7 0 0,6 0 0,-8 0 0,0 0 0,8 0 0,-5 0 0,5-6 0,-16-1 0,-1-5 0,-8 0 0,0-6 0,-7 5 0,-1-9 0,-7 10 0,-6-4 0,8-3 0,-13 6 0,7-10 0,-14 12 0,4-4 0,-8 6 0,3-6 0,-5 5 0,5-5 0,-3 6 0,3 0 0,0-6 0,-4 5 0,9-5 0,-4 1 0,0 3 0,-1-3 0,-5 5 0,0 4 0,0-3 0,0 7 0,0-7 0,-3 7 0,-2-4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4:19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 71 24575,'-10'-3'0,"-1"-2"0,10-4 0,-2 8 0,3 6 0,3 0 0,2 3 0,4-8 0,-1 0 0,1 0 0,-1 0 0,-3-4 0,-1-1 0,-4-3 0,0 0 0,-4 3 0,-1 1 0,-4 4 0,4-4 0,-3 3 0,3-3 0,-4 4 0,0 0 0,1 0 0,-1 0 0,4 4 0,2 0 0,3 5 0,0-1 0,3-3 0,2 2 0,3-6 0,-3 7 0,3-7 0,-3 3 0,3-4 0,1 0 0,-1 0 0,1 0 0,-1-4 0,-3-1 0,2 0 0,-6-2 0,7 6 0,-7-7 0,7 7 0,-7-7 0,2 3 0,-3-4 0,0 1 0,0-1 0,-4 5 0,0 0 0,-5 4 0,0 0 0,0 0 0,0 0 0,1 0 0,-1 0 0,0 0 0,1 0 0,-1 0 0,0 0 0,1 0 0,-1 3 0,4 2 0,2 3 0,3 1 0,0-1 0,0 1 0,0-1 0,3-3 0,2-1 0,4-4 0,-1 0 0,1 0 0,-1 0 0,1 0 0,0 0 0,-1 0 0,-3 4 0,2-3 0,-2 3 0,4 0 0,0-3 0,-5 6 0,4-6 0,-3 4 0,4-5 0,0 0 0,-1 0 0,1 0 0,-4-4 0,-2-1 0,-3-4 0,0-1 0,0 1 0,0 0 0,0 0 0,0 0 0,-4 4 0,-1 2 0,-4 3 0,0-5 0,0 4 0,0-3 0,0 4 0,0 0 0,1 0 0,-1 0 0,0 0 0,0 0 0,1 0 0,3 4 0,-3 1 0,7 3 0,-3 1 0,4 0 0,0 0 0,-4-4 0,3 3 0,-3-3 0,4 4 0,0 0 0,0 0 0,0-1 0,0 1 0,0-1 0,0 1 0,4-5 0,1 0 0,3-4 0,1 0 0,-1 0 0,1 0 0,-1 0 0,1 0 0,-1 0 0,1 0 0,-1 0 0,1 0 0,-5-4 0,0-1 0,-4-3 0,0-1 0,0 1 0,0-1 0,0 0 0,0 1 0,-4 2 0,3-1 0,-7 6 0,3-3 0,-4 0 0,1 3 0,3-7 0,-3 7 0,4-3 0,-1 0 0,1 3 0,4-3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4:23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46 24575,'0'9'0,"0"-1"0,0 1 0,0-1 0,4-3 0,1-1 0,3-4 0,1 0 0,-1 0 0,1 0 0,-1 0 0,1 0 0,0 0 0,-4-4 0,-1-1 0,-1-4 0,-2 0 0,3 0 0,-4 0 0,0 0 0,0 0 0,0 1 0,-4 3 0,-1 1 0,-4 4 0,0 0 0,0 0 0,0 0 0,0-4 0,1 3 0,-1-3 0,0 4 0,1 0 0,-1 0 0,1 4 0,-1 1 0,4 4 0,-3-1 0,3 2 0,-4-1 0,-1 5 0,1 1 0,-1 5 0,-1 0 0,6-5 0,-4-1 0,8 0 0,-7-4 0,7 4 0,0-9 0,6-1 0,4-4 0,0 0 0,0 0 0,0 0 0,0 0 0,-1 0 0,1 0 0,-1-3 0,-3-3 0,3-2 0,-3-2 0,0 1 0,4-5 0,-4 3 0,0-3 0,3 5 0,-3 0 0,0 0 0,-1-1 0,-4 2 0,4 2 0,-3-1 0,-1 6 0,-5-3 0,-3 4 0,3-4 0,-4 3 0,5-3 0,-5 4 0,0-4 0,0 3 0,1-2 0,-1 3 0,1 0 0,-1 0 0,1 0 0,-1 0 0,1 0 0,3 3 0,5-2 0,1 7 0,7-3 0,-7 4 0,3 0 0,0 0 0,1 0 0,0 0 0,3-5 0,-7 4 0,2-3 0,1 0 0,1-1 0,3-4 0,0 0 0,0 0 0,1 0 0,-1 0 0,1 0 0,-1 0 0,0 0 0,-3-4 0,-1-1 0,-4-3 0,0 3 0,0 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4:26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81 27 24575,'-9'0'0,"1"0"0,-1 0 0,4 4 0,1 1 0,4 3 0,0 1 0,0 0 0,0 0 0,0 0 0,4-4 0,0-1 0,5-4 0,-1 0 0,0 0 0,-3-4 0,3 3 0,-7-7 0,3 3 0,-4-4 0,0 0 0,0 0 0,0 0 0,0 0 0,0 0 0,0 1 0,-4 3 0,-1 1 0,-3 4 0,-1 0 0,0 0 0,0 0 0,0 0 0,0 0 0,0 0 0,1 0 0,-1 0 0,5 4 0,0 1 0,4 3 0,0 0 0,0 1 0,0-1 0,0 1 0,0 0 0,0-1 0,4 1 0,0-4 0,5 3 0,0-7 0,0 7 0,0-7 0,0 7 0,5-3 0,-3 4 0,7 1 0,-8-5 0,3-1 0,-4-4 0,0 0 0,0 0 0,0 0 0,-4-4 0,-2-1 0,-3-3 0,0-1 0,0 0 0,0 0 0,0 1 0,0-1 0,0 0 0,0 1 0,-3 3 0,2-3 0,-7 7 0,3-7 0,-4 7 0,0-3 0,1 4 0,-1 0 0,1 0 0,-1 0 0,1 0 0,3 4 0,1 1 0,4-1 0,0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19T16:44:30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80 24575,'-4'4'0,"0"0"0,4 5 0,0-1 0,0 0 0,4-3 0,0-1 0,5-4 0,-1 0 0,0 0 0,-3-4 0,3-1 0,-7-4 0,2 0 0,-3 0 0,0 0 0,0 0 0,0 0 0,0 0 0,0 0 0,-3 5 0,-2 0 0,-4 4 0,1 0 0,-1 0 0,1 0 0,-1 0 0,0 0 0,1 0 0,-1 0 0,4 3 0,2 2 0,3 4 0,0-1 0,0 0 0,0 1 0,0-1 0,3-3 0,2-2 0,3-3 0,1 0 0,-1 0 0,0 0 0,1 0 0,-1 0 0,1-4 0,-4-1 0,2-3 0,-2 2 0,0-2 0,-1 4 0,0-1 0,-3-3 0,3 3 0,-4-3 0,0-1 0,-4 5 0,0 0 0,-5 4 0,0 0 0,1 0 0,-1 0 0,0 0 0,0 0 0,0 0 0,0 0 0,1 0 0,-1 0 0,4 3 0,1 2 0,4 4 0,0-1 0,0 1 0,0 0 0,0 0 0,0 0 0,0 0 0,0 0 0,0-1 0,0 1 0,0-1 0,0 1 0,0-1 0,4-3 0,1-1 0,0 0 0,3-3 0,-3 7 0,4-7 0,-1 2 0,1-3 0,0 0 0,-5-4 0,4-1 0,-7-4 0,7 0 0,-7-1 0,8 1 0,-5 0 0,1 0 0,-1 0 0,0 4 0,-3-2 0,3 2 0,-4-4 0,0 1 0,0-1 0,0 0 0,0 0 0,0 1 0,-4 3 0,0 1 0,-5 4 0,0-4 0,0 3 0,0-3 0,0 4 0,1 0 0,-1 0 0,0 0 0,1 0 0,-1 0 0,1 4 0,3 1 0,1 3 0,4 1 0,0 0 0,0-1 0,0 1 0,0-1 0,0 1 0,0-1 0,4-3 0,1-2 0,4-3 0,-1 0 0,1 0 0,0 0 0,-1 0 0,1 0 0,-1 0 0,1 0 0,-1 0 0,-3-4 0,2 3 0,-6-3 0,3 4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19-09-24T17:57:45.98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26705 11042 24575,'0'-20'0,"-15"-11"0,11 27 0,-28-12 0,28 16 0,-35-23 0,33 17 0,-17-18 0,7 24 0,12 0 0,-11 0 0,-1 0 0,12 0 0,-35 0 0,33-15 0,-18 11 0,24-12 0,-15 16 0,11 0 0,-12 0 0,16 0 0,-23 0 0,17 0 0,-18-23 0,24 17 0,-16-18 0,13 24 0,-13 0 0,16 0 0,-16 0 0,12 24 0,-11-18 0,15 17 0,0-23 0,-24 16 0,18-12 0,-17 11 0,23-15 0,0 24 0,-16-18 0,12 17 0,-12-23 0,16 16 0,0-12 0,0 12 0,0-16 0,0 15 0,0-11 0,0 12 0,0-16 0,0 23 0,0-17 0,0 18 0,0-24 0,0 16 0,0-13 0,0 13 0,0-16 0,0 16 0,0-12 0,0 11 0,0-15 0,0 24 0,0-18 0,0 17 0,0-23 0,0 16 0,0-12 0,0 12 0,0-1 0,0-11 0,0 12 0,0-16 0,0 23 0,0-17 0,0 18 0,16-24 0,-12 0 0,12 15 0,7-11 0,-17 12 0,18-16 0,-9 0 0,-11 0 0,12 24 0,-16-19 0,16 19 0,-13-24 0,13 0 0,-16 0 0,24 0 0,-18 0 0,17 0 0,-7 0 0,-12 0 0,11 0 0,-15 0 0,24 0 0,-18 0 0,17 0 0,-23 0 0,16 0 0,-12 0 0,12 0 0,-16 0 0,15 0 0,-11 0 0,12 0 0,-16 0 0,23 0 0,-17-24 0,18 19 0,-24-19 0,0 24 0,15-16 0,-11 12 0,12-35 0,-16 33 0,16-17 0,-12 7 0,11 12 0,-15-11 0,0 15 0,0 0 0,0-16 0,0 12 0,24-12 0,-18 16 0,17 0 0,-23-23 0,0 17 0,0-18 0,0 9 0,0 11 0,0-12 0,0 0 0,0 13 0,0-13 0,0 16 0,0 0 0,-23 0 0,17-24 0,-18 18 0,24-17 0,0 23 0,0 0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FA870F-C41B-9B4C-901B-7159AE079D00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1CFE49-7933-1B4D-81B7-A9163543A7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811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a couple</a:t>
            </a:r>
            <a:r>
              <a:rPr lang="en-US" baseline="0" dirty="0"/>
              <a:t> of nice examples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506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Guard, Precondition</a:t>
            </a:r>
          </a:p>
          <a:p>
            <a:r>
              <a:rPr lang="en-US" dirty="0"/>
              <a:t>Effect, Reset map</a:t>
            </a:r>
          </a:p>
          <a:p>
            <a:r>
              <a:rPr lang="en-US" dirty="0"/>
              <a:t>Invariance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F81894-4E42-4C20-B559-1A0CBC527A2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8802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mins.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2075C-BB6B-1242-B0E9-C1B429E7B4C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701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300 years of mathematics developed for analyzing physics will not be enough for analyzing systems like self-driving cars where computers switch between different physics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8E2075C-BB6B-1242-B0E9-C1B429E7B4C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333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8B86-8394-CF4A-8879-985DED942E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13E8767-01DB-644B-8656-C6EFB5A41A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A0A7D0-C575-F24A-BB45-ACACEAC85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670689-5CA8-714A-9066-C1657D87D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6E8F8-BB2D-EB4B-A41E-26E92CB7D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49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C0C49-22EA-0349-883C-1151767C0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5DB3E3-218C-3F4D-91D5-C2D0F9E6C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8F8787-F933-7A4C-9DBC-876DBC2631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51B10C-0667-2840-B949-F299D282B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5E409-847A-834A-A045-AD74C5861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48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85699-8781-C741-9AEB-D20BDBDEA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7D410E-179E-4941-B697-062DB2B6E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9B6CF-7A24-6943-AD57-36F46FE55D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294D23-2641-774F-9A73-CAC38CC7E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24156-0D71-F44D-98B9-3533989AB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0386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4039E-C9C6-E845-84B8-3396A9A0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0ED53-F7D8-9D4C-91C1-3B2C548957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25857-5DF5-2F42-8DD0-F54894745C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4D066-9882-A346-8370-579B25917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7A40B7-5CC0-3840-83D9-FB52F605B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80AAB1-862E-414B-A02E-9C68829DA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760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57BC3-F4CA-2445-BE4A-F3331C889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95936-7721-BA40-8CC4-85C7DA6210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73070-2956-1C45-9B17-FEAB413570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38567D-C1F3-CF46-AEC6-79837CB23C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D67E23-0020-9040-A4AA-9C88F765C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1B1D9A-D762-A947-89EB-DC41499B48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E4AFD1F-012B-324E-B3A6-2A7CE3B35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6E49C7-8745-9842-91FA-22C3C6946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18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71385-4DB7-7545-A627-12C7FF0C4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CB17AE-1B1A-6C44-9A88-FBC1369E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9084A8-AF1E-704C-A9D9-543036983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C7B52-D078-EC44-83C8-AE32896D7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078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CA8E95-A1E0-614C-99F0-8FD407E90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901ACC-7B0F-8C4E-B570-27CABC7AC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F6F871-54E7-6E4F-A01B-951EE7BF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382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0E1F0-C70B-0E4C-B5B5-7CE99600B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76656-68B0-AA48-A979-ACBF123EAF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CE1E83-C986-C644-865D-1A9B4EC15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FF7BD4-1280-7D48-BEAB-7DADB9D48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C559A-F195-2E40-9FB1-DD44756B9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61874-5FB0-6548-A898-DA548F4A7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32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EBC5E-5612-384A-AC0A-DC89CA81C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87FEEE-9FE5-0348-A675-095DB2EF2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9FF4EA-4E99-FD4D-AE6F-71A2F04BEC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8F4C6C-4DFA-FD45-A040-7E5FD28AF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4CAB3-E86A-6E4A-AFCC-2E376E20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9F31B-8428-3446-84BD-534CE739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018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C72AF-0390-1747-9F43-0886D610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F510A-BF30-ED4C-9055-5F26395EA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00B714-F60D-1444-AF99-F36108704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C39DE-D529-8947-B94B-7EC6DA90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E377B-9055-4C46-8575-90576FAF5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92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80C65D-041F-8541-B8F4-1FD71717D0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0D139C-CB53-A249-9422-F81FC7090E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D30235-E02C-894B-ACBA-07ADBB1CE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8B82DC-3033-1B4F-9246-B3C055A99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880D55-FFE4-B841-B7A5-90315C452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217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209A39-6773-3641-86A3-424C59810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F16471-7EC3-0D49-9300-A63F047BC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029416-6A45-1649-AE56-DB76C248E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15D9E1-BA57-E444-8F13-844B2ED4FDAE}" type="datetimeFigureOut">
              <a:rPr lang="en-US" smtClean="0"/>
              <a:t>10/14/25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43410C-627E-D645-814F-14E2B72E43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C04EF-9CE7-794F-B579-07C21F427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314DD1-184D-9F47-8F33-DB71469054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86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tras@illinois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if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tiff"/><Relationship Id="rId3" Type="http://schemas.openxmlformats.org/officeDocument/2006/relationships/image" Target="../media/image13.tiff"/><Relationship Id="rId7" Type="http://schemas.microsoft.com/office/2007/relationships/hdphoto" Target="../media/hdphoto2.wdp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6.png"/><Relationship Id="rId18" Type="http://schemas.openxmlformats.org/officeDocument/2006/relationships/customXml" Target="../ink/ink6.xml"/><Relationship Id="rId26" Type="http://schemas.openxmlformats.org/officeDocument/2006/relationships/customXml" Target="../ink/ink9.xml"/><Relationship Id="rId3" Type="http://schemas.openxmlformats.org/officeDocument/2006/relationships/customXml" Target="../ink/ink1.xml"/><Relationship Id="rId21" Type="http://schemas.openxmlformats.org/officeDocument/2006/relationships/image" Target="../media/image31.png"/><Relationship Id="rId7" Type="http://schemas.openxmlformats.org/officeDocument/2006/relationships/customXml" Target="../ink/ink3.xml"/><Relationship Id="rId12" Type="http://schemas.openxmlformats.org/officeDocument/2006/relationships/image" Target="../media/image25.png"/><Relationship Id="rId17" Type="http://schemas.openxmlformats.org/officeDocument/2006/relationships/image" Target="../media/image29.png"/><Relationship Id="rId25" Type="http://schemas.openxmlformats.org/officeDocument/2006/relationships/image" Target="../media/image34.png"/><Relationship Id="rId2" Type="http://schemas.openxmlformats.org/officeDocument/2006/relationships/image" Target="../media/image13.png"/><Relationship Id="rId16" Type="http://schemas.openxmlformats.org/officeDocument/2006/relationships/customXml" Target="../ink/ink5.xml"/><Relationship Id="rId20" Type="http://schemas.openxmlformats.org/officeDocument/2006/relationships/customXml" Target="../ink/ink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4.png"/><Relationship Id="rId24" Type="http://schemas.openxmlformats.org/officeDocument/2006/relationships/image" Target="../media/image33.png"/><Relationship Id="rId5" Type="http://schemas.openxmlformats.org/officeDocument/2006/relationships/customXml" Target="../ink/ink2.xml"/><Relationship Id="rId15" Type="http://schemas.openxmlformats.org/officeDocument/2006/relationships/image" Target="../media/image28.png"/><Relationship Id="rId23" Type="http://schemas.openxmlformats.org/officeDocument/2006/relationships/image" Target="../media/image32.png"/><Relationship Id="rId10" Type="http://schemas.openxmlformats.org/officeDocument/2006/relationships/image" Target="../media/image23.png"/><Relationship Id="rId19" Type="http://schemas.openxmlformats.org/officeDocument/2006/relationships/image" Target="../media/image30.png"/><Relationship Id="rId4" Type="http://schemas.openxmlformats.org/officeDocument/2006/relationships/image" Target="../media/image20.png"/><Relationship Id="rId9" Type="http://schemas.openxmlformats.org/officeDocument/2006/relationships/customXml" Target="../ink/ink4.xml"/><Relationship Id="rId14" Type="http://schemas.openxmlformats.org/officeDocument/2006/relationships/image" Target="../media/image27.png"/><Relationship Id="rId22" Type="http://schemas.openxmlformats.org/officeDocument/2006/relationships/customXml" Target="../ink/ink8.xml"/><Relationship Id="rId27" Type="http://schemas.openxmlformats.org/officeDocument/2006/relationships/image" Target="../media/image1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if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7" Type="http://schemas.microsoft.com/office/2007/relationships/hdphoto" Target="../media/hdphoto2.wdp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microsoft.com/office/2007/relationships/hdphoto" Target="../media/hdphoto1.wdp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94304"/>
          </a:xfrm>
        </p:spPr>
        <p:txBody>
          <a:bodyPr>
            <a:normAutofit/>
          </a:bodyPr>
          <a:lstStyle/>
          <a:p>
            <a:r>
              <a:rPr lang="en-US" sz="3600" dirty="0"/>
              <a:t>Modeling Cyberphysical Systems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Sayan Mitra</a:t>
            </a:r>
          </a:p>
          <a:p>
            <a:r>
              <a:rPr lang="en-US" dirty="0"/>
              <a:t>Verifying </a:t>
            </a:r>
            <a:r>
              <a:rPr lang="en-US"/>
              <a:t>cyberphysical</a:t>
            </a:r>
            <a:r>
              <a:rPr lang="en-US" dirty="0"/>
              <a:t> systems</a:t>
            </a:r>
          </a:p>
          <a:p>
            <a:r>
              <a:rPr lang="en-US" dirty="0">
                <a:hlinkClick r:id="rId2"/>
              </a:rPr>
              <a:t>mitras@illinois.edu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80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C6A42-60A7-C449-8930-90B43F45B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73E42-F664-934E-B525-1A44AD459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Modeling cyber-physical systems</a:t>
            </a:r>
          </a:p>
          <a:p>
            <a:pPr lvl="1"/>
            <a:r>
              <a:rPr lang="en-US" dirty="0"/>
              <a:t>Hybrid automata</a:t>
            </a:r>
          </a:p>
          <a:p>
            <a:pPr lvl="1"/>
            <a:r>
              <a:rPr lang="en-US" dirty="0"/>
              <a:t>Executions</a:t>
            </a:r>
          </a:p>
          <a:p>
            <a:pPr lvl="1"/>
            <a:r>
              <a:rPr lang="en-US" dirty="0"/>
              <a:t>Urgency</a:t>
            </a:r>
          </a:p>
          <a:p>
            <a:r>
              <a:rPr lang="en-US" dirty="0"/>
              <a:t>Zeno</a:t>
            </a:r>
          </a:p>
          <a:p>
            <a:r>
              <a:rPr lang="en-US" dirty="0"/>
              <a:t>Hybrid stability</a:t>
            </a:r>
          </a:p>
        </p:txBody>
      </p:sp>
    </p:spTree>
    <p:extLst>
      <p:ext uri="{BB962C8B-B14F-4D97-AF65-F5344CB8AC3E}">
        <p14:creationId xmlns:p14="http://schemas.microsoft.com/office/powerpoint/2010/main" val="3935835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61E9D-E9CF-C43F-B64F-E6E377D95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Why combine discrete and continuous time models?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C27A0-E033-C533-0D4D-014B68129A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490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+mj-lt"/>
              </a:rPr>
              <a:t>Engineering systems can have dynamics with widely different time constants</a:t>
            </a:r>
          </a:p>
          <a:p>
            <a:pPr lvl="1"/>
            <a:r>
              <a:rPr lang="en-US" dirty="0">
                <a:latin typeface="+mj-lt"/>
              </a:rPr>
              <a:t>Software for AV updates at 1 GHz --- human scale motion 10 Hz</a:t>
            </a:r>
          </a:p>
          <a:p>
            <a:pPr lvl="1"/>
            <a:r>
              <a:rPr lang="en-US" dirty="0">
                <a:latin typeface="+mj-lt"/>
              </a:rPr>
              <a:t>Electrical circuit breakers 50 Hz --- power system dynamics 0.1 – 1 Hz 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Widely different time constants can make computation numerically unstable</a:t>
            </a:r>
          </a:p>
          <a:p>
            <a:pPr marL="0" indent="0">
              <a:buNone/>
            </a:pPr>
            <a:endParaRPr lang="en-US" dirty="0">
              <a:latin typeface="+mj-lt"/>
            </a:endParaRPr>
          </a:p>
          <a:p>
            <a:pPr marL="0" indent="0">
              <a:buNone/>
            </a:pPr>
            <a:r>
              <a:rPr lang="en-US" dirty="0">
                <a:latin typeface="+mj-lt"/>
              </a:rPr>
              <a:t>Some state changes are naturally described by automata: </a:t>
            </a:r>
          </a:p>
          <a:p>
            <a:pPr lvl="1"/>
            <a:r>
              <a:rPr lang="en-US" dirty="0">
                <a:latin typeface="+mj-lt"/>
              </a:rPr>
              <a:t>programs, automata, SMT, switching rules, etc.</a:t>
            </a:r>
          </a:p>
          <a:p>
            <a:pPr marL="0" indent="0">
              <a:buNone/>
            </a:pPr>
            <a:r>
              <a:rPr lang="en-US" dirty="0">
                <a:latin typeface="+mj-lt"/>
              </a:rPr>
              <a:t>while others are naturally described by ODEs: </a:t>
            </a:r>
          </a:p>
          <a:p>
            <a:pPr lvl="1"/>
            <a:r>
              <a:rPr lang="en-US" dirty="0">
                <a:latin typeface="+mj-lt"/>
              </a:rPr>
              <a:t>motion of planets and satellites, physical laws, weather</a:t>
            </a:r>
          </a:p>
        </p:txBody>
      </p:sp>
    </p:spTree>
    <p:extLst>
      <p:ext uri="{BB962C8B-B14F-4D97-AF65-F5344CB8AC3E}">
        <p14:creationId xmlns:p14="http://schemas.microsoft.com/office/powerpoint/2010/main" val="212330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B8960-AB09-BE42-9E8A-A6C12B9D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9092"/>
          </a:xfrm>
        </p:spPr>
        <p:txBody>
          <a:bodyPr/>
          <a:lstStyle/>
          <a:p>
            <a:r>
              <a:rPr lang="en-US" dirty="0"/>
              <a:t>Example. Thermostat automaton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16046-AC4B-ED49-9AE3-4BB081C8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06" y="1363489"/>
            <a:ext cx="5839084" cy="1647898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5A7AC65-9D5F-4744-8882-C507A4191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974529"/>
            <a:ext cx="595294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automaton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Thermostat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Real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where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&gt;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enumeration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[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variables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Real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transitions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trajectories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San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028" name="Picture 4" descr="page75image7967904">
            <a:extLst>
              <a:ext uri="{FF2B5EF4-FFF2-40B4-BE49-F238E27FC236}">
                <a16:creationId xmlns:a16="http://schemas.microsoft.com/office/drawing/2014/main" id="{387B2CD3-C3A0-6049-BEE7-BAA0CA40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754063"/>
            <a:ext cx="455930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12A16590-659E-F647-9F4C-830CCB4ED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687" y="2107016"/>
            <a:ext cx="353861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Kx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DEF79F-021D-0142-9021-2353BD38BB67}"/>
              </a:ext>
            </a:extLst>
          </p:cNvPr>
          <p:cNvSpPr txBox="1"/>
          <p:nvPr/>
        </p:nvSpPr>
        <p:spPr>
          <a:xfrm>
            <a:off x="8099832" y="5615806"/>
            <a:ext cx="32539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Determinism vs nondeterminism</a:t>
            </a:r>
          </a:p>
          <a:p>
            <a:r>
              <a:rPr lang="en-US" dirty="0"/>
              <a:t>mode invariants</a:t>
            </a:r>
          </a:p>
        </p:txBody>
      </p:sp>
      <p:pic>
        <p:nvPicPr>
          <p:cNvPr id="3" name="Picture 2" descr="A graph of a controller with blue and green lines&#10;&#10;Description automatically generated">
            <a:extLst>
              <a:ext uri="{FF2B5EF4-FFF2-40B4-BE49-F238E27FC236}">
                <a16:creationId xmlns:a16="http://schemas.microsoft.com/office/drawing/2014/main" id="{DF83B790-1B88-6648-80B6-53F1C132FA6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260"/>
          <a:stretch/>
        </p:blipFill>
        <p:spPr>
          <a:xfrm>
            <a:off x="131404" y="3620812"/>
            <a:ext cx="5812352" cy="2872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176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Recall language for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2232837"/>
                <a:ext cx="6716486" cy="4455830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000" b="0" dirty="0">
                    <a:latin typeface="+mj-lt"/>
                    <a:ea typeface="Cambria Math" panose="02040503050406030204" pitchFamily="18" charset="0"/>
                  </a:rPr>
                  <a:t>An </a:t>
                </a:r>
                <a:r>
                  <a:rPr lang="en-US" sz="2000" b="1" dirty="0">
                    <a:latin typeface="+mj-lt"/>
                    <a:ea typeface="Cambria Math" panose="02040503050406030204" pitchFamily="18" charset="0"/>
                  </a:rPr>
                  <a:t>automaton</a:t>
                </a:r>
                <a:r>
                  <a:rPr lang="en-US" sz="2000" b="0" dirty="0">
                    <a:latin typeface="+mj-lt"/>
                    <a:ea typeface="Cambria Math" panose="02040503050406030204" pitchFamily="18" charset="0"/>
                  </a:rPr>
                  <a:t> tuple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𝒜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=〈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〉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000" dirty="0">
                    <a:latin typeface="+mj-lt"/>
                  </a:rPr>
                  <a:t> is a set of variables; each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+mj-lt"/>
                  </a:rPr>
                  <a:t>is associated with a type,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𝑡𝑦𝑝𝑒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+mj-lt"/>
                </a:endParaRPr>
              </a:p>
              <a:p>
                <a:pPr lvl="1"/>
                <a:r>
                  <a:rPr lang="en-US" sz="1800" dirty="0">
                    <a:latin typeface="+mj-lt"/>
                  </a:rPr>
                  <a:t>A </a:t>
                </a:r>
                <a:r>
                  <a:rPr lang="en-US" sz="1800" b="1" dirty="0">
                    <a:latin typeface="+mj-lt"/>
                  </a:rPr>
                  <a:t>valuation</a:t>
                </a:r>
                <a:r>
                  <a:rPr lang="en-US" sz="1800" dirty="0">
                    <a:latin typeface="+mj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1800" dirty="0">
                    <a:latin typeface="+mj-lt"/>
                  </a:rPr>
                  <a:t> maps each variable in X to its type</a:t>
                </a:r>
              </a:p>
              <a:p>
                <a:pPr lvl="1"/>
                <a:r>
                  <a:rPr lang="en-US" sz="1800" dirty="0">
                    <a:latin typeface="+mj-lt"/>
                  </a:rPr>
                  <a:t>Set of all valuations: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1800" dirty="0">
                    <a:latin typeface="+mj-lt"/>
                  </a:rPr>
                  <a:t> is the </a:t>
                </a:r>
                <a:r>
                  <a:rPr lang="en-US" sz="1800" b="1" dirty="0">
                    <a:latin typeface="+mj-lt"/>
                  </a:rPr>
                  <a:t>state space </a:t>
                </a:r>
                <a:endParaRPr lang="en-US" sz="1800" dirty="0">
                  <a:latin typeface="+mj-lt"/>
                </a:endParaRPr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+mj-lt"/>
                  </a:rPr>
                  <a:t> set of </a:t>
                </a:r>
                <a:r>
                  <a:rPr lang="en-US" sz="2000" b="1" dirty="0">
                    <a:latin typeface="+mj-lt"/>
                  </a:rPr>
                  <a:t>initial</a:t>
                </a:r>
                <a:r>
                  <a:rPr lang="en-US" sz="2000" dirty="0">
                    <a:latin typeface="+mj-lt"/>
                  </a:rPr>
                  <a:t> or </a:t>
                </a:r>
                <a:r>
                  <a:rPr lang="en-US" sz="2000" b="1" dirty="0">
                    <a:latin typeface="+mj-lt"/>
                  </a:rPr>
                  <a:t>start states</a:t>
                </a:r>
              </a:p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+mj-lt"/>
                  </a:rPr>
                  <a:t> is a set of names of </a:t>
                </a:r>
                <a:r>
                  <a:rPr lang="en-US" sz="2000" b="1" dirty="0">
                    <a:latin typeface="+mj-lt"/>
                  </a:rPr>
                  <a:t>actions</a:t>
                </a:r>
                <a:r>
                  <a:rPr lang="en-US" sz="2000" dirty="0">
                    <a:latin typeface="+mj-lt"/>
                  </a:rPr>
                  <a:t> or </a:t>
                </a:r>
                <a:r>
                  <a:rPr lang="en-US" sz="2000" b="1" dirty="0">
                    <a:latin typeface="+mj-lt"/>
                  </a:rPr>
                  <a:t>labels</a:t>
                </a: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𝒟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⊆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𝑣𝑎𝑙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r>
                  <a:rPr lang="en-US" sz="2000" dirty="0">
                    <a:latin typeface="+mj-lt"/>
                  </a:rPr>
                  <a:t> is the set of </a:t>
                </a:r>
                <a:r>
                  <a:rPr lang="en-US" sz="2000" b="1" dirty="0">
                    <a:latin typeface="+mj-lt"/>
                  </a:rPr>
                  <a:t>transitions</a:t>
                </a:r>
              </a:p>
              <a:p>
                <a:pPr lvl="1"/>
                <a:r>
                  <a:rPr lang="en-US" sz="1800" dirty="0">
                    <a:latin typeface="+mj-lt"/>
                  </a:rPr>
                  <a:t>a transition is a triple 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i="1" dirty="0" err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sz="1800" dirty="0">
                    <a:latin typeface="+mj-lt"/>
                  </a:rPr>
                  <a:t> </a:t>
                </a:r>
              </a:p>
              <a:p>
                <a:pPr lvl="1"/>
                <a:r>
                  <a:rPr lang="en-US" sz="1800" dirty="0">
                    <a:latin typeface="+mj-lt"/>
                  </a:rPr>
                  <a:t>defined by </a:t>
                </a:r>
                <a:r>
                  <a:rPr lang="en-US" sz="1800" b="1" dirty="0">
                    <a:latin typeface="+mj-lt"/>
                  </a:rPr>
                  <a:t>pre and eff</a:t>
                </a:r>
              </a:p>
              <a:p>
                <a:pPr lvl="1"/>
                <a:r>
                  <a:rPr lang="en-US" sz="1800" dirty="0">
                    <a:latin typeface="+mj-lt"/>
                  </a:rPr>
                  <a:t>We write it as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1800" dirty="0">
                  <a:latin typeface="+mj-lt"/>
                </a:endParaRPr>
              </a:p>
              <a:p>
                <a:pPr marL="914400" lvl="2" indent="0">
                  <a:buNone/>
                </a:pPr>
                <a:endParaRPr lang="en-US" sz="1600" dirty="0">
                  <a:latin typeface="+mj-lt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232837"/>
                <a:ext cx="6716486" cy="4455830"/>
              </a:xfrm>
              <a:blipFill>
                <a:blip r:embed="rId2"/>
                <a:stretch>
                  <a:fillRect l="-1134" t="-14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A44F07ED-781B-1D4D-AA8D-D7DA7592417C}"/>
              </a:ext>
            </a:extLst>
          </p:cNvPr>
          <p:cNvSpPr txBox="1"/>
          <p:nvPr/>
        </p:nvSpPr>
        <p:spPr>
          <a:xfrm>
            <a:off x="7795431" y="2757358"/>
            <a:ext cx="4113542" cy="33239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400" b="1" dirty="0"/>
              <a:t>automaton</a:t>
            </a:r>
            <a:r>
              <a:rPr lang="en-US" sz="1400" dirty="0"/>
              <a:t> </a:t>
            </a:r>
            <a:r>
              <a:rPr lang="en-US" sz="1400" dirty="0" err="1">
                <a:solidFill>
                  <a:srgbClr val="0119FF"/>
                </a:solidFill>
              </a:rPr>
              <a:t>DijkstraTR</a:t>
            </a:r>
            <a:r>
              <a:rPr lang="en-US" sz="1400" dirty="0"/>
              <a:t>(</a:t>
            </a:r>
            <a:r>
              <a:rPr lang="en-US" sz="1400" dirty="0" err="1"/>
              <a:t>N:</a:t>
            </a:r>
            <a:r>
              <a:rPr lang="en-US" sz="1400" dirty="0" err="1">
                <a:solidFill>
                  <a:srgbClr val="00B050"/>
                </a:solidFill>
              </a:rPr>
              <a:t>Nat</a:t>
            </a:r>
            <a:r>
              <a:rPr lang="en-US" sz="1400" dirty="0"/>
              <a:t>, </a:t>
            </a:r>
            <a:r>
              <a:rPr lang="en-US" sz="1400" dirty="0" err="1"/>
              <a:t>K:</a:t>
            </a:r>
            <a:r>
              <a:rPr lang="en-US" sz="1400" dirty="0" err="1">
                <a:solidFill>
                  <a:srgbClr val="00B050"/>
                </a:solidFill>
              </a:rPr>
              <a:t>Nat</a:t>
            </a:r>
            <a:r>
              <a:rPr lang="en-US" sz="1400" dirty="0"/>
              <a:t>), </a:t>
            </a:r>
            <a:r>
              <a:rPr lang="en-US" sz="1400" b="1" dirty="0"/>
              <a:t>where</a:t>
            </a:r>
            <a:r>
              <a:rPr lang="en-US" sz="1400" dirty="0"/>
              <a:t> K &gt; N</a:t>
            </a:r>
          </a:p>
          <a:p>
            <a:r>
              <a:rPr lang="en-US" sz="1400" dirty="0"/>
              <a:t>  </a:t>
            </a:r>
            <a:r>
              <a:rPr lang="en-US" sz="1400" b="1" dirty="0"/>
              <a:t>type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119FF"/>
                </a:solidFill>
              </a:rPr>
              <a:t>ID</a:t>
            </a:r>
            <a:r>
              <a:rPr lang="en-US" sz="1400" dirty="0"/>
              <a:t>: </a:t>
            </a:r>
            <a:r>
              <a:rPr lang="en-US" sz="1400" b="1" dirty="0"/>
              <a:t>enumeration</a:t>
            </a:r>
            <a:r>
              <a:rPr lang="en-US" sz="1400" dirty="0"/>
              <a:t> [0,...,N-1]</a:t>
            </a:r>
          </a:p>
          <a:p>
            <a:r>
              <a:rPr lang="en-US" sz="1400" dirty="0"/>
              <a:t>  </a:t>
            </a:r>
            <a:r>
              <a:rPr lang="en-US" sz="1400" b="1" dirty="0"/>
              <a:t>type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119FF"/>
                </a:solidFill>
              </a:rPr>
              <a:t>Val</a:t>
            </a:r>
            <a:r>
              <a:rPr lang="en-US" sz="1400" dirty="0"/>
              <a:t>: </a:t>
            </a:r>
            <a:r>
              <a:rPr lang="en-US" sz="1400" b="1" dirty="0"/>
              <a:t>enumeration</a:t>
            </a:r>
            <a:r>
              <a:rPr lang="en-US" sz="1400" dirty="0"/>
              <a:t> [0,...,K]</a:t>
            </a:r>
          </a:p>
          <a:p>
            <a:r>
              <a:rPr lang="en-US" sz="1400" dirty="0"/>
              <a:t>  </a:t>
            </a:r>
            <a:r>
              <a:rPr lang="en-US" sz="1400" b="1" dirty="0"/>
              <a:t>actions</a:t>
            </a:r>
          </a:p>
          <a:p>
            <a:r>
              <a:rPr lang="en-US" sz="1400" dirty="0"/>
              <a:t>      </a:t>
            </a:r>
            <a:r>
              <a:rPr lang="en-US" sz="1400" dirty="0">
                <a:solidFill>
                  <a:srgbClr val="0119FF"/>
                </a:solidFill>
              </a:rPr>
              <a:t>update</a:t>
            </a:r>
            <a:r>
              <a:rPr lang="en-US" sz="1400" dirty="0"/>
              <a:t>(</a:t>
            </a:r>
            <a:r>
              <a:rPr lang="en-US" sz="1400" dirty="0" err="1"/>
              <a:t>i:ID</a:t>
            </a:r>
            <a:r>
              <a:rPr lang="en-US" sz="1400" dirty="0"/>
              <a:t>)</a:t>
            </a:r>
          </a:p>
          <a:p>
            <a:r>
              <a:rPr lang="en-US" sz="1400" dirty="0"/>
              <a:t>  </a:t>
            </a:r>
            <a:r>
              <a:rPr lang="en-US" sz="1400" b="1" dirty="0"/>
              <a:t>variables</a:t>
            </a:r>
          </a:p>
          <a:p>
            <a:r>
              <a:rPr lang="en-US" sz="1400" dirty="0"/>
              <a:t>      </a:t>
            </a:r>
            <a:r>
              <a:rPr lang="en-US" sz="1400" dirty="0">
                <a:solidFill>
                  <a:srgbClr val="0119FF"/>
                </a:solidFill>
              </a:rPr>
              <a:t>x</a:t>
            </a:r>
            <a:r>
              <a:rPr lang="en-US" sz="1400" dirty="0"/>
              <a:t>:[ID -&gt; Val]</a:t>
            </a:r>
          </a:p>
          <a:p>
            <a:r>
              <a:rPr lang="en-US" sz="1400" dirty="0"/>
              <a:t>   </a:t>
            </a:r>
            <a:r>
              <a:rPr lang="en-US" sz="1400" b="1" dirty="0"/>
              <a:t>transitions</a:t>
            </a:r>
          </a:p>
          <a:p>
            <a:r>
              <a:rPr lang="en-US" sz="1400" dirty="0"/>
              <a:t>      </a:t>
            </a:r>
            <a:r>
              <a:rPr lang="en-US" sz="1400" dirty="0">
                <a:solidFill>
                  <a:srgbClr val="0119FF"/>
                </a:solidFill>
              </a:rPr>
              <a:t>update</a:t>
            </a:r>
            <a:r>
              <a:rPr lang="en-US" sz="1400" dirty="0"/>
              <a:t>(</a:t>
            </a:r>
            <a:r>
              <a:rPr lang="en-US" sz="1400" dirty="0" err="1"/>
              <a:t>i:ID</a:t>
            </a:r>
            <a:r>
              <a:rPr lang="en-US" sz="1400" dirty="0"/>
              <a:t>) </a:t>
            </a:r>
          </a:p>
          <a:p>
            <a:r>
              <a:rPr lang="en-US" sz="1400" b="1" dirty="0"/>
              <a:t>        pre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= 0 /\ x[</a:t>
            </a:r>
            <a:r>
              <a:rPr lang="en-US" sz="1400" dirty="0" err="1"/>
              <a:t>i</a:t>
            </a:r>
            <a:r>
              <a:rPr lang="en-US" sz="1400" dirty="0"/>
              <a:t>] = x[N-1]</a:t>
            </a:r>
          </a:p>
          <a:p>
            <a:r>
              <a:rPr lang="en-US" sz="1400" dirty="0"/>
              <a:t>        </a:t>
            </a:r>
            <a:r>
              <a:rPr lang="en-US" sz="1400" b="1" dirty="0"/>
              <a:t>eff</a:t>
            </a:r>
            <a:r>
              <a:rPr lang="en-US" sz="1400" dirty="0"/>
              <a:t> x[</a:t>
            </a:r>
            <a:r>
              <a:rPr lang="en-US" sz="1400" dirty="0" err="1"/>
              <a:t>i</a:t>
            </a:r>
            <a:r>
              <a:rPr lang="en-US" sz="1400" dirty="0"/>
              <a:t>] := (x[</a:t>
            </a:r>
            <a:r>
              <a:rPr lang="en-US" sz="1400" dirty="0" err="1"/>
              <a:t>i</a:t>
            </a:r>
            <a:r>
              <a:rPr lang="en-US" sz="1400" dirty="0"/>
              <a:t>] + 1) %  K</a:t>
            </a:r>
          </a:p>
          <a:p>
            <a:r>
              <a:rPr lang="en-US" sz="1400" dirty="0"/>
              <a:t>   </a:t>
            </a:r>
          </a:p>
          <a:p>
            <a:r>
              <a:rPr lang="en-US" sz="1400" dirty="0"/>
              <a:t>       </a:t>
            </a:r>
            <a:r>
              <a:rPr lang="en-US" sz="1400" dirty="0">
                <a:solidFill>
                  <a:srgbClr val="0119FF"/>
                </a:solidFill>
              </a:rPr>
              <a:t>update</a:t>
            </a:r>
            <a:r>
              <a:rPr lang="en-US" sz="1400" dirty="0"/>
              <a:t>(</a:t>
            </a:r>
            <a:r>
              <a:rPr lang="en-US" sz="1400" dirty="0" err="1"/>
              <a:t>i:ID</a:t>
            </a:r>
            <a:r>
              <a:rPr lang="en-US" sz="1400" dirty="0"/>
              <a:t>)</a:t>
            </a:r>
          </a:p>
          <a:p>
            <a:r>
              <a:rPr lang="en-US" sz="1400" dirty="0"/>
              <a:t>         </a:t>
            </a:r>
            <a:r>
              <a:rPr lang="en-US" sz="1400" b="1" dirty="0"/>
              <a:t>pre</a:t>
            </a:r>
            <a:r>
              <a:rPr lang="en-US" sz="1400" dirty="0"/>
              <a:t> </a:t>
            </a:r>
            <a:r>
              <a:rPr lang="en-US" sz="1400" dirty="0" err="1"/>
              <a:t>i</a:t>
            </a:r>
            <a:r>
              <a:rPr lang="en-US" sz="1400" dirty="0"/>
              <a:t> &gt;0  /\ x[</a:t>
            </a:r>
            <a:r>
              <a:rPr lang="en-US" sz="1400" dirty="0" err="1"/>
              <a:t>i</a:t>
            </a:r>
            <a:r>
              <a:rPr lang="en-US" sz="1400" dirty="0"/>
              <a:t>] ~= x[i-1]</a:t>
            </a:r>
          </a:p>
          <a:p>
            <a:r>
              <a:rPr lang="en-US" sz="1400" dirty="0"/>
              <a:t>         </a:t>
            </a:r>
            <a:r>
              <a:rPr lang="en-US" sz="1400" b="1" dirty="0"/>
              <a:t>eff</a:t>
            </a:r>
            <a:r>
              <a:rPr lang="en-US" sz="1400" dirty="0"/>
              <a:t> x[</a:t>
            </a:r>
            <a:r>
              <a:rPr lang="en-US" sz="1400" dirty="0" err="1"/>
              <a:t>i</a:t>
            </a:r>
            <a:r>
              <a:rPr lang="en-US" sz="1400" dirty="0"/>
              <a:t>] := x[i-1]</a:t>
            </a:r>
          </a:p>
        </p:txBody>
      </p:sp>
    </p:spTree>
    <p:extLst>
      <p:ext uri="{BB962C8B-B14F-4D97-AF65-F5344CB8AC3E}">
        <p14:creationId xmlns:p14="http://schemas.microsoft.com/office/powerpoint/2010/main" val="1579661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CCC8D5-96B3-8D43-B38C-2C89D12A7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835" y="15253"/>
            <a:ext cx="10515600" cy="1325563"/>
          </a:xfrm>
        </p:spPr>
        <p:txBody>
          <a:bodyPr/>
          <a:lstStyle/>
          <a:p>
            <a:r>
              <a:rPr lang="en-US" dirty="0"/>
              <a:t>Trajectories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7103D87-9FF5-4644-9699-65B2A8E626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7835" y="1333500"/>
                <a:ext cx="9430808" cy="552450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For set of variables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+mj-lt"/>
                  </a:rPr>
                  <a:t> and time interval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r>
                  <a:rPr lang="en-US" dirty="0">
                    <a:latin typeface="+mj-lt"/>
                  </a:rPr>
                  <a:t> of the form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[0,∞)</m:t>
                    </m:r>
                  </m:oMath>
                </a14:m>
                <a:r>
                  <a:rPr lang="en-US" dirty="0">
                    <a:latin typeface="+mj-lt"/>
                  </a:rPr>
                  <a:t>, a </a:t>
                </a:r>
                <a:r>
                  <a:rPr lang="en-US" b="1" i="1" dirty="0">
                    <a:latin typeface="+mj-lt"/>
                  </a:rPr>
                  <a:t>trajectory</a:t>
                </a:r>
                <a:r>
                  <a:rPr lang="en-US" dirty="0">
                    <a:latin typeface="+mj-lt"/>
                  </a:rPr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>
                    <a:latin typeface="+mj-lt"/>
                  </a:rPr>
                  <a:t> is a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We will specify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𝜏</m:t>
                    </m:r>
                  </m:oMath>
                </a14:m>
                <a:r>
                  <a:rPr lang="en-US" dirty="0">
                    <a:latin typeface="+mj-lt"/>
                  </a:rPr>
                  <a:t> as </a:t>
                </a:r>
                <a:r>
                  <a:rPr lang="en-US" i="1" dirty="0">
                    <a:latin typeface="+mj-lt"/>
                  </a:rPr>
                  <a:t>solutions of </a:t>
                </a:r>
                <a:r>
                  <a:rPr lang="en-US" dirty="0">
                    <a:latin typeface="+mj-lt"/>
                  </a:rPr>
                  <a:t>differential</a:t>
                </a:r>
                <a:r>
                  <a:rPr lang="en-US" i="1" dirty="0">
                    <a:latin typeface="+mj-lt"/>
                  </a:rPr>
                  <a:t> </a:t>
                </a:r>
                <a:r>
                  <a:rPr lang="en-US" dirty="0">
                    <a:latin typeface="+mj-lt"/>
                  </a:rPr>
                  <a:t>equations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latin typeface="+mj-lt"/>
                  </a:rPr>
                  <a:t>first state </a:t>
                </a:r>
                <a:r>
                  <a:rPr lang="en-US" dirty="0">
                    <a:latin typeface="+mj-lt"/>
                  </a:rPr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+mj-lt"/>
                  </a:rPr>
                  <a:t> is right closed then the </a:t>
                </a:r>
                <a:r>
                  <a:rPr lang="en-US" b="1" dirty="0">
                    <a:latin typeface="+mj-lt"/>
                  </a:rPr>
                  <a:t>limit state </a:t>
                </a:r>
                <a:r>
                  <a:rPr lang="en-US" dirty="0">
                    <a:latin typeface="+mj-lt"/>
                  </a:rPr>
                  <a:t>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+mj-lt"/>
                  </a:rPr>
                  <a:t> is finite then </a:t>
                </a:r>
                <a:r>
                  <a:rPr lang="en-US" b="1" dirty="0">
                    <a:latin typeface="+mj-lt"/>
                  </a:rPr>
                  <a:t>duration</a:t>
                </a:r>
                <a:r>
                  <a:rPr lang="en-US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r>
                  <a:rPr lang="en-US" dirty="0">
                    <a:latin typeface="+mj-lt"/>
                  </a:rPr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i="1" dirty="0">
                    <a:latin typeface="+mj-lt"/>
                  </a:rPr>
                  <a:t>Domain</a:t>
                </a:r>
                <a:r>
                  <a:rPr lang="en-US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𝐽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 </a:t>
                </a:r>
                <a:r>
                  <a:rPr lang="en-US" b="1" dirty="0">
                    <a:latin typeface="+mj-lt"/>
                  </a:rPr>
                  <a:t>point trajectory </a:t>
                </a:r>
                <a:r>
                  <a:rPr lang="en-US" dirty="0">
                    <a:latin typeface="+mj-lt"/>
                  </a:rPr>
                  <a:t>is a trajectory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=[0,0]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 </a:t>
                </a:r>
                <a:r>
                  <a:rPr lang="en-US" b="1" dirty="0">
                    <a:latin typeface="+mj-lt"/>
                  </a:rPr>
                  <a:t>prefix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>
                    <a:latin typeface="+mj-lt"/>
                  </a:rPr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j-lt"/>
                  </a:rPr>
                  <a:t>, is a function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latin typeface="+mj-lt"/>
                  </a:rPr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>
                    <a:latin typeface="+mj-lt"/>
                  </a:rPr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>
                    <a:latin typeface="+mj-lt"/>
                  </a:rPr>
                  <a:t>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𝑑𝑜𝑚</m:t>
                    </m:r>
                  </m:oMath>
                </a14:m>
                <a:endParaRPr lang="en-US" dirty="0">
                  <a:latin typeface="+mj-lt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27103D87-9FF5-4644-9699-65B2A8E626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7835" y="1333500"/>
                <a:ext cx="9430808" cy="5524500"/>
              </a:xfrm>
              <a:blipFill>
                <a:blip r:embed="rId2"/>
                <a:stretch>
                  <a:fillRect l="-1211" t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 descr="A graph of a controller with blue and green lines&#10;&#10;Description automatically generated">
            <a:extLst>
              <a:ext uri="{FF2B5EF4-FFF2-40B4-BE49-F238E27FC236}">
                <a16:creationId xmlns:a16="http://schemas.microsoft.com/office/drawing/2014/main" id="{147F8C79-EE7D-ED21-8273-0867F33C7D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260" r="22134"/>
          <a:stretch/>
        </p:blipFill>
        <p:spPr>
          <a:xfrm>
            <a:off x="9057520" y="2659063"/>
            <a:ext cx="3007038" cy="1908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93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Hybrid Automaton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7510670" cy="466725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Θ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𝐴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𝒟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,</m:t>
                        </m:r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  <m:t>𝒯</m:t>
                        </m:r>
                      </m:e>
                    </m:d>
                  </m:oMath>
                </a14:m>
                <a:endParaRPr lang="en-US" b="0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: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state variables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𝑣𝑎𝑙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(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𝑋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states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 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start states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</a:rPr>
                  <a:t>actions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</a:rPr>
                  <a:t>, A= E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∪ H</a:t>
                </a: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𝒟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 ⊆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  <m:r>
                      <a:rPr lang="en-US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𝑄</m:t>
                    </m:r>
                  </m:oMath>
                </a14:m>
                <a:endParaRPr lang="en-US" b="0" i="1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>
                  <a:lnSpc>
                    <a:spcPct val="110000"/>
                  </a:lnSpc>
                </a:pP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  <a:ea typeface="Cambria Math"/>
                      </a:rPr>
                      <m:t>𝒯</m:t>
                    </m:r>
                  </m:oMath>
                </a14:m>
                <a:r>
                  <a:rPr lang="en-US" i="1" dirty="0">
                    <a:solidFill>
                      <a:schemeClr val="accent1"/>
                    </a:solidFill>
                    <a:latin typeface="+mj-lt"/>
                  </a:rPr>
                  <a:t>: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set of </a:t>
                </a:r>
                <a:r>
                  <a:rPr lang="en-US" b="1" dirty="0">
                    <a:solidFill>
                      <a:schemeClr val="accent1"/>
                    </a:solidFill>
                    <a:latin typeface="+mj-lt"/>
                  </a:rPr>
                  <a:t>trajectories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 for X</a:t>
                </a:r>
                <a:r>
                  <a:rPr lang="en-US" i="1" dirty="0">
                    <a:solidFill>
                      <a:schemeClr val="accent1"/>
                    </a:solidFill>
                    <a:latin typeface="+mj-lt"/>
                  </a:rPr>
                  <a:t> </a:t>
                </a:r>
                <a:r>
                  <a:rPr lang="en-US" dirty="0">
                    <a:solidFill>
                      <a:schemeClr val="accent1"/>
                    </a:solidFill>
                    <a:latin typeface="+mj-lt"/>
                  </a:rPr>
                  <a:t>which is closed under </a:t>
                </a:r>
                <a:r>
                  <a:rPr lang="en-US" b="1" dirty="0">
                    <a:solidFill>
                      <a:schemeClr val="accent1"/>
                    </a:solidFill>
                    <a:latin typeface="+mj-lt"/>
                  </a:rPr>
                  <a:t>prefix, suffix, and concatenation</a:t>
                </a:r>
              </a:p>
              <a:p>
                <a:pPr>
                  <a:lnSpc>
                    <a:spcPct val="110000"/>
                  </a:lnSpc>
                </a:pPr>
                <a:endParaRPr lang="en-US" dirty="0">
                  <a:solidFill>
                    <a:schemeClr val="tx1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7510670" cy="4667250"/>
              </a:xfrm>
              <a:blipFill>
                <a:blip r:embed="rId3"/>
                <a:stretch>
                  <a:fillRect l="-1520" t="-813" r="-3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86103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Semantics: Executions and Traces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751113" y="1600200"/>
                <a:ext cx="6183083" cy="51054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latin typeface="+mj-lt"/>
                  </a:rPr>
                  <a:t>An </a:t>
                </a:r>
                <a:r>
                  <a:rPr lang="en-US" b="1" i="1" dirty="0">
                    <a:solidFill>
                      <a:srgbClr val="0070C0"/>
                    </a:solidFill>
                    <a:latin typeface="+mj-lt"/>
                  </a:rPr>
                  <a:t>execution </a:t>
                </a:r>
                <a:r>
                  <a:rPr lang="en-US" dirty="0">
                    <a:latin typeface="+mj-lt"/>
                  </a:rPr>
                  <a:t>of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𝒜</m:t>
                    </m:r>
                  </m:oMath>
                </a14:m>
                <a:r>
                  <a:rPr lang="en-US" dirty="0">
                    <a:latin typeface="+mj-lt"/>
                  </a:rPr>
                  <a:t> is an (possibly infinite) alternating sequence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</m:oMath>
                </a14:m>
                <a:r>
                  <a:rPr lang="en-US" dirty="0">
                    <a:latin typeface="+mj-lt"/>
                  </a:rPr>
                  <a:t> where </a:t>
                </a: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latin typeface="+mj-lt"/>
                    <a:ea typeface="Cambria Math"/>
                  </a:rPr>
                  <a:t>∀ </a:t>
                </a:r>
                <a:r>
                  <a:rPr lang="en-US" dirty="0" err="1">
                    <a:latin typeface="+mj-lt"/>
                    <a:ea typeface="Cambria Math"/>
                  </a:rPr>
                  <a:t>i</a:t>
                </a:r>
                <a:r>
                  <a:rPr lang="en-US" dirty="0">
                    <a:latin typeface="+mj-lt"/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mPr>
                      <m:m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𝑖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/>
                                </a:rPr>
                                <m:t>+1</m:t>
                              </m:r>
                            </m:sub>
                          </m:sSub>
                        </m:e>
                      </m:mr>
                      <m:m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/>
                            </a:rPr>
                            <m:t>⟶</m:t>
                          </m:r>
                        </m:e>
                      </m:mr>
                    </m:m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𝑓𝑠𝑡𝑎𝑡𝑒</m:t>
                    </m:r>
                  </m:oMath>
                </a14:m>
                <a:endParaRPr lang="en-US" b="0" dirty="0">
                  <a:latin typeface="+mj-lt"/>
                  <a:ea typeface="Cambria Math"/>
                </a:endParaRPr>
              </a:p>
              <a:p>
                <a:pPr lvl="1">
                  <a:lnSpc>
                    <a:spcPct val="120000"/>
                  </a:lnSpc>
                </a:pPr>
                <a:r>
                  <a:rPr lang="en-US" dirty="0">
                    <a:latin typeface="+mj-lt"/>
                    <a:ea typeface="Cambria Math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>
                    <a:latin typeface="+mj-lt"/>
                  </a:rPr>
                  <a:t>.</a:t>
                </a:r>
                <a:r>
                  <a:rPr lang="en-US" dirty="0" err="1">
                    <a:latin typeface="+mj-lt"/>
                  </a:rPr>
                  <a:t>fstate</a:t>
                </a:r>
                <a:r>
                  <a:rPr lang="en-US" dirty="0">
                    <a:latin typeface="+mj-lt"/>
                  </a:rPr>
                  <a:t> </a:t>
                </a:r>
                <a:r>
                  <a:rPr lang="en-US" dirty="0">
                    <a:latin typeface="+mj-lt"/>
                    <a:ea typeface="Cambria Math"/>
                  </a:rPr>
                  <a:t>∈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>
                        <a:latin typeface="Cambria Math" panose="02040503050406030204" pitchFamily="18" charset="0"/>
                        <a:ea typeface="Cambria Math"/>
                      </a:rPr>
                      <m:t>Θ</m:t>
                    </m:r>
                  </m:oMath>
                </a14:m>
                <a:r>
                  <a:rPr lang="en-US" dirty="0">
                    <a:latin typeface="+mj-lt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dirty="0">
                    <a:latin typeface="+mj-lt"/>
                  </a:rPr>
                  <a:t>is an </a:t>
                </a:r>
                <a:r>
                  <a:rPr lang="en-US" b="1" dirty="0">
                    <a:latin typeface="+mj-lt"/>
                  </a:rPr>
                  <a:t>execution</a:t>
                </a:r>
                <a:endParaRPr lang="en-US" b="1" dirty="0">
                  <a:latin typeface="+mj-lt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b="1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Execs</a:t>
                </a:r>
                <a14:m>
                  <m:oMath xmlns:m="http://schemas.openxmlformats.org/officeDocument/2006/math">
                    <m:r>
                      <a:rPr lang="en-US" b="1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𝓐</m:t>
                    </m:r>
                  </m:oMath>
                </a14:m>
                <a:r>
                  <a:rPr lang="en-US" b="1" baseline="-25000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set of all executions</a:t>
                </a: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First state of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𝑓𝑠𝑡𝑎𝑡𝑒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𝑓𝑠𝑡𝑎𝑡𝑒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dirty="0">
                  <a:solidFill>
                    <a:schemeClr val="tx1"/>
                  </a:solidFill>
                  <a:latin typeface="+mj-lt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If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is </a:t>
                </a:r>
                <a:r>
                  <a:rPr lang="en-US" b="1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finite and closed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𝑘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</m:oMath>
                </a14:m>
                <a:endParaRPr lang="en-US" b="0" dirty="0">
                  <a:latin typeface="+mj-lt"/>
                  <a:ea typeface="Cambria Math"/>
                </a:endParaRPr>
              </a:p>
              <a:p>
                <a:pPr marL="0" indent="0">
                  <a:lnSpc>
                    <a:spcPct val="120000"/>
                  </a:lnSpc>
                  <a:buNone/>
                </a:pP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A state </a:t>
                </a:r>
                <a14:m>
                  <m:oMath xmlns:m="http://schemas.openxmlformats.org/officeDocument/2006/math"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is </a:t>
                </a:r>
                <a:r>
                  <a:rPr lang="en-US" i="1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reachable</a:t>
                </a:r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if there exists an execution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r>
                      <a:rPr lang="en-US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/>
                      </a:rPr>
                      <m:t>𝒙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latin typeface="+mj-lt"/>
                    <a:ea typeface="Cambria Math"/>
                  </a:rPr>
                  <a:t> </a:t>
                </a:r>
              </a:p>
              <a:p>
                <a:pPr>
                  <a:lnSpc>
                    <a:spcPct val="120000"/>
                  </a:lnSpc>
                </a:pPr>
                <a:endParaRPr lang="en-US" dirty="0">
                  <a:latin typeface="+mj-lt"/>
                  <a:ea typeface="Cambria Math"/>
                </a:endParaRPr>
              </a:p>
              <a:p>
                <a:pPr marL="457200" lvl="1" indent="0">
                  <a:lnSpc>
                    <a:spcPct val="120000"/>
                  </a:lnSpc>
                  <a:buNone/>
                </a:pPr>
                <a:endParaRPr lang="en-US" dirty="0">
                  <a:latin typeface="+mj-lt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751113" y="1600200"/>
                <a:ext cx="6183083" cy="5105400"/>
              </a:xfrm>
              <a:blipFill>
                <a:blip r:embed="rId2"/>
                <a:stretch>
                  <a:fillRect l="-1643" t="-995" r="-14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F984752-55CF-8109-45DE-7840454FC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4979" y="1232823"/>
            <a:ext cx="4580675" cy="1292752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96BC41C4-BBE3-6FBA-1EE0-E77F200BACC3}"/>
              </a:ext>
            </a:extLst>
          </p:cNvPr>
          <p:cNvGrpSpPr/>
          <p:nvPr/>
        </p:nvGrpSpPr>
        <p:grpSpPr>
          <a:xfrm>
            <a:off x="7304979" y="2923140"/>
            <a:ext cx="4580675" cy="2906850"/>
            <a:chOff x="7304979" y="2923140"/>
            <a:chExt cx="4580675" cy="2906850"/>
          </a:xfrm>
        </p:grpSpPr>
        <p:pic>
          <p:nvPicPr>
            <p:cNvPr id="3" name="Picture 2" descr="A graph of a controller with blue and green lines&#10;&#10;Description automatically generated">
              <a:extLst>
                <a:ext uri="{FF2B5EF4-FFF2-40B4-BE49-F238E27FC236}">
                  <a16:creationId xmlns:a16="http://schemas.microsoft.com/office/drawing/2014/main" id="{F192A976-672E-1D70-22E6-60E2304FE96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6260" r="22134"/>
            <a:stretch/>
          </p:blipFill>
          <p:spPr>
            <a:xfrm>
              <a:off x="7304979" y="2923140"/>
              <a:ext cx="4580675" cy="290685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D5C3ED2-59BC-FA59-7BF4-14640D83B359}"/>
                </a:ext>
              </a:extLst>
            </p:cNvPr>
            <p:cNvSpPr txBox="1"/>
            <p:nvPr/>
          </p:nvSpPr>
          <p:spPr>
            <a:xfrm rot="16200000">
              <a:off x="7648381" y="3591528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643B60-046E-FCD3-2DFE-55D0F415FA85}"/>
                </a:ext>
              </a:extLst>
            </p:cNvPr>
            <p:cNvSpPr txBox="1"/>
            <p:nvPr/>
          </p:nvSpPr>
          <p:spPr>
            <a:xfrm rot="16200000">
              <a:off x="9372530" y="3591527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E89B711-3464-B7C5-9F59-141CF17E5240}"/>
                </a:ext>
              </a:extLst>
            </p:cNvPr>
            <p:cNvSpPr txBox="1"/>
            <p:nvPr/>
          </p:nvSpPr>
          <p:spPr>
            <a:xfrm rot="16200000">
              <a:off x="10737177" y="3591526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8764E3-7B53-D385-A177-DFF0311E7FC6}"/>
                </a:ext>
              </a:extLst>
            </p:cNvPr>
            <p:cNvSpPr txBox="1"/>
            <p:nvPr/>
          </p:nvSpPr>
          <p:spPr>
            <a:xfrm rot="16200000">
              <a:off x="9005205" y="3591526"/>
              <a:ext cx="799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turnOff</a:t>
              </a:r>
              <a:endParaRPr lang="en-US" sz="1600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29BADAA-262A-D205-B7E2-421023EC167D}"/>
                </a:ext>
              </a:extLst>
            </p:cNvPr>
            <p:cNvSpPr txBox="1"/>
            <p:nvPr/>
          </p:nvSpPr>
          <p:spPr>
            <a:xfrm rot="16200000">
              <a:off x="10330109" y="3583704"/>
              <a:ext cx="799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turnOff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6246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229F-69B5-FF2F-B913-1B75B7E9A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2885"/>
          </a:xfrm>
        </p:spPr>
        <p:txBody>
          <a:bodyPr>
            <a:normAutofit fontScale="90000"/>
          </a:bodyPr>
          <a:lstStyle/>
          <a:p>
            <a:r>
              <a:rPr lang="en-US" dirty="0"/>
              <a:t>Mode invariants: Urgency in transitions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19B99E6-1D1C-35D4-EEA0-4451B3AC354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232452"/>
                <a:ext cx="6466778" cy="546652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The trajectories in a hybrid automaton are often specified as solutions of ODEs</a:t>
                </a:r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en-US" b="0" dirty="0"/>
              </a:p>
              <a:p>
                <a:pPr lvl="1">
                  <a:lnSpc>
                    <a:spcPct val="110000"/>
                  </a:lnSpc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Solutions of ODEs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define a family of trajectories which are closed under prefix, suffix, and concatenation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Nothing prevents a trajectory to continue forever unless an action is forced to occur by a </a:t>
                </a:r>
                <a:r>
                  <a:rPr lang="en-US" b="1" dirty="0"/>
                  <a:t>mode invariant</a:t>
                </a:r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E19B99E6-1D1C-35D4-EEA0-4451B3AC354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232452"/>
                <a:ext cx="6466778" cy="5466522"/>
              </a:xfrm>
              <a:blipFill>
                <a:blip r:embed="rId2"/>
                <a:stretch>
                  <a:fillRect l="-1765" t="-926" r="-1569" b="-4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5CD015DB-E1F7-7863-1168-86EE77B2473E}"/>
              </a:ext>
            </a:extLst>
          </p:cNvPr>
          <p:cNvGrpSpPr/>
          <p:nvPr/>
        </p:nvGrpSpPr>
        <p:grpSpPr>
          <a:xfrm>
            <a:off x="7304979" y="2923140"/>
            <a:ext cx="4580675" cy="2906850"/>
            <a:chOff x="7304979" y="2923140"/>
            <a:chExt cx="4580675" cy="2906850"/>
          </a:xfrm>
        </p:grpSpPr>
        <p:pic>
          <p:nvPicPr>
            <p:cNvPr id="7" name="Picture 6" descr="A graph of a controller with blue and green lines&#10;&#10;Description automatically generated">
              <a:extLst>
                <a:ext uri="{FF2B5EF4-FFF2-40B4-BE49-F238E27FC236}">
                  <a16:creationId xmlns:a16="http://schemas.microsoft.com/office/drawing/2014/main" id="{3423E34D-E946-F080-1ABF-FB8BABBE27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6260" r="22134"/>
            <a:stretch/>
          </p:blipFill>
          <p:spPr>
            <a:xfrm>
              <a:off x="7304979" y="2923140"/>
              <a:ext cx="4580675" cy="290685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7D48698-8A53-4E33-5C27-3FEE0F7564AB}"/>
                </a:ext>
              </a:extLst>
            </p:cNvPr>
            <p:cNvSpPr txBox="1"/>
            <p:nvPr/>
          </p:nvSpPr>
          <p:spPr>
            <a:xfrm rot="16200000">
              <a:off x="7648381" y="3591528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01E2D30-5246-2E75-8D70-9E8647350A21}"/>
                </a:ext>
              </a:extLst>
            </p:cNvPr>
            <p:cNvSpPr txBox="1"/>
            <p:nvPr/>
          </p:nvSpPr>
          <p:spPr>
            <a:xfrm rot="16200000">
              <a:off x="9372530" y="3591527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D02F0BD-62B2-44CE-5582-BB3E5BF5C734}"/>
                </a:ext>
              </a:extLst>
            </p:cNvPr>
            <p:cNvSpPr txBox="1"/>
            <p:nvPr/>
          </p:nvSpPr>
          <p:spPr>
            <a:xfrm rot="16200000">
              <a:off x="10737177" y="3591526"/>
              <a:ext cx="78418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turnOn</a:t>
              </a:r>
              <a:endParaRPr lang="en-US" sz="16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26340D1-9698-1C08-1339-E4B297BF25B2}"/>
                </a:ext>
              </a:extLst>
            </p:cNvPr>
            <p:cNvSpPr txBox="1"/>
            <p:nvPr/>
          </p:nvSpPr>
          <p:spPr>
            <a:xfrm rot="16200000">
              <a:off x="9005205" y="3591526"/>
              <a:ext cx="799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turnOff</a:t>
              </a:r>
              <a:endParaRPr lang="en-US" sz="1600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9E055F7-C965-F2B2-D14A-FE1C62E1A3C0}"/>
                </a:ext>
              </a:extLst>
            </p:cNvPr>
            <p:cNvSpPr txBox="1"/>
            <p:nvPr/>
          </p:nvSpPr>
          <p:spPr>
            <a:xfrm rot="16200000">
              <a:off x="10330109" y="3583704"/>
              <a:ext cx="79983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 err="1"/>
                <a:t>turnOff</a:t>
              </a:r>
              <a:endParaRPr lang="en-US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23144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6308"/>
          </a:xfrm>
        </p:spPr>
        <p:txBody>
          <a:bodyPr/>
          <a:lstStyle/>
          <a:p>
            <a:r>
              <a:rPr lang="en-US" dirty="0"/>
              <a:t>Example. Bouncing Ball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0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038600" y="1410652"/>
                <a:ext cx="5486400" cy="452596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automaton 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Bouncingball</a:t>
                </a:r>
                <a:r>
                  <a:rPr lang="en-US" sz="1800" dirty="0">
                    <a:solidFill>
                      <a:schemeClr val="tx1"/>
                    </a:solidFill>
                  </a:rPr>
                  <a:t>(</a:t>
                </a:r>
                <a:r>
                  <a:rPr lang="en-US" sz="1800" dirty="0" err="1">
                    <a:solidFill>
                      <a:schemeClr val="tx1"/>
                    </a:solidFill>
                  </a:rPr>
                  <a:t>c,h,g</a:t>
                </a:r>
                <a:r>
                  <a:rPr lang="en-US" sz="1800" dirty="0">
                    <a:solidFill>
                      <a:schemeClr val="tx1"/>
                    </a:solidFill>
                  </a:rPr>
                  <a:t>)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variables: </a:t>
                </a:r>
                <a:r>
                  <a:rPr lang="en-US" sz="1800" dirty="0">
                    <a:solidFill>
                      <a:schemeClr val="tx1"/>
                    </a:solidFill>
                  </a:rPr>
                  <a:t>x: Reals := h, v: Reals := 0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actions: </a:t>
                </a:r>
                <a:r>
                  <a:rPr lang="en-US" sz="1800" dirty="0">
                    <a:solidFill>
                      <a:schemeClr val="tx1"/>
                    </a:solidFill>
                  </a:rPr>
                  <a:t>bounce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transitions: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      </a:t>
                </a:r>
                <a:r>
                  <a:rPr lang="en-US" sz="1800" dirty="0">
                    <a:solidFill>
                      <a:schemeClr val="tx1"/>
                    </a:solidFill>
                  </a:rPr>
                  <a:t>bounce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pre </a:t>
                </a:r>
                <a:r>
                  <a:rPr lang="en-US" sz="1800" i="1" dirty="0">
                    <a:solidFill>
                      <a:schemeClr val="tx1"/>
                    </a:solidFill>
                  </a:rPr>
                  <a:t>x = 0 /\ v &lt; 0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eff </a:t>
                </a:r>
                <a:r>
                  <a:rPr lang="en-US" sz="1800" dirty="0">
                    <a:solidFill>
                      <a:schemeClr val="tx1"/>
                    </a:solidFill>
                  </a:rPr>
                  <a:t>v := -cv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       trajectories: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</a:t>
                </a:r>
                <a:r>
                  <a:rPr lang="en-US" sz="1800" dirty="0">
                    <a:solidFill>
                      <a:schemeClr val="tx1"/>
                    </a:solidFill>
                  </a:rPr>
                  <a:t>Loc1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	</a:t>
                </a:r>
                <a:r>
                  <a:rPr lang="en-US" sz="1800" b="1" dirty="0">
                    <a:solidFill>
                      <a:schemeClr val="tx1"/>
                    </a:solidFill>
                  </a:rPr>
                  <a:t>evolve </a:t>
                </a:r>
                <a:r>
                  <a:rPr lang="en-US" sz="1800" dirty="0">
                    <a:solidFill>
                      <a:schemeClr val="tx1"/>
                    </a:solidFill>
                  </a:rPr>
                  <a:t>d(x) = v; d(v) = -g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chemeClr val="tx1"/>
                    </a:solidFill>
                  </a:rPr>
                  <a:t>	invariant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𝒙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≥</m:t>
                    </m:r>
                    <m:r>
                      <a:rPr lang="en-US" sz="18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𝟎</m:t>
                    </m:r>
                  </m:oMath>
                </a14:m>
                <a:endParaRPr lang="en-US" sz="1600" b="1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1800" b="1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Content Placeholder 10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038600" y="1410652"/>
                <a:ext cx="5486400" cy="4525963"/>
              </a:xfrm>
              <a:blipFill>
                <a:blip r:embed="rId3"/>
                <a:stretch>
                  <a:fillRect l="-1155" t="-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1210602" y="3403806"/>
                <a:ext cx="1600200" cy="121920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Loc</a:t>
                </a:r>
                <a:r>
                  <a:rPr lang="en-US" dirty="0">
                    <a:solidFill>
                      <a:schemeClr val="tx1"/>
                    </a:solidFill>
                  </a:rPr>
                  <a:t>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𝑣</m:t>
                      </m:r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=−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𝑔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𝒙</m:t>
                      </m:r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≥</m:t>
                      </m:r>
                      <m:r>
                        <a:rPr lang="en-US" sz="1400" b="1" i="1">
                          <a:solidFill>
                            <a:schemeClr val="tx1"/>
                          </a:solidFill>
                          <a:latin typeface="Cambria Math"/>
                          <a:ea typeface="Cambria Math"/>
                        </a:rPr>
                        <m:t>𝟎</m:t>
                      </m:r>
                    </m:oMath>
                  </m:oMathPara>
                </a14:m>
                <a:endParaRPr lang="en-US" sz="1200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0602" y="3403806"/>
                <a:ext cx="1600200" cy="1219200"/>
              </a:xfrm>
              <a:prstGeom prst="ellipse">
                <a:avLst/>
              </a:prstGeom>
              <a:blipFill>
                <a:blip r:embed="rId4"/>
                <a:stretch>
                  <a:fillRect t="-40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urved Connector 7"/>
          <p:cNvCxnSpPr>
            <a:stCxn id="6" idx="1"/>
            <a:endCxn id="6" idx="7"/>
          </p:cNvCxnSpPr>
          <p:nvPr/>
        </p:nvCxnSpPr>
        <p:spPr>
          <a:xfrm rot="5400000" flipH="1" flipV="1">
            <a:off x="2010702" y="3016598"/>
            <a:ext cx="12700" cy="1131512"/>
          </a:xfrm>
          <a:prstGeom prst="curvedConnector3">
            <a:avLst>
              <a:gd name="adj1" fmla="val 5213583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16349" y="5846543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Graphical Representation used in many articles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98482" y="1935050"/>
            <a:ext cx="1350050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bounce</a:t>
            </a:r>
            <a:endParaRPr lang="en-US" i="1" dirty="0"/>
          </a:p>
          <a:p>
            <a:pPr algn="ctr"/>
            <a:r>
              <a:rPr lang="en-US" i="1" dirty="0"/>
              <a:t>x = 0 /\ v &lt; 0</a:t>
            </a:r>
          </a:p>
          <a:p>
            <a:pPr algn="ctr"/>
            <a:r>
              <a:rPr lang="en-US" i="1" dirty="0"/>
              <a:t>v’ := -cv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2" name="Straight Arrow Connector 21"/>
          <p:cNvCxnSpPr>
            <a:endCxn id="6" idx="2"/>
          </p:cNvCxnSpPr>
          <p:nvPr/>
        </p:nvCxnSpPr>
        <p:spPr>
          <a:xfrm>
            <a:off x="677202" y="4013406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257317" y="4104574"/>
            <a:ext cx="6367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x:= h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Lecture Slides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en-US" dirty="0"/>
              <a:t>Sayan Mitra</a:t>
            </a:r>
            <a:r>
              <a:rPr lang="de-DE" dirty="0"/>
              <a:t> </a:t>
            </a:r>
            <a:r>
              <a:rPr lang="de-DE" dirty="0" err="1"/>
              <a:t>mitras@illinois.edu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4F3E2E-D247-8B4E-A245-B00FC243FC2D}"/>
              </a:ext>
            </a:extLst>
          </p:cNvPr>
          <p:cNvSpPr/>
          <p:nvPr/>
        </p:nvSpPr>
        <p:spPr>
          <a:xfrm>
            <a:off x="9525000" y="5303108"/>
            <a:ext cx="2109963" cy="129360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/>
              <a:t>mode invariant, not to be confused with invariants of the automaton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2069887C-AE55-6F47-8DC8-DB07A46E0A50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6781800" y="5447348"/>
            <a:ext cx="2743200" cy="502563"/>
          </a:xfrm>
          <a:prstGeom prst="straightConnector1">
            <a:avLst/>
          </a:prstGeom>
          <a:ln w="38100">
            <a:solidFill>
              <a:schemeClr val="bg1">
                <a:lumMod val="65000"/>
              </a:schemeClr>
            </a:solidFill>
            <a:tailEnd type="triangle"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</p:cxnSp>
      <p:pic>
        <p:nvPicPr>
          <p:cNvPr id="12" name="Picture 11" descr="A diagram of a ball&#10;&#10;Description automatically generated">
            <a:extLst>
              <a:ext uri="{FF2B5EF4-FFF2-40B4-BE49-F238E27FC236}">
                <a16:creationId xmlns:a16="http://schemas.microsoft.com/office/drawing/2014/main" id="{C7833F4E-9300-9171-ADB7-561F6365A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384" y="2694810"/>
            <a:ext cx="3516255" cy="2637191"/>
          </a:xfrm>
          <a:prstGeom prst="rect">
            <a:avLst/>
          </a:prstGeom>
        </p:spPr>
      </p:pic>
      <p:pic>
        <p:nvPicPr>
          <p:cNvPr id="19" name="Picture 18" descr="A graph of a ball automation&#10;&#10;Description automatically generated">
            <a:extLst>
              <a:ext uri="{FF2B5EF4-FFF2-40B4-BE49-F238E27FC236}">
                <a16:creationId xmlns:a16="http://schemas.microsoft.com/office/drawing/2014/main" id="{E2DE0411-978A-CCEE-EE52-02A67FDD70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66922" y="15284"/>
            <a:ext cx="3267761" cy="261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445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B8960-AB09-BE42-9E8A-A6C12B9D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0850" y="319995"/>
            <a:ext cx="10515600" cy="1325563"/>
          </a:xfrm>
        </p:spPr>
        <p:txBody>
          <a:bodyPr/>
          <a:lstStyle/>
          <a:p>
            <a:r>
              <a:rPr lang="en-US" dirty="0"/>
              <a:t>Urgency: Must transitions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C16046-AC4B-ED49-9AE3-4BB081C80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850" y="1645558"/>
            <a:ext cx="4839607" cy="1365827"/>
          </a:xfrm>
          <a:prstGeom prst="rect">
            <a:avLst/>
          </a:prstGeom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C5A7AC65-9D5F-4744-8882-C507A4191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1" y="198803"/>
            <a:ext cx="4246880" cy="42780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automaton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Thermostat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,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h,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MonL"/>
              </a:rPr>
              <a:t>Real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where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mi"/>
              </a:rPr>
              <a:t>&gt;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type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enumeration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[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,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]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actions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;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variables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MonL"/>
              </a:rPr>
              <a:t>Real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Status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transitions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NimbusRomNo9L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trajectories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  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San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h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≤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+ d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</a:endParaRPr>
          </a:p>
        </p:txBody>
      </p:sp>
      <p:pic>
        <p:nvPicPr>
          <p:cNvPr id="1028" name="Picture 4" descr="page75image7967904">
            <a:extLst>
              <a:ext uri="{FF2B5EF4-FFF2-40B4-BE49-F238E27FC236}">
                <a16:creationId xmlns:a16="http://schemas.microsoft.com/office/drawing/2014/main" id="{387B2CD3-C3A0-6049-BEE7-BAA0CA40F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" y="754063"/>
            <a:ext cx="455930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12A16590-659E-F647-9F4C-830CCB4ED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25687" y="2107016"/>
            <a:ext cx="3538613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turnOff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pre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u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on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i="1" dirty="0"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36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modeOff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SanL"/>
              </a:rPr>
              <a:t> 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evolve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(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−</a:t>
            </a:r>
            <a:r>
              <a:rPr kumimoji="0" lang="en-US" altLang="en-US" sz="16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Kx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   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invariant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loc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rtxr"/>
              </a:rPr>
              <a:t>=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off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∧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x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xsy"/>
              </a:rPr>
              <a:t>≥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l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NimbusRomNo9L"/>
              </a:rPr>
              <a:t>- d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NimbusRomNo9L"/>
              </a:rPr>
              <a:t> 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6E1C810-BD4E-804B-9EE1-2795D9377C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78" y="3784397"/>
            <a:ext cx="5594122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2400" b="1" i="1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urgent </a:t>
            </a:r>
            <a:r>
              <a:rPr kumimoji="0" lang="en-US" altLang="en-US" sz="240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</a:rPr>
              <a:t>transition (or action) is an action that has to occur as soon as it is enabled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0" i="0" baseline="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0" i="0" baseline="0" dirty="0"/>
              <a:t>Introduce special syntax for creating urgent transitions, but we can use mode invariants to accomplish this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68117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140440" cy="1325563"/>
          </a:xfrm>
        </p:spPr>
        <p:txBody>
          <a:bodyPr>
            <a:normAutofit/>
          </a:bodyPr>
          <a:lstStyle/>
          <a:p>
            <a:r>
              <a:rPr lang="en-US" dirty="0"/>
              <a:t>Another Example: Periodically Sending Process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6096000" y="1690688"/>
            <a:ext cx="5486400" cy="48021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1800" b="1" dirty="0"/>
              <a:t>Automaton </a:t>
            </a:r>
            <a:r>
              <a:rPr lang="en-US" sz="1800" dirty="0" err="1"/>
              <a:t>PeriodicSend</a:t>
            </a:r>
            <a:r>
              <a:rPr lang="en-US" sz="1800" dirty="0"/>
              <a:t>(u)</a:t>
            </a:r>
          </a:p>
          <a:p>
            <a:pPr marL="0" indent="0">
              <a:buNone/>
            </a:pPr>
            <a:r>
              <a:rPr lang="en-US" sz="1800" b="1" dirty="0"/>
              <a:t>    variables: analog </a:t>
            </a:r>
          </a:p>
          <a:p>
            <a:pPr marL="0" indent="0">
              <a:buNone/>
            </a:pPr>
            <a:r>
              <a:rPr lang="en-US" sz="1800" b="1" dirty="0"/>
              <a:t>        </a:t>
            </a:r>
            <a:r>
              <a:rPr lang="en-US" sz="1800" dirty="0"/>
              <a:t>clock: Reals := 0, z:Reals, </a:t>
            </a:r>
            <a:r>
              <a:rPr lang="en-US" sz="1800" dirty="0" err="1"/>
              <a:t>failed:Boolean</a:t>
            </a:r>
            <a:r>
              <a:rPr lang="en-US" sz="1800" dirty="0"/>
              <a:t> := F </a:t>
            </a:r>
          </a:p>
          <a:p>
            <a:pPr marL="0" indent="0">
              <a:buNone/>
            </a:pPr>
            <a:r>
              <a:rPr lang="en-US" sz="1800" b="1" dirty="0"/>
              <a:t>    actions: </a:t>
            </a:r>
            <a:r>
              <a:rPr lang="en-US" sz="1800" dirty="0"/>
              <a:t>send(</a:t>
            </a:r>
            <a:r>
              <a:rPr lang="en-US" sz="1800" dirty="0" err="1"/>
              <a:t>m:Reals</a:t>
            </a:r>
            <a:r>
              <a:rPr lang="en-US" sz="1800" dirty="0"/>
              <a:t>), fail</a:t>
            </a:r>
          </a:p>
          <a:p>
            <a:pPr marL="0" indent="0">
              <a:buNone/>
            </a:pPr>
            <a:r>
              <a:rPr lang="en-US" sz="1800" b="1" dirty="0"/>
              <a:t>    transitions:</a:t>
            </a:r>
          </a:p>
          <a:p>
            <a:pPr marL="0" indent="0">
              <a:buNone/>
            </a:pPr>
            <a:r>
              <a:rPr lang="en-US" sz="1800" b="1" dirty="0"/>
              <a:t>        </a:t>
            </a:r>
            <a:r>
              <a:rPr lang="en-US" sz="1800" dirty="0"/>
              <a:t>send(m)</a:t>
            </a:r>
          </a:p>
          <a:p>
            <a:pPr marL="0" indent="0">
              <a:buNone/>
            </a:pPr>
            <a:r>
              <a:rPr lang="en-US" sz="1800" b="1" dirty="0"/>
              <a:t>            pre </a:t>
            </a:r>
            <a:r>
              <a:rPr lang="en-US" sz="1800" dirty="0"/>
              <a:t>clock = u /\ m = z /\ ~failed</a:t>
            </a:r>
          </a:p>
          <a:p>
            <a:pPr marL="0" indent="0">
              <a:buNone/>
            </a:pPr>
            <a:r>
              <a:rPr lang="en-US" sz="1800" b="1" dirty="0"/>
              <a:t>            eff </a:t>
            </a:r>
            <a:r>
              <a:rPr lang="en-US" sz="1800" dirty="0"/>
              <a:t>clock := 0</a:t>
            </a:r>
          </a:p>
          <a:p>
            <a:pPr marL="0" indent="0">
              <a:buNone/>
            </a:pPr>
            <a:r>
              <a:rPr lang="en-US" sz="1800" dirty="0"/>
              <a:t>        fail</a:t>
            </a:r>
          </a:p>
          <a:p>
            <a:pPr marL="0" indent="0">
              <a:buNone/>
            </a:pPr>
            <a:r>
              <a:rPr lang="en-US" sz="1800" b="1" dirty="0"/>
              <a:t>            pre </a:t>
            </a:r>
            <a:r>
              <a:rPr lang="en-US" sz="1800" dirty="0"/>
              <a:t>true</a:t>
            </a:r>
          </a:p>
          <a:p>
            <a:pPr marL="0" indent="0">
              <a:buNone/>
            </a:pPr>
            <a:r>
              <a:rPr lang="en-US" sz="1800" b="1" dirty="0"/>
              <a:t>            eff </a:t>
            </a:r>
            <a:r>
              <a:rPr lang="en-US" sz="1800" dirty="0"/>
              <a:t>failed := T</a:t>
            </a:r>
          </a:p>
          <a:p>
            <a:pPr marL="0" indent="0">
              <a:buNone/>
            </a:pPr>
            <a:r>
              <a:rPr lang="en-US" sz="1800" b="1" dirty="0"/>
              <a:t>    trajectories:</a:t>
            </a:r>
          </a:p>
          <a:p>
            <a:pPr marL="0" indent="0">
              <a:buNone/>
            </a:pPr>
            <a:r>
              <a:rPr lang="en-US" sz="1800" b="1" dirty="0"/>
              <a:t>        evolve </a:t>
            </a:r>
            <a:r>
              <a:rPr lang="en-US" sz="1800" dirty="0"/>
              <a:t>d(clock) = 1, d(z) = f(z)</a:t>
            </a:r>
          </a:p>
          <a:p>
            <a:pPr marL="0" indent="0">
              <a:buNone/>
            </a:pPr>
            <a:r>
              <a:rPr lang="en-US" sz="1800" b="1" dirty="0"/>
              <a:t>        invariant </a:t>
            </a:r>
            <a:r>
              <a:rPr lang="en-US" sz="1800" dirty="0"/>
              <a:t>failed \/ clock&lt;=u</a:t>
            </a:r>
            <a:endParaRPr lang="en-US" sz="1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/>
              <p:cNvSpPr/>
              <p:nvPr/>
            </p:nvSpPr>
            <p:spPr>
              <a:xfrm>
                <a:off x="1523999" y="3330928"/>
                <a:ext cx="1600200" cy="1429642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 err="1">
                    <a:solidFill>
                      <a:schemeClr val="tx1"/>
                    </a:solidFill>
                  </a:rPr>
                  <a:t>Loc</a:t>
                </a:r>
                <a:r>
                  <a:rPr lang="en-US" dirty="0">
                    <a:solidFill>
                      <a:schemeClr val="tx1"/>
                    </a:solidFill>
                  </a:rPr>
                  <a:t> 1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𝑐𝑙𝑜𝑐𝑘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=1 </m:t>
                      </m:r>
                    </m:oMath>
                  </m:oMathPara>
                </a14:m>
                <a:endParaRPr lang="en-US" sz="1400" i="1" dirty="0">
                  <a:solidFill>
                    <a:schemeClr val="tx1"/>
                  </a:solidFill>
                  <a:latin typeface="Cambria Math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𝑑</m:t>
                      </m:r>
                      <m:d>
                        <m:dPr>
                          <m:ctrlPr>
                            <a:rPr lang="en-US" sz="1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solidFill>
                                <a:schemeClr val="tx1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</m:d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𝑓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(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𝑧</m:t>
                      </m:r>
                      <m:r>
                        <a:rPr lang="en-US" sz="1400" i="1">
                          <a:solidFill>
                            <a:schemeClr val="tx1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sz="1400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sz="1400" b="1" dirty="0">
                    <a:solidFill>
                      <a:schemeClr val="tx1"/>
                    </a:solidFill>
                  </a:rPr>
                  <a:t>~failed</a:t>
                </a:r>
                <a14:m>
                  <m:oMath xmlns:m="http://schemas.openxmlformats.org/officeDocument/2006/math">
                    <m:r>
                      <a:rPr lang="en-US" sz="14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⇒</m:t>
                    </m:r>
                    <m:r>
                      <a:rPr lang="en-US" sz="1400" b="1" i="1">
                        <a:solidFill>
                          <a:schemeClr val="tx1"/>
                        </a:solidFill>
                        <a:latin typeface="Cambria Math"/>
                      </a:rPr>
                      <m:t>𝒄𝒍𝒐𝒄𝒌</m:t>
                    </m:r>
                    <m:r>
                      <a:rPr lang="en-US" sz="14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≤</m:t>
                    </m:r>
                    <m:r>
                      <a:rPr lang="en-US" sz="1400" b="1" i="1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𝒖</m:t>
                    </m:r>
                  </m:oMath>
                </a14:m>
                <a:endParaRPr lang="en-US" sz="1200" b="1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Oval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3999" y="3330928"/>
                <a:ext cx="1600200" cy="1429642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Curved Connector 7"/>
          <p:cNvCxnSpPr>
            <a:stCxn id="6" idx="1"/>
            <a:endCxn id="6" idx="7"/>
          </p:cNvCxnSpPr>
          <p:nvPr/>
        </p:nvCxnSpPr>
        <p:spPr>
          <a:xfrm rot="5400000" flipH="1" flipV="1">
            <a:off x="2324099" y="2974538"/>
            <a:ext cx="12700" cy="1131512"/>
          </a:xfrm>
          <a:prstGeom prst="curvedConnector3">
            <a:avLst>
              <a:gd name="adj1" fmla="val 5871630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34454" y="1862172"/>
            <a:ext cx="2704908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send(m)</a:t>
            </a:r>
          </a:p>
          <a:p>
            <a:pPr algn="ctr"/>
            <a:r>
              <a:rPr lang="en-US" dirty="0"/>
              <a:t>clock = u /\ m = z /\ ~failed</a:t>
            </a:r>
          </a:p>
          <a:p>
            <a:pPr algn="ctr"/>
            <a:r>
              <a:rPr lang="en-US" dirty="0"/>
              <a:t>clock := 0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cxnSp>
        <p:nvCxnSpPr>
          <p:cNvPr id="22" name="Straight Arrow Connector 21"/>
          <p:cNvCxnSpPr>
            <a:endCxn id="6" idx="2"/>
          </p:cNvCxnSpPr>
          <p:nvPr/>
        </p:nvCxnSpPr>
        <p:spPr>
          <a:xfrm>
            <a:off x="990599" y="4045749"/>
            <a:ext cx="53340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16993" y="4150970"/>
            <a:ext cx="10070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clock:= 0</a:t>
            </a:r>
          </a:p>
        </p:txBody>
      </p:sp>
      <p:cxnSp>
        <p:nvCxnSpPr>
          <p:cNvPr id="18" name="Curved Connector 17"/>
          <p:cNvCxnSpPr>
            <a:stCxn id="6" idx="3"/>
            <a:endCxn id="6" idx="5"/>
          </p:cNvCxnSpPr>
          <p:nvPr/>
        </p:nvCxnSpPr>
        <p:spPr>
          <a:xfrm rot="16200000" flipH="1">
            <a:off x="2324099" y="3985448"/>
            <a:ext cx="12700" cy="1131512"/>
          </a:xfrm>
          <a:prstGeom prst="curvedConnector3">
            <a:avLst>
              <a:gd name="adj1" fmla="val 6494701"/>
            </a:avLst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1803575" y="5015547"/>
            <a:ext cx="110030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/>
              <a:t>fail</a:t>
            </a:r>
          </a:p>
          <a:p>
            <a:pPr algn="ctr"/>
            <a:r>
              <a:rPr lang="en-US" dirty="0"/>
              <a:t>true</a:t>
            </a:r>
          </a:p>
          <a:p>
            <a:pPr algn="ctr"/>
            <a:r>
              <a:rPr lang="en-US" dirty="0"/>
              <a:t>failed := T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5352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4D8CAAD5-FB22-BF43-A462-66B0D482F4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317" t="4153" r="6419" b="60587"/>
          <a:stretch/>
        </p:blipFill>
        <p:spPr>
          <a:xfrm>
            <a:off x="6096000" y="634717"/>
            <a:ext cx="2218016" cy="11895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19C787-532B-0A4B-B97E-4B8F61C7B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Zeno’s Paradox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BE937-AC0E-9F4C-8C90-A6C134DEDE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08671"/>
            <a:ext cx="10515600" cy="4949330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latin typeface="+mj-lt"/>
              </a:rPr>
              <a:t>Achilles runs 10 times faster than than the tortoise, but the turtle gets to start 1 second earlier. Can Achilles ever catch Turtle? 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endParaRPr lang="en-US" sz="2400" i="1" dirty="0">
              <a:latin typeface="+mj-lt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2400" i="1" dirty="0">
                <a:latin typeface="+mj-lt"/>
              </a:rPr>
              <a:t>Lesson: Mixing discrete transitions with continuous motion can be tricky!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ACD5C9-8453-FA48-9C03-9103CE217EEC}"/>
              </a:ext>
            </a:extLst>
          </p:cNvPr>
          <p:cNvSpPr/>
          <p:nvPr/>
        </p:nvSpPr>
        <p:spPr>
          <a:xfrm>
            <a:off x="838200" y="4967817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AF79A4-DD6A-2948-A855-0A5E9DA63F1B}"/>
              </a:ext>
            </a:extLst>
          </p:cNvPr>
          <p:cNvSpPr/>
          <p:nvPr/>
        </p:nvSpPr>
        <p:spPr>
          <a:xfrm>
            <a:off x="6667499" y="7411"/>
            <a:ext cx="2723133" cy="5831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  <a:latin typeface="Comic Sans MS" panose="030F0902030302020204" pitchFamily="66" charset="0"/>
              </a:rPr>
              <a:t>Achilles, the fastest athlete,  greatest warrior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C36BF9-E158-7F4F-83C4-E5D44909F608}"/>
              </a:ext>
            </a:extLst>
          </p:cNvPr>
          <p:cNvSpPr/>
          <p:nvPr/>
        </p:nvSpPr>
        <p:spPr>
          <a:xfrm>
            <a:off x="10343676" y="7412"/>
            <a:ext cx="1829274" cy="58313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Comic Sans MS" panose="030F0902030302020204" pitchFamily="66" charset="0"/>
              </a:rPr>
              <a:t>Zeno, Greek philosopher </a:t>
            </a:r>
          </a:p>
        </p:txBody>
      </p:sp>
      <p:sp>
        <p:nvSpPr>
          <p:cNvPr id="11" name="Rounded Rectangular Callout 10">
            <a:extLst>
              <a:ext uri="{FF2B5EF4-FFF2-40B4-BE49-F238E27FC236}">
                <a16:creationId xmlns:a16="http://schemas.microsoft.com/office/drawing/2014/main" id="{677DE7C9-15C9-7847-B7FA-D975C235AD40}"/>
              </a:ext>
            </a:extLst>
          </p:cNvPr>
          <p:cNvSpPr/>
          <p:nvPr/>
        </p:nvSpPr>
        <p:spPr>
          <a:xfrm>
            <a:off x="8915400" y="914400"/>
            <a:ext cx="1428276" cy="776288"/>
          </a:xfrm>
          <a:prstGeom prst="wedgeRoundRectCallout">
            <a:avLst>
              <a:gd name="adj1" fmla="val 72497"/>
              <a:gd name="adj2" fmla="val -32954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  <a:latin typeface="Comic Sans MS" panose="030F0902030302020204" pitchFamily="66" charset="0"/>
              </a:rPr>
              <a:t>You couldn’t even beat a turtle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8CDE728-459B-1C46-98C0-4B7A3B43429E}"/>
              </a:ext>
            </a:extLst>
          </p:cNvPr>
          <p:cNvCxnSpPr>
            <a:cxnSpLocks/>
            <a:stCxn id="4" idx="6"/>
          </p:cNvCxnSpPr>
          <p:nvPr/>
        </p:nvCxnSpPr>
        <p:spPr>
          <a:xfrm>
            <a:off x="1049867" y="5073651"/>
            <a:ext cx="6855409" cy="22407"/>
          </a:xfrm>
          <a:prstGeom prst="straightConnector1">
            <a:avLst/>
          </a:prstGeom>
          <a:ln w="38100">
            <a:solidFill>
              <a:schemeClr val="bg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c 15">
            <a:extLst>
              <a:ext uri="{FF2B5EF4-FFF2-40B4-BE49-F238E27FC236}">
                <a16:creationId xmlns:a16="http://schemas.microsoft.com/office/drawing/2014/main" id="{910CB477-C5FE-3643-B7BD-46888D6C83D7}"/>
              </a:ext>
            </a:extLst>
          </p:cNvPr>
          <p:cNvSpPr/>
          <p:nvPr/>
        </p:nvSpPr>
        <p:spPr>
          <a:xfrm rot="10800000" flipV="1">
            <a:off x="944032" y="3660552"/>
            <a:ext cx="2645329" cy="2614530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C63F4360-FEB7-F745-BBB7-8A4C70F74E09}"/>
              </a:ext>
            </a:extLst>
          </p:cNvPr>
          <p:cNvSpPr/>
          <p:nvPr/>
        </p:nvSpPr>
        <p:spPr>
          <a:xfrm flipV="1">
            <a:off x="3589361" y="4547418"/>
            <a:ext cx="1279023" cy="1264132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8D5A4D8-F25A-5C43-8DC0-1F9A5ADAFECF}"/>
              </a:ext>
            </a:extLst>
          </p:cNvPr>
          <p:cNvSpPr/>
          <p:nvPr/>
        </p:nvSpPr>
        <p:spPr>
          <a:xfrm>
            <a:off x="3485294" y="4967817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656DE3C-97E2-7A48-9107-20BB815DAC00}"/>
              </a:ext>
            </a:extLst>
          </p:cNvPr>
          <p:cNvSpPr/>
          <p:nvPr/>
        </p:nvSpPr>
        <p:spPr>
          <a:xfrm>
            <a:off x="4762550" y="5006182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FD6D5CC0-A747-9145-BE8C-E1CD57F774E5}"/>
              </a:ext>
            </a:extLst>
          </p:cNvPr>
          <p:cNvSpPr/>
          <p:nvPr/>
        </p:nvSpPr>
        <p:spPr>
          <a:xfrm rot="10800000" flipV="1">
            <a:off x="3576621" y="4344241"/>
            <a:ext cx="1285815" cy="1270844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D453BC72-90A4-5C4D-B174-547C93C56BB0}"/>
              </a:ext>
            </a:extLst>
          </p:cNvPr>
          <p:cNvSpPr/>
          <p:nvPr/>
        </p:nvSpPr>
        <p:spPr>
          <a:xfrm flipV="1">
            <a:off x="4889732" y="4898152"/>
            <a:ext cx="621695" cy="614456"/>
          </a:xfrm>
          <a:prstGeom prst="arc">
            <a:avLst>
              <a:gd name="adj1" fmla="val 10759906"/>
              <a:gd name="adj2" fmla="val 0"/>
            </a:avLst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3F48F78-FC83-DB41-9E68-FD66D7436B55}"/>
              </a:ext>
            </a:extLst>
          </p:cNvPr>
          <p:cNvGrpSpPr/>
          <p:nvPr/>
        </p:nvGrpSpPr>
        <p:grpSpPr>
          <a:xfrm>
            <a:off x="4862163" y="4698601"/>
            <a:ext cx="967364" cy="653582"/>
            <a:chOff x="4879696" y="3698917"/>
            <a:chExt cx="3869756" cy="2614530"/>
          </a:xfrm>
        </p:grpSpPr>
        <p:sp>
          <p:nvSpPr>
            <p:cNvPr id="23" name="Arc 22">
              <a:extLst>
                <a:ext uri="{FF2B5EF4-FFF2-40B4-BE49-F238E27FC236}">
                  <a16:creationId xmlns:a16="http://schemas.microsoft.com/office/drawing/2014/main" id="{0FF734B2-C609-C948-A00D-B16101E0F227}"/>
                </a:ext>
              </a:extLst>
            </p:cNvPr>
            <p:cNvSpPr/>
            <p:nvPr/>
          </p:nvSpPr>
          <p:spPr>
            <a:xfrm rot="10800000" flipV="1">
              <a:off x="4879696" y="3698917"/>
              <a:ext cx="2645329" cy="2614530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Arc 23">
              <a:extLst>
                <a:ext uri="{FF2B5EF4-FFF2-40B4-BE49-F238E27FC236}">
                  <a16:creationId xmlns:a16="http://schemas.microsoft.com/office/drawing/2014/main" id="{BA379434-ABB9-9A49-89B9-EF7891ACB776}"/>
                </a:ext>
              </a:extLst>
            </p:cNvPr>
            <p:cNvSpPr/>
            <p:nvPr/>
          </p:nvSpPr>
          <p:spPr>
            <a:xfrm flipV="1">
              <a:off x="7470429" y="5022551"/>
              <a:ext cx="1279023" cy="1264134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C2324F20-1A49-8A48-B92F-FD828D28FCFF}"/>
              </a:ext>
            </a:extLst>
          </p:cNvPr>
          <p:cNvSpPr/>
          <p:nvPr/>
        </p:nvSpPr>
        <p:spPr>
          <a:xfrm>
            <a:off x="5405596" y="4979663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1AD188FA-983C-9C4F-936B-FD0EF45D8538}"/>
              </a:ext>
            </a:extLst>
          </p:cNvPr>
          <p:cNvGrpSpPr/>
          <p:nvPr/>
        </p:nvGrpSpPr>
        <p:grpSpPr>
          <a:xfrm>
            <a:off x="5506617" y="4830390"/>
            <a:ext cx="496447" cy="453633"/>
            <a:chOff x="4879696" y="3698917"/>
            <a:chExt cx="3707519" cy="3387777"/>
          </a:xfrm>
        </p:grpSpPr>
        <p:sp>
          <p:nvSpPr>
            <p:cNvPr id="29" name="Arc 28">
              <a:extLst>
                <a:ext uri="{FF2B5EF4-FFF2-40B4-BE49-F238E27FC236}">
                  <a16:creationId xmlns:a16="http://schemas.microsoft.com/office/drawing/2014/main" id="{CBF2E86F-E623-D64A-B365-CF970211C924}"/>
                </a:ext>
              </a:extLst>
            </p:cNvPr>
            <p:cNvSpPr/>
            <p:nvPr/>
          </p:nvSpPr>
          <p:spPr>
            <a:xfrm rot="10800000" flipV="1">
              <a:off x="4879696" y="3698917"/>
              <a:ext cx="2645329" cy="2614530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Arc 29">
              <a:extLst>
                <a:ext uri="{FF2B5EF4-FFF2-40B4-BE49-F238E27FC236}">
                  <a16:creationId xmlns:a16="http://schemas.microsoft.com/office/drawing/2014/main" id="{B2370A31-1530-7A4E-BD06-B56C93059F2C}"/>
                </a:ext>
              </a:extLst>
            </p:cNvPr>
            <p:cNvSpPr/>
            <p:nvPr/>
          </p:nvSpPr>
          <p:spPr>
            <a:xfrm flipV="1">
              <a:off x="7308190" y="5822561"/>
              <a:ext cx="1279025" cy="1264133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1" name="Oval 30">
            <a:extLst>
              <a:ext uri="{FF2B5EF4-FFF2-40B4-BE49-F238E27FC236}">
                <a16:creationId xmlns:a16="http://schemas.microsoft.com/office/drawing/2014/main" id="{D97085B7-C476-AB4F-9802-F23C64F3E102}"/>
              </a:ext>
            </a:extLst>
          </p:cNvPr>
          <p:cNvSpPr/>
          <p:nvPr/>
        </p:nvSpPr>
        <p:spPr>
          <a:xfrm>
            <a:off x="5736539" y="4982018"/>
            <a:ext cx="211667" cy="21166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26CE58F-94DE-8F4E-906E-656869F391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biLevel thresh="5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6400" l="5042" r="94958">
                        <a14:foregroundMark x1="39076" y1="52400" x2="39076" y2="52400"/>
                        <a14:foregroundMark x1="42437" y1="45200" x2="42437" y2="45200"/>
                        <a14:foregroundMark x1="52521" y1="40400" x2="52521" y2="40400"/>
                        <a14:foregroundMark x1="68908" y1="51600" x2="68908" y2="51600"/>
                        <a14:foregroundMark x1="57563" y1="56800" x2="57563" y2="56800"/>
                        <a14:foregroundMark x1="45798" y1="65200" x2="45798" y2="65200"/>
                        <a14:foregroundMark x1="34874" y1="67200" x2="34874" y2="67200"/>
                        <a14:foregroundMark x1="65126" y1="66400" x2="65126" y2="66400"/>
                        <a14:foregroundMark x1="75210" y1="63200" x2="75210" y2="63200"/>
                        <a14:foregroundMark x1="80672" y1="54400" x2="80672" y2="544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3228896" y="5123762"/>
            <a:ext cx="633943" cy="665906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EA8341B4-63A6-9840-89BD-60535076D876}"/>
              </a:ext>
            </a:extLst>
          </p:cNvPr>
          <p:cNvSpPr/>
          <p:nvPr/>
        </p:nvSpPr>
        <p:spPr>
          <a:xfrm>
            <a:off x="7531741" y="2949228"/>
            <a:ext cx="416978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i="1" dirty="0">
                <a:latin typeface="+mj-lt"/>
              </a:rPr>
              <a:t>After 1/10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of a second, Achilles reaches where the Turtle (T) started, and T has a head start of 1/10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second.</a:t>
            </a:r>
          </a:p>
          <a:p>
            <a:r>
              <a:rPr lang="en-US" sz="2000" i="1" dirty="0">
                <a:latin typeface="+mj-lt"/>
              </a:rPr>
              <a:t>After another 1/100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of a second, A catches up to where T was at t=1/10 sec, but T has a head start of 1/100</a:t>
            </a:r>
            <a:r>
              <a:rPr lang="en-US" sz="2000" i="1" baseline="30000" dirty="0">
                <a:latin typeface="+mj-lt"/>
              </a:rPr>
              <a:t>th</a:t>
            </a:r>
            <a:r>
              <a:rPr lang="en-US" sz="2000" i="1" dirty="0">
                <a:latin typeface="+mj-lt"/>
              </a:rPr>
              <a:t> </a:t>
            </a:r>
          </a:p>
          <a:p>
            <a:r>
              <a:rPr lang="en-US" sz="2000" i="1" dirty="0">
                <a:latin typeface="+mj-lt"/>
              </a:rPr>
              <a:t>… </a:t>
            </a:r>
          </a:p>
          <a:p>
            <a:r>
              <a:rPr lang="en-US" sz="2000" i="1" dirty="0">
                <a:latin typeface="+mj-lt"/>
              </a:rPr>
              <a:t>T is always ahead …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B94C06E-AF08-F24D-94D0-973D7575EEE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4120" b="95506" l="5385" r="95769"/>
                    </a14:imgEffect>
                  </a14:imgLayer>
                </a14:imgProps>
              </a:ext>
            </a:extLst>
          </a:blip>
          <a:srcRect l="8183" t="4153" r="6791" b="5003"/>
          <a:stretch/>
        </p:blipFill>
        <p:spPr>
          <a:xfrm>
            <a:off x="305799" y="3820977"/>
            <a:ext cx="1018308" cy="1113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73D097E-A5F7-B647-A140-63639C637A6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26092" y="590550"/>
            <a:ext cx="1132770" cy="1540567"/>
          </a:xfrm>
          <a:prstGeom prst="rect">
            <a:avLst/>
          </a:prstGeom>
        </p:spPr>
      </p:pic>
      <p:sp>
        <p:nvSpPr>
          <p:cNvPr id="12" name="Rounded Rectangular Callout 11">
            <a:extLst>
              <a:ext uri="{FF2B5EF4-FFF2-40B4-BE49-F238E27FC236}">
                <a16:creationId xmlns:a16="http://schemas.microsoft.com/office/drawing/2014/main" id="{3D1C9467-C6A7-E84D-8DE7-2A366768C0C8}"/>
              </a:ext>
            </a:extLst>
          </p:cNvPr>
          <p:cNvSpPr/>
          <p:nvPr/>
        </p:nvSpPr>
        <p:spPr>
          <a:xfrm>
            <a:off x="7717450" y="659653"/>
            <a:ext cx="1110461" cy="480172"/>
          </a:xfrm>
          <a:prstGeom prst="wedgeRoundRectCallout">
            <a:avLst>
              <a:gd name="adj1" fmla="val -91761"/>
              <a:gd name="adj2" fmla="val 6377"/>
              <a:gd name="adj3" fmla="val 16667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i="1" dirty="0">
                <a:solidFill>
                  <a:schemeClr val="tx1"/>
                </a:solidFill>
                <a:latin typeface="Comic Sans MS" panose="030F0902030302020204" pitchFamily="66" charset="0"/>
              </a:rPr>
              <a:t>whatever!</a:t>
            </a:r>
          </a:p>
        </p:txBody>
      </p:sp>
    </p:spTree>
    <p:extLst>
      <p:ext uri="{BB962C8B-B14F-4D97-AF65-F5344CB8AC3E}">
        <p14:creationId xmlns:p14="http://schemas.microsoft.com/office/powerpoint/2010/main" val="20711711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-1.85185E-6 L 0.10807 0.00023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04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5 -0.00463 L 0.2276 -0.00463 " pathEditMode="relative" ptsTypes="AA">
                                      <p:cBhvr>
                                        <p:cTn id="3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929 -0.00463 L 0.33372 -4.44444E-6 " pathEditMode="relative" ptsTypes="AA">
                                      <p:cBhvr>
                                        <p:cTn id="5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546 0.00834 L 0.16223 0.00834 " pathEditMode="relative" ptsTypes="AA">
                                      <p:cBhvr>
                                        <p:cTn id="5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92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2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5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98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9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00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01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2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 animBg="1"/>
      <p:bldP spid="11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6" grpId="0" animBg="1"/>
      <p:bldP spid="26" grpId="1" animBg="1"/>
      <p:bldP spid="3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BC8AC-8B2E-1940-A2A1-F2B705DC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stability of hybrid automata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A3A85-F113-F645-A4E5-1FBD31BB62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1" y="1825624"/>
                <a:ext cx="7157742" cy="4667245"/>
              </a:xfrm>
            </p:spPr>
            <p:txBody>
              <a:bodyPr>
                <a:normAutofit fontScale="70000" lnSpcReduction="20000"/>
              </a:bodyPr>
              <a:lstStyle/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Given an admissible execution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𝜏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 …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Recall, stability is defined in terms of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/>
                      </a:rPr>
                      <m:t>|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|</m:t>
                    </m:r>
                  </m:oMath>
                </a14:m>
                <a:r>
                  <a:rPr lang="en-US" dirty="0"/>
                  <a:t>; two issues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We would like to view an execution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[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But, how to define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?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define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𝑠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𝑙𝑠𝑡𝑎𝑡𝑒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is the longest </a:t>
                </a:r>
                <a:r>
                  <a:rPr lang="en-US" b="1" dirty="0"/>
                  <a:t>prefix</a:t>
                </a:r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𝑙𝑡𝑖𝑚𝑒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>
                  <a:lnSpc>
                    <a:spcPct val="110000"/>
                  </a:lnSpc>
                </a:pPr>
                <a:r>
                  <a:rPr lang="en-US" dirty="0"/>
                  <a:t>Also,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has valuations of discrete variables (loc) and continuous variable (x): ignore discrete variable when discussing stability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/>
                      </a:rPr>
                      <m:t>𝛼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⌈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Now, we can import all the definitions of Lyapunov stability and asymptotic stability from dynamical system models to hybrid automata </a:t>
                </a:r>
              </a:p>
              <a:p>
                <a:pPr marL="0" indent="0">
                  <a:lnSpc>
                    <a:spcPct val="110000"/>
                  </a:lnSpc>
                  <a:buNone/>
                </a:pPr>
                <a:r>
                  <a:rPr lang="en-US" dirty="0"/>
                  <a:t>Question. How can we check stability of a hybrid automaton?</a:t>
                </a:r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  <a:p>
                <a:pPr>
                  <a:lnSpc>
                    <a:spcPct val="110000"/>
                  </a:lnSpc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FA3A85-F113-F645-A4E5-1FBD31BB62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1" y="1825624"/>
                <a:ext cx="7157742" cy="4667245"/>
              </a:xfrm>
              <a:blipFill>
                <a:blip r:embed="rId2"/>
                <a:stretch>
                  <a:fillRect l="-1064" t="-1355" r="-14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60032037-DC86-D246-83DE-789A29AAB971}"/>
              </a:ext>
            </a:extLst>
          </p:cNvPr>
          <p:cNvGrpSpPr/>
          <p:nvPr/>
        </p:nvGrpSpPr>
        <p:grpSpPr>
          <a:xfrm>
            <a:off x="7769283" y="1302875"/>
            <a:ext cx="4176987" cy="2797379"/>
            <a:chOff x="7811813" y="3471917"/>
            <a:chExt cx="4176987" cy="2797379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F8834DC2-1FDB-244B-B161-5DA8994BF699}"/>
                </a:ext>
              </a:extLst>
            </p:cNvPr>
            <p:cNvCxnSpPr/>
            <p:nvPr/>
          </p:nvCxnSpPr>
          <p:spPr>
            <a:xfrm>
              <a:off x="9528980" y="3656583"/>
              <a:ext cx="50400" cy="2016110"/>
            </a:xfrm>
            <a:prstGeom prst="line">
              <a:avLst/>
            </a:prstGeom>
            <a:ln w="28575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AD1D58A-759B-CE40-B937-6E12E03130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3600" y="4119385"/>
              <a:ext cx="0" cy="155330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7DC62E4-95DF-B140-8FB1-86C0671D9E74}"/>
                </a:ext>
              </a:extLst>
            </p:cNvPr>
            <p:cNvCxnSpPr>
              <a:cxnSpLocks/>
            </p:cNvCxnSpPr>
            <p:nvPr/>
          </p:nvCxnSpPr>
          <p:spPr>
            <a:xfrm>
              <a:off x="8483600" y="5672693"/>
              <a:ext cx="3505200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588D16D-D530-714C-ADFB-29B2F4397651}"/>
                </a:ext>
              </a:extLst>
            </p:cNvPr>
            <p:cNvSpPr txBox="1"/>
            <p:nvPr/>
          </p:nvSpPr>
          <p:spPr>
            <a:xfrm>
              <a:off x="9929064" y="5807631"/>
              <a:ext cx="74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/>
                <a:t>time</a:t>
              </a:r>
            </a:p>
          </p:txBody>
        </p:sp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674ECC-E75C-DB43-ACE6-4FAD59DD42DE}"/>
                    </a:ext>
                  </a:extLst>
                </p14:cNvPr>
                <p14:cNvContentPartPr/>
                <p14:nvPr/>
              </p14:nvContentPartPr>
              <p14:xfrm>
                <a:off x="8504780" y="4826160"/>
                <a:ext cx="1027440" cy="4662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674ECC-E75C-DB43-ACE6-4FAD59DD42D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96140" y="4817520"/>
                  <a:ext cx="104508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0544B89-EAE0-B44E-9735-37C7702EB3DE}"/>
                    </a:ext>
                  </a:extLst>
                </p14:cNvPr>
                <p14:cNvContentPartPr/>
                <p14:nvPr/>
              </p14:nvContentPartPr>
              <p14:xfrm>
                <a:off x="9528980" y="4555080"/>
                <a:ext cx="13320" cy="32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0544B89-EAE0-B44E-9735-37C7702EB3D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9520340" y="4546440"/>
                  <a:ext cx="309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79623F5-4752-D340-A603-186694F56D4A}"/>
                    </a:ext>
                  </a:extLst>
                </p14:cNvPr>
                <p14:cNvContentPartPr/>
                <p14:nvPr/>
              </p14:nvContentPartPr>
              <p14:xfrm>
                <a:off x="9525020" y="4276080"/>
                <a:ext cx="9360" cy="10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79623F5-4752-D340-A603-186694F56D4A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516020" y="4267440"/>
                  <a:ext cx="2700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BFEB7E6-3DE4-5B44-8A78-C657A9545331}"/>
                    </a:ext>
                  </a:extLst>
                </p14:cNvPr>
                <p14:cNvContentPartPr/>
                <p14:nvPr/>
              </p14:nvContentPartPr>
              <p14:xfrm>
                <a:off x="9525020" y="3791520"/>
                <a:ext cx="1500120" cy="226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BFEB7E6-3DE4-5B44-8A78-C657A954533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9516020" y="3782520"/>
                  <a:ext cx="15177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380D1A9-A577-B740-862C-2B56AFD210A8}"/>
                    </a:ext>
                  </a:extLst>
                </p:cNvPr>
                <p:cNvSpPr txBox="1"/>
                <p:nvPr/>
              </p:nvSpPr>
              <p:spPr>
                <a:xfrm>
                  <a:off x="7811813" y="4727966"/>
                  <a:ext cx="671787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𝑡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9380D1A9-A577-B740-862C-2B56AFD210A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1813" y="4727966"/>
                  <a:ext cx="671787" cy="369332"/>
                </a:xfrm>
                <a:prstGeom prst="rect">
                  <a:avLst/>
                </a:prstGeom>
                <a:blipFill>
                  <a:blip r:embed="rId11"/>
                  <a:stretch>
                    <a:fillRect b="-137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ACBD84B-7866-BD46-A20C-28B3C3532A19}"/>
                    </a:ext>
                  </a:extLst>
                </p:cNvPr>
                <p:cNvSpPr/>
                <p:nvPr/>
              </p:nvSpPr>
              <p:spPr>
                <a:xfrm>
                  <a:off x="8641394" y="4660661"/>
                  <a:ext cx="45070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2" name="Rectangle 21">
                  <a:extLst>
                    <a:ext uri="{FF2B5EF4-FFF2-40B4-BE49-F238E27FC236}">
                      <a16:creationId xmlns:a16="http://schemas.microsoft.com/office/drawing/2014/main" id="{DACBD84B-7866-BD46-A20C-28B3C3532A1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1394" y="4660661"/>
                  <a:ext cx="45070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4F73831-4CA1-084F-9A16-286715EE385D}"/>
                    </a:ext>
                  </a:extLst>
                </p:cNvPr>
                <p:cNvSpPr/>
                <p:nvPr/>
              </p:nvSpPr>
              <p:spPr>
                <a:xfrm>
                  <a:off x="10175990" y="3471917"/>
                  <a:ext cx="50199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04F73831-4CA1-084F-9A16-286715EE38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75990" y="3471917"/>
                  <a:ext cx="501997" cy="369332"/>
                </a:xfrm>
                <a:prstGeom prst="rect">
                  <a:avLst/>
                </a:prstGeom>
                <a:blipFill>
                  <a:blip r:embed="rId13"/>
                  <a:stretch>
                    <a:fillRect b="-1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4D9CFBF-2F16-6542-9CD7-7F9A1E719B51}"/>
                    </a:ext>
                  </a:extLst>
                </p:cNvPr>
                <p:cNvSpPr/>
                <p:nvPr/>
              </p:nvSpPr>
              <p:spPr>
                <a:xfrm>
                  <a:off x="9621789" y="4342041"/>
                  <a:ext cx="496674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94D9CFBF-2F16-6542-9CD7-7F9A1E719B5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21789" y="4342041"/>
                  <a:ext cx="496674" cy="369332"/>
                </a:xfrm>
                <a:prstGeom prst="rect">
                  <a:avLst/>
                </a:prstGeom>
                <a:blipFill>
                  <a:blip r:embed="rId14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A1FE61DA-EC4C-F947-B081-7A459C99D6AB}"/>
                    </a:ext>
                  </a:extLst>
                </p:cNvPr>
                <p:cNvSpPr/>
                <p:nvPr/>
              </p:nvSpPr>
              <p:spPr>
                <a:xfrm>
                  <a:off x="9616466" y="4059547"/>
                  <a:ext cx="501997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 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A1FE61DA-EC4C-F947-B081-7A459C99D6A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16466" y="4059547"/>
                  <a:ext cx="501997" cy="369332"/>
                </a:xfrm>
                <a:prstGeom prst="rect">
                  <a:avLst/>
                </a:prstGeom>
                <a:blipFill>
                  <a:blip r:embed="rId1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50F996C-F904-1A4E-A50F-3916A0357D10}"/>
                    </a:ext>
                  </a:extLst>
                </p14:cNvPr>
                <p14:cNvContentPartPr/>
                <p14:nvPr/>
              </p14:nvContentPartPr>
              <p14:xfrm>
                <a:off x="9538340" y="4795200"/>
                <a:ext cx="59400" cy="48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50F996C-F904-1A4E-A50F-3916A0357D1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529700" y="4786560"/>
                  <a:ext cx="7704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5F1B29C-FBC5-D644-8E4F-56E9E71A929E}"/>
                    </a:ext>
                  </a:extLst>
                </p14:cNvPr>
                <p14:cNvContentPartPr/>
                <p14:nvPr/>
              </p14:nvContentPartPr>
              <p14:xfrm>
                <a:off x="9504860" y="4554000"/>
                <a:ext cx="74520" cy="68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5F1B29C-FBC5-D644-8E4F-56E9E71A929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495860" y="4545000"/>
                  <a:ext cx="9216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DA7A49-ACCC-D34A-B2D6-2354DA8AFD92}"/>
                    </a:ext>
                  </a:extLst>
                </p14:cNvPr>
                <p14:cNvContentPartPr/>
                <p14:nvPr/>
              </p14:nvContentPartPr>
              <p14:xfrm>
                <a:off x="9509180" y="4275720"/>
                <a:ext cx="59400" cy="51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DA7A49-ACCC-D34A-B2D6-2354DA8AFD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00540" y="4266720"/>
                  <a:ext cx="770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4BB7402-5931-9B4C-8918-ABD91B8F32C9}"/>
                    </a:ext>
                  </a:extLst>
                </p14:cNvPr>
                <p14:cNvContentPartPr/>
                <p14:nvPr/>
              </p14:nvContentPartPr>
              <p14:xfrm>
                <a:off x="9519620" y="3991680"/>
                <a:ext cx="41760" cy="57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4BB7402-5931-9B4C-8918-ABD91B8F32C9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510620" y="3982680"/>
                  <a:ext cx="594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19BDAE4-D1D1-AA4E-992E-0F8B2DEE0BC7}"/>
                    </a:ext>
                  </a:extLst>
                </p:cNvPr>
                <p:cNvSpPr txBox="1"/>
                <p:nvPr/>
              </p:nvSpPr>
              <p:spPr>
                <a:xfrm>
                  <a:off x="9406312" y="5689321"/>
                  <a:ext cx="42030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519BDAE4-D1D1-AA4E-992E-0F8B2DEE0B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06312" y="5689321"/>
                  <a:ext cx="420308" cy="369332"/>
                </a:xfrm>
                <a:prstGeom prst="rect">
                  <a:avLst/>
                </a:prstGeom>
                <a:blipFill>
                  <a:blip r:embed="rId2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EE88700-4B78-0B48-944D-F52823ED0624}"/>
              </a:ext>
            </a:extLst>
          </p:cNvPr>
          <p:cNvGrpSpPr/>
          <p:nvPr/>
        </p:nvGrpSpPr>
        <p:grpSpPr>
          <a:xfrm>
            <a:off x="8779869" y="1429499"/>
            <a:ext cx="792371" cy="517809"/>
            <a:chOff x="8822399" y="3598541"/>
            <a:chExt cx="792371" cy="517809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E25CE1DA-8B8C-754C-A6F8-3958C1D9B041}"/>
                </a:ext>
              </a:extLst>
            </p:cNvPr>
            <p:cNvSpPr/>
            <p:nvPr/>
          </p:nvSpPr>
          <p:spPr>
            <a:xfrm>
              <a:off x="9449670" y="3951250"/>
              <a:ext cx="165100" cy="1651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FCF77C8-CF5B-5D43-AA64-F7C003AF6E23}"/>
                    </a:ext>
                  </a:extLst>
                </p:cNvPr>
                <p:cNvSpPr/>
                <p:nvPr/>
              </p:nvSpPr>
              <p:spPr>
                <a:xfrm>
                  <a:off x="8822399" y="3598541"/>
                  <a:ext cx="75751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  <m:t>𝛼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  <a:ea typeface="Cambria Math"/>
                          </a:rPr>
                          <m:t>(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  <m:t>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  <a:ea typeface="Cambria Math"/>
                          </a:rPr>
                          <m:t>)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35" name="Rectangle 34">
                  <a:extLst>
                    <a:ext uri="{FF2B5EF4-FFF2-40B4-BE49-F238E27FC236}">
                      <a16:creationId xmlns:a16="http://schemas.microsoft.com/office/drawing/2014/main" id="{AFCF77C8-CF5B-5D43-AA64-F7C003AF6E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22399" y="3598541"/>
                  <a:ext cx="757515" cy="369332"/>
                </a:xfrm>
                <a:prstGeom prst="rect">
                  <a:avLst/>
                </a:prstGeom>
                <a:blipFill>
                  <a:blip r:embed="rId25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1E4022A-71A4-9C48-BACC-C89A04732516}"/>
                  </a:ext>
                </a:extLst>
              </p14:cNvPr>
              <p14:cNvContentPartPr/>
              <p14:nvPr/>
            </p14:nvContentPartPr>
            <p14:xfrm>
              <a:off x="9393430" y="1729758"/>
              <a:ext cx="197280" cy="216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1E4022A-71A4-9C48-BACC-C89A0473251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384070" y="1720398"/>
                <a:ext cx="216000" cy="235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53751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CC57D90-9C83-A048-984C-A1697E8149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124" t="10877" r="10271" b="10333"/>
          <a:stretch/>
        </p:blipFill>
        <p:spPr>
          <a:xfrm>
            <a:off x="4823242" y="2282018"/>
            <a:ext cx="7187106" cy="4496960"/>
          </a:xfrm>
          <a:prstGeom prst="rect">
            <a:avLst/>
          </a:prstGeom>
        </p:spPr>
      </p:pic>
      <p:sp>
        <p:nvSpPr>
          <p:cNvPr id="10" name="Rounded Rectangle 14">
            <a:extLst>
              <a:ext uri="{FF2B5EF4-FFF2-40B4-BE49-F238E27FC236}">
                <a16:creationId xmlns:a16="http://schemas.microsoft.com/office/drawing/2014/main" id="{CC7A9E2F-5622-CE4D-8B46-32D3011694A0}"/>
              </a:ext>
            </a:extLst>
          </p:cNvPr>
          <p:cNvSpPr/>
          <p:nvPr/>
        </p:nvSpPr>
        <p:spPr>
          <a:xfrm>
            <a:off x="2548884" y="5712350"/>
            <a:ext cx="1828800" cy="723636"/>
          </a:xfrm>
          <a:prstGeom prst="roundRect">
            <a:avLst/>
          </a:prstGeom>
          <a:noFill/>
          <a:ln w="76200">
            <a:solidFill>
              <a:srgbClr val="E47D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b="1" dirty="0">
                <a:solidFill>
                  <a:srgbClr val="E47D01"/>
                </a:solidFill>
                <a:latin typeface="+mj-lt"/>
              </a:rPr>
              <a:t>Run</a:t>
            </a:r>
            <a:endParaRPr lang="en-US" sz="2000" b="1" dirty="0">
              <a:solidFill>
                <a:srgbClr val="E47D01"/>
              </a:solidFill>
              <a:latin typeface="+mj-lt"/>
            </a:endParaRPr>
          </a:p>
        </p:txBody>
      </p:sp>
      <p:sp>
        <p:nvSpPr>
          <p:cNvPr id="11" name="Rounded Rectangle 90">
            <a:extLst>
              <a:ext uri="{FF2B5EF4-FFF2-40B4-BE49-F238E27FC236}">
                <a16:creationId xmlns:a16="http://schemas.microsoft.com/office/drawing/2014/main" id="{C3E0AEC5-5C38-0A46-A608-8903DADD9611}"/>
              </a:ext>
            </a:extLst>
          </p:cNvPr>
          <p:cNvSpPr/>
          <p:nvPr/>
        </p:nvSpPr>
        <p:spPr>
          <a:xfrm>
            <a:off x="274526" y="4860758"/>
            <a:ext cx="1828800" cy="723636"/>
          </a:xfrm>
          <a:prstGeom prst="roundRect">
            <a:avLst/>
          </a:prstGeom>
          <a:noFill/>
          <a:ln w="76200">
            <a:solidFill>
              <a:srgbClr val="04BF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4BFDA"/>
                </a:solidFill>
                <a:latin typeface="+mj-lt"/>
              </a:rPr>
              <a:t>Walk</a:t>
            </a:r>
            <a:endParaRPr lang="en-US" sz="2800" b="1" i="1" dirty="0">
              <a:solidFill>
                <a:srgbClr val="04BFDA"/>
              </a:solidFill>
              <a:latin typeface="+mj-lt"/>
            </a:endParaRPr>
          </a:p>
        </p:txBody>
      </p:sp>
      <p:cxnSp>
        <p:nvCxnSpPr>
          <p:cNvPr id="16" name="Connector: Curved 363">
            <a:extLst>
              <a:ext uri="{FF2B5EF4-FFF2-40B4-BE49-F238E27FC236}">
                <a16:creationId xmlns:a16="http://schemas.microsoft.com/office/drawing/2014/main" id="{F2326642-AD98-8043-96BD-BA0DFF5C9E1B}"/>
              </a:ext>
            </a:extLst>
          </p:cNvPr>
          <p:cNvCxnSpPr>
            <a:cxnSpLocks/>
            <a:stCxn id="11" idx="3"/>
            <a:endCxn id="10" idx="0"/>
          </p:cNvCxnSpPr>
          <p:nvPr/>
        </p:nvCxnSpPr>
        <p:spPr>
          <a:xfrm>
            <a:off x="2103326" y="5222577"/>
            <a:ext cx="1359958" cy="489772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363">
            <a:extLst>
              <a:ext uri="{FF2B5EF4-FFF2-40B4-BE49-F238E27FC236}">
                <a16:creationId xmlns:a16="http://schemas.microsoft.com/office/drawing/2014/main" id="{46CDCADB-B647-3944-9B0C-B0AA7E0561E8}"/>
              </a:ext>
            </a:extLst>
          </p:cNvPr>
          <p:cNvCxnSpPr>
            <a:cxnSpLocks/>
            <a:stCxn id="10" idx="1"/>
            <a:endCxn id="11" idx="2"/>
          </p:cNvCxnSpPr>
          <p:nvPr/>
        </p:nvCxnSpPr>
        <p:spPr>
          <a:xfrm rot="10800000">
            <a:off x="1188926" y="5584394"/>
            <a:ext cx="1359958" cy="489774"/>
          </a:xfrm>
          <a:prstGeom prst="curved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itle 1">
            <a:extLst>
              <a:ext uri="{FF2B5EF4-FFF2-40B4-BE49-F238E27FC236}">
                <a16:creationId xmlns:a16="http://schemas.microsoft.com/office/drawing/2014/main" id="{6A0CCC8C-AECD-914B-9E56-9887DDEEE59C}"/>
              </a:ext>
            </a:extLst>
          </p:cNvPr>
          <p:cNvSpPr txBox="1">
            <a:spLocks/>
          </p:cNvSpPr>
          <p:nvPr/>
        </p:nvSpPr>
        <p:spPr>
          <a:xfrm>
            <a:off x="488607" y="1779465"/>
            <a:ext cx="8669270" cy="773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Each of the modes of a walking robot are asymptotically stable</a:t>
            </a:r>
          </a:p>
          <a:p>
            <a:r>
              <a:rPr lang="en-US" dirty="0"/>
              <a:t> </a:t>
            </a:r>
          </a:p>
          <a:p>
            <a:r>
              <a:rPr lang="en-US" dirty="0"/>
              <a:t>Is it possible to switch between them to make the system unstable?</a:t>
            </a:r>
            <a:endParaRPr lang="en-US" sz="9600" b="1" i="1" dirty="0"/>
          </a:p>
          <a:p>
            <a:endParaRPr lang="en-US" dirty="0"/>
          </a:p>
        </p:txBody>
      </p:sp>
      <p:sp>
        <p:nvSpPr>
          <p:cNvPr id="24" name="Arc 23">
            <a:extLst>
              <a:ext uri="{FF2B5EF4-FFF2-40B4-BE49-F238E27FC236}">
                <a16:creationId xmlns:a16="http://schemas.microsoft.com/office/drawing/2014/main" id="{B56F5169-7142-C741-91D1-5A40A057C3BA}"/>
              </a:ext>
            </a:extLst>
          </p:cNvPr>
          <p:cNvSpPr/>
          <p:nvPr/>
        </p:nvSpPr>
        <p:spPr>
          <a:xfrm rot="10624941">
            <a:off x="8154186" y="3987537"/>
            <a:ext cx="158840" cy="471341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51CCE781-209E-3D45-8F01-70F1CE0CCC5F}"/>
              </a:ext>
            </a:extLst>
          </p:cNvPr>
          <p:cNvSpPr/>
          <p:nvPr/>
        </p:nvSpPr>
        <p:spPr>
          <a:xfrm rot="17470908">
            <a:off x="8345040" y="4059178"/>
            <a:ext cx="266196" cy="617208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B2F44720-A257-8148-ACD3-FCDF48B83542}"/>
              </a:ext>
            </a:extLst>
          </p:cNvPr>
          <p:cNvSpPr/>
          <p:nvPr/>
        </p:nvSpPr>
        <p:spPr>
          <a:xfrm rot="694961">
            <a:off x="8292857" y="4243646"/>
            <a:ext cx="266196" cy="617208"/>
          </a:xfrm>
          <a:prstGeom prst="arc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c 28">
            <a:extLst>
              <a:ext uri="{FF2B5EF4-FFF2-40B4-BE49-F238E27FC236}">
                <a16:creationId xmlns:a16="http://schemas.microsoft.com/office/drawing/2014/main" id="{633F256A-D59A-6D4B-BE32-3680434A8BAF}"/>
              </a:ext>
            </a:extLst>
          </p:cNvPr>
          <p:cNvSpPr/>
          <p:nvPr/>
        </p:nvSpPr>
        <p:spPr>
          <a:xfrm rot="5400000">
            <a:off x="7985593" y="4100519"/>
            <a:ext cx="256833" cy="906269"/>
          </a:xfrm>
          <a:prstGeom prst="arc">
            <a:avLst>
              <a:gd name="adj1" fmla="val 16200000"/>
              <a:gd name="adj2" fmla="val 5483597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c 29">
            <a:extLst>
              <a:ext uri="{FF2B5EF4-FFF2-40B4-BE49-F238E27FC236}">
                <a16:creationId xmlns:a16="http://schemas.microsoft.com/office/drawing/2014/main" id="{38AB7C4F-7CC8-5C48-9DA8-1FDEF499F240}"/>
              </a:ext>
            </a:extLst>
          </p:cNvPr>
          <p:cNvSpPr/>
          <p:nvPr/>
        </p:nvSpPr>
        <p:spPr>
          <a:xfrm>
            <a:off x="7641802" y="2648933"/>
            <a:ext cx="1982963" cy="3214540"/>
          </a:xfrm>
          <a:prstGeom prst="arc">
            <a:avLst>
              <a:gd name="adj1" fmla="val 9922229"/>
              <a:gd name="adj2" fmla="val 0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FA1352D7-4B49-314C-B0B4-FE5CD7BBBB54}"/>
              </a:ext>
            </a:extLst>
          </p:cNvPr>
          <p:cNvSpPr txBox="1">
            <a:spLocks/>
          </p:cNvSpPr>
          <p:nvPr/>
        </p:nvSpPr>
        <p:spPr>
          <a:xfrm>
            <a:off x="488607" y="420806"/>
            <a:ext cx="8669270" cy="7738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Stability of a hybrid automaton</a:t>
            </a:r>
          </a:p>
        </p:txBody>
      </p:sp>
    </p:spTree>
    <p:extLst>
      <p:ext uri="{BB962C8B-B14F-4D97-AF65-F5344CB8AC3E}">
        <p14:creationId xmlns:p14="http://schemas.microsoft.com/office/powerpoint/2010/main" val="30114877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7" grpId="0" animBg="1"/>
      <p:bldP spid="28" grpId="0" animBg="1"/>
      <p:bldP spid="29" grpId="0" animBg="1"/>
      <p:bldP spid="3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DE828F8-542A-B241-A457-9925184B846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52" t="10289" r="9954" b="11279"/>
          <a:stretch/>
        </p:blipFill>
        <p:spPr>
          <a:xfrm>
            <a:off x="3211285" y="27596"/>
            <a:ext cx="8980715" cy="6830404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823A918B-6C7D-FF49-A71C-E8C6A1330070}"/>
              </a:ext>
            </a:extLst>
          </p:cNvPr>
          <p:cNvGrpSpPr/>
          <p:nvPr/>
        </p:nvGrpSpPr>
        <p:grpSpPr>
          <a:xfrm>
            <a:off x="225540" y="5024043"/>
            <a:ext cx="4103158" cy="1575228"/>
            <a:chOff x="-2051579" y="0"/>
            <a:chExt cx="4103158" cy="1575228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9B418BB0-1D3D-E148-8A61-E3C872699266}"/>
                </a:ext>
              </a:extLst>
            </p:cNvPr>
            <p:cNvGrpSpPr/>
            <p:nvPr/>
          </p:nvGrpSpPr>
          <p:grpSpPr>
            <a:xfrm>
              <a:off x="-2051579" y="0"/>
              <a:ext cx="4103158" cy="1575228"/>
              <a:chOff x="9616209" y="2656196"/>
              <a:chExt cx="1725835" cy="837060"/>
            </a:xfrm>
          </p:grpSpPr>
          <p:sp>
            <p:nvSpPr>
              <p:cNvPr id="8" name="Rounded Rectangle 14">
                <a:extLst>
                  <a:ext uri="{FF2B5EF4-FFF2-40B4-BE49-F238E27FC236}">
                    <a16:creationId xmlns:a16="http://schemas.microsoft.com/office/drawing/2014/main" id="{F879F4C0-BE2A-474A-A364-819575793AED}"/>
                  </a:ext>
                </a:extLst>
              </p:cNvPr>
              <p:cNvSpPr/>
              <p:nvPr/>
            </p:nvSpPr>
            <p:spPr>
              <a:xfrm>
                <a:off x="10572830" y="3108723"/>
                <a:ext cx="769214" cy="384533"/>
              </a:xfrm>
              <a:prstGeom prst="roundRect">
                <a:avLst/>
              </a:prstGeom>
              <a:noFill/>
              <a:ln w="76200">
                <a:solidFill>
                  <a:srgbClr val="E47D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3200" b="1" dirty="0">
                    <a:solidFill>
                      <a:srgbClr val="E47D01"/>
                    </a:solidFill>
                    <a:latin typeface="+mj-lt"/>
                  </a:rPr>
                  <a:t>Run</a:t>
                </a:r>
                <a:endParaRPr lang="en-US" sz="2000" b="1" dirty="0">
                  <a:solidFill>
                    <a:srgbClr val="E47D01"/>
                  </a:solidFill>
                  <a:latin typeface="+mj-lt"/>
                </a:endParaRPr>
              </a:p>
            </p:txBody>
          </p:sp>
          <p:sp>
            <p:nvSpPr>
              <p:cNvPr id="9" name="Rounded Rectangle 90">
                <a:extLst>
                  <a:ext uri="{FF2B5EF4-FFF2-40B4-BE49-F238E27FC236}">
                    <a16:creationId xmlns:a16="http://schemas.microsoft.com/office/drawing/2014/main" id="{EF4183DD-E295-CF44-95E8-EC971580332D}"/>
                  </a:ext>
                </a:extLst>
              </p:cNvPr>
              <p:cNvSpPr/>
              <p:nvPr/>
            </p:nvSpPr>
            <p:spPr>
              <a:xfrm>
                <a:off x="9616209" y="2656196"/>
                <a:ext cx="769214" cy="384533"/>
              </a:xfrm>
              <a:prstGeom prst="roundRect">
                <a:avLst/>
              </a:prstGeom>
              <a:noFill/>
              <a:ln w="76200">
                <a:solidFill>
                  <a:srgbClr val="04BF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800" b="1" dirty="0">
                    <a:solidFill>
                      <a:srgbClr val="04BFDA"/>
                    </a:solidFill>
                    <a:latin typeface="+mj-lt"/>
                  </a:rPr>
                  <a:t>Walk</a:t>
                </a:r>
                <a:endParaRPr lang="en-US" sz="2800" b="1" i="1" dirty="0">
                  <a:solidFill>
                    <a:srgbClr val="04BFDA"/>
                  </a:solidFill>
                  <a:latin typeface="+mj-lt"/>
                </a:endParaRPr>
              </a:p>
            </p:txBody>
          </p:sp>
          <p:cxnSp>
            <p:nvCxnSpPr>
              <p:cNvPr id="10" name="Connector: Curved 363">
                <a:extLst>
                  <a:ext uri="{FF2B5EF4-FFF2-40B4-BE49-F238E27FC236}">
                    <a16:creationId xmlns:a16="http://schemas.microsoft.com/office/drawing/2014/main" id="{A355E24B-F9CD-2445-94F8-146A3C433F33}"/>
                  </a:ext>
                </a:extLst>
              </p:cNvPr>
              <p:cNvCxnSpPr>
                <a:cxnSpLocks/>
                <a:stCxn id="9" idx="3"/>
                <a:endCxn id="8" idx="0"/>
              </p:cNvCxnSpPr>
              <p:nvPr/>
            </p:nvCxnSpPr>
            <p:spPr>
              <a:xfrm>
                <a:off x="10385423" y="2848463"/>
                <a:ext cx="572014" cy="260260"/>
              </a:xfrm>
              <a:prstGeom prst="curvedConnector2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" name="Connector: Curved 363">
              <a:extLst>
                <a:ext uri="{FF2B5EF4-FFF2-40B4-BE49-F238E27FC236}">
                  <a16:creationId xmlns:a16="http://schemas.microsoft.com/office/drawing/2014/main" id="{1C10E144-6E38-5741-9065-77A7FD106ABA}"/>
                </a:ext>
              </a:extLst>
            </p:cNvPr>
            <p:cNvCxnSpPr>
              <a:cxnSpLocks/>
              <a:stCxn id="8" idx="1"/>
              <a:endCxn id="9" idx="2"/>
            </p:cNvCxnSpPr>
            <p:nvPr/>
          </p:nvCxnSpPr>
          <p:spPr>
            <a:xfrm rot="10800000">
              <a:off x="-1137179" y="723636"/>
              <a:ext cx="1359958" cy="489774"/>
            </a:xfrm>
            <a:prstGeom prst="curvedConnector2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">
            <a:extLst>
              <a:ext uri="{FF2B5EF4-FFF2-40B4-BE49-F238E27FC236}">
                <a16:creationId xmlns:a16="http://schemas.microsoft.com/office/drawing/2014/main" id="{2EAD13D9-7EC7-6845-A7AC-8E907DCA1890}"/>
              </a:ext>
            </a:extLst>
          </p:cNvPr>
          <p:cNvSpPr txBox="1">
            <a:spLocks/>
          </p:cNvSpPr>
          <p:nvPr/>
        </p:nvSpPr>
        <p:spPr>
          <a:xfrm>
            <a:off x="146957" y="277692"/>
            <a:ext cx="6498772" cy="1681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Yes! By switching between them the system becomes unstable</a:t>
            </a:r>
          </a:p>
        </p:txBody>
      </p:sp>
    </p:spTree>
    <p:extLst>
      <p:ext uri="{BB962C8B-B14F-4D97-AF65-F5344CB8AC3E}">
        <p14:creationId xmlns:p14="http://schemas.microsoft.com/office/powerpoint/2010/main" val="36932719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42771-F091-C84A-80B6-F75F5D7A9C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CA3A21-D622-7948-B80D-ECD53654D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124" y="1467817"/>
            <a:ext cx="8064260" cy="50250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Interesting features in hybrid models </a:t>
            </a:r>
          </a:p>
          <a:p>
            <a:r>
              <a:rPr lang="en-US" dirty="0"/>
              <a:t>Interaction between transitions, trajectories, and mode invariants can lead to extra sources of nondeterminism; transitions can be made urgent with mode invariants</a:t>
            </a:r>
          </a:p>
          <a:p>
            <a:r>
              <a:rPr lang="en-US" dirty="0"/>
              <a:t>Mode switches can make the system unstable</a:t>
            </a:r>
          </a:p>
          <a:p>
            <a:r>
              <a:rPr lang="en-US" dirty="0"/>
              <a:t>Zeno behavior</a:t>
            </a:r>
          </a:p>
          <a:p>
            <a:pPr marL="0" indent="0">
              <a:buNone/>
            </a:pPr>
            <a:r>
              <a:rPr lang="en-US" dirty="0"/>
              <a:t>Inductive invariance proofs work with additional condition for trajectory closure</a:t>
            </a:r>
          </a:p>
          <a:p>
            <a:r>
              <a:rPr lang="en-US" dirty="0"/>
              <a:t>Trajectory closure can be checked with </a:t>
            </a:r>
            <a:r>
              <a:rPr lang="en-US" dirty="0" err="1"/>
              <a:t>subtangential</a:t>
            </a:r>
            <a:r>
              <a:rPr lang="en-US" dirty="0"/>
              <a:t> condition, Lyapunov functions, Barrier certificates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B5912-0107-9E42-91C8-6B6A1C0A2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5861" y="497993"/>
            <a:ext cx="4226139" cy="119269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4BA83F-0AC0-2642-92C8-CFE8704DD35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52" t="10289" r="9954" b="11279"/>
          <a:stretch/>
        </p:blipFill>
        <p:spPr>
          <a:xfrm>
            <a:off x="8902460" y="1823556"/>
            <a:ext cx="3223528" cy="2451698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E18206B6-EDDE-E749-8615-58924E67EAE0}"/>
              </a:ext>
            </a:extLst>
          </p:cNvPr>
          <p:cNvGrpSpPr/>
          <p:nvPr/>
        </p:nvGrpSpPr>
        <p:grpSpPr>
          <a:xfrm>
            <a:off x="9833932" y="4490207"/>
            <a:ext cx="1932499" cy="980501"/>
            <a:chOff x="2382856" y="3974748"/>
            <a:chExt cx="3620208" cy="1836802"/>
          </a:xfrm>
        </p:grpSpPr>
        <p:sp>
          <p:nvSpPr>
            <p:cNvPr id="7" name="Arc 6">
              <a:extLst>
                <a:ext uri="{FF2B5EF4-FFF2-40B4-BE49-F238E27FC236}">
                  <a16:creationId xmlns:a16="http://schemas.microsoft.com/office/drawing/2014/main" id="{B1C0ACC0-BBC6-7B4C-A5D2-FC306C0CCE21}"/>
                </a:ext>
              </a:extLst>
            </p:cNvPr>
            <p:cNvSpPr/>
            <p:nvPr/>
          </p:nvSpPr>
          <p:spPr>
            <a:xfrm flipV="1">
              <a:off x="3589361" y="4547418"/>
              <a:ext cx="1279023" cy="1264132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67394D04-0949-6747-A149-29E6CBAD2AC2}"/>
                </a:ext>
              </a:extLst>
            </p:cNvPr>
            <p:cNvSpPr/>
            <p:nvPr/>
          </p:nvSpPr>
          <p:spPr>
            <a:xfrm>
              <a:off x="3485294" y="4967817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C3CD913-73DB-3142-A3C4-0225D62B8F1C}"/>
                </a:ext>
              </a:extLst>
            </p:cNvPr>
            <p:cNvSpPr/>
            <p:nvPr/>
          </p:nvSpPr>
          <p:spPr>
            <a:xfrm>
              <a:off x="4762550" y="5006182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Arc 9">
              <a:extLst>
                <a:ext uri="{FF2B5EF4-FFF2-40B4-BE49-F238E27FC236}">
                  <a16:creationId xmlns:a16="http://schemas.microsoft.com/office/drawing/2014/main" id="{61718516-6600-BB48-8429-FCE05BCF03C5}"/>
                </a:ext>
              </a:extLst>
            </p:cNvPr>
            <p:cNvSpPr/>
            <p:nvPr/>
          </p:nvSpPr>
          <p:spPr>
            <a:xfrm rot="10800000" flipV="1">
              <a:off x="3576621" y="4344241"/>
              <a:ext cx="1285815" cy="1270844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2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Arc 10">
              <a:extLst>
                <a:ext uri="{FF2B5EF4-FFF2-40B4-BE49-F238E27FC236}">
                  <a16:creationId xmlns:a16="http://schemas.microsoft.com/office/drawing/2014/main" id="{0792766F-BF4F-F848-A98E-C9620E25C4F2}"/>
                </a:ext>
              </a:extLst>
            </p:cNvPr>
            <p:cNvSpPr/>
            <p:nvPr/>
          </p:nvSpPr>
          <p:spPr>
            <a:xfrm flipV="1">
              <a:off x="4889732" y="4898152"/>
              <a:ext cx="621695" cy="614456"/>
            </a:xfrm>
            <a:prstGeom prst="arc">
              <a:avLst>
                <a:gd name="adj1" fmla="val 10759906"/>
                <a:gd name="adj2" fmla="val 0"/>
              </a:avLst>
            </a:prstGeom>
            <a:ln w="38100">
              <a:solidFill>
                <a:schemeClr val="accent1">
                  <a:lumMod val="40000"/>
                  <a:lumOff val="6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6658601D-2E4B-7C43-BA18-BC6FB60F112A}"/>
                </a:ext>
              </a:extLst>
            </p:cNvPr>
            <p:cNvGrpSpPr/>
            <p:nvPr/>
          </p:nvGrpSpPr>
          <p:grpSpPr>
            <a:xfrm>
              <a:off x="4862163" y="4698601"/>
              <a:ext cx="967364" cy="653582"/>
              <a:chOff x="4879696" y="3698917"/>
              <a:chExt cx="3869756" cy="2614530"/>
            </a:xfrm>
          </p:grpSpPr>
          <p:sp>
            <p:nvSpPr>
              <p:cNvPr id="13" name="Arc 12">
                <a:extLst>
                  <a:ext uri="{FF2B5EF4-FFF2-40B4-BE49-F238E27FC236}">
                    <a16:creationId xmlns:a16="http://schemas.microsoft.com/office/drawing/2014/main" id="{C827B453-0105-7747-833F-901AD2B2E5AE}"/>
                  </a:ext>
                </a:extLst>
              </p:cNvPr>
              <p:cNvSpPr/>
              <p:nvPr/>
            </p:nvSpPr>
            <p:spPr>
              <a:xfrm rot="10800000" flipV="1">
                <a:off x="4879696" y="3698917"/>
                <a:ext cx="2645329" cy="2614530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Arc 13">
                <a:extLst>
                  <a:ext uri="{FF2B5EF4-FFF2-40B4-BE49-F238E27FC236}">
                    <a16:creationId xmlns:a16="http://schemas.microsoft.com/office/drawing/2014/main" id="{9D8EA0BC-BF2B-6F4B-AE18-2A11F00326D2}"/>
                  </a:ext>
                </a:extLst>
              </p:cNvPr>
              <p:cNvSpPr/>
              <p:nvPr/>
            </p:nvSpPr>
            <p:spPr>
              <a:xfrm flipV="1">
                <a:off x="7470429" y="5022551"/>
                <a:ext cx="1279023" cy="1264134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B334D706-6738-1B4E-9C48-347AEB537E12}"/>
                </a:ext>
              </a:extLst>
            </p:cNvPr>
            <p:cNvSpPr/>
            <p:nvPr/>
          </p:nvSpPr>
          <p:spPr>
            <a:xfrm>
              <a:off x="5405596" y="4979663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7CEF7FA-5751-1D4F-A135-C5F06C372C9F}"/>
                </a:ext>
              </a:extLst>
            </p:cNvPr>
            <p:cNvGrpSpPr/>
            <p:nvPr/>
          </p:nvGrpSpPr>
          <p:grpSpPr>
            <a:xfrm>
              <a:off x="5506617" y="4830390"/>
              <a:ext cx="496447" cy="453633"/>
              <a:chOff x="4879696" y="3698917"/>
              <a:chExt cx="3707519" cy="3387777"/>
            </a:xfrm>
          </p:grpSpPr>
          <p:sp>
            <p:nvSpPr>
              <p:cNvPr id="17" name="Arc 16">
                <a:extLst>
                  <a:ext uri="{FF2B5EF4-FFF2-40B4-BE49-F238E27FC236}">
                    <a16:creationId xmlns:a16="http://schemas.microsoft.com/office/drawing/2014/main" id="{FDE757C2-E7B3-0244-AFBD-E7C3BC98DAC3}"/>
                  </a:ext>
                </a:extLst>
              </p:cNvPr>
              <p:cNvSpPr/>
              <p:nvPr/>
            </p:nvSpPr>
            <p:spPr>
              <a:xfrm rot="10800000" flipV="1">
                <a:off x="4879696" y="3698917"/>
                <a:ext cx="2645329" cy="2614530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2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Arc 17">
                <a:extLst>
                  <a:ext uri="{FF2B5EF4-FFF2-40B4-BE49-F238E27FC236}">
                    <a16:creationId xmlns:a16="http://schemas.microsoft.com/office/drawing/2014/main" id="{C157589A-7C0B-3C42-B574-208907889AC6}"/>
                  </a:ext>
                </a:extLst>
              </p:cNvPr>
              <p:cNvSpPr/>
              <p:nvPr/>
            </p:nvSpPr>
            <p:spPr>
              <a:xfrm flipV="1">
                <a:off x="7308190" y="5822561"/>
                <a:ext cx="1279025" cy="1264133"/>
              </a:xfrm>
              <a:prstGeom prst="arc">
                <a:avLst>
                  <a:gd name="adj1" fmla="val 10759906"/>
                  <a:gd name="adj2" fmla="val 0"/>
                </a:avLst>
              </a:prstGeom>
              <a:ln w="38100">
                <a:solidFill>
                  <a:schemeClr val="accent1">
                    <a:lumMod val="40000"/>
                    <a:lumOff val="6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01A610A8-C5CA-F446-AEDB-8415AD9BC710}"/>
                </a:ext>
              </a:extLst>
            </p:cNvPr>
            <p:cNvSpPr/>
            <p:nvPr/>
          </p:nvSpPr>
          <p:spPr>
            <a:xfrm>
              <a:off x="5736539" y="4982018"/>
              <a:ext cx="211667" cy="21166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50BF58B-5397-2E47-B223-5D2422CDD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biLevel thresh="5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6400" l="5042" r="94958">
                          <a14:foregroundMark x1="39076" y1="52400" x2="39076" y2="52400"/>
                          <a14:foregroundMark x1="42437" y1="45200" x2="42437" y2="45200"/>
                          <a14:foregroundMark x1="52521" y1="40400" x2="52521" y2="40400"/>
                          <a14:foregroundMark x1="68908" y1="51600" x2="68908" y2="51600"/>
                          <a14:foregroundMark x1="57563" y1="56800" x2="57563" y2="56800"/>
                          <a14:foregroundMark x1="45798" y1="65200" x2="45798" y2="65200"/>
                          <a14:foregroundMark x1="34874" y1="67200" x2="34874" y2="67200"/>
                          <a14:foregroundMark x1="65126" y1="66400" x2="65126" y2="66400"/>
                          <a14:foregroundMark x1="75210" y1="63200" x2="75210" y2="63200"/>
                          <a14:foregroundMark x1="80672" y1="54400" x2="80672" y2="544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flipH="1">
              <a:off x="3228896" y="5123762"/>
              <a:ext cx="633943" cy="665906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DCFE2513-57F9-4B46-9044-E333AB8919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ackgroundRemoval t="4120" b="95506" l="5385" r="95769"/>
                      </a14:imgEffect>
                    </a14:imgLayer>
                  </a14:imgProps>
                </a:ext>
              </a:extLst>
            </a:blip>
            <a:srcRect l="8183" t="4153" r="6791" b="5003"/>
            <a:stretch/>
          </p:blipFill>
          <p:spPr>
            <a:xfrm>
              <a:off x="2382856" y="3974748"/>
              <a:ext cx="1018308" cy="111310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963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4881</TotalTime>
  <Words>1772</Words>
  <Application>Microsoft Macintosh PowerPoint</Application>
  <PresentationFormat>Widescreen</PresentationFormat>
  <Paragraphs>253</Paragraphs>
  <Slides>17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Comic Sans MS</vt:lpstr>
      <vt:lpstr>NimbusMonL</vt:lpstr>
      <vt:lpstr>NimbusRomNo9L</vt:lpstr>
      <vt:lpstr>NimbusSanL</vt:lpstr>
      <vt:lpstr>rtxmi</vt:lpstr>
      <vt:lpstr>rtxr</vt:lpstr>
      <vt:lpstr>txsy</vt:lpstr>
      <vt:lpstr>Office Theme</vt:lpstr>
      <vt:lpstr>Modeling Cyberphysical Systems</vt:lpstr>
      <vt:lpstr>Outline</vt:lpstr>
      <vt:lpstr>Why combine discrete and continuous time models?</vt:lpstr>
      <vt:lpstr>Example. Thermostat automaton</vt:lpstr>
      <vt:lpstr>Recall language for automata</vt:lpstr>
      <vt:lpstr>Trajectories</vt:lpstr>
      <vt:lpstr>Hybrid Automaton</vt:lpstr>
      <vt:lpstr>Semantics: Executions and Traces</vt:lpstr>
      <vt:lpstr>Mode invariants: Urgency in transitions</vt:lpstr>
      <vt:lpstr>Example. Bouncing Ball</vt:lpstr>
      <vt:lpstr>Urgency: Must transitions</vt:lpstr>
      <vt:lpstr>Another Example: Periodically Sending Process</vt:lpstr>
      <vt:lpstr>Zeno’s Paradox</vt:lpstr>
      <vt:lpstr>Defining stability of hybrid automata</vt:lpstr>
      <vt:lpstr>PowerPoint Presentation</vt:lpstr>
      <vt:lpstr>PowerPoint Presentation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Modeling Cyberphysical Systems</dc:title>
  <dc:creator>Mitra, Sayan</dc:creator>
  <cp:lastModifiedBy>Mitra, Sayan</cp:lastModifiedBy>
  <cp:revision>64</cp:revision>
  <dcterms:created xsi:type="dcterms:W3CDTF">2019-09-17T14:48:50Z</dcterms:created>
  <dcterms:modified xsi:type="dcterms:W3CDTF">2025-10-14T16:15:07Z</dcterms:modified>
</cp:coreProperties>
</file>