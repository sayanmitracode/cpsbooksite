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552" r:id="rId2"/>
    <p:sldId id="324" r:id="rId3"/>
    <p:sldId id="571" r:id="rId4"/>
    <p:sldId id="578" r:id="rId5"/>
    <p:sldId id="583" r:id="rId6"/>
    <p:sldId id="588" r:id="rId7"/>
    <p:sldId id="585" r:id="rId8"/>
    <p:sldId id="586" r:id="rId9"/>
    <p:sldId id="590" r:id="rId10"/>
    <p:sldId id="589" r:id="rId11"/>
    <p:sldId id="587" r:id="rId12"/>
    <p:sldId id="301" r:id="rId13"/>
    <p:sldId id="582" r:id="rId14"/>
    <p:sldId id="303" r:id="rId15"/>
    <p:sldId id="579" r:id="rId16"/>
    <p:sldId id="575" r:id="rId17"/>
    <p:sldId id="576" r:id="rId18"/>
    <p:sldId id="577" r:id="rId19"/>
    <p:sldId id="334" r:id="rId20"/>
    <p:sldId id="509" r:id="rId21"/>
    <p:sldId id="302" r:id="rId22"/>
    <p:sldId id="354" r:id="rId23"/>
    <p:sldId id="566" r:id="rId24"/>
    <p:sldId id="510" r:id="rId25"/>
    <p:sldId id="511" r:id="rId26"/>
    <p:sldId id="512" r:id="rId27"/>
    <p:sldId id="568" r:id="rId28"/>
    <p:sldId id="569" r:id="rId29"/>
    <p:sldId id="567" r:id="rId30"/>
    <p:sldId id="570" r:id="rId31"/>
    <p:sldId id="513" r:id="rId32"/>
    <p:sldId id="581" r:id="rId33"/>
    <p:sldId id="514" r:id="rId34"/>
    <p:sldId id="515" r:id="rId35"/>
    <p:sldId id="516" r:id="rId36"/>
    <p:sldId id="580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853"/>
    <p:restoredTop sz="96197"/>
  </p:normalViewPr>
  <p:slideViewPr>
    <p:cSldViewPr snapToGrid="0">
      <p:cViewPr varScale="1">
        <p:scale>
          <a:sx n="124" d="100"/>
          <a:sy n="124" d="100"/>
        </p:scale>
        <p:origin x="72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26312" units="in"/>
          <inkml:channel name="Y" type="integer" max="16520" units="in"/>
          <inkml:channel name="F" type="integer" max="255" units="dev"/>
        </inkml:traceFormat>
        <inkml:channelProperties>
          <inkml:channelProperty channel="X" name="resolution" value="2540.01343" units="1/in"/>
          <inkml:channelProperty channel="Y" name="resolution" value="2540.36597" units="1/in"/>
          <inkml:channelProperty channel="F" name="resolution" value="3.92127E-7" units="1/dev"/>
        </inkml:channelProperties>
      </inkml:inkSource>
      <inkml:timestamp xml:id="ts0" timeString="2012-09-11T16:46:28.730"/>
    </inkml:context>
    <inkml:brush xml:id="br0">
      <inkml:brushProperty name="width" value="0.05292" units="cm"/>
      <inkml:brushProperty name="height" value="0.05292" units="cm"/>
      <inkml:brushProperty name="color" value="#1F497D"/>
    </inkml:brush>
    <inkml:context xml:id="ctx1">
      <inkml:inkSource xml:id="inkSrc17">
        <inkml:traceFormat>
          <inkml:channel name="X" type="integer" max="2631" units="in"/>
          <inkml:channel name="Y" type="integer" max="1652" units="in"/>
        </inkml:traceFormat>
        <inkml:channelProperties>
          <inkml:channelProperty channel="X" name="resolution" value="254.00655" units="1/in"/>
          <inkml:channelProperty channel="Y" name="resolution" value="254.03659" units="1/in"/>
        </inkml:channelProperties>
      </inkml:inkSource>
      <inkml:timestamp xml:id="ts1" timeString="2012-09-11T16:48:24.950"/>
    </inkml:context>
  </inkml:definitions>
  <inkml:trace contextRef="#ctx0" brushRef="#br0">8666 14297 28,'-3'-12'29,"1"2"-12,2 10-3,0 0-5,-7-11-1,7 11-3,-9-5 0,9 5-2,-9 0-1,9 0 0,-14 9-1,5 4 1,-1 6-1,-2 7 1,1 6 0,-1 6-1,3 5 1,0 3-1,4 2 1,4-1 0,5-2-2,3-4 2,4-6-2,4-5 1,2-4-1,4-5 1,-1-5-1,-1-5 1,-1-3-1,-4-2 1,-2-1-1,-3-3 0,-9-2 1,0 0-1,0 0 0,0 0 0,0 0-1,0 0 0,0 0-3,7 12-12,-7-12-18,0 0-1,0-20 0</inkml:trace>
  <inkml:trace contextRef="#ctx0" brushRef="#br0" timeOffset="420.02">8935 14285 8,'-14'-2'32,"14"2"-1,-12 2 1,12-2-24,0 0-2,-2 17-3,8-2-1,-1 4-1,2 5 0,-3 4 0,1 4 0,-2 2-1,0 0 1,-3-2-1,-1 0 1,-1-6-1,0-3 0,1-4 0,-1-7-2,5 2-5,-3-14-25,0 0 0,0 0-1</inkml:trace>
  <inkml:trace contextRef="#ctx0" brushRef="#br0" timeOffset="698.03">9168 14457 5,'-15'-7'32,"15"7"-1,-4-11 2,3 0-25,10 9-1,-9 2-3,20-8-2,-7 4-1,2 2-1,1 3-4,-4-7-7,6 6-21,-5-3 1,0 1-1</inkml:trace>
  <inkml:trace contextRef="#ctx0" brushRef="#br0" timeOffset="1241.07">9370 14377 17,'0'0'31,"0"0"1,0 0-1,10 0-27,-10 0-2,17 0 0,-6 0-2,4-2 0,1-1 0,1-4 0,3-2 0,0-2 0,1 1 0,1-4 0,0-2 1,1-2-1,-1-1 0,-1-2 1,-2-1-1,-5-3 0,-2-3 1,-5 2-1,-5-1 0,-5 5 0,-4 3 1,-5 4-1,-2 5 0,-3 7 0,0 6 0,0 7 0,0 2 0,4 6 0,0 2 1,4 7 0,3 3 0,3 2 1,2 2 0,4 6 1,0 1-1,2 4 0,0-1 0,2 1 0,-3-4-1,-1-1 0,0-5-1,-2-5 1,0-6-2,0-5 1,-2-2-2,1-17 0,2 18-5,-2-18-18,0 0-8,-4-14-2,3 4 1</inkml:trace>
  <inkml:trace contextRef="#ctx0" brushRef="#br0" timeOffset="1620.09">9728 14030 11,'8'-9'34,"3"3"-2,-1 2 1,5 10-24,-5 0-3,6 12-2,-2 0-1,2 11-1,-1 4-1,2 7 0,-2 6 0,-1 5 0,-2 2-1,-4 0 0,-5 0 0,-1-3 1,-5-5-2,-3-3 2,-2-6-2,-3-8 1,0-2 0,0-5 0,1-3-1,1-6-1,1 0-1,-2-8-5,10-4-16,-10 7-11,10-7 2</inkml:trace>
  <inkml:trace contextRef="#ctx0" brushRef="#br0" timeOffset="2336.13">10586 14029 18,'0'0'31,"11"-17"-1,-11 17-14,0 0-5,-5-12-4,5 12-3,-10 8-2,-1 1-1,-3-1 0,-3 4 0,-6 1-1,-1 5 0,-4-1 0,-1 0 0,2 0 0,2-2 0,5-1 0,4-3 1,7-2 0,9-9 0,3 10 0,9-7 1,7-1 0,5 2 0,4 1-1,3 2 0,-1 0 0,-1 2-1,-2 4-2,-6-1 0,-4 6-5,-11-8-8,-1 6-18,-11-4 0,-4 1 0</inkml:trace>
  <inkml:trace contextRef="#ctx0" brushRef="#br0" timeOffset="2542.14">10373 14399 18,'0'0'34,"0"0"0,9 12 0,3-14-26,13 8-2,0-2-3,7 5-1,-1 3-2,-1-1 0,-3 4-2,-5-3-3,0 9-8,-10-10-21,-2 2 0,-10-13-1</inkml:trace>
  <inkml:trace contextRef="#ctx0" brushRef="#br0" timeOffset="3805.21">11136 13803 10,'-1'-18'33,"1"18"-2,-1-16 2,1 16-27,0 0 0,0 0-2,8 15-1,-4 2-1,0 6-1,0 3 0,1 8-1,-4 0 1,3 3-2,-2-2 1,1-3-1,1-4 1,0-4-1,0-5 1,0-7-1,-4-12 1,10 5 0,-10-5 0,4-17 0,-6-1 0,-6-2 1,-3 0-1,-7-1 1,-4 6-2,-5 3 2,-5 9-2,-1 7 1,1 8 0,3 7-1,3 3 2,9 3-2,8 0 2,10 2 0,9-5 0,9-3 1,7-2-2,7-4 1,5-2-3,0-9-3,7 7-15,-6-13-13,2-3 0,-4-8-1</inkml:trace>
  <inkml:trace contextRef="#ctx0" brushRef="#br0" timeOffset="4123.22">11614 13644 11,'-12'-13'32,"-4"6"-1,-1 9 2,-7 0-24,6 18-2,-5 0-2,3 14-2,-2 1-1,4 8 1,2-1-2,4 5 0,3-2 0,7 1-1,2-3 0,7-4-1,5-1-1,3-6-3,10 3-5,-3-13-20,8-3-5,1-11 2</inkml:trace>
  <inkml:trace contextRef="#ctx0" brushRef="#br0" timeOffset="4437.25">11804 13822 2,'-10'-6'29,"-4"4"2,-1 2-1,2 8-17,-5-4-5,5 10-2,-1-4-2,6 7-1,-2-1-1,6 2 1,2-1-1,2 5 0,1-2 0,5 2-2,0-2 1,3-1-2,3 0 0,2-6-2,3 0-1,-1-11-5,7 3-7,-7-15-17,4-5 1,-2-11 1</inkml:trace>
  <inkml:trace contextRef="#ctx0" brushRef="#br0" timeOffset="4971.28">11923 13593 22,'-3'-14'31,"3"14"2,-8-12-7,8 22-15,-7 2-4,5 10-2,-3 3-2,2 6 0,0 5-1,3 4 0,1-2-1,2 1 0,2-2 0,0-2-2,4 1-1,-1-5-3,4 1-1,-4-11-4,8 4-3,-11-14-9,13 2-2,-10-15 0,9 2 5,-7-16 6,3 2 6,-2-5 7,-1-6 7,4 5 10,-9-7 4,5 11 1,-9-9-1,6 12-4,-11-4-5,4 17-4,-5-13-3,5 13-2,-14 5-1,14-5-1,-15 19-1,9-5 0,0 2 0,2 1 0,4 0 0,4 1 0,4-3 0,3-1-1,2-3 1,0-3-1,0-5 1,0-3 0,-3-6 1,-3-6-1,-4-1-1,-6-6 1,0 4-4,-6-7-3,8 11-24,-9-2-2,10 13 1</inkml:trace>
  <inkml:trace contextRef="#ctx0" brushRef="#br0" timeOffset="6062.34">12391 13737 8,'-16'-1'32,"5"-1"0,1 1 1,-3-8-23,3 13-3,-6-1-2,2 5-3,0 2 0,-1 5-1,1 2 0,0 3 1,3 1-2,1 1 1,5-2 0,4 1 0,6-5 0,6-3-2,4-4 0,4-7-4,9 0-5,-3-14-23,6-4 0,-2-14 0</inkml:trace>
  <inkml:trace contextRef="#ctx0" brushRef="#br0" timeOffset="6503.37">12493 13440 28,'0'0'29,"-9"-4"1,0 11-18,9 14-3,-5 0-2,7 10-1,-2 1-2,4 9 0,0-1-1,2 4-1,0-4 0,2 1-1,0-5 0,0-3 0,0-6-1,0-6 0,0-7 0,0-8-1,2-10 1,1-8-1,0-9 1,1-4-1,-1-8 0,2-4 1,0-1-1,-3 3 1,-1 1 0,-4 8-1,-3 5 1,-4 6 0,2 15 0,-16-2 0,3 11 0,-4 6 0,1 4-1,0 2 2,4 2-1,2 0 1,4-2 0,7-1 0,3-3 0,6-1 0,3-2 1,1-1-2,4-2-1,1-4-5,9 1-26,-6-6-2,4-4 0</inkml:trace>
  <inkml:trace contextRef="#ctx0" brushRef="#br0" timeOffset="112271.42">20028 4935 16,'-1'-11'30,"0"-1"1,-1 0-1,2 12-19,-1-22-3,1 22-3,2-17-1,-2 17-1,3-11-1,-3 11-1,0 0 1,5 12-1,-4 2-1,-1 4 1,0 4-1,1 2 0,0 3 0,0-3 1,-2-1-2,1-5 1,1-3 1,2-3 0,-3-12-1,16 7 2,-6-11-1,4 1 0,2-3 1,2-1-1,0-1-1,0 0 0,-2 2-2,-4 0-1,0 6-1,-12 0-1,14 5-2,-14-5-4,1 15-1,-13-10-3,9 14-1,-13-11 2,6 11 4,-8-10 2,4 3 6,0-3 5,-2-8 7,16-1 2,-22 0 3,22 0 1,-10-13-3,10 13 1,7-29-5,7 10-1,-3-16-2,9-4-2,1-12 0,6-5-2,-1-8 1,3-1-3,-1-1 2,0 3-2,-1 3 0,0 5 1,-2 9-1,-2 8 1,-2 7-2,-2 6 2,-3 5-2,-2 4 2,-5 6-2,-9 10 0,11-11-1,-11 11 0,0 0-2,0 0-4,11 5-20,-11-5-6,0 0 0,0 0-1</inkml:trace>
  <inkml:trace contextRef="#ctx0" brushRef="#br0" timeOffset="113404.48">20536 6382 1,'-12'2'30,"0"-2"2,2-1 0,10 1-20,-18-3-2,18 3-2,0 0-2,-5-10-2,5 10-1,0 0 0,7-15-2,-7 15 1,15-10-1,-4 8 0,4 0 0,4 2 0,5 1 0,8 3 0,8-1 0,8 2 0,10-2-1,11-2 1,10-2 0,7-3 0,7-2-1,1-2 1,-1-3-1,-5 1 1,-5-1 0,-11 1-1,-13 2 1,-13 1-1,-12 2 1,-10 1 0,-10 1 0,-14 3 0,9-3-1,-9 3-4,0 0-22,-10 6-9,10-6-2,-11-8 0</inkml:trace>
  <inkml:trace contextRef="#ctx0" brushRef="#br0" timeOffset="115764.62">20834 4774 27,'1'-10'33,"1"-6"1,4 4-2,-4-9-21,9 13-4,-5-7-2,5 8-1,-11 7-2,15-9 0,-15 9 0,11 10 0,-10 7-1,1 7 0,-4 7-1,0 7 1,-3 3-1,1 3 0,-1-1 0,-1 0 0,3-8 0,1-5 0,2-9 0,3-6 1,-3-15 0,21 7 1,-6-16 0,7-4 0,2-5-1,2-3 0,-1-2 0,-1 1-1,-3 5-1,-6-1-3,1 15-4,-16 3-20,0 0-8,0 0-1,-6 26 2</inkml:trace>
  <inkml:trace contextRef="#ctx0" brushRef="#br0" timeOffset="116098.64">20913 5107 39,'0'0'37,"-9"-14"-1,10 4 2,-4-18-29,15 3-1,2-19-2,9-7-3,4-15 0,9-9-1,9-11 0,6-5 0,6-3-1,4 0 0,-2 5-1,-3 5 0,-3 13 0,-7 9 0,-7 11 0,-10 9-1,-9 12 1,-7 8 0,-4 9-1,-9 13-1,0 0-1,3-11-4,-2 27-13,-1-16-16,-13 20-1,4-11 1,1 3-1</inkml:trace>
  <inkml:trace contextRef="#ctx1" brushRef="#br0">0 16352,'0'0</inkml:trace>
  <inkml:trace contextRef="#ctx0" brushRef="#br0" timeOffset="117043.69">21935 3381 35,'-4'-30'34,"2"5"2,-4-3-1,4 11-14,-7-10-9,12 16-5,-8-4-3,5 15-1,0 0-2,2 15 0,1 4-1,0 9 0,1 7 0,1 6 0,0 9 0,1 2 1,0 2-1,1-1-1,-1-3 0,-1-2 0,-1-6 1,1-5-2,-1-8 1,-1-7 0,-1-7 1,-2-15 0,0 0 1,10-3-1,-4-18 1,-2-7 1,-1-3-1,-2-4 0,-2-1-1,-5 2 1,-5 6-1,-6 10 1,-7 10-1,-1 8-1,-1 9 0,-1 7 2,4 6-2,2 5 0,9-1 1,4 3-1,10-4 1,6 0-1,7-3 1,6-5-2,4-3 2,4-5 0,0-2-1,-1-6-1,2 2-6,-8-7-28,5-2 0,-9-4-2,0 2 1</inkml:trace>
  <inkml:trace contextRef="#ctx0" brushRef="#br0" timeOffset="117803.73">22257 3726 71,'0'0'38,"1"-17"-1,-1 17 1,9-27-33,2 11-2,2-7-2,2-4 1,1-2-3,-4-1 2,0 3-2,-8 0 0,-5 5 0,-9 5 1,-6 9-1,-5 6 0,-3 6 0,-1 7 1,-1 5 0,4 3 0,4 3 0,7 3 1,6-2 0,7 1 0,8-1 0,5-1 1,7-3-2,5-2-2,6-2 1,1-9-6,8 7 0,-4-17-10,9 9-3,-11-17-7,9 9 4,-13-16 5,6 5 9,-10-8 8,-4-5 4,-3 7 8,-13-14 9,5 11 5,-15-14-3,4 14-2,-15-9-9,4 11-4,-10-2-1,1 10-4,-6 6 0,1 10-1,-1 6-1,3 5 0,3 8-2,2 1 2,8 6-2,6-4 0,10 0 0,5-4 1,9-4-1,2-5 1,4-5-1,1-7 2,-1-7 1,-3-5-1,-6-5 2,-4-4 0,-7-3 0,-4 2 1,-6-1-1,2 5 0,-6 0 0,3 6-1,3 12 0,0 0-1,-9 2 0,11 8 0,4 4-1,0 2 0,4 4-1,1-3-1,8 6-3,-2-12-5,10 3-24,-7-6-1,4-3 1,-2-8-1</inkml:trace>
  <inkml:trace contextRef="#ctx0" brushRef="#br0" timeOffset="118276.76">23034 3310 66,'1'-32'37,"-1"9"0,-6 0-1,6 23-26,-16-19-4,4 22-3,-2 9-2,-2 8-1,2 8-1,-1 4 0,3 6 0,2 0-1,7-1 0,4-5-1,8-8 0,0-10 0,10-5-1,-1-16 0,6-3-2,-4-19 1,3-4 0,-7-14 0,1-5 1,-9-9 1,-4-8 2,-5 0 1,-4-2 3,-2 11 0,-8 4 2,4 13 0,-6 5 1,5 15 0,-3 9-2,5 14-1,0 5-1,4 10 1,1 7-2,3 7 1,1 3 0,4 7 0,2 1 0,3 7-1,-1-1 1,3 4-2,2-5 1,0 3-1,4-2-2,-3-7-2,8 8-12,-10-13-21,6-8 1,-4-12-2,1-10 1</inkml:trace>
  <inkml:trace contextRef="#ctx0" brushRef="#br0" timeOffset="118537.78">23272 2830 67,'-18'-11'39,"4"5"-3,-1 0 1,15 6-31,-10 7 0,16 7-3,-1 9-1,3 5-2,0 7 0,2 7 0,0 2 0,-1 4 0,2 3-3,-4-5-4,8 7-22,-5-12-8,1-5-1,-2-11 1</inkml:trace>
  <inkml:trace contextRef="#ctx0" brushRef="#br0" timeOffset="118750.79">23458 3110 76,'0'0'40,"0"0"-2,0 0 1,0 0-34,0 0-2,-1 14-1,6 4-2,1 3-2,4 1 1,1 13-5,-9-14-10,3 11-22,-6-12 0,1-3-1,0-17 2</inkml:trace>
  <inkml:trace contextRef="#ctx0" brushRef="#br0" timeOffset="118896.8">23448 2957 50,'-4'-25'38,"0"6"-1,0 3-3,4 16-18,0 0-34,0 0-15,0 0-2,-1 20-3,1-3 1</inkml:trace>
  <inkml:trace contextRef="#ctx0" brushRef="#br0" timeOffset="119312.82">23557 3003 78,'-3'-12'39,"3"12"-1,0 0 0,0 0-32,10 7-2,0 7-1,-1 3-2,3 5-1,0 6 0,0 2 0,-1 1 0,-3-1 0,-2-3 0,-1-7 0,-2-6 1,-3-14-1,0 0 1,2-22-1,1-8 1,-1-2-1,0-8 0,5-3 0,1 4-1,1 2 1,0 8-1,1 8 1,1 9 0,0 6 0,4 12 0,-6 5 0,3 6 0,2 3 0,0 4-1,-2 3 0,4 7-7,-9-7-23,0 2-7,-2-10 0,1-4-2</inkml:trace>
  <inkml:trace contextRef="#ctx0" brushRef="#br0" timeOffset="119650.84">23940 3104 72,'17'-1'40,"-6"-7"-1,6 0 0,-17 8-30,0 0-2,54-55-3,-54 55-3,59-59 1,-59 59-3,48-68 1,-48 68-2,22-66 0,-22 66-2,-11-40 0,-11 33 2,-8 10-2,-3 6 2,-2 11 0,4 9 2,4 3-1,8 4 3,11-1-1,10 1 2,10-2-2,-12-34 3,57 61-2,-16-40 0,8-4-3,7-14-9,3 0-28,5-11 0,0-12-2,2-13-1</inkml:trace>
  <inkml:trace contextRef="#ctx0" brushRef="#br0" timeOffset="192807.02">19621 11295 9,'0'0'30,"-4"-13"1,4 13-19,4-12-1,5 7-3,-4-6-1,8 6-1,-2-2-2,6 4-2,2-2 1,4 4-1,0 0-1,3 2 0,1 1 0,3 2-1,1 0 0,3 1 1,-2-2 0,3 1-1,4-1 1,2-1 0,0 0 0,1 0 0,0-2 0,2 1 0,-1-2 0,0 2 0,-1-1 0,0-1 0,1 0 0,0 0 0,0-2-1,2 2 1,2-2-1,-2 2 1,0-1-1,2 2 1,-3-1-1,-1 1 1,1 0 0,-3 1-1,-2 2 1,-1-1 0,-3-1 0,2 1 0,0 1-1,0-2 1,0 0-1,1 0 0,0-1 1,1 0-1,1-1 0,-2 1 1,-1 0-1,-1 0 0,-1-1 1,1 0-1,-1-2 1,-1 2-1,1-1 1,-1 0-1,0-2 1,0 1-1,-1 0 0,-1 1 0,-1 0 0,-2 0 1,1-1-1,0 1 0,-1 1 0,0-1 0,-1 0 0,1 0-1,0 1 1,0 0 0,-2 0 0,0-1 0,1 1 1,1 1-1,-1 1 1,0 1-1,1-2 0,1 1 1,0 1-1,3 0 0,-2 1 0,1 0 0,0-1 0,1 0-1,-2 0 1,0-1 0,-3-1 0,0 0 0,0-2-1,-2 1 1,-2-2 0,-3 1 0,-1 1 0,-1-1 0,-3-1 0,-4 2 0,-2 1 0,-10 0 0,17 0 0,-17 0-2,12 4-5,-12-4-29,0 0-1,0 0 0,-10-6-1</inkml:trace>
  <inkml:trace contextRef="#ctx0" brushRef="#br0" timeOffset="-171970.01">16543 11263 21,'3'-12'18,"-3"12"0,8-14 0,-8 14-3,0 0-5,9-8-2,-9 8-3,0 0-1,0 0-2,8 12-1,-7-1 0,2 6 0,-2 1 0,0 6 0,-1 2 0,-2 2-1,-2 1 1,-1-1-1,-3-2 0,-1 0 1,-5-3-1,-2-4 1,-4-1-1,-3-6 0,-3 0 0,0-4 1,-1-2-1,0-2 0,0-2 0,3-1 0,2-2 1,3-1-1,4 1 0,3 0 1,1 0-1,11 1 1,-12-1-1,12 1 0,0 0 1,0 0-1,0 0 0,0 0-1,0 0 0,0 0 0,0 0-2,0 0 0,0 0 0,0 0 0,0 0-1,0 0 0,0 0 1,0 0-1,-5-15 2,5 3 1,1 0 0,0-3 0,1 0 2,2-1 0,-1 1 1,2 2 1,-3 1-1,-2 12 1,4-15-1,-4 15 0,0 0 0,0 0-1,-15 13 0,7-1 0,-3 0-1,-2 2 1,1 2-1,-1 0 1,2-2-1,1-1 1,1-2-1,9-11 1,-9 18 0,9-18 0,-2 14 0,2-14 0,7 10 1,-7-10 0,15 10-1,-3-4 1,1 0-1,1 1 0,0-2-1,1 2 1,-1 1-1,0 1 0,-3-3 0,-1 3 0,-2-1 0,-8-8 1,15 13-1,-15-13 0,11 12 0,-11-12 0,0 0 1,8 9-1,-8-9 1,0 0-1,0 0 1,0 0 0,0 0-1,0 0 1,0 0-1,0 0 0,0 0 1,0 0-1,0 0 0,0 0 0,0 0-1,0 0-1,0 0-2,0 0-5,14 4-23,-14-4-3,9-3 2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EF5447-0172-394B-AA9E-0038523269B0}" type="datetimeFigureOut">
              <a:rPr lang="en-US" smtClean="0"/>
              <a:t>11/5/25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1DA709-AB21-2F4F-8564-57AF9076FD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80514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2F81894-4E42-4C20-B559-1A0CBC527A27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75129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5B1D770-1E3A-4068-8773-94408BE3849F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5431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7E70C-0BF8-F64C-90E1-CA3C322426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AE0130-CE59-FC16-1110-0C5EBFA47B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C7A25C-0829-6BCD-4C5A-994B0305C1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C42E8-126E-144D-931F-3D569BD96B19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EE41FC-D6E6-0B23-696B-E32B0557A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F962E-A1F8-F798-23F7-7DD37B5E1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4B306-CEB8-AA40-8B53-399165A7EC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3956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ED061-A710-EF3A-1009-9D3EC4C4B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789AA2-3DD3-A184-D187-F0CFFE0DE2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F5BBF6-5874-2019-4188-5557E0F7A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C42E8-126E-144D-931F-3D569BD96B19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88359-556F-6783-EF18-DB89523584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717F12-92CF-54A1-335F-91BFF0B4D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4B306-CEB8-AA40-8B53-399165A7EC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2674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8C308-5FCA-C13E-0BB6-D5DF38771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DCA2EE-4741-B655-F63B-628E0309B4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DE2E90-2C7E-7D5F-E91D-8917D710A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C42E8-126E-144D-931F-3D569BD96B19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5EFCD-9705-4AA9-FC2C-5E6EF46FE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99F7CA-FE46-28ED-43AC-7E4C76F6C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4B306-CEB8-AA40-8B53-399165A7EC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506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28953-D32F-55AD-2E7C-CC35DD6CA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979CDB-1D50-281F-8DA7-F38D56789C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93059B-40C4-0E2F-8BA2-9A22953CF9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D0F812-5046-BA99-B6FB-FB3D4F06C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C42E8-126E-144D-931F-3D569BD96B19}" type="datetimeFigureOut">
              <a:rPr lang="en-US" smtClean="0"/>
              <a:t>11/5/25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00CEC6-B920-E8C7-B439-087FAFC48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0EB055-6B5D-A6FD-0597-AB66AD262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4B306-CEB8-AA40-8B53-399165A7EC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1251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928A80-69BB-D352-D49C-C6058BB27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0C7CEE-7720-6319-0DBD-02A0BF0AE0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A282ED-6D89-551D-CA95-8B2D85F624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8940E0-0E14-9F64-5DB8-E5CC3A32BF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C0C040-5BF7-8364-5DCD-F011D9A656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161F686-D6E5-1B12-8EA8-E9532C95D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C42E8-126E-144D-931F-3D569BD96B19}" type="datetimeFigureOut">
              <a:rPr lang="en-US" smtClean="0"/>
              <a:t>11/5/25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02F60DD-21CE-131C-BFF2-7E0C647885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C7C80C-9618-72F3-6825-F9EB6AAD7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4B306-CEB8-AA40-8B53-399165A7EC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707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AECD0-1929-07EC-197E-F8AB87242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C12FC4-C651-A2A3-F550-23FBC4868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C42E8-126E-144D-931F-3D569BD96B19}" type="datetimeFigureOut">
              <a:rPr lang="en-US" smtClean="0"/>
              <a:t>11/5/25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12A1C2-5F6A-5373-B1C4-6FCAFDCBF3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49584F-0C12-C445-DF70-44260FDFD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4B306-CEB8-AA40-8B53-399165A7EC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1720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0C79FF9-F4F4-355A-BF6F-C222E7C97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C42E8-126E-144D-931F-3D569BD96B19}" type="datetimeFigureOut">
              <a:rPr lang="en-US" smtClean="0"/>
              <a:t>11/5/25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383A710-B152-A2F8-44C9-23B84A09F5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115A64-CDB3-6992-4D3A-4EB1B67E5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4B306-CEB8-AA40-8B53-399165A7EC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8684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64A0C-D48C-5F30-583A-F542C9DAE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033878-981D-FC8E-FE42-C0116FF5A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7900EC-9FAD-EF0B-FFCC-26462AEA88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9ED1A5-8ADE-CF34-822B-B9768843FA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C42E8-126E-144D-931F-3D569BD96B19}" type="datetimeFigureOut">
              <a:rPr lang="en-US" smtClean="0"/>
              <a:t>11/5/25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95EA77-0AEB-D866-4033-D3182CA72D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E34FCA-9C36-C9DF-9E71-2ACAA17E87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4B306-CEB8-AA40-8B53-399165A7EC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474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74449-9633-C834-6D52-0F1050B61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FE4FFE-EED5-5612-824C-500206BB7F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7AB212-90F5-8E1B-01E8-57056CCDE9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0ED2AC-3DBB-2FD4-81FC-545D9DC96B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C42E8-126E-144D-931F-3D569BD96B19}" type="datetimeFigureOut">
              <a:rPr lang="en-US" smtClean="0"/>
              <a:t>11/5/25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86D788-0BCF-43A2-9C1F-72A4E76DD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F40F10-271E-092B-DB46-709F7D7A0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4B306-CEB8-AA40-8B53-399165A7EC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1335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34B18-D6BE-B59A-AA65-1BA4FAC1D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AF4666-F88B-F238-0D64-DC89275402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47A7B-2580-0B26-F75F-8F22ADC92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C42E8-126E-144D-931F-3D569BD96B19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D8A21C-1511-4C96-277D-93933EF0FF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1B57B4-E8A0-77B3-F5EC-BA4FE3F23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4B306-CEB8-AA40-8B53-399165A7EC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331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836E53-9771-1BB0-4154-F3152C04CA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0E1232-642C-8817-FEB9-2A8B045797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4BD930-DE87-ADDC-4E6A-63E3918F4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C42E8-126E-144D-931F-3D569BD96B19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4651CC-2743-A394-A90E-C8C73281A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DF8CE8-903D-DBEF-B520-8F160836F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F4B306-CEB8-AA40-8B53-399165A7EC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7848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857D4F6-41FD-AD9A-BFFF-942FDC091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CE0D35-840D-17D1-A2BF-B4749A6AAD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04B055-228B-57DC-7F01-8879C39CDA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0C42E8-126E-144D-931F-3D569BD96B19}" type="datetimeFigureOut">
              <a:rPr lang="en-US" smtClean="0"/>
              <a:t>11/5/25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7DEEAE-39A4-1BB1-3F29-85B09E2DCC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672264-9F35-440C-0667-E3471167D9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F4B306-CEB8-AA40-8B53-399165A7EC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37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mailto:mitras@illinois.edu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10.png"/><Relationship Id="rId4" Type="http://schemas.openxmlformats.org/officeDocument/2006/relationships/image" Target="../media/image3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10.png"/><Relationship Id="rId4" Type="http://schemas.openxmlformats.org/officeDocument/2006/relationships/image" Target="../media/image41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png"/><Relationship Id="rId7" Type="http://schemas.openxmlformats.org/officeDocument/2006/relationships/image" Target="../media/image45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43.png"/><Relationship Id="rId10" Type="http://schemas.openxmlformats.org/officeDocument/2006/relationships/image" Target="../media/image48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0.png"/><Relationship Id="rId13" Type="http://schemas.openxmlformats.org/officeDocument/2006/relationships/image" Target="../media/image280.png"/><Relationship Id="rId3" Type="http://schemas.openxmlformats.org/officeDocument/2006/relationships/image" Target="../media/image971.png"/><Relationship Id="rId7" Type="http://schemas.openxmlformats.org/officeDocument/2006/relationships/image" Target="../media/image220.png"/><Relationship Id="rId12" Type="http://schemas.openxmlformats.org/officeDocument/2006/relationships/image" Target="../media/image270.png"/><Relationship Id="rId2" Type="http://schemas.openxmlformats.org/officeDocument/2006/relationships/image" Target="../media/image9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0.png"/><Relationship Id="rId11" Type="http://schemas.openxmlformats.org/officeDocument/2006/relationships/image" Target="../media/image260.png"/><Relationship Id="rId5" Type="http://schemas.openxmlformats.org/officeDocument/2006/relationships/image" Target="../media/image200.png"/><Relationship Id="rId10" Type="http://schemas.openxmlformats.org/officeDocument/2006/relationships/image" Target="../media/image250.png"/><Relationship Id="rId4" Type="http://schemas.openxmlformats.org/officeDocument/2006/relationships/image" Target="../media/image190.png"/><Relationship Id="rId9" Type="http://schemas.openxmlformats.org/officeDocument/2006/relationships/image" Target="../media/image240.png"/><Relationship Id="rId14" Type="http://schemas.openxmlformats.org/officeDocument/2006/relationships/image" Target="../media/image29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Abstractions II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4926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5733" y="1699022"/>
            <a:ext cx="11300178" cy="745728"/>
          </a:xfrm>
        </p:spPr>
        <p:txBody>
          <a:bodyPr>
            <a:noAutofit/>
          </a:bodyPr>
          <a:lstStyle/>
          <a:p>
            <a:r>
              <a:rPr lang="en-US" sz="4400" dirty="0"/>
              <a:t>Abstractions II:</a:t>
            </a:r>
            <a:br>
              <a:rPr lang="en-US" sz="4400" dirty="0"/>
            </a:br>
            <a:r>
              <a:rPr lang="en-US" sz="4400" dirty="0"/>
              <a:t>Counter Example-Guided Abstraction Refinement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Sayan Mitra</a:t>
            </a:r>
          </a:p>
          <a:p>
            <a:r>
              <a:rPr lang="en-US" dirty="0"/>
              <a:t>Verifying </a:t>
            </a:r>
            <a:r>
              <a:rPr lang="en-US"/>
              <a:t>cyberphysical</a:t>
            </a:r>
            <a:r>
              <a:rPr lang="en-US" dirty="0"/>
              <a:t> systems</a:t>
            </a:r>
          </a:p>
          <a:p>
            <a:r>
              <a:rPr lang="en-US" dirty="0">
                <a:hlinkClick r:id="rId2"/>
              </a:rPr>
              <a:t>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13299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29C2C-36ED-E643-A1BD-67F0C62CF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Forward simulation relation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4029E7-DBE9-2547-AE31-FBBE8FB16C6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75771" y="1825625"/>
                <a:ext cx="11792051" cy="4351338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Consider a pair of automata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=⟨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⟩ </m:t>
                    </m:r>
                  </m:oMath>
                </a14:m>
                <a:r>
                  <a:rPr lang="en-US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=⟨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⟩. 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Recall </a:t>
                </a:r>
                <a:r>
                  <a:rPr lang="en-US" i="1" dirty="0"/>
                  <a:t>trace</a:t>
                </a:r>
                <a:r>
                  <a:rPr lang="en-US" dirty="0"/>
                  <a:t> of an execution preserves the visible part of an execution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Definition</a:t>
                </a:r>
                <a:r>
                  <a:rPr lang="en-US" dirty="0"/>
                  <a:t>. A </a:t>
                </a:r>
                <a:r>
                  <a:rPr lang="en-US" b="1" dirty="0"/>
                  <a:t>relation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⊆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is a forward simulation relation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if </a:t>
                </a:r>
              </a:p>
              <a:p>
                <a:pPr marL="514350" indent="-514350">
                  <a:buAutoNum type="arabicPeriod"/>
                </a:pPr>
                <a:r>
                  <a:rPr lang="en-US" dirty="0"/>
                  <a:t>For every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there exists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514350" indent="-514350">
                  <a:buAutoNum type="arabicPeriod"/>
                </a:pPr>
                <a:r>
                  <a:rPr lang="en-US" dirty="0"/>
                  <a:t>For every transition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</m:sSubSup>
                    <m:sSubSup>
                      <m:sSubSupPr>
                        <m:ctrlPr>
                          <a:rPr lang="en-US" b="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𝑅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there exists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  <m:sub>
                        <m:r>
                          <a:rPr lang="en-US" b="0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b="0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such that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r>
                  <a:rPr lang="en-US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𝑇𝑟𝑎𝑐𝑒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𝑇𝑟𝑎𝑐𝑒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Theorem. </a:t>
                </a:r>
                <a:r>
                  <a:rPr lang="en-US" dirty="0"/>
                  <a:t>If there exists a forward simulation from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then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𝑇𝑟𝑎𝑐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𝑇𝑟𝑎𝑐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𝑒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4029E7-DBE9-2547-AE31-FBBE8FB16C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75771" y="1825625"/>
                <a:ext cx="11792051" cy="4351338"/>
              </a:xfrm>
              <a:blipFill>
                <a:blip r:embed="rId2"/>
                <a:stretch>
                  <a:fillRect l="-753" t="-31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19659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1685688-E75F-8144-8D8E-F8FCF0B96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Abstraction recap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BCDE4761-7F89-6945-BD5D-37644136E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7846883" cy="4351338"/>
              </a:xfrm>
            </p:spPr>
            <p:txBody>
              <a:bodyPr>
                <a:normAutofit fontScale="92500"/>
              </a:bodyPr>
              <a:lstStyle/>
              <a:p>
                <a:r>
                  <a:rPr lang="en-US" dirty="0"/>
                  <a:t>Defined what it means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𝒜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to be abstraction of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𝒜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1</m:t>
                        </m:r>
                      </m:sub>
                    </m:sSub>
                  </m:oMath>
                </a14:m>
                <a:endParaRPr lang="en-US" b="0" dirty="0">
                  <a:ea typeface="Cambria Math"/>
                </a:endParaRP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𝑇𝑟𝑎𝑐𝑒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/>
                                <a:ea typeface="Cambria Math"/>
                              </a:rPr>
                              <m:t>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/>
                              </a:rPr>
                              <m:t>1</m:t>
                            </m:r>
                          </m:sub>
                        </m:sSub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𝑇𝑟𝑎𝑐𝑒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/>
                                <a:ea typeface="Cambria Math"/>
                              </a:rPr>
                              <m:t>𝒜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𝒜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𝑇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𝒜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b>
                    </m:sSub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r>
                  <a:rPr lang="en-US" b="0" dirty="0"/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𝒜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𝑇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𝒜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 </a:t>
                </a:r>
                <a:r>
                  <a:rPr lang="en-US" b="0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𝒜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𝑇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𝒜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i="1" dirty="0">
                    <a:latin typeface="Cambria Math" panose="02040503050406030204" pitchFamily="18" charset="0"/>
                  </a:rPr>
                  <a:t> </a:t>
                </a:r>
                <a:r>
                  <a:rPr lang="en-US" b="0" dirty="0"/>
                  <a:t>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𝒜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𝑇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𝒜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3</m:t>
                        </m:r>
                      </m:sub>
                    </m:sSub>
                  </m:oMath>
                </a14:m>
                <a:endParaRPr lang="en-US" b="0" dirty="0"/>
              </a:p>
              <a:p>
                <a:r>
                  <a:rPr lang="en-US" dirty="0"/>
                  <a:t>Transitive,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US" b="0" dirty="0"/>
                  <a:t> defines a preordering on compatible automata</a:t>
                </a:r>
              </a:p>
              <a:p>
                <a:r>
                  <a:rPr lang="en-US" b="0" dirty="0"/>
                  <a:t>We saw </a:t>
                </a:r>
                <a:r>
                  <a:rPr lang="en-US" dirty="0"/>
                  <a:t>methods for proving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𝒜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𝑇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𝒜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b>
                    </m:sSub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en-US" i="1" dirty="0"/>
                  <a:t>Forward simulation and backward simulation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US" i="1" dirty="0"/>
                  <a:t> </a:t>
                </a:r>
                <a:r>
                  <a:rPr lang="en-US" dirty="0"/>
                  <a:t>defines a preorder</a:t>
                </a:r>
                <a:endParaRPr lang="en-US" i="1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BCDE4761-7F89-6945-BD5D-37644136E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7846883" cy="4351338"/>
              </a:xfrm>
              <a:blipFill>
                <a:blip r:embed="rId2"/>
                <a:stretch>
                  <a:fillRect l="-1131" t="-23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92A6076-DFDE-2842-8CB1-2AFDA6640AC7}"/>
                  </a:ext>
                </a:extLst>
              </p:cNvPr>
              <p:cNvSpPr/>
              <p:nvPr/>
            </p:nvSpPr>
            <p:spPr>
              <a:xfrm>
                <a:off x="8685083" y="2794402"/>
                <a:ext cx="1245235" cy="1269195"/>
              </a:xfrm>
              <a:prstGeom prst="roundRect">
                <a:avLst/>
              </a:prstGeom>
              <a:pattFill prst="pct20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sz="4400" i="1" smtClean="0">
                              <a:latin typeface="Cambria Math"/>
                              <a:ea typeface="Cambria Math"/>
                            </a:rPr>
                            <m:t>𝒜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  <a:ea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4400" b="1" i="1" dirty="0">
                  <a:latin typeface="+mj-lt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92A6076-DFDE-2842-8CB1-2AFDA6640A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5083" y="2794402"/>
                <a:ext cx="1245235" cy="1269195"/>
              </a:xfrm>
              <a:prstGeom prst="roundRect">
                <a:avLst/>
              </a:prstGeom>
              <a:blipFill>
                <a:blip r:embed="rId3"/>
                <a:stretch>
                  <a:fillRect l="-10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BA38C6FF-DEDB-E245-9793-38434EAA7802}"/>
                  </a:ext>
                </a:extLst>
              </p:cNvPr>
              <p:cNvSpPr/>
              <p:nvPr/>
            </p:nvSpPr>
            <p:spPr>
              <a:xfrm>
                <a:off x="10641299" y="2798063"/>
                <a:ext cx="1245235" cy="1269195"/>
              </a:xfrm>
              <a:prstGeom prst="roundRect">
                <a:avLst/>
              </a:prstGeom>
              <a:pattFill prst="pct5">
                <a:fgClr>
                  <a:schemeClr val="tx1"/>
                </a:fgClr>
                <a:bgClr>
                  <a:schemeClr val="bg1"/>
                </a:bgClr>
              </a:pattFill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sz="4000" i="1" smtClean="0">
                              <a:latin typeface="Cambria Math"/>
                              <a:ea typeface="Cambria Math"/>
                            </a:rPr>
                            <m:t>𝒜</m:t>
                          </m:r>
                        </m:e>
                        <m:sub>
                          <m:r>
                            <a:rPr lang="en-US" sz="4000" b="0" i="1" smtClean="0">
                              <a:latin typeface="Cambria Math" panose="02040503050406030204" pitchFamily="18" charset="0"/>
                              <a:ea typeface="Cambria Math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600" b="1" i="1" dirty="0">
                  <a:latin typeface="+mj-lt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BA38C6FF-DEDB-E245-9793-38434EAA78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299" y="2798063"/>
                <a:ext cx="1245235" cy="1269195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CB67E16-F2E2-334A-B91D-2949846E6FE8}"/>
                  </a:ext>
                </a:extLst>
              </p:cNvPr>
              <p:cNvSpPr txBox="1"/>
              <p:nvPr/>
            </p:nvSpPr>
            <p:spPr>
              <a:xfrm>
                <a:off x="9930318" y="3034819"/>
                <a:ext cx="676788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≼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CB67E16-F2E2-334A-B91D-2949846E6F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0318" y="3034819"/>
                <a:ext cx="676788" cy="707886"/>
              </a:xfrm>
              <a:prstGeom prst="rect">
                <a:avLst/>
              </a:prstGeom>
              <a:blipFill>
                <a:blip r:embed="rId5"/>
                <a:stretch>
                  <a:fillRect l="-3704" r="-3704" b="-35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2073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8021001-6C90-A84D-8854-61F7BCED3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Counter-example guided abstraction-refinement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084735B-28EF-714E-8E89-1D85C2C718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1306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252F828-AFC3-C9CE-8B36-8BF7D2408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7626" y="365125"/>
            <a:ext cx="11430000" cy="1325563"/>
          </a:xfrm>
        </p:spPr>
        <p:txBody>
          <a:bodyPr>
            <a:normAutofit fontScale="90000"/>
          </a:bodyPr>
          <a:lstStyle/>
          <a:p>
            <a:r>
              <a:rPr lang="en-US" sz="4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Counterexample-guided abstraction refinement</a:t>
            </a:r>
            <a:br>
              <a:rPr lang="en-US" sz="4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</a:b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B5C97B6-BF6C-2EAF-C060-02E9875E3F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Counterexample-guided abstraction refinement</a:t>
            </a:r>
          </a:p>
          <a:p>
            <a:pPr marL="0" indent="0">
              <a:buNone/>
            </a:pPr>
            <a:r>
              <a:rPr lang="en-US" sz="2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Clarke, E., </a:t>
            </a:r>
            <a:r>
              <a:rPr lang="en-US" sz="20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Grumberg</a:t>
            </a:r>
            <a:r>
              <a:rPr lang="en-US" sz="2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 O., Jha, S., Lu, Y., &amp; </a:t>
            </a:r>
            <a:r>
              <a:rPr lang="en-US" sz="20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Veith</a:t>
            </a:r>
            <a:r>
              <a:rPr lang="en-US" sz="2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 H. (2000, July).CAV 2000. Springer Berlin Heidelberg.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4202973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86B84-ADF2-7B4B-A18D-EBEB42D38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Counterexample guided abstraction refinement (CEGAR)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B319B1-CC76-B243-9AF1-D4D018E0E3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general algorithmic framework  for automatically constructing and verifying property-specific abstractions </a:t>
            </a:r>
            <a:r>
              <a:rPr lang="en-US" dirty="0">
                <a:solidFill>
                  <a:srgbClr val="00B0F0"/>
                </a:solidFill>
              </a:rPr>
              <a:t>[Clarke:2000]</a:t>
            </a:r>
          </a:p>
          <a:p>
            <a:r>
              <a:rPr lang="en-US" dirty="0"/>
              <a:t>CEGAR has been applied to discrete automata, software, and hybrid systems </a:t>
            </a:r>
            <a:r>
              <a:rPr lang="en-US" dirty="0">
                <a:solidFill>
                  <a:srgbClr val="00B0F0"/>
                </a:solidFill>
              </a:rPr>
              <a:t>[Holzman 00,Ball 01, Alur 2006,Clarke 2003, Fehnker2005, Prabhakar 15, </a:t>
            </a:r>
            <a:r>
              <a:rPr lang="en-US" dirty="0" err="1">
                <a:solidFill>
                  <a:srgbClr val="00B0F0"/>
                </a:solidFill>
              </a:rPr>
              <a:t>Roohi</a:t>
            </a:r>
            <a:r>
              <a:rPr lang="en-US" dirty="0">
                <a:solidFill>
                  <a:srgbClr val="00B0F0"/>
                </a:solidFill>
              </a:rPr>
              <a:t> 17]</a:t>
            </a:r>
          </a:p>
          <a:p>
            <a:r>
              <a:rPr lang="en-US" dirty="0"/>
              <a:t>We will discuss  the basic idea of the CEGAR and the key design choices, and their implications.</a:t>
            </a:r>
          </a:p>
        </p:txBody>
      </p:sp>
    </p:spTree>
    <p:extLst>
      <p:ext uri="{BB962C8B-B14F-4D97-AF65-F5344CB8AC3E}">
        <p14:creationId xmlns:p14="http://schemas.microsoft.com/office/powerpoint/2010/main" val="2995687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6129937C-A51F-964F-8257-53F04B668C86}"/>
              </a:ext>
            </a:extLst>
          </p:cNvPr>
          <p:cNvGrpSpPr/>
          <p:nvPr/>
        </p:nvGrpSpPr>
        <p:grpSpPr>
          <a:xfrm>
            <a:off x="876300" y="241788"/>
            <a:ext cx="5041615" cy="6438412"/>
            <a:chOff x="876300" y="1422400"/>
            <a:chExt cx="4117134" cy="5257800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6FBED412-E6FA-0049-8887-E9D0A75B25EC}"/>
                </a:ext>
              </a:extLst>
            </p:cNvPr>
            <p:cNvSpPr/>
            <p:nvPr/>
          </p:nvSpPr>
          <p:spPr>
            <a:xfrm>
              <a:off x="876300" y="1422400"/>
              <a:ext cx="2438400" cy="762000"/>
            </a:xfrm>
            <a:prstGeom prst="roundRect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sz="2000" dirty="0"/>
                <a:t>Start with coarse abstraction </a:t>
              </a:r>
              <a:r>
                <a:rPr lang="en-US" sz="2000" b="1" dirty="0"/>
                <a:t>B</a:t>
              </a:r>
              <a:r>
                <a:rPr lang="en-US" sz="2000" b="1" baseline="-25000" dirty="0"/>
                <a:t>0</a:t>
              </a:r>
            </a:p>
          </p:txBody>
        </p:sp>
        <p:sp>
          <p:nvSpPr>
            <p:cNvPr id="5" name="Diamond 4">
              <a:extLst>
                <a:ext uri="{FF2B5EF4-FFF2-40B4-BE49-F238E27FC236}">
                  <a16:creationId xmlns:a16="http://schemas.microsoft.com/office/drawing/2014/main" id="{1A3D8B95-DA69-1147-BFB3-1D9856BC3FD3}"/>
                </a:ext>
              </a:extLst>
            </p:cNvPr>
            <p:cNvSpPr/>
            <p:nvPr/>
          </p:nvSpPr>
          <p:spPr>
            <a:xfrm>
              <a:off x="914400" y="2628900"/>
              <a:ext cx="2374900" cy="1270000"/>
            </a:xfrm>
            <a:prstGeom prst="diamond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sz="2000" dirty="0"/>
                <a:t>Check </a:t>
              </a:r>
              <a:r>
                <a:rPr lang="en-US" sz="2000" b="1" dirty="0"/>
                <a:t>B</a:t>
              </a:r>
              <a:r>
                <a:rPr lang="en-US" sz="2000" b="1" baseline="-25000" dirty="0"/>
                <a:t>i</a:t>
              </a:r>
              <a:r>
                <a:rPr lang="en-US" sz="2000" dirty="0"/>
                <a:t> satisfies </a:t>
              </a:r>
              <a:r>
                <a:rPr lang="en-US" sz="2000" b="1" dirty="0"/>
                <a:t>S </a:t>
              </a:r>
              <a:r>
                <a:rPr lang="en-US" sz="2000" dirty="0"/>
                <a:t>?</a:t>
              </a:r>
              <a:endParaRPr lang="en-US" sz="2000" b="1" baseline="-25000" dirty="0"/>
            </a:p>
          </p:txBody>
        </p:sp>
        <p:sp>
          <p:nvSpPr>
            <p:cNvPr id="6" name="Diamond 5">
              <a:extLst>
                <a:ext uri="{FF2B5EF4-FFF2-40B4-BE49-F238E27FC236}">
                  <a16:creationId xmlns:a16="http://schemas.microsoft.com/office/drawing/2014/main" id="{1F889584-68CF-274C-A3BE-6F3DFB215D86}"/>
                </a:ext>
              </a:extLst>
            </p:cNvPr>
            <p:cNvSpPr/>
            <p:nvPr/>
          </p:nvSpPr>
          <p:spPr>
            <a:xfrm>
              <a:off x="889000" y="4254500"/>
              <a:ext cx="2413000" cy="1270000"/>
            </a:xfrm>
            <a:prstGeom prst="diamond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sz="2000" dirty="0">
                  <a:sym typeface="Symbol"/>
                </a:rPr>
                <a:t> </a:t>
              </a:r>
              <a:r>
                <a:rPr lang="en-US" sz="2000" dirty="0"/>
                <a:t>counter-example for </a:t>
              </a:r>
              <a:r>
                <a:rPr lang="en-US" sz="2000" b="1" dirty="0"/>
                <a:t>A</a:t>
              </a:r>
              <a:r>
                <a:rPr lang="en-US" sz="2000" dirty="0"/>
                <a:t>?</a:t>
              </a:r>
              <a:endParaRPr lang="en-US" sz="2000" b="1" baseline="-25000" dirty="0"/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ED4A51E7-B419-DA4A-861E-04698B27BEA6}"/>
                </a:ext>
              </a:extLst>
            </p:cNvPr>
            <p:cNvSpPr/>
            <p:nvPr/>
          </p:nvSpPr>
          <p:spPr>
            <a:xfrm>
              <a:off x="914400" y="5918200"/>
              <a:ext cx="2362200" cy="762000"/>
            </a:xfrm>
            <a:prstGeom prst="roundRect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sz="2000" dirty="0"/>
                <a:t>Refine </a:t>
              </a:r>
              <a:r>
                <a:rPr lang="en-US" sz="2000" b="1" dirty="0"/>
                <a:t>B</a:t>
              </a:r>
              <a:r>
                <a:rPr lang="en-US" sz="2000" b="1" baseline="-25000" dirty="0"/>
                <a:t>i</a:t>
              </a:r>
              <a:r>
                <a:rPr lang="en-US" sz="2000" b="1" dirty="0"/>
                <a:t> </a:t>
              </a:r>
              <a:r>
                <a:rPr lang="en-US" sz="2000" dirty="0"/>
                <a:t>to get </a:t>
              </a:r>
              <a:r>
                <a:rPr lang="en-US" sz="2000" b="1" dirty="0"/>
                <a:t>B</a:t>
              </a:r>
              <a:r>
                <a:rPr lang="en-US" sz="2000" b="1" baseline="-25000" dirty="0"/>
                <a:t>i+1</a:t>
              </a:r>
            </a:p>
          </p:txBody>
        </p:sp>
        <p:cxnSp>
          <p:nvCxnSpPr>
            <p:cNvPr id="8" name="Elbow Connector 7">
              <a:extLst>
                <a:ext uri="{FF2B5EF4-FFF2-40B4-BE49-F238E27FC236}">
                  <a16:creationId xmlns:a16="http://schemas.microsoft.com/office/drawing/2014/main" id="{790DCF74-BBBF-E249-B8D7-C6067E070E29}"/>
                </a:ext>
              </a:extLst>
            </p:cNvPr>
            <p:cNvCxnSpPr>
              <a:cxnSpLocks noChangeShapeType="1"/>
              <a:stCxn id="7" idx="1"/>
              <a:endCxn id="4" idx="1"/>
            </p:cNvCxnSpPr>
            <p:nvPr/>
          </p:nvCxnSpPr>
          <p:spPr bwMode="auto">
            <a:xfrm rot="10800000">
              <a:off x="876300" y="1803400"/>
              <a:ext cx="38100" cy="4495800"/>
            </a:xfrm>
            <a:prstGeom prst="bentConnector3">
              <a:avLst>
                <a:gd name="adj1" fmla="val 1280000"/>
              </a:avLst>
            </a:prstGeom>
            <a:noFill/>
            <a:ln w="38100" algn="ctr">
              <a:solidFill>
                <a:schemeClr val="tx1"/>
              </a:solidFill>
              <a:miter lim="800000"/>
              <a:headEnd type="none" w="med" len="med"/>
              <a:tailEnd type="triangle" w="med" len="med"/>
            </a:ln>
            <a:effectLst>
              <a:outerShdw dist="20000" dir="5400000" rotWithShape="0">
                <a:srgbClr val="808080">
                  <a:alpha val="37999"/>
                </a:srgbClr>
              </a:outerShdw>
            </a:effectLst>
          </p:spPr>
        </p:cxnSp>
        <p:sp>
          <p:nvSpPr>
            <p:cNvPr id="9" name="Rectangle 12">
              <a:extLst>
                <a:ext uri="{FF2B5EF4-FFF2-40B4-BE49-F238E27FC236}">
                  <a16:creationId xmlns:a16="http://schemas.microsoft.com/office/drawing/2014/main" id="{BF958840-443C-3F4C-A346-A10481C0D9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20925" y="3879850"/>
              <a:ext cx="1522699" cy="326742"/>
            </a:xfrm>
            <a:prstGeom prst="rect">
              <a:avLst/>
            </a:prstGeom>
            <a:noFill/>
            <a:ln w="38100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2000">
                  <a:sym typeface="Symbol" pitchFamily="-64" charset="2"/>
                </a:rPr>
                <a:t> = q</a:t>
              </a:r>
              <a:r>
                <a:rPr lang="en-US" sz="2000" baseline="-25000">
                  <a:sym typeface="Symbol" pitchFamily="-64" charset="2"/>
                </a:rPr>
                <a:t>0</a:t>
              </a:r>
              <a:r>
                <a:rPr lang="en-US" sz="2000">
                  <a:sym typeface="Symbol" pitchFamily="-64" charset="2"/>
                </a:rPr>
                <a:t> q</a:t>
              </a:r>
              <a:r>
                <a:rPr lang="en-US" sz="2000" baseline="-25000">
                  <a:sym typeface="Symbol" pitchFamily="-64" charset="2"/>
                </a:rPr>
                <a:t>1</a:t>
              </a:r>
              <a:r>
                <a:rPr lang="en-US" sz="2000">
                  <a:sym typeface="Symbol" pitchFamily="-64" charset="2"/>
                </a:rPr>
                <a:t> q</a:t>
              </a:r>
              <a:r>
                <a:rPr lang="en-US" sz="2000" baseline="-25000">
                  <a:sym typeface="Symbol" pitchFamily="-64" charset="2"/>
                </a:rPr>
                <a:t>2</a:t>
              </a:r>
              <a:r>
                <a:rPr lang="en-US" sz="2000">
                  <a:sym typeface="Symbol" pitchFamily="-64" charset="2"/>
                </a:rPr>
                <a:t> … q</a:t>
              </a:r>
              <a:r>
                <a:rPr lang="en-US" sz="2000" baseline="-25000">
                  <a:sym typeface="Symbol" pitchFamily="-64" charset="2"/>
                </a:rPr>
                <a:t>n</a:t>
              </a:r>
              <a:endParaRPr lang="en-US" sz="2000" baseline="-2500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C815213-961D-F643-87FA-B8E1268C0796}"/>
                </a:ext>
              </a:extLst>
            </p:cNvPr>
            <p:cNvCxnSpPr>
              <a:cxnSpLocks noChangeShapeType="1"/>
              <a:stCxn id="4" idx="2"/>
              <a:endCxn id="5" idx="0"/>
            </p:cNvCxnSpPr>
            <p:nvPr/>
          </p:nvCxnSpPr>
          <p:spPr bwMode="auto">
            <a:xfrm rot="16200000" flipH="1">
              <a:off x="1876425" y="2403475"/>
              <a:ext cx="444500" cy="6350"/>
            </a:xfrm>
            <a:prstGeom prst="straightConnector1">
              <a:avLst/>
            </a:prstGeom>
            <a:noFill/>
            <a:ln w="38100" algn="ctr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ffectLst>
              <a:outerShdw dist="20000" dir="5400000" rotWithShape="0">
                <a:srgbClr val="808080">
                  <a:alpha val="37999"/>
                </a:srgbClr>
              </a:outerShdw>
            </a:effectLst>
          </p:spPr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B2E1341-0307-724B-A6F5-5424F959A8F7}"/>
                </a:ext>
              </a:extLst>
            </p:cNvPr>
            <p:cNvCxnSpPr>
              <a:cxnSpLocks noChangeShapeType="1"/>
              <a:stCxn id="5" idx="2"/>
              <a:endCxn id="6" idx="0"/>
            </p:cNvCxnSpPr>
            <p:nvPr/>
          </p:nvCxnSpPr>
          <p:spPr bwMode="auto">
            <a:xfrm rot="5400000">
              <a:off x="1920875" y="4073525"/>
              <a:ext cx="355600" cy="6350"/>
            </a:xfrm>
            <a:prstGeom prst="straightConnector1">
              <a:avLst/>
            </a:prstGeom>
            <a:noFill/>
            <a:ln w="38100" algn="ctr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ffectLst>
              <a:outerShdw dist="20000" dir="5400000" rotWithShape="0">
                <a:srgbClr val="808080">
                  <a:alpha val="37999"/>
                </a:srgbClr>
              </a:outerShdw>
            </a:effectLst>
          </p:spPr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E2D75B6-C912-7E46-8B72-4300F615910C}"/>
                </a:ext>
              </a:extLst>
            </p:cNvPr>
            <p:cNvCxnSpPr>
              <a:cxnSpLocks noChangeShapeType="1"/>
              <a:stCxn id="6" idx="2"/>
              <a:endCxn id="7" idx="0"/>
            </p:cNvCxnSpPr>
            <p:nvPr/>
          </p:nvCxnSpPr>
          <p:spPr bwMode="auto">
            <a:xfrm rot="5400000">
              <a:off x="1898651" y="5721350"/>
              <a:ext cx="393700" cy="3175"/>
            </a:xfrm>
            <a:prstGeom prst="straightConnector1">
              <a:avLst/>
            </a:prstGeom>
            <a:noFill/>
            <a:ln w="38100" algn="ctr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ffectLst>
              <a:outerShdw dist="20000" dir="5400000" rotWithShape="0">
                <a:srgbClr val="808080">
                  <a:alpha val="37999"/>
                </a:srgbClr>
              </a:outerShdw>
            </a:effectLst>
          </p:spPr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A1721DF-6474-1A4C-BC96-ED9B60D08436}"/>
                </a:ext>
              </a:extLst>
            </p:cNvPr>
            <p:cNvCxnSpPr>
              <a:cxnSpLocks noChangeShapeType="1"/>
              <a:stCxn id="5" idx="3"/>
              <a:endCxn id="14" idx="2"/>
            </p:cNvCxnSpPr>
            <p:nvPr/>
          </p:nvCxnSpPr>
          <p:spPr bwMode="auto">
            <a:xfrm>
              <a:off x="3289299" y="3263900"/>
              <a:ext cx="559593" cy="0"/>
            </a:xfrm>
            <a:prstGeom prst="straightConnector1">
              <a:avLst/>
            </a:prstGeom>
            <a:noFill/>
            <a:ln w="38100" algn="ctr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ffectLst>
              <a:outerShdw dist="20000" dir="5400000" rotWithShape="0">
                <a:srgbClr val="808080">
                  <a:alpha val="37999"/>
                </a:srgbClr>
              </a:outerShdw>
            </a:effectLst>
          </p:spPr>
        </p:cxn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47011D3-732D-A240-8F80-DAE166ED73B7}"/>
                </a:ext>
              </a:extLst>
            </p:cNvPr>
            <p:cNvSpPr/>
            <p:nvPr/>
          </p:nvSpPr>
          <p:spPr>
            <a:xfrm>
              <a:off x="3848893" y="2917824"/>
              <a:ext cx="1041060" cy="692150"/>
            </a:xfrm>
            <a:prstGeom prst="ellips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sz="2000" b="1" dirty="0"/>
                <a:t>A</a:t>
              </a:r>
              <a:r>
                <a:rPr lang="en-US" sz="2000" dirty="0"/>
                <a:t> is safe</a:t>
              </a:r>
            </a:p>
          </p:txBody>
        </p:sp>
        <p:sp>
          <p:nvSpPr>
            <p:cNvPr id="15" name="TextBox 49">
              <a:extLst>
                <a:ext uri="{FF2B5EF4-FFF2-40B4-BE49-F238E27FC236}">
                  <a16:creationId xmlns:a16="http://schemas.microsoft.com/office/drawing/2014/main" id="{4A4F7EA9-6C0A-4A4E-9170-C5720CE0DE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46438" y="2873375"/>
              <a:ext cx="425078" cy="326742"/>
            </a:xfrm>
            <a:prstGeom prst="rect">
              <a:avLst/>
            </a:prstGeom>
            <a:noFill/>
            <a:ln w="38100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2000"/>
                <a:t>Yes</a:t>
              </a:r>
            </a:p>
          </p:txBody>
        </p:sp>
        <p:sp>
          <p:nvSpPr>
            <p:cNvPr id="16" name="TextBox 50">
              <a:extLst>
                <a:ext uri="{FF2B5EF4-FFF2-40B4-BE49-F238E27FC236}">
                  <a16:creationId xmlns:a16="http://schemas.microsoft.com/office/drawing/2014/main" id="{836E0A55-CF4B-D348-9B0B-FA833C6F461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84325" y="3894138"/>
              <a:ext cx="395598" cy="326742"/>
            </a:xfrm>
            <a:prstGeom prst="rect">
              <a:avLst/>
            </a:prstGeom>
            <a:noFill/>
            <a:ln w="38100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2000"/>
                <a:t>No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FE66E19-0ACF-074D-A802-8253BC4157E1}"/>
                </a:ext>
              </a:extLst>
            </p:cNvPr>
            <p:cNvSpPr/>
            <p:nvPr/>
          </p:nvSpPr>
          <p:spPr>
            <a:xfrm>
              <a:off x="3817938" y="4541838"/>
              <a:ext cx="1175496" cy="693737"/>
            </a:xfrm>
            <a:prstGeom prst="ellipse">
              <a:avLst/>
            </a:prstGeom>
            <a:ln w="38100">
              <a:solidFill>
                <a:schemeClr val="tx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sz="2000" b="1" dirty="0"/>
                <a:t>A</a:t>
              </a:r>
              <a:r>
                <a:rPr lang="en-US" sz="2000" dirty="0"/>
                <a:t> unsafe</a:t>
              </a: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1232F87-F466-C246-B0A7-A630B9659EF6}"/>
                </a:ext>
              </a:extLst>
            </p:cNvPr>
            <p:cNvCxnSpPr>
              <a:cxnSpLocks noChangeShapeType="1"/>
              <a:stCxn id="6" idx="3"/>
              <a:endCxn id="17" idx="2"/>
            </p:cNvCxnSpPr>
            <p:nvPr/>
          </p:nvCxnSpPr>
          <p:spPr bwMode="auto">
            <a:xfrm flipV="1">
              <a:off x="3302001" y="4888707"/>
              <a:ext cx="515937" cy="794"/>
            </a:xfrm>
            <a:prstGeom prst="straightConnector1">
              <a:avLst/>
            </a:prstGeom>
            <a:noFill/>
            <a:ln w="38100" algn="ctr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ffectLst>
              <a:outerShdw dist="20000" dir="5400000" rotWithShape="0">
                <a:srgbClr val="808080">
                  <a:alpha val="37999"/>
                </a:srgbClr>
              </a:outerShdw>
            </a:effectLst>
          </p:spPr>
        </p:cxnSp>
        <p:sp>
          <p:nvSpPr>
            <p:cNvPr id="19" name="TextBox 55">
              <a:extLst>
                <a:ext uri="{FF2B5EF4-FFF2-40B4-BE49-F238E27FC236}">
                  <a16:creationId xmlns:a16="http://schemas.microsoft.com/office/drawing/2014/main" id="{3F4C4461-B45D-584B-A42C-6802B6F9EF1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68663" y="4511675"/>
              <a:ext cx="425078" cy="326742"/>
            </a:xfrm>
            <a:prstGeom prst="rect">
              <a:avLst/>
            </a:prstGeom>
            <a:noFill/>
            <a:ln w="38100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2000"/>
                <a:t>Yes</a:t>
              </a:r>
            </a:p>
          </p:txBody>
        </p:sp>
        <p:sp>
          <p:nvSpPr>
            <p:cNvPr id="20" name="TextBox 56">
              <a:extLst>
                <a:ext uri="{FF2B5EF4-FFF2-40B4-BE49-F238E27FC236}">
                  <a16:creationId xmlns:a16="http://schemas.microsoft.com/office/drawing/2014/main" id="{46178A12-7577-7F4A-8587-29D6B372BF9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16075" y="5516563"/>
              <a:ext cx="395598" cy="326742"/>
            </a:xfrm>
            <a:prstGeom prst="rect">
              <a:avLst/>
            </a:prstGeom>
            <a:noFill/>
            <a:ln w="38100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2000"/>
                <a:t>No</a:t>
              </a:r>
            </a:p>
          </p:txBody>
        </p:sp>
      </p:grpSp>
      <p:sp>
        <p:nvSpPr>
          <p:cNvPr id="22" name="Title 5">
            <a:extLst>
              <a:ext uri="{FF2B5EF4-FFF2-40B4-BE49-F238E27FC236}">
                <a16:creationId xmlns:a16="http://schemas.microsoft.com/office/drawing/2014/main" id="{F75E9478-795B-3245-808F-CF51FC80407E}"/>
              </a:ext>
            </a:extLst>
          </p:cNvPr>
          <p:cNvSpPr txBox="1">
            <a:spLocks/>
          </p:cNvSpPr>
          <p:nvPr/>
        </p:nvSpPr>
        <p:spPr>
          <a:xfrm>
            <a:off x="6408580" y="1709738"/>
            <a:ext cx="4938870" cy="28527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Idea of CEGAR</a:t>
            </a:r>
          </a:p>
        </p:txBody>
      </p:sp>
    </p:spTree>
    <p:extLst>
      <p:ext uri="{BB962C8B-B14F-4D97-AF65-F5344CB8AC3E}">
        <p14:creationId xmlns:p14="http://schemas.microsoft.com/office/powerpoint/2010/main" val="11158902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6129937C-A51F-964F-8257-53F04B668C86}"/>
              </a:ext>
            </a:extLst>
          </p:cNvPr>
          <p:cNvGrpSpPr/>
          <p:nvPr/>
        </p:nvGrpSpPr>
        <p:grpSpPr>
          <a:xfrm>
            <a:off x="876300" y="241788"/>
            <a:ext cx="5041615" cy="6438412"/>
            <a:chOff x="876300" y="1422400"/>
            <a:chExt cx="4117134" cy="5257800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Rounded Rectangle 3">
                  <a:extLst>
                    <a:ext uri="{FF2B5EF4-FFF2-40B4-BE49-F238E27FC236}">
                      <a16:creationId xmlns:a16="http://schemas.microsoft.com/office/drawing/2014/main" id="{6FBED412-E6FA-0049-8887-E9D0A75B25EC}"/>
                    </a:ext>
                  </a:extLst>
                </p:cNvPr>
                <p:cNvSpPr/>
                <p:nvPr/>
              </p:nvSpPr>
              <p:spPr>
                <a:xfrm>
                  <a:off x="876300" y="1422400"/>
                  <a:ext cx="2438400" cy="762000"/>
                </a:xfrm>
                <a:prstGeom prst="roundRect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r>
                    <a:rPr lang="en-US" sz="2000" dirty="0"/>
                    <a:t>Start with coarse abstraction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𝓐</m:t>
                          </m:r>
                        </m:e>
                        <m:sub>
                          <m:r>
                            <a:rPr lang="en-US" sz="2000" b="1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𝟎</m:t>
                          </m:r>
                        </m:sub>
                        <m:sup>
                          <m:r>
                            <a:rPr lang="en-US" sz="2000" b="1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#</m:t>
                          </m:r>
                        </m:sup>
                      </m:sSubSup>
                    </m:oMath>
                  </a14:m>
                  <a:r>
                    <a:rPr lang="en-US" sz="2000" dirty="0"/>
                    <a:t>of</a:t>
                  </a:r>
                  <a:r>
                    <a:rPr lang="en-US" sz="2000" b="1" baseline="-25000" dirty="0"/>
                    <a:t> </a:t>
                  </a:r>
                  <a14:m>
                    <m:oMath xmlns:m="http://schemas.openxmlformats.org/officeDocument/2006/math">
                      <m:r>
                        <a:rPr lang="en-US" sz="2000" b="1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𝓐</m:t>
                      </m:r>
                    </m:oMath>
                  </a14:m>
                  <a:endParaRPr lang="en-US" sz="2000" b="1" baseline="-25000" dirty="0"/>
                </a:p>
              </p:txBody>
            </p:sp>
          </mc:Choice>
          <mc:Fallback>
            <p:sp>
              <p:nvSpPr>
                <p:cNvPr id="4" name="Rounded Rectangle 3">
                  <a:extLst>
                    <a:ext uri="{FF2B5EF4-FFF2-40B4-BE49-F238E27FC236}">
                      <a16:creationId xmlns:a16="http://schemas.microsoft.com/office/drawing/2014/main" id="{6FBED412-E6FA-0049-8887-E9D0A75B25E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6300" y="1422400"/>
                  <a:ext cx="2438400" cy="762000"/>
                </a:xfrm>
                <a:prstGeom prst="round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 w="381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Diamond 4">
                  <a:extLst>
                    <a:ext uri="{FF2B5EF4-FFF2-40B4-BE49-F238E27FC236}">
                      <a16:creationId xmlns:a16="http://schemas.microsoft.com/office/drawing/2014/main" id="{1A3D8B95-DA69-1147-BFB3-1D9856BC3FD3}"/>
                    </a:ext>
                  </a:extLst>
                </p:cNvPr>
                <p:cNvSpPr/>
                <p:nvPr/>
              </p:nvSpPr>
              <p:spPr>
                <a:xfrm>
                  <a:off x="914400" y="2628900"/>
                  <a:ext cx="2374900" cy="1270000"/>
                </a:xfrm>
                <a:prstGeom prst="diamond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r>
                    <a:rPr lang="en-US" sz="1600" dirty="0"/>
                    <a:t>Model Check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sz="1600" b="1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1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𝓐</m:t>
                          </m:r>
                        </m:e>
                        <m:sub>
                          <m:r>
                            <a:rPr lang="en-US" sz="1600" b="1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sz="1600" b="1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#</m:t>
                          </m:r>
                        </m:sup>
                      </m:sSubSup>
                      <m:r>
                        <a:rPr lang="en-US" sz="1600" b="1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sz="1600" dirty="0"/>
                    <a:t>satisfies </a:t>
                  </a:r>
                  <a:r>
                    <a:rPr lang="en-US" sz="1600" b="1" dirty="0"/>
                    <a:t>S </a:t>
                  </a:r>
                  <a:r>
                    <a:rPr lang="en-US" sz="2000" dirty="0"/>
                    <a:t>?</a:t>
                  </a:r>
                  <a:endParaRPr lang="en-US" sz="2000" b="1" baseline="-25000" dirty="0"/>
                </a:p>
              </p:txBody>
            </p:sp>
          </mc:Choice>
          <mc:Fallback>
            <p:sp>
              <p:nvSpPr>
                <p:cNvPr id="5" name="Diamond 4">
                  <a:extLst>
                    <a:ext uri="{FF2B5EF4-FFF2-40B4-BE49-F238E27FC236}">
                      <a16:creationId xmlns:a16="http://schemas.microsoft.com/office/drawing/2014/main" id="{1A3D8B95-DA69-1147-BFB3-1D9856BC3F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4400" y="2628900"/>
                  <a:ext cx="2374900" cy="1270000"/>
                </a:xfrm>
                <a:prstGeom prst="diamond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381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Diamond 5">
                  <a:extLst>
                    <a:ext uri="{FF2B5EF4-FFF2-40B4-BE49-F238E27FC236}">
                      <a16:creationId xmlns:a16="http://schemas.microsoft.com/office/drawing/2014/main" id="{1F889584-68CF-274C-A3BE-6F3DFB215D86}"/>
                    </a:ext>
                  </a:extLst>
                </p:cNvPr>
                <p:cNvSpPr/>
                <p:nvPr/>
              </p:nvSpPr>
              <p:spPr>
                <a:xfrm>
                  <a:off x="889000" y="4254500"/>
                  <a:ext cx="2413000" cy="1270000"/>
                </a:xfrm>
                <a:prstGeom prst="diamond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r>
                    <a:rPr lang="en-US" sz="2000" dirty="0">
                      <a:sym typeface="Symbol"/>
                    </a:rPr>
                    <a:t> </a:t>
                  </a:r>
                  <a:r>
                    <a:rPr lang="en-US" sz="2000" dirty="0"/>
                    <a:t>counter-example for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𝓐</m:t>
                          </m:r>
                        </m:e>
                        <m:sub>
                          <m:r>
                            <a:rPr lang="en-US" sz="2000" b="1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sz="2000" b="1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#</m:t>
                          </m:r>
                        </m:sup>
                      </m:sSubSup>
                    </m:oMath>
                  </a14:m>
                  <a:r>
                    <a:rPr lang="en-US" sz="2000" b="1" baseline="-25000" dirty="0"/>
                    <a:t> </a:t>
                  </a:r>
                  <a:r>
                    <a:rPr lang="en-US" sz="2000" b="1" dirty="0"/>
                    <a:t>?</a:t>
                  </a:r>
                </a:p>
              </p:txBody>
            </p:sp>
          </mc:Choice>
          <mc:Fallback>
            <p:sp>
              <p:nvSpPr>
                <p:cNvPr id="6" name="Diamond 5">
                  <a:extLst>
                    <a:ext uri="{FF2B5EF4-FFF2-40B4-BE49-F238E27FC236}">
                      <a16:creationId xmlns:a16="http://schemas.microsoft.com/office/drawing/2014/main" id="{1F889584-68CF-274C-A3BE-6F3DFB215D8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9000" y="4254500"/>
                  <a:ext cx="2413000" cy="1270000"/>
                </a:xfrm>
                <a:prstGeom prst="diamond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381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ED4A51E7-B419-DA4A-861E-04698B27BEA6}"/>
                    </a:ext>
                  </a:extLst>
                </p:cNvPr>
                <p:cNvSpPr/>
                <p:nvPr/>
              </p:nvSpPr>
              <p:spPr>
                <a:xfrm>
                  <a:off x="914400" y="5918200"/>
                  <a:ext cx="2362200" cy="762000"/>
                </a:xfrm>
                <a:prstGeom prst="roundRect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:r>
                    <a:rPr lang="en-US" sz="2000" dirty="0"/>
                    <a:t>Refine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𝓐</m:t>
                          </m:r>
                        </m:e>
                        <m:sub>
                          <m:r>
                            <a:rPr lang="en-US" sz="2000" b="1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sz="2000" b="1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#</m:t>
                          </m:r>
                        </m:sup>
                      </m:sSubSup>
                    </m:oMath>
                  </a14:m>
                  <a:r>
                    <a:rPr lang="en-US" sz="2000" b="1" baseline="30000" dirty="0"/>
                    <a:t> </a:t>
                  </a:r>
                  <a:r>
                    <a:rPr lang="en-US" sz="2000" dirty="0"/>
                    <a:t>to get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sz="2000" b="1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000" b="1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𝓐</m:t>
                          </m:r>
                        </m:e>
                        <m:sub>
                          <m:r>
                            <a:rPr lang="en-US" sz="2000" b="1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𝒊</m:t>
                          </m:r>
                          <m:r>
                            <a:rPr lang="en-US" sz="2000" b="1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000" b="1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#</m:t>
                          </m:r>
                        </m:sup>
                      </m:sSubSup>
                    </m:oMath>
                  </a14:m>
                  <a:endParaRPr lang="en-US" sz="2000" b="1" baseline="-25000" dirty="0"/>
                </a:p>
              </p:txBody>
            </p:sp>
          </mc:Choice>
          <mc:Fallback>
            <p:sp>
              <p:nvSpPr>
                <p:cNvPr id="7" name="Rounded Rectangle 6">
                  <a:extLst>
                    <a:ext uri="{FF2B5EF4-FFF2-40B4-BE49-F238E27FC236}">
                      <a16:creationId xmlns:a16="http://schemas.microsoft.com/office/drawing/2014/main" id="{ED4A51E7-B419-DA4A-861E-04698B27BE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4400" y="5918200"/>
                  <a:ext cx="2362200" cy="762000"/>
                </a:xfrm>
                <a:prstGeom prst="round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381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Elbow Connector 7">
              <a:extLst>
                <a:ext uri="{FF2B5EF4-FFF2-40B4-BE49-F238E27FC236}">
                  <a16:creationId xmlns:a16="http://schemas.microsoft.com/office/drawing/2014/main" id="{790DCF74-BBBF-E249-B8D7-C6067E070E29}"/>
                </a:ext>
              </a:extLst>
            </p:cNvPr>
            <p:cNvCxnSpPr>
              <a:cxnSpLocks noChangeShapeType="1"/>
              <a:stCxn id="7" idx="1"/>
              <a:endCxn id="4" idx="1"/>
            </p:cNvCxnSpPr>
            <p:nvPr/>
          </p:nvCxnSpPr>
          <p:spPr bwMode="auto">
            <a:xfrm rot="10800000">
              <a:off x="876300" y="1803400"/>
              <a:ext cx="38100" cy="4495800"/>
            </a:xfrm>
            <a:prstGeom prst="bentConnector3">
              <a:avLst>
                <a:gd name="adj1" fmla="val 1280000"/>
              </a:avLst>
            </a:prstGeom>
            <a:noFill/>
            <a:ln w="38100" algn="ctr">
              <a:solidFill>
                <a:schemeClr val="tx1"/>
              </a:solidFill>
              <a:miter lim="800000"/>
              <a:headEnd type="none" w="med" len="med"/>
              <a:tailEnd type="triangle" w="med" len="med"/>
            </a:ln>
            <a:effectLst>
              <a:outerShdw dist="20000" dir="5400000" rotWithShape="0">
                <a:srgbClr val="808080">
                  <a:alpha val="37999"/>
                </a:srgbClr>
              </a:outerShdw>
            </a:effectLst>
          </p:spPr>
        </p:cxnSp>
        <p:sp>
          <p:nvSpPr>
            <p:cNvPr id="9" name="Rectangle 12">
              <a:extLst>
                <a:ext uri="{FF2B5EF4-FFF2-40B4-BE49-F238E27FC236}">
                  <a16:creationId xmlns:a16="http://schemas.microsoft.com/office/drawing/2014/main" id="{BF958840-443C-3F4C-A346-A10481C0D9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20925" y="3879850"/>
              <a:ext cx="1522699" cy="326742"/>
            </a:xfrm>
            <a:prstGeom prst="rect">
              <a:avLst/>
            </a:prstGeom>
            <a:noFill/>
            <a:ln w="38100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2000">
                  <a:sym typeface="Symbol" pitchFamily="-64" charset="2"/>
                </a:rPr>
                <a:t> = q</a:t>
              </a:r>
              <a:r>
                <a:rPr lang="en-US" sz="2000" baseline="-25000">
                  <a:sym typeface="Symbol" pitchFamily="-64" charset="2"/>
                </a:rPr>
                <a:t>0</a:t>
              </a:r>
              <a:r>
                <a:rPr lang="en-US" sz="2000">
                  <a:sym typeface="Symbol" pitchFamily="-64" charset="2"/>
                </a:rPr>
                <a:t> q</a:t>
              </a:r>
              <a:r>
                <a:rPr lang="en-US" sz="2000" baseline="-25000">
                  <a:sym typeface="Symbol" pitchFamily="-64" charset="2"/>
                </a:rPr>
                <a:t>1</a:t>
              </a:r>
              <a:r>
                <a:rPr lang="en-US" sz="2000">
                  <a:sym typeface="Symbol" pitchFamily="-64" charset="2"/>
                </a:rPr>
                <a:t> q</a:t>
              </a:r>
              <a:r>
                <a:rPr lang="en-US" sz="2000" baseline="-25000">
                  <a:sym typeface="Symbol" pitchFamily="-64" charset="2"/>
                </a:rPr>
                <a:t>2</a:t>
              </a:r>
              <a:r>
                <a:rPr lang="en-US" sz="2000">
                  <a:sym typeface="Symbol" pitchFamily="-64" charset="2"/>
                </a:rPr>
                <a:t> … q</a:t>
              </a:r>
              <a:r>
                <a:rPr lang="en-US" sz="2000" baseline="-25000">
                  <a:sym typeface="Symbol" pitchFamily="-64" charset="2"/>
                </a:rPr>
                <a:t>n</a:t>
              </a:r>
              <a:endParaRPr lang="en-US" sz="2000" baseline="-2500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C815213-961D-F643-87FA-B8E1268C0796}"/>
                </a:ext>
              </a:extLst>
            </p:cNvPr>
            <p:cNvCxnSpPr>
              <a:cxnSpLocks noChangeShapeType="1"/>
              <a:stCxn id="4" idx="2"/>
              <a:endCxn id="5" idx="0"/>
            </p:cNvCxnSpPr>
            <p:nvPr/>
          </p:nvCxnSpPr>
          <p:spPr bwMode="auto">
            <a:xfrm rot="16200000" flipH="1">
              <a:off x="1876425" y="2403475"/>
              <a:ext cx="444500" cy="6350"/>
            </a:xfrm>
            <a:prstGeom prst="straightConnector1">
              <a:avLst/>
            </a:prstGeom>
            <a:noFill/>
            <a:ln w="38100" algn="ctr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ffectLst>
              <a:outerShdw dist="20000" dir="5400000" rotWithShape="0">
                <a:srgbClr val="808080">
                  <a:alpha val="37999"/>
                </a:srgbClr>
              </a:outerShdw>
            </a:effectLst>
          </p:spPr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B2E1341-0307-724B-A6F5-5424F959A8F7}"/>
                </a:ext>
              </a:extLst>
            </p:cNvPr>
            <p:cNvCxnSpPr>
              <a:cxnSpLocks noChangeShapeType="1"/>
              <a:stCxn id="5" idx="2"/>
              <a:endCxn id="6" idx="0"/>
            </p:cNvCxnSpPr>
            <p:nvPr/>
          </p:nvCxnSpPr>
          <p:spPr bwMode="auto">
            <a:xfrm rot="5400000">
              <a:off x="1920875" y="4073525"/>
              <a:ext cx="355600" cy="6350"/>
            </a:xfrm>
            <a:prstGeom prst="straightConnector1">
              <a:avLst/>
            </a:prstGeom>
            <a:noFill/>
            <a:ln w="38100" algn="ctr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ffectLst>
              <a:outerShdw dist="20000" dir="5400000" rotWithShape="0">
                <a:srgbClr val="808080">
                  <a:alpha val="37999"/>
                </a:srgbClr>
              </a:outerShdw>
            </a:effectLst>
          </p:spPr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E2D75B6-C912-7E46-8B72-4300F615910C}"/>
                </a:ext>
              </a:extLst>
            </p:cNvPr>
            <p:cNvCxnSpPr>
              <a:cxnSpLocks noChangeShapeType="1"/>
              <a:stCxn id="6" idx="2"/>
              <a:endCxn id="7" idx="0"/>
            </p:cNvCxnSpPr>
            <p:nvPr/>
          </p:nvCxnSpPr>
          <p:spPr bwMode="auto">
            <a:xfrm rot="5400000">
              <a:off x="1898651" y="5721350"/>
              <a:ext cx="393700" cy="3175"/>
            </a:xfrm>
            <a:prstGeom prst="straightConnector1">
              <a:avLst/>
            </a:prstGeom>
            <a:noFill/>
            <a:ln w="38100" algn="ctr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ffectLst>
              <a:outerShdw dist="20000" dir="5400000" rotWithShape="0">
                <a:srgbClr val="808080">
                  <a:alpha val="37999"/>
                </a:srgbClr>
              </a:outerShdw>
            </a:effectLst>
          </p:spPr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5A1721DF-6474-1A4C-BC96-ED9B60D08436}"/>
                </a:ext>
              </a:extLst>
            </p:cNvPr>
            <p:cNvCxnSpPr>
              <a:cxnSpLocks noChangeShapeType="1"/>
              <a:stCxn id="5" idx="3"/>
              <a:endCxn id="14" idx="2"/>
            </p:cNvCxnSpPr>
            <p:nvPr/>
          </p:nvCxnSpPr>
          <p:spPr bwMode="auto">
            <a:xfrm>
              <a:off x="3289299" y="3263900"/>
              <a:ext cx="559593" cy="0"/>
            </a:xfrm>
            <a:prstGeom prst="straightConnector1">
              <a:avLst/>
            </a:prstGeom>
            <a:noFill/>
            <a:ln w="38100" algn="ctr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ffectLst>
              <a:outerShdw dist="20000" dir="5400000" rotWithShape="0">
                <a:srgbClr val="808080">
                  <a:alpha val="37999"/>
                </a:srgbClr>
              </a:outerShdw>
            </a:effectLst>
          </p:spPr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C47011D3-732D-A240-8F80-DAE166ED73B7}"/>
                    </a:ext>
                  </a:extLst>
                </p:cNvPr>
                <p:cNvSpPr/>
                <p:nvPr/>
              </p:nvSpPr>
              <p:spPr>
                <a:xfrm>
                  <a:off x="3848893" y="2917824"/>
                  <a:ext cx="1041060" cy="692150"/>
                </a:xfrm>
                <a:prstGeom prst="ellips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2"/>
                </a:lnRef>
                <a:fillRef idx="1">
                  <a:schemeClr val="lt1"/>
                </a:fillRef>
                <a:effectRef idx="0">
                  <a:schemeClr val="accent2"/>
                </a:effectRef>
                <a:fontRef idx="minor">
                  <a:schemeClr val="dk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14:m>
                    <m:oMath xmlns:m="http://schemas.openxmlformats.org/officeDocument/2006/math">
                      <m:r>
                        <a:rPr lang="en-US" sz="2000" b="1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𝓐</m:t>
                      </m:r>
                    </m:oMath>
                  </a14:m>
                  <a:r>
                    <a:rPr lang="en-US" sz="2000" dirty="0"/>
                    <a:t> is safe</a:t>
                  </a:r>
                </a:p>
              </p:txBody>
            </p:sp>
          </mc:Choice>
          <mc:Fallback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C47011D3-732D-A240-8F80-DAE166ED73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8893" y="2917824"/>
                  <a:ext cx="1041060" cy="692150"/>
                </a:xfrm>
                <a:prstGeom prst="ellipse">
                  <a:avLst/>
                </a:prstGeom>
                <a:blipFill>
                  <a:blip r:embed="rId6"/>
                  <a:stretch>
                    <a:fillRect b="-1408"/>
                  </a:stretch>
                </a:blipFill>
                <a:ln w="381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TextBox 49">
              <a:extLst>
                <a:ext uri="{FF2B5EF4-FFF2-40B4-BE49-F238E27FC236}">
                  <a16:creationId xmlns:a16="http://schemas.microsoft.com/office/drawing/2014/main" id="{4A4F7EA9-6C0A-4A4E-9170-C5720CE0DE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46438" y="2873375"/>
              <a:ext cx="425078" cy="326742"/>
            </a:xfrm>
            <a:prstGeom prst="rect">
              <a:avLst/>
            </a:prstGeom>
            <a:noFill/>
            <a:ln w="38100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2000"/>
                <a:t>Yes</a:t>
              </a:r>
            </a:p>
          </p:txBody>
        </p:sp>
        <p:sp>
          <p:nvSpPr>
            <p:cNvPr id="16" name="TextBox 50">
              <a:extLst>
                <a:ext uri="{FF2B5EF4-FFF2-40B4-BE49-F238E27FC236}">
                  <a16:creationId xmlns:a16="http://schemas.microsoft.com/office/drawing/2014/main" id="{836E0A55-CF4B-D348-9B0B-FA833C6F461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84325" y="3894138"/>
              <a:ext cx="395598" cy="326742"/>
            </a:xfrm>
            <a:prstGeom prst="rect">
              <a:avLst/>
            </a:prstGeom>
            <a:noFill/>
            <a:ln w="38100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2000"/>
                <a:t>No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CFE66E19-0ACF-074D-A802-8253BC4157E1}"/>
                    </a:ext>
                  </a:extLst>
                </p:cNvPr>
                <p:cNvSpPr/>
                <p:nvPr/>
              </p:nvSpPr>
              <p:spPr>
                <a:xfrm>
                  <a:off x="3817938" y="4541838"/>
                  <a:ext cx="1175496" cy="693737"/>
                </a:xfrm>
                <a:prstGeom prst="ellipse">
                  <a:avLst/>
                </a:prstGeom>
                <a:ln w="38100">
                  <a:solidFill>
                    <a:schemeClr val="tx1"/>
                  </a:solidFill>
                </a:ln>
              </p:spPr>
              <p:style>
                <a:lnRef idx="2">
                  <a:schemeClr val="accent2"/>
                </a:lnRef>
                <a:fillRef idx="1">
                  <a:schemeClr val="lt1"/>
                </a:fillRef>
                <a:effectRef idx="0">
                  <a:schemeClr val="accent2"/>
                </a:effectRef>
                <a:fontRef idx="minor">
                  <a:schemeClr val="dk1"/>
                </a:fontRef>
              </p:style>
              <p:txBody>
                <a:bodyPr anchor="ctr"/>
                <a:lstStyle/>
                <a:p>
                  <a:pPr algn="ctr">
                    <a:defRPr/>
                  </a:pPr>
                  <a14:m>
                    <m:oMath xmlns:m="http://schemas.openxmlformats.org/officeDocument/2006/math">
                      <m:r>
                        <a:rPr lang="en-US" sz="2000" b="1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𝓐</m:t>
                      </m:r>
                    </m:oMath>
                  </a14:m>
                  <a:r>
                    <a:rPr lang="en-US" sz="2000" dirty="0"/>
                    <a:t> unsafe</a:t>
                  </a:r>
                </a:p>
              </p:txBody>
            </p:sp>
          </mc:Choice>
          <mc:Fallback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CFE66E19-0ACF-074D-A802-8253BC4157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7938" y="4541838"/>
                  <a:ext cx="1175496" cy="693737"/>
                </a:xfrm>
                <a:prstGeom prst="ellipse">
                  <a:avLst/>
                </a:prstGeom>
                <a:blipFill>
                  <a:blip r:embed="rId7"/>
                  <a:stretch>
                    <a:fillRect b="-1408"/>
                  </a:stretch>
                </a:blipFill>
                <a:ln w="3810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1232F87-F466-C246-B0A7-A630B9659EF6}"/>
                </a:ext>
              </a:extLst>
            </p:cNvPr>
            <p:cNvCxnSpPr>
              <a:cxnSpLocks noChangeShapeType="1"/>
              <a:stCxn id="6" idx="3"/>
              <a:endCxn id="17" idx="2"/>
            </p:cNvCxnSpPr>
            <p:nvPr/>
          </p:nvCxnSpPr>
          <p:spPr bwMode="auto">
            <a:xfrm flipV="1">
              <a:off x="3302001" y="4888707"/>
              <a:ext cx="515937" cy="794"/>
            </a:xfrm>
            <a:prstGeom prst="straightConnector1">
              <a:avLst/>
            </a:prstGeom>
            <a:noFill/>
            <a:ln w="38100" algn="ctr">
              <a:solidFill>
                <a:schemeClr val="tx1"/>
              </a:solidFill>
              <a:round/>
              <a:headEnd type="none" w="med" len="med"/>
              <a:tailEnd type="triangle" w="med" len="med"/>
            </a:ln>
            <a:effectLst>
              <a:outerShdw dist="20000" dir="5400000" rotWithShape="0">
                <a:srgbClr val="808080">
                  <a:alpha val="37999"/>
                </a:srgbClr>
              </a:outerShdw>
            </a:effectLst>
          </p:spPr>
        </p:cxnSp>
        <p:sp>
          <p:nvSpPr>
            <p:cNvPr id="19" name="TextBox 55">
              <a:extLst>
                <a:ext uri="{FF2B5EF4-FFF2-40B4-BE49-F238E27FC236}">
                  <a16:creationId xmlns:a16="http://schemas.microsoft.com/office/drawing/2014/main" id="{3F4C4461-B45D-584B-A42C-6802B6F9EF1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68663" y="4511675"/>
              <a:ext cx="425078" cy="326742"/>
            </a:xfrm>
            <a:prstGeom prst="rect">
              <a:avLst/>
            </a:prstGeom>
            <a:noFill/>
            <a:ln w="38100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2000"/>
                <a:t>Yes</a:t>
              </a:r>
            </a:p>
          </p:txBody>
        </p:sp>
        <p:sp>
          <p:nvSpPr>
            <p:cNvPr id="20" name="TextBox 56">
              <a:extLst>
                <a:ext uri="{FF2B5EF4-FFF2-40B4-BE49-F238E27FC236}">
                  <a16:creationId xmlns:a16="http://schemas.microsoft.com/office/drawing/2014/main" id="{46178A12-7577-7F4A-8587-29D6B372BF9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16075" y="5516563"/>
              <a:ext cx="395598" cy="326742"/>
            </a:xfrm>
            <a:prstGeom prst="rect">
              <a:avLst/>
            </a:prstGeom>
            <a:noFill/>
            <a:ln w="38100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2000"/>
                <a:t>No</a:t>
              </a:r>
            </a:p>
          </p:txBody>
        </p:sp>
      </p:grpSp>
      <p:sp>
        <p:nvSpPr>
          <p:cNvPr id="22" name="Title 5">
            <a:extLst>
              <a:ext uri="{FF2B5EF4-FFF2-40B4-BE49-F238E27FC236}">
                <a16:creationId xmlns:a16="http://schemas.microsoft.com/office/drawing/2014/main" id="{F75E9478-795B-3245-808F-CF51FC80407E}"/>
              </a:ext>
            </a:extLst>
          </p:cNvPr>
          <p:cNvSpPr txBox="1">
            <a:spLocks/>
          </p:cNvSpPr>
          <p:nvPr/>
        </p:nvSpPr>
        <p:spPr>
          <a:xfrm>
            <a:off x="6408580" y="1709738"/>
            <a:ext cx="4938870" cy="28527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Idea of CEGAR</a:t>
            </a:r>
          </a:p>
        </p:txBody>
      </p:sp>
    </p:spTree>
    <p:extLst>
      <p:ext uri="{BB962C8B-B14F-4D97-AF65-F5344CB8AC3E}">
        <p14:creationId xmlns:p14="http://schemas.microsoft.com/office/powerpoint/2010/main" val="39247108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27AFA-DCF8-BC5F-5CE3-A0AC0024A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Predicate Abstraction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D6DB87B-BB1D-3696-8B93-36AC656556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0" dirty="0"/>
                  <a:t>Given an automaton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=⟨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dirty="0" smtClean="0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a:rPr lang="en-US" b="0" i="0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dirty="0"/>
                  <a:t> and a set of predicates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,…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dirty="0"/>
                  <a:t> the predicate abstraction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is defined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𝑃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</m:sub>
                        </m:sSub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𝑃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𝑃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where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dirty="0"/>
                  <a:t>	</a:t>
                </a:r>
                <a:r>
                  <a:rPr lang="en-US" b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𝑞</m:t>
                    </m:r>
                  </m:oMath>
                </a14:m>
                <a:endParaRPr lang="en-US" dirty="0"/>
              </a:p>
              <a:p>
                <a:r>
                  <a:rPr lang="en-US" dirty="0"/>
                  <a:t>Given a concrete state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D6DB87B-BB1D-3696-8B93-36AC656556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78FFCB5E-49DE-702B-5C53-E02BE03BE8A2}"/>
              </a:ext>
            </a:extLst>
          </p:cNvPr>
          <p:cNvSpPr txBox="1"/>
          <p:nvPr/>
        </p:nvSpPr>
        <p:spPr>
          <a:xfrm>
            <a:off x="3796747" y="6228019"/>
            <a:ext cx="907442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Flanagan, C., &amp; Qadeer, S. (2002, January). Predicate abstraction for software verification. POPL 2002</a:t>
            </a:r>
          </a:p>
          <a:p>
            <a:r>
              <a:rPr lang="en-US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Ball, T., Majumdar, R., Millstein, T., &amp; </a:t>
            </a:r>
            <a:r>
              <a:rPr lang="en-US" sz="14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Rajamani</a:t>
            </a:r>
            <a:r>
              <a:rPr lang="en-US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, S. K. (2001, May). PLDI 2001</a:t>
            </a:r>
          </a:p>
          <a:p>
            <a:endParaRPr lang="en-US" sz="1400" dirty="0">
              <a:solidFill>
                <a:srgbClr val="222222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09619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2B17C-E0ED-B243-808E-5747394F6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design choices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A8FFB-0F73-1544-947D-F8F121CCC0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Space of the abstract automata (finite, timed, linear)</a:t>
            </a:r>
          </a:p>
          <a:p>
            <a:r>
              <a:rPr lang="en-US" dirty="0"/>
              <a:t>Model checker for abstract automaton</a:t>
            </a:r>
          </a:p>
          <a:p>
            <a:r>
              <a:rPr lang="en-US" dirty="0"/>
              <a:t>Counter-example validation procedure</a:t>
            </a:r>
          </a:p>
          <a:p>
            <a:r>
              <a:rPr lang="en-US" dirty="0"/>
              <a:t>Refinement strategy</a:t>
            </a:r>
          </a:p>
        </p:txBody>
      </p:sp>
    </p:spTree>
    <p:extLst>
      <p:ext uri="{BB962C8B-B14F-4D97-AF65-F5344CB8AC3E}">
        <p14:creationId xmlns:p14="http://schemas.microsoft.com/office/powerpoint/2010/main" val="10718937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49">
            <a:extLst>
              <a:ext uri="{FF2B5EF4-FFF2-40B4-BE49-F238E27FC236}">
                <a16:creationId xmlns:a16="http://schemas.microsoft.com/office/drawing/2014/main" id="{2D9F7530-91FC-6E4F-A637-0460AAD2DE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24243" y="725936"/>
            <a:ext cx="6882431" cy="639553"/>
          </a:xfrm>
          <a:prstGeom prst="rect">
            <a:avLst/>
          </a:prstGeom>
          <a:pattFill prst="pct70">
            <a:fgClr>
              <a:schemeClr val="bg1"/>
            </a:fgClr>
            <a:bgClr>
              <a:schemeClr val="bg1">
                <a:lumMod val="50000"/>
              </a:schemeClr>
            </a:bgClr>
          </a:patt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BE25FD5-CAEC-204F-AFE0-AC808DA728CB}"/>
              </a:ext>
            </a:extLst>
          </p:cNvPr>
          <p:cNvGraphicFramePr>
            <a:graphicFrameLocks noGrp="1"/>
          </p:cNvGraphicFramePr>
          <p:nvPr/>
        </p:nvGraphicFramePr>
        <p:xfrm>
          <a:off x="2031998" y="719666"/>
          <a:ext cx="6874600" cy="4521902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687460">
                  <a:extLst>
                    <a:ext uri="{9D8B030D-6E8A-4147-A177-3AD203B41FA5}">
                      <a16:colId xmlns:a16="http://schemas.microsoft.com/office/drawing/2014/main" val="669224915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898720271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792310717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1913471449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1954836678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1569802907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2212562748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240152634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4096169174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3031365251"/>
                    </a:ext>
                  </a:extLst>
                </a:gridCol>
              </a:tblGrid>
              <a:tr h="645986"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704936"/>
                  </a:ext>
                </a:extLst>
              </a:tr>
              <a:tr h="645986"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0151067"/>
                  </a:ext>
                </a:extLst>
              </a:tr>
              <a:tr h="645986"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0772701"/>
                  </a:ext>
                </a:extLst>
              </a:tr>
              <a:tr h="645986"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4089959"/>
                  </a:ext>
                </a:extLst>
              </a:tr>
              <a:tr h="645986"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2168905"/>
                  </a:ext>
                </a:extLst>
              </a:tr>
              <a:tr h="645986"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9368781"/>
                  </a:ext>
                </a:extLst>
              </a:tr>
              <a:tr h="645986"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7540600"/>
                  </a:ext>
                </a:extLst>
              </a:tr>
            </a:tbl>
          </a:graphicData>
        </a:graphic>
      </p:graphicFrame>
      <p:grpSp>
        <p:nvGrpSpPr>
          <p:cNvPr id="16" name="Group 15">
            <a:extLst>
              <a:ext uri="{FF2B5EF4-FFF2-40B4-BE49-F238E27FC236}">
                <a16:creationId xmlns:a16="http://schemas.microsoft.com/office/drawing/2014/main" id="{31349604-F57C-4441-99FB-21FD14359886}"/>
              </a:ext>
            </a:extLst>
          </p:cNvPr>
          <p:cNvGrpSpPr/>
          <p:nvPr/>
        </p:nvGrpSpPr>
        <p:grpSpPr>
          <a:xfrm>
            <a:off x="2230106" y="1905233"/>
            <a:ext cx="6422067" cy="2792369"/>
            <a:chOff x="2832951" y="1959528"/>
            <a:chExt cx="5345112" cy="2324100"/>
          </a:xfrm>
        </p:grpSpPr>
        <p:sp>
          <p:nvSpPr>
            <p:cNvPr id="4" name="Oval 127">
              <a:extLst>
                <a:ext uri="{FF2B5EF4-FFF2-40B4-BE49-F238E27FC236}">
                  <a16:creationId xmlns:a16="http://schemas.microsoft.com/office/drawing/2014/main" id="{2635F9CB-2268-4D4A-946C-B85A82D4E5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6014" y="2299253"/>
              <a:ext cx="4633913" cy="164465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" name="Line 128">
              <a:extLst>
                <a:ext uri="{FF2B5EF4-FFF2-40B4-BE49-F238E27FC236}">
                  <a16:creationId xmlns:a16="http://schemas.microsoft.com/office/drawing/2014/main" id="{165E9D23-D49F-AF47-B754-D3CD7D32828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58054" y="2350955"/>
              <a:ext cx="166810" cy="2239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lg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" name="Line 129">
              <a:extLst>
                <a:ext uri="{FF2B5EF4-FFF2-40B4-BE49-F238E27FC236}">
                  <a16:creationId xmlns:a16="http://schemas.microsoft.com/office/drawing/2014/main" id="{34061FD7-4E72-4C4F-94D2-46A7D765BFC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35908" y="3847066"/>
              <a:ext cx="305455" cy="457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lg"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7" name="Group 130">
              <a:extLst>
                <a:ext uri="{FF2B5EF4-FFF2-40B4-BE49-F238E27FC236}">
                  <a16:creationId xmlns:a16="http://schemas.microsoft.com/office/drawing/2014/main" id="{6F37BA39-B7B7-D645-B56B-77F4A5F7A34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32951" y="1959528"/>
              <a:ext cx="5345112" cy="2324100"/>
              <a:chOff x="1420" y="1898"/>
              <a:chExt cx="2919" cy="1036"/>
            </a:xfrm>
          </p:grpSpPr>
          <p:sp>
            <p:nvSpPr>
              <p:cNvPr id="8" name="Oval 131">
                <a:extLst>
                  <a:ext uri="{FF2B5EF4-FFF2-40B4-BE49-F238E27FC236}">
                    <a16:creationId xmlns:a16="http://schemas.microsoft.com/office/drawing/2014/main" id="{2CF09052-5AD5-E94B-8758-07568264B0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20" y="1898"/>
                <a:ext cx="2919" cy="1036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9" name="Line 132">
                <a:extLst>
                  <a:ext uri="{FF2B5EF4-FFF2-40B4-BE49-F238E27FC236}">
                    <a16:creationId xmlns:a16="http://schemas.microsoft.com/office/drawing/2014/main" id="{43CDD12A-392F-B44E-814B-C1FD3B607A9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20" y="1953"/>
                <a:ext cx="119" cy="2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arrow" w="med" len="lg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0" name="Line 133">
                <a:extLst>
                  <a:ext uri="{FF2B5EF4-FFF2-40B4-BE49-F238E27FC236}">
                    <a16:creationId xmlns:a16="http://schemas.microsoft.com/office/drawing/2014/main" id="{1F794BB2-FA98-7E42-A1C3-2F6B474B5E0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234" y="2911"/>
                <a:ext cx="99" cy="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arrow" w="med" len="lg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1" name="Oval 135">
              <a:extLst>
                <a:ext uri="{FF2B5EF4-FFF2-40B4-BE49-F238E27FC236}">
                  <a16:creationId xmlns:a16="http://schemas.microsoft.com/office/drawing/2014/main" id="{65CBFBE5-234E-A24B-8AD3-B191A5E61F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12413" y="2586591"/>
              <a:ext cx="3887788" cy="1103312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" name="Line 136">
              <a:extLst>
                <a:ext uri="{FF2B5EF4-FFF2-40B4-BE49-F238E27FC236}">
                  <a16:creationId xmlns:a16="http://schemas.microsoft.com/office/drawing/2014/main" id="{351EC032-E04E-0143-8948-FA8B1E3AF6B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22222" y="2731393"/>
              <a:ext cx="214672" cy="669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lg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" name="Line 137">
              <a:extLst>
                <a:ext uri="{FF2B5EF4-FFF2-40B4-BE49-F238E27FC236}">
                  <a16:creationId xmlns:a16="http://schemas.microsoft.com/office/drawing/2014/main" id="{6AE8B8B6-FC21-5242-9B0B-CB4C228BAA6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222263" y="3624816"/>
              <a:ext cx="273050" cy="301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lg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" name="Oval 144">
              <a:extLst>
                <a:ext uri="{FF2B5EF4-FFF2-40B4-BE49-F238E27FC236}">
                  <a16:creationId xmlns:a16="http://schemas.microsoft.com/office/drawing/2014/main" id="{4F0D6567-1BD6-3849-A0AA-946C1940F4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60153" y="2127779"/>
              <a:ext cx="4923082" cy="1974140"/>
            </a:xfrm>
            <a:prstGeom prst="ellipse">
              <a:avLst/>
            </a:prstGeom>
            <a:noFill/>
            <a:ln w="279400">
              <a:solidFill>
                <a:schemeClr val="bg1">
                  <a:lumMod val="65000"/>
                </a:schemeClr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 149">
                <a:extLst>
                  <a:ext uri="{FF2B5EF4-FFF2-40B4-BE49-F238E27FC236}">
                    <a16:creationId xmlns:a16="http://schemas.microsoft.com/office/drawing/2014/main" id="{34329596-E3E7-7B49-9BBA-9709765231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87212" y="3113148"/>
                <a:ext cx="265216" cy="193359"/>
              </a:xfrm>
              <a:prstGeom prst="rect">
                <a:avLst/>
              </a:prstGeom>
              <a:pattFill prst="narHorz">
                <a:fgClr>
                  <a:schemeClr val="bg1"/>
                </a:fgClr>
                <a:bgClr>
                  <a:schemeClr val="bg1">
                    <a:lumMod val="50000"/>
                  </a:schemeClr>
                </a:bgClr>
              </a:pattFill>
              <a:ln w="9525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Rectangle 149">
                <a:extLst>
                  <a:ext uri="{FF2B5EF4-FFF2-40B4-BE49-F238E27FC236}">
                    <a16:creationId xmlns:a16="http://schemas.microsoft.com/office/drawing/2014/main" id="{34329596-E3E7-7B49-9BBA-9709765231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87212" y="3113148"/>
                <a:ext cx="265216" cy="193359"/>
              </a:xfrm>
              <a:prstGeom prst="rect">
                <a:avLst/>
              </a:prstGeom>
              <a:blipFill>
                <a:blip r:embed="rId2"/>
                <a:stretch>
                  <a:fillRect t="-6250" r="-18182" b="-2500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A70C638-714A-3142-990F-232B8DE7FA7A}"/>
                  </a:ext>
                </a:extLst>
              </p:cNvPr>
              <p:cNvSpPr txBox="1"/>
              <p:nvPr/>
            </p:nvSpPr>
            <p:spPr>
              <a:xfrm>
                <a:off x="2003304" y="830638"/>
                <a:ext cx="128464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𝑈𝑛𝑠𝑎𝑓𝑒</m:t>
                      </m:r>
                    </m:oMath>
                  </m:oMathPara>
                </a14:m>
                <a:endParaRPr lang="en-US" sz="24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A70C638-714A-3142-990F-232B8DE7FA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3304" y="830638"/>
                <a:ext cx="1284647" cy="461665"/>
              </a:xfrm>
              <a:prstGeom prst="rect">
                <a:avLst/>
              </a:prstGeom>
              <a:blipFill>
                <a:blip r:embed="rId3"/>
                <a:stretch>
                  <a:fillRect l="-980" b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A77E7FB-3AD3-EA47-A682-E20A2C8D63A7}"/>
                  </a:ext>
                </a:extLst>
              </p:cNvPr>
              <p:cNvSpPr txBox="1"/>
              <p:nvPr/>
            </p:nvSpPr>
            <p:spPr>
              <a:xfrm>
                <a:off x="5385188" y="3312083"/>
                <a:ext cx="7344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(0,0)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A77E7FB-3AD3-EA47-A682-E20A2C8D63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5188" y="3312083"/>
                <a:ext cx="734496" cy="369332"/>
              </a:xfrm>
              <a:prstGeom prst="rect">
                <a:avLst/>
              </a:prstGeom>
              <a:blipFill>
                <a:blip r:embed="rId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5CCD7D-9EB8-2947-9510-B51510EE7511}"/>
                  </a:ext>
                </a:extLst>
              </p:cNvPr>
              <p:cNvSpPr txBox="1"/>
              <p:nvPr/>
            </p:nvSpPr>
            <p:spPr>
              <a:xfrm>
                <a:off x="1952116" y="2573351"/>
                <a:ext cx="55528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5CCD7D-9EB8-2947-9510-B51510EE75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2116" y="2573351"/>
                <a:ext cx="555280" cy="461665"/>
              </a:xfrm>
              <a:prstGeom prst="rect">
                <a:avLst/>
              </a:prstGeom>
              <a:blipFill>
                <a:blip r:embed="rId5"/>
                <a:stretch>
                  <a:fillRect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5484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CA36FDA2-F6E9-6F41-BBD7-F54392ADF80B}"/>
              </a:ext>
            </a:extLst>
          </p:cNvPr>
          <p:cNvGraphicFramePr>
            <a:graphicFrameLocks noGrp="1"/>
          </p:cNvGraphicFramePr>
          <p:nvPr/>
        </p:nvGraphicFramePr>
        <p:xfrm>
          <a:off x="2018149" y="719665"/>
          <a:ext cx="6874600" cy="4521902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687460">
                  <a:extLst>
                    <a:ext uri="{9D8B030D-6E8A-4147-A177-3AD203B41FA5}">
                      <a16:colId xmlns:a16="http://schemas.microsoft.com/office/drawing/2014/main" val="669224915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898720271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792310717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1913471449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1954836678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1569802907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2212562748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240152634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4096169174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3031365251"/>
                    </a:ext>
                  </a:extLst>
                </a:gridCol>
              </a:tblGrid>
              <a:tr h="645986"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704936"/>
                  </a:ext>
                </a:extLst>
              </a:tr>
              <a:tr h="645986"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dkDnDiag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dkDnDiag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dkDnDiag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0151067"/>
                  </a:ext>
                </a:extLst>
              </a:tr>
              <a:tr h="645986"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pct25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pct25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dkDnDiag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0772701"/>
                  </a:ext>
                </a:extLst>
              </a:tr>
              <a:tr h="645986"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pct10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pct25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dkDnDiag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4089959"/>
                  </a:ext>
                </a:extLst>
              </a:tr>
              <a:tr h="645986"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2168905"/>
                  </a:ext>
                </a:extLst>
              </a:tr>
              <a:tr h="645986"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9368781"/>
                  </a:ext>
                </a:extLst>
              </a:tr>
              <a:tr h="645986"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7540600"/>
                  </a:ext>
                </a:extLst>
              </a:tr>
            </a:tbl>
          </a:graphicData>
        </a:graphic>
      </p:graphicFrame>
      <p:grpSp>
        <p:nvGrpSpPr>
          <p:cNvPr id="4" name="Group 3">
            <a:extLst>
              <a:ext uri="{FF2B5EF4-FFF2-40B4-BE49-F238E27FC236}">
                <a16:creationId xmlns:a16="http://schemas.microsoft.com/office/drawing/2014/main" id="{50293F13-758F-CF4E-AC2B-5E9310EED853}"/>
              </a:ext>
            </a:extLst>
          </p:cNvPr>
          <p:cNvGrpSpPr/>
          <p:nvPr/>
        </p:nvGrpSpPr>
        <p:grpSpPr>
          <a:xfrm>
            <a:off x="2209165" y="1905233"/>
            <a:ext cx="6422067" cy="2792369"/>
            <a:chOff x="2832951" y="1959528"/>
            <a:chExt cx="5345112" cy="2324100"/>
          </a:xfrm>
        </p:grpSpPr>
        <p:sp>
          <p:nvSpPr>
            <p:cNvPr id="6" name="Line 128">
              <a:extLst>
                <a:ext uri="{FF2B5EF4-FFF2-40B4-BE49-F238E27FC236}">
                  <a16:creationId xmlns:a16="http://schemas.microsoft.com/office/drawing/2014/main" id="{F7F5736B-4AAE-2D46-A1E7-77F5FC9C444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58054" y="2350955"/>
              <a:ext cx="166810" cy="2239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lg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" name="Line 129">
              <a:extLst>
                <a:ext uri="{FF2B5EF4-FFF2-40B4-BE49-F238E27FC236}">
                  <a16:creationId xmlns:a16="http://schemas.microsoft.com/office/drawing/2014/main" id="{1AC1C2C2-F0B2-0440-B5F2-C11D3ACE23D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35908" y="3847066"/>
              <a:ext cx="305455" cy="457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lg"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8" name="Group 130">
              <a:extLst>
                <a:ext uri="{FF2B5EF4-FFF2-40B4-BE49-F238E27FC236}">
                  <a16:creationId xmlns:a16="http://schemas.microsoft.com/office/drawing/2014/main" id="{B789F05B-5BC1-B94B-BA15-94F2144EACA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32951" y="1959528"/>
              <a:ext cx="5345112" cy="2324100"/>
              <a:chOff x="1420" y="1898"/>
              <a:chExt cx="2919" cy="1036"/>
            </a:xfrm>
          </p:grpSpPr>
          <p:sp>
            <p:nvSpPr>
              <p:cNvPr id="14" name="Line 132">
                <a:extLst>
                  <a:ext uri="{FF2B5EF4-FFF2-40B4-BE49-F238E27FC236}">
                    <a16:creationId xmlns:a16="http://schemas.microsoft.com/office/drawing/2014/main" id="{74E0D174-73AC-FE4A-8C58-090C9317BC5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20" y="1953"/>
                <a:ext cx="119" cy="2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arrow" w="med" len="lg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5" name="Line 133">
                <a:extLst>
                  <a:ext uri="{FF2B5EF4-FFF2-40B4-BE49-F238E27FC236}">
                    <a16:creationId xmlns:a16="http://schemas.microsoft.com/office/drawing/2014/main" id="{D0746AD9-320D-1A4B-A7C0-FD2374A18A2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234" y="2911"/>
                <a:ext cx="99" cy="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arrow" w="med" len="lg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" name="Oval 131">
                <a:extLst>
                  <a:ext uri="{FF2B5EF4-FFF2-40B4-BE49-F238E27FC236}">
                    <a16:creationId xmlns:a16="http://schemas.microsoft.com/office/drawing/2014/main" id="{35F40DB9-2C1F-8447-A628-AC49B3EE69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20" y="1898"/>
                <a:ext cx="2919" cy="1036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0" name="Line 136">
              <a:extLst>
                <a:ext uri="{FF2B5EF4-FFF2-40B4-BE49-F238E27FC236}">
                  <a16:creationId xmlns:a16="http://schemas.microsoft.com/office/drawing/2014/main" id="{77D592B8-703A-3644-AFB6-5D418C6FDC7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22222" y="2731393"/>
              <a:ext cx="214672" cy="669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lg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" name="Line 137">
              <a:extLst>
                <a:ext uri="{FF2B5EF4-FFF2-40B4-BE49-F238E27FC236}">
                  <a16:creationId xmlns:a16="http://schemas.microsoft.com/office/drawing/2014/main" id="{B628B123-8A3A-F645-B19A-7522C4F4D5C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222263" y="3624816"/>
              <a:ext cx="273050" cy="301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lg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" name="Oval 144">
              <a:extLst>
                <a:ext uri="{FF2B5EF4-FFF2-40B4-BE49-F238E27FC236}">
                  <a16:creationId xmlns:a16="http://schemas.microsoft.com/office/drawing/2014/main" id="{232BA562-E85D-F444-A192-F1116437BD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60153" y="2127779"/>
              <a:ext cx="4923082" cy="1974140"/>
            </a:xfrm>
            <a:prstGeom prst="ellipse">
              <a:avLst/>
            </a:prstGeom>
            <a:noFill/>
            <a:ln w="279400">
              <a:solidFill>
                <a:schemeClr val="bg1">
                  <a:lumMod val="65000"/>
                </a:schemeClr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" name="Oval 127">
              <a:extLst>
                <a:ext uri="{FF2B5EF4-FFF2-40B4-BE49-F238E27FC236}">
                  <a16:creationId xmlns:a16="http://schemas.microsoft.com/office/drawing/2014/main" id="{C50ABD09-989A-B042-ADF4-E9228FBB68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6014" y="2299253"/>
              <a:ext cx="4633913" cy="164465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" name="Oval 135">
              <a:extLst>
                <a:ext uri="{FF2B5EF4-FFF2-40B4-BE49-F238E27FC236}">
                  <a16:creationId xmlns:a16="http://schemas.microsoft.com/office/drawing/2014/main" id="{FE26E78C-2700-7943-A076-D49B9CC9B4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12413" y="2586591"/>
              <a:ext cx="3887788" cy="1103312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49">
                <a:extLst>
                  <a:ext uri="{FF2B5EF4-FFF2-40B4-BE49-F238E27FC236}">
                    <a16:creationId xmlns:a16="http://schemas.microsoft.com/office/drawing/2014/main" id="{94F0A9E4-B361-6547-99BE-C0F5E6F2A8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80231" y="3113149"/>
                <a:ext cx="237295" cy="174504"/>
              </a:xfrm>
              <a:prstGeom prst="rect">
                <a:avLst/>
              </a:prstGeom>
              <a:pattFill prst="narHorz">
                <a:fgClr>
                  <a:schemeClr val="bg1"/>
                </a:fgClr>
                <a:bgClr>
                  <a:schemeClr val="bg1">
                    <a:lumMod val="50000"/>
                  </a:schemeClr>
                </a:bgClr>
              </a:pattFill>
              <a:ln w="9525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Rectangle 149">
                <a:extLst>
                  <a:ext uri="{FF2B5EF4-FFF2-40B4-BE49-F238E27FC236}">
                    <a16:creationId xmlns:a16="http://schemas.microsoft.com/office/drawing/2014/main" id="{94F0A9E4-B361-6547-99BE-C0F5E6F2A8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80231" y="3113149"/>
                <a:ext cx="237295" cy="174504"/>
              </a:xfrm>
              <a:prstGeom prst="rect">
                <a:avLst/>
              </a:prstGeom>
              <a:blipFill>
                <a:blip r:embed="rId2"/>
                <a:stretch>
                  <a:fillRect t="-13333" r="-30000" b="-33333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3477784-C7EC-354C-8766-D22F77EB829D}"/>
                  </a:ext>
                </a:extLst>
              </p:cNvPr>
              <p:cNvSpPr txBox="1"/>
              <p:nvPr/>
            </p:nvSpPr>
            <p:spPr>
              <a:xfrm>
                <a:off x="1995160" y="857396"/>
                <a:ext cx="128464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𝑈𝑛𝑠𝑎𝑓𝑒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3477784-C7EC-354C-8766-D22F77EB82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95160" y="857396"/>
                <a:ext cx="1284647" cy="461665"/>
              </a:xfrm>
              <a:prstGeom prst="rect">
                <a:avLst/>
              </a:prstGeom>
              <a:blipFill>
                <a:blip r:embed="rId3"/>
                <a:stretch>
                  <a:fillRect b="-162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FF4C1EA-BA5E-1D40-930A-7F5B2A0F9FD3}"/>
                  </a:ext>
                </a:extLst>
              </p:cNvPr>
              <p:cNvSpPr txBox="1"/>
              <p:nvPr/>
            </p:nvSpPr>
            <p:spPr>
              <a:xfrm>
                <a:off x="1952116" y="2573351"/>
                <a:ext cx="55528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FF4C1EA-BA5E-1D40-930A-7F5B2A0F9F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2116" y="2573351"/>
                <a:ext cx="555280" cy="461665"/>
              </a:xfrm>
              <a:prstGeom prst="rect">
                <a:avLst/>
              </a:prstGeom>
              <a:blipFill>
                <a:blip r:embed="rId4"/>
                <a:stretch>
                  <a:fillRect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F7F86CD-6C84-8741-95ED-35D5329A5DD9}"/>
                  </a:ext>
                </a:extLst>
              </p:cNvPr>
              <p:cNvSpPr txBox="1"/>
              <p:nvPr/>
            </p:nvSpPr>
            <p:spPr>
              <a:xfrm>
                <a:off x="5385188" y="3312083"/>
                <a:ext cx="7344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(0,0)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F7F86CD-6C84-8741-95ED-35D5329A5D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5188" y="3312083"/>
                <a:ext cx="734496" cy="369332"/>
              </a:xfrm>
              <a:prstGeom prst="rect">
                <a:avLst/>
              </a:prstGeom>
              <a:blipFill>
                <a:blip r:embed="rId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18489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149">
            <a:extLst>
              <a:ext uri="{FF2B5EF4-FFF2-40B4-BE49-F238E27FC236}">
                <a16:creationId xmlns:a16="http://schemas.microsoft.com/office/drawing/2014/main" id="{2C7DAE97-9AF1-BA49-AABD-87E5EB9054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8643" y="782077"/>
            <a:ext cx="6882431" cy="639553"/>
          </a:xfrm>
          <a:prstGeom prst="rect">
            <a:avLst/>
          </a:prstGeom>
          <a:pattFill prst="pct70">
            <a:fgClr>
              <a:schemeClr val="bg1"/>
            </a:fgClr>
            <a:bgClr>
              <a:schemeClr val="bg1">
                <a:lumMod val="50000"/>
              </a:schemeClr>
            </a:bgClr>
          </a:patt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A8C03E1-EC9E-4F46-B352-A5A5FF06BDE1}"/>
              </a:ext>
            </a:extLst>
          </p:cNvPr>
          <p:cNvGraphicFramePr>
            <a:graphicFrameLocks noGrp="1"/>
          </p:cNvGraphicFramePr>
          <p:nvPr/>
        </p:nvGraphicFramePr>
        <p:xfrm>
          <a:off x="392549" y="775806"/>
          <a:ext cx="6874600" cy="4521902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687460">
                  <a:extLst>
                    <a:ext uri="{9D8B030D-6E8A-4147-A177-3AD203B41FA5}">
                      <a16:colId xmlns:a16="http://schemas.microsoft.com/office/drawing/2014/main" val="669224915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898720271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792310717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1913471449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1954836678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1569802907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2212562748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240152634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4096169174"/>
                    </a:ext>
                  </a:extLst>
                </a:gridCol>
                <a:gridCol w="687460">
                  <a:extLst>
                    <a:ext uri="{9D8B030D-6E8A-4147-A177-3AD203B41FA5}">
                      <a16:colId xmlns:a16="http://schemas.microsoft.com/office/drawing/2014/main" val="3031365251"/>
                    </a:ext>
                  </a:extLst>
                </a:gridCol>
              </a:tblGrid>
              <a:tr h="645986"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704936"/>
                  </a:ext>
                </a:extLst>
              </a:tr>
              <a:tr h="645986"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dkDnDiag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dkDnDiag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dkDnDiag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0151067"/>
                  </a:ext>
                </a:extLst>
              </a:tr>
              <a:tr h="645986"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pct25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pct25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dkDnDiag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0772701"/>
                  </a:ext>
                </a:extLst>
              </a:tr>
              <a:tr h="645986"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pct10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pct25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pattFill prst="dkDnDiag">
                      <a:fgClr>
                        <a:schemeClr val="tx1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4089959"/>
                  </a:ext>
                </a:extLst>
              </a:tr>
              <a:tr h="645986"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2168905"/>
                  </a:ext>
                </a:extLst>
              </a:tr>
              <a:tr h="645986"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9368781"/>
                  </a:ext>
                </a:extLst>
              </a:tr>
              <a:tr h="645986"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700" dirty="0"/>
                    </a:p>
                  </a:txBody>
                  <a:tcPr marL="33877" marR="33877" marT="16939" marB="1693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7540600"/>
                  </a:ext>
                </a:extLst>
              </a:tr>
            </a:tbl>
          </a:graphicData>
        </a:graphic>
      </p:graphicFrame>
      <p:grpSp>
        <p:nvGrpSpPr>
          <p:cNvPr id="4" name="Group 3">
            <a:extLst>
              <a:ext uri="{FF2B5EF4-FFF2-40B4-BE49-F238E27FC236}">
                <a16:creationId xmlns:a16="http://schemas.microsoft.com/office/drawing/2014/main" id="{50293F13-758F-CF4E-AC2B-5E9310EED853}"/>
              </a:ext>
            </a:extLst>
          </p:cNvPr>
          <p:cNvGrpSpPr/>
          <p:nvPr/>
        </p:nvGrpSpPr>
        <p:grpSpPr>
          <a:xfrm>
            <a:off x="583565" y="1961374"/>
            <a:ext cx="6422067" cy="2792369"/>
            <a:chOff x="2832951" y="1959528"/>
            <a:chExt cx="5345112" cy="2324100"/>
          </a:xfrm>
        </p:grpSpPr>
        <p:sp>
          <p:nvSpPr>
            <p:cNvPr id="6" name="Line 128">
              <a:extLst>
                <a:ext uri="{FF2B5EF4-FFF2-40B4-BE49-F238E27FC236}">
                  <a16:creationId xmlns:a16="http://schemas.microsoft.com/office/drawing/2014/main" id="{F7F5736B-4AAE-2D46-A1E7-77F5FC9C444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58054" y="2350955"/>
              <a:ext cx="166810" cy="2239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lg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" name="Line 129">
              <a:extLst>
                <a:ext uri="{FF2B5EF4-FFF2-40B4-BE49-F238E27FC236}">
                  <a16:creationId xmlns:a16="http://schemas.microsoft.com/office/drawing/2014/main" id="{1AC1C2C2-F0B2-0440-B5F2-C11D3ACE23D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35908" y="3847066"/>
              <a:ext cx="305455" cy="4571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lg"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8" name="Group 130">
              <a:extLst>
                <a:ext uri="{FF2B5EF4-FFF2-40B4-BE49-F238E27FC236}">
                  <a16:creationId xmlns:a16="http://schemas.microsoft.com/office/drawing/2014/main" id="{B789F05B-5BC1-B94B-BA15-94F2144EACA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32951" y="1959528"/>
              <a:ext cx="5345112" cy="2324100"/>
              <a:chOff x="1420" y="1898"/>
              <a:chExt cx="2919" cy="1036"/>
            </a:xfrm>
          </p:grpSpPr>
          <p:sp>
            <p:nvSpPr>
              <p:cNvPr id="14" name="Line 132">
                <a:extLst>
                  <a:ext uri="{FF2B5EF4-FFF2-40B4-BE49-F238E27FC236}">
                    <a16:creationId xmlns:a16="http://schemas.microsoft.com/office/drawing/2014/main" id="{74E0D174-73AC-FE4A-8C58-090C9317BC5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2120" y="1953"/>
                <a:ext cx="119" cy="2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arrow" w="med" len="lg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5" name="Line 133">
                <a:extLst>
                  <a:ext uri="{FF2B5EF4-FFF2-40B4-BE49-F238E27FC236}">
                    <a16:creationId xmlns:a16="http://schemas.microsoft.com/office/drawing/2014/main" id="{D0746AD9-320D-1A4B-A7C0-FD2374A18A2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234" y="2911"/>
                <a:ext cx="99" cy="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arrow" w="med" len="lg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13" name="Oval 131">
                <a:extLst>
                  <a:ext uri="{FF2B5EF4-FFF2-40B4-BE49-F238E27FC236}">
                    <a16:creationId xmlns:a16="http://schemas.microsoft.com/office/drawing/2014/main" id="{35F40DB9-2C1F-8447-A628-AC49B3EE69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420" y="1898"/>
                <a:ext cx="2919" cy="1036"/>
              </a:xfrm>
              <a:prstGeom prst="ellips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0" name="Line 136">
              <a:extLst>
                <a:ext uri="{FF2B5EF4-FFF2-40B4-BE49-F238E27FC236}">
                  <a16:creationId xmlns:a16="http://schemas.microsoft.com/office/drawing/2014/main" id="{77D592B8-703A-3644-AFB6-5D418C6FDC7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22222" y="2731393"/>
              <a:ext cx="214672" cy="6691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lg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" name="Line 137">
              <a:extLst>
                <a:ext uri="{FF2B5EF4-FFF2-40B4-BE49-F238E27FC236}">
                  <a16:creationId xmlns:a16="http://schemas.microsoft.com/office/drawing/2014/main" id="{B628B123-8A3A-F645-B19A-7522C4F4D5C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222263" y="3624816"/>
              <a:ext cx="273050" cy="3016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arrow" w="med" len="lg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" name="Oval 144">
              <a:extLst>
                <a:ext uri="{FF2B5EF4-FFF2-40B4-BE49-F238E27FC236}">
                  <a16:creationId xmlns:a16="http://schemas.microsoft.com/office/drawing/2014/main" id="{232BA562-E85D-F444-A192-F1116437BD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60153" y="2127779"/>
              <a:ext cx="4923082" cy="1974140"/>
            </a:xfrm>
            <a:prstGeom prst="ellipse">
              <a:avLst/>
            </a:prstGeom>
            <a:noFill/>
            <a:ln w="279400">
              <a:solidFill>
                <a:schemeClr val="bg1">
                  <a:lumMod val="65000"/>
                </a:schemeClr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" name="Oval 127">
              <a:extLst>
                <a:ext uri="{FF2B5EF4-FFF2-40B4-BE49-F238E27FC236}">
                  <a16:creationId xmlns:a16="http://schemas.microsoft.com/office/drawing/2014/main" id="{C50ABD09-989A-B042-ADF4-E9228FBB68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6014" y="2299253"/>
              <a:ext cx="4633913" cy="1644650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" name="Oval 135">
              <a:extLst>
                <a:ext uri="{FF2B5EF4-FFF2-40B4-BE49-F238E27FC236}">
                  <a16:creationId xmlns:a16="http://schemas.microsoft.com/office/drawing/2014/main" id="{FE26E78C-2700-7943-A076-D49B9CC9B4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12413" y="2586591"/>
              <a:ext cx="3887788" cy="1103312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49">
                <a:extLst>
                  <a:ext uri="{FF2B5EF4-FFF2-40B4-BE49-F238E27FC236}">
                    <a16:creationId xmlns:a16="http://schemas.microsoft.com/office/drawing/2014/main" id="{94F0A9E4-B361-6547-99BE-C0F5E6F2A8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54631" y="3169290"/>
                <a:ext cx="237295" cy="174504"/>
              </a:xfrm>
              <a:prstGeom prst="rect">
                <a:avLst/>
              </a:prstGeom>
              <a:pattFill prst="narHorz">
                <a:fgClr>
                  <a:schemeClr val="bg1"/>
                </a:fgClr>
                <a:bgClr>
                  <a:schemeClr val="bg1">
                    <a:lumMod val="50000"/>
                  </a:schemeClr>
                </a:bgClr>
              </a:pattFill>
              <a:ln w="9525">
                <a:noFill/>
                <a:miter lim="800000"/>
                <a:headEnd/>
                <a:tailEnd/>
              </a:ln>
            </p:spPr>
            <p:txBody>
              <a:bodyPr wrap="none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Rectangle 149">
                <a:extLst>
                  <a:ext uri="{FF2B5EF4-FFF2-40B4-BE49-F238E27FC236}">
                    <a16:creationId xmlns:a16="http://schemas.microsoft.com/office/drawing/2014/main" id="{94F0A9E4-B361-6547-99BE-C0F5E6F2A8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4631" y="3169290"/>
                <a:ext cx="237295" cy="174504"/>
              </a:xfrm>
              <a:prstGeom prst="rect">
                <a:avLst/>
              </a:prstGeom>
              <a:blipFill>
                <a:blip r:embed="rId2"/>
                <a:stretch>
                  <a:fillRect t="-14286" r="-30000" b="-35714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3477784-C7EC-354C-8766-D22F77EB829D}"/>
                  </a:ext>
                </a:extLst>
              </p:cNvPr>
              <p:cNvSpPr txBox="1"/>
              <p:nvPr/>
            </p:nvSpPr>
            <p:spPr>
              <a:xfrm>
                <a:off x="369560" y="913537"/>
                <a:ext cx="128464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𝑈𝑛𝑠𝑎𝑓𝑒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3477784-C7EC-354C-8766-D22F77EB82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560" y="913537"/>
                <a:ext cx="1284647" cy="461665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FF4C1EA-BA5E-1D40-930A-7F5B2A0F9FD3}"/>
                  </a:ext>
                </a:extLst>
              </p:cNvPr>
              <p:cNvSpPr txBox="1"/>
              <p:nvPr/>
            </p:nvSpPr>
            <p:spPr>
              <a:xfrm>
                <a:off x="326516" y="2629492"/>
                <a:ext cx="55528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FF4C1EA-BA5E-1D40-930A-7F5B2A0F9F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516" y="2629492"/>
                <a:ext cx="555280" cy="461665"/>
              </a:xfrm>
              <a:prstGeom prst="rect">
                <a:avLst/>
              </a:prstGeom>
              <a:blipFill>
                <a:blip r:embed="rId4"/>
                <a:stretch>
                  <a:fillRect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F7F86CD-6C84-8741-95ED-35D5329A5DD9}"/>
                  </a:ext>
                </a:extLst>
              </p:cNvPr>
              <p:cNvSpPr txBox="1"/>
              <p:nvPr/>
            </p:nvSpPr>
            <p:spPr>
              <a:xfrm>
                <a:off x="3759588" y="3368224"/>
                <a:ext cx="7344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(0,0)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EF7F86CD-6C84-8741-95ED-35D5329A5D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9588" y="3368224"/>
                <a:ext cx="734496" cy="369332"/>
              </a:xfrm>
              <a:prstGeom prst="rect">
                <a:avLst/>
              </a:prstGeom>
              <a:blipFill>
                <a:blip r:embed="rId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4F5AB98-9058-CE47-B100-7FFFAD680E0E}"/>
                  </a:ext>
                </a:extLst>
              </p:cNvPr>
              <p:cNvSpPr txBox="1"/>
              <p:nvPr/>
            </p:nvSpPr>
            <p:spPr>
              <a:xfrm>
                <a:off x="378655" y="2041636"/>
                <a:ext cx="54816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4F5AB98-9058-CE47-B100-7FFFAD680E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655" y="2041636"/>
                <a:ext cx="548163" cy="461665"/>
              </a:xfrm>
              <a:prstGeom prst="rect">
                <a:avLst/>
              </a:prstGeom>
              <a:blipFill>
                <a:blip r:embed="rId6"/>
                <a:stretch>
                  <a:fillRect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E5E4A15-2F5E-2546-BC89-D114FBFD46FA}"/>
                  </a:ext>
                </a:extLst>
              </p:cNvPr>
              <p:cNvSpPr txBox="1"/>
              <p:nvPr/>
            </p:nvSpPr>
            <p:spPr>
              <a:xfrm>
                <a:off x="1757189" y="1467808"/>
                <a:ext cx="55528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E5E4A15-2F5E-2546-BC89-D114FBFD46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7189" y="1467808"/>
                <a:ext cx="555280" cy="461665"/>
              </a:xfrm>
              <a:prstGeom prst="rect">
                <a:avLst/>
              </a:prstGeom>
              <a:blipFill>
                <a:blip r:embed="rId7"/>
                <a:stretch>
                  <a:fillRect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A5FA645-50DF-C44E-B2C0-FF4754AEA9C2}"/>
                  </a:ext>
                </a:extLst>
              </p:cNvPr>
              <p:cNvSpPr txBox="1"/>
              <p:nvPr/>
            </p:nvSpPr>
            <p:spPr>
              <a:xfrm>
                <a:off x="1736111" y="852137"/>
                <a:ext cx="55528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A5FA645-50DF-C44E-B2C0-FF4754AEA9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36111" y="852137"/>
                <a:ext cx="555280" cy="461665"/>
              </a:xfrm>
              <a:prstGeom prst="rect">
                <a:avLst/>
              </a:prstGeom>
              <a:blipFill>
                <a:blip r:embed="rId8"/>
                <a:stretch>
                  <a:fillRect b="-108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8" name="Freeform 77">
            <a:extLst>
              <a:ext uri="{FF2B5EF4-FFF2-40B4-BE49-F238E27FC236}">
                <a16:creationId xmlns:a16="http://schemas.microsoft.com/office/drawing/2014/main" id="{C4B43E9C-8D4E-2E4F-ADAA-91EF6FF20147}"/>
              </a:ext>
            </a:extLst>
          </p:cNvPr>
          <p:cNvSpPr/>
          <p:nvPr/>
        </p:nvSpPr>
        <p:spPr>
          <a:xfrm>
            <a:off x="398643" y="1419057"/>
            <a:ext cx="2066962" cy="588142"/>
          </a:xfrm>
          <a:custGeom>
            <a:avLst/>
            <a:gdLst>
              <a:gd name="connsiteX0" fmla="*/ 1413876 w 2066962"/>
              <a:gd name="connsiteY0" fmla="*/ 0 h 959198"/>
              <a:gd name="connsiteX1" fmla="*/ 2066962 w 2066962"/>
              <a:gd name="connsiteY1" fmla="*/ 0 h 959198"/>
              <a:gd name="connsiteX2" fmla="*/ 2066962 w 2066962"/>
              <a:gd name="connsiteY2" fmla="*/ 55221 h 959198"/>
              <a:gd name="connsiteX3" fmla="*/ 2006732 w 2066962"/>
              <a:gd name="connsiteY3" fmla="*/ 65829 h 959198"/>
              <a:gd name="connsiteX4" fmla="*/ 33720 w 2066962"/>
              <a:gd name="connsiteY4" fmla="*/ 927516 h 959198"/>
              <a:gd name="connsiteX5" fmla="*/ 0 w 2066962"/>
              <a:gd name="connsiteY5" fmla="*/ 959198 h 959198"/>
              <a:gd name="connsiteX6" fmla="*/ 0 w 2066962"/>
              <a:gd name="connsiteY6" fmla="*/ 458550 h 959198"/>
              <a:gd name="connsiteX7" fmla="*/ 55790 w 2066962"/>
              <a:gd name="connsiteY7" fmla="*/ 429010 h 959198"/>
              <a:gd name="connsiteX8" fmla="*/ 1335520 w 2066962"/>
              <a:gd name="connsiteY8" fmla="*/ 13801 h 959198"/>
              <a:gd name="connsiteX9" fmla="*/ 1413876 w 2066962"/>
              <a:gd name="connsiteY9" fmla="*/ 0 h 959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066962" h="959198">
                <a:moveTo>
                  <a:pt x="1413876" y="0"/>
                </a:moveTo>
                <a:lnTo>
                  <a:pt x="2066962" y="0"/>
                </a:lnTo>
                <a:lnTo>
                  <a:pt x="2066962" y="55221"/>
                </a:lnTo>
                <a:lnTo>
                  <a:pt x="2006732" y="65829"/>
                </a:lnTo>
                <a:cubicBezTo>
                  <a:pt x="1163807" y="237398"/>
                  <a:pt x="467573" y="543185"/>
                  <a:pt x="33720" y="927516"/>
                </a:cubicBezTo>
                <a:lnTo>
                  <a:pt x="0" y="959198"/>
                </a:lnTo>
                <a:lnTo>
                  <a:pt x="0" y="458550"/>
                </a:lnTo>
                <a:lnTo>
                  <a:pt x="55790" y="429010"/>
                </a:lnTo>
                <a:cubicBezTo>
                  <a:pt x="420076" y="253706"/>
                  <a:pt x="853849" y="111840"/>
                  <a:pt x="1335520" y="13801"/>
                </a:cubicBezTo>
                <a:lnTo>
                  <a:pt x="1413876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C0CBF2FB-28BE-1E4F-B0C1-05F0631B03BF}"/>
                  </a:ext>
                </a:extLst>
              </p:cNvPr>
              <p:cNvSpPr txBox="1"/>
              <p:nvPr/>
            </p:nvSpPr>
            <p:spPr>
              <a:xfrm>
                <a:off x="401695" y="1468442"/>
                <a:ext cx="55528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C0CBF2FB-28BE-1E4F-B0C1-05F0631B0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695" y="1468442"/>
                <a:ext cx="555280" cy="461665"/>
              </a:xfrm>
              <a:prstGeom prst="rect">
                <a:avLst/>
              </a:prstGeom>
              <a:blipFill>
                <a:blip r:embed="rId9"/>
                <a:stretch>
                  <a:fillRect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9604F89-D2C7-9F48-9C44-2AC569879FE4}"/>
                  </a:ext>
                </a:extLst>
              </p:cNvPr>
              <p:cNvSpPr txBox="1"/>
              <p:nvPr/>
            </p:nvSpPr>
            <p:spPr>
              <a:xfrm>
                <a:off x="1080796" y="1467809"/>
                <a:ext cx="55528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9604F89-D2C7-9F48-9C44-2AC569879F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0796" y="1467809"/>
                <a:ext cx="555280" cy="461665"/>
              </a:xfrm>
              <a:prstGeom prst="rect">
                <a:avLst/>
              </a:prstGeom>
              <a:blipFill>
                <a:blip r:embed="rId10"/>
                <a:stretch>
                  <a:fillRect b="-8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4481CD0-745D-2042-860E-D8982B4BE9AB}"/>
                  </a:ext>
                </a:extLst>
              </p:cNvPr>
              <p:cNvSpPr txBox="1"/>
              <p:nvPr/>
            </p:nvSpPr>
            <p:spPr>
              <a:xfrm>
                <a:off x="7372125" y="1101021"/>
                <a:ext cx="4678076" cy="15696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𝑃𝑟</m:t>
                      </m:r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e>
                      </m:d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∩ </m:t>
                      </m:r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−1 </m:t>
                          </m:r>
                        </m:sup>
                      </m:sSup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e>
                      </m:d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≠∅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	</m:t>
                      </m:r>
                    </m:oMath>
                  </m:oMathPara>
                </a14:m>
                <a:endParaRPr lang="en-US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	</m:t>
                      </m:r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𝑃𝑟</m:t>
                      </m:r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b/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∩</m:t>
                      </m:r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−1 </m:t>
                          </m:r>
                        </m:sup>
                      </m:sSup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≠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∅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	</m:t>
                      </m:r>
                    </m:oMath>
                  </m:oMathPara>
                </a14:m>
                <a:endParaRPr lang="en-US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𝑃𝑟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∩ </m:t>
                      </m:r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≠∅</m:t>
                      </m:r>
                      <m:r>
                        <a:rPr lang="en-US" sz="2400" i="1" dirty="0">
                          <a:latin typeface="Cambria Math" panose="02040503050406030204" pitchFamily="18" charset="0"/>
                        </a:rPr>
                        <m:t>	</m:t>
                      </m:r>
                    </m:oMath>
                  </m:oMathPara>
                </a14:m>
                <a:endParaRPr lang="en-US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	</m:t>
                      </m:r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𝑃𝑟</m:t>
                      </m:r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∩ </m:t>
                      </m:r>
                      <m:sSup>
                        <m:sSup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 =∅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4481CD0-745D-2042-860E-D8982B4BE9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2125" y="1101021"/>
                <a:ext cx="4678076" cy="1569660"/>
              </a:xfrm>
              <a:prstGeom prst="rect">
                <a:avLst/>
              </a:prstGeom>
              <a:blipFill>
                <a:blip r:embed="rId11"/>
                <a:stretch>
                  <a:fillRect t="-806" b="-48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0715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1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A9B64-D8C3-A34F-9BB2-0AAB8586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60D03-397D-EE44-B0CB-7BA2720AE5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Abstractions and composition</a:t>
            </a:r>
          </a:p>
          <a:p>
            <a:r>
              <a:rPr lang="en-US" dirty="0"/>
              <a:t>CEGAR</a:t>
            </a:r>
          </a:p>
        </p:txBody>
      </p:sp>
    </p:spTree>
    <p:extLst>
      <p:ext uri="{BB962C8B-B14F-4D97-AF65-F5344CB8AC3E}">
        <p14:creationId xmlns:p14="http://schemas.microsoft.com/office/powerpoint/2010/main" val="20254647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983B053-D422-6149-919F-16C204A17455}"/>
              </a:ext>
            </a:extLst>
          </p:cNvPr>
          <p:cNvSpPr/>
          <p:nvPr/>
        </p:nvSpPr>
        <p:spPr>
          <a:xfrm>
            <a:off x="3032760" y="1711344"/>
            <a:ext cx="6126480" cy="3134975"/>
          </a:xfrm>
          <a:prstGeom prst="roundRect">
            <a:avLst>
              <a:gd name="adj" fmla="val 867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latin typeface="+mj-lt"/>
                <a:ea typeface="Cambria Math" panose="02040503050406030204" pitchFamily="18" charset="0"/>
              </a:rPr>
              <a:t>Concrete system</a:t>
            </a:r>
          </a:p>
          <a:p>
            <a:pPr algn="ctr"/>
            <a:endParaRPr lang="en-US" sz="3200" i="1" dirty="0">
              <a:latin typeface="+mj-lt"/>
              <a:ea typeface="Cambria Math" panose="02040503050406030204" pitchFamily="18" charset="0"/>
            </a:endParaRPr>
          </a:p>
          <a:p>
            <a:pPr algn="ctr"/>
            <a:endParaRPr lang="en-US" sz="3200" i="1" dirty="0">
              <a:latin typeface="+mj-lt"/>
              <a:ea typeface="Cambria Math" panose="02040503050406030204" pitchFamily="18" charset="0"/>
            </a:endParaRPr>
          </a:p>
          <a:p>
            <a:pPr algn="ctr"/>
            <a:endParaRPr lang="en-US" sz="3200" i="1" dirty="0">
              <a:latin typeface="+mj-lt"/>
              <a:ea typeface="Cambria Math" panose="02040503050406030204" pitchFamily="18" charset="0"/>
            </a:endParaRPr>
          </a:p>
          <a:p>
            <a:pPr algn="ctr"/>
            <a:endParaRPr lang="en-US" sz="3200" i="1" dirty="0">
              <a:latin typeface="+mj-lt"/>
              <a:ea typeface="Cambria Math" panose="02040503050406030204" pitchFamily="18" charset="0"/>
            </a:endParaRPr>
          </a:p>
          <a:p>
            <a:pPr algn="ctr"/>
            <a:endParaRPr lang="en-US" sz="3200" i="1" dirty="0">
              <a:latin typeface="+mj-lt"/>
              <a:ea typeface="Cambria Math" panose="02040503050406030204" pitchFamily="18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354B0CA-6E93-5C45-BC55-DA0BE405D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488" y="365125"/>
            <a:ext cx="11283696" cy="1325563"/>
          </a:xfrm>
        </p:spPr>
        <p:txBody>
          <a:bodyPr>
            <a:normAutofit/>
          </a:bodyPr>
          <a:lstStyle/>
          <a:p>
            <a:r>
              <a:rPr lang="en-US" dirty="0"/>
              <a:t>Substituting an automaton with its abstraction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0FE79D2-5C9D-6844-A124-02C0263D24B2}"/>
              </a:ext>
            </a:extLst>
          </p:cNvPr>
          <p:cNvSpPr/>
          <p:nvPr/>
        </p:nvSpPr>
        <p:spPr>
          <a:xfrm>
            <a:off x="3842779" y="2516816"/>
            <a:ext cx="1789926" cy="1824367"/>
          </a:xfrm>
          <a:prstGeom prst="roundRect">
            <a:avLst/>
          </a:prstGeom>
          <a:pattFill prst="ltUp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b="1" i="1" dirty="0">
                <a:latin typeface="+mj-lt"/>
                <a:ea typeface="Cambria Math" panose="02040503050406030204" pitchFamily="18" charset="0"/>
              </a:rPr>
              <a:t>Plant</a:t>
            </a:r>
            <a:endParaRPr lang="en-US" sz="3200" b="1" i="1" dirty="0">
              <a:latin typeface="+mj-lt"/>
              <a:ea typeface="Cambria Math" panose="02040503050406030204" pitchFamily="18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BD084AF-8F37-B042-ABBF-23D16BAB876A}"/>
              </a:ext>
            </a:extLst>
          </p:cNvPr>
          <p:cNvSpPr/>
          <p:nvPr/>
        </p:nvSpPr>
        <p:spPr>
          <a:xfrm>
            <a:off x="6560579" y="2516816"/>
            <a:ext cx="1901250" cy="1824367"/>
          </a:xfrm>
          <a:prstGeom prst="roundRect">
            <a:avLst/>
          </a:prstGeom>
          <a:pattFill prst="pct20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i="1" dirty="0">
                <a:latin typeface="+mj-lt"/>
                <a:ea typeface="Cambria Math" panose="02040503050406030204" pitchFamily="18" charset="0"/>
              </a:rPr>
              <a:t>Controller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E14F3BA-0FCB-2443-BA9B-5BC81C46EF33}"/>
              </a:ext>
            </a:extLst>
          </p:cNvPr>
          <p:cNvCxnSpPr>
            <a:cxnSpLocks/>
          </p:cNvCxnSpPr>
          <p:nvPr/>
        </p:nvCxnSpPr>
        <p:spPr>
          <a:xfrm flipV="1">
            <a:off x="5632705" y="3197721"/>
            <a:ext cx="927874" cy="1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AE2ECA7-A386-5542-B1A6-42C706D93D75}"/>
              </a:ext>
            </a:extLst>
          </p:cNvPr>
          <p:cNvCxnSpPr>
            <a:cxnSpLocks/>
          </p:cNvCxnSpPr>
          <p:nvPr/>
        </p:nvCxnSpPr>
        <p:spPr>
          <a:xfrm flipH="1" flipV="1">
            <a:off x="5632705" y="3856089"/>
            <a:ext cx="927874" cy="1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75618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3983B053-D422-6149-919F-16C204A17455}"/>
              </a:ext>
            </a:extLst>
          </p:cNvPr>
          <p:cNvSpPr/>
          <p:nvPr/>
        </p:nvSpPr>
        <p:spPr>
          <a:xfrm>
            <a:off x="3032760" y="1711344"/>
            <a:ext cx="6126480" cy="3134975"/>
          </a:xfrm>
          <a:prstGeom prst="roundRect">
            <a:avLst>
              <a:gd name="adj" fmla="val 8670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latin typeface="+mj-lt"/>
                <a:ea typeface="Cambria Math" panose="02040503050406030204" pitchFamily="18" charset="0"/>
              </a:rPr>
              <a:t>Abstract system</a:t>
            </a:r>
          </a:p>
          <a:p>
            <a:pPr algn="ctr"/>
            <a:endParaRPr lang="en-US" sz="3200" i="1" dirty="0">
              <a:latin typeface="+mj-lt"/>
              <a:ea typeface="Cambria Math" panose="02040503050406030204" pitchFamily="18" charset="0"/>
            </a:endParaRPr>
          </a:p>
          <a:p>
            <a:pPr algn="ctr"/>
            <a:endParaRPr lang="en-US" sz="3200" i="1" dirty="0">
              <a:latin typeface="+mj-lt"/>
              <a:ea typeface="Cambria Math" panose="02040503050406030204" pitchFamily="18" charset="0"/>
            </a:endParaRPr>
          </a:p>
          <a:p>
            <a:pPr algn="ctr"/>
            <a:endParaRPr lang="en-US" sz="3200" i="1" dirty="0">
              <a:latin typeface="+mj-lt"/>
              <a:ea typeface="Cambria Math" panose="02040503050406030204" pitchFamily="18" charset="0"/>
            </a:endParaRPr>
          </a:p>
          <a:p>
            <a:pPr algn="ctr"/>
            <a:endParaRPr lang="en-US" sz="3200" i="1" dirty="0">
              <a:latin typeface="+mj-lt"/>
              <a:ea typeface="Cambria Math" panose="02040503050406030204" pitchFamily="18" charset="0"/>
            </a:endParaRPr>
          </a:p>
          <a:p>
            <a:pPr algn="ctr"/>
            <a:endParaRPr lang="en-US" sz="3200" i="1" dirty="0">
              <a:latin typeface="+mj-lt"/>
              <a:ea typeface="Cambria Math" panose="02040503050406030204" pitchFamily="18" charset="0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354B0CA-6E93-5C45-BC55-DA0BE405D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488" y="365125"/>
            <a:ext cx="11283696" cy="1325563"/>
          </a:xfrm>
        </p:spPr>
        <p:txBody>
          <a:bodyPr>
            <a:normAutofit/>
          </a:bodyPr>
          <a:lstStyle/>
          <a:p>
            <a:r>
              <a:rPr lang="en-US" dirty="0"/>
              <a:t>Substituting an automaton with its abstraction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0FE79D2-5C9D-6844-A124-02C0263D24B2}"/>
              </a:ext>
            </a:extLst>
          </p:cNvPr>
          <p:cNvSpPr/>
          <p:nvPr/>
        </p:nvSpPr>
        <p:spPr>
          <a:xfrm>
            <a:off x="3842779" y="2516816"/>
            <a:ext cx="1789926" cy="1824367"/>
          </a:xfrm>
          <a:prstGeom prst="roundRect">
            <a:avLst/>
          </a:prstGeom>
          <a:pattFill prst="ltUpDiag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600" b="1" i="1" dirty="0">
                <a:latin typeface="+mj-lt"/>
                <a:ea typeface="Cambria Math" panose="02040503050406030204" pitchFamily="18" charset="0"/>
              </a:rPr>
              <a:t>Plant</a:t>
            </a:r>
            <a:endParaRPr lang="en-US" sz="3200" b="1" i="1" dirty="0">
              <a:latin typeface="+mj-lt"/>
              <a:ea typeface="Cambria Math" panose="02040503050406030204" pitchFamily="18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BD084AF-8F37-B042-ABBF-23D16BAB876A}"/>
              </a:ext>
            </a:extLst>
          </p:cNvPr>
          <p:cNvSpPr/>
          <p:nvPr/>
        </p:nvSpPr>
        <p:spPr>
          <a:xfrm>
            <a:off x="6560578" y="4986147"/>
            <a:ext cx="1857707" cy="1824367"/>
          </a:xfrm>
          <a:prstGeom prst="roundRect">
            <a:avLst/>
          </a:prstGeom>
          <a:pattFill prst="pct20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i="1" dirty="0">
                <a:latin typeface="+mj-lt"/>
                <a:ea typeface="Cambria Math" panose="02040503050406030204" pitchFamily="18" charset="0"/>
              </a:rPr>
              <a:t>Controller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E14F3BA-0FCB-2443-BA9B-5BC81C46EF33}"/>
              </a:ext>
            </a:extLst>
          </p:cNvPr>
          <p:cNvCxnSpPr>
            <a:cxnSpLocks/>
          </p:cNvCxnSpPr>
          <p:nvPr/>
        </p:nvCxnSpPr>
        <p:spPr>
          <a:xfrm flipV="1">
            <a:off x="5632705" y="3197721"/>
            <a:ext cx="927874" cy="1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AE2ECA7-A386-5542-B1A6-42C706D93D75}"/>
              </a:ext>
            </a:extLst>
          </p:cNvPr>
          <p:cNvCxnSpPr>
            <a:cxnSpLocks/>
          </p:cNvCxnSpPr>
          <p:nvPr/>
        </p:nvCxnSpPr>
        <p:spPr>
          <a:xfrm flipH="1" flipV="1">
            <a:off x="5632705" y="3856089"/>
            <a:ext cx="927874" cy="1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C97F79F-546C-554C-A12E-9C274C5324C0}"/>
              </a:ext>
            </a:extLst>
          </p:cNvPr>
          <p:cNvSpPr/>
          <p:nvPr/>
        </p:nvSpPr>
        <p:spPr>
          <a:xfrm>
            <a:off x="6560579" y="2516816"/>
            <a:ext cx="1944792" cy="1824367"/>
          </a:xfrm>
          <a:prstGeom prst="round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b="1" i="1" dirty="0">
                <a:latin typeface="+mj-lt"/>
                <a:ea typeface="Cambria Math" panose="02040503050406030204" pitchFamily="18" charset="0"/>
              </a:rPr>
              <a:t>Abstract Controller</a:t>
            </a:r>
          </a:p>
        </p:txBody>
      </p:sp>
    </p:spTree>
    <p:extLst>
      <p:ext uri="{BB962C8B-B14F-4D97-AF65-F5344CB8AC3E}">
        <p14:creationId xmlns:p14="http://schemas.microsoft.com/office/powerpoint/2010/main" val="6972619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354B0CA-6E93-5C45-BC55-DA0BE405D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5488" y="365125"/>
            <a:ext cx="11283696" cy="1325563"/>
          </a:xfrm>
        </p:spPr>
        <p:txBody>
          <a:bodyPr>
            <a:normAutofit/>
          </a:bodyPr>
          <a:lstStyle/>
          <a:p>
            <a:r>
              <a:rPr lang="en-US" dirty="0"/>
              <a:t>How is the abstract system related to the concrete system?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BD084AF-8F37-B042-ABBF-23D16BAB876A}"/>
              </a:ext>
            </a:extLst>
          </p:cNvPr>
          <p:cNvSpPr/>
          <p:nvPr/>
        </p:nvSpPr>
        <p:spPr>
          <a:xfrm>
            <a:off x="3958318" y="1795985"/>
            <a:ext cx="1245235" cy="1269195"/>
          </a:xfrm>
          <a:prstGeom prst="roundRect">
            <a:avLst/>
          </a:prstGeom>
          <a:pattFill prst="pct20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i="1" dirty="0">
                <a:latin typeface="+mj-lt"/>
                <a:ea typeface="Cambria Math" panose="02040503050406030204" pitchFamily="18" charset="0"/>
              </a:rPr>
              <a:t>Controller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BABBDFA7-4D6B-3848-8B00-D40C4A02788A}"/>
              </a:ext>
            </a:extLst>
          </p:cNvPr>
          <p:cNvGrpSpPr/>
          <p:nvPr/>
        </p:nvGrpSpPr>
        <p:grpSpPr>
          <a:xfrm>
            <a:off x="6629400" y="4290577"/>
            <a:ext cx="3356705" cy="1717656"/>
            <a:chOff x="3032761" y="1711344"/>
            <a:chExt cx="6126479" cy="3134975"/>
          </a:xfrm>
        </p:grpSpPr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3983B053-D422-6149-919F-16C204A17455}"/>
                </a:ext>
              </a:extLst>
            </p:cNvPr>
            <p:cNvSpPr/>
            <p:nvPr/>
          </p:nvSpPr>
          <p:spPr>
            <a:xfrm>
              <a:off x="3032761" y="1711344"/>
              <a:ext cx="6126479" cy="3134975"/>
            </a:xfrm>
            <a:prstGeom prst="roundRect">
              <a:avLst>
                <a:gd name="adj" fmla="val 8670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i="1" dirty="0">
                  <a:latin typeface="+mj-lt"/>
                  <a:ea typeface="Cambria Math" panose="02040503050406030204" pitchFamily="18" charset="0"/>
                </a:rPr>
                <a:t>Abstract system</a:t>
              </a:r>
            </a:p>
            <a:p>
              <a:pPr algn="ctr"/>
              <a:endParaRPr lang="en-US" i="1" dirty="0">
                <a:latin typeface="+mj-lt"/>
                <a:ea typeface="Cambria Math" panose="02040503050406030204" pitchFamily="18" charset="0"/>
              </a:endParaRPr>
            </a:p>
            <a:p>
              <a:pPr algn="ctr"/>
              <a:endParaRPr lang="en-US" i="1" dirty="0">
                <a:latin typeface="+mj-lt"/>
                <a:ea typeface="Cambria Math" panose="02040503050406030204" pitchFamily="18" charset="0"/>
              </a:endParaRPr>
            </a:p>
            <a:p>
              <a:pPr algn="ctr"/>
              <a:endParaRPr lang="en-US" i="1" dirty="0">
                <a:latin typeface="+mj-lt"/>
                <a:ea typeface="Cambria Math" panose="02040503050406030204" pitchFamily="18" charset="0"/>
              </a:endParaRPr>
            </a:p>
            <a:p>
              <a:pPr algn="ctr"/>
              <a:endParaRPr lang="en-US" i="1" dirty="0">
                <a:latin typeface="+mj-lt"/>
                <a:ea typeface="Cambria Math" panose="02040503050406030204" pitchFamily="18" charset="0"/>
              </a:endParaRPr>
            </a:p>
            <a:p>
              <a:pPr algn="ctr"/>
              <a:endParaRPr lang="en-US" i="1" dirty="0">
                <a:latin typeface="+mj-lt"/>
                <a:ea typeface="Cambria Math" panose="02040503050406030204" pitchFamily="18" charset="0"/>
              </a:endParaRP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70FE79D2-5C9D-6844-A124-02C0263D24B2}"/>
                </a:ext>
              </a:extLst>
            </p:cNvPr>
            <p:cNvSpPr/>
            <p:nvPr/>
          </p:nvSpPr>
          <p:spPr>
            <a:xfrm>
              <a:off x="3842779" y="2516816"/>
              <a:ext cx="1789926" cy="1824367"/>
            </a:xfrm>
            <a:prstGeom prst="roundRect">
              <a:avLst/>
            </a:prstGeom>
            <a:pattFill prst="ltUpDiag">
              <a:fgClr>
                <a:schemeClr val="tx1"/>
              </a:fgClr>
              <a:bgClr>
                <a:schemeClr val="bg1"/>
              </a:bgClr>
            </a:patt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000" b="1" i="1" dirty="0">
                  <a:latin typeface="+mj-lt"/>
                  <a:ea typeface="Cambria Math" panose="02040503050406030204" pitchFamily="18" charset="0"/>
                </a:rPr>
                <a:t>Plant</a:t>
              </a:r>
              <a:endParaRPr lang="en-US" b="1" i="1" dirty="0">
                <a:latin typeface="+mj-lt"/>
                <a:ea typeface="Cambria Math" panose="02040503050406030204" pitchFamily="18" charset="0"/>
              </a:endParaRP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E14F3BA-0FCB-2443-BA9B-5BC81C46EF3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32705" y="3197721"/>
              <a:ext cx="927874" cy="1"/>
            </a:xfrm>
            <a:prstGeom prst="line">
              <a:avLst/>
            </a:prstGeom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7AE2ECA7-A386-5542-B1A6-42C706D93D7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632705" y="3856089"/>
              <a:ext cx="927874" cy="1"/>
            </a:xfrm>
            <a:prstGeom prst="line">
              <a:avLst/>
            </a:prstGeom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4C97F79F-546C-554C-A12E-9C274C5324C0}"/>
                </a:ext>
              </a:extLst>
            </p:cNvPr>
            <p:cNvSpPr/>
            <p:nvPr/>
          </p:nvSpPr>
          <p:spPr>
            <a:xfrm>
              <a:off x="6560579" y="2516816"/>
              <a:ext cx="1789926" cy="1824367"/>
            </a:xfrm>
            <a:prstGeom prst="roundRect">
              <a:avLst/>
            </a:prstGeom>
            <a:pattFill prst="pct5">
              <a:fgClr>
                <a:schemeClr val="tx1"/>
              </a:fgClr>
              <a:bgClr>
                <a:schemeClr val="bg1"/>
              </a:bgClr>
            </a:patt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b="1" i="1" dirty="0">
                  <a:latin typeface="+mj-lt"/>
                  <a:ea typeface="Cambria Math" panose="02040503050406030204" pitchFamily="18" charset="0"/>
                </a:rPr>
                <a:t>Abstract Controller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6EF3C945-4FE1-084C-8708-CDDBC23239A3}"/>
              </a:ext>
            </a:extLst>
          </p:cNvPr>
          <p:cNvGrpSpPr/>
          <p:nvPr/>
        </p:nvGrpSpPr>
        <p:grpSpPr>
          <a:xfrm>
            <a:off x="2116862" y="4299491"/>
            <a:ext cx="3356705" cy="1717656"/>
            <a:chOff x="3032760" y="1711344"/>
            <a:chExt cx="6126480" cy="3134975"/>
          </a:xfrm>
        </p:grpSpPr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8563559E-9A01-2F4D-8B5E-AACDE30810B6}"/>
                </a:ext>
              </a:extLst>
            </p:cNvPr>
            <p:cNvSpPr/>
            <p:nvPr/>
          </p:nvSpPr>
          <p:spPr>
            <a:xfrm>
              <a:off x="3032760" y="1711344"/>
              <a:ext cx="6126480" cy="3134975"/>
            </a:xfrm>
            <a:prstGeom prst="roundRect">
              <a:avLst>
                <a:gd name="adj" fmla="val 8670"/>
              </a:avLst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000" i="1" dirty="0">
                  <a:latin typeface="+mj-lt"/>
                  <a:ea typeface="Cambria Math" panose="02040503050406030204" pitchFamily="18" charset="0"/>
                </a:rPr>
                <a:t>Concrete system</a:t>
              </a:r>
            </a:p>
            <a:p>
              <a:pPr algn="ctr"/>
              <a:endParaRPr lang="en-US" sz="2000" i="1" dirty="0">
                <a:latin typeface="+mj-lt"/>
                <a:ea typeface="Cambria Math" panose="02040503050406030204" pitchFamily="18" charset="0"/>
              </a:endParaRPr>
            </a:p>
            <a:p>
              <a:pPr algn="ctr"/>
              <a:endParaRPr lang="en-US" sz="2000" i="1" dirty="0">
                <a:latin typeface="+mj-lt"/>
                <a:ea typeface="Cambria Math" panose="02040503050406030204" pitchFamily="18" charset="0"/>
              </a:endParaRPr>
            </a:p>
            <a:p>
              <a:pPr algn="ctr"/>
              <a:endParaRPr lang="en-US" sz="2000" i="1" dirty="0">
                <a:latin typeface="+mj-lt"/>
                <a:ea typeface="Cambria Math" panose="02040503050406030204" pitchFamily="18" charset="0"/>
              </a:endParaRPr>
            </a:p>
            <a:p>
              <a:pPr algn="ctr"/>
              <a:endParaRPr lang="en-US" sz="2000" i="1" dirty="0">
                <a:latin typeface="+mj-lt"/>
                <a:ea typeface="Cambria Math" panose="02040503050406030204" pitchFamily="18" charset="0"/>
              </a:endParaRPr>
            </a:p>
            <a:p>
              <a:pPr algn="ctr"/>
              <a:endParaRPr lang="en-US" sz="2000" i="1" dirty="0">
                <a:latin typeface="+mj-lt"/>
                <a:ea typeface="Cambria Math" panose="02040503050406030204" pitchFamily="18" charset="0"/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21F0B60A-59AB-8E46-A180-2D2D6F5340D4}"/>
                </a:ext>
              </a:extLst>
            </p:cNvPr>
            <p:cNvSpPr/>
            <p:nvPr/>
          </p:nvSpPr>
          <p:spPr>
            <a:xfrm>
              <a:off x="3842779" y="2516816"/>
              <a:ext cx="1789926" cy="1824367"/>
            </a:xfrm>
            <a:prstGeom prst="roundRect">
              <a:avLst/>
            </a:prstGeom>
            <a:pattFill prst="ltUpDiag">
              <a:fgClr>
                <a:schemeClr val="tx1"/>
              </a:fgClr>
              <a:bgClr>
                <a:schemeClr val="bg1"/>
              </a:bgClr>
            </a:patt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400" b="1" i="1" dirty="0">
                  <a:latin typeface="+mj-lt"/>
                  <a:ea typeface="Cambria Math" panose="02040503050406030204" pitchFamily="18" charset="0"/>
                </a:rPr>
                <a:t>Plant</a:t>
              </a:r>
              <a:endParaRPr lang="en-US" sz="2000" b="1" i="1" dirty="0">
                <a:latin typeface="+mj-lt"/>
                <a:ea typeface="Cambria Math" panose="02040503050406030204" pitchFamily="18" charset="0"/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5B4E58A8-138B-8B4C-8428-CD89805CFC02}"/>
                </a:ext>
              </a:extLst>
            </p:cNvPr>
            <p:cNvSpPr/>
            <p:nvPr/>
          </p:nvSpPr>
          <p:spPr>
            <a:xfrm>
              <a:off x="6560579" y="2516816"/>
              <a:ext cx="1789926" cy="1824367"/>
            </a:xfrm>
            <a:prstGeom prst="roundRect">
              <a:avLst/>
            </a:prstGeom>
            <a:pattFill prst="pct20">
              <a:fgClr>
                <a:schemeClr val="tx1"/>
              </a:fgClr>
              <a:bgClr>
                <a:schemeClr val="bg1"/>
              </a:bgClr>
            </a:patt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b="1" i="1" dirty="0">
                  <a:latin typeface="+mj-lt"/>
                  <a:ea typeface="Cambria Math" panose="02040503050406030204" pitchFamily="18" charset="0"/>
                </a:rPr>
                <a:t>Controller</a:t>
              </a: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4B24B4F-3F16-E042-B487-96E1E3023B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32705" y="3197721"/>
              <a:ext cx="927874" cy="1"/>
            </a:xfrm>
            <a:prstGeom prst="line">
              <a:avLst/>
            </a:prstGeom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CB35953-9547-C845-B694-C5B3A522896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632705" y="3856089"/>
              <a:ext cx="927874" cy="1"/>
            </a:xfrm>
            <a:prstGeom prst="line">
              <a:avLst/>
            </a:prstGeom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25F5225A-F17B-654C-BC45-0C80427E88D2}"/>
              </a:ext>
            </a:extLst>
          </p:cNvPr>
          <p:cNvSpPr/>
          <p:nvPr/>
        </p:nvSpPr>
        <p:spPr>
          <a:xfrm>
            <a:off x="6930926" y="1708595"/>
            <a:ext cx="1245235" cy="1269195"/>
          </a:xfrm>
          <a:prstGeom prst="roundRect">
            <a:avLst/>
          </a:prstGeom>
          <a:pattFill prst="pct5">
            <a:fgClr>
              <a:schemeClr val="tx1"/>
            </a:fgClr>
            <a:bgClr>
              <a:schemeClr val="bg1"/>
            </a:bgClr>
          </a:patt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i="1" dirty="0">
                <a:latin typeface="+mj-lt"/>
                <a:ea typeface="Cambria Math" panose="02040503050406030204" pitchFamily="18" charset="0"/>
              </a:rPr>
              <a:t>Abstract Controller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2FE4C80-DFCB-A542-914A-EFE415EF1683}"/>
                  </a:ext>
                </a:extLst>
              </p:cNvPr>
              <p:cNvSpPr txBox="1"/>
              <p:nvPr/>
            </p:nvSpPr>
            <p:spPr>
              <a:xfrm>
                <a:off x="5778942" y="1989249"/>
                <a:ext cx="676788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≼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2FE4C80-DFCB-A542-914A-EFE415EF16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8942" y="1989249"/>
                <a:ext cx="676788" cy="707886"/>
              </a:xfrm>
              <a:prstGeom prst="rect">
                <a:avLst/>
              </a:prstGeom>
              <a:blipFill>
                <a:blip r:embed="rId2"/>
                <a:stretch>
                  <a:fillRect l="-3704" r="-3704" b="-53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D487025-3334-F340-8658-1B713B96A138}"/>
                  </a:ext>
                </a:extLst>
              </p:cNvPr>
              <p:cNvSpPr txBox="1"/>
              <p:nvPr/>
            </p:nvSpPr>
            <p:spPr>
              <a:xfrm>
                <a:off x="5713089" y="4757799"/>
                <a:ext cx="676788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≼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D487025-3334-F340-8658-1B713B96A1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3089" y="4757799"/>
                <a:ext cx="676788" cy="707886"/>
              </a:xfrm>
              <a:prstGeom prst="rect">
                <a:avLst/>
              </a:prstGeom>
              <a:blipFill>
                <a:blip r:embed="rId3"/>
                <a:stretch>
                  <a:fillRect l="-3704" r="-3704" b="-53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AE8A3672-0779-684F-9F4F-E9905CC26D0A}"/>
              </a:ext>
            </a:extLst>
          </p:cNvPr>
          <p:cNvSpPr txBox="1"/>
          <p:nvPr/>
        </p:nvSpPr>
        <p:spPr>
          <a:xfrm>
            <a:off x="1718607" y="2045861"/>
            <a:ext cx="133241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Does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763CF35-15E3-6643-822A-3CAA33554F9C}"/>
              </a:ext>
            </a:extLst>
          </p:cNvPr>
          <p:cNvSpPr txBox="1"/>
          <p:nvPr/>
        </p:nvSpPr>
        <p:spPr>
          <a:xfrm>
            <a:off x="5451128" y="3162005"/>
            <a:ext cx="14462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imply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2EA4963-0D6B-4D4F-834A-221A0991D3D7}"/>
              </a:ext>
            </a:extLst>
          </p:cNvPr>
          <p:cNvSpPr txBox="1"/>
          <p:nvPr/>
        </p:nvSpPr>
        <p:spPr>
          <a:xfrm>
            <a:off x="10225628" y="4721441"/>
            <a:ext cx="44595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503988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21" grpId="0"/>
      <p:bldP spid="22" grpId="0"/>
      <p:bldP spid="2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Hybrid IO Automaton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774702" y="1457367"/>
                <a:ext cx="7373674" cy="4525963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000" dirty="0"/>
                  <a:t>Recall a hybrid automaton 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=⟨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sz="20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𝑫</m:t>
                    </m:r>
                    <m:r>
                      <a:rPr lang="en-US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0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𝑻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000" dirty="0"/>
                  <a:t> </a:t>
                </a:r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:r>
                  <a:rPr lang="en-US" sz="2000" dirty="0"/>
                  <a:t>We will partition the set of variables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of 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sz="2000" dirty="0"/>
                  <a:t> into</a:t>
                </a:r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000" dirty="0"/>
                  <a:t>: </a:t>
                </a:r>
                <a:r>
                  <a:rPr lang="en-US" sz="2000" b="1" dirty="0">
                    <a:solidFill>
                      <a:srgbClr val="00B0F0"/>
                    </a:solidFill>
                  </a:rPr>
                  <a:t>internal or state variables</a:t>
                </a:r>
                <a:r>
                  <a:rPr lang="en-US" sz="2000" dirty="0"/>
                  <a:t> (do not interact)</a:t>
                </a:r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sz="2000" dirty="0"/>
                  <a:t>: </a:t>
                </a:r>
                <a:r>
                  <a:rPr lang="en-US" sz="2000" b="1" dirty="0">
                    <a:solidFill>
                      <a:srgbClr val="00B0F0"/>
                    </a:solidFill>
                  </a:rPr>
                  <a:t>output</a:t>
                </a:r>
                <a:r>
                  <a:rPr lang="en-US" sz="2000" dirty="0"/>
                  <a:t> variables</a:t>
                </a:r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sz="2000" dirty="0"/>
                  <a:t>: </a:t>
                </a:r>
                <a:r>
                  <a:rPr lang="en-US" sz="2000" b="1" dirty="0">
                    <a:solidFill>
                      <a:srgbClr val="00B0F0"/>
                    </a:solidFill>
                  </a:rPr>
                  <a:t>input</a:t>
                </a:r>
                <a:r>
                  <a:rPr lang="en-US" sz="2000" dirty="0"/>
                  <a:t> variables</a:t>
                </a:r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</m:oMath>
                </a14:m>
                <a:endParaRPr lang="en-US" sz="2000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000" dirty="0"/>
                  <a:t>This gives rise to </a:t>
                </a:r>
                <a:r>
                  <a:rPr lang="en-US" sz="2000" b="1" dirty="0">
                    <a:solidFill>
                      <a:srgbClr val="00B0F0"/>
                    </a:solidFill>
                  </a:rPr>
                  <a:t>hybrid I/O automata (HIOA)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000" b="1" dirty="0"/>
                  <a:t>[Lynch, </a:t>
                </a:r>
                <a:r>
                  <a:rPr lang="en-US" sz="2000" b="1" dirty="0" err="1"/>
                  <a:t>Segala</a:t>
                </a:r>
                <a:r>
                  <a:rPr lang="en-US" sz="2000" b="1" dirty="0"/>
                  <a:t>, </a:t>
                </a:r>
                <a:r>
                  <a:rPr lang="en-US" sz="2000" b="1" dirty="0" err="1"/>
                  <a:t>Vaandrager</a:t>
                </a:r>
                <a:r>
                  <a:rPr lang="en-US" sz="2000" b="1" dirty="0"/>
                  <a:t> 2002]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2000" dirty="0"/>
                  <a:t>We define composition of compatible HA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||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000" dirty="0"/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sz="2000" dirty="0"/>
              </a:p>
              <a:p>
                <a:endParaRPr lang="en-US" sz="2000" dirty="0">
                  <a:solidFill>
                    <a:srgbClr val="00B0F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74702" y="1457367"/>
                <a:ext cx="7373674" cy="4525963"/>
              </a:xfrm>
              <a:blipFill>
                <a:blip r:embed="rId2"/>
                <a:stretch>
                  <a:fillRect l="-687" t="-16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/>
              <p:cNvSpPr/>
              <p:nvPr/>
            </p:nvSpPr>
            <p:spPr>
              <a:xfrm>
                <a:off x="8135676" y="1854200"/>
                <a:ext cx="2209800" cy="1828800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Plant</a:t>
                </a:r>
              </a:p>
              <a:p>
                <a:pPr algn="ctr"/>
                <a:endParaRPr lang="en-US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acc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4" name="Rectangle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676" y="1854200"/>
                <a:ext cx="2209800" cy="18288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8135676" y="4089681"/>
                <a:ext cx="2209800" cy="137608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Controller</a:t>
                </a:r>
              </a:p>
              <a:p>
                <a:pPr algn="ctr"/>
                <a:endParaRPr lang="en-US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676" y="4089681"/>
                <a:ext cx="2209800" cy="1376081"/>
              </a:xfrm>
              <a:prstGeom prst="rect">
                <a:avLst/>
              </a:prstGeom>
              <a:blipFill>
                <a:blip r:embed="rId4"/>
                <a:stretch>
                  <a:fillRect t="-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Elbow Connector 6"/>
          <p:cNvCxnSpPr>
            <a:cxnSpLocks/>
            <a:stCxn id="5" idx="1"/>
            <a:endCxn id="4" idx="1"/>
          </p:cNvCxnSpPr>
          <p:nvPr/>
        </p:nvCxnSpPr>
        <p:spPr>
          <a:xfrm rot="10800000">
            <a:off x="8135676" y="2768602"/>
            <a:ext cx="12700" cy="2009121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Elbow Connector 7"/>
          <p:cNvCxnSpPr>
            <a:cxnSpLocks/>
            <a:stCxn id="4" idx="3"/>
            <a:endCxn id="5" idx="3"/>
          </p:cNvCxnSpPr>
          <p:nvPr/>
        </p:nvCxnSpPr>
        <p:spPr>
          <a:xfrm>
            <a:off x="10345476" y="2768601"/>
            <a:ext cx="12700" cy="2009121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/>
              <p:cNvSpPr/>
              <p:nvPr/>
            </p:nvSpPr>
            <p:spPr>
              <a:xfrm>
                <a:off x="10562375" y="3720349"/>
                <a:ext cx="46243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Rectangle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62375" y="3720349"/>
                <a:ext cx="462434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/>
              <p:cNvSpPr/>
              <p:nvPr/>
            </p:nvSpPr>
            <p:spPr>
              <a:xfrm>
                <a:off x="7463577" y="3683000"/>
                <a:ext cx="46775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Rectangle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3577" y="3683000"/>
                <a:ext cx="467757" cy="369332"/>
              </a:xfrm>
              <a:prstGeom prst="rect">
                <a:avLst/>
              </a:prstGeom>
              <a:blipFill>
                <a:blip r:embed="rId6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8886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Composition of Hybrid Automata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parallel </a:t>
                </a:r>
                <a:r>
                  <a:rPr lang="en-US" b="1" dirty="0">
                    <a:solidFill>
                      <a:srgbClr val="00B0F0"/>
                    </a:solidFill>
                  </a:rPr>
                  <a:t>composition</a:t>
                </a:r>
                <a:r>
                  <a:rPr lang="en-US" dirty="0"/>
                  <a:t> operation on automata enable us to construct larger and more complex models from simpler automata modules</a:t>
                </a:r>
              </a:p>
              <a:p>
                <a:pPr marL="0" indent="0">
                  <a:buNone/>
                </a:pPr>
                <a:endParaRPr lang="en-US" i="1" dirty="0">
                  <a:latin typeface="Cambria Math"/>
                  <a:ea typeface="Cambria Math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 are </a:t>
                </a:r>
                <a:r>
                  <a:rPr lang="en-US" b="1" dirty="0">
                    <a:solidFill>
                      <a:srgbClr val="00B0F0"/>
                    </a:solidFill>
                  </a:rPr>
                  <a:t>compatible</a:t>
                </a:r>
                <a:r>
                  <a:rPr lang="en-US" dirty="0"/>
                  <a:t> if X</a:t>
                </a:r>
                <a:r>
                  <a:rPr lang="en-US" baseline="-25000" dirty="0"/>
                  <a:t>1</a:t>
                </a:r>
                <a:r>
                  <a:rPr lang="en-US" dirty="0"/>
                  <a:t> </a:t>
                </a:r>
                <a:r>
                  <a:rPr lang="en-US" dirty="0">
                    <a:latin typeface="Cambria Math"/>
                    <a:ea typeface="Cambria Math"/>
                  </a:rPr>
                  <a:t>∩ X</a:t>
                </a:r>
                <a:r>
                  <a:rPr lang="en-US" baseline="-25000" dirty="0">
                    <a:latin typeface="Cambria Math"/>
                    <a:ea typeface="Cambria Math"/>
                  </a:rPr>
                  <a:t>2</a:t>
                </a:r>
                <a:r>
                  <a:rPr lang="en-US" dirty="0">
                    <a:latin typeface="Cambria Math"/>
                    <a:ea typeface="Cambria Math"/>
                  </a:rPr>
                  <a:t> = H</a:t>
                </a:r>
                <a:r>
                  <a:rPr lang="en-US" baseline="-25000" dirty="0">
                    <a:latin typeface="Cambria Math"/>
                    <a:ea typeface="Cambria Math"/>
                  </a:rPr>
                  <a:t>1</a:t>
                </a:r>
                <a:r>
                  <a:rPr lang="en-US" dirty="0">
                    <a:latin typeface="Cambria Math"/>
                    <a:ea typeface="Cambria Math"/>
                  </a:rPr>
                  <a:t> ∩ A</a:t>
                </a:r>
                <a:r>
                  <a:rPr lang="en-US" baseline="-25000" dirty="0">
                    <a:latin typeface="Cambria Math"/>
                    <a:ea typeface="Cambria Math"/>
                  </a:rPr>
                  <a:t>2</a:t>
                </a:r>
                <a:r>
                  <a:rPr lang="en-US" dirty="0">
                    <a:latin typeface="Cambria Math"/>
                    <a:ea typeface="Cambria Math"/>
                  </a:rPr>
                  <a:t> = H</a:t>
                </a:r>
                <a:r>
                  <a:rPr lang="en-US" baseline="-25000" dirty="0">
                    <a:latin typeface="Cambria Math"/>
                    <a:ea typeface="Cambria Math"/>
                  </a:rPr>
                  <a:t>2</a:t>
                </a:r>
                <a:r>
                  <a:rPr lang="en-US" dirty="0">
                    <a:latin typeface="Cambria Math"/>
                    <a:ea typeface="Cambria Math"/>
                  </a:rPr>
                  <a:t> ∩ A</a:t>
                </a:r>
                <a:r>
                  <a:rPr lang="en-US" baseline="-25000" dirty="0">
                    <a:latin typeface="Cambria Math"/>
                    <a:ea typeface="Cambria Math"/>
                  </a:rPr>
                  <a:t>1</a:t>
                </a:r>
                <a:r>
                  <a:rPr lang="en-US" dirty="0">
                    <a:latin typeface="Cambria Math"/>
                    <a:ea typeface="Cambria Math"/>
                  </a:rPr>
                  <a:t> = ∅</a:t>
                </a:r>
              </a:p>
              <a:p>
                <a:pPr marL="0" indent="0">
                  <a:buNone/>
                </a:pPr>
                <a:endParaRPr lang="en-US" dirty="0">
                  <a:latin typeface="+mj-lt"/>
                  <a:ea typeface="Cambria Math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j-lt"/>
                    <a:ea typeface="Cambria Math"/>
                  </a:rPr>
                  <a:t>Variable names are disjoint; Action names of one are disjoint with the internal action names of the other</a:t>
                </a:r>
                <a:endParaRPr lang="en-US" dirty="0">
                  <a:latin typeface="+mj-lt"/>
                </a:endParaRPr>
              </a:p>
            </p:txBody>
          </p:sp>
        </mc:Choice>
        <mc:Fallback xmlns="">
          <p:sp>
            <p:nvSpPr>
              <p:cNvPr id="5" name="Content Placeholder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8092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46100" y="1600200"/>
                <a:ext cx="11125200" cy="4953000"/>
              </a:xfrm>
            </p:spPr>
            <p:txBody>
              <a:bodyPr>
                <a:normAutofit fontScale="77500" lnSpcReduction="2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dirty="0">
                    <a:ea typeface="Cambria Math"/>
                  </a:rPr>
                  <a:t>For compatible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 </a:t>
                </a:r>
                <a:r>
                  <a:rPr lang="en-US" dirty="0"/>
                  <a:t>their composition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||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 is the structure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/>
                        <a:ea typeface="Cambria Math"/>
                      </a:rPr>
                      <m:t>𝓐</m:t>
                    </m:r>
                  </m:oMath>
                </a14:m>
                <a:r>
                  <a:rPr lang="en-US" dirty="0"/>
                  <a:t>=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l-GR" i="1">
                            <a:latin typeface="Cambria Math"/>
                            <a:ea typeface="Cambria Math"/>
                          </a:rPr>
                          <m:t>Θ</m:t>
                        </m:r>
                        <m:r>
                          <a:rPr lang="en-US" i="1">
                            <a:latin typeface="Cambria Math"/>
                            <a:ea typeface="Cambria Math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𝐴</m:t>
                        </m:r>
                        <m:r>
                          <a:rPr lang="en-US" i="1">
                            <a:latin typeface="Cambria Math"/>
                            <a:ea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  <a:ea typeface="Cambria Math"/>
                          </a:rPr>
                          <m:t>𝒟</m:t>
                        </m:r>
                        <m:r>
                          <a:rPr lang="en-US" i="1">
                            <a:latin typeface="Cambria Math"/>
                            <a:ea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  <a:ea typeface="Cambria Math"/>
                          </a:rPr>
                          <m:t>𝒯</m:t>
                        </m:r>
                      </m:e>
                    </m:d>
                  </m:oMath>
                </a14:m>
                <a:endParaRPr lang="en-US" dirty="0">
                  <a:ea typeface="Cambria Math"/>
                </a:endParaRPr>
              </a:p>
              <a:p>
                <a:pPr>
                  <a:lnSpc>
                    <a:spcPct val="120000"/>
                  </a:lnSpc>
                </a:pPr>
                <a:r>
                  <a:rPr lang="en-US" dirty="0"/>
                  <a:t>Variables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∪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𝑌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∪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𝑈</m:t>
                    </m:r>
                    <m:r>
                      <a:rPr lang="en-US" i="1" baseline="-2500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</m:oMath>
                </a14:m>
                <a:endParaRPr lang="en-US" dirty="0"/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B0F0"/>
                        </a:solidFill>
                        <a:latin typeface="Cambria Math"/>
                      </a:rPr>
                      <m:t>𝑋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/>
                      </a:rPr>
                      <m:t>=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/>
                      </a:rPr>
                      <m:t>𝑋</m:t>
                    </m:r>
                    <m:r>
                      <a:rPr lang="en-US" b="0" i="1" baseline="-25000" smtClean="0">
                        <a:solidFill>
                          <a:srgbClr val="00B0F0"/>
                        </a:solidFill>
                        <a:latin typeface="Cambria Math"/>
                      </a:rPr>
                      <m:t>1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/>
                      </a:rPr>
                      <m:t> 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∪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𝑋</m:t>
                    </m:r>
                    <m:r>
                      <a:rPr lang="en-US" b="0" i="1" baseline="-25000" smtClean="0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2</m:t>
                    </m:r>
                  </m:oMath>
                </a14:m>
                <a:r>
                  <a:rPr lang="en-US" b="1" dirty="0">
                    <a:solidFill>
                      <a:srgbClr val="00B0F0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Y</m:t>
                    </m:r>
                    <m:r>
                      <a:rPr lang="en-US" i="1">
                        <a:solidFill>
                          <a:srgbClr val="00B0F0"/>
                        </a:solidFill>
                        <a:latin typeface="Cambria Math"/>
                      </a:rPr>
                      <m:t>=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i="1" baseline="-25000">
                        <a:solidFill>
                          <a:srgbClr val="00B0F0"/>
                        </a:solidFill>
                        <a:latin typeface="Cambria Math"/>
                      </a:rPr>
                      <m:t>1</m:t>
                    </m:r>
                    <m:r>
                      <a:rPr lang="en-US" i="1">
                        <a:solidFill>
                          <a:srgbClr val="00B0F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∪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/>
                      </a:rPr>
                      <m:t>𝑌</m:t>
                    </m:r>
                    <m:r>
                      <a:rPr lang="en-US" i="1" baseline="-25000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2</m:t>
                    </m:r>
                  </m:oMath>
                </a14:m>
                <a:r>
                  <a:rPr lang="en-US" b="1" dirty="0">
                    <a:solidFill>
                      <a:srgbClr val="00B0F0"/>
                    </a:solidFill>
                  </a:rPr>
                  <a:t> ,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i="1">
                        <a:solidFill>
                          <a:srgbClr val="00B0F0"/>
                        </a:solidFill>
                        <a:latin typeface="Cambria Math"/>
                      </a:rPr>
                      <m:t>=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i="1" baseline="-25000">
                        <a:solidFill>
                          <a:srgbClr val="00B0F0"/>
                        </a:solidFill>
                        <a:latin typeface="Cambria Math"/>
                      </a:rPr>
                      <m:t>1</m:t>
                    </m:r>
                    <m:r>
                      <a:rPr lang="en-US" i="1">
                        <a:solidFill>
                          <a:srgbClr val="00B0F0"/>
                        </a:solidFill>
                        <a:latin typeface="Cambria Math"/>
                      </a:rPr>
                      <m:t> </m:t>
                    </m:r>
                    <m:r>
                      <a:rPr lang="en-US" i="1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∪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/>
                      </a:rPr>
                      <m:t>∖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/>
                      </a:rPr>
                      <m:t>𝑌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</m:oMath>
                </a14:m>
                <a:endParaRPr lang="en-US" i="1" dirty="0">
                  <a:solidFill>
                    <a:srgbClr val="00B0F0"/>
                  </a:solidFill>
                  <a:latin typeface="Cambria Math"/>
                </a:endParaRPr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/>
                        <a:ea typeface="Cambria Math"/>
                      </a:rPr>
                      <m:t>Θ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/>
                            <a:ea typeface="Cambria Math"/>
                          </a:rPr>
                          <m:t> </m:t>
                        </m:r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/>
                            <a:ea typeface="Cambria Math"/>
                          </a:rPr>
                          <m:t>𝒙</m:t>
                        </m:r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/>
                            <a:ea typeface="Cambria Math"/>
                          </a:rPr>
                          <m:t>∈</m:t>
                        </m:r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  <m:t>𝑣𝑎𝑙</m:t>
                        </m:r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  <m:t>𝑋</m:t>
                        </m:r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  <m:t>)</m:t>
                        </m:r>
                      </m:e>
                    </m:d>
                    <m:r>
                      <a:rPr lang="en-US" b="1" i="1" smtClean="0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 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∀ 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𝑖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 ∈</m:t>
                    </m:r>
                    <m:d>
                      <m:dPr>
                        <m:begChr m:val="{"/>
                        <m:endChr m:val="}"/>
                        <m:ctrlPr>
                          <a:rPr lang="en-US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/>
                            <a:ea typeface="Cambria Math"/>
                          </a:rPr>
                          <m:t>1,2</m:t>
                        </m:r>
                      </m:e>
                    </m:d>
                    <m:r>
                      <a:rPr lang="en-US" b="1" i="1" smtClean="0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: </m:t>
                    </m:r>
                    <m:r>
                      <a:rPr lang="en-US" b="1" i="1" smtClean="0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/>
                      </a:rPr>
                      <m:t>⌈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/>
                            <a:ea typeface="Cambria Math"/>
                          </a:rPr>
                          <m:t>𝑋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  <m:t>𝒊</m:t>
                        </m:r>
                      </m:sub>
                    </m:sSub>
                    <m:r>
                      <a:rPr lang="en-US" b="1" i="1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∈</m:t>
                    </m:r>
                    <m:r>
                      <m:rPr>
                        <m:sty m:val="p"/>
                      </m:rPr>
                      <a:rPr lang="el-GR" i="1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Θ</m:t>
                    </m:r>
                    <m:r>
                      <a:rPr lang="en-US" b="0" i="1" baseline="-25000" smtClean="0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𝑖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}</m:t>
                    </m:r>
                  </m:oMath>
                </a14:m>
                <a:endParaRPr lang="en-US" b="1" dirty="0">
                  <a:solidFill>
                    <a:schemeClr val="accent6">
                      <a:lumMod val="75000"/>
                    </a:schemeClr>
                  </a:solidFill>
                </a:endParaRPr>
              </a:p>
              <a:p>
                <a:pPr>
                  <a:lnSpc>
                    <a:spcPct val="120000"/>
                  </a:lnSpc>
                </a:pPr>
                <a:r>
                  <a:rPr lang="en-US" b="0" dirty="0"/>
                  <a:t>Actions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𝐻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∪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∪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𝐼</m:t>
                    </m:r>
                  </m:oMath>
                </a14:m>
                <a:endParaRPr lang="en-US" b="0" dirty="0"/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𝐻</m:t>
                    </m:r>
                    <m:r>
                      <a:rPr lang="en-US" i="1" baseline="-25000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∪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𝐻</m:t>
                    </m:r>
                    <m:r>
                      <a:rPr lang="en-US" i="1" baseline="-25000">
                        <a:latin typeface="Cambria Math"/>
                        <a:ea typeface="Cambria Math"/>
                      </a:rPr>
                      <m:t>2</m:t>
                    </m:r>
                  </m:oMath>
                </a14:m>
                <a:r>
                  <a:rPr lang="en-US" b="1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O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baseline="-25000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∪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𝑂</m:t>
                    </m:r>
                    <m:r>
                      <a:rPr lang="en-US" i="1" baseline="-25000">
                        <a:latin typeface="Cambria Math"/>
                        <a:ea typeface="Cambria Math"/>
                      </a:rPr>
                      <m:t>2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,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en-US" b="0" i="1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i="1" baseline="-25000">
                        <a:latin typeface="Cambria Math"/>
                      </a:rPr>
                      <m:t>1</m:t>
                    </m:r>
                    <m:r>
                      <a:rPr lang="en-US" i="1">
                        <a:latin typeface="Cambria Math"/>
                      </a:rPr>
                      <m:t> 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∪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, </m:t>
                    </m:r>
                  </m:oMath>
                </a14:m>
                <a:endParaRPr lang="en-US" i="1" dirty="0">
                  <a:latin typeface="Cambria Math"/>
                </a:endParaRPr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/>
                            <a:ea typeface="Cambria Math"/>
                          </a:rPr>
                          <m:t>𝒙</m:t>
                        </m:r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,</m:t>
                        </m:r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𝑎</m:t>
                        </m:r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,</m:t>
                        </m:r>
                        <m:r>
                          <a:rPr lang="en-US" b="1" i="1" smtClean="0">
                            <a:latin typeface="Cambria Math"/>
                            <a:ea typeface="Cambria Math"/>
                          </a:rPr>
                          <m:t>𝒙</m:t>
                        </m:r>
                        <m:r>
                          <a:rPr lang="en-US" b="1" i="1" smtClean="0">
                            <a:latin typeface="Cambria Math" charset="0"/>
                            <a:ea typeface="Cambria Math"/>
                          </a:rPr>
                          <m:t>′</m:t>
                        </m:r>
                      </m:e>
                    </m:d>
                    <m:r>
                      <a:rPr lang="en-US" b="0" i="1" smtClean="0">
                        <a:latin typeface="Cambria Math"/>
                        <a:ea typeface="Cambria Math"/>
                      </a:rPr>
                      <m:t>∈ 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𝒟</m:t>
                    </m:r>
                  </m:oMath>
                </a14:m>
                <a:r>
                  <a:rPr lang="en-US" i="1" dirty="0">
                    <a:ea typeface="Cambria Math"/>
                  </a:rPr>
                  <a:t> </a:t>
                </a:r>
                <a:r>
                  <a:rPr lang="en-US" i="1" dirty="0" err="1">
                    <a:ea typeface="Cambria Math"/>
                  </a:rPr>
                  <a:t>iff</a:t>
                </a:r>
                <a:r>
                  <a:rPr lang="en-US" i="1" dirty="0">
                    <a:ea typeface="Cambria Math"/>
                  </a:rPr>
                  <a:t>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∈{1,2}</m:t>
                    </m:r>
                  </m:oMath>
                </a14:m>
                <a:endParaRPr lang="en-US" i="1" dirty="0">
                  <a:ea typeface="Cambria Math"/>
                </a:endParaRPr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𝑎</m:t>
                    </m:r>
                  </m:oMath>
                </a14:m>
                <a:r>
                  <a:rPr lang="en-US" dirty="0">
                    <a:ea typeface="Cambria Math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i="1" dirty="0">
                    <a:ea typeface="Cambria Math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  <a:ea typeface="Cambria Math"/>
                      </a:rPr>
                      <m:t>(</m:t>
                    </m:r>
                    <m:r>
                      <a:rPr lang="en-US" b="1" i="1"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/>
                        <a:ea typeface="Cambria Math"/>
                      </a:rPr>
                      <m:t>,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𝑎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,</m:t>
                    </m:r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/>
                            <a:ea typeface="Cambria Math"/>
                          </a:rPr>
                          <m:t>𝒙</m:t>
                        </m:r>
                      </m:e>
                      <m:sup>
                        <m:r>
                          <a:rPr lang="en-US" b="1" i="1" smtClean="0">
                            <a:latin typeface="Cambria Math"/>
                            <a:ea typeface="Cambria Math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ea typeface="Cambria Math"/>
                  </a:rPr>
                  <a:t>)</a:t>
                </a:r>
                <a:r>
                  <a:rPr lang="en-US" i="1" dirty="0">
                    <a:ea typeface="Cambria Math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∈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i="1" dirty="0">
                    <a:ea typeface="Cambria Math"/>
                  </a:rPr>
                  <a:t> </a:t>
                </a:r>
              </a:p>
              <a:p>
                <a:pPr lvl="1"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𝑎</m:t>
                    </m:r>
                  </m:oMath>
                </a14:m>
                <a:r>
                  <a:rPr lang="en-US" dirty="0">
                    <a:ea typeface="Cambria Math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∉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𝐴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i="1" dirty="0">
                    <a:ea typeface="Cambria Math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/>
                        <a:ea typeface="Cambria Math"/>
                      </a:rPr>
                      <m:t>=</m:t>
                    </m:r>
                    <m:r>
                      <a:rPr lang="en-US" b="1" i="1"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⌈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𝑖</m:t>
                        </m:r>
                      </m:sub>
                    </m:sSub>
                    <m:r>
                      <a:rPr lang="en-US" b="0" i="1" baseline="-25000" smtClean="0">
                        <a:latin typeface="Cambria Math" panose="02040503050406030204" pitchFamily="18" charset="0"/>
                        <a:ea typeface="Cambria Math"/>
                      </a:rPr>
                      <m:t>  </m:t>
                    </m:r>
                  </m:oMath>
                </a14:m>
                <a:endParaRPr lang="en-US" b="0" i="1" baseline="-25000" dirty="0">
                  <a:latin typeface="Cambria Math" panose="02040503050406030204" pitchFamily="18" charset="0"/>
                  <a:ea typeface="Cambria Math"/>
                </a:endParaRPr>
              </a:p>
              <a:p>
                <a:pPr>
                  <a:lnSpc>
                    <a:spcPct val="120000"/>
                  </a:lnSpc>
                </a:pP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𝒯</m:t>
                    </m:r>
                  </m:oMath>
                </a14:m>
                <a:r>
                  <a:rPr lang="en-US" i="1" dirty="0">
                    <a:solidFill>
                      <a:srgbClr val="00B0F0"/>
                    </a:solidFill>
                  </a:rPr>
                  <a:t>: </a:t>
                </a:r>
                <a:r>
                  <a:rPr lang="en-US" dirty="0">
                    <a:solidFill>
                      <a:srgbClr val="00B0F0"/>
                    </a:solidFill>
                  </a:rPr>
                  <a:t>set of </a:t>
                </a:r>
                <a:r>
                  <a:rPr lang="en-US" b="1" dirty="0">
                    <a:solidFill>
                      <a:srgbClr val="00B0F0"/>
                    </a:solidFill>
                  </a:rPr>
                  <a:t>trajectories</a:t>
                </a:r>
                <a:r>
                  <a:rPr lang="en-US" dirty="0">
                    <a:solidFill>
                      <a:srgbClr val="00B0F0"/>
                    </a:solidFill>
                  </a:rPr>
                  <a:t> for V</a:t>
                </a:r>
                <a:r>
                  <a:rPr lang="en-US" i="1" dirty="0">
                    <a:solidFill>
                      <a:srgbClr val="00B0F0"/>
                    </a:solidFill>
                  </a:rPr>
                  <a:t> 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i="1" dirty="0">
                    <a:solidFill>
                      <a:srgbClr val="00B0F0"/>
                    </a:solidFill>
                    <a:latin typeface="Cambria Math"/>
                    <a:ea typeface="Cambria Math"/>
                  </a:rPr>
                  <a:t>𝜏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∈ </m:t>
                    </m:r>
                    <m:r>
                      <a:rPr lang="en-US" i="1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𝒯</m:t>
                    </m:r>
                  </m:oMath>
                </a14:m>
                <a:r>
                  <a:rPr lang="en-US" dirty="0">
                    <a:solidFill>
                      <a:srgbClr val="00B0F0"/>
                    </a:solidFill>
                  </a:rPr>
                  <a:t> iff 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∀ </m:t>
                    </m:r>
                    <m:r>
                      <a:rPr lang="en-US" i="1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𝑖</m:t>
                    </m:r>
                    <m:r>
                      <a:rPr lang="en-US" i="1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 ∈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B0F0"/>
                            </a:solidFill>
                            <a:latin typeface="Cambria Math"/>
                            <a:ea typeface="Cambria Math"/>
                          </a:rPr>
                          <m:t>1,2</m:t>
                        </m:r>
                      </m:e>
                    </m:d>
                  </m:oMath>
                </a14:m>
                <a:r>
                  <a:rPr lang="en-US" i="1" dirty="0">
                    <a:solidFill>
                      <a:srgbClr val="00B0F0"/>
                    </a:solidFill>
                    <a:latin typeface="Cambria Math"/>
                    <a:ea typeface="Cambria Math"/>
                  </a:rPr>
                  <a:t>,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/>
                      </a:rPr>
                      <m:t>𝜏</m:t>
                    </m:r>
                    <m:r>
                      <a:rPr lang="en-US" b="0" i="1" smtClean="0">
                        <a:solidFill>
                          <a:srgbClr val="00B0F0"/>
                        </a:solidFill>
                        <a:latin typeface="Cambria Math" panose="02040503050406030204" pitchFamily="18" charset="0"/>
                        <a:ea typeface="Cambria Math"/>
                      </a:rPr>
                      <m:t>↓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i="1" dirty="0">
                    <a:solidFill>
                      <a:srgbClr val="00B0F0"/>
                    </a:solidFill>
                    <a:latin typeface="Cambria Math"/>
                    <a:ea typeface="Cambria Math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∈</m:t>
                    </m:r>
                    <m:r>
                      <a:rPr lang="en-US" i="1">
                        <a:solidFill>
                          <a:srgbClr val="00B0F0"/>
                        </a:solidFill>
                        <a:latin typeface="Cambria Math"/>
                        <a:ea typeface="Cambria Math"/>
                      </a:rPr>
                      <m:t>𝒯</m:t>
                    </m:r>
                  </m:oMath>
                </a14:m>
                <a:r>
                  <a:rPr lang="en-US" baseline="-25000" dirty="0" err="1">
                    <a:solidFill>
                      <a:srgbClr val="00B0F0"/>
                    </a:solidFill>
                  </a:rPr>
                  <a:t>i</a:t>
                </a:r>
                <a:r>
                  <a:rPr lang="en-US" dirty="0">
                    <a:solidFill>
                      <a:srgbClr val="00B0F0"/>
                    </a:solidFill>
                  </a:rPr>
                  <a:t>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en-US" b="1" i="1" dirty="0">
                  <a:latin typeface="Cambria Math"/>
                  <a:ea typeface="Cambria Math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6100" y="1600200"/>
                <a:ext cx="11125200" cy="4953000"/>
              </a:xfrm>
              <a:blipFill>
                <a:blip r:embed="rId3"/>
                <a:stretch>
                  <a:fillRect l="-570" t="-7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027507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8BD32CA6-87F6-F645-9059-5D12493AC0D6}"/>
                  </a:ext>
                </a:extLst>
              </p:cNvPr>
              <p:cNvSpPr/>
              <p:nvPr/>
            </p:nvSpPr>
            <p:spPr>
              <a:xfrm>
                <a:off x="4923693" y="248134"/>
                <a:ext cx="2675975" cy="1672602"/>
              </a:xfrm>
              <a:prstGeom prst="round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  <a:p>
                <a:pPr algn="ctr"/>
                <a:endParaRPr lang="en-US" sz="1600" dirty="0"/>
              </a:p>
              <a:p>
                <a:pPr algn="ctr"/>
                <a:endParaRPr lang="en-US" sz="1600" dirty="0"/>
              </a:p>
              <a:p>
                <a:pPr algn="ctr"/>
                <a:endParaRPr lang="en-US" sz="1600" dirty="0"/>
              </a:p>
              <a:p>
                <a:pPr algn="ctr"/>
                <a:endParaRPr lang="en-US" sz="1600" dirty="0"/>
              </a:p>
            </p:txBody>
          </p:sp>
        </mc:Choice>
        <mc:Fallback xmlns=""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8BD32CA6-87F6-F645-9059-5D12493AC0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3693" y="248134"/>
                <a:ext cx="2675975" cy="1672602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8E8BEDB-0F03-384B-B08E-903EC5925AB7}"/>
              </a:ext>
            </a:extLst>
          </p:cNvPr>
          <p:cNvSpPr/>
          <p:nvPr/>
        </p:nvSpPr>
        <p:spPr>
          <a:xfrm>
            <a:off x="2215146" y="2092877"/>
            <a:ext cx="2675975" cy="272746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6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  <a:p>
            <a:pPr algn="ctr"/>
            <a:endParaRPr lang="en-US" sz="1600" dirty="0"/>
          </a:p>
          <a:p>
            <a:pPr algn="ctr"/>
            <a:endParaRPr lang="en-US" sz="1600" dirty="0"/>
          </a:p>
          <a:p>
            <a:pPr algn="ctr"/>
            <a:endParaRPr lang="en-US" sz="1600" dirty="0"/>
          </a:p>
          <a:p>
            <a:pPr algn="ctr"/>
            <a:endParaRPr lang="en-US" sz="1600" dirty="0"/>
          </a:p>
          <a:p>
            <a:pPr algn="ctr"/>
            <a:endParaRPr lang="en-US" sz="1600" dirty="0"/>
          </a:p>
          <a:p>
            <a:pPr algn="ctr"/>
            <a:endParaRPr lang="en-US" sz="16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ED705BC-758F-9C48-A1ED-E5E298551D1D}"/>
              </a:ext>
            </a:extLst>
          </p:cNvPr>
          <p:cNvGrpSpPr/>
          <p:nvPr/>
        </p:nvGrpSpPr>
        <p:grpSpPr>
          <a:xfrm>
            <a:off x="2835480" y="2232503"/>
            <a:ext cx="1563324" cy="2462698"/>
            <a:chOff x="6830202" y="3738770"/>
            <a:chExt cx="533401" cy="30860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DE528FA1-1833-884D-B5CA-81D9260602C7}"/>
                    </a:ext>
                  </a:extLst>
                </p:cNvPr>
                <p:cNvSpPr/>
                <p:nvPr/>
              </p:nvSpPr>
              <p:spPr>
                <a:xfrm>
                  <a:off x="6830203" y="3738770"/>
                  <a:ext cx="533400" cy="533400"/>
                </a:xfrm>
                <a:prstGeom prst="ellipse">
                  <a:avLst/>
                </a:prstGeom>
                <a:ln w="12700"/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1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̇"/>
                                <m:ctrlPr>
                                  <a:rPr lang="en-US" sz="11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1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en-US" sz="11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1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100" i="1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sz="11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1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1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1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1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100" i="1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sz="11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1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100" dirty="0"/>
                </a:p>
              </p:txBody>
            </p:sp>
          </mc:Choice>
          <mc:Fallback xmlns="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DE528FA1-1833-884D-B5CA-81D9260602C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0203" y="3738770"/>
                  <a:ext cx="533400" cy="533400"/>
                </a:xfrm>
                <a:prstGeom prst="ellipse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 w="12700"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7572FAB1-241F-364D-AC98-4095B549C7D3}"/>
                </a:ext>
              </a:extLst>
            </p:cNvPr>
            <p:cNvSpPr/>
            <p:nvPr/>
          </p:nvSpPr>
          <p:spPr>
            <a:xfrm>
              <a:off x="6830203" y="5015120"/>
              <a:ext cx="533400" cy="533400"/>
            </a:xfrm>
            <a:prstGeom prst="ellips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00" dirty="0"/>
                <a:t>e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5CB81BA-A3CF-DE4C-807B-15985D9482D8}"/>
                </a:ext>
              </a:extLst>
            </p:cNvPr>
            <p:cNvSpPr/>
            <p:nvPr/>
          </p:nvSpPr>
          <p:spPr>
            <a:xfrm>
              <a:off x="6830202" y="6291469"/>
              <a:ext cx="533400" cy="533400"/>
            </a:xfrm>
            <a:prstGeom prst="ellips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00" dirty="0"/>
                <a:t>f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B321B22-7B47-644E-AC72-41F83A8D6E7F}"/>
                </a:ext>
              </a:extLst>
            </p:cNvPr>
            <p:cNvCxnSpPr>
              <a:stCxn id="7" idx="4"/>
              <a:endCxn id="8" idx="0"/>
            </p:cNvCxnSpPr>
            <p:nvPr/>
          </p:nvCxnSpPr>
          <p:spPr>
            <a:xfrm>
              <a:off x="7096903" y="4272170"/>
              <a:ext cx="0" cy="74295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2A829CB8-ED48-3446-BA38-6701245A10A0}"/>
                </a:ext>
              </a:extLst>
            </p:cNvPr>
            <p:cNvCxnSpPr>
              <a:cxnSpLocks/>
              <a:stCxn id="8" idx="4"/>
              <a:endCxn id="9" idx="0"/>
            </p:cNvCxnSpPr>
            <p:nvPr/>
          </p:nvCxnSpPr>
          <p:spPr>
            <a:xfrm>
              <a:off x="7096903" y="5548520"/>
              <a:ext cx="0" cy="74295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urved Connector 11">
              <a:extLst>
                <a:ext uri="{FF2B5EF4-FFF2-40B4-BE49-F238E27FC236}">
                  <a16:creationId xmlns:a16="http://schemas.microsoft.com/office/drawing/2014/main" id="{7F51A193-355B-E34B-8FEC-FEFE57717997}"/>
                </a:ext>
              </a:extLst>
            </p:cNvPr>
            <p:cNvCxnSpPr>
              <a:cxnSpLocks/>
              <a:stCxn id="7" idx="2"/>
              <a:endCxn id="9" idx="2"/>
            </p:cNvCxnSpPr>
            <p:nvPr/>
          </p:nvCxnSpPr>
          <p:spPr>
            <a:xfrm rot="10800000" flipV="1">
              <a:off x="6830203" y="4005470"/>
              <a:ext cx="12700" cy="2552700"/>
            </a:xfrm>
            <a:prstGeom prst="curvedConnector3">
              <a:avLst>
                <a:gd name="adj1" fmla="val 993358"/>
              </a:avLst>
            </a:prstGeom>
            <a:ln w="127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61DAD2E1-6848-C545-9593-155B2B19EEAC}"/>
                  </a:ext>
                </a:extLst>
              </p:cNvPr>
              <p:cNvSpPr/>
              <p:nvPr/>
            </p:nvSpPr>
            <p:spPr>
              <a:xfrm>
                <a:off x="7654751" y="2620308"/>
                <a:ext cx="2675975" cy="1672602"/>
              </a:xfrm>
              <a:prstGeom prst="round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  <a:p>
                <a:pPr algn="ctr"/>
                <a:endParaRPr lang="en-US" sz="1600" dirty="0"/>
              </a:p>
              <a:p>
                <a:pPr algn="ctr"/>
                <a:endParaRPr lang="en-US" sz="1600" dirty="0"/>
              </a:p>
              <a:p>
                <a:pPr algn="ctr"/>
                <a:endParaRPr lang="en-US" sz="1600" dirty="0"/>
              </a:p>
              <a:p>
                <a:pPr algn="ctr"/>
                <a:endParaRPr lang="en-US" sz="1600" dirty="0"/>
              </a:p>
            </p:txBody>
          </p:sp>
        </mc:Choice>
        <mc:Fallback xmlns="">
          <p:sp>
            <p:nvSpPr>
              <p:cNvPr id="21" name="Rounded Rectangle 20">
                <a:extLst>
                  <a:ext uri="{FF2B5EF4-FFF2-40B4-BE49-F238E27FC236}">
                    <a16:creationId xmlns:a16="http://schemas.microsoft.com/office/drawing/2014/main" id="{61DAD2E1-6848-C545-9593-155B2B19EEA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54751" y="2620308"/>
                <a:ext cx="2675975" cy="1672602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Rounded Rectangle 21">
                <a:extLst>
                  <a:ext uri="{FF2B5EF4-FFF2-40B4-BE49-F238E27FC236}">
                    <a16:creationId xmlns:a16="http://schemas.microsoft.com/office/drawing/2014/main" id="{FF6F19FD-8280-8D40-AFB6-3CB4002D177C}"/>
                  </a:ext>
                </a:extLst>
              </p:cNvPr>
              <p:cNvSpPr/>
              <p:nvPr/>
            </p:nvSpPr>
            <p:spPr>
              <a:xfrm>
                <a:off x="5046246" y="4992483"/>
                <a:ext cx="2675975" cy="1672602"/>
              </a:xfrm>
              <a:prstGeom prst="round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 sz="16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US" sz="1600" dirty="0"/>
              </a:p>
              <a:p>
                <a:pPr algn="ctr"/>
                <a:endParaRPr lang="en-US" sz="1600" dirty="0"/>
              </a:p>
              <a:p>
                <a:pPr algn="ctr"/>
                <a:endParaRPr lang="en-US" sz="1600" dirty="0"/>
              </a:p>
              <a:p>
                <a:pPr algn="ctr"/>
                <a:endParaRPr lang="en-US" sz="1600" dirty="0"/>
              </a:p>
              <a:p>
                <a:pPr algn="ctr"/>
                <a:endParaRPr lang="en-US" sz="1600" dirty="0"/>
              </a:p>
            </p:txBody>
          </p:sp>
        </mc:Choice>
        <mc:Fallback xmlns="">
          <p:sp>
            <p:nvSpPr>
              <p:cNvPr id="22" name="Rounded Rectangle 21">
                <a:extLst>
                  <a:ext uri="{FF2B5EF4-FFF2-40B4-BE49-F238E27FC236}">
                    <a16:creationId xmlns:a16="http://schemas.microsoft.com/office/drawing/2014/main" id="{FF6F19FD-8280-8D40-AFB6-3CB4002D17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6246" y="4992483"/>
                <a:ext cx="2675975" cy="1672602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5994F59A-86CA-6648-A147-FD98ED57717F}"/>
              </a:ext>
            </a:extLst>
          </p:cNvPr>
          <p:cNvCxnSpPr>
            <a:cxnSpLocks/>
            <a:stCxn id="5" idx="3"/>
            <a:endCxn id="4" idx="2"/>
          </p:cNvCxnSpPr>
          <p:nvPr/>
        </p:nvCxnSpPr>
        <p:spPr>
          <a:xfrm flipV="1">
            <a:off x="4891120" y="1920737"/>
            <a:ext cx="1370560" cy="1535873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0CD5961-3CFF-0849-A0E2-AEFA35CC7C7D}"/>
              </a:ext>
            </a:extLst>
          </p:cNvPr>
          <p:cNvCxnSpPr>
            <a:cxnSpLocks/>
            <a:stCxn id="5" idx="3"/>
            <a:endCxn id="21" idx="1"/>
          </p:cNvCxnSpPr>
          <p:nvPr/>
        </p:nvCxnSpPr>
        <p:spPr>
          <a:xfrm>
            <a:off x="4891120" y="3456609"/>
            <a:ext cx="2763630" cy="0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9F44230-9FA0-9441-8860-54BF87FEEF94}"/>
              </a:ext>
            </a:extLst>
          </p:cNvPr>
          <p:cNvCxnSpPr>
            <a:cxnSpLocks/>
            <a:stCxn id="5" idx="3"/>
            <a:endCxn id="22" idx="0"/>
          </p:cNvCxnSpPr>
          <p:nvPr/>
        </p:nvCxnSpPr>
        <p:spPr>
          <a:xfrm>
            <a:off x="4891121" y="3456609"/>
            <a:ext cx="1493113" cy="1535874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F73E200A-F1F6-7340-BE4A-13BD514A2957}"/>
              </a:ext>
            </a:extLst>
          </p:cNvPr>
          <p:cNvSpPr txBox="1"/>
          <p:nvPr/>
        </p:nvSpPr>
        <p:spPr>
          <a:xfrm>
            <a:off x="3243322" y="2755977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  <a:r>
              <a:rPr lang="en-US" baseline="-25000" dirty="0"/>
              <a:t>1</a:t>
            </a:r>
            <a:endParaRPr 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872C4DD-FAFA-8244-A2C0-E0B7C3873169}"/>
              </a:ext>
            </a:extLst>
          </p:cNvPr>
          <p:cNvSpPr txBox="1"/>
          <p:nvPr/>
        </p:nvSpPr>
        <p:spPr>
          <a:xfrm>
            <a:off x="5742843" y="2424962"/>
            <a:ext cx="673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</a:t>
            </a:r>
            <a:r>
              <a:rPr lang="en-US" baseline="-25000" dirty="0"/>
              <a:t>1</a:t>
            </a:r>
            <a:endParaRPr 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6DA1BB6-CFAE-FF44-945D-2DA2784DC840}"/>
              </a:ext>
            </a:extLst>
          </p:cNvPr>
          <p:cNvSpPr txBox="1"/>
          <p:nvPr/>
        </p:nvSpPr>
        <p:spPr>
          <a:xfrm>
            <a:off x="6219603" y="3032059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  <a:r>
              <a:rPr lang="en-US" baseline="-25000" dirty="0"/>
              <a:t>1</a:t>
            </a:r>
            <a:endParaRPr 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50FE23-A8C1-774E-B0BE-519E1096E1B5}"/>
              </a:ext>
            </a:extLst>
          </p:cNvPr>
          <p:cNvSpPr txBox="1"/>
          <p:nvPr/>
        </p:nvSpPr>
        <p:spPr>
          <a:xfrm>
            <a:off x="5330873" y="4224546"/>
            <a:ext cx="373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  <a:r>
              <a:rPr lang="en-US" baseline="-25000" dirty="0"/>
              <a:t>1</a:t>
            </a:r>
            <a:endParaRPr lang="en-US" dirty="0"/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ECE4628C-7610-C14E-A5BC-C393E9D85DD5}"/>
              </a:ext>
            </a:extLst>
          </p:cNvPr>
          <p:cNvCxnSpPr>
            <a:cxnSpLocks/>
            <a:stCxn id="4" idx="1"/>
            <a:endCxn id="5" idx="0"/>
          </p:cNvCxnSpPr>
          <p:nvPr/>
        </p:nvCxnSpPr>
        <p:spPr>
          <a:xfrm flipH="1">
            <a:off x="3553134" y="1084436"/>
            <a:ext cx="1370559" cy="1008441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56053A8-0518-A24E-AD97-83AF19F131CF}"/>
              </a:ext>
            </a:extLst>
          </p:cNvPr>
          <p:cNvSpPr txBox="1"/>
          <p:nvPr/>
        </p:nvSpPr>
        <p:spPr>
          <a:xfrm>
            <a:off x="3745934" y="1344741"/>
            <a:ext cx="673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</a:t>
            </a:r>
            <a:r>
              <a:rPr lang="en-US" baseline="-25000" dirty="0"/>
              <a:t>2</a:t>
            </a:r>
            <a:endParaRPr lang="en-US" dirty="0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21CFDBD3-E253-174A-B01A-22B02C859D4E}"/>
              </a:ext>
            </a:extLst>
          </p:cNvPr>
          <p:cNvCxnSpPr>
            <a:cxnSpLocks/>
            <a:stCxn id="4" idx="1"/>
            <a:endCxn id="22" idx="0"/>
          </p:cNvCxnSpPr>
          <p:nvPr/>
        </p:nvCxnSpPr>
        <p:spPr>
          <a:xfrm>
            <a:off x="4923693" y="1084435"/>
            <a:ext cx="1460541" cy="3908048"/>
          </a:xfrm>
          <a:prstGeom prst="line">
            <a:avLst/>
          </a:prstGeom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54" name="Group 53">
            <a:extLst>
              <a:ext uri="{FF2B5EF4-FFF2-40B4-BE49-F238E27FC236}">
                <a16:creationId xmlns:a16="http://schemas.microsoft.com/office/drawing/2014/main" id="{90776CBB-6CAC-D841-B64B-D836C7C08386}"/>
              </a:ext>
            </a:extLst>
          </p:cNvPr>
          <p:cNvGrpSpPr/>
          <p:nvPr/>
        </p:nvGrpSpPr>
        <p:grpSpPr>
          <a:xfrm>
            <a:off x="8876691" y="2711907"/>
            <a:ext cx="910424" cy="1434187"/>
            <a:chOff x="6830202" y="3738770"/>
            <a:chExt cx="533401" cy="3086099"/>
          </a:xfrm>
        </p:grpSpPr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FB224079-A866-6A42-A0D8-B1764C88A816}"/>
                </a:ext>
              </a:extLst>
            </p:cNvPr>
            <p:cNvSpPr/>
            <p:nvPr/>
          </p:nvSpPr>
          <p:spPr>
            <a:xfrm>
              <a:off x="6830203" y="3738770"/>
              <a:ext cx="533400" cy="533400"/>
            </a:xfrm>
            <a:prstGeom prst="ellips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100" dirty="0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10C9F593-4129-754F-AED0-8F3120BA57C7}"/>
                </a:ext>
              </a:extLst>
            </p:cNvPr>
            <p:cNvSpPr/>
            <p:nvPr/>
          </p:nvSpPr>
          <p:spPr>
            <a:xfrm>
              <a:off x="6830203" y="5015120"/>
              <a:ext cx="533400" cy="533400"/>
            </a:xfrm>
            <a:prstGeom prst="ellips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00" dirty="0"/>
                <a:t>e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B23D888D-1FBC-0043-8B50-BD767B73B56A}"/>
                </a:ext>
              </a:extLst>
            </p:cNvPr>
            <p:cNvSpPr/>
            <p:nvPr/>
          </p:nvSpPr>
          <p:spPr>
            <a:xfrm>
              <a:off x="6830202" y="6291469"/>
              <a:ext cx="533400" cy="533400"/>
            </a:xfrm>
            <a:prstGeom prst="ellipse">
              <a:avLst/>
            </a:prstGeom>
            <a:ln w="127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200" dirty="0"/>
                <a:t>f</a:t>
              </a: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2425DB77-DD16-B14A-B9AA-F1CCB9ABA58B}"/>
                </a:ext>
              </a:extLst>
            </p:cNvPr>
            <p:cNvCxnSpPr>
              <a:stCxn id="55" idx="4"/>
              <a:endCxn id="56" idx="0"/>
            </p:cNvCxnSpPr>
            <p:nvPr/>
          </p:nvCxnSpPr>
          <p:spPr>
            <a:xfrm>
              <a:off x="7096903" y="4272170"/>
              <a:ext cx="0" cy="74295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670640EB-220F-6441-8AB2-663C536E596D}"/>
                </a:ext>
              </a:extLst>
            </p:cNvPr>
            <p:cNvCxnSpPr>
              <a:cxnSpLocks/>
              <a:stCxn id="56" idx="4"/>
              <a:endCxn id="57" idx="0"/>
            </p:cNvCxnSpPr>
            <p:nvPr/>
          </p:nvCxnSpPr>
          <p:spPr>
            <a:xfrm>
              <a:off x="7096903" y="5548520"/>
              <a:ext cx="0" cy="74295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1" name="TextBox 60">
            <a:extLst>
              <a:ext uri="{FF2B5EF4-FFF2-40B4-BE49-F238E27FC236}">
                <a16:creationId xmlns:a16="http://schemas.microsoft.com/office/drawing/2014/main" id="{030BF66E-A2EC-A14D-8158-2692C9A571BC}"/>
              </a:ext>
            </a:extLst>
          </p:cNvPr>
          <p:cNvSpPr txBox="1"/>
          <p:nvPr/>
        </p:nvSpPr>
        <p:spPr>
          <a:xfrm>
            <a:off x="5355332" y="2002531"/>
            <a:ext cx="673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</a:t>
            </a:r>
            <a:r>
              <a:rPr lang="en-US" baseline="-25000" dirty="0"/>
              <a:t>2</a:t>
            </a:r>
            <a:endParaRPr lang="en-US" dirty="0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89FCD25F-E334-E346-B8D2-9727709E8181}"/>
              </a:ext>
            </a:extLst>
          </p:cNvPr>
          <p:cNvSpPr/>
          <p:nvPr/>
        </p:nvSpPr>
        <p:spPr>
          <a:xfrm>
            <a:off x="4830736" y="997941"/>
            <a:ext cx="185913" cy="1859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00B113F0-2927-F042-90D6-B67A5AFC0EAD}"/>
              </a:ext>
            </a:extLst>
          </p:cNvPr>
          <p:cNvSpPr/>
          <p:nvPr/>
        </p:nvSpPr>
        <p:spPr>
          <a:xfrm>
            <a:off x="4810517" y="3370896"/>
            <a:ext cx="185913" cy="185913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81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42" grpId="0"/>
      <p:bldP spid="43" grpId="0"/>
      <p:bldP spid="47" grpId="0"/>
      <p:bldP spid="6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Modeling a Simple Failure Detector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Periodic send</a:t>
            </a:r>
          </a:p>
          <a:p>
            <a:r>
              <a:rPr lang="en-US" dirty="0"/>
              <a:t>Channel</a:t>
            </a:r>
          </a:p>
          <a:p>
            <a:r>
              <a:rPr lang="en-US" dirty="0"/>
              <a:t>Timeout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4229100" y="3678870"/>
            <a:ext cx="1409700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Send</a:t>
            </a:r>
          </a:p>
        </p:txBody>
      </p:sp>
      <p:sp>
        <p:nvSpPr>
          <p:cNvPr id="8" name="Rectangle 7"/>
          <p:cNvSpPr/>
          <p:nvPr/>
        </p:nvSpPr>
        <p:spPr>
          <a:xfrm>
            <a:off x="6686434" y="3678870"/>
            <a:ext cx="1409700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Channel</a:t>
            </a:r>
          </a:p>
        </p:txBody>
      </p:sp>
      <p:sp>
        <p:nvSpPr>
          <p:cNvPr id="9" name="Rectangle 8"/>
          <p:cNvSpPr/>
          <p:nvPr/>
        </p:nvSpPr>
        <p:spPr>
          <a:xfrm>
            <a:off x="9067800" y="3678870"/>
            <a:ext cx="1409700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Failure Detector</a:t>
            </a:r>
          </a:p>
        </p:txBody>
      </p:sp>
      <p:cxnSp>
        <p:nvCxnSpPr>
          <p:cNvPr id="11" name="Straight Arrow Connector 10"/>
          <p:cNvCxnSpPr>
            <a:stCxn id="7" idx="3"/>
            <a:endCxn id="8" idx="1"/>
          </p:cNvCxnSpPr>
          <p:nvPr/>
        </p:nvCxnSpPr>
        <p:spPr>
          <a:xfrm>
            <a:off x="5638800" y="4136070"/>
            <a:ext cx="10476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8" idx="3"/>
            <a:endCxn id="9" idx="1"/>
          </p:cNvCxnSpPr>
          <p:nvPr/>
        </p:nvCxnSpPr>
        <p:spPr>
          <a:xfrm>
            <a:off x="8096134" y="4136070"/>
            <a:ext cx="97166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endCxn id="7" idx="2"/>
          </p:cNvCxnSpPr>
          <p:nvPr/>
        </p:nvCxnSpPr>
        <p:spPr>
          <a:xfrm flipV="1">
            <a:off x="4933950" y="4593270"/>
            <a:ext cx="0" cy="8169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9" idx="2"/>
          </p:cNvCxnSpPr>
          <p:nvPr/>
        </p:nvCxnSpPr>
        <p:spPr>
          <a:xfrm>
            <a:off x="9772650" y="4593270"/>
            <a:ext cx="0" cy="8169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736435" y="3729951"/>
            <a:ext cx="9749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/>
              <a:t>Send(m)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44779" y="3766738"/>
            <a:ext cx="90460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/>
              <a:t>recv</a:t>
            </a:r>
            <a:r>
              <a:rPr lang="en-US" dirty="0"/>
              <a:t>(m)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57502" y="4900918"/>
            <a:ext cx="4672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fail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84828" y="4962602"/>
            <a:ext cx="78553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detect</a:t>
            </a:r>
          </a:p>
        </p:txBody>
      </p:sp>
    </p:spTree>
    <p:extLst>
      <p:ext uri="{BB962C8B-B14F-4D97-AF65-F5344CB8AC3E}">
        <p14:creationId xmlns:p14="http://schemas.microsoft.com/office/powerpoint/2010/main" val="30798939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Composition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95085" y="1600201"/>
                <a:ext cx="10958285" cy="4974770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>
                    <a:ea typeface="Cambria Math"/>
                  </a:rPr>
                  <a:t>For compatible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 </a:t>
                </a:r>
                <a:r>
                  <a:rPr lang="en-US" dirty="0"/>
                  <a:t>their composition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||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 is the structure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/>
                        <a:ea typeface="Cambria Math"/>
                      </a:rPr>
                      <m:t>𝓐</m:t>
                    </m:r>
                  </m:oMath>
                </a14:m>
                <a:r>
                  <a:rPr lang="en-US" dirty="0"/>
                  <a:t>=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/>
                          </a:rPr>
                          <m:t>𝑋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</a:rPr>
                          <m:t>𝑄</m:t>
                        </m:r>
                        <m:r>
                          <a:rPr lang="en-US" i="1">
                            <a:latin typeface="Cambria Math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l-GR" i="1">
                            <a:latin typeface="Cambria Math"/>
                            <a:ea typeface="Cambria Math"/>
                          </a:rPr>
                          <m:t>Θ</m:t>
                        </m:r>
                        <m:r>
                          <a:rPr lang="en-US" i="1">
                            <a:latin typeface="Cambria Math"/>
                            <a:ea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  <a:ea typeface="Cambria Math"/>
                          </a:rPr>
                          <m:t>𝐸</m:t>
                        </m:r>
                        <m:r>
                          <a:rPr lang="en-US" i="1">
                            <a:latin typeface="Cambria Math"/>
                            <a:ea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  <a:ea typeface="Cambria Math"/>
                          </a:rPr>
                          <m:t>𝐻</m:t>
                        </m:r>
                        <m:r>
                          <a:rPr lang="en-US" i="1">
                            <a:latin typeface="Cambria Math"/>
                            <a:ea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  <a:ea typeface="Cambria Math"/>
                          </a:rPr>
                          <m:t>𝒟</m:t>
                        </m:r>
                        <m:r>
                          <a:rPr lang="en-US" i="1">
                            <a:latin typeface="Cambria Math"/>
                            <a:ea typeface="Cambria Math"/>
                          </a:rPr>
                          <m:t>,</m:t>
                        </m:r>
                        <m:r>
                          <a:rPr lang="en-US" i="1">
                            <a:latin typeface="Cambria Math"/>
                            <a:ea typeface="Cambria Math"/>
                          </a:rPr>
                          <m:t>𝒯</m:t>
                        </m:r>
                      </m:e>
                    </m:d>
                  </m:oMath>
                </a14:m>
                <a:endParaRPr lang="en-US" dirty="0">
                  <a:ea typeface="Cambria Math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𝑋</m:t>
                    </m:r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1" smtClean="0">
                        <a:latin typeface="Cambria Math"/>
                      </a:rPr>
                      <m:t>𝑋</m:t>
                    </m:r>
                    <m:r>
                      <a:rPr lang="en-US" b="0" i="1" baseline="-25000" smtClean="0">
                        <a:latin typeface="Cambria Math"/>
                      </a:rPr>
                      <m:t>1</m:t>
                    </m:r>
                    <m:r>
                      <a:rPr lang="en-US" b="0" i="1" smtClean="0">
                        <a:latin typeface="Cambria Math"/>
                      </a:rPr>
                      <m:t> 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∪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𝑋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2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(disjoint union)</a:t>
                </a:r>
                <a:endParaRPr lang="en-US" i="1" dirty="0">
                  <a:latin typeface="Cambria Math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𝑄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⊆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𝑣𝑎𝑙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(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𝑋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)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/>
                        <a:ea typeface="Cambria Math"/>
                      </a:rPr>
                      <m:t>Θ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 </m:t>
                        </m:r>
                        <m:r>
                          <a:rPr lang="en-US" b="1" i="1" smtClean="0">
                            <a:latin typeface="Cambria Math"/>
                            <a:ea typeface="Cambria Math"/>
                          </a:rPr>
                          <m:t>𝒙</m:t>
                        </m:r>
                        <m:r>
                          <a:rPr lang="en-US" b="1" i="1" smtClean="0">
                            <a:latin typeface="Cambria Math"/>
                            <a:ea typeface="Cambria Math"/>
                          </a:rPr>
                          <m:t>∈</m:t>
                        </m:r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𝑄</m:t>
                        </m:r>
                      </m:e>
                    </m:d>
                    <m:r>
                      <a:rPr lang="en-US" b="1" i="1" smtClean="0">
                        <a:latin typeface="Cambria Math"/>
                        <a:ea typeface="Cambria Math"/>
                      </a:rPr>
                      <m:t> 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∀ 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𝑖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 ∈</m:t>
                    </m:r>
                    <m:d>
                      <m:dPr>
                        <m:begChr m:val="{"/>
                        <m:endChr m:val="}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1,2</m:t>
                        </m:r>
                      </m:e>
                    </m:d>
                    <m:r>
                      <a:rPr lang="en-US" b="1" i="1" smtClean="0">
                        <a:latin typeface="Cambria Math"/>
                        <a:ea typeface="Cambria Math"/>
                      </a:rPr>
                      <m:t>: </m:t>
                    </m:r>
                    <m:r>
                      <a:rPr lang="en-US" b="1" i="1" smtClean="0"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.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𝑋𝑖</m:t>
                    </m:r>
                    <m:r>
                      <a:rPr lang="en-US" b="1" i="1">
                        <a:latin typeface="Cambria Math"/>
                        <a:ea typeface="Cambria Math"/>
                      </a:rPr>
                      <m:t>∈</m:t>
                    </m:r>
                    <m:r>
                      <m:rPr>
                        <m:sty m:val="p"/>
                      </m:rPr>
                      <a:rPr lang="el-GR" i="1">
                        <a:latin typeface="Cambria Math"/>
                        <a:ea typeface="Cambria Math"/>
                      </a:rPr>
                      <m:t>Θ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𝑖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}</m:t>
                    </m:r>
                  </m:oMath>
                </a14:m>
                <a:endParaRPr lang="en-US" b="1" dirty="0">
                  <a:solidFill>
                    <a:schemeClr val="accent6">
                      <a:lumMod val="75000"/>
                    </a:schemeClr>
                  </a:solidFill>
                </a:endParaRPr>
              </a:p>
              <a:p>
                <a:r>
                  <a:rPr lang="en-US" i="1" dirty="0"/>
                  <a:t>H = H</a:t>
                </a:r>
                <a:r>
                  <a:rPr lang="en-US" i="1" baseline="-25000" dirty="0"/>
                  <a:t>1</a:t>
                </a:r>
                <a:r>
                  <a:rPr lang="en-US" i="1" dirty="0"/>
                  <a:t> </a:t>
                </a:r>
                <a:r>
                  <a:rPr lang="en-US" i="1" dirty="0">
                    <a:latin typeface="Cambria Math"/>
                    <a:ea typeface="Cambria Math"/>
                  </a:rPr>
                  <a:t>∪ H</a:t>
                </a:r>
                <a:r>
                  <a:rPr lang="en-US" i="1" baseline="-25000" dirty="0">
                    <a:latin typeface="Cambria Math"/>
                    <a:ea typeface="Cambria Math"/>
                  </a:rPr>
                  <a:t>2</a:t>
                </a:r>
                <a:r>
                  <a:rPr lang="en-US" i="1" dirty="0">
                    <a:latin typeface="Cambria Math"/>
                    <a:ea typeface="Cambria Math"/>
                  </a:rPr>
                  <a:t> (disjoint union) </a:t>
                </a:r>
              </a:p>
              <a:p>
                <a:r>
                  <a:rPr lang="en-US" i="1" dirty="0">
                    <a:latin typeface="Cambria Math"/>
                    <a:ea typeface="Cambria Math"/>
                  </a:rPr>
                  <a:t>E = </a:t>
                </a:r>
                <a:r>
                  <a:rPr lang="en-US" i="1" dirty="0"/>
                  <a:t>E</a:t>
                </a:r>
                <a:r>
                  <a:rPr lang="en-US" i="1" baseline="-25000" dirty="0"/>
                  <a:t>1</a:t>
                </a:r>
                <a:r>
                  <a:rPr lang="en-US" i="1" dirty="0"/>
                  <a:t> </a:t>
                </a:r>
                <a:r>
                  <a:rPr lang="en-US" i="1" dirty="0">
                    <a:latin typeface="Cambria Math"/>
                    <a:ea typeface="Cambria Math"/>
                  </a:rPr>
                  <a:t>∪ E</a:t>
                </a:r>
                <a:r>
                  <a:rPr lang="en-US" i="1" baseline="-25000" dirty="0">
                    <a:latin typeface="Cambria Math"/>
                    <a:ea typeface="Cambria Math"/>
                  </a:rPr>
                  <a:t>2  </a:t>
                </a:r>
                <a:r>
                  <a:rPr lang="en-US" i="1" dirty="0">
                    <a:latin typeface="Cambria Math"/>
                    <a:ea typeface="Cambria Math"/>
                  </a:rPr>
                  <a:t>and  </a:t>
                </a:r>
                <a:r>
                  <a:rPr lang="en-US" dirty="0"/>
                  <a:t>A= E </a:t>
                </a:r>
                <a:r>
                  <a:rPr lang="en-US" dirty="0">
                    <a:latin typeface="Cambria Math"/>
                    <a:ea typeface="Cambria Math"/>
                  </a:rPr>
                  <a:t>∪ H</a:t>
                </a:r>
              </a:p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/>
                            <a:ea typeface="Cambria Math"/>
                          </a:rPr>
                          <m:t>𝒙</m:t>
                        </m:r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,</m:t>
                        </m:r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𝑎</m:t>
                        </m:r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,</m:t>
                        </m:r>
                        <m:r>
                          <a:rPr lang="en-US" b="1" i="1" smtClean="0">
                            <a:latin typeface="Cambria Math"/>
                            <a:ea typeface="Cambria Math"/>
                          </a:rPr>
                          <m:t>𝒙</m:t>
                        </m:r>
                        <m:r>
                          <a:rPr lang="en-US" b="1" i="1" smtClean="0">
                            <a:latin typeface="Cambria Math" charset="0"/>
                            <a:ea typeface="Cambria Math"/>
                          </a:rPr>
                          <m:t>′</m:t>
                        </m:r>
                      </m:e>
                    </m:d>
                    <m:r>
                      <a:rPr lang="en-US" b="0" i="1" smtClean="0">
                        <a:latin typeface="Cambria Math"/>
                        <a:ea typeface="Cambria Math"/>
                      </a:rPr>
                      <m:t>∈ 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𝒟</m:t>
                    </m:r>
                  </m:oMath>
                </a14:m>
                <a:r>
                  <a:rPr lang="en-US" i="1" dirty="0">
                    <a:ea typeface="Cambria Math"/>
                  </a:rPr>
                  <a:t> iff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𝑎</m:t>
                    </m:r>
                  </m:oMath>
                </a14:m>
                <a:r>
                  <a:rPr lang="en-US" dirty="0">
                    <a:ea typeface="Cambria Math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∈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𝐻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1</m:t>
                    </m:r>
                  </m:oMath>
                </a14:m>
                <a:r>
                  <a:rPr lang="en-US" i="1" dirty="0">
                    <a:ea typeface="Cambria Math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  <a:ea typeface="Cambria Math"/>
                      </a:rPr>
                      <m:t>(</m:t>
                    </m:r>
                    <m:r>
                      <a:rPr lang="en-US" b="1" i="1"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.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𝑋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1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,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𝑎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,</m:t>
                    </m:r>
                    <m:r>
                      <a:rPr lang="en-US" b="1" i="1"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b="1" i="1" smtClean="0">
                        <a:latin typeface="Cambria Math"/>
                        <a:ea typeface="Cambria Math"/>
                      </a:rPr>
                      <m:t>′.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𝑋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1</m:t>
                    </m:r>
                  </m:oMath>
                </a14:m>
                <a:r>
                  <a:rPr lang="en-US" dirty="0">
                    <a:ea typeface="Cambria Math"/>
                  </a:rPr>
                  <a:t>)</a:t>
                </a:r>
                <a:r>
                  <a:rPr lang="en-US" i="1" dirty="0">
                    <a:ea typeface="Cambria Math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∈ 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𝒟</m:t>
                    </m:r>
                  </m:oMath>
                </a14:m>
                <a:r>
                  <a:rPr lang="en-US" i="1" baseline="-25000" dirty="0">
                    <a:ea typeface="Cambria Math"/>
                  </a:rPr>
                  <a:t>1</a:t>
                </a:r>
                <a:r>
                  <a:rPr lang="en-US" i="1" dirty="0">
                    <a:ea typeface="Cambria Math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.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𝑋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2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=</m:t>
                    </m:r>
                    <m:r>
                      <a:rPr lang="en-US" b="1" i="1"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.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𝑋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2</m:t>
                    </m:r>
                  </m:oMath>
                </a14:m>
                <a:endParaRPr lang="en-US" i="1" baseline="-25000" dirty="0">
                  <a:ea typeface="Cambria Math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𝑎</m:t>
                    </m:r>
                  </m:oMath>
                </a14:m>
                <a:r>
                  <a:rPr lang="en-US" dirty="0">
                    <a:ea typeface="Cambria Math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∈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𝐻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2</m:t>
                    </m:r>
                  </m:oMath>
                </a14:m>
                <a:r>
                  <a:rPr lang="en-US" i="1" dirty="0">
                    <a:ea typeface="Cambria Math"/>
                  </a:rPr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(</m:t>
                    </m:r>
                    <m:r>
                      <a:rPr lang="en-US" b="1" i="1"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.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𝑋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2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,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𝑎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,</m:t>
                    </m:r>
                    <m:r>
                      <a:rPr lang="en-US" b="1" i="1"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b="1" i="1">
                        <a:latin typeface="Cambria Math"/>
                        <a:ea typeface="Cambria Math"/>
                      </a:rPr>
                      <m:t>′.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𝑋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2</m:t>
                    </m:r>
                  </m:oMath>
                </a14:m>
                <a:r>
                  <a:rPr lang="en-US" dirty="0">
                    <a:ea typeface="Cambria Math"/>
                  </a:rPr>
                  <a:t>)</a:t>
                </a:r>
                <a:r>
                  <a:rPr lang="en-US" i="1" dirty="0">
                    <a:ea typeface="Cambria Math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∈ 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𝒟</m:t>
                    </m:r>
                  </m:oMath>
                </a14:m>
                <a:r>
                  <a:rPr lang="en-US" i="1" baseline="-25000" dirty="0">
                    <a:ea typeface="Cambria Math"/>
                  </a:rPr>
                  <a:t>2</a:t>
                </a:r>
                <a:r>
                  <a:rPr lang="en-US" i="1" dirty="0">
                    <a:ea typeface="Cambria Math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.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𝑋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1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=</m:t>
                    </m:r>
                    <m:r>
                      <a:rPr lang="en-US" b="1" i="1"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.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𝑋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1</m:t>
                    </m:r>
                  </m:oMath>
                </a14:m>
                <a:endParaRPr lang="en-US" i="1" baseline="-25000" dirty="0">
                  <a:ea typeface="Cambria Math"/>
                </a:endParaRPr>
              </a:p>
              <a:p>
                <a:pPr lvl="1"/>
                <a:r>
                  <a:rPr lang="en-US" i="1" dirty="0">
                    <a:ea typeface="Cambria Math"/>
                  </a:rPr>
                  <a:t>Else,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(</m:t>
                    </m:r>
                    <m:r>
                      <a:rPr lang="en-US" b="1" i="1"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.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𝑋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1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,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𝑎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,</m:t>
                    </m:r>
                    <m:r>
                      <a:rPr lang="en-US" b="1" i="1"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b="1" i="1">
                        <a:latin typeface="Cambria Math"/>
                        <a:ea typeface="Cambria Math"/>
                      </a:rPr>
                      <m:t>′.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𝑋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1</m:t>
                    </m:r>
                  </m:oMath>
                </a14:m>
                <a:r>
                  <a:rPr lang="en-US" dirty="0">
                    <a:ea typeface="Cambria Math"/>
                  </a:rPr>
                  <a:t>)</a:t>
                </a:r>
                <a:r>
                  <a:rPr lang="en-US" i="1" dirty="0">
                    <a:ea typeface="Cambria Math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∈ 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𝒟</m:t>
                    </m:r>
                  </m:oMath>
                </a14:m>
                <a:r>
                  <a:rPr lang="en-US" i="1" baseline="-25000" dirty="0">
                    <a:ea typeface="Cambria Math"/>
                  </a:rPr>
                  <a:t>1</a:t>
                </a:r>
                <a:r>
                  <a:rPr lang="en-US" i="1" dirty="0">
                    <a:ea typeface="Cambria Math"/>
                  </a:rPr>
                  <a:t> 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(</m:t>
                    </m:r>
                    <m:r>
                      <a:rPr lang="en-US" b="1" i="1"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.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𝑋</m:t>
                    </m:r>
                    <m:r>
                      <a:rPr lang="en-US" i="1" baseline="-25000">
                        <a:latin typeface="Cambria Math"/>
                        <a:ea typeface="Cambria Math"/>
                      </a:rPr>
                      <m:t>2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,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𝑎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,</m:t>
                    </m:r>
                    <m:r>
                      <a:rPr lang="en-US" b="1" i="1">
                        <a:latin typeface="Cambria Math"/>
                        <a:ea typeface="Cambria Math"/>
                      </a:rPr>
                      <m:t>𝒙</m:t>
                    </m:r>
                    <m:r>
                      <a:rPr lang="en-US" b="1" i="1">
                        <a:latin typeface="Cambria Math"/>
                        <a:ea typeface="Cambria Math"/>
                      </a:rPr>
                      <m:t>′.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𝑋</m:t>
                    </m:r>
                    <m:r>
                      <a:rPr lang="en-US" i="1" baseline="-25000">
                        <a:latin typeface="Cambria Math"/>
                        <a:ea typeface="Cambria Math"/>
                      </a:rPr>
                      <m:t>2</m:t>
                    </m:r>
                  </m:oMath>
                </a14:m>
                <a:r>
                  <a:rPr lang="en-US" dirty="0">
                    <a:ea typeface="Cambria Math"/>
                  </a:rPr>
                  <a:t>)</a:t>
                </a:r>
                <a:r>
                  <a:rPr lang="en-US" i="1" dirty="0">
                    <a:ea typeface="Cambria Math"/>
                  </a:rPr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∈ 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𝒟</m:t>
                    </m:r>
                  </m:oMath>
                </a14:m>
                <a:r>
                  <a:rPr lang="en-US" i="1" baseline="-25000" dirty="0">
                    <a:ea typeface="Cambria Math"/>
                  </a:rPr>
                  <a:t>2</a:t>
                </a:r>
                <a:r>
                  <a:rPr lang="en-US" i="1" dirty="0">
                    <a:ea typeface="Cambria Math"/>
                  </a:rPr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𝒯</m:t>
                    </m:r>
                  </m:oMath>
                </a14:m>
                <a:r>
                  <a:rPr lang="en-US" i="1" dirty="0"/>
                  <a:t>: </a:t>
                </a:r>
                <a:r>
                  <a:rPr lang="en-US" dirty="0"/>
                  <a:t>set of </a:t>
                </a:r>
                <a:r>
                  <a:rPr lang="en-US" b="1" dirty="0">
                    <a:solidFill>
                      <a:schemeClr val="accent6">
                        <a:lumMod val="75000"/>
                      </a:schemeClr>
                    </a:solidFill>
                  </a:rPr>
                  <a:t>trajectories</a:t>
                </a:r>
                <a:r>
                  <a:rPr lang="en-US" dirty="0"/>
                  <a:t> for X</a:t>
                </a:r>
                <a:r>
                  <a:rPr lang="en-US" i="1" dirty="0"/>
                  <a:t> </a:t>
                </a:r>
              </a:p>
              <a:p>
                <a:pPr lvl="1"/>
                <a:r>
                  <a:rPr lang="en-US" i="1" dirty="0">
                    <a:latin typeface="Cambria Math"/>
                    <a:ea typeface="Cambria Math"/>
                  </a:rPr>
                  <a:t>𝜏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∈ 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𝒯</m:t>
                    </m:r>
                  </m:oMath>
                </a14:m>
                <a:r>
                  <a:rPr lang="en-US" dirty="0"/>
                  <a:t> iff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∀ 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𝑖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 ∈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1,2</m:t>
                        </m:r>
                      </m:e>
                    </m:d>
                  </m:oMath>
                </a14:m>
                <a:r>
                  <a:rPr lang="en-US" i="1" dirty="0">
                    <a:latin typeface="Cambria Math"/>
                    <a:ea typeface="Cambria Math"/>
                  </a:rPr>
                  <a:t>,  𝜏.Xi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/>
                        <a:ea typeface="Cambria Math"/>
                      </a:rPr>
                      <m:t>∈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𝒯</m:t>
                    </m:r>
                  </m:oMath>
                </a14:m>
                <a:r>
                  <a:rPr lang="en-US" baseline="-25000" dirty="0" err="1"/>
                  <a:t>i</a:t>
                </a: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endParaRPr lang="en-US" b="1" i="1" dirty="0">
                  <a:latin typeface="Cambria Math"/>
                  <a:ea typeface="Cambria Math"/>
                </a:endParaRPr>
              </a:p>
              <a:p>
                <a:pPr marL="0" indent="0">
                  <a:buNone/>
                </a:pPr>
                <a:r>
                  <a:rPr lang="en-US" b="1" i="1" dirty="0">
                    <a:solidFill>
                      <a:srgbClr val="00B050"/>
                    </a:solidFill>
                    <a:latin typeface="Cambria Math"/>
                    <a:ea typeface="Cambria Math"/>
                  </a:rPr>
                  <a:t>Theorem .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/>
                        <a:ea typeface="Cambria Math"/>
                      </a:rPr>
                      <m:t>𝓐</m:t>
                    </m:r>
                  </m:oMath>
                </a14:m>
                <a:r>
                  <a:rPr lang="en-US" dirty="0"/>
                  <a:t> is also a hybrid automaton.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5085" y="1600201"/>
                <a:ext cx="10958285" cy="4974770"/>
              </a:xfrm>
              <a:blipFill>
                <a:blip r:embed="rId3"/>
                <a:stretch>
                  <a:fillRect l="-695" t="-22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7434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Send || </a:t>
            </a:r>
            <a:r>
              <a:rPr lang="en-US" dirty="0" err="1"/>
              <a:t>TimedChannel</a:t>
            </a:r>
            <a:endParaRPr lang="en-US" dirty="0"/>
          </a:p>
        </p:txBody>
      </p:sp>
      <p:sp>
        <p:nvSpPr>
          <p:cNvPr id="7" name="Content Placeholder 10"/>
          <p:cNvSpPr>
            <a:spLocks noGrp="1"/>
          </p:cNvSpPr>
          <p:nvPr>
            <p:ph sz="half" idx="1"/>
          </p:nvPr>
        </p:nvSpPr>
        <p:spPr>
          <a:xfrm>
            <a:off x="6067097" y="1600201"/>
            <a:ext cx="4524703" cy="452596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sz="1800" b="1" dirty="0"/>
              <a:t>Automaton </a:t>
            </a:r>
            <a:r>
              <a:rPr lang="en-US" sz="1800" dirty="0" err="1"/>
              <a:t>PeriodicSend</a:t>
            </a:r>
            <a:r>
              <a:rPr lang="en-US" sz="1800" dirty="0"/>
              <a:t>(u, M)</a:t>
            </a:r>
          </a:p>
          <a:p>
            <a:pPr marL="0" indent="0">
              <a:buNone/>
            </a:pPr>
            <a:r>
              <a:rPr lang="en-US" sz="1800" b="1" dirty="0"/>
              <a:t>	variables: internal </a:t>
            </a:r>
            <a:r>
              <a:rPr lang="en-US" sz="1800" dirty="0">
                <a:solidFill>
                  <a:srgbClr val="7030A0"/>
                </a:solidFill>
              </a:rPr>
              <a:t>clock: Reals := 0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/>
              <a:t>	actions: external </a:t>
            </a:r>
            <a:r>
              <a:rPr lang="en-US" sz="1800" dirty="0"/>
              <a:t>send(</a:t>
            </a:r>
            <a:r>
              <a:rPr lang="en-US" sz="1800" dirty="0" err="1"/>
              <a:t>m:M</a:t>
            </a:r>
            <a:r>
              <a:rPr lang="en-US" sz="1800" dirty="0"/>
              <a:t>)</a:t>
            </a:r>
          </a:p>
          <a:p>
            <a:pPr marL="0" indent="0">
              <a:buNone/>
            </a:pPr>
            <a:r>
              <a:rPr lang="en-US" sz="1800" b="1" dirty="0"/>
              <a:t>	transitions:</a:t>
            </a:r>
          </a:p>
          <a:p>
            <a:pPr marL="0" indent="0">
              <a:buNone/>
            </a:pPr>
            <a:r>
              <a:rPr lang="en-US" sz="1800" b="1" dirty="0"/>
              <a:t>		</a:t>
            </a:r>
            <a:r>
              <a:rPr lang="en-US" sz="1800" dirty="0">
                <a:solidFill>
                  <a:srgbClr val="FF0000"/>
                </a:solidFill>
              </a:rPr>
              <a:t>send(m)</a:t>
            </a:r>
          </a:p>
          <a:p>
            <a:pPr marL="0" indent="0">
              <a:buNone/>
            </a:pPr>
            <a:r>
              <a:rPr lang="en-US" sz="1800" b="1" dirty="0"/>
              <a:t>		pre </a:t>
            </a:r>
            <a:r>
              <a:rPr lang="en-US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clock = u</a:t>
            </a:r>
          </a:p>
          <a:p>
            <a:pPr marL="0" indent="0">
              <a:buNone/>
            </a:pPr>
            <a:r>
              <a:rPr lang="en-US" sz="1800" b="1" dirty="0"/>
              <a:t>		</a:t>
            </a:r>
            <a:r>
              <a:rPr lang="en-US" sz="1800" b="1" dirty="0" err="1"/>
              <a:t>eff</a:t>
            </a:r>
            <a:r>
              <a:rPr lang="en-US" sz="1800" b="1" dirty="0"/>
              <a:t> 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</a:rPr>
              <a:t>clock := 0</a:t>
            </a:r>
          </a:p>
          <a:p>
            <a:pPr marL="0" indent="0">
              <a:buNone/>
            </a:pPr>
            <a:r>
              <a:rPr lang="en-US" sz="1800" b="1" dirty="0"/>
              <a:t>	trajectories:</a:t>
            </a:r>
          </a:p>
          <a:p>
            <a:pPr marL="0" indent="0">
              <a:buNone/>
            </a:pPr>
            <a:r>
              <a:rPr lang="en-US" sz="1800" b="1" dirty="0"/>
              <a:t>		evolve </a:t>
            </a:r>
            <a:r>
              <a:rPr lang="en-US" sz="1800" dirty="0">
                <a:solidFill>
                  <a:srgbClr val="00B050"/>
                </a:solidFill>
              </a:rPr>
              <a:t>d(clock) = 1</a:t>
            </a:r>
          </a:p>
          <a:p>
            <a:pPr marL="0" indent="0">
              <a:buNone/>
            </a:pPr>
            <a:r>
              <a:rPr lang="en-US" sz="1800" b="1" dirty="0"/>
              <a:t>		stop when </a:t>
            </a:r>
            <a:r>
              <a:rPr lang="en-US" sz="1800" dirty="0">
                <a:solidFill>
                  <a:srgbClr val="F62AF6"/>
                </a:solidFill>
              </a:rPr>
              <a:t>clock=u</a:t>
            </a:r>
            <a:endParaRPr lang="en-US" sz="1800" b="1" dirty="0">
              <a:solidFill>
                <a:srgbClr val="F62AF6"/>
              </a:solidFill>
            </a:endParaRPr>
          </a:p>
        </p:txBody>
      </p:sp>
      <p:sp>
        <p:nvSpPr>
          <p:cNvPr id="9" name="Content Placeholder 4"/>
          <p:cNvSpPr>
            <a:spLocks noGrp="1"/>
          </p:cNvSpPr>
          <p:nvPr>
            <p:ph sz="half" idx="2"/>
          </p:nvPr>
        </p:nvSpPr>
        <p:spPr>
          <a:xfrm>
            <a:off x="1518745" y="1524000"/>
            <a:ext cx="5257800" cy="5105400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b="1" dirty="0"/>
              <a:t>Automaton </a:t>
            </a:r>
            <a:r>
              <a:rPr lang="en-US" dirty="0"/>
              <a:t>Channel(</a:t>
            </a:r>
            <a:r>
              <a:rPr lang="en-US" dirty="0" err="1"/>
              <a:t>b,M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b="1" dirty="0"/>
              <a:t>   variables: internal </a:t>
            </a:r>
          </a:p>
          <a:p>
            <a:pPr marL="0" indent="0">
              <a:buNone/>
            </a:pPr>
            <a:r>
              <a:rPr lang="en-US" b="1" dirty="0"/>
              <a:t>	</a:t>
            </a:r>
            <a:r>
              <a:rPr lang="en-US" dirty="0"/>
              <a:t>queue: </a:t>
            </a:r>
            <a:r>
              <a:rPr lang="en-US" b="1" dirty="0"/>
              <a:t>Queue</a:t>
            </a:r>
            <a:r>
              <a:rPr lang="en-US" dirty="0"/>
              <a:t>[</a:t>
            </a:r>
            <a:r>
              <a:rPr lang="en-US" dirty="0" err="1"/>
              <a:t>M,Reals</a:t>
            </a:r>
            <a:r>
              <a:rPr lang="en-US" dirty="0"/>
              <a:t>] := {}</a:t>
            </a:r>
            <a:endParaRPr lang="en-US" b="1" dirty="0"/>
          </a:p>
          <a:p>
            <a:pPr marL="0" indent="0">
              <a:buNone/>
            </a:pPr>
            <a:r>
              <a:rPr lang="en-US" b="1" dirty="0">
                <a:solidFill>
                  <a:srgbClr val="7030A0"/>
                </a:solidFill>
              </a:rPr>
              <a:t>	</a:t>
            </a:r>
            <a:r>
              <a:rPr lang="en-US" dirty="0">
                <a:solidFill>
                  <a:srgbClr val="7030A0"/>
                </a:solidFill>
              </a:rPr>
              <a:t>clock1: Reals := 0</a:t>
            </a:r>
          </a:p>
          <a:p>
            <a:pPr marL="0" indent="0">
              <a:buNone/>
            </a:pPr>
            <a:r>
              <a:rPr lang="en-US" b="1" dirty="0"/>
              <a:t>   actions: external </a:t>
            </a:r>
            <a:r>
              <a:rPr lang="en-US" dirty="0"/>
              <a:t>send(</a:t>
            </a:r>
            <a:r>
              <a:rPr lang="en-US" dirty="0" err="1"/>
              <a:t>m:M</a:t>
            </a:r>
            <a:r>
              <a:rPr lang="en-US" dirty="0"/>
              <a:t>), receive(</a:t>
            </a:r>
            <a:r>
              <a:rPr lang="en-US" dirty="0" err="1"/>
              <a:t>m:M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b="1" dirty="0"/>
              <a:t>   transitions:</a:t>
            </a:r>
          </a:p>
          <a:p>
            <a:pPr marL="0" indent="0">
              <a:buNone/>
            </a:pPr>
            <a:r>
              <a:rPr lang="en-US" b="1" dirty="0"/>
              <a:t>        </a:t>
            </a:r>
            <a:r>
              <a:rPr lang="en-US" dirty="0">
                <a:solidFill>
                  <a:srgbClr val="FF0000"/>
                </a:solidFill>
              </a:rPr>
              <a:t>send(m)</a:t>
            </a:r>
          </a:p>
          <a:p>
            <a:pPr marL="0" indent="0">
              <a:buNone/>
            </a:pPr>
            <a:r>
              <a:rPr lang="en-US" b="1" dirty="0"/>
              <a:t>        pre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true</a:t>
            </a:r>
          </a:p>
          <a:p>
            <a:pPr marL="0" indent="0">
              <a:buNone/>
            </a:pPr>
            <a:r>
              <a:rPr lang="en-US" b="1" dirty="0"/>
              <a:t>        </a:t>
            </a:r>
            <a:r>
              <a:rPr lang="en-US" b="1" dirty="0" err="1"/>
              <a:t>eff</a:t>
            </a:r>
            <a:r>
              <a:rPr lang="en-US" b="1" dirty="0"/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queue := append(&lt;m, clock1+b&gt;, queue)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   </a:t>
            </a:r>
            <a:r>
              <a:rPr lang="en-US" dirty="0">
                <a:solidFill>
                  <a:srgbClr val="FF0000"/>
                </a:solidFill>
              </a:rPr>
              <a:t>    receive(m)</a:t>
            </a: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        </a:t>
            </a:r>
            <a:r>
              <a:rPr lang="en-US" b="1" dirty="0"/>
              <a:t>pre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ambria Math"/>
                <a:ea typeface="Cambria Math"/>
              </a:rPr>
              <a:t>head(queue)[1] = m</a:t>
            </a:r>
            <a:r>
              <a:rPr lang="en-US" b="1" dirty="0"/>
              <a:t> 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b="1" dirty="0"/>
              <a:t>        </a:t>
            </a:r>
            <a:r>
              <a:rPr lang="en-US" b="1" dirty="0" err="1"/>
              <a:t>eff</a:t>
            </a:r>
            <a:r>
              <a:rPr lang="en-US" b="1" dirty="0"/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queue :=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queue.tail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   </a:t>
            </a:r>
            <a:r>
              <a:rPr lang="en-US" b="1" dirty="0"/>
              <a:t>trajectories:</a:t>
            </a:r>
          </a:p>
          <a:p>
            <a:pPr marL="0" indent="0">
              <a:buNone/>
            </a:pPr>
            <a:r>
              <a:rPr lang="en-US" b="1" dirty="0"/>
              <a:t>        evolve </a:t>
            </a:r>
            <a:r>
              <a:rPr lang="en-US" dirty="0">
                <a:solidFill>
                  <a:srgbClr val="00B050"/>
                </a:solidFill>
              </a:rPr>
              <a:t>d(clock1) = 1</a:t>
            </a:r>
          </a:p>
          <a:p>
            <a:pPr marL="0" indent="0">
              <a:buNone/>
            </a:pPr>
            <a:r>
              <a:rPr lang="en-US" b="1" dirty="0"/>
              <a:t>        stop when </a:t>
            </a:r>
            <a:r>
              <a:rPr lang="en-US" dirty="0">
                <a:solidFill>
                  <a:srgbClr val="F62AF6"/>
                </a:solidFill>
                <a:latin typeface="Cambria Math"/>
                <a:ea typeface="Cambria Math"/>
              </a:rPr>
              <a:t>∃ m, d, &lt;</a:t>
            </a:r>
            <a:r>
              <a:rPr lang="en-US" dirty="0" err="1">
                <a:solidFill>
                  <a:srgbClr val="F62AF6"/>
                </a:solidFill>
                <a:latin typeface="Cambria Math"/>
                <a:ea typeface="Cambria Math"/>
              </a:rPr>
              <a:t>m,d</a:t>
            </a:r>
            <a:r>
              <a:rPr lang="en-US" dirty="0">
                <a:solidFill>
                  <a:srgbClr val="F62AF6"/>
                </a:solidFill>
                <a:latin typeface="Cambria Math"/>
                <a:ea typeface="Cambria Math"/>
              </a:rPr>
              <a:t>&gt; ∈ queue </a:t>
            </a:r>
          </a:p>
          <a:p>
            <a:pPr marL="0" indent="0">
              <a:buNone/>
            </a:pPr>
            <a:r>
              <a:rPr lang="en-US" dirty="0">
                <a:solidFill>
                  <a:srgbClr val="F62AF6"/>
                </a:solidFill>
                <a:latin typeface="Cambria Math"/>
                <a:ea typeface="Cambria Math"/>
              </a:rPr>
              <a:t>	</a:t>
            </a:r>
            <a:r>
              <a:rPr lang="en-US" dirty="0">
                <a:solidFill>
                  <a:srgbClr val="F62AF6"/>
                </a:solidFill>
              </a:rPr>
              <a:t>/\  clock=d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88664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Composed Automaton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>
          <a:xfrm>
            <a:off x="1905000" y="1524000"/>
            <a:ext cx="7086600" cy="5105400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b="1" dirty="0"/>
              <a:t>Automaton </a:t>
            </a:r>
            <a:r>
              <a:rPr lang="en-US" dirty="0"/>
              <a:t>SC(</a:t>
            </a:r>
            <a:r>
              <a:rPr lang="en-US" dirty="0" err="1"/>
              <a:t>b,u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b="1" dirty="0"/>
              <a:t>   variables: internal </a:t>
            </a:r>
            <a:r>
              <a:rPr lang="en-US" dirty="0"/>
              <a:t>queue: </a:t>
            </a:r>
            <a:r>
              <a:rPr lang="en-US" b="1" dirty="0"/>
              <a:t>Queue</a:t>
            </a:r>
            <a:r>
              <a:rPr lang="en-US" dirty="0"/>
              <a:t>[</a:t>
            </a:r>
            <a:r>
              <a:rPr lang="en-US" dirty="0" err="1"/>
              <a:t>M,Reals</a:t>
            </a:r>
            <a:r>
              <a:rPr lang="en-US" dirty="0"/>
              <a:t>] := {}</a:t>
            </a:r>
            <a:endParaRPr lang="en-US" b="1" dirty="0"/>
          </a:p>
          <a:p>
            <a:pPr marL="0" indent="0">
              <a:buNone/>
            </a:pPr>
            <a:r>
              <a:rPr lang="en-US" b="1" dirty="0">
                <a:solidFill>
                  <a:srgbClr val="7030A0"/>
                </a:solidFill>
              </a:rPr>
              <a:t>	</a:t>
            </a:r>
            <a:r>
              <a:rPr lang="en-US" dirty="0" err="1">
                <a:solidFill>
                  <a:srgbClr val="7030A0"/>
                </a:solidFill>
              </a:rPr>
              <a:t>clock_s</a:t>
            </a:r>
            <a:r>
              <a:rPr lang="en-US" dirty="0">
                <a:solidFill>
                  <a:srgbClr val="7030A0"/>
                </a:solidFill>
              </a:rPr>
              <a:t>, </a:t>
            </a:r>
            <a:r>
              <a:rPr lang="en-US" dirty="0" err="1">
                <a:solidFill>
                  <a:srgbClr val="7030A0"/>
                </a:solidFill>
              </a:rPr>
              <a:t>clock_c</a:t>
            </a:r>
            <a:r>
              <a:rPr lang="en-US" dirty="0">
                <a:solidFill>
                  <a:srgbClr val="7030A0"/>
                </a:solidFill>
              </a:rPr>
              <a:t>: Reals := 0</a:t>
            </a:r>
          </a:p>
          <a:p>
            <a:pPr marL="0" indent="0">
              <a:buNone/>
            </a:pPr>
            <a:r>
              <a:rPr lang="en-US" b="1" dirty="0"/>
              <a:t>   actions: external </a:t>
            </a:r>
            <a:r>
              <a:rPr lang="en-US" dirty="0"/>
              <a:t>send(</a:t>
            </a:r>
            <a:r>
              <a:rPr lang="en-US" dirty="0" err="1"/>
              <a:t>m:M</a:t>
            </a:r>
            <a:r>
              <a:rPr lang="en-US" dirty="0"/>
              <a:t>), receive(</a:t>
            </a:r>
            <a:r>
              <a:rPr lang="en-US" dirty="0" err="1"/>
              <a:t>m:M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b="1" dirty="0"/>
              <a:t>   transitions:</a:t>
            </a:r>
          </a:p>
          <a:p>
            <a:pPr marL="0" indent="0">
              <a:buNone/>
            </a:pPr>
            <a:r>
              <a:rPr lang="en-US" b="1" dirty="0"/>
              <a:t>        </a:t>
            </a:r>
            <a:r>
              <a:rPr lang="en-US" dirty="0">
                <a:solidFill>
                  <a:srgbClr val="FF0000"/>
                </a:solidFill>
              </a:rPr>
              <a:t>send(m)</a:t>
            </a:r>
          </a:p>
          <a:p>
            <a:pPr marL="0" indent="0">
              <a:buNone/>
            </a:pPr>
            <a:r>
              <a:rPr lang="en-US" b="1" dirty="0"/>
              <a:t>        pre </a:t>
            </a:r>
            <a:r>
              <a:rPr lang="en-US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clock_s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= u</a:t>
            </a:r>
          </a:p>
          <a:p>
            <a:pPr marL="0" indent="0">
              <a:buNone/>
            </a:pPr>
            <a:r>
              <a:rPr lang="en-US" b="1" dirty="0"/>
              <a:t>        </a:t>
            </a:r>
            <a:r>
              <a:rPr lang="en-US" b="1" dirty="0" err="1"/>
              <a:t>eff</a:t>
            </a:r>
            <a:r>
              <a:rPr lang="en-US" b="1" dirty="0"/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queue := append(&lt;m,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clock_c+b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&gt;, queue);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clock_s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:= 0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   </a:t>
            </a:r>
            <a:r>
              <a:rPr lang="en-US" dirty="0">
                <a:solidFill>
                  <a:srgbClr val="FF0000"/>
                </a:solidFill>
              </a:rPr>
              <a:t>    receive(m)</a:t>
            </a: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        </a:t>
            </a:r>
            <a:r>
              <a:rPr lang="en-US" b="1" dirty="0"/>
              <a:t>pre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ambria Math"/>
                <a:ea typeface="Cambria Math"/>
              </a:rPr>
              <a:t>head(queue)[1] = m</a:t>
            </a:r>
            <a:r>
              <a:rPr lang="en-US" b="1" dirty="0"/>
              <a:t> 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b="1" dirty="0"/>
              <a:t>        </a:t>
            </a:r>
            <a:r>
              <a:rPr lang="en-US" b="1" dirty="0" err="1"/>
              <a:t>eff</a:t>
            </a:r>
            <a:r>
              <a:rPr lang="en-US" b="1" dirty="0"/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queue :=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queue.tail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   </a:t>
            </a:r>
            <a:r>
              <a:rPr lang="en-US" b="1" dirty="0"/>
              <a:t>trajectories:</a:t>
            </a:r>
          </a:p>
          <a:p>
            <a:pPr marL="0" indent="0">
              <a:buNone/>
            </a:pPr>
            <a:r>
              <a:rPr lang="en-US" b="1" dirty="0"/>
              <a:t>        evolve </a:t>
            </a:r>
            <a:r>
              <a:rPr lang="en-US" dirty="0">
                <a:solidFill>
                  <a:srgbClr val="00B050"/>
                </a:solidFill>
              </a:rPr>
              <a:t>d(</a:t>
            </a:r>
            <a:r>
              <a:rPr lang="en-US" dirty="0" err="1">
                <a:solidFill>
                  <a:srgbClr val="00B050"/>
                </a:solidFill>
              </a:rPr>
              <a:t>clock_c</a:t>
            </a:r>
            <a:r>
              <a:rPr lang="en-US" dirty="0">
                <a:solidFill>
                  <a:srgbClr val="00B050"/>
                </a:solidFill>
              </a:rPr>
              <a:t>) = 1; d(</a:t>
            </a:r>
            <a:r>
              <a:rPr lang="en-US" dirty="0" err="1">
                <a:solidFill>
                  <a:srgbClr val="00B050"/>
                </a:solidFill>
              </a:rPr>
              <a:t>clock_s</a:t>
            </a:r>
            <a:r>
              <a:rPr lang="en-US" dirty="0">
                <a:solidFill>
                  <a:srgbClr val="00B050"/>
                </a:solidFill>
              </a:rPr>
              <a:t>) = 1</a:t>
            </a:r>
          </a:p>
          <a:p>
            <a:pPr marL="0" indent="0">
              <a:buNone/>
            </a:pPr>
            <a:r>
              <a:rPr lang="en-US" b="1" dirty="0"/>
              <a:t>        stop when </a:t>
            </a:r>
          </a:p>
          <a:p>
            <a:pPr marL="0" indent="0">
              <a:buNone/>
            </a:pPr>
            <a:r>
              <a:rPr lang="en-US" b="1" dirty="0"/>
              <a:t>	</a:t>
            </a:r>
            <a:r>
              <a:rPr lang="en-US" b="1" dirty="0">
                <a:solidFill>
                  <a:srgbClr val="F62AF6"/>
                </a:solidFill>
              </a:rPr>
              <a:t>(</a:t>
            </a:r>
            <a:r>
              <a:rPr lang="en-US" dirty="0">
                <a:solidFill>
                  <a:srgbClr val="F62AF6"/>
                </a:solidFill>
                <a:latin typeface="Cambria Math"/>
                <a:ea typeface="Cambria Math"/>
              </a:rPr>
              <a:t>∃ m, d, &lt;</a:t>
            </a:r>
            <a:r>
              <a:rPr lang="en-US" dirty="0" err="1">
                <a:solidFill>
                  <a:srgbClr val="F62AF6"/>
                </a:solidFill>
                <a:latin typeface="Cambria Math"/>
                <a:ea typeface="Cambria Math"/>
              </a:rPr>
              <a:t>m,d</a:t>
            </a:r>
            <a:r>
              <a:rPr lang="en-US" dirty="0">
                <a:solidFill>
                  <a:srgbClr val="F62AF6"/>
                </a:solidFill>
                <a:latin typeface="Cambria Math"/>
                <a:ea typeface="Cambria Math"/>
              </a:rPr>
              <a:t>&gt; ∈ queue </a:t>
            </a:r>
            <a:r>
              <a:rPr lang="en-US" dirty="0">
                <a:solidFill>
                  <a:srgbClr val="F62AF6"/>
                </a:solidFill>
              </a:rPr>
              <a:t>/\  </a:t>
            </a:r>
            <a:r>
              <a:rPr lang="en-US" dirty="0" err="1">
                <a:solidFill>
                  <a:srgbClr val="F62AF6"/>
                </a:solidFill>
              </a:rPr>
              <a:t>clock_c</a:t>
            </a:r>
            <a:r>
              <a:rPr lang="en-US" dirty="0">
                <a:solidFill>
                  <a:srgbClr val="F62AF6"/>
                </a:solidFill>
              </a:rPr>
              <a:t>=d) </a:t>
            </a:r>
          </a:p>
          <a:p>
            <a:pPr marL="0" indent="0">
              <a:buNone/>
            </a:pPr>
            <a:r>
              <a:rPr lang="en-US" dirty="0">
                <a:solidFill>
                  <a:srgbClr val="F62AF6"/>
                </a:solidFill>
              </a:rPr>
              <a:t>	\/ (</a:t>
            </a:r>
            <a:r>
              <a:rPr lang="en-US" dirty="0" err="1">
                <a:solidFill>
                  <a:srgbClr val="F62AF6"/>
                </a:solidFill>
              </a:rPr>
              <a:t>clock_s</a:t>
            </a:r>
            <a:r>
              <a:rPr lang="en-US" dirty="0">
                <a:solidFill>
                  <a:srgbClr val="F62AF6"/>
                </a:solidFill>
              </a:rPr>
              <a:t>=u)</a:t>
            </a:r>
            <a:endParaRPr lang="en-US" b="1" dirty="0">
              <a:solidFill>
                <a:srgbClr val="F62AF6"/>
              </a:solidFill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6956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Modeling a Simple Failure Detector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57400" y="1600201"/>
            <a:ext cx="6019800" cy="4525963"/>
          </a:xfrm>
        </p:spPr>
        <p:txBody>
          <a:bodyPr/>
          <a:lstStyle/>
          <a:p>
            <a:r>
              <a:rPr lang="en-US" dirty="0"/>
              <a:t>Periodic send || Channel</a:t>
            </a:r>
          </a:p>
          <a:p>
            <a:r>
              <a:rPr lang="en-US" dirty="0"/>
              <a:t>Periodic send || Channel || Timeout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4229100" y="3678870"/>
            <a:ext cx="1409700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Send</a:t>
            </a:r>
          </a:p>
        </p:txBody>
      </p:sp>
      <p:sp>
        <p:nvSpPr>
          <p:cNvPr id="8" name="Rectangle 7"/>
          <p:cNvSpPr/>
          <p:nvPr/>
        </p:nvSpPr>
        <p:spPr>
          <a:xfrm>
            <a:off x="6686434" y="3678870"/>
            <a:ext cx="1409700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Channel</a:t>
            </a:r>
          </a:p>
        </p:txBody>
      </p:sp>
      <p:sp>
        <p:nvSpPr>
          <p:cNvPr id="9" name="Rectangle 8"/>
          <p:cNvSpPr/>
          <p:nvPr/>
        </p:nvSpPr>
        <p:spPr>
          <a:xfrm>
            <a:off x="9067800" y="3678870"/>
            <a:ext cx="1409700" cy="91440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Failure Detector</a:t>
            </a:r>
          </a:p>
        </p:txBody>
      </p:sp>
      <p:cxnSp>
        <p:nvCxnSpPr>
          <p:cNvPr id="11" name="Straight Arrow Connector 10"/>
          <p:cNvCxnSpPr>
            <a:stCxn id="7" idx="3"/>
            <a:endCxn id="8" idx="1"/>
          </p:cNvCxnSpPr>
          <p:nvPr/>
        </p:nvCxnSpPr>
        <p:spPr>
          <a:xfrm>
            <a:off x="5638800" y="4136070"/>
            <a:ext cx="104763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8" idx="3"/>
            <a:endCxn id="9" idx="1"/>
          </p:cNvCxnSpPr>
          <p:nvPr/>
        </p:nvCxnSpPr>
        <p:spPr>
          <a:xfrm>
            <a:off x="8096134" y="4136070"/>
            <a:ext cx="97166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endCxn id="7" idx="2"/>
          </p:cNvCxnSpPr>
          <p:nvPr/>
        </p:nvCxnSpPr>
        <p:spPr>
          <a:xfrm flipV="1">
            <a:off x="4933950" y="4593270"/>
            <a:ext cx="0" cy="8169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9" idx="2"/>
          </p:cNvCxnSpPr>
          <p:nvPr/>
        </p:nvCxnSpPr>
        <p:spPr>
          <a:xfrm>
            <a:off x="9772650" y="4593270"/>
            <a:ext cx="0" cy="8169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736435" y="3729951"/>
            <a:ext cx="97494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/>
              <a:t>Send(m)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44779" y="3766738"/>
            <a:ext cx="90460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/>
              <a:t>recv</a:t>
            </a:r>
            <a:r>
              <a:rPr lang="en-US" dirty="0"/>
              <a:t>(m)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57502" y="4900918"/>
            <a:ext cx="4672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fail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84828" y="4962602"/>
            <a:ext cx="78553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detect</a:t>
            </a:r>
          </a:p>
        </p:txBody>
      </p:sp>
    </p:spTree>
    <p:extLst>
      <p:ext uri="{BB962C8B-B14F-4D97-AF65-F5344CB8AC3E}">
        <p14:creationId xmlns:p14="http://schemas.microsoft.com/office/powerpoint/2010/main" val="8080312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8257" y="234496"/>
            <a:ext cx="11237686" cy="839561"/>
          </a:xfrm>
        </p:spPr>
        <p:txBody>
          <a:bodyPr>
            <a:normAutofit/>
          </a:bodyPr>
          <a:lstStyle/>
          <a:p>
            <a:r>
              <a:rPr lang="en-US" dirty="0"/>
              <a:t>Time bounded channel &amp; Simple Failure Detector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1981200" y="1600200"/>
            <a:ext cx="6705600" cy="4953000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b="1" dirty="0"/>
              <a:t>Automaton </a:t>
            </a:r>
            <a:r>
              <a:rPr lang="en-US" dirty="0"/>
              <a:t>Timeout(</a:t>
            </a:r>
            <a:r>
              <a:rPr lang="en-US" dirty="0" err="1"/>
              <a:t>u,M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b="1" dirty="0"/>
              <a:t>   variables: internal </a:t>
            </a:r>
            <a:r>
              <a:rPr lang="en-US" dirty="0"/>
              <a:t>suspected: Boolean := F, 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	clock: Reals := 0</a:t>
            </a:r>
          </a:p>
          <a:p>
            <a:pPr marL="0" indent="0">
              <a:buNone/>
            </a:pPr>
            <a:r>
              <a:rPr lang="en-US" b="1" dirty="0"/>
              <a:t>   actions: external </a:t>
            </a:r>
            <a:r>
              <a:rPr lang="en-US" dirty="0"/>
              <a:t>receive(</a:t>
            </a:r>
            <a:r>
              <a:rPr lang="en-US" dirty="0" err="1"/>
              <a:t>m:M</a:t>
            </a:r>
            <a:r>
              <a:rPr lang="en-US" dirty="0"/>
              <a:t>), timeout</a:t>
            </a:r>
          </a:p>
          <a:p>
            <a:pPr marL="0" indent="0">
              <a:buNone/>
            </a:pPr>
            <a:r>
              <a:rPr lang="en-US" b="1" dirty="0"/>
              <a:t>   transitions:</a:t>
            </a:r>
          </a:p>
          <a:p>
            <a:pPr marL="0" indent="0">
              <a:buNone/>
            </a:pPr>
            <a:r>
              <a:rPr lang="en-US" b="1" dirty="0"/>
              <a:t>        </a:t>
            </a:r>
            <a:r>
              <a:rPr lang="en-US" dirty="0">
                <a:solidFill>
                  <a:srgbClr val="FF0000"/>
                </a:solidFill>
              </a:rPr>
              <a:t>receive(m)</a:t>
            </a:r>
          </a:p>
          <a:p>
            <a:pPr marL="0" indent="0">
              <a:buNone/>
            </a:pPr>
            <a:r>
              <a:rPr lang="en-US" b="1" dirty="0"/>
              <a:t>        pre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true</a:t>
            </a:r>
          </a:p>
          <a:p>
            <a:pPr marL="0" indent="0">
              <a:buNone/>
            </a:pPr>
            <a:r>
              <a:rPr lang="en-US" b="1" dirty="0"/>
              <a:t>        </a:t>
            </a:r>
            <a:r>
              <a:rPr lang="en-US" b="1" dirty="0" err="1"/>
              <a:t>eff</a:t>
            </a:r>
            <a:r>
              <a:rPr lang="en-US" b="1" dirty="0"/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clock := 0; suspected := false;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   </a:t>
            </a:r>
            <a:r>
              <a:rPr lang="en-US" dirty="0">
                <a:solidFill>
                  <a:srgbClr val="FF0000"/>
                </a:solidFill>
              </a:rPr>
              <a:t>    timeout</a:t>
            </a: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        </a:t>
            </a:r>
            <a:r>
              <a:rPr lang="en-US" b="1" dirty="0"/>
              <a:t>pre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~suspected /\ clock = u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b="1" dirty="0"/>
              <a:t>        </a:t>
            </a:r>
            <a:r>
              <a:rPr lang="en-US" b="1" dirty="0" err="1"/>
              <a:t>eff</a:t>
            </a:r>
            <a:r>
              <a:rPr lang="en-US" b="1" dirty="0"/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suspected := true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   </a:t>
            </a:r>
            <a:r>
              <a:rPr lang="en-US" b="1" dirty="0"/>
              <a:t>trajectories:</a:t>
            </a:r>
          </a:p>
          <a:p>
            <a:pPr marL="0" indent="0">
              <a:buNone/>
            </a:pPr>
            <a:r>
              <a:rPr lang="en-US" b="1" dirty="0"/>
              <a:t>        evolve </a:t>
            </a:r>
            <a:r>
              <a:rPr lang="en-US" dirty="0">
                <a:solidFill>
                  <a:srgbClr val="00B050"/>
                </a:solidFill>
              </a:rPr>
              <a:t>d(clock) = 1</a:t>
            </a:r>
          </a:p>
          <a:p>
            <a:pPr marL="0" indent="0">
              <a:buNone/>
            </a:pPr>
            <a:r>
              <a:rPr lang="en-US" b="1" dirty="0"/>
              <a:t>        stop when </a:t>
            </a:r>
            <a:r>
              <a:rPr lang="en-US" dirty="0">
                <a:solidFill>
                  <a:srgbClr val="F62AF6"/>
                </a:solidFill>
                <a:latin typeface="Cambria Math"/>
                <a:ea typeface="Cambria Math"/>
              </a:rPr>
              <a:t>clock = u /\ ~suspected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6450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>
          <a:xfrm>
            <a:off x="1981200" y="76200"/>
            <a:ext cx="8229600" cy="1143000"/>
          </a:xfrm>
        </p:spPr>
        <p:txBody>
          <a:bodyPr/>
          <a:lstStyle/>
          <a:p>
            <a:r>
              <a:rPr lang="en-US" dirty="0"/>
              <a:t>General composition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  <p:grpSp>
        <p:nvGrpSpPr>
          <p:cNvPr id="12" name="Group 11"/>
          <p:cNvGrpSpPr/>
          <p:nvPr/>
        </p:nvGrpSpPr>
        <p:grpSpPr>
          <a:xfrm>
            <a:off x="3581400" y="1828800"/>
            <a:ext cx="5105400" cy="1981200"/>
            <a:chOff x="2057400" y="2639351"/>
            <a:chExt cx="3867034" cy="109444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/>
                <p:cNvSpPr/>
                <p:nvPr/>
              </p:nvSpPr>
              <p:spPr>
                <a:xfrm>
                  <a:off x="2057400" y="2819400"/>
                  <a:ext cx="1409700" cy="9144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charset="0"/>
                                <a:ea typeface="Cambria Math" charset="0"/>
                                <a:cs typeface="Cambria Math" charset="0"/>
                              </a:rPr>
                              <m:t>𝒜</m:t>
                            </m:r>
                          </m:e>
                          <m:sub>
                            <m:r>
                              <a:rPr lang="en-US" i="1" dirty="0">
                                <a:latin typeface="Cambria Math" charset="0"/>
                                <a:ea typeface="Cambria Math" charset="0"/>
                                <a:cs typeface="Cambria Math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ea typeface="Cambria Math" charset="0"/>
                    <a:cs typeface="Cambria Math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charset="0"/>
                          </a:rPr>
                          <m:t>,</m:t>
                        </m:r>
                        <m:r>
                          <a:rPr lang="en-US" i="1">
                            <a:latin typeface="Cambria Math" charset="0"/>
                          </a:rPr>
                          <m:t>𝑚𝑜𝑑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i="1">
                                <a:latin typeface="Cambria Math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Rectangle 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57400" y="2819400"/>
                  <a:ext cx="1409700" cy="914400"/>
                </a:xfrm>
                <a:prstGeom prst="rect">
                  <a:avLst/>
                </a:prstGeom>
                <a:blipFill rotWithShape="0"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/>
                <p:cNvSpPr/>
                <p:nvPr/>
              </p:nvSpPr>
              <p:spPr>
                <a:xfrm>
                  <a:off x="4514734" y="2819400"/>
                  <a:ext cx="1409700" cy="914400"/>
                </a:xfrm>
                <a:prstGeom prst="rect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charset="0"/>
                                <a:ea typeface="Cambria Math" charset="0"/>
                                <a:cs typeface="Cambria Math" charset="0"/>
                              </a:rPr>
                              <m:t>𝒜</m:t>
                            </m:r>
                          </m:e>
                          <m:sub>
                            <m:r>
                              <a:rPr lang="en-US" i="1" dirty="0">
                                <a:latin typeface="Cambria Math" charset="0"/>
                                <a:ea typeface="Cambria Math" charset="0"/>
                                <a:cs typeface="Cambria Math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ea typeface="Cambria Math" charset="0"/>
                    <a:cs typeface="Cambria Math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charset="0"/>
                          </a:rPr>
                          <m:t>,</m:t>
                        </m:r>
                        <m:r>
                          <a:rPr lang="en-US" i="1">
                            <a:latin typeface="Cambria Math" charset="0"/>
                          </a:rPr>
                          <m:t>𝑚𝑜𝑑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i="1">
                                <a:latin typeface="Cambria Math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  <a:p>
                  <a:pPr algn="ctr"/>
                  <a:endParaRPr lang="en-US" dirty="0"/>
                </a:p>
              </p:txBody>
            </p:sp>
          </mc:Choice>
          <mc:Fallback xmlns="">
            <p:sp>
              <p:nvSpPr>
                <p:cNvPr id="9" name="Rectangle 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14734" y="2819400"/>
                  <a:ext cx="1409700" cy="914400"/>
                </a:xfrm>
                <a:prstGeom prst="rect">
                  <a:avLst/>
                </a:prstGeom>
                <a:blipFill rotWithShape="0"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" name="Straight Arrow Connector 9"/>
            <p:cNvCxnSpPr/>
            <p:nvPr/>
          </p:nvCxnSpPr>
          <p:spPr>
            <a:xfrm>
              <a:off x="3467100" y="2874330"/>
              <a:ext cx="1047634" cy="0"/>
            </a:xfrm>
            <a:prstGeom prst="straightConnector1">
              <a:avLst/>
            </a:prstGeom>
            <a:ln w="31750"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/>
                <p:cNvSpPr/>
                <p:nvPr/>
              </p:nvSpPr>
              <p:spPr>
                <a:xfrm>
                  <a:off x="3875035" y="2639351"/>
                  <a:ext cx="354346" cy="20402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i="1" dirty="0">
                                <a:latin typeface="Cambria Math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Rectangle 1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75035" y="2639351"/>
                  <a:ext cx="354346" cy="20402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3" name="Straight Arrow Connector 12"/>
          <p:cNvCxnSpPr/>
          <p:nvPr/>
        </p:nvCxnSpPr>
        <p:spPr>
          <a:xfrm>
            <a:off x="5410201" y="2743200"/>
            <a:ext cx="13831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/>
              <p:cNvSpPr/>
              <p:nvPr/>
            </p:nvSpPr>
            <p:spPr>
              <a:xfrm>
                <a:off x="5903329" y="2362200"/>
                <a:ext cx="68211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>
                          <a:latin typeface="Cambria Math" charset="0"/>
                        </a:rPr>
                        <m:t>𝑣𝑎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charset="0"/>
                            </a:rPr>
                            <m:t>𝑟</m:t>
                          </m:r>
                        </m:e>
                        <m:sub>
                          <m:r>
                            <a:rPr lang="en-US" i="1" dirty="0">
                              <a:latin typeface="Cambria Math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3329" y="2362200"/>
                <a:ext cx="68211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/>
          <p:cNvCxnSpPr/>
          <p:nvPr/>
        </p:nvCxnSpPr>
        <p:spPr>
          <a:xfrm flipH="1">
            <a:off x="5410200" y="3352800"/>
            <a:ext cx="1371600" cy="0"/>
          </a:xfrm>
          <a:prstGeom prst="straightConnector1">
            <a:avLst/>
          </a:prstGeom>
          <a:ln w="28575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/>
              <p:cNvSpPr/>
              <p:nvPr/>
            </p:nvSpPr>
            <p:spPr>
              <a:xfrm>
                <a:off x="6007812" y="2971800"/>
                <a:ext cx="47314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charset="0"/>
                            </a:rPr>
                            <m:t>𝑎</m:t>
                          </m:r>
                        </m:e>
                        <m:sub>
                          <m:r>
                            <a:rPr lang="en-US" i="1" dirty="0">
                              <a:latin typeface="Cambria Math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Rectangle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7812" y="2971800"/>
                <a:ext cx="473143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/>
          <p:cNvCxnSpPr/>
          <p:nvPr/>
        </p:nvCxnSpPr>
        <p:spPr>
          <a:xfrm>
            <a:off x="4724401" y="1371600"/>
            <a:ext cx="11525" cy="762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/>
              <p:cNvSpPr/>
              <p:nvPr/>
            </p:nvSpPr>
            <p:spPr>
              <a:xfrm>
                <a:off x="4829142" y="1524000"/>
                <a:ext cx="472629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charset="0"/>
                            </a:rPr>
                            <m:t>𝑢</m:t>
                          </m:r>
                        </m:e>
                        <m:sub>
                          <m:r>
                            <a:rPr lang="en-US" i="1" dirty="0">
                              <a:latin typeface="Cambria Math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Rectangl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9142" y="1524000"/>
                <a:ext cx="47262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/>
          <p:cNvCxnSpPr/>
          <p:nvPr/>
        </p:nvCxnSpPr>
        <p:spPr>
          <a:xfrm>
            <a:off x="7728431" y="1371600"/>
            <a:ext cx="11525" cy="762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/>
              <p:cNvSpPr/>
              <p:nvPr/>
            </p:nvSpPr>
            <p:spPr>
              <a:xfrm>
                <a:off x="7772400" y="1447800"/>
                <a:ext cx="89563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charset="0"/>
                            </a:rPr>
                            <m:t>𝑖𝑛𝑝𝑢𝑡</m:t>
                          </m:r>
                        </m:e>
                        <m:sub>
                          <m:r>
                            <a:rPr lang="en-US" i="1" dirty="0">
                              <a:latin typeface="Cambria Math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Rectangle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0" y="1447800"/>
                <a:ext cx="895630" cy="369332"/>
              </a:xfrm>
              <a:prstGeom prst="rect">
                <a:avLst/>
              </a:prstGeom>
              <a:blipFill>
                <a:blip r:embed="rId8"/>
                <a:stretch>
                  <a:fillRect l="-1408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ectangle 24"/>
              <p:cNvSpPr/>
              <p:nvPr/>
            </p:nvSpPr>
            <p:spPr>
              <a:xfrm>
                <a:off x="5257800" y="4572001"/>
                <a:ext cx="1861138" cy="1655271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𝒜</m:t>
                          </m:r>
                        </m:e>
                        <m:sub>
                          <m:r>
                            <a:rPr lang="en-US" i="1" dirty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2</m:t>
                          </m:r>
                        </m:sub>
                      </m:sSub>
                      <m:r>
                        <a:rPr lang="en-US" i="1" dirty="0">
                          <a:latin typeface="Cambria Math" charset="0"/>
                          <a:ea typeface="Cambria Math" charset="0"/>
                          <a:cs typeface="Cambria Math" charset="0"/>
                        </a:rPr>
                        <m:t>||</m:t>
                      </m:r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  <a:ea typeface="Cambria Math" charset="0"/>
                              <a:cs typeface="Cambria Math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𝒜</m:t>
                          </m:r>
                        </m:e>
                        <m:sub>
                          <m:r>
                            <a:rPr lang="en-US" i="1" dirty="0"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>
                  <a:ea typeface="Cambria Math" charset="0"/>
                  <a:cs typeface="Cambria Math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charset="0"/>
                        </a:rPr>
                        <m:t>,</m:t>
                      </m:r>
                    </m:oMath>
                  </m:oMathPara>
                </a14:m>
                <a:endParaRPr lang="en-US" i="1" dirty="0">
                  <a:latin typeface="Cambria Math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charset="0"/>
                        </a:rPr>
                        <m:t>𝑚𝑜𝑑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charset="0"/>
                            </a:rPr>
                            <m:t>𝑒</m:t>
                          </m:r>
                        </m:e>
                        <m:sub>
                          <m:r>
                            <a:rPr lang="en-US" i="1">
                              <a:latin typeface="Cambria Math" charset="0"/>
                            </a:rPr>
                            <m:t>1,</m:t>
                          </m:r>
                        </m:sub>
                      </m:sSub>
                      <m:r>
                        <a:rPr lang="en-US" i="1">
                          <a:latin typeface="Cambria Math" charset="0"/>
                        </a:rPr>
                        <m:t>,</m:t>
                      </m:r>
                      <m:r>
                        <a:rPr lang="en-US" i="1">
                          <a:latin typeface="Cambria Math" charset="0"/>
                        </a:rPr>
                        <m:t>𝑚𝑜𝑑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charset="0"/>
                            </a:rPr>
                            <m:t>𝑒</m:t>
                          </m:r>
                        </m:e>
                        <m:sub>
                          <m:r>
                            <a:rPr lang="en-US" i="1">
                              <a:latin typeface="Cambria Math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25" name="Rectangle 2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7800" y="4572001"/>
                <a:ext cx="1861138" cy="165527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/>
          <p:cNvCxnSpPr>
            <a:stCxn id="9" idx="3"/>
          </p:cNvCxnSpPr>
          <p:nvPr/>
        </p:nvCxnSpPr>
        <p:spPr>
          <a:xfrm flipV="1">
            <a:off x="8686800" y="2971801"/>
            <a:ext cx="609600" cy="105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/>
              <p:cNvSpPr/>
              <p:nvPr/>
            </p:nvSpPr>
            <p:spPr>
              <a:xfrm>
                <a:off x="8763000" y="2514600"/>
                <a:ext cx="467756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charset="0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latin typeface="Cambria Math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Rectangle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3000" y="2514600"/>
                <a:ext cx="467756" cy="369332"/>
              </a:xfrm>
              <a:prstGeom prst="rect">
                <a:avLst/>
              </a:prstGeom>
              <a:blipFill>
                <a:blip r:embed="rId10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" name="Straight Arrow Connector 29"/>
          <p:cNvCxnSpPr/>
          <p:nvPr/>
        </p:nvCxnSpPr>
        <p:spPr>
          <a:xfrm flipV="1">
            <a:off x="7162800" y="5171036"/>
            <a:ext cx="609600" cy="105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/>
              <p:cNvSpPr/>
              <p:nvPr/>
            </p:nvSpPr>
            <p:spPr>
              <a:xfrm>
                <a:off x="7239001" y="4713835"/>
                <a:ext cx="99886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charset="0"/>
                        </a:rPr>
                        <m:t>𝑣𝑎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charset="0"/>
                            </a:rPr>
                            <m:t>𝑟</m:t>
                          </m:r>
                        </m:e>
                        <m:sub>
                          <m:r>
                            <a:rPr lang="en-US" i="1">
                              <a:latin typeface="Cambria Math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charset="0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latin typeface="Cambria Math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Rectangle 3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9001" y="4713835"/>
                <a:ext cx="998863" cy="369332"/>
              </a:xfrm>
              <a:prstGeom prst="rect">
                <a:avLst/>
              </a:prstGeom>
              <a:blipFill>
                <a:blip r:embed="rId11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Straight Arrow Connector 31"/>
          <p:cNvCxnSpPr/>
          <p:nvPr/>
        </p:nvCxnSpPr>
        <p:spPr>
          <a:xfrm flipV="1">
            <a:off x="4639937" y="5181601"/>
            <a:ext cx="609600" cy="105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Rectangle 32"/>
              <p:cNvSpPr/>
              <p:nvPr/>
            </p:nvSpPr>
            <p:spPr>
              <a:xfrm>
                <a:off x="3886200" y="4648200"/>
                <a:ext cx="799578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charset="0"/>
                            </a:rPr>
                            <m:t>𝑢</m:t>
                          </m:r>
                        </m:e>
                        <m:sub>
                          <m:r>
                            <a:rPr lang="en-US" i="1">
                              <a:latin typeface="Cambria Math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charset="0"/>
                            </a:rPr>
                            <m:t>𝑢</m:t>
                          </m:r>
                        </m:e>
                        <m:sub>
                          <m:r>
                            <a:rPr lang="en-US" i="1">
                              <a:latin typeface="Cambria Math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Rectangle 3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6200" y="4648200"/>
                <a:ext cx="799578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Straight Arrow Connector 33"/>
          <p:cNvCxnSpPr/>
          <p:nvPr/>
        </p:nvCxnSpPr>
        <p:spPr>
          <a:xfrm flipV="1">
            <a:off x="7086600" y="5856836"/>
            <a:ext cx="609600" cy="10565"/>
          </a:xfrm>
          <a:prstGeom prst="straightConnector1">
            <a:avLst/>
          </a:prstGeom>
          <a:ln w="34925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34"/>
              <p:cNvSpPr/>
              <p:nvPr/>
            </p:nvSpPr>
            <p:spPr>
              <a:xfrm>
                <a:off x="7162800" y="5399635"/>
                <a:ext cx="78996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charset="0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charset="0"/>
                            </a:rPr>
                            <m:t>𝑎</m:t>
                          </m:r>
                        </m:e>
                        <m:sub>
                          <m:r>
                            <a:rPr lang="en-US" i="1">
                              <a:latin typeface="Cambria Math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Rectangle 3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62800" y="5399635"/>
                <a:ext cx="789960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Rectangle 37"/>
              <p:cNvSpPr/>
              <p:nvPr/>
            </p:nvSpPr>
            <p:spPr>
              <a:xfrm>
                <a:off x="3981170" y="5257800"/>
                <a:ext cx="89563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charset="0"/>
                            </a:rPr>
                            <m:t>𝑖𝑛𝑝𝑢𝑡</m:t>
                          </m:r>
                        </m:e>
                        <m:sub>
                          <m:r>
                            <a:rPr lang="en-US" i="1" dirty="0">
                              <a:latin typeface="Cambria Math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8" name="Rectangle 3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81170" y="5257800"/>
                <a:ext cx="895630" cy="369332"/>
              </a:xfrm>
              <a:prstGeom prst="rect">
                <a:avLst/>
              </a:prstGeom>
              <a:blipFill>
                <a:blip r:embed="rId1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/>
          <p:cNvCxnSpPr/>
          <p:nvPr/>
        </p:nvCxnSpPr>
        <p:spPr>
          <a:xfrm flipV="1">
            <a:off x="4648200" y="5791201"/>
            <a:ext cx="609600" cy="10565"/>
          </a:xfrm>
          <a:prstGeom prst="straightConnector1">
            <a:avLst/>
          </a:prstGeom>
          <a:ln w="34925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9612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31" grpId="0"/>
      <p:bldP spid="33" grpId="0"/>
      <p:bldP spid="35" grpId="0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Time bounded channel &amp; Simple Failure Detector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1524000" y="1600200"/>
            <a:ext cx="4495800" cy="4953000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b="1" dirty="0"/>
              <a:t>Automaton </a:t>
            </a:r>
            <a:r>
              <a:rPr lang="en-US" dirty="0"/>
              <a:t>Timeout(</a:t>
            </a:r>
            <a:r>
              <a:rPr lang="en-US" dirty="0" err="1"/>
              <a:t>u,M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b="1" dirty="0"/>
              <a:t>   variables: </a:t>
            </a:r>
            <a:r>
              <a:rPr lang="en-US" dirty="0"/>
              <a:t>suspected: Boolean := F, 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	clock: Reals := 0</a:t>
            </a:r>
          </a:p>
          <a:p>
            <a:pPr marL="0" indent="0">
              <a:buNone/>
            </a:pPr>
            <a:r>
              <a:rPr lang="en-US" b="1" dirty="0"/>
              <a:t>   actions: external </a:t>
            </a:r>
            <a:r>
              <a:rPr lang="en-US" dirty="0"/>
              <a:t>receive(</a:t>
            </a:r>
            <a:r>
              <a:rPr lang="en-US" dirty="0" err="1"/>
              <a:t>m:M</a:t>
            </a:r>
            <a:r>
              <a:rPr lang="en-US" dirty="0"/>
              <a:t>), timeout</a:t>
            </a:r>
          </a:p>
          <a:p>
            <a:pPr marL="0" indent="0">
              <a:buNone/>
            </a:pPr>
            <a:r>
              <a:rPr lang="en-US" b="1" dirty="0"/>
              <a:t>   transitions:</a:t>
            </a:r>
          </a:p>
          <a:p>
            <a:pPr marL="0" indent="0">
              <a:buNone/>
            </a:pPr>
            <a:r>
              <a:rPr lang="en-US" b="1" dirty="0"/>
              <a:t>        </a:t>
            </a:r>
            <a:r>
              <a:rPr lang="en-US" dirty="0">
                <a:solidFill>
                  <a:srgbClr val="FF0000"/>
                </a:solidFill>
              </a:rPr>
              <a:t>receive(m)</a:t>
            </a:r>
          </a:p>
          <a:p>
            <a:pPr marL="0" indent="0">
              <a:buNone/>
            </a:pPr>
            <a:r>
              <a:rPr lang="en-US" b="1" dirty="0"/>
              <a:t>        pre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true</a:t>
            </a:r>
          </a:p>
          <a:p>
            <a:pPr marL="0" indent="0">
              <a:buNone/>
            </a:pPr>
            <a:r>
              <a:rPr lang="en-US" b="1" dirty="0"/>
              <a:t>        </a:t>
            </a:r>
            <a:r>
              <a:rPr lang="en-US" b="1" dirty="0" err="1"/>
              <a:t>eff</a:t>
            </a:r>
            <a:r>
              <a:rPr lang="en-US" b="1" dirty="0"/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clock := 0; suspected := false;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   </a:t>
            </a:r>
            <a:r>
              <a:rPr lang="en-US" dirty="0">
                <a:solidFill>
                  <a:srgbClr val="FF0000"/>
                </a:solidFill>
              </a:rPr>
              <a:t>    timeout</a:t>
            </a: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        </a:t>
            </a:r>
            <a:r>
              <a:rPr lang="en-US" b="1" dirty="0"/>
              <a:t>pre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~suspected /\ clock = u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b="1" dirty="0"/>
              <a:t>        </a:t>
            </a:r>
            <a:r>
              <a:rPr lang="en-US" b="1" dirty="0" err="1"/>
              <a:t>eff</a:t>
            </a:r>
            <a:r>
              <a:rPr lang="en-US" b="1" dirty="0"/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suspected := true</a:t>
            </a:r>
          </a:p>
          <a:p>
            <a:pPr marL="0" indent="0">
              <a:buNone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   </a:t>
            </a:r>
            <a:r>
              <a:rPr lang="en-US" b="1" dirty="0"/>
              <a:t>trajectories:</a:t>
            </a:r>
          </a:p>
          <a:p>
            <a:pPr marL="0" indent="0">
              <a:buNone/>
            </a:pPr>
            <a:r>
              <a:rPr lang="en-US" b="1" dirty="0"/>
              <a:t>        evolve </a:t>
            </a:r>
            <a:r>
              <a:rPr lang="en-US" dirty="0">
                <a:solidFill>
                  <a:srgbClr val="00B050"/>
                </a:solidFill>
              </a:rPr>
              <a:t>d(clock) = 1</a:t>
            </a:r>
          </a:p>
          <a:p>
            <a:pPr marL="0" indent="0">
              <a:buNone/>
            </a:pPr>
            <a:r>
              <a:rPr lang="en-US" b="1" dirty="0"/>
              <a:t>        stop when </a:t>
            </a:r>
            <a:r>
              <a:rPr lang="en-US" dirty="0">
                <a:solidFill>
                  <a:srgbClr val="F62AF6"/>
                </a:solidFill>
                <a:latin typeface="Cambria Math"/>
                <a:ea typeface="Cambria Math"/>
              </a:rPr>
              <a:t>clock = u /\ ~suspected</a:t>
            </a:r>
            <a:endParaRPr lang="en-US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>
          <a:xfrm>
            <a:off x="5715000" y="1600200"/>
            <a:ext cx="5257800" cy="5105400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b="1" dirty="0"/>
              <a:t>Automaton </a:t>
            </a:r>
            <a:r>
              <a:rPr lang="en-US" dirty="0"/>
              <a:t>Channel(</a:t>
            </a:r>
            <a:r>
              <a:rPr lang="en-US" dirty="0" err="1"/>
              <a:t>b,M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b="1" dirty="0"/>
              <a:t>   variables: </a:t>
            </a:r>
            <a:r>
              <a:rPr lang="en-US" dirty="0"/>
              <a:t>queue: </a:t>
            </a:r>
            <a:r>
              <a:rPr lang="en-US" b="1" dirty="0"/>
              <a:t>Queue</a:t>
            </a:r>
            <a:r>
              <a:rPr lang="en-US" dirty="0"/>
              <a:t>[</a:t>
            </a:r>
            <a:r>
              <a:rPr lang="en-US" dirty="0" err="1"/>
              <a:t>M,Reals</a:t>
            </a:r>
            <a:r>
              <a:rPr lang="en-US" dirty="0"/>
              <a:t>] := {}</a:t>
            </a:r>
            <a:endParaRPr lang="en-US" b="1" dirty="0"/>
          </a:p>
          <a:p>
            <a:pPr marL="0" indent="0">
              <a:buNone/>
            </a:pPr>
            <a:r>
              <a:rPr lang="en-US" b="1" dirty="0">
                <a:solidFill>
                  <a:srgbClr val="7030A0"/>
                </a:solidFill>
              </a:rPr>
              <a:t>	</a:t>
            </a:r>
            <a:r>
              <a:rPr lang="en-US" dirty="0">
                <a:solidFill>
                  <a:srgbClr val="7030A0"/>
                </a:solidFill>
              </a:rPr>
              <a:t>clock: Reals := 0</a:t>
            </a:r>
          </a:p>
          <a:p>
            <a:pPr marL="0" indent="0">
              <a:buNone/>
            </a:pPr>
            <a:r>
              <a:rPr lang="en-US" b="1" dirty="0"/>
              <a:t>   actions: external </a:t>
            </a:r>
            <a:r>
              <a:rPr lang="en-US" dirty="0"/>
              <a:t>send(</a:t>
            </a:r>
            <a:r>
              <a:rPr lang="en-US" dirty="0" err="1"/>
              <a:t>m:M</a:t>
            </a:r>
            <a:r>
              <a:rPr lang="en-US" dirty="0"/>
              <a:t>), receive(</a:t>
            </a:r>
            <a:r>
              <a:rPr lang="en-US" dirty="0" err="1"/>
              <a:t>m:M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b="1" dirty="0"/>
              <a:t>   transitions:</a:t>
            </a:r>
          </a:p>
          <a:p>
            <a:pPr marL="0" indent="0">
              <a:buNone/>
            </a:pPr>
            <a:r>
              <a:rPr lang="en-US" b="1" dirty="0"/>
              <a:t>        </a:t>
            </a:r>
            <a:r>
              <a:rPr lang="en-US" dirty="0">
                <a:solidFill>
                  <a:srgbClr val="FF0000"/>
                </a:solidFill>
              </a:rPr>
              <a:t>send(m)</a:t>
            </a:r>
          </a:p>
          <a:p>
            <a:pPr marL="0" indent="0">
              <a:buNone/>
            </a:pPr>
            <a:r>
              <a:rPr lang="en-US" b="1" dirty="0"/>
              <a:t>        pre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true</a:t>
            </a:r>
          </a:p>
          <a:p>
            <a:pPr marL="0" indent="0">
              <a:buNone/>
            </a:pPr>
            <a:r>
              <a:rPr lang="en-US" b="1" dirty="0"/>
              <a:t>        </a:t>
            </a:r>
            <a:r>
              <a:rPr lang="en-US" b="1" dirty="0" err="1"/>
              <a:t>eff</a:t>
            </a:r>
            <a:r>
              <a:rPr lang="en-US" b="1" dirty="0"/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queue := append(&lt;m,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clock+b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&gt;, queue)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   </a:t>
            </a:r>
            <a:r>
              <a:rPr lang="en-US" dirty="0">
                <a:solidFill>
                  <a:srgbClr val="FF0000"/>
                </a:solidFill>
              </a:rPr>
              <a:t>    receive(m)</a:t>
            </a: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        </a:t>
            </a:r>
            <a:r>
              <a:rPr lang="en-US" b="1" dirty="0"/>
              <a:t>pre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  <a:latin typeface="Cambria Math"/>
                <a:ea typeface="Cambria Math"/>
              </a:rPr>
              <a:t>head(queue)[1] = m</a:t>
            </a:r>
            <a:r>
              <a:rPr lang="en-US" b="1" dirty="0"/>
              <a:t> 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pPr marL="0" indent="0">
              <a:buNone/>
            </a:pPr>
            <a:r>
              <a:rPr lang="en-US" b="1" dirty="0"/>
              <a:t>        </a:t>
            </a:r>
            <a:r>
              <a:rPr lang="en-US" b="1" dirty="0" err="1"/>
              <a:t>eff</a:t>
            </a:r>
            <a:r>
              <a:rPr lang="en-US" b="1" dirty="0"/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queue :=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queue.tail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   </a:t>
            </a:r>
            <a:r>
              <a:rPr lang="en-US" b="1" dirty="0"/>
              <a:t>trajectories:</a:t>
            </a:r>
          </a:p>
          <a:p>
            <a:pPr marL="0" indent="0">
              <a:buNone/>
            </a:pPr>
            <a:r>
              <a:rPr lang="en-US" b="1" dirty="0"/>
              <a:t>        evolve </a:t>
            </a:r>
            <a:r>
              <a:rPr lang="en-US" dirty="0">
                <a:solidFill>
                  <a:srgbClr val="00B050"/>
                </a:solidFill>
              </a:rPr>
              <a:t>d(clock) = 1</a:t>
            </a:r>
          </a:p>
          <a:p>
            <a:pPr marL="0" indent="0">
              <a:buNone/>
            </a:pPr>
            <a:r>
              <a:rPr lang="en-US" b="1" dirty="0"/>
              <a:t>        stop when </a:t>
            </a:r>
            <a:r>
              <a:rPr lang="en-US" dirty="0">
                <a:solidFill>
                  <a:srgbClr val="F62AF6"/>
                </a:solidFill>
                <a:latin typeface="Cambria Math"/>
                <a:ea typeface="Cambria Math"/>
              </a:rPr>
              <a:t>∃ m, d, &lt;</a:t>
            </a:r>
            <a:r>
              <a:rPr lang="en-US" dirty="0" err="1">
                <a:solidFill>
                  <a:srgbClr val="F62AF6"/>
                </a:solidFill>
                <a:latin typeface="Cambria Math"/>
                <a:ea typeface="Cambria Math"/>
              </a:rPr>
              <a:t>m,d</a:t>
            </a:r>
            <a:r>
              <a:rPr lang="en-US" dirty="0">
                <a:solidFill>
                  <a:srgbClr val="F62AF6"/>
                </a:solidFill>
                <a:latin typeface="Cambria Math"/>
                <a:ea typeface="Cambria Math"/>
              </a:rPr>
              <a:t>&gt; ∈ queue </a:t>
            </a:r>
          </a:p>
          <a:p>
            <a:pPr marL="0" indent="0">
              <a:buNone/>
            </a:pPr>
            <a:r>
              <a:rPr lang="en-US" dirty="0">
                <a:solidFill>
                  <a:srgbClr val="F62AF6"/>
                </a:solidFill>
                <a:latin typeface="Cambria Math"/>
                <a:ea typeface="Cambria Math"/>
              </a:rPr>
              <a:t>	</a:t>
            </a:r>
            <a:r>
              <a:rPr lang="en-US" dirty="0">
                <a:solidFill>
                  <a:srgbClr val="F62AF6"/>
                </a:solidFill>
              </a:rPr>
              <a:t>/\  clock=d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/>
              <p14:cNvContentPartPr/>
              <p14:nvPr/>
            </p14:nvContentPartPr>
            <p14:xfrm>
              <a:off x="1524000" y="1005120"/>
              <a:ext cx="8792280" cy="4881960"/>
            </p14:xfrm>
          </p:contentPart>
        </mc:Choice>
        <mc:Fallback xmlns="">
          <p:pic>
            <p:nvPicPr>
              <p:cNvPr id="3" name="Ink 2"/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514640" y="995760"/>
                <a:ext cx="8811000" cy="4900680"/>
              </a:xfrm>
              <a:prstGeom prst="rect">
                <a:avLst/>
              </a:prstGeom>
            </p:spPr>
          </p:pic>
        </mc:Fallback>
      </mc:AlternateContent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7344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8" fill="hold">
                      <p:stCondLst>
                        <p:cond delay="indefinite"/>
                      </p:stCondLst>
                      <p:childTnLst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8" fill="hold">
                      <p:stCondLst>
                        <p:cond delay="indefinite"/>
                      </p:stCondLst>
                      <p:childTnLst>
                        <p:par>
                          <p:cTn id="129" fill="hold">
                            <p:stCondLst>
                              <p:cond delay="0"/>
                            </p:stCondLst>
                            <p:childTnLst>
                              <p:par>
                                <p:cTn id="1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8" fill="hold">
                      <p:stCondLst>
                        <p:cond delay="indefinite"/>
                      </p:stCondLst>
                      <p:childTnLst>
                        <p:par>
                          <p:cTn id="139" fill="hold">
                            <p:stCondLst>
                              <p:cond delay="0"/>
                            </p:stCondLst>
                            <p:childTnLst>
                              <p:par>
                                <p:cTn id="1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Some properties about composed automata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>
                    <a:ea typeface="Cambria Math"/>
                  </a:rPr>
                  <a:t>L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dirty="0" smtClean="0">
                        <a:latin typeface="Cambria Math" panose="02040503050406030204" pitchFamily="18" charset="0"/>
                        <a:ea typeface="Cambria Math"/>
                      </a:rPr>
                      <m:t>et</m:t>
                    </m:r>
                    <m:r>
                      <a:rPr lang="en-US" b="0" i="0" dirty="0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  <m:r>
                      <a:rPr lang="en-US" b="1" i="1" dirty="0">
                        <a:latin typeface="Cambria Math" panose="02040503050406030204" pitchFamily="18" charset="0"/>
                        <a:ea typeface="Cambria Math"/>
                      </a:rPr>
                      <m:t>𝓐</m:t>
                    </m:r>
                  </m:oMath>
                </a14:m>
                <a:r>
                  <a:rPr lang="en-US" dirty="0"/>
                  <a:t>=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||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 and let </a:t>
                </a:r>
                <a:r>
                  <a:rPr lang="el-GR" dirty="0">
                    <a:ea typeface="Cambria Math"/>
                  </a:rPr>
                  <a:t>α</a:t>
                </a:r>
                <a:r>
                  <a:rPr lang="en-US" dirty="0">
                    <a:ea typeface="Cambria Math"/>
                  </a:rPr>
                  <a:t> be an execution fragment of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  <a:ea typeface="Cambria Math"/>
                      </a:rPr>
                      <m:t>𝓐</m:t>
                    </m:r>
                    <m:r>
                      <a:rPr lang="en-US" b="0" i="0" dirty="0" smtClean="0">
                        <a:latin typeface="Cambria Math" panose="02040503050406030204" pitchFamily="18" charset="0"/>
                        <a:ea typeface="Cambria Math"/>
                      </a:rPr>
                      <m:t>.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Then </a:t>
                </a:r>
                <a:r>
                  <a:rPr lang="el-GR" dirty="0">
                    <a:ea typeface="Cambria Math"/>
                  </a:rPr>
                  <a:t>α</a:t>
                </a:r>
                <a:r>
                  <a:rPr lang="en-US" baseline="-25000" dirty="0" err="1">
                    <a:ea typeface="Cambria Math"/>
                  </a:rPr>
                  <a:t>i</a:t>
                </a:r>
                <a:r>
                  <a:rPr lang="en-US" dirty="0">
                    <a:ea typeface="Cambria Math"/>
                  </a:rPr>
                  <a:t> = </a:t>
                </a:r>
                <a:r>
                  <a:rPr lang="el-GR" dirty="0">
                    <a:ea typeface="Cambria Math"/>
                  </a:rPr>
                  <a:t>α</a:t>
                </a:r>
                <a:r>
                  <a:rPr lang="en-US" dirty="0">
                    <a:ea typeface="Cambria Math"/>
                  </a:rPr>
                  <a:t>|(A</a:t>
                </a:r>
                <a:r>
                  <a:rPr lang="en-US" baseline="-25000" dirty="0">
                    <a:ea typeface="Cambria Math"/>
                  </a:rPr>
                  <a:t>i</a:t>
                </a:r>
                <a:r>
                  <a:rPr lang="en-US" dirty="0">
                    <a:ea typeface="Cambria Math"/>
                  </a:rPr>
                  <a:t>, X</a:t>
                </a:r>
                <a:r>
                  <a:rPr lang="en-US" baseline="-25000" dirty="0">
                    <a:ea typeface="Cambria Math"/>
                  </a:rPr>
                  <a:t>i</a:t>
                </a:r>
                <a:r>
                  <a:rPr lang="en-US" dirty="0">
                    <a:ea typeface="Cambria Math"/>
                  </a:rPr>
                  <a:t>) is an execution fragment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i</a:t>
                </a:r>
                <a:r>
                  <a:rPr lang="en-US" dirty="0"/>
                  <a:t> </a:t>
                </a:r>
              </a:p>
              <a:p>
                <a:pPr lvl="1"/>
                <a:r>
                  <a:rPr lang="el-GR" dirty="0">
                    <a:ea typeface="Cambria Math"/>
                  </a:rPr>
                  <a:t>α</a:t>
                </a:r>
                <a:r>
                  <a:rPr lang="en-US" dirty="0">
                    <a:ea typeface="Cambria Math"/>
                  </a:rPr>
                  <a:t> is time-bounded </a:t>
                </a:r>
                <a:r>
                  <a:rPr lang="en-US" dirty="0" err="1">
                    <a:ea typeface="Cambria Math"/>
                  </a:rPr>
                  <a:t>iff</a:t>
                </a:r>
                <a:r>
                  <a:rPr lang="en-US" dirty="0">
                    <a:ea typeface="Cambria Math"/>
                  </a:rPr>
                  <a:t> both </a:t>
                </a:r>
                <a:r>
                  <a:rPr lang="el-GR" dirty="0">
                    <a:ea typeface="Cambria Math"/>
                  </a:rPr>
                  <a:t>α</a:t>
                </a:r>
                <a:r>
                  <a:rPr lang="en-US" baseline="-25000" dirty="0">
                    <a:ea typeface="Cambria Math"/>
                  </a:rPr>
                  <a:t>1 </a:t>
                </a:r>
                <a:r>
                  <a:rPr lang="en-US" dirty="0">
                    <a:ea typeface="Cambria Math"/>
                  </a:rPr>
                  <a:t>and </a:t>
                </a:r>
                <a:r>
                  <a:rPr lang="el-GR" dirty="0">
                    <a:ea typeface="Cambria Math"/>
                  </a:rPr>
                  <a:t>α</a:t>
                </a:r>
                <a:r>
                  <a:rPr lang="en-US" baseline="-25000" dirty="0">
                    <a:ea typeface="Cambria Math"/>
                  </a:rPr>
                  <a:t>2 </a:t>
                </a:r>
                <a:r>
                  <a:rPr lang="en-US" dirty="0">
                    <a:ea typeface="Cambria Math"/>
                  </a:rPr>
                  <a:t> are time-bounded</a:t>
                </a:r>
              </a:p>
              <a:p>
                <a:pPr lvl="1"/>
                <a:r>
                  <a:rPr lang="el-GR" dirty="0">
                    <a:ea typeface="Cambria Math"/>
                  </a:rPr>
                  <a:t>α</a:t>
                </a:r>
                <a:r>
                  <a:rPr lang="en-US" dirty="0">
                    <a:ea typeface="Cambria Math"/>
                  </a:rPr>
                  <a:t> is admissible </a:t>
                </a:r>
                <a:r>
                  <a:rPr lang="en-US" dirty="0" err="1">
                    <a:ea typeface="Cambria Math"/>
                  </a:rPr>
                  <a:t>iff</a:t>
                </a:r>
                <a:r>
                  <a:rPr lang="en-US" dirty="0">
                    <a:ea typeface="Cambria Math"/>
                  </a:rPr>
                  <a:t> both </a:t>
                </a:r>
                <a:r>
                  <a:rPr lang="el-GR" dirty="0">
                    <a:ea typeface="Cambria Math"/>
                  </a:rPr>
                  <a:t>α</a:t>
                </a:r>
                <a:r>
                  <a:rPr lang="en-US" baseline="-25000" dirty="0">
                    <a:ea typeface="Cambria Math"/>
                  </a:rPr>
                  <a:t>1 </a:t>
                </a:r>
                <a:r>
                  <a:rPr lang="en-US" dirty="0">
                    <a:ea typeface="Cambria Math"/>
                  </a:rPr>
                  <a:t>and </a:t>
                </a:r>
                <a:r>
                  <a:rPr lang="el-GR" dirty="0">
                    <a:ea typeface="Cambria Math"/>
                  </a:rPr>
                  <a:t>α</a:t>
                </a:r>
                <a:r>
                  <a:rPr lang="en-US" baseline="-25000" dirty="0">
                    <a:ea typeface="Cambria Math"/>
                  </a:rPr>
                  <a:t>2 </a:t>
                </a:r>
                <a:r>
                  <a:rPr lang="en-US" dirty="0">
                    <a:ea typeface="Cambria Math"/>
                  </a:rPr>
                  <a:t> are admissible</a:t>
                </a:r>
                <a:endParaRPr lang="en-US" dirty="0"/>
              </a:p>
              <a:p>
                <a:pPr lvl="1"/>
                <a:r>
                  <a:rPr lang="el-GR" dirty="0">
                    <a:ea typeface="Cambria Math"/>
                  </a:rPr>
                  <a:t>α</a:t>
                </a:r>
                <a:r>
                  <a:rPr lang="en-US" dirty="0">
                    <a:ea typeface="Cambria Math"/>
                  </a:rPr>
                  <a:t> is closed </a:t>
                </a:r>
                <a:r>
                  <a:rPr lang="en-US" dirty="0" err="1">
                    <a:ea typeface="Cambria Math"/>
                  </a:rPr>
                  <a:t>iff</a:t>
                </a:r>
                <a:r>
                  <a:rPr lang="en-US" dirty="0">
                    <a:ea typeface="Cambria Math"/>
                  </a:rPr>
                  <a:t> both </a:t>
                </a:r>
                <a:r>
                  <a:rPr lang="el-GR" dirty="0">
                    <a:ea typeface="Cambria Math"/>
                  </a:rPr>
                  <a:t>α</a:t>
                </a:r>
                <a:r>
                  <a:rPr lang="en-US" baseline="-25000" dirty="0">
                    <a:ea typeface="Cambria Math"/>
                  </a:rPr>
                  <a:t>1 </a:t>
                </a:r>
                <a:r>
                  <a:rPr lang="en-US" dirty="0">
                    <a:ea typeface="Cambria Math"/>
                  </a:rPr>
                  <a:t>and </a:t>
                </a:r>
                <a:r>
                  <a:rPr lang="el-GR" dirty="0">
                    <a:ea typeface="Cambria Math"/>
                  </a:rPr>
                  <a:t>α</a:t>
                </a:r>
                <a:r>
                  <a:rPr lang="en-US" baseline="-25000" dirty="0">
                    <a:ea typeface="Cambria Math"/>
                  </a:rPr>
                  <a:t>2 </a:t>
                </a:r>
                <a:r>
                  <a:rPr lang="en-US" dirty="0">
                    <a:ea typeface="Cambria Math"/>
                  </a:rPr>
                  <a:t> are closed</a:t>
                </a:r>
              </a:p>
              <a:p>
                <a:pPr lvl="1"/>
                <a:r>
                  <a:rPr lang="el-GR" dirty="0">
                    <a:ea typeface="Cambria Math"/>
                  </a:rPr>
                  <a:t>α</a:t>
                </a:r>
                <a:r>
                  <a:rPr lang="en-US" dirty="0">
                    <a:ea typeface="Cambria Math"/>
                  </a:rPr>
                  <a:t> is non-Zeno </a:t>
                </a:r>
                <a:r>
                  <a:rPr lang="en-US" dirty="0" err="1">
                    <a:ea typeface="Cambria Math"/>
                  </a:rPr>
                  <a:t>iff</a:t>
                </a:r>
                <a:r>
                  <a:rPr lang="en-US" dirty="0">
                    <a:ea typeface="Cambria Math"/>
                  </a:rPr>
                  <a:t> both </a:t>
                </a:r>
                <a:r>
                  <a:rPr lang="el-GR" dirty="0">
                    <a:ea typeface="Cambria Math"/>
                  </a:rPr>
                  <a:t>α</a:t>
                </a:r>
                <a:r>
                  <a:rPr lang="en-US" baseline="-25000" dirty="0">
                    <a:ea typeface="Cambria Math"/>
                  </a:rPr>
                  <a:t>1 </a:t>
                </a:r>
                <a:r>
                  <a:rPr lang="en-US" dirty="0">
                    <a:ea typeface="Cambria Math"/>
                  </a:rPr>
                  <a:t>and </a:t>
                </a:r>
                <a:r>
                  <a:rPr lang="el-GR" dirty="0">
                    <a:ea typeface="Cambria Math"/>
                  </a:rPr>
                  <a:t>α</a:t>
                </a:r>
                <a:r>
                  <a:rPr lang="en-US" baseline="-25000" dirty="0">
                    <a:ea typeface="Cambria Math"/>
                  </a:rPr>
                  <a:t>2 </a:t>
                </a:r>
                <a:r>
                  <a:rPr lang="en-US" dirty="0">
                    <a:ea typeface="Cambria Math"/>
                  </a:rPr>
                  <a:t> are non-Zeno</a:t>
                </a:r>
              </a:p>
              <a:p>
                <a:pPr lvl="1"/>
                <a:r>
                  <a:rPr lang="el-GR" dirty="0">
                    <a:ea typeface="Cambria Math"/>
                  </a:rPr>
                  <a:t>α</a:t>
                </a:r>
                <a:r>
                  <a:rPr lang="en-US" dirty="0">
                    <a:ea typeface="Cambria Math"/>
                  </a:rPr>
                  <a:t> is an execution </a:t>
                </a:r>
                <a:r>
                  <a:rPr lang="en-US" dirty="0" err="1">
                    <a:ea typeface="Cambria Math"/>
                  </a:rPr>
                  <a:t>iff</a:t>
                </a:r>
                <a:r>
                  <a:rPr lang="en-US" dirty="0">
                    <a:ea typeface="Cambria Math"/>
                  </a:rPr>
                  <a:t> both </a:t>
                </a:r>
                <a:r>
                  <a:rPr lang="el-GR" dirty="0">
                    <a:ea typeface="Cambria Math"/>
                  </a:rPr>
                  <a:t>α</a:t>
                </a:r>
                <a:r>
                  <a:rPr lang="en-US" baseline="-25000" dirty="0">
                    <a:ea typeface="Cambria Math"/>
                  </a:rPr>
                  <a:t>1 </a:t>
                </a:r>
                <a:r>
                  <a:rPr lang="en-US" dirty="0">
                    <a:ea typeface="Cambria Math"/>
                  </a:rPr>
                  <a:t>and </a:t>
                </a:r>
                <a:r>
                  <a:rPr lang="el-GR" dirty="0">
                    <a:ea typeface="Cambria Math"/>
                  </a:rPr>
                  <a:t>α</a:t>
                </a:r>
                <a:r>
                  <a:rPr lang="en-US" baseline="-25000" dirty="0">
                    <a:ea typeface="Cambria Math"/>
                  </a:rPr>
                  <a:t>2 </a:t>
                </a:r>
                <a:r>
                  <a:rPr lang="en-US" dirty="0">
                    <a:ea typeface="Cambria Math"/>
                  </a:rPr>
                  <a:t> are executions</a:t>
                </a:r>
              </a:p>
              <a:p>
                <a:r>
                  <a:rPr lang="en-US" dirty="0">
                    <a:ea typeface="Cambria Math"/>
                  </a:rPr>
                  <a:t>Traces</a:t>
                </a:r>
                <a:r>
                  <a:rPr lang="en-US" b="1" baseline="-25000" dirty="0">
                    <a:ea typeface="Cambria Math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baseline="-25000" dirty="0">
                        <a:latin typeface="Cambria Math" panose="02040503050406030204" pitchFamily="18" charset="0"/>
                        <a:ea typeface="Cambria Math"/>
                      </a:rPr>
                      <m:t>𝓐</m:t>
                    </m:r>
                    <m:r>
                      <a:rPr lang="en-US" b="1" i="1" dirty="0" smtClean="0">
                        <a:latin typeface="Cambria Math" panose="02040503050406030204" pitchFamily="18" charset="0"/>
                        <a:ea typeface="Cambria Math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b="1" i="1" dirty="0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  <a:ea typeface="Cambria Math"/>
                          </a:rPr>
                          <m:t> 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  <a:ea typeface="Cambria Math"/>
                          </a:rPr>
                          <m:t>𝜷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  <a:ea typeface="Cambria Math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b="1" dirty="0">
                    <a:ea typeface="Cambria Math"/>
                  </a:rPr>
                  <a:t>  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  <m:r>
                      <a:rPr lang="en-US" b="1" i="1" dirty="0">
                        <a:latin typeface="Cambria Math" panose="02040503050406030204" pitchFamily="18" charset="0"/>
                        <a:ea typeface="Cambria Math"/>
                      </a:rPr>
                      <m:t>𝜷</m:t>
                    </m:r>
                  </m:oMath>
                </a14:m>
                <a:r>
                  <a:rPr lang="en-US" dirty="0">
                    <a:ea typeface="Cambria Math"/>
                  </a:rPr>
                  <a:t>| E</a:t>
                </a:r>
                <a:r>
                  <a:rPr lang="en-US" baseline="-25000" dirty="0">
                    <a:ea typeface="Cambria Math"/>
                  </a:rPr>
                  <a:t>i</a:t>
                </a:r>
                <a:r>
                  <a:rPr lang="en-US" dirty="0">
                    <a:ea typeface="Cambria Math"/>
                  </a:rPr>
                  <a:t> </a:t>
                </a:r>
                <a:r>
                  <a:rPr lang="el-GR" dirty="0">
                    <a:ea typeface="Cambria Math"/>
                  </a:rPr>
                  <a:t>ϵ</a:t>
                </a:r>
                <a:r>
                  <a:rPr lang="en-US" dirty="0">
                    <a:ea typeface="Cambria Math"/>
                  </a:rPr>
                  <a:t> Traces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 err="1"/>
                  <a:t>i</a:t>
                </a:r>
                <a:r>
                  <a:rPr lang="en-US" dirty="0"/>
                  <a:t> }</a:t>
                </a:r>
                <a:endParaRPr lang="en-US" dirty="0">
                  <a:ea typeface="Cambria Math"/>
                </a:endParaRPr>
              </a:p>
              <a:p>
                <a:r>
                  <a:rPr lang="en-US" dirty="0">
                    <a:ea typeface="Cambria Math"/>
                  </a:rPr>
                  <a:t>See examples in the TIOA monograph</a:t>
                </a:r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5" name="Content Placeholder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0998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D873A-1519-FE4E-8943-61D7A0982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trace theorem restriction from composition of I/O automata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1EC809C-BEE6-2B4A-86DF-3533912281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00B0F0"/>
                    </a:solidFill>
                  </a:rPr>
                  <a:t>Theorem 5.5</a:t>
                </a:r>
                <a:r>
                  <a:rPr lang="en-US" dirty="0">
                    <a:solidFill>
                      <a:srgbClr val="00B0F0"/>
                    </a:solidFill>
                  </a:rPr>
                  <a:t> </a:t>
                </a:r>
                <a:r>
                  <a:rPr lang="en-US" dirty="0"/>
                  <a:t>(from Theory of Timed I/O Automata by Lynch et. al.) </a:t>
                </a:r>
              </a:p>
              <a:p>
                <a:pPr marL="0" indent="0">
                  <a:buNone/>
                </a:pPr>
                <a:r>
                  <a:rPr lang="en-US" dirty="0"/>
                  <a:t>Suppose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=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||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 </a:t>
                </a:r>
                <a:r>
                  <a:rPr lang="en-US" dirty="0"/>
                  <a:t>and let E be the set of input/output actions of A. Then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/>
                          </a:rPr>
                          <m:t>Traces</m:t>
                        </m:r>
                      </m:e>
                      <m:sub>
                        <m:r>
                          <a:rPr lang="en-US" i="1">
                            <a:latin typeface="Cambria Math"/>
                            <a:ea typeface="Cambria Math"/>
                          </a:rPr>
                          <m:t>𝒜</m:t>
                        </m:r>
                      </m:sub>
                    </m:sSub>
                  </m:oMath>
                </a14:m>
                <a:r>
                  <a:rPr lang="en-US" dirty="0"/>
                  <a:t> is exactly the set of (E, ∅)-sequences whose restrictions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 are traces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/>
                      </a:rPr>
                      <m:t>and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 , respectively. That is,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/>
                          </a:rPr>
                          <m:t>Traces</m:t>
                        </m:r>
                      </m:e>
                      <m:sub>
                        <m:r>
                          <a:rPr lang="en-US" sz="2400" i="1">
                            <a:latin typeface="Cambria Math"/>
                            <a:ea typeface="Cambria Math"/>
                          </a:rPr>
                          <m:t>𝒜</m:t>
                        </m:r>
                      </m:sub>
                    </m:sSub>
                  </m:oMath>
                </a14:m>
                <a:r>
                  <a:rPr lang="en-US" sz="2400" dirty="0"/>
                  <a:t> = {</a:t>
                </a:r>
                <a:r>
                  <a:rPr lang="el-GR" sz="2400" dirty="0"/>
                  <a:t>β | β </a:t>
                </a:r>
                <a:r>
                  <a:rPr lang="en-US" sz="2400" dirty="0"/>
                  <a:t>is an (E, ∅)-sequence and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/>
                      </a:rPr>
                      <m:t>𝛽</m:t>
                    </m:r>
                    <m:d>
                      <m:dPr>
                        <m:begChr m:val="⌈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d>
                          <m:dPr>
                            <m:endChr m:val="|"/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  <a:ea typeface="Cambria Math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ea typeface="Cambria Math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/>
                                    <a:ea typeface="Cambria Math"/>
                                  </a:rPr>
                                  <m:t>𝒜</m:t>
                                </m:r>
                                <m:r>
                                  <m:rPr>
                                    <m:nor/>
                                  </m:rPr>
                                  <a:rPr lang="en-US" sz="2400" baseline="-25000" dirty="0"/>
                                  <m:t>1</m:t>
                                </m:r>
                              </m:sub>
                            </m:sSub>
                          </m:e>
                        </m:d>
                      </m:e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/>
                          </a:rPr>
                          <m:t>∅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</m:oMath>
                </a14:m>
                <a:r>
                  <a:rPr lang="en-US" sz="2400" dirty="0"/>
                  <a:t>∈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  <a:ea typeface="Cambria Math"/>
                              </a:rPr>
                              <m:t>Traces</m:t>
                            </m:r>
                          </m:e>
                          <m:sub>
                            <m:r>
                              <a:rPr lang="en-US" sz="2400" i="1">
                                <a:latin typeface="Cambria Math"/>
                                <a:ea typeface="Cambria Math"/>
                              </a:rPr>
                              <m:t>𝒜</m:t>
                            </m:r>
                          </m:sub>
                        </m:sSub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/>
                  <a:t> , </a:t>
                </a:r>
                <a:r>
                  <a:rPr lang="en-US" sz="2400" dirty="0" err="1"/>
                  <a:t>i</a:t>
                </a:r>
                <a:r>
                  <a:rPr lang="en-US" sz="2400" dirty="0"/>
                  <a:t> ∈ {1, 2}}.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1EC809C-BEE6-2B4A-86DF-3533912281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32" r="-12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136178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Substitutivity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3200" b="1" dirty="0">
                    <a:solidFill>
                      <a:srgbClr val="00B0F0"/>
                    </a:solidFill>
                  </a:rPr>
                  <a:t>Theorem 1</a:t>
                </a:r>
                <a:r>
                  <a:rPr lang="en-US" sz="3200" b="1" dirty="0">
                    <a:solidFill>
                      <a:srgbClr val="00B050"/>
                    </a:solidFill>
                  </a:rPr>
                  <a:t>. </a:t>
                </a:r>
                <a:r>
                  <a:rPr lang="en-US" sz="3200" dirty="0"/>
                  <a:t>Suppose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sz="3200" baseline="-25000" dirty="0"/>
                  <a:t>1</a:t>
                </a:r>
                <a:r>
                  <a:rPr lang="en-US" sz="3200" dirty="0"/>
                  <a:t> ,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sz="3200" baseline="-25000" dirty="0"/>
                  <a:t>2 </a:t>
                </a:r>
                <a:r>
                  <a:rPr lang="en-US" sz="3200" dirty="0"/>
                  <a:t>and 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/>
                        <a:ea typeface="Cambria Math"/>
                      </a:rPr>
                      <m:t>ℬ</m:t>
                    </m:r>
                  </m:oMath>
                </a14:m>
                <a:r>
                  <a:rPr lang="en-US" sz="3200" dirty="0"/>
                  <a:t> have the same external interface and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sz="3200" baseline="-25000" dirty="0"/>
                  <a:t>1</a:t>
                </a:r>
                <a:r>
                  <a:rPr lang="en-US" sz="3200" dirty="0"/>
                  <a:t> ,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sz="3200" baseline="-25000" dirty="0"/>
                  <a:t>2 </a:t>
                </a:r>
                <a:r>
                  <a:rPr lang="en-US" sz="3200" dirty="0"/>
                  <a:t>are compatible with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/>
                        <a:ea typeface="Cambria Math"/>
                      </a:rPr>
                      <m:t>ℬ</m:t>
                    </m:r>
                  </m:oMath>
                </a14:m>
                <a:r>
                  <a:rPr lang="en-US" sz="3200" dirty="0"/>
                  <a:t>. 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3200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sz="3200" i="1">
                            <a:latin typeface="Cambria Math"/>
                            <a:ea typeface="Cambria Math"/>
                          </a:rPr>
                          <m:t>𝒜</m:t>
                        </m:r>
                      </m:e>
                      <m:sub>
                        <m:r>
                          <a:rPr lang="en-US" sz="3200" b="0" i="1" smtClean="0">
                            <a:latin typeface="Cambria Math" panose="02040503050406030204" pitchFamily="18" charset="0"/>
                            <a:ea typeface="Cambria Math"/>
                          </a:rPr>
                          <m:t>1</m:t>
                        </m:r>
                      </m:sub>
                    </m:sSub>
                    <m:r>
                      <a:rPr lang="en-US" sz="3200" b="0" i="1" smtClean="0">
                        <a:latin typeface="Cambria Math" panose="02040503050406030204" pitchFamily="18" charset="0"/>
                        <a:ea typeface="Cambria Math"/>
                      </a:rPr>
                      <m:t>≼</m:t>
                    </m:r>
                  </m:oMath>
                </a14:m>
                <a:r>
                  <a:rPr lang="en-US" sz="3200" dirty="0"/>
                  <a:t>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sz="3200" baseline="-25000" dirty="0"/>
                  <a:t>2 </a:t>
                </a:r>
                <a:r>
                  <a:rPr lang="en-US" sz="3200" dirty="0"/>
                  <a:t>then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sz="3200" baseline="-25000" dirty="0"/>
                  <a:t>1</a:t>
                </a:r>
                <a:r>
                  <a:rPr lang="en-US" sz="3200" dirty="0"/>
                  <a:t>||</a:t>
                </a:r>
                <a:r>
                  <a:rPr lang="en-US" sz="3200" dirty="0">
                    <a:ea typeface="Cambria Math"/>
                  </a:rPr>
                  <a:t>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sz="3200" b="0" i="1" smtClean="0">
                        <a:latin typeface="Cambria Math" panose="02040503050406030204" pitchFamily="18" charset="0"/>
                        <a:ea typeface="Cambria Math"/>
                      </a:rPr>
                      <m:t>≼</m:t>
                    </m:r>
                  </m:oMath>
                </a14:m>
                <a:r>
                  <a:rPr lang="en-US" sz="3200" dirty="0"/>
                  <a:t>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sz="3200" baseline="-25000" dirty="0"/>
                  <a:t>2 </a:t>
                </a:r>
                <a:r>
                  <a:rPr lang="en-US" sz="3200" dirty="0"/>
                  <a:t>||</a:t>
                </a:r>
                <a:r>
                  <a:rPr lang="en-US" sz="3200" dirty="0">
                    <a:ea typeface="Cambria Math"/>
                  </a:rPr>
                  <a:t>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/>
                        <a:ea typeface="Cambria Math"/>
                      </a:rPr>
                      <m:t>ℬ</m:t>
                    </m:r>
                  </m:oMath>
                </a14:m>
                <a:endParaRPr lang="en-US" sz="3200" dirty="0"/>
              </a:p>
              <a:p>
                <a:pPr marL="0" indent="0">
                  <a:buNone/>
                </a:pPr>
                <a:endParaRPr lang="en-US" sz="32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48" t="-3216" r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76505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Substutivity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b="1" dirty="0">
                    <a:solidFill>
                      <a:srgbClr val="00B0F0"/>
                    </a:solidFill>
                  </a:rPr>
                  <a:t>Theorem 2. </a:t>
                </a:r>
                <a:r>
                  <a:rPr lang="en-US" dirty="0"/>
                  <a:t>Suppose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 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1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 are HAs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 </a:t>
                </a:r>
                <a:r>
                  <a:rPr lang="en-US" dirty="0"/>
                  <a:t>have the same external actions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i="1" baseline="-25000">
                        <a:latin typeface="Cambria Math"/>
                        <a:ea typeface="Cambria Math"/>
                      </a:rPr>
                      <m:t>1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 have the same external actions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 </a:t>
                </a:r>
                <a:r>
                  <a:rPr lang="en-US" dirty="0"/>
                  <a:t> is compatible with each of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/>
                        <a:ea typeface="Cambria Math"/>
                      </a:rPr>
                      <m:t> 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</m:oMath>
                </a14:m>
                <a:r>
                  <a:rPr lang="en-US" baseline="-25000" dirty="0"/>
                  <a:t>1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 .</a:t>
                </a:r>
              </a:p>
              <a:p>
                <a:pPr marL="0" indent="0">
                  <a:lnSpc>
                    <a:spcPct val="110000"/>
                  </a:lnSpc>
                  <a:buNone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𝒜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  <a:ea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and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charset="0"/>
                        <a:ea typeface="Cambria Math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ℬ</m:t>
                        </m:r>
                      </m:e>
                      <m:sub>
                        <m:r>
                          <a:rPr lang="en-US" b="0" i="1" smtClean="0">
                            <a:latin typeface="Cambria Math" charset="0"/>
                            <a:ea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baseline="-2500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≼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/>
                        <a:ea typeface="Cambria Math"/>
                      </a:rPr>
                      <m:t>||</m:t>
                    </m:r>
                  </m:oMath>
                </a14:m>
                <a:r>
                  <a:rPr lang="en-US" baseline="-25000" dirty="0"/>
                  <a:t> 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i="1" baseline="-25000">
                        <a:latin typeface="Cambria Math"/>
                        <a:ea typeface="Cambria Math"/>
                      </a:rPr>
                      <m:t>1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≼</m:t>
                    </m:r>
                    <m:r>
                      <a:rPr lang="en-US" b="0" i="0" smtClean="0">
                        <a:latin typeface="Cambria Math"/>
                        <a:ea typeface="Cambria Math"/>
                      </a:rPr>
                      <m:t> 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||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 . </a:t>
                </a:r>
              </a:p>
              <a:p>
                <a:pPr>
                  <a:lnSpc>
                    <a:spcPct val="110000"/>
                  </a:lnSpc>
                </a:pPr>
                <a:endParaRPr lang="en-US" dirty="0"/>
              </a:p>
              <a:p>
                <a:pPr>
                  <a:lnSpc>
                    <a:spcPct val="110000"/>
                  </a:lnSpc>
                </a:pPr>
                <a:r>
                  <a:rPr lang="en-US" dirty="0"/>
                  <a:t>Proof.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/>
                        <a:ea typeface="Cambria Math"/>
                      </a:rPr>
                      <m:t>||</m:t>
                    </m:r>
                  </m:oMath>
                </a14:m>
                <a:r>
                  <a:rPr lang="en-US" baseline="-25000" dirty="0"/>
                  <a:t> 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i="1" baseline="-25000">
                        <a:latin typeface="Cambria Math"/>
                        <a:ea typeface="Cambria Math"/>
                      </a:rPr>
                      <m:t>1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≼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||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b="0" i="0" baseline="-25000" smtClean="0">
                        <a:latin typeface="Cambria Math"/>
                        <a:ea typeface="Cambria Math"/>
                      </a:rPr>
                      <m:t>1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457200" lvl="1" indent="0">
                  <a:lnSpc>
                    <a:spcPct val="11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||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baseline="-25000">
                        <a:latin typeface="Cambria Math"/>
                        <a:ea typeface="Cambria Math"/>
                      </a:rPr>
                      <m:t>1</m:t>
                    </m:r>
                    <m:r>
                      <a:rPr lang="en-US" b="0" i="0" baseline="-25000" smtClean="0">
                        <a:latin typeface="Cambria Math" panose="02040503050406030204" pitchFamily="18" charset="0"/>
                        <a:ea typeface="Cambria Math"/>
                      </a:rPr>
                      <m:t> 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≼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||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b="0" i="0" baseline="-25000" smtClean="0">
                        <a:latin typeface="Cambria Math"/>
                        <a:ea typeface="Cambria Math"/>
                      </a:rPr>
                      <m:t>2</m:t>
                    </m:r>
                  </m:oMath>
                </a14:m>
                <a:endParaRPr lang="en-US" b="0" baseline="-25000" dirty="0">
                  <a:ea typeface="Cambria Math"/>
                </a:endParaRPr>
              </a:p>
              <a:p>
                <a:pPr marL="457200" lvl="1" indent="0">
                  <a:lnSpc>
                    <a:spcPct val="110000"/>
                  </a:lnSpc>
                  <a:buNone/>
                </a:pPr>
                <a:r>
                  <a:rPr lang="en-US" dirty="0"/>
                  <a:t>By transitivity of implementation relation </a:t>
                </a:r>
              </a:p>
              <a:p>
                <a:pPr marL="457200" lvl="1" indent="0">
                  <a:lnSpc>
                    <a:spcPct val="110000"/>
                  </a:lnSpc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/>
                        <a:ea typeface="Cambria Math"/>
                      </a:rPr>
                      <m:t>||</m:t>
                    </m:r>
                  </m:oMath>
                </a14:m>
                <a:r>
                  <a:rPr lang="en-US" baseline="-25000" dirty="0"/>
                  <a:t> 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i="1" baseline="-25000">
                        <a:latin typeface="Cambria Math"/>
                        <a:ea typeface="Cambria Math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≼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||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b="0" i="0" baseline="-25000" smtClean="0">
                        <a:latin typeface="Cambria Math"/>
                        <a:ea typeface="Cambria Math"/>
                      </a:rPr>
                      <m:t>2</m:t>
                    </m:r>
                  </m:oMath>
                </a14:m>
                <a:r>
                  <a:rPr lang="en-US" dirty="0"/>
                  <a:t> </a:t>
                </a:r>
              </a:p>
              <a:p>
                <a:pPr>
                  <a:lnSpc>
                    <a:spcPct val="110000"/>
                  </a:lnSpc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14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9912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stronger substitutivity result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00B0F0"/>
                    </a:solidFill>
                  </a:rPr>
                  <a:t>Theorem 3</a:t>
                </a:r>
                <a:r>
                  <a:rPr lang="en-US" b="1" dirty="0">
                    <a:solidFill>
                      <a:srgbClr val="00B050"/>
                    </a:solidFill>
                  </a:rPr>
                  <a:t>.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/>
                        <a:ea typeface="Cambria Math"/>
                      </a:rPr>
                      <m:t>||</m:t>
                    </m:r>
                  </m:oMath>
                </a14:m>
                <a:r>
                  <a:rPr lang="en-US" baseline="-25000" dirty="0"/>
                  <a:t> 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2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≼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||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≼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i="1" baseline="-25000">
                        <a:latin typeface="Cambria Math"/>
                        <a:ea typeface="Cambria Math"/>
                      </a:rPr>
                      <m:t>2</m:t>
                    </m:r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/>
                        <a:ea typeface="Cambria Math"/>
                      </a:rPr>
                      <m:t>||</m:t>
                    </m:r>
                  </m:oMath>
                </a14:m>
                <a:r>
                  <a:rPr lang="en-US" baseline="-25000" dirty="0"/>
                  <a:t> 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1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≼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||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32" r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160755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stronger substitutivity result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00B0F0"/>
                    </a:solidFill>
                  </a:rPr>
                  <a:t>Theorem 3</a:t>
                </a:r>
                <a:r>
                  <a:rPr lang="en-US" b="1" dirty="0">
                    <a:solidFill>
                      <a:srgbClr val="00B050"/>
                    </a:solidFill>
                  </a:rPr>
                  <a:t>.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/>
                        <a:ea typeface="Cambria Math"/>
                      </a:rPr>
                      <m:t>||</m:t>
                    </m:r>
                  </m:oMath>
                </a14:m>
                <a:r>
                  <a:rPr lang="en-US" baseline="-25000" dirty="0"/>
                  <a:t> 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ℬ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≼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||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 and </a:t>
                </a:r>
              </a:p>
              <a:p>
                <a:pPr marL="0" indent="0">
                  <a:buNone/>
                </a:pPr>
                <a:r>
                  <a:rPr lang="en-US" dirty="0">
                    <a:ea typeface="Cambria Math"/>
                  </a:rPr>
                  <a:t>	     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≼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i="1" baseline="-25000">
                        <a:latin typeface="Cambria Math"/>
                        <a:ea typeface="Cambria Math"/>
                      </a:rPr>
                      <m:t>2</m:t>
                    </m:r>
                  </m:oMath>
                </a14:m>
                <a:r>
                  <a:rPr lang="en-US" dirty="0"/>
                  <a:t> 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/>
                        <a:ea typeface="Cambria Math"/>
                      </a:rPr>
                      <m:t>||</m:t>
                    </m:r>
                  </m:oMath>
                </a14:m>
                <a:r>
                  <a:rPr lang="en-US" baseline="-25000" dirty="0"/>
                  <a:t> 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b="0" i="1" baseline="-25000" smtClean="0">
                        <a:latin typeface="Cambria Math"/>
                        <a:ea typeface="Cambria Math"/>
                      </a:rPr>
                      <m:t>1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≼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||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Proof. Let </a:t>
                </a:r>
                <a:r>
                  <a:rPr lang="el-GR" dirty="0"/>
                  <a:t>β ∈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  <a:ea typeface="Cambria Math"/>
                          </a:rPr>
                          <m:t>Traces</m:t>
                        </m:r>
                      </m:e>
                      <m:sub>
                        <m:r>
                          <a:rPr lang="en-US" i="1">
                            <a:latin typeface="Cambria Math"/>
                            <a:ea typeface="Cambria Math"/>
                          </a:rPr>
                          <m:t>𝒜</m:t>
                        </m:r>
                        <m:r>
                          <m:rPr>
                            <m:nor/>
                          </m:rPr>
                          <a:rPr lang="en-US" baseline="-25000" dirty="0"/>
                          <m:t>1</m:t>
                        </m:r>
                        <m:r>
                          <m:rPr>
                            <m:nor/>
                          </m:rPr>
                          <a:rPr lang="en-US" dirty="0"/>
                          <m:t> </m:t>
                        </m:r>
                        <m:r>
                          <a:rPr lang="en-US">
                            <a:latin typeface="Cambria Math"/>
                            <a:ea typeface="Cambria Math"/>
                          </a:rPr>
                          <m:t>||</m:t>
                        </m:r>
                        <m:r>
                          <m:rPr>
                            <m:nor/>
                          </m:rPr>
                          <a:rPr lang="en-US" baseline="-25000" dirty="0"/>
                          <m:t> </m:t>
                        </m:r>
                        <m:r>
                          <m:rPr>
                            <m:nor/>
                          </m:rPr>
                          <a:rPr lang="en-US" dirty="0"/>
                          <m:t> </m:t>
                        </m:r>
                        <m:r>
                          <a:rPr lang="en-US" i="1">
                            <a:latin typeface="Cambria Math"/>
                            <a:ea typeface="Cambria Math"/>
                          </a:rPr>
                          <m:t>ℬ</m:t>
                        </m:r>
                        <m:r>
                          <a:rPr lang="en-US" i="1" baseline="-25000">
                            <a:latin typeface="Cambria Math"/>
                            <a:ea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r>
                  <a:rPr lang="en-US" dirty="0"/>
                  <a:t>By Theorem 5.5 (of LVS TIOA),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𝛽</m:t>
                    </m:r>
                    <m:d>
                      <m:dPr>
                        <m:begChr m:val="⌈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d>
                          <m:dPr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/>
                                    <a:ea typeface="Cambria Math"/>
                                  </a:rPr>
                                  <m:t>𝒜</m:t>
                                </m:r>
                                <m:r>
                                  <m:rPr>
                                    <m:nor/>
                                  </m:rPr>
                                  <a:rPr lang="en-US" baseline="-25000" dirty="0"/>
                                  <m:t>1</m:t>
                                </m:r>
                              </m:sub>
                            </m:sSub>
                          </m:e>
                        </m:d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∅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𝑇𝑟𝑎𝑐𝑒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  <a:ea typeface="Cambria Math"/>
                          </a:rPr>
                          <m:t>𝒜</m:t>
                        </m:r>
                        <m:r>
                          <m:rPr>
                            <m:nor/>
                          </m:rPr>
                          <a:rPr lang="en-US" baseline="-25000" dirty="0"/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𝛽</m:t>
                    </m:r>
                    <m:d>
                      <m:dPr>
                        <m:begChr m:val="⌈"/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dPr>
                      <m:e>
                        <m:d>
                          <m:dPr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/>
                                    <a:ea typeface="Cambria Math"/>
                                  </a:rPr>
                                  <m:t>ℬ</m:t>
                                </m:r>
                                <m:r>
                                  <a:rPr lang="en-US" i="1" baseline="-25000">
                                    <a:latin typeface="Cambria Math"/>
                                    <a:ea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e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∅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𝑇𝑟𝑎𝑐𝑒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/>
                            <a:ea typeface="Cambria Math"/>
                          </a:rPr>
                          <m:t>ℬ</m:t>
                        </m:r>
                        <m:r>
                          <a:rPr lang="en-US" i="1" baseline="-25000">
                            <a:latin typeface="Cambria Math"/>
                            <a:ea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r>
                  <a:rPr lang="en-US" dirty="0"/>
                  <a:t>Since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  <m:r>
                      <a:rPr lang="en-US" i="1" baseline="-25000">
                        <a:latin typeface="Cambria Math"/>
                        <a:ea typeface="Cambria Math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/>
                      </a:rPr>
                      <m:t>≼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ℬ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  <a:ea typeface="Cambria Math"/>
                        </a:rPr>
                        <m:t>𝛽</m:t>
                      </m:r>
                      <m:d>
                        <m:dPr>
                          <m:begChr m:val="⌈"/>
                          <m:ctrlPr>
                            <a:rPr lang="en-US" i="1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dPr>
                        <m:e>
                          <m:d>
                            <m:dPr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  <m:t>𝐸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/>
                                          <a:ea typeface="Cambria Math"/>
                                        </a:rPr>
                                        <m:t>ℬ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/>
                                        </a:rPr>
                                        <m:t>2</m:t>
                                      </m:r>
                                    </m:sub>
                                  </m:sSub>
                                </m:sub>
                              </m:sSub>
                            </m:e>
                          </m:d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/>
                            </a:rPr>
                            <m:t>∅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/>
                        </a:rPr>
                        <m:t>∈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/>
                        </a:rPr>
                        <m:t>𝑇𝑟𝑎𝑐𝑒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/>
                            </a:rPr>
                            <m:t>𝑠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  <a:ea typeface="Cambria Math"/>
                                </a:rPr>
                                <m:t>ℬ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By Theorem 5.5 , </a:t>
                </a:r>
                <a:r>
                  <a:rPr lang="el-GR" dirty="0"/>
                  <a:t>β ∈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/>
                          </a:rPr>
                          <m:t>Traces</m:t>
                        </m:r>
                      </m:e>
                      <m:sub>
                        <m:r>
                          <a:rPr lang="en-US" i="1">
                            <a:latin typeface="Cambria Math"/>
                            <a:ea typeface="Cambria Math"/>
                          </a:rPr>
                          <m:t>𝒜</m:t>
                        </m:r>
                        <m:r>
                          <m:rPr>
                            <m:nor/>
                          </m:rPr>
                          <a:rPr lang="en-US" baseline="-25000" dirty="0"/>
                          <m:t>1</m:t>
                        </m:r>
                        <m:r>
                          <m:rPr>
                            <m:nor/>
                          </m:rPr>
                          <a:rPr lang="en-US" dirty="0"/>
                          <m:t> </m:t>
                        </m:r>
                        <m:r>
                          <a:rPr lang="en-US">
                            <a:latin typeface="Cambria Math"/>
                            <a:ea typeface="Cambria Math"/>
                          </a:rPr>
                          <m:t>||</m:t>
                        </m:r>
                        <m:r>
                          <m:rPr>
                            <m:nor/>
                          </m:rPr>
                          <a:rPr lang="en-US" baseline="-25000" dirty="0"/>
                          <m:t> </m:t>
                        </m:r>
                        <m:r>
                          <m:rPr>
                            <m:nor/>
                          </m:rPr>
                          <a:rPr lang="en-US" dirty="0"/>
                          <m:t> </m:t>
                        </m:r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/>
                                <a:ea typeface="Cambria Math"/>
                              </a:rPr>
                              <m:t>ℬ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Since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1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/>
                        <a:ea typeface="Cambria Math"/>
                      </a:rPr>
                      <m:t>||</m:t>
                    </m:r>
                  </m:oMath>
                </a14:m>
                <a:r>
                  <a:rPr lang="en-US" baseline="-25000" dirty="0"/>
                  <a:t> 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/>
                            <a:ea typeface="Cambria Math"/>
                          </a:rPr>
                          <m:t>ℬ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/>
                      </a:rPr>
                      <m:t>≼</m:t>
                    </m:r>
                    <m:r>
                      <a:rPr lang="en-US" i="1">
                        <a:latin typeface="Cambria Math"/>
                        <a:ea typeface="Cambria Math"/>
                      </a:rPr>
                      <m:t>𝒜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||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/>
                        <a:ea typeface="Cambria Math"/>
                      </a:rPr>
                      <m:t>ℬ</m:t>
                    </m:r>
                  </m:oMath>
                </a14:m>
                <a:r>
                  <a:rPr lang="en-US" baseline="-25000" dirty="0"/>
                  <a:t>2</a:t>
                </a:r>
                <a:r>
                  <a:rPr lang="en-US" dirty="0"/>
                  <a:t>  by assumption, </a:t>
                </a:r>
                <a:r>
                  <a:rPr lang="el-GR" dirty="0"/>
                  <a:t>β ∈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/>
                          </a:rPr>
                          <m:t>Traces</m:t>
                        </m:r>
                      </m:e>
                      <m:sub>
                        <m:r>
                          <a:rPr lang="en-US" i="1">
                            <a:latin typeface="Cambria Math"/>
                            <a:ea typeface="Cambria Math"/>
                          </a:rPr>
                          <m:t>𝒜</m:t>
                        </m:r>
                        <m:r>
                          <m:rPr>
                            <m:nor/>
                          </m:rPr>
                          <a:rPr lang="en-US" b="0" i="0" baseline="-25000" smtClean="0">
                            <a:latin typeface="Cambria Math"/>
                            <a:ea typeface="Cambria Math"/>
                          </a:rPr>
                          <m:t>2</m:t>
                        </m:r>
                        <m:r>
                          <m:rPr>
                            <m:nor/>
                          </m:rPr>
                          <a:rPr lang="en-US" dirty="0"/>
                          <m:t> </m:t>
                        </m:r>
                        <m:r>
                          <a:rPr lang="en-US">
                            <a:latin typeface="Cambria Math"/>
                            <a:ea typeface="Cambria Math"/>
                          </a:rPr>
                          <m:t>||</m:t>
                        </m:r>
                        <m:r>
                          <m:rPr>
                            <m:nor/>
                          </m:rPr>
                          <a:rPr lang="en-US" baseline="-25000" dirty="0"/>
                          <m:t> </m:t>
                        </m:r>
                        <m:r>
                          <m:rPr>
                            <m:nor/>
                          </m:rPr>
                          <a:rPr lang="en-US" dirty="0"/>
                          <m:t> </m:t>
                        </m:r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/>
                                <a:ea typeface="Cambria Math"/>
                              </a:rPr>
                              <m:t>ℬ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4" t="-2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Lecture Slides </a:t>
            </a:r>
            <a:r>
              <a:rPr lang="de-DE"/>
              <a:t>by </a:t>
            </a:r>
            <a:r>
              <a:rPr lang="en-US"/>
              <a:t>Sayan Mitra</a:t>
            </a:r>
            <a:r>
              <a:rPr lang="de-DE"/>
              <a:t> mitras@illinois.edu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0246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</TotalTime>
  <Words>2621</Words>
  <Application>Microsoft Macintosh PowerPoint</Application>
  <PresentationFormat>Widescreen</PresentationFormat>
  <Paragraphs>398</Paragraphs>
  <Slides>36</Slides>
  <Notes>2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1" baseType="lpstr">
      <vt:lpstr>Aptos</vt:lpstr>
      <vt:lpstr>Aptos Display</vt:lpstr>
      <vt:lpstr>Arial</vt:lpstr>
      <vt:lpstr>Cambria Math</vt:lpstr>
      <vt:lpstr>Office Theme</vt:lpstr>
      <vt:lpstr>Abstractions II</vt:lpstr>
      <vt:lpstr>Abstractions II: Counter Example-Guided Abstraction Refinement</vt:lpstr>
      <vt:lpstr>Forward simulation relation</vt:lpstr>
      <vt:lpstr>Abstraction recap</vt:lpstr>
      <vt:lpstr>Counter-example guided abstraction-refinement</vt:lpstr>
      <vt:lpstr>Counterexample-guided abstraction refinement </vt:lpstr>
      <vt:lpstr>Counterexample guided abstraction refinement (CEGAR)</vt:lpstr>
      <vt:lpstr>PowerPoint Presentation</vt:lpstr>
      <vt:lpstr>PowerPoint Presentation</vt:lpstr>
      <vt:lpstr>Predicate Abstraction</vt:lpstr>
      <vt:lpstr>Key design choices</vt:lpstr>
      <vt:lpstr>PowerPoint Presentation</vt:lpstr>
      <vt:lpstr>PowerPoint Presentation</vt:lpstr>
      <vt:lpstr>PowerPoint Presentation</vt:lpstr>
      <vt:lpstr>Outline</vt:lpstr>
      <vt:lpstr>Substituting an automaton with its abstraction</vt:lpstr>
      <vt:lpstr>Substituting an automaton with its abstraction</vt:lpstr>
      <vt:lpstr>How is the abstract system related to the concrete system?</vt:lpstr>
      <vt:lpstr>Hybrid IO Automaton</vt:lpstr>
      <vt:lpstr>Composition of Hybrid Automata</vt:lpstr>
      <vt:lpstr>Composition</vt:lpstr>
      <vt:lpstr>PowerPoint Presentation</vt:lpstr>
      <vt:lpstr>Modeling a Simple Failure Detector System</vt:lpstr>
      <vt:lpstr>Composition</vt:lpstr>
      <vt:lpstr>Example: Send || TimedChannel</vt:lpstr>
      <vt:lpstr>Composed Automaton</vt:lpstr>
      <vt:lpstr>Modeling a Simple Failure Detector System</vt:lpstr>
      <vt:lpstr>Time bounded channel &amp; Simple Failure Detector</vt:lpstr>
      <vt:lpstr>General composition</vt:lpstr>
      <vt:lpstr>Time bounded channel &amp; Simple Failure Detector</vt:lpstr>
      <vt:lpstr>Some properties about composed automata</vt:lpstr>
      <vt:lpstr>A trace theorem restriction from composition of I/O automata</vt:lpstr>
      <vt:lpstr>Substitutivity</vt:lpstr>
      <vt:lpstr>Substutivity</vt:lpstr>
      <vt:lpstr>A stronger substitutivity result</vt:lpstr>
      <vt:lpstr>A stronger substitutivity result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Abstractions II</dc:title>
  <dc:creator>Mitra, Sayan</dc:creator>
  <cp:lastModifiedBy>Mitra, Sayan</cp:lastModifiedBy>
  <cp:revision>4</cp:revision>
  <dcterms:created xsi:type="dcterms:W3CDTF">2025-11-04T15:33:12Z</dcterms:created>
  <dcterms:modified xsi:type="dcterms:W3CDTF">2025-11-05T22:23:42Z</dcterms:modified>
</cp:coreProperties>
</file>