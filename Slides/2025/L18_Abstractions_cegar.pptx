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24" r:id="rId2"/>
    <p:sldId id="571" r:id="rId3"/>
    <p:sldId id="578" r:id="rId4"/>
    <p:sldId id="583" r:id="rId5"/>
    <p:sldId id="588" r:id="rId6"/>
    <p:sldId id="585" r:id="rId7"/>
    <p:sldId id="586" r:id="rId8"/>
    <p:sldId id="590" r:id="rId9"/>
    <p:sldId id="589" r:id="rId10"/>
    <p:sldId id="587" r:id="rId11"/>
    <p:sldId id="301" r:id="rId12"/>
    <p:sldId id="582" r:id="rId13"/>
    <p:sldId id="303" r:id="rId14"/>
    <p:sldId id="579" r:id="rId15"/>
    <p:sldId id="575" r:id="rId16"/>
    <p:sldId id="576" r:id="rId17"/>
    <p:sldId id="577" r:id="rId18"/>
    <p:sldId id="334" r:id="rId19"/>
    <p:sldId id="509" r:id="rId20"/>
    <p:sldId id="302" r:id="rId21"/>
    <p:sldId id="354" r:id="rId22"/>
    <p:sldId id="566" r:id="rId23"/>
    <p:sldId id="510" r:id="rId24"/>
    <p:sldId id="511" r:id="rId25"/>
    <p:sldId id="512" r:id="rId26"/>
    <p:sldId id="568" r:id="rId27"/>
    <p:sldId id="569" r:id="rId28"/>
    <p:sldId id="567" r:id="rId29"/>
    <p:sldId id="570" r:id="rId30"/>
    <p:sldId id="513" r:id="rId31"/>
    <p:sldId id="581" r:id="rId32"/>
    <p:sldId id="514" r:id="rId33"/>
    <p:sldId id="515" r:id="rId34"/>
    <p:sldId id="516" r:id="rId35"/>
    <p:sldId id="58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7"/>
    <p:restoredTop sz="96197"/>
  </p:normalViewPr>
  <p:slideViewPr>
    <p:cSldViewPr snapToGrid="0">
      <p:cViewPr varScale="1">
        <p:scale>
          <a:sx n="119" d="100"/>
          <a:sy n="119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2-09-11T16:46:28.730"/>
    </inkml:context>
    <inkml:brush xml:id="br0">
      <inkml:brushProperty name="width" value="0.05292" units="cm"/>
      <inkml:brushProperty name="height" value="0.05292" units="cm"/>
      <inkml:brushProperty name="color" value="#1F497D"/>
    </inkml:brush>
    <inkml:context xml:id="ctx1">
      <inkml:inkSource xml:id="inkSrc17">
        <inkml:traceFormat>
          <inkml:channel name="X" type="integer" max="2631" units="in"/>
          <inkml:channel name="Y" type="integer" max="1652" units="in"/>
        </inkml:traceFormat>
        <inkml:channelProperties>
          <inkml:channelProperty channel="X" name="resolution" value="254.00655" units="1/in"/>
          <inkml:channelProperty channel="Y" name="resolution" value="254.03659" units="1/in"/>
        </inkml:channelProperties>
      </inkml:inkSource>
      <inkml:timestamp xml:id="ts1" timeString="2012-09-11T16:48:24.950"/>
    </inkml:context>
  </inkml:definitions>
  <inkml:trace contextRef="#ctx0" brushRef="#br0">8666 14297 28,'-3'-12'29,"1"2"-12,2 10-3,0 0-5,-7-11-1,7 11-3,-9-5 0,9 5-2,-9 0-1,9 0 0,-14 9-1,5 4 1,-1 6-1,-2 7 1,1 6 0,-1 6-1,3 5 1,0 3-1,4 2 1,4-1 0,5-2-2,3-4 2,4-6-2,4-5 1,2-4-1,4-5 1,-1-5-1,-1-5 1,-1-3-1,-4-2 1,-2-1-1,-3-3 0,-9-2 1,0 0-1,0 0 0,0 0 0,0 0-1,0 0 0,0 0-3,7 12-12,-7-12-18,0 0-1,0-20 0</inkml:trace>
  <inkml:trace contextRef="#ctx0" brushRef="#br0" timeOffset="420.02">8935 14285 8,'-14'-2'32,"14"2"-1,-12 2 1,12-2-24,0 0-2,-2 17-3,8-2-1,-1 4-1,2 5 0,-3 4 0,1 4 0,-2 2-1,0 0 1,-3-2-1,-1 0 1,-1-6-1,0-3 0,1-4 0,-1-7-2,5 2-5,-3-14-25,0 0 0,0 0-1</inkml:trace>
  <inkml:trace contextRef="#ctx0" brushRef="#br0" timeOffset="698.03">9168 14457 5,'-15'-7'32,"15"7"-1,-4-11 2,3 0-25,10 9-1,-9 2-3,20-8-2,-7 4-1,2 2-1,1 3-4,-4-7-7,6 6-21,-5-3 1,0 1-1</inkml:trace>
  <inkml:trace contextRef="#ctx0" brushRef="#br0" timeOffset="1241.07">9370 14377 17,'0'0'31,"0"0"1,0 0-1,10 0-27,-10 0-2,17 0 0,-6 0-2,4-2 0,1-1 0,1-4 0,3-2 0,0-2 0,1 1 0,1-4 0,0-2 1,1-2-1,-1-1 0,-1-2 1,-2-1-1,-5-3 0,-2-3 1,-5 2-1,-5-1 0,-5 5 0,-4 3 1,-5 4-1,-2 5 0,-3 7 0,0 6 0,0 7 0,0 2 0,4 6 0,0 2 1,4 7 0,3 3 0,3 2 1,2 2 0,4 6 1,0 1-1,2 4 0,0-1 0,2 1 0,-3-4-1,-1-1 0,0-5-1,-2-5 1,0-6-2,0-5 1,-2-2-2,1-17 0,2 18-5,-2-18-18,0 0-8,-4-14-2,3 4 1</inkml:trace>
  <inkml:trace contextRef="#ctx0" brushRef="#br0" timeOffset="1620.09">9728 14030 11,'8'-9'34,"3"3"-2,-1 2 1,5 10-24,-5 0-3,6 12-2,-2 0-1,2 11-1,-1 4-1,2 7 0,-2 6 0,-1 5 0,-2 2-1,-4 0 0,-5 0 0,-1-3 1,-5-5-2,-3-3 2,-2-6-2,-3-8 1,0-2 0,0-5 0,1-3-1,1-6-1,1 0-1,-2-8-5,10-4-16,-10 7-11,10-7 2</inkml:trace>
  <inkml:trace contextRef="#ctx0" brushRef="#br0" timeOffset="2336.13">10586 14029 18,'0'0'31,"11"-17"-1,-11 17-14,0 0-5,-5-12-4,5 12-3,-10 8-2,-1 1-1,-3-1 0,-3 4 0,-6 1-1,-1 5 0,-4-1 0,-1 0 0,2 0 0,2-2 0,5-1 0,4-3 1,7-2 0,9-9 0,3 10 0,9-7 1,7-1 0,5 2 0,4 1-1,3 2 0,-1 0 0,-1 2-1,-2 4-2,-6-1 0,-4 6-5,-11-8-8,-1 6-18,-11-4 0,-4 1 0</inkml:trace>
  <inkml:trace contextRef="#ctx0" brushRef="#br0" timeOffset="2542.14">10373 14399 18,'0'0'34,"0"0"0,9 12 0,3-14-26,13 8-2,0-2-3,7 5-1,-1 3-2,-1-1 0,-3 4-2,-5-3-3,0 9-8,-10-10-21,-2 2 0,-10-13-1</inkml:trace>
  <inkml:trace contextRef="#ctx0" brushRef="#br0" timeOffset="3805.21">11136 13803 10,'-1'-18'33,"1"18"-2,-1-16 2,1 16-27,0 0 0,0 0-2,8 15-1,-4 2-1,0 6-1,0 3 0,1 8-1,-4 0 1,3 3-2,-2-2 1,1-3-1,1-4 1,0-4-1,0-5 1,0-7-1,-4-12 1,10 5 0,-10-5 0,4-17 0,-6-1 0,-6-2 1,-3 0-1,-7-1 1,-4 6-2,-5 3 2,-5 9-2,-1 7 1,1 8 0,3 7-1,3 3 2,9 3-2,8 0 2,10 2 0,9-5 0,9-3 1,7-2-2,7-4 1,5-2-3,0-9-3,7 7-15,-6-13-13,2-3 0,-4-8-1</inkml:trace>
  <inkml:trace contextRef="#ctx0" brushRef="#br0" timeOffset="4123.22">11614 13644 11,'-12'-13'32,"-4"6"-1,-1 9 2,-7 0-24,6 18-2,-5 0-2,3 14-2,-2 1-1,4 8 1,2-1-2,4 5 0,3-2 0,7 1-1,2-3 0,7-4-1,5-1-1,3-6-3,10 3-5,-3-13-20,8-3-5,1-11 2</inkml:trace>
  <inkml:trace contextRef="#ctx0" brushRef="#br0" timeOffset="4437.25">11804 13822 2,'-10'-6'29,"-4"4"2,-1 2-1,2 8-17,-5-4-5,5 10-2,-1-4-2,6 7-1,-2-1-1,6 2 1,2-1-1,2 5 0,1-2 0,5 2-2,0-2 1,3-1-2,3 0 0,2-6-2,3 0-1,-1-11-5,7 3-7,-7-15-17,4-5 1,-2-11 1</inkml:trace>
  <inkml:trace contextRef="#ctx0" brushRef="#br0" timeOffset="4971.28">11923 13593 22,'-3'-14'31,"3"14"2,-8-12-7,8 22-15,-7 2-4,5 10-2,-3 3-2,2 6 0,0 5-1,3 4 0,1-2-1,2 1 0,2-2 0,0-2-2,4 1-1,-1-5-3,4 1-1,-4-11-4,8 4-3,-11-14-9,13 2-2,-10-15 0,9 2 5,-7-16 6,3 2 6,-2-5 7,-1-6 7,4 5 10,-9-7 4,5 11 1,-9-9-1,6 12-4,-11-4-5,4 17-4,-5-13-3,5 13-2,-14 5-1,14-5-1,-15 19-1,9-5 0,0 2 0,2 1 0,4 0 0,4 1 0,4-3 0,3-1-1,2-3 1,0-3-1,0-5 1,0-3 0,-3-6 1,-3-6-1,-4-1-1,-6-6 1,0 4-4,-6-7-3,8 11-24,-9-2-2,10 13 1</inkml:trace>
  <inkml:trace contextRef="#ctx0" brushRef="#br0" timeOffset="6062.34">12391 13737 8,'-16'-1'32,"5"-1"0,1 1 1,-3-8-23,3 13-3,-6-1-2,2 5-3,0 2 0,-1 5-1,1 2 0,0 3 1,3 1-2,1 1 1,5-2 0,4 1 0,6-5 0,6-3-2,4-4 0,4-7-4,9 0-5,-3-14-23,6-4 0,-2-14 0</inkml:trace>
  <inkml:trace contextRef="#ctx0" brushRef="#br0" timeOffset="6503.37">12493 13440 28,'0'0'29,"-9"-4"1,0 11-18,9 14-3,-5 0-2,7 10-1,-2 1-2,4 9 0,0-1-1,2 4-1,0-4 0,2 1-1,0-5 0,0-3 0,0-6-1,0-6 0,0-7 0,0-8-1,2-10 1,1-8-1,0-9 1,1-4-1,-1-8 0,2-4 1,0-1-1,-3 3 1,-1 1 0,-4 8-1,-3 5 1,-4 6 0,2 15 0,-16-2 0,3 11 0,-4 6 0,1 4-1,0 2 2,4 2-1,2 0 1,4-2 0,7-1 0,3-3 0,6-1 0,3-2 1,1-1-2,4-2-1,1-4-5,9 1-26,-6-6-2,4-4 0</inkml:trace>
  <inkml:trace contextRef="#ctx0" brushRef="#br0" timeOffset="112271.42">20028 4935 16,'-1'-11'30,"0"-1"1,-1 0-1,2 12-19,-1-22-3,1 22-3,2-17-1,-2 17-1,3-11-1,-3 11-1,0 0 1,5 12-1,-4 2-1,-1 4 1,0 4-1,1 2 0,0 3 0,0-3 1,-2-1-2,1-5 1,1-3 1,2-3 0,-3-12-1,16 7 2,-6-11-1,4 1 0,2-3 1,2-1-1,0-1-1,0 0 0,-2 2-2,-4 0-1,0 6-1,-12 0-1,14 5-2,-14-5-4,1 15-1,-13-10-3,9 14-1,-13-11 2,6 11 4,-8-10 2,4 3 6,0-3 5,-2-8 7,16-1 2,-22 0 3,22 0 1,-10-13-3,10 13 1,7-29-5,7 10-1,-3-16-2,9-4-2,1-12 0,6-5-2,-1-8 1,3-1-3,-1-1 2,0 3-2,-1 3 0,0 5 1,-2 9-1,-2 8 1,-2 7-2,-2 6 2,-3 5-2,-2 4 2,-5 6-2,-9 10 0,11-11-1,-11 11 0,0 0-2,0 0-4,11 5-20,-11-5-6,0 0 0,0 0-1</inkml:trace>
  <inkml:trace contextRef="#ctx0" brushRef="#br0" timeOffset="113404.48">20536 6382 1,'-12'2'30,"0"-2"2,2-1 0,10 1-20,-18-3-2,18 3-2,0 0-2,-5-10-2,5 10-1,0 0 0,7-15-2,-7 15 1,15-10-1,-4 8 0,4 0 0,4 2 0,5 1 0,8 3 0,8-1 0,8 2 0,10-2-1,11-2 1,10-2 0,7-3 0,7-2-1,1-2 1,-1-3-1,-5 1 1,-5-1 0,-11 1-1,-13 2 1,-13 1-1,-12 2 1,-10 1 0,-10 1 0,-14 3 0,9-3-1,-9 3-4,0 0-22,-10 6-9,10-6-2,-11-8 0</inkml:trace>
  <inkml:trace contextRef="#ctx0" brushRef="#br0" timeOffset="115764.62">20834 4774 27,'1'-10'33,"1"-6"1,4 4-2,-4-9-21,9 13-4,-5-7-2,5 8-1,-11 7-2,15-9 0,-15 9 0,11 10 0,-10 7-1,1 7 0,-4 7-1,0 7 1,-3 3-1,1 3 0,-1-1 0,-1 0 0,3-8 0,1-5 0,2-9 0,3-6 1,-3-15 0,21 7 1,-6-16 0,7-4 0,2-5-1,2-3 0,-1-2 0,-1 1-1,-3 5-1,-6-1-3,1 15-4,-16 3-20,0 0-8,0 0-1,-6 26 2</inkml:trace>
  <inkml:trace contextRef="#ctx0" brushRef="#br0" timeOffset="116098.64">20913 5107 39,'0'0'37,"-9"-14"-1,10 4 2,-4-18-29,15 3-1,2-19-2,9-7-3,4-15 0,9-9-1,9-11 0,6-5 0,6-3-1,4 0 0,-2 5-1,-3 5 0,-3 13 0,-7 9 0,-7 11 0,-10 9-1,-9 12 1,-7 8 0,-4 9-1,-9 13-1,0 0-1,3-11-4,-2 27-13,-1-16-16,-13 20-1,4-11 1,1 3-1</inkml:trace>
  <inkml:trace contextRef="#ctx1" brushRef="#br0">0 16352,'0'0</inkml:trace>
  <inkml:trace contextRef="#ctx0" brushRef="#br0" timeOffset="117043.69">21935 3381 35,'-4'-30'34,"2"5"2,-4-3-1,4 11-14,-7-10-9,12 16-5,-8-4-3,5 15-1,0 0-2,2 15 0,1 4-1,0 9 0,1 7 0,1 6 0,0 9 0,1 2 1,0 2-1,1-1-1,-1-3 0,-1-2 0,-1-6 1,1-5-2,-1-8 1,-1-7 0,-1-7 1,-2-15 0,0 0 1,10-3-1,-4-18 1,-2-7 1,-1-3-1,-2-4 0,-2-1-1,-5 2 1,-5 6-1,-6 10 1,-7 10-1,-1 8-1,-1 9 0,-1 7 2,4 6-2,2 5 0,9-1 1,4 3-1,10-4 1,6 0-1,7-3 1,6-5-2,4-3 2,4-5 0,0-2-1,-1-6-1,2 2-6,-8-7-28,5-2 0,-9-4-2,0 2 1</inkml:trace>
  <inkml:trace contextRef="#ctx0" brushRef="#br0" timeOffset="117803.73">22257 3726 71,'0'0'38,"1"-17"-1,-1 17 1,9-27-33,2 11-2,2-7-2,2-4 1,1-2-3,-4-1 2,0 3-2,-8 0 0,-5 5 0,-9 5 1,-6 9-1,-5 6 0,-3 6 0,-1 7 1,-1 5 0,4 3 0,4 3 0,7 3 1,6-2 0,7 1 0,8-1 0,5-1 1,7-3-2,5-2-2,6-2 1,1-9-6,8 7 0,-4-17-10,9 9-3,-11-17-7,9 9 4,-13-16 5,6 5 9,-10-8 8,-4-5 4,-3 7 8,-13-14 9,5 11 5,-15-14-3,4 14-2,-15-9-9,4 11-4,-10-2-1,1 10-4,-6 6 0,1 10-1,-1 6-1,3 5 0,3 8-2,2 1 2,8 6-2,6-4 0,10 0 0,5-4 1,9-4-1,2-5 1,4-5-1,1-7 2,-1-7 1,-3-5-1,-6-5 2,-4-4 0,-7-3 0,-4 2 1,-6-1-1,2 5 0,-6 0 0,3 6-1,3 12 0,0 0-1,-9 2 0,11 8 0,4 4-1,0 2 0,4 4-1,1-3-1,8 6-3,-2-12-5,10 3-24,-7-6-1,4-3 1,-2-8-1</inkml:trace>
  <inkml:trace contextRef="#ctx0" brushRef="#br0" timeOffset="118276.76">23034 3310 66,'1'-32'37,"-1"9"0,-6 0-1,6 23-26,-16-19-4,4 22-3,-2 9-2,-2 8-1,2 8-1,-1 4 0,3 6 0,2 0-1,7-1 0,4-5-1,8-8 0,0-10 0,10-5-1,-1-16 0,6-3-2,-4-19 1,3-4 0,-7-14 0,1-5 1,-9-9 1,-4-8 2,-5 0 1,-4-2 3,-2 11 0,-8 4 2,4 13 0,-6 5 1,5 15 0,-3 9-2,5 14-1,0 5-1,4 10 1,1 7-2,3 7 1,1 3 0,4 7 0,2 1 0,3 7-1,-1-1 1,3 4-2,2-5 1,0 3-1,4-2-2,-3-7-2,8 8-12,-10-13-21,6-8 1,-4-12-2,1-10 1</inkml:trace>
  <inkml:trace contextRef="#ctx0" brushRef="#br0" timeOffset="118537.78">23272 2830 67,'-18'-11'39,"4"5"-3,-1 0 1,15 6-31,-10 7 0,16 7-3,-1 9-1,3 5-2,0 7 0,2 7 0,0 2 0,-1 4 0,2 3-3,-4-5-4,8 7-22,-5-12-8,1-5-1,-2-11 1</inkml:trace>
  <inkml:trace contextRef="#ctx0" brushRef="#br0" timeOffset="118750.79">23458 3110 76,'0'0'40,"0"0"-2,0 0 1,0 0-34,0 0-2,-1 14-1,6 4-2,1 3-2,4 1 1,1 13-5,-9-14-10,3 11-22,-6-12 0,1-3-1,0-17 2</inkml:trace>
  <inkml:trace contextRef="#ctx0" brushRef="#br0" timeOffset="118896.8">23448 2957 50,'-4'-25'38,"0"6"-1,0 3-3,4 16-18,0 0-34,0 0-15,0 0-2,-1 20-3,1-3 1</inkml:trace>
  <inkml:trace contextRef="#ctx0" brushRef="#br0" timeOffset="119312.82">23557 3003 78,'-3'-12'39,"3"12"-1,0 0 0,0 0-32,10 7-2,0 7-1,-1 3-2,3 5-1,0 6 0,0 2 0,-1 1 0,-3-1 0,-2-3 0,-1-7 0,-2-6 1,-3-14-1,0 0 1,2-22-1,1-8 1,-1-2-1,0-8 0,5-3 0,1 4-1,1 2 1,0 8-1,1 8 1,1 9 0,0 6 0,4 12 0,-6 5 0,3 6 0,2 3 0,0 4-1,-2 3 0,4 7-7,-9-7-23,0 2-7,-2-10 0,1-4-2</inkml:trace>
  <inkml:trace contextRef="#ctx0" brushRef="#br0" timeOffset="119650.84">23940 3104 72,'17'-1'40,"-6"-7"-1,6 0 0,-17 8-30,0 0-2,54-55-3,-54 55-3,59-59 1,-59 59-3,48-68 1,-48 68-2,22-66 0,-22 66-2,-11-40 0,-11 33 2,-8 10-2,-3 6 2,-2 11 0,4 9 2,4 3-1,8 4 3,11-1-1,10 1 2,10-2-2,-12-34 3,57 61-2,-16-40 0,8-4-3,7-14-9,3 0-28,5-11 0,0-12-2,2-13-1</inkml:trace>
  <inkml:trace contextRef="#ctx0" brushRef="#br0" timeOffset="192807.02">19621 11295 9,'0'0'30,"-4"-13"1,4 13-19,4-12-1,5 7-3,-4-6-1,8 6-1,-2-2-2,6 4-2,2-2 1,4 4-1,0 0-1,3 2 0,1 1 0,3 2-1,1 0 0,3 1 1,-2-2 0,3 1-1,4-1 1,2-1 0,0 0 0,1 0 0,0-2 0,2 1 0,-1-2 0,0 2 0,-1-1 0,0-1 0,1 0 0,0 0 0,0-2-1,2 2 1,2-2-1,-2 2 1,0-1-1,2 2 1,-3-1-1,-1 1 1,1 0 0,-3 1-1,-2 2 1,-1-1 0,-3-1 0,2 1 0,0 1-1,0-2 1,0 0-1,1 0 0,0-1 1,1 0-1,1-1 0,-2 1 1,-1 0-1,-1 0 0,-1-1 1,1 0-1,-1-2 1,-1 2-1,1-1 1,-1 0-1,0-2 1,0 1-1,-1 0 0,-1 1 0,-1 0 0,-2 0 1,1-1-1,0 1 0,-1 1 0,0-1 0,-1 0 0,1 0-1,0 1 1,0 0 0,-2 0 0,0-1 0,1 1 1,1 1-1,-1 1 1,0 1-1,1-2 0,1 1 1,0 1-1,3 0 0,-2 1 0,1 0 0,0-1 0,1 0-1,-2 0 1,0-1 0,-3-1 0,0 0 0,0-2-1,-2 1 1,-2-2 0,-3 1 0,-1 1 0,-1-1 0,-3-1 0,-4 2 0,-2 1 0,-10 0 0,17 0 0,-17 0-2,12 4-5,-12-4-29,0 0-1,0 0 0,-10-6-1</inkml:trace>
  <inkml:trace contextRef="#ctx0" brushRef="#br0" timeOffset="-171970.01">16543 11263 21,'3'-12'18,"-3"12"0,8-14 0,-8 14-3,0 0-5,9-8-2,-9 8-3,0 0-1,0 0-2,8 12-1,-7-1 0,2 6 0,-2 1 0,0 6 0,-1 2 0,-2 2-1,-2 1 1,-1-1-1,-3-2 0,-1 0 1,-5-3-1,-2-4 1,-4-1-1,-3-6 0,-3 0 0,0-4 1,-1-2-1,0-2 0,0-2 0,3-1 0,2-2 1,3-1-1,4 1 0,3 0 1,1 0-1,11 1 1,-12-1-1,12 1 0,0 0 1,0 0-1,0 0 0,0 0-1,0 0 0,0 0 0,0 0-2,0 0 0,0 0 0,0 0 0,0 0-1,0 0 0,0 0 1,0 0-1,-5-15 2,5 3 1,1 0 0,0-3 0,1 0 2,2-1 0,-1 1 1,2 2 1,-3 1-1,-2 12 1,4-15-1,-4 15 0,0 0 0,0 0-1,-15 13 0,7-1 0,-3 0-1,-2 2 1,1 2-1,-1 0 1,2-2-1,1-1 1,1-2-1,9-11 1,-9 18 0,9-18 0,-2 14 0,2-14 0,7 10 1,-7-10 0,15 10-1,-3-4 1,1 0-1,1 1 0,0-2-1,1 2 1,-1 1-1,0 1 0,-3-3 0,-1 3 0,-2-1 0,-8-8 1,15 13-1,-15-13 0,11 12 0,-11-12 0,0 0 1,8 9-1,-8-9 1,0 0-1,0 0 1,0 0 0,0 0-1,0 0 1,0 0-1,0 0 0,0 0 1,0 0-1,0 0 0,0 0 0,0 0-1,0 0-1,0 0-2,0 0-5,14 4-23,-14-4-3,9-3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F5447-0172-394B-AA9E-0038523269B0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DA709-AB21-2F4F-8564-57AF9076F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5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12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4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E70C-0BF8-F64C-90E1-CA3C32242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E0130-CE59-FC16-1110-0C5EBFA47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7A25C-0829-6BCD-4C5A-994B0305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E41FC-D6E6-0B23-696B-E32B0557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F962E-A1F8-F798-23F7-7DD37B5E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9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D061-A710-EF3A-1009-9D3EC4C4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89AA2-3DD3-A184-D187-F0CFFE0D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5BBF6-5874-2019-4188-5557E0F7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88359-556F-6783-EF18-DB895235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17F12-92CF-54A1-335F-91BFF0B4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6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C308-5FCA-C13E-0BB6-D5DF3877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CA2EE-4741-B655-F63B-628E0309B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E2E90-2C7E-7D5F-E91D-8917D710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EFCD-9705-4AA9-FC2C-5E6EF46F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9F7CA-FE46-28ED-43AC-7E4C76F6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5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8953-D32F-55AD-2E7C-CC35DD6C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9CDB-1D50-281F-8DA7-F38D56789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3059B-40C4-0E2F-8BA2-9A22953CF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0F812-5046-BA99-B6FB-FB3D4F06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CEC6-B920-E8C7-B439-087FAFC4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EB055-6B5D-A6FD-0597-AB66AD26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2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8A80-69BB-D352-D49C-C6058BB2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C7CEE-7720-6319-0DBD-02A0BF0AE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282ED-6D89-551D-CA95-8B2D85F62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940E0-0E14-9F64-5DB8-E5CC3A32B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0C040-5BF7-8364-5DCD-F011D9A65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1F686-D6E5-1B12-8EA8-E9532C9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F60DD-21CE-131C-BFF2-7E0C6478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7C80C-9618-72F3-6825-F9EB6AAD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0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AECD0-1929-07EC-197E-F8AB8724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12FC4-C651-A2A3-F550-23FBC486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2A1C2-5F6A-5373-B1C4-6FCAFDCBF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9584F-0C12-C445-DF70-44260FDF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7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79FF9-F4F4-355A-BF6F-C222E7C9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3A710-B152-A2F8-44C9-23B84A09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15A64-CDB3-6992-4D3A-4EB1B67E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6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4A0C-D48C-5F30-583A-F542C9DA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33878-981D-FC8E-FE42-C0116FF5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900EC-9FAD-EF0B-FFCC-26462AEA8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ED1A5-8ADE-CF34-822B-B9768843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5EA77-0AEB-D866-4033-D3182CA7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34FCA-9C36-C9DF-9E71-2ACAA17E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74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4449-9633-C834-6D52-0F1050B6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E4FFE-EED5-5612-824C-500206BB7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AB212-90F5-8E1B-01E8-57056CCDE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ED2AC-3DBB-2FD4-81FC-545D9DC9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6D788-0BCF-43A2-9C1F-72A4E76D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40F10-271E-092B-DB46-709F7D7A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3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4B18-D6BE-B59A-AA65-1BA4FAC1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F4666-F88B-F238-0D64-DC892754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47A7B-2580-0B26-F75F-8F22ADC9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8A21C-1511-4C96-277D-93933EF0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57B4-E8A0-77B3-F5EC-BA4FE3F2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36E53-9771-1BB0-4154-F3152C04C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E1232-642C-8817-FEB9-2A8B04579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D930-DE87-ADDC-4E6A-63E3918F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51CC-2743-A394-A90E-C8C73281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F8CE8-903D-DBEF-B520-8F160836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4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7D4F6-41FD-AD9A-BFFF-942FDC09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E0D35-840D-17D1-A2BF-B4749A6A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B055-228B-57DC-7F01-8879C39CD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C42E8-126E-144D-931F-3D569BD96B1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DEEAE-39A4-1BB1-3F29-85B09E2DC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2264-9F35-440C-0667-E3471167D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4B306-CEB8-AA40-8B53-399165A7E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3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0.png"/><Relationship Id="rId4" Type="http://schemas.openxmlformats.org/officeDocument/2006/relationships/image" Target="../media/image4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0.png"/><Relationship Id="rId3" Type="http://schemas.openxmlformats.org/officeDocument/2006/relationships/image" Target="../media/image971.png"/><Relationship Id="rId7" Type="http://schemas.openxmlformats.org/officeDocument/2006/relationships/image" Target="../media/image220.png"/><Relationship Id="rId12" Type="http://schemas.openxmlformats.org/officeDocument/2006/relationships/image" Target="../media/image270.png"/><Relationship Id="rId2" Type="http://schemas.openxmlformats.org/officeDocument/2006/relationships/image" Target="../media/image9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image" Target="../media/image260.png"/><Relationship Id="rId5" Type="http://schemas.openxmlformats.org/officeDocument/2006/relationships/image" Target="../media/image200.png"/><Relationship Id="rId10" Type="http://schemas.openxmlformats.org/officeDocument/2006/relationships/image" Target="../media/image25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Relationship Id="rId14" Type="http://schemas.openxmlformats.org/officeDocument/2006/relationships/image" Target="../media/image2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733" y="1699022"/>
            <a:ext cx="11300178" cy="745728"/>
          </a:xfrm>
        </p:spPr>
        <p:txBody>
          <a:bodyPr>
            <a:noAutofit/>
          </a:bodyPr>
          <a:lstStyle/>
          <a:p>
            <a:r>
              <a:rPr lang="en-US" sz="4400" dirty="0"/>
              <a:t>Abstractions II:</a:t>
            </a:r>
            <a:br>
              <a:rPr lang="en-US" sz="4400" dirty="0"/>
            </a:br>
            <a:r>
              <a:rPr lang="en-US" sz="4400" dirty="0"/>
              <a:t>Counter Example-Guided Abstraction Refinement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2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9C2C-36ED-E643-A1BD-67F0C62C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simulation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029E7-DBE9-2547-AE31-FBBE8FB16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5771" y="1825625"/>
                <a:ext cx="11792051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a pair of automata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=⟨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⟩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=⟨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⟩.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i="1" dirty="0"/>
                  <a:t>trace</a:t>
                </a:r>
                <a:r>
                  <a:rPr lang="en-US" dirty="0"/>
                  <a:t> of an execution preserves the visible part of an execution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. A </a:t>
                </a:r>
                <a:r>
                  <a:rPr lang="en-US" b="1" dirty="0"/>
                  <a:t>relation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forward simulation relation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there exists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dirty="0"/>
                  <a:t>For every transition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there exists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Theorem. </a:t>
                </a:r>
                <a:r>
                  <a:rPr lang="en-US" dirty="0"/>
                  <a:t>If there exists a forward simulation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029E7-DBE9-2547-AE31-FBBE8FB16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5771" y="1825625"/>
                <a:ext cx="11792051" cy="4351338"/>
              </a:xfrm>
              <a:blipFill>
                <a:blip r:embed="rId2"/>
                <a:stretch>
                  <a:fillRect l="-753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96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685688-E75F-8144-8D8E-F8FCF0B9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4688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Defined what it means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be abstraction 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Transitive,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defines a preordering on compatible automata</a:t>
                </a:r>
              </a:p>
              <a:p>
                <a:r>
                  <a:rPr lang="en-US" b="0" dirty="0"/>
                  <a:t>We saw </a:t>
                </a:r>
                <a:r>
                  <a:rPr lang="en-US" dirty="0"/>
                  <a:t>methods for proving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/>
                  <a:t>Forward simulation and backward simulation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defines a preorder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46883" cy="4351338"/>
              </a:xfrm>
              <a:blipFill>
                <a:blip r:embed="rId2"/>
                <a:stretch>
                  <a:fillRect l="-1131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/>
              <p:nvPr/>
            </p:nvSpPr>
            <p:spPr>
              <a:xfrm>
                <a:off x="8685083" y="2794402"/>
                <a:ext cx="1245235" cy="1269195"/>
              </a:xfrm>
              <a:prstGeom prst="roundRect">
                <a:avLst/>
              </a:prstGeom>
              <a:pattFill prst="pct20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44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083" y="2794402"/>
                <a:ext cx="1245235" cy="1269195"/>
              </a:xfrm>
              <a:prstGeom prst="roundRect">
                <a:avLst/>
              </a:prstGeom>
              <a:blipFill>
                <a:blip r:embed="rId3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/>
              <p:nvPr/>
            </p:nvSpPr>
            <p:spPr>
              <a:xfrm>
                <a:off x="10641299" y="2798063"/>
                <a:ext cx="1245235" cy="1269195"/>
              </a:xfrm>
              <a:prstGeom prst="round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299" y="2798063"/>
                <a:ext cx="1245235" cy="12691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/>
              <p:nvPr/>
            </p:nvSpPr>
            <p:spPr>
              <a:xfrm>
                <a:off x="9930318" y="303481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318" y="3034819"/>
                <a:ext cx="676788" cy="707886"/>
              </a:xfrm>
              <a:prstGeom prst="rect">
                <a:avLst/>
              </a:prstGeom>
              <a:blipFill>
                <a:blip r:embed="rId5"/>
                <a:stretch>
                  <a:fillRect l="-3704" r="-3704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0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021001-6C90-A84D-8854-61F7BCED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Counter-example guided abstraction-refinement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84735B-28EF-714E-8E89-1D85C2C71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3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52F828-AFC3-C9CE-8B36-8BF7D240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6" y="365125"/>
            <a:ext cx="11430000" cy="1325563"/>
          </a:xfrm>
        </p:spPr>
        <p:txBody>
          <a:bodyPr>
            <a:normAutofit fontScale="90000"/>
          </a:bodyPr>
          <a:lstStyle/>
          <a:p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Counterexample-guided abstraction refinement</a:t>
            </a:r>
            <a:b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5C97B6-BF6C-2EAF-C060-02E9875E3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Counterexample-guided abstraction refinement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Clarke, E.,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Grumberg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O., Jha, S., Lu, Y., &amp;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Veith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(2000, July).CAV 2000. Springer Berlin Heidelberg.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029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6B84-ADF2-7B4B-A18D-EBEB42D3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 guided abstraction refinement (CEGAR)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19B1-CC76-B243-9AF1-D4D018E0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general algorithmic framework  for automatically constructing and verifying property-specific abstractions </a:t>
            </a:r>
            <a:r>
              <a:rPr lang="en-US" dirty="0">
                <a:solidFill>
                  <a:srgbClr val="00B0F0"/>
                </a:solidFill>
              </a:rPr>
              <a:t>[Clarke:2000]</a:t>
            </a:r>
          </a:p>
          <a:p>
            <a:r>
              <a:rPr lang="en-US" dirty="0"/>
              <a:t>CEGAR has been applied to discrete automata, software, and hybrid systems </a:t>
            </a:r>
            <a:r>
              <a:rPr lang="en-US" dirty="0">
                <a:solidFill>
                  <a:srgbClr val="00B0F0"/>
                </a:solidFill>
              </a:rPr>
              <a:t>[Holzman 00,Ball 01, Alur 2006,Clarke 2003, Fehnker2005, Prabhakar 15, </a:t>
            </a:r>
            <a:r>
              <a:rPr lang="en-US" dirty="0" err="1">
                <a:solidFill>
                  <a:srgbClr val="00B0F0"/>
                </a:solidFill>
              </a:rPr>
              <a:t>Roohi</a:t>
            </a:r>
            <a:r>
              <a:rPr lang="en-US" dirty="0">
                <a:solidFill>
                  <a:srgbClr val="00B0F0"/>
                </a:solidFill>
              </a:rPr>
              <a:t> 17]</a:t>
            </a:r>
          </a:p>
          <a:p>
            <a:r>
              <a:rPr lang="en-US" dirty="0"/>
              <a:t>We will discuss  the basic idea of the CEGAR and the key design choices, and their implications.</a:t>
            </a:r>
          </a:p>
        </p:txBody>
      </p:sp>
    </p:spTree>
    <p:extLst>
      <p:ext uri="{BB962C8B-B14F-4D97-AF65-F5344CB8AC3E}">
        <p14:creationId xmlns:p14="http://schemas.microsoft.com/office/powerpoint/2010/main" val="299568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129937C-A51F-964F-8257-53F04B668C86}"/>
              </a:ext>
            </a:extLst>
          </p:cNvPr>
          <p:cNvGrpSpPr/>
          <p:nvPr/>
        </p:nvGrpSpPr>
        <p:grpSpPr>
          <a:xfrm>
            <a:off x="876300" y="241788"/>
            <a:ext cx="5041615" cy="6438412"/>
            <a:chOff x="876300" y="1422400"/>
            <a:chExt cx="4117134" cy="52578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FBED412-E6FA-0049-8887-E9D0A75B25EC}"/>
                </a:ext>
              </a:extLst>
            </p:cNvPr>
            <p:cNvSpPr/>
            <p:nvPr/>
          </p:nvSpPr>
          <p:spPr>
            <a:xfrm>
              <a:off x="876300" y="1422400"/>
              <a:ext cx="24384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Start with coarse abstraction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0</a:t>
              </a:r>
            </a:p>
          </p:txBody>
        </p:sp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1A3D8B95-DA69-1147-BFB3-1D9856BC3FD3}"/>
                </a:ext>
              </a:extLst>
            </p:cNvPr>
            <p:cNvSpPr/>
            <p:nvPr/>
          </p:nvSpPr>
          <p:spPr>
            <a:xfrm>
              <a:off x="914400" y="2628900"/>
              <a:ext cx="23749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Check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</a:t>
              </a:r>
              <a:r>
                <a:rPr lang="en-US" sz="2000" dirty="0"/>
                <a:t> satisfies </a:t>
              </a:r>
              <a:r>
                <a:rPr lang="en-US" sz="2000" b="1" dirty="0"/>
                <a:t>S </a:t>
              </a:r>
              <a:r>
                <a:rPr lang="en-US" sz="2000" dirty="0"/>
                <a:t>?</a:t>
              </a:r>
              <a:endParaRPr lang="en-US" sz="2000" b="1" baseline="-25000" dirty="0"/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1F889584-68CF-274C-A3BE-6F3DFB215D86}"/>
                </a:ext>
              </a:extLst>
            </p:cNvPr>
            <p:cNvSpPr/>
            <p:nvPr/>
          </p:nvSpPr>
          <p:spPr>
            <a:xfrm>
              <a:off x="889000" y="4254500"/>
              <a:ext cx="24130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ym typeface="Symbol"/>
                </a:rPr>
                <a:t> </a:t>
              </a:r>
              <a:r>
                <a:rPr lang="en-US" sz="2000" dirty="0"/>
                <a:t>counter-example for </a:t>
              </a:r>
              <a:r>
                <a:rPr lang="en-US" sz="2000" b="1" dirty="0"/>
                <a:t>A</a:t>
              </a:r>
              <a:r>
                <a:rPr lang="en-US" sz="2000" dirty="0"/>
                <a:t>?</a:t>
              </a:r>
              <a:endParaRPr lang="en-US" sz="2000" b="1" baseline="-25000" dirty="0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D4A51E7-B419-DA4A-861E-04698B27BEA6}"/>
                </a:ext>
              </a:extLst>
            </p:cNvPr>
            <p:cNvSpPr/>
            <p:nvPr/>
          </p:nvSpPr>
          <p:spPr>
            <a:xfrm>
              <a:off x="914400" y="5918200"/>
              <a:ext cx="23622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Refine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</a:t>
              </a:r>
              <a:r>
                <a:rPr lang="en-US" sz="2000" b="1" dirty="0"/>
                <a:t> </a:t>
              </a:r>
              <a:r>
                <a:rPr lang="en-US" sz="2000" dirty="0"/>
                <a:t>to get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i+1</a:t>
              </a:r>
            </a:p>
          </p:txBody>
        </p: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90DCF74-BBBF-E249-B8D7-C6067E070E29}"/>
                </a:ext>
              </a:extLst>
            </p:cNvPr>
            <p:cNvCxnSpPr>
              <a:cxnSpLocks noChangeShapeType="1"/>
              <a:stCxn id="7" idx="1"/>
              <a:endCxn id="4" idx="1"/>
            </p:cNvCxnSpPr>
            <p:nvPr/>
          </p:nvCxnSpPr>
          <p:spPr bwMode="auto">
            <a:xfrm rot="10800000">
              <a:off x="876300" y="1803400"/>
              <a:ext cx="38100" cy="4495800"/>
            </a:xfrm>
            <a:prstGeom prst="bentConnector3">
              <a:avLst>
                <a:gd name="adj1" fmla="val 1280000"/>
              </a:avLst>
            </a:prstGeom>
            <a:noFill/>
            <a:ln w="38100" algn="ctr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BF958840-443C-3F4C-A346-A10481C0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925" y="3879850"/>
              <a:ext cx="1522699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-64" charset="2"/>
                </a:rPr>
                <a:t> = q</a:t>
              </a:r>
              <a:r>
                <a:rPr lang="en-US" sz="2000" baseline="-25000">
                  <a:sym typeface="Symbol" pitchFamily="-64" charset="2"/>
                </a:rPr>
                <a:t>0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1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2</a:t>
              </a:r>
              <a:r>
                <a:rPr lang="en-US" sz="2000">
                  <a:sym typeface="Symbol" pitchFamily="-64" charset="2"/>
                </a:rPr>
                <a:t> … q</a:t>
              </a:r>
              <a:r>
                <a:rPr lang="en-US" sz="2000" baseline="-25000">
                  <a:sym typeface="Symbol" pitchFamily="-64" charset="2"/>
                </a:rPr>
                <a:t>n</a:t>
              </a:r>
              <a:endParaRPr lang="en-US" sz="2000" baseline="-250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815213-961D-F643-87FA-B8E1268C0796}"/>
                </a:ext>
              </a:extLst>
            </p:cNvPr>
            <p:cNvCxnSpPr>
              <a:cxnSpLocks noChangeShapeType="1"/>
              <a:stCxn id="4" idx="2"/>
              <a:endCxn id="5" idx="0"/>
            </p:cNvCxnSpPr>
            <p:nvPr/>
          </p:nvCxnSpPr>
          <p:spPr bwMode="auto">
            <a:xfrm rot="16200000" flipH="1">
              <a:off x="1876425" y="2403475"/>
              <a:ext cx="4445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2E1341-0307-724B-A6F5-5424F959A8F7}"/>
                </a:ext>
              </a:extLst>
            </p:cNvPr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5400000">
              <a:off x="1920875" y="4073525"/>
              <a:ext cx="3556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E2D75B6-C912-7E46-8B72-4300F615910C}"/>
                </a:ext>
              </a:extLst>
            </p:cNvPr>
            <p:cNvCxnSpPr>
              <a:cxnSpLocks noChangeShapeType="1"/>
              <a:stCxn id="6" idx="2"/>
              <a:endCxn id="7" idx="0"/>
            </p:cNvCxnSpPr>
            <p:nvPr/>
          </p:nvCxnSpPr>
          <p:spPr bwMode="auto">
            <a:xfrm rot="5400000">
              <a:off x="1898651" y="5721350"/>
              <a:ext cx="393700" cy="31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1721DF-6474-1A4C-BC96-ED9B60D08436}"/>
                </a:ext>
              </a:extLst>
            </p:cNvPr>
            <p:cNvCxnSpPr>
              <a:cxnSpLocks noChangeShapeType="1"/>
              <a:stCxn id="5" idx="3"/>
              <a:endCxn id="14" idx="2"/>
            </p:cNvCxnSpPr>
            <p:nvPr/>
          </p:nvCxnSpPr>
          <p:spPr bwMode="auto">
            <a:xfrm>
              <a:off x="3289299" y="3263900"/>
              <a:ext cx="55959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7011D3-732D-A240-8F80-DAE166ED73B7}"/>
                </a:ext>
              </a:extLst>
            </p:cNvPr>
            <p:cNvSpPr/>
            <p:nvPr/>
          </p:nvSpPr>
          <p:spPr>
            <a:xfrm>
              <a:off x="3848893" y="2917824"/>
              <a:ext cx="1041060" cy="69215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b="1" dirty="0"/>
                <a:t>A</a:t>
              </a:r>
              <a:r>
                <a:rPr lang="en-US" sz="2000" dirty="0"/>
                <a:t> is safe</a:t>
              </a:r>
            </a:p>
          </p:txBody>
        </p:sp>
        <p:sp>
          <p:nvSpPr>
            <p:cNvPr id="15" name="TextBox 49">
              <a:extLst>
                <a:ext uri="{FF2B5EF4-FFF2-40B4-BE49-F238E27FC236}">
                  <a16:creationId xmlns:a16="http://schemas.microsoft.com/office/drawing/2014/main" id="{4A4F7EA9-6C0A-4A4E-9170-C5720CE0D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438" y="28733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16" name="TextBox 50">
              <a:extLst>
                <a:ext uri="{FF2B5EF4-FFF2-40B4-BE49-F238E27FC236}">
                  <a16:creationId xmlns:a16="http://schemas.microsoft.com/office/drawing/2014/main" id="{836E0A55-CF4B-D348-9B0B-FA833C6F4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325" y="3894138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E66E19-0ACF-074D-A802-8253BC4157E1}"/>
                </a:ext>
              </a:extLst>
            </p:cNvPr>
            <p:cNvSpPr/>
            <p:nvPr/>
          </p:nvSpPr>
          <p:spPr>
            <a:xfrm>
              <a:off x="3817938" y="4541838"/>
              <a:ext cx="1175496" cy="693737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b="1" dirty="0"/>
                <a:t>A</a:t>
              </a:r>
              <a:r>
                <a:rPr lang="en-US" sz="2000" dirty="0"/>
                <a:t> unsafe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232F87-F466-C246-B0A7-A630B9659EF6}"/>
                </a:ext>
              </a:extLst>
            </p:cNvPr>
            <p:cNvCxnSpPr>
              <a:cxnSpLocks noChangeShapeType="1"/>
              <a:stCxn id="6" idx="3"/>
              <a:endCxn id="17" idx="2"/>
            </p:cNvCxnSpPr>
            <p:nvPr/>
          </p:nvCxnSpPr>
          <p:spPr bwMode="auto">
            <a:xfrm flipV="1">
              <a:off x="3302001" y="4888707"/>
              <a:ext cx="515937" cy="79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9" name="TextBox 55">
              <a:extLst>
                <a:ext uri="{FF2B5EF4-FFF2-40B4-BE49-F238E27FC236}">
                  <a16:creationId xmlns:a16="http://schemas.microsoft.com/office/drawing/2014/main" id="{3F4C4461-B45D-584B-A42C-6802B6F9E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663" y="45116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46178A12-7577-7F4A-8587-29D6B372B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075" y="5516563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</p:grpSp>
      <p:sp>
        <p:nvSpPr>
          <p:cNvPr id="22" name="Title 5">
            <a:extLst>
              <a:ext uri="{FF2B5EF4-FFF2-40B4-BE49-F238E27FC236}">
                <a16:creationId xmlns:a16="http://schemas.microsoft.com/office/drawing/2014/main" id="{F75E9478-795B-3245-808F-CF51FC80407E}"/>
              </a:ext>
            </a:extLst>
          </p:cNvPr>
          <p:cNvSpPr txBox="1">
            <a:spLocks/>
          </p:cNvSpPr>
          <p:nvPr/>
        </p:nvSpPr>
        <p:spPr>
          <a:xfrm>
            <a:off x="6408580" y="1709738"/>
            <a:ext cx="493887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Idea of CEGAR</a:t>
            </a:r>
          </a:p>
        </p:txBody>
      </p:sp>
    </p:spTree>
    <p:extLst>
      <p:ext uri="{BB962C8B-B14F-4D97-AF65-F5344CB8AC3E}">
        <p14:creationId xmlns:p14="http://schemas.microsoft.com/office/powerpoint/2010/main" val="111589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129937C-A51F-964F-8257-53F04B668C86}"/>
              </a:ext>
            </a:extLst>
          </p:cNvPr>
          <p:cNvGrpSpPr/>
          <p:nvPr/>
        </p:nvGrpSpPr>
        <p:grpSpPr>
          <a:xfrm>
            <a:off x="876300" y="241788"/>
            <a:ext cx="5041615" cy="6438412"/>
            <a:chOff x="876300" y="1422400"/>
            <a:chExt cx="4117134" cy="5257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6FBED412-E6FA-0049-8887-E9D0A75B25EC}"/>
                    </a:ext>
                  </a:extLst>
                </p:cNvPr>
                <p:cNvSpPr/>
                <p:nvPr/>
              </p:nvSpPr>
              <p:spPr>
                <a:xfrm>
                  <a:off x="876300" y="1422400"/>
                  <a:ext cx="2438400" cy="762000"/>
                </a:xfrm>
                <a:prstGeom prst="round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000" dirty="0"/>
                    <a:t>Start with coarse abstraction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</m:sup>
                      </m:sSubSup>
                    </m:oMath>
                  </a14:m>
                  <a:r>
                    <a:rPr lang="en-US" sz="2000" dirty="0"/>
                    <a:t>of</a:t>
                  </a:r>
                  <a:r>
                    <a:rPr lang="en-US" sz="2000" b="1" baseline="-25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</m:oMath>
                  </a14:m>
                  <a:endParaRPr lang="en-US" sz="2000" b="1" baseline="-25000" dirty="0"/>
                </a:p>
              </p:txBody>
            </p:sp>
          </mc:Choice>
          <mc:Fallback xmlns=""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6FBED412-E6FA-0049-8887-E9D0A75B25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300" y="1422400"/>
                  <a:ext cx="2438400" cy="7620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Diamond 4">
                  <a:extLst>
                    <a:ext uri="{FF2B5EF4-FFF2-40B4-BE49-F238E27FC236}">
                      <a16:creationId xmlns:a16="http://schemas.microsoft.com/office/drawing/2014/main" id="{1A3D8B95-DA69-1147-BFB3-1D9856BC3FD3}"/>
                    </a:ext>
                  </a:extLst>
                </p:cNvPr>
                <p:cNvSpPr/>
                <p:nvPr/>
              </p:nvSpPr>
              <p:spPr>
                <a:xfrm>
                  <a:off x="914400" y="2628900"/>
                  <a:ext cx="2374900" cy="1270000"/>
                </a:xfrm>
                <a:prstGeom prst="diamond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1600" dirty="0"/>
                    <a:t>Model Check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</m:sup>
                      </m:sSubSup>
                      <m:r>
                        <a:rPr lang="en-US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satisfies </a:t>
                  </a:r>
                  <a:r>
                    <a:rPr lang="en-US" sz="1600" b="1" dirty="0"/>
                    <a:t>S </a:t>
                  </a:r>
                  <a:r>
                    <a:rPr lang="en-US" sz="2000" dirty="0"/>
                    <a:t>?</a:t>
                  </a:r>
                  <a:endParaRPr lang="en-US" sz="2000" b="1" baseline="-25000" dirty="0"/>
                </a:p>
              </p:txBody>
            </p:sp>
          </mc:Choice>
          <mc:Fallback xmlns="">
            <p:sp>
              <p:nvSpPr>
                <p:cNvPr id="5" name="Diamond 4">
                  <a:extLst>
                    <a:ext uri="{FF2B5EF4-FFF2-40B4-BE49-F238E27FC236}">
                      <a16:creationId xmlns:a16="http://schemas.microsoft.com/office/drawing/2014/main" id="{1A3D8B95-DA69-1147-BFB3-1D9856BC3F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2628900"/>
                  <a:ext cx="2374900" cy="1270000"/>
                </a:xfrm>
                <a:prstGeom prst="diamond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Diamond 5">
                  <a:extLst>
                    <a:ext uri="{FF2B5EF4-FFF2-40B4-BE49-F238E27FC236}">
                      <a16:creationId xmlns:a16="http://schemas.microsoft.com/office/drawing/2014/main" id="{1F889584-68CF-274C-A3BE-6F3DFB215D86}"/>
                    </a:ext>
                  </a:extLst>
                </p:cNvPr>
                <p:cNvSpPr/>
                <p:nvPr/>
              </p:nvSpPr>
              <p:spPr>
                <a:xfrm>
                  <a:off x="889000" y="4254500"/>
                  <a:ext cx="2413000" cy="1270000"/>
                </a:xfrm>
                <a:prstGeom prst="diamond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000" dirty="0">
                      <a:sym typeface="Symbol"/>
                    </a:rPr>
                    <a:t> </a:t>
                  </a:r>
                  <a:r>
                    <a:rPr lang="en-US" sz="2000" dirty="0"/>
                    <a:t>counter-example for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</m:sup>
                      </m:sSubSup>
                    </m:oMath>
                  </a14:m>
                  <a:r>
                    <a:rPr lang="en-US" sz="2000" b="1" baseline="-25000" dirty="0"/>
                    <a:t> </a:t>
                  </a:r>
                  <a:r>
                    <a:rPr lang="en-US" sz="2000" b="1" dirty="0"/>
                    <a:t>?</a:t>
                  </a:r>
                </a:p>
              </p:txBody>
            </p:sp>
          </mc:Choice>
          <mc:Fallback xmlns="">
            <p:sp>
              <p:nvSpPr>
                <p:cNvPr id="6" name="Diamond 5">
                  <a:extLst>
                    <a:ext uri="{FF2B5EF4-FFF2-40B4-BE49-F238E27FC236}">
                      <a16:creationId xmlns:a16="http://schemas.microsoft.com/office/drawing/2014/main" id="{1F889584-68CF-274C-A3BE-6F3DFB215D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000" y="4254500"/>
                  <a:ext cx="2413000" cy="1270000"/>
                </a:xfrm>
                <a:prstGeom prst="diamond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ED4A51E7-B419-DA4A-861E-04698B27BEA6}"/>
                    </a:ext>
                  </a:extLst>
                </p:cNvPr>
                <p:cNvSpPr/>
                <p:nvPr/>
              </p:nvSpPr>
              <p:spPr>
                <a:xfrm>
                  <a:off x="914400" y="5918200"/>
                  <a:ext cx="2362200" cy="762000"/>
                </a:xfrm>
                <a:prstGeom prst="round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000" dirty="0"/>
                    <a:t>Refine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</m:sup>
                      </m:sSubSup>
                    </m:oMath>
                  </a14:m>
                  <a:r>
                    <a:rPr lang="en-US" sz="2000" b="1" baseline="30000" dirty="0"/>
                    <a:t> </a:t>
                  </a:r>
                  <a:r>
                    <a:rPr lang="en-US" sz="2000" dirty="0"/>
                    <a:t>to get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</m:sup>
                      </m:sSubSup>
                    </m:oMath>
                  </a14:m>
                  <a:endParaRPr lang="en-US" sz="2000" b="1" baseline="-25000" dirty="0"/>
                </a:p>
              </p:txBody>
            </p:sp>
          </mc:Choice>
          <mc:Fallback xmlns="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ED4A51E7-B419-DA4A-861E-04698B27BE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" y="5918200"/>
                  <a:ext cx="2362200" cy="76200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90DCF74-BBBF-E249-B8D7-C6067E070E29}"/>
                </a:ext>
              </a:extLst>
            </p:cNvPr>
            <p:cNvCxnSpPr>
              <a:cxnSpLocks noChangeShapeType="1"/>
              <a:stCxn id="7" idx="1"/>
              <a:endCxn id="4" idx="1"/>
            </p:cNvCxnSpPr>
            <p:nvPr/>
          </p:nvCxnSpPr>
          <p:spPr bwMode="auto">
            <a:xfrm rot="10800000">
              <a:off x="876300" y="1803400"/>
              <a:ext cx="38100" cy="4495800"/>
            </a:xfrm>
            <a:prstGeom prst="bentConnector3">
              <a:avLst>
                <a:gd name="adj1" fmla="val 1280000"/>
              </a:avLst>
            </a:prstGeom>
            <a:noFill/>
            <a:ln w="38100" algn="ctr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BF958840-443C-3F4C-A346-A10481C0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925" y="3879850"/>
              <a:ext cx="1522699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-64" charset="2"/>
                </a:rPr>
                <a:t> = q</a:t>
              </a:r>
              <a:r>
                <a:rPr lang="en-US" sz="2000" baseline="-25000">
                  <a:sym typeface="Symbol" pitchFamily="-64" charset="2"/>
                </a:rPr>
                <a:t>0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1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2</a:t>
              </a:r>
              <a:r>
                <a:rPr lang="en-US" sz="2000">
                  <a:sym typeface="Symbol" pitchFamily="-64" charset="2"/>
                </a:rPr>
                <a:t> … q</a:t>
              </a:r>
              <a:r>
                <a:rPr lang="en-US" sz="2000" baseline="-25000">
                  <a:sym typeface="Symbol" pitchFamily="-64" charset="2"/>
                </a:rPr>
                <a:t>n</a:t>
              </a:r>
              <a:endParaRPr lang="en-US" sz="2000" baseline="-250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815213-961D-F643-87FA-B8E1268C0796}"/>
                </a:ext>
              </a:extLst>
            </p:cNvPr>
            <p:cNvCxnSpPr>
              <a:cxnSpLocks noChangeShapeType="1"/>
              <a:stCxn id="4" idx="2"/>
              <a:endCxn id="5" idx="0"/>
            </p:cNvCxnSpPr>
            <p:nvPr/>
          </p:nvCxnSpPr>
          <p:spPr bwMode="auto">
            <a:xfrm rot="16200000" flipH="1">
              <a:off x="1876425" y="2403475"/>
              <a:ext cx="4445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2E1341-0307-724B-A6F5-5424F959A8F7}"/>
                </a:ext>
              </a:extLst>
            </p:cNvPr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5400000">
              <a:off x="1920875" y="4073525"/>
              <a:ext cx="3556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E2D75B6-C912-7E46-8B72-4300F615910C}"/>
                </a:ext>
              </a:extLst>
            </p:cNvPr>
            <p:cNvCxnSpPr>
              <a:cxnSpLocks noChangeShapeType="1"/>
              <a:stCxn id="6" idx="2"/>
              <a:endCxn id="7" idx="0"/>
            </p:cNvCxnSpPr>
            <p:nvPr/>
          </p:nvCxnSpPr>
          <p:spPr bwMode="auto">
            <a:xfrm rot="5400000">
              <a:off x="1898651" y="5721350"/>
              <a:ext cx="393700" cy="31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1721DF-6474-1A4C-BC96-ED9B60D08436}"/>
                </a:ext>
              </a:extLst>
            </p:cNvPr>
            <p:cNvCxnSpPr>
              <a:cxnSpLocks noChangeShapeType="1"/>
              <a:stCxn id="5" idx="3"/>
              <a:endCxn id="14" idx="2"/>
            </p:cNvCxnSpPr>
            <p:nvPr/>
          </p:nvCxnSpPr>
          <p:spPr bwMode="auto">
            <a:xfrm>
              <a:off x="3289299" y="3263900"/>
              <a:ext cx="55959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47011D3-732D-A240-8F80-DAE166ED73B7}"/>
                    </a:ext>
                  </a:extLst>
                </p:cNvPr>
                <p:cNvSpPr/>
                <p:nvPr/>
              </p:nvSpPr>
              <p:spPr>
                <a:xfrm>
                  <a:off x="3848893" y="2917824"/>
                  <a:ext cx="1041060" cy="692150"/>
                </a:xfrm>
                <a:prstGeom prst="ellips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</m:oMath>
                  </a14:m>
                  <a:r>
                    <a:rPr lang="en-US" sz="2000" dirty="0"/>
                    <a:t> is safe</a:t>
                  </a:r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47011D3-732D-A240-8F80-DAE166ED73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8893" y="2917824"/>
                  <a:ext cx="1041060" cy="692150"/>
                </a:xfrm>
                <a:prstGeom prst="ellipse">
                  <a:avLst/>
                </a:prstGeom>
                <a:blipFill>
                  <a:blip r:embed="rId6"/>
                  <a:stretch>
                    <a:fillRect b="-1408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49">
              <a:extLst>
                <a:ext uri="{FF2B5EF4-FFF2-40B4-BE49-F238E27FC236}">
                  <a16:creationId xmlns:a16="http://schemas.microsoft.com/office/drawing/2014/main" id="{4A4F7EA9-6C0A-4A4E-9170-C5720CE0D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438" y="28733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16" name="TextBox 50">
              <a:extLst>
                <a:ext uri="{FF2B5EF4-FFF2-40B4-BE49-F238E27FC236}">
                  <a16:creationId xmlns:a16="http://schemas.microsoft.com/office/drawing/2014/main" id="{836E0A55-CF4B-D348-9B0B-FA833C6F4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325" y="3894138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CFE66E19-0ACF-074D-A802-8253BC4157E1}"/>
                    </a:ext>
                  </a:extLst>
                </p:cNvPr>
                <p:cNvSpPr/>
                <p:nvPr/>
              </p:nvSpPr>
              <p:spPr>
                <a:xfrm>
                  <a:off x="3817938" y="4541838"/>
                  <a:ext cx="1175496" cy="693737"/>
                </a:xfrm>
                <a:prstGeom prst="ellips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</m:oMath>
                  </a14:m>
                  <a:r>
                    <a:rPr lang="en-US" sz="2000" dirty="0"/>
                    <a:t> unsafe</a:t>
                  </a:r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CFE66E19-0ACF-074D-A802-8253BC4157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938" y="4541838"/>
                  <a:ext cx="1175496" cy="693737"/>
                </a:xfrm>
                <a:prstGeom prst="ellipse">
                  <a:avLst/>
                </a:prstGeom>
                <a:blipFill>
                  <a:blip r:embed="rId7"/>
                  <a:stretch>
                    <a:fillRect b="-1408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232F87-F466-C246-B0A7-A630B9659EF6}"/>
                </a:ext>
              </a:extLst>
            </p:cNvPr>
            <p:cNvCxnSpPr>
              <a:cxnSpLocks noChangeShapeType="1"/>
              <a:stCxn id="6" idx="3"/>
              <a:endCxn id="17" idx="2"/>
            </p:cNvCxnSpPr>
            <p:nvPr/>
          </p:nvCxnSpPr>
          <p:spPr bwMode="auto">
            <a:xfrm flipV="1">
              <a:off x="3302001" y="4888707"/>
              <a:ext cx="515937" cy="79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9" name="TextBox 55">
              <a:extLst>
                <a:ext uri="{FF2B5EF4-FFF2-40B4-BE49-F238E27FC236}">
                  <a16:creationId xmlns:a16="http://schemas.microsoft.com/office/drawing/2014/main" id="{3F4C4461-B45D-584B-A42C-6802B6F9E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663" y="45116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46178A12-7577-7F4A-8587-29D6B372B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075" y="5516563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</p:grpSp>
      <p:sp>
        <p:nvSpPr>
          <p:cNvPr id="22" name="Title 5">
            <a:extLst>
              <a:ext uri="{FF2B5EF4-FFF2-40B4-BE49-F238E27FC236}">
                <a16:creationId xmlns:a16="http://schemas.microsoft.com/office/drawing/2014/main" id="{F75E9478-795B-3245-808F-CF51FC80407E}"/>
              </a:ext>
            </a:extLst>
          </p:cNvPr>
          <p:cNvSpPr txBox="1">
            <a:spLocks/>
          </p:cNvSpPr>
          <p:nvPr/>
        </p:nvSpPr>
        <p:spPr>
          <a:xfrm>
            <a:off x="6408580" y="1709738"/>
            <a:ext cx="493887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Idea of CEGAR</a:t>
            </a:r>
          </a:p>
        </p:txBody>
      </p:sp>
    </p:spTree>
    <p:extLst>
      <p:ext uri="{BB962C8B-B14F-4D97-AF65-F5344CB8AC3E}">
        <p14:creationId xmlns:p14="http://schemas.microsoft.com/office/powerpoint/2010/main" val="392471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7AFA-DCF8-BC5F-5CE3-A0AC0024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Abstraction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DB87B-BB1D-3696-8B93-36AC656556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Given an 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and a set of predicates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the predicate abstraction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defined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where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	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 concrete state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DB87B-BB1D-3696-8B93-36AC656556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8FFCB5E-49DE-702B-5C53-E02BE03BE8A2}"/>
              </a:ext>
            </a:extLst>
          </p:cNvPr>
          <p:cNvSpPr txBox="1"/>
          <p:nvPr/>
        </p:nvSpPr>
        <p:spPr>
          <a:xfrm>
            <a:off x="3796747" y="6228019"/>
            <a:ext cx="90744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Flanagan, C., &amp; Qadeer, S. (2002, January). Predicate abstraction for software verification. POPL 2002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Ball, T., Majumdar, R., Millstein, T.,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Rajamani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 K. (2001, May). PLDI 2001</a:t>
            </a:r>
          </a:p>
          <a:p>
            <a:endParaRPr 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6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B17C-E0ED-B243-808E-5747394F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8FFB-0F73-1544-947D-F8F121CCC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of the abstract automata (finite, timed, linear)</a:t>
            </a:r>
          </a:p>
          <a:p>
            <a:r>
              <a:rPr lang="en-US" dirty="0"/>
              <a:t>Model checker for abstract automaton</a:t>
            </a:r>
          </a:p>
          <a:p>
            <a:r>
              <a:rPr lang="en-US" dirty="0"/>
              <a:t>Counter-example validation procedure</a:t>
            </a:r>
          </a:p>
          <a:p>
            <a:r>
              <a:rPr lang="en-US" dirty="0"/>
              <a:t>Refinement strategy</a:t>
            </a:r>
          </a:p>
        </p:txBody>
      </p:sp>
    </p:spTree>
    <p:extLst>
      <p:ext uri="{BB962C8B-B14F-4D97-AF65-F5344CB8AC3E}">
        <p14:creationId xmlns:p14="http://schemas.microsoft.com/office/powerpoint/2010/main" val="107189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9">
            <a:extLst>
              <a:ext uri="{FF2B5EF4-FFF2-40B4-BE49-F238E27FC236}">
                <a16:creationId xmlns:a16="http://schemas.microsoft.com/office/drawing/2014/main" id="{2D9F7530-91FC-6E4F-A637-0460AAD2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43" y="725936"/>
            <a:ext cx="6882431" cy="639553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E25FD5-CAEC-204F-AFE0-AC808DA728CB}"/>
              </a:ext>
            </a:extLst>
          </p:cNvPr>
          <p:cNvGraphicFramePr>
            <a:graphicFrameLocks noGrp="1"/>
          </p:cNvGraphicFramePr>
          <p:nvPr/>
        </p:nvGraphicFramePr>
        <p:xfrm>
          <a:off x="2031998" y="719666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31349604-F57C-4441-99FB-21FD14359886}"/>
              </a:ext>
            </a:extLst>
          </p:cNvPr>
          <p:cNvGrpSpPr/>
          <p:nvPr/>
        </p:nvGrpSpPr>
        <p:grpSpPr>
          <a:xfrm>
            <a:off x="2230106" y="1905233"/>
            <a:ext cx="6422067" cy="2792369"/>
            <a:chOff x="2832951" y="1959528"/>
            <a:chExt cx="5345112" cy="2324100"/>
          </a:xfrm>
        </p:grpSpPr>
        <p:sp>
          <p:nvSpPr>
            <p:cNvPr id="4" name="Oval 127">
              <a:extLst>
                <a:ext uri="{FF2B5EF4-FFF2-40B4-BE49-F238E27FC236}">
                  <a16:creationId xmlns:a16="http://schemas.microsoft.com/office/drawing/2014/main" id="{2635F9CB-2268-4D4A-946C-B85A82D4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128">
              <a:extLst>
                <a:ext uri="{FF2B5EF4-FFF2-40B4-BE49-F238E27FC236}">
                  <a16:creationId xmlns:a16="http://schemas.microsoft.com/office/drawing/2014/main" id="{165E9D23-D49F-AF47-B754-D3CD7D328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129">
              <a:extLst>
                <a:ext uri="{FF2B5EF4-FFF2-40B4-BE49-F238E27FC236}">
                  <a16:creationId xmlns:a16="http://schemas.microsoft.com/office/drawing/2014/main" id="{34061FD7-4E72-4C4F-94D2-46A7D765B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130">
              <a:extLst>
                <a:ext uri="{FF2B5EF4-FFF2-40B4-BE49-F238E27FC236}">
                  <a16:creationId xmlns:a16="http://schemas.microsoft.com/office/drawing/2014/main" id="{6F37BA39-B7B7-D645-B56B-77F4A5F7A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8" name="Oval 131">
                <a:extLst>
                  <a:ext uri="{FF2B5EF4-FFF2-40B4-BE49-F238E27FC236}">
                    <a16:creationId xmlns:a16="http://schemas.microsoft.com/office/drawing/2014/main" id="{2CF09052-5AD5-E94B-8758-07568264B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132">
                <a:extLst>
                  <a:ext uri="{FF2B5EF4-FFF2-40B4-BE49-F238E27FC236}">
                    <a16:creationId xmlns:a16="http://schemas.microsoft.com/office/drawing/2014/main" id="{43CDD12A-392F-B44E-814B-C1FD3B607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133">
                <a:extLst>
                  <a:ext uri="{FF2B5EF4-FFF2-40B4-BE49-F238E27FC236}">
                    <a16:creationId xmlns:a16="http://schemas.microsoft.com/office/drawing/2014/main" id="{1F794BB2-FA98-7E42-A1C3-2F6B474B5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" name="Oval 135">
              <a:extLst>
                <a:ext uri="{FF2B5EF4-FFF2-40B4-BE49-F238E27FC236}">
                  <a16:creationId xmlns:a16="http://schemas.microsoft.com/office/drawing/2014/main" id="{65CBFBE5-234E-A24B-8AD3-B191A5E61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36">
              <a:extLst>
                <a:ext uri="{FF2B5EF4-FFF2-40B4-BE49-F238E27FC236}">
                  <a16:creationId xmlns:a16="http://schemas.microsoft.com/office/drawing/2014/main" id="{351EC032-E04E-0143-8948-FA8B1E3AF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37">
              <a:extLst>
                <a:ext uri="{FF2B5EF4-FFF2-40B4-BE49-F238E27FC236}">
                  <a16:creationId xmlns:a16="http://schemas.microsoft.com/office/drawing/2014/main" id="{6AE8B8B6-FC21-5242-9B0B-CB4C228BA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44">
              <a:extLst>
                <a:ext uri="{FF2B5EF4-FFF2-40B4-BE49-F238E27FC236}">
                  <a16:creationId xmlns:a16="http://schemas.microsoft.com/office/drawing/2014/main" id="{4F0D6567-1BD6-3849-A0AA-946C1940F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212" y="3113148"/>
                <a:ext cx="265216" cy="193359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7212" y="3113148"/>
                <a:ext cx="265216" cy="193359"/>
              </a:xfrm>
              <a:prstGeom prst="rect">
                <a:avLst/>
              </a:prstGeom>
              <a:blipFill>
                <a:blip r:embed="rId2"/>
                <a:stretch>
                  <a:fillRect t="-6250" r="-18182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/>
              <p:nvPr/>
            </p:nvSpPr>
            <p:spPr>
              <a:xfrm>
                <a:off x="2003304" y="830638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04" y="830638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l="-980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/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/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48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A36FDA2-F6E9-6F41-BBD7-F54392ADF80B}"/>
              </a:ext>
            </a:extLst>
          </p:cNvPr>
          <p:cNvGraphicFramePr>
            <a:graphicFrameLocks noGrp="1"/>
          </p:cNvGraphicFramePr>
          <p:nvPr/>
        </p:nvGraphicFramePr>
        <p:xfrm>
          <a:off x="2018149" y="719665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2209165" y="1905233"/>
            <a:ext cx="6422067" cy="2792369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0231" y="3113149"/>
                <a:ext cx="237295" cy="174504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0231" y="3113149"/>
                <a:ext cx="237295" cy="174504"/>
              </a:xfrm>
              <a:prstGeom prst="rect">
                <a:avLst/>
              </a:prstGeom>
              <a:blipFill>
                <a:blip r:embed="rId2"/>
                <a:stretch>
                  <a:fillRect t="-13333" r="-30000" b="-3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1995160" y="857396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60" y="857396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48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49">
            <a:extLst>
              <a:ext uri="{FF2B5EF4-FFF2-40B4-BE49-F238E27FC236}">
                <a16:creationId xmlns:a16="http://schemas.microsoft.com/office/drawing/2014/main" id="{2C7DAE97-9AF1-BA49-AABD-87E5EB90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43" y="782077"/>
            <a:ext cx="6882431" cy="639553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C03E1-EC9E-4F46-B352-A5A5FF06BDE1}"/>
              </a:ext>
            </a:extLst>
          </p:cNvPr>
          <p:cNvGraphicFramePr>
            <a:graphicFrameLocks noGrp="1"/>
          </p:cNvGraphicFramePr>
          <p:nvPr/>
        </p:nvGraphicFramePr>
        <p:xfrm>
          <a:off x="392549" y="775806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583565" y="1961374"/>
            <a:ext cx="6422067" cy="2792369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631" y="3169290"/>
                <a:ext cx="237295" cy="174504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631" y="3169290"/>
                <a:ext cx="237295" cy="174504"/>
              </a:xfrm>
              <a:prstGeom prst="rect">
                <a:avLst/>
              </a:prstGeom>
              <a:blipFill>
                <a:blip r:embed="rId2"/>
                <a:stretch>
                  <a:fillRect t="-14286" r="-30000" b="-3571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369560" y="913537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60" y="913537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326516" y="2629492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16" y="2629492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3759588" y="3368224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88" y="3368224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/>
              <p:nvPr/>
            </p:nvSpPr>
            <p:spPr>
              <a:xfrm>
                <a:off x="378655" y="2041636"/>
                <a:ext cx="5481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55" y="2041636"/>
                <a:ext cx="548163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/>
              <p:nvPr/>
            </p:nvSpPr>
            <p:spPr>
              <a:xfrm>
                <a:off x="1757189" y="1467808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189" y="1467808"/>
                <a:ext cx="555280" cy="461665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/>
              <p:nvPr/>
            </p:nvSpPr>
            <p:spPr>
              <a:xfrm>
                <a:off x="1736111" y="852137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111" y="852137"/>
                <a:ext cx="555280" cy="461665"/>
              </a:xfrm>
              <a:prstGeom prst="rect">
                <a:avLst/>
              </a:prstGeom>
              <a:blipFill>
                <a:blip r:embed="rId8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Freeform 77">
            <a:extLst>
              <a:ext uri="{FF2B5EF4-FFF2-40B4-BE49-F238E27FC236}">
                <a16:creationId xmlns:a16="http://schemas.microsoft.com/office/drawing/2014/main" id="{C4B43E9C-8D4E-2E4F-ADAA-91EF6FF20147}"/>
              </a:ext>
            </a:extLst>
          </p:cNvPr>
          <p:cNvSpPr/>
          <p:nvPr/>
        </p:nvSpPr>
        <p:spPr>
          <a:xfrm>
            <a:off x="398643" y="1419057"/>
            <a:ext cx="2066962" cy="588142"/>
          </a:xfrm>
          <a:custGeom>
            <a:avLst/>
            <a:gdLst>
              <a:gd name="connsiteX0" fmla="*/ 1413876 w 2066962"/>
              <a:gd name="connsiteY0" fmla="*/ 0 h 959198"/>
              <a:gd name="connsiteX1" fmla="*/ 2066962 w 2066962"/>
              <a:gd name="connsiteY1" fmla="*/ 0 h 959198"/>
              <a:gd name="connsiteX2" fmla="*/ 2066962 w 2066962"/>
              <a:gd name="connsiteY2" fmla="*/ 55221 h 959198"/>
              <a:gd name="connsiteX3" fmla="*/ 2006732 w 2066962"/>
              <a:gd name="connsiteY3" fmla="*/ 65829 h 959198"/>
              <a:gd name="connsiteX4" fmla="*/ 33720 w 2066962"/>
              <a:gd name="connsiteY4" fmla="*/ 927516 h 959198"/>
              <a:gd name="connsiteX5" fmla="*/ 0 w 2066962"/>
              <a:gd name="connsiteY5" fmla="*/ 959198 h 959198"/>
              <a:gd name="connsiteX6" fmla="*/ 0 w 2066962"/>
              <a:gd name="connsiteY6" fmla="*/ 458550 h 959198"/>
              <a:gd name="connsiteX7" fmla="*/ 55790 w 2066962"/>
              <a:gd name="connsiteY7" fmla="*/ 429010 h 959198"/>
              <a:gd name="connsiteX8" fmla="*/ 1335520 w 2066962"/>
              <a:gd name="connsiteY8" fmla="*/ 13801 h 959198"/>
              <a:gd name="connsiteX9" fmla="*/ 1413876 w 2066962"/>
              <a:gd name="connsiteY9" fmla="*/ 0 h 95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66962" h="959198">
                <a:moveTo>
                  <a:pt x="1413876" y="0"/>
                </a:moveTo>
                <a:lnTo>
                  <a:pt x="2066962" y="0"/>
                </a:lnTo>
                <a:lnTo>
                  <a:pt x="2066962" y="55221"/>
                </a:lnTo>
                <a:lnTo>
                  <a:pt x="2006732" y="65829"/>
                </a:lnTo>
                <a:cubicBezTo>
                  <a:pt x="1163807" y="237398"/>
                  <a:pt x="467573" y="543185"/>
                  <a:pt x="33720" y="927516"/>
                </a:cubicBezTo>
                <a:lnTo>
                  <a:pt x="0" y="959198"/>
                </a:lnTo>
                <a:lnTo>
                  <a:pt x="0" y="458550"/>
                </a:lnTo>
                <a:lnTo>
                  <a:pt x="55790" y="429010"/>
                </a:lnTo>
                <a:cubicBezTo>
                  <a:pt x="420076" y="253706"/>
                  <a:pt x="853849" y="111840"/>
                  <a:pt x="1335520" y="13801"/>
                </a:cubicBezTo>
                <a:lnTo>
                  <a:pt x="141387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/>
              <p:nvPr/>
            </p:nvSpPr>
            <p:spPr>
              <a:xfrm>
                <a:off x="401695" y="1468442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95" y="1468442"/>
                <a:ext cx="555280" cy="46166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/>
              <p:nvPr/>
            </p:nvSpPr>
            <p:spPr>
              <a:xfrm>
                <a:off x="1080796" y="1467809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796" y="1467809"/>
                <a:ext cx="555280" cy="461665"/>
              </a:xfrm>
              <a:prstGeom prst="rect">
                <a:avLst/>
              </a:prstGeom>
              <a:blipFill>
                <a:blip r:embed="rId10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/>
              <p:nvPr/>
            </p:nvSpPr>
            <p:spPr>
              <a:xfrm>
                <a:off x="7372125" y="1101021"/>
                <a:ext cx="467807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125" y="1101021"/>
                <a:ext cx="4678076" cy="1569660"/>
              </a:xfrm>
              <a:prstGeom prst="rect">
                <a:avLst/>
              </a:prstGeom>
              <a:blipFill>
                <a:blip r:embed="rId11"/>
                <a:stretch>
                  <a:fillRect t="-806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1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9B64-D8C3-A34F-9BB2-0AAB8586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0D03-397D-EE44-B0CB-7BA2720A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Abstractions and composition</a:t>
            </a:r>
          </a:p>
          <a:p>
            <a:r>
              <a:rPr lang="en-US" dirty="0"/>
              <a:t>CEGAR</a:t>
            </a:r>
          </a:p>
        </p:txBody>
      </p:sp>
    </p:spTree>
    <p:extLst>
      <p:ext uri="{BB962C8B-B14F-4D97-AF65-F5344CB8AC3E}">
        <p14:creationId xmlns:p14="http://schemas.microsoft.com/office/powerpoint/2010/main" val="2025464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3032760" y="1711344"/>
            <a:ext cx="6126480" cy="3134975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latin typeface="+mj-lt"/>
                <a:ea typeface="Cambria Math" panose="02040503050406030204" pitchFamily="18" charset="0"/>
              </a:rPr>
              <a:t>Concrete system</a:t>
            </a: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Substituting an automaton with its abstraction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3842779" y="2516816"/>
            <a:ext cx="1789926" cy="1824367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32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6560579" y="2516816"/>
            <a:ext cx="1901250" cy="1824367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5632705" y="3197721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5632705" y="3856089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56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3032760" y="1711344"/>
            <a:ext cx="6126480" cy="3134975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latin typeface="+mj-lt"/>
                <a:ea typeface="Cambria Math" panose="02040503050406030204" pitchFamily="18" charset="0"/>
              </a:rPr>
              <a:t>Abstract system</a:t>
            </a: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Substituting an automaton with its abstraction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3842779" y="2516816"/>
            <a:ext cx="1789926" cy="1824367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32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6560578" y="4986147"/>
            <a:ext cx="1857707" cy="1824367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5632705" y="3197721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5632705" y="3856089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C97F79F-546C-554C-A12E-9C274C5324C0}"/>
              </a:ext>
            </a:extLst>
          </p:cNvPr>
          <p:cNvSpPr/>
          <p:nvPr/>
        </p:nvSpPr>
        <p:spPr>
          <a:xfrm>
            <a:off x="6560579" y="2516816"/>
            <a:ext cx="1944792" cy="1824367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</p:spTree>
    <p:extLst>
      <p:ext uri="{BB962C8B-B14F-4D97-AF65-F5344CB8AC3E}">
        <p14:creationId xmlns:p14="http://schemas.microsoft.com/office/powerpoint/2010/main" val="69726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How is the abstract system related to the concrete system?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3958318" y="1795985"/>
            <a:ext cx="1245235" cy="1269195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BBDFA7-4D6B-3848-8B00-D40C4A02788A}"/>
              </a:ext>
            </a:extLst>
          </p:cNvPr>
          <p:cNvGrpSpPr/>
          <p:nvPr/>
        </p:nvGrpSpPr>
        <p:grpSpPr>
          <a:xfrm>
            <a:off x="6629400" y="4290577"/>
            <a:ext cx="3356705" cy="1717656"/>
            <a:chOff x="3032761" y="1711344"/>
            <a:chExt cx="6126479" cy="313497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983B053-D422-6149-919F-16C204A17455}"/>
                </a:ext>
              </a:extLst>
            </p:cNvPr>
            <p:cNvSpPr/>
            <p:nvPr/>
          </p:nvSpPr>
          <p:spPr>
            <a:xfrm>
              <a:off x="3032761" y="1711344"/>
              <a:ext cx="6126479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+mj-lt"/>
                  <a:ea typeface="Cambria Math" panose="02040503050406030204" pitchFamily="18" charset="0"/>
                </a:rPr>
                <a:t>Abstract system</a:t>
              </a: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0FE79D2-5C9D-6844-A124-02C0263D24B2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b="1" i="1" dirty="0">
                <a:latin typeface="+mj-lt"/>
                <a:ea typeface="Cambria Math" panose="02040503050406030204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14F3BA-0FCB-2443-BA9B-5BC81C46E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AE2ECA7-A386-5542-B1A6-42C706D93D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C97F79F-546C-554C-A12E-9C274C5324C0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i="1" dirty="0">
                  <a:latin typeface="+mj-lt"/>
                  <a:ea typeface="Cambria Math" panose="02040503050406030204" pitchFamily="18" charset="0"/>
                </a:rPr>
                <a:t>Abstract Controller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F3C945-4FE1-084C-8708-CDDBC23239A3}"/>
              </a:ext>
            </a:extLst>
          </p:cNvPr>
          <p:cNvGrpSpPr/>
          <p:nvPr/>
        </p:nvGrpSpPr>
        <p:grpSpPr>
          <a:xfrm>
            <a:off x="2116862" y="4299491"/>
            <a:ext cx="3356705" cy="1717656"/>
            <a:chOff x="3032760" y="1711344"/>
            <a:chExt cx="6126480" cy="313497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563559E-9A01-2F4D-8B5E-AACDE30810B6}"/>
                </a:ext>
              </a:extLst>
            </p:cNvPr>
            <p:cNvSpPr/>
            <p:nvPr/>
          </p:nvSpPr>
          <p:spPr>
            <a:xfrm>
              <a:off x="3032760" y="1711344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atin typeface="+mj-lt"/>
                  <a:ea typeface="Cambria Math" panose="02040503050406030204" pitchFamily="18" charset="0"/>
                </a:rPr>
                <a:t>Concrete system</a:t>
              </a: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1F0B60A-59AB-8E46-A180-2D2D6F5340D4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2000" b="1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B4E58A8-138B-8B4C-8428-CD89805CFC02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latin typeface="+mj-lt"/>
                  <a:ea typeface="Cambria Math" panose="02040503050406030204" pitchFamily="18" charset="0"/>
                </a:rPr>
                <a:t>Controller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B24B4F-3F16-E042-B487-96E1E3023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B35953-9547-C845-B694-C5B3A52289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F5225A-F17B-654C-BC45-0C80427E88D2}"/>
              </a:ext>
            </a:extLst>
          </p:cNvPr>
          <p:cNvSpPr/>
          <p:nvPr/>
        </p:nvSpPr>
        <p:spPr>
          <a:xfrm>
            <a:off x="6930926" y="1708595"/>
            <a:ext cx="1245235" cy="1269195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/>
              <p:nvPr/>
            </p:nvSpPr>
            <p:spPr>
              <a:xfrm>
                <a:off x="5778942" y="198924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942" y="1989249"/>
                <a:ext cx="676788" cy="707886"/>
              </a:xfrm>
              <a:prstGeom prst="rect">
                <a:avLst/>
              </a:prstGeom>
              <a:blipFill>
                <a:blip r:embed="rId2"/>
                <a:stretch>
                  <a:fillRect l="-3704" r="-3704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/>
              <p:nvPr/>
            </p:nvSpPr>
            <p:spPr>
              <a:xfrm>
                <a:off x="5713089" y="475779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089" y="4757799"/>
                <a:ext cx="676788" cy="707886"/>
              </a:xfrm>
              <a:prstGeom prst="rect">
                <a:avLst/>
              </a:prstGeom>
              <a:blipFill>
                <a:blip r:embed="rId3"/>
                <a:stretch>
                  <a:fillRect l="-3704" r="-3704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E8A3672-0779-684F-9F4F-E9905CC26D0A}"/>
              </a:ext>
            </a:extLst>
          </p:cNvPr>
          <p:cNvSpPr txBox="1"/>
          <p:nvPr/>
        </p:nvSpPr>
        <p:spPr>
          <a:xfrm>
            <a:off x="1718607" y="2045861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3CF35-15E3-6643-822A-3CAA33554F9C}"/>
              </a:ext>
            </a:extLst>
          </p:cNvPr>
          <p:cNvSpPr txBox="1"/>
          <p:nvPr/>
        </p:nvSpPr>
        <p:spPr>
          <a:xfrm>
            <a:off x="5451128" y="3162005"/>
            <a:ext cx="1446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imply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EA4963-0D6B-4D4F-834A-221A0991D3D7}"/>
              </a:ext>
            </a:extLst>
          </p:cNvPr>
          <p:cNvSpPr txBox="1"/>
          <p:nvPr/>
        </p:nvSpPr>
        <p:spPr>
          <a:xfrm>
            <a:off x="10225628" y="4721441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98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IO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4702" y="1457367"/>
                <a:ext cx="7373674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Recall a hybrid automaton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will partition the set of variables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 into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internal or state variables</a:t>
                </a:r>
                <a:r>
                  <a:rPr lang="en-US" sz="2000" dirty="0"/>
                  <a:t> (do not interact)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output</a:t>
                </a:r>
                <a:r>
                  <a:rPr lang="en-US" sz="2000" dirty="0"/>
                  <a:t> variables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input</a:t>
                </a:r>
                <a:r>
                  <a:rPr lang="en-US" sz="2000" dirty="0"/>
                  <a:t>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This gives rise to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hybrid I/O automata (HIOA)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[Lynch, </a:t>
                </a:r>
                <a:r>
                  <a:rPr lang="en-US" sz="2000" b="1" dirty="0" err="1"/>
                  <a:t>Segala</a:t>
                </a:r>
                <a:r>
                  <a:rPr lang="en-US" sz="2000" b="1" dirty="0"/>
                  <a:t>, </a:t>
                </a:r>
                <a:r>
                  <a:rPr lang="en-US" sz="2000" b="1" dirty="0" err="1"/>
                  <a:t>Vaandrager</a:t>
                </a:r>
                <a:r>
                  <a:rPr lang="en-US" sz="2000" b="1" dirty="0"/>
                  <a:t> 2002]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We define composition of compatible HA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  <a:p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702" y="1457367"/>
                <a:ext cx="7373674" cy="4525963"/>
              </a:xfrm>
              <a:blipFill>
                <a:blip r:embed="rId2"/>
                <a:stretch>
                  <a:fillRect l="-687" t="-1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135676" y="1854200"/>
                <a:ext cx="2209800" cy="1828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Plant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76" y="1854200"/>
                <a:ext cx="2209800" cy="182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135676" y="4089681"/>
                <a:ext cx="2209800" cy="13760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Controller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76" y="4089681"/>
                <a:ext cx="2209800" cy="1376081"/>
              </a:xfrm>
              <a:prstGeom prst="rect">
                <a:avLst/>
              </a:prstGeom>
              <a:blipFill>
                <a:blip r:embed="rId4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lbow Connector 6"/>
          <p:cNvCxnSpPr>
            <a:cxnSpLocks/>
            <a:stCxn id="5" idx="1"/>
            <a:endCxn id="4" idx="1"/>
          </p:cNvCxnSpPr>
          <p:nvPr/>
        </p:nvCxnSpPr>
        <p:spPr>
          <a:xfrm rot="10800000">
            <a:off x="8135676" y="2768602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cxnSpLocks/>
            <a:stCxn id="4" idx="3"/>
            <a:endCxn id="5" idx="3"/>
          </p:cNvCxnSpPr>
          <p:nvPr/>
        </p:nvCxnSpPr>
        <p:spPr>
          <a:xfrm>
            <a:off x="10345476" y="2768601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562375" y="3720349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375" y="3720349"/>
                <a:ext cx="462434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463577" y="3683000"/>
                <a:ext cx="4677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77" y="3683000"/>
                <a:ext cx="467757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8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Composition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parallel </a:t>
                </a:r>
                <a:r>
                  <a:rPr lang="en-US" b="1" dirty="0">
                    <a:solidFill>
                      <a:srgbClr val="00B0F0"/>
                    </a:solidFill>
                  </a:rPr>
                  <a:t>composition</a:t>
                </a:r>
                <a:r>
                  <a:rPr lang="en-US" dirty="0"/>
                  <a:t> operation on automata enable us to construct larger and more complex models from simpler automata modules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</a:t>
                </a:r>
                <a:r>
                  <a:rPr lang="en-US" b="1" dirty="0">
                    <a:solidFill>
                      <a:srgbClr val="00B0F0"/>
                    </a:solidFill>
                  </a:rPr>
                  <a:t>compatible</a:t>
                </a:r>
                <a:r>
                  <a:rPr lang="en-US" dirty="0"/>
                  <a:t> if X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∩ X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= H</a:t>
                </a:r>
                <a:r>
                  <a:rPr lang="en-US" baseline="-25000" dirty="0">
                    <a:latin typeface="Cambria Math"/>
                    <a:ea typeface="Cambria Math"/>
                  </a:rPr>
                  <a:t>1</a:t>
                </a:r>
                <a:r>
                  <a:rPr lang="en-US" dirty="0">
                    <a:latin typeface="Cambria Math"/>
                    <a:ea typeface="Cambria Math"/>
                  </a:rPr>
                  <a:t> ∩ A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= H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∩ A</a:t>
                </a:r>
                <a:r>
                  <a:rPr lang="en-US" baseline="-25000" dirty="0">
                    <a:latin typeface="Cambria Math"/>
                    <a:ea typeface="Cambria Math"/>
                  </a:rPr>
                  <a:t>1</a:t>
                </a:r>
                <a:r>
                  <a:rPr lang="en-US" dirty="0">
                    <a:latin typeface="Cambria Math"/>
                    <a:ea typeface="Cambria Math"/>
                  </a:rPr>
                  <a:t> = ∅</a:t>
                </a:r>
              </a:p>
              <a:p>
                <a:pPr marL="0" indent="0">
                  <a:buNone/>
                </a:pPr>
                <a:endParaRPr lang="en-US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j-lt"/>
                    <a:ea typeface="Cambria Math"/>
                  </a:rPr>
                  <a:t>Variable names are disjoint; Action names of one are disjoint with the internal action names of the other</a:t>
                </a: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9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6100" y="1600200"/>
                <a:ext cx="11125200" cy="49530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ea typeface="Cambria Math"/>
                  </a:rPr>
                  <a:t>For compatible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𝑈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 ,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i="1" dirty="0">
                  <a:solidFill>
                    <a:srgbClr val="00B0F0"/>
                  </a:solidFill>
                  <a:latin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𝑣𝑎𝑙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:r>
                  <a:rPr lang="en-US" i="1" dirty="0" err="1">
                    <a:ea typeface="Cambria Math"/>
                  </a:rPr>
                  <a:t>iff</a:t>
                </a:r>
                <a:r>
                  <a:rPr lang="en-US" i="1" dirty="0">
                    <a:ea typeface="Cambria Math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∈{1,2}</m:t>
                    </m:r>
                  </m:oMath>
                </a14:m>
                <a:endParaRPr lang="en-US" i="1" dirty="0"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</m:oMath>
                </a14:m>
                <a:endParaRPr lang="en-US" b="0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rgbClr val="00B0F0"/>
                    </a:solidFill>
                  </a:rPr>
                  <a:t>: </a:t>
                </a:r>
                <a:r>
                  <a:rPr lang="en-US" dirty="0">
                    <a:solidFill>
                      <a:srgbClr val="00B0F0"/>
                    </a:solidFill>
                  </a:rPr>
                  <a:t>set of </a:t>
                </a:r>
                <a:r>
                  <a:rPr lang="en-US" b="1" dirty="0">
                    <a:solidFill>
                      <a:srgbClr val="00B0F0"/>
                    </a:solidFill>
                  </a:rPr>
                  <a:t>trajectories</a:t>
                </a:r>
                <a:r>
                  <a:rPr lang="en-US" dirty="0">
                    <a:solidFill>
                      <a:srgbClr val="00B0F0"/>
                    </a:solidFill>
                  </a:rPr>
                  <a:t> for V</a:t>
                </a:r>
                <a:r>
                  <a:rPr lang="en-US" i="1" dirty="0">
                    <a:solidFill>
                      <a:srgbClr val="00B0F0"/>
                    </a:solidFill>
                  </a:rPr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𝜏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iff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baseline="-25000" dirty="0" err="1">
                    <a:solidFill>
                      <a:srgbClr val="00B0F0"/>
                    </a:solidFill>
                  </a:rPr>
                  <a:t>i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100" y="1600200"/>
                <a:ext cx="11125200" cy="4953000"/>
              </a:xfrm>
              <a:blipFill>
                <a:blip r:embed="rId3"/>
                <a:stretch>
                  <a:fillRect l="-570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75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/>
              <p:nvPr/>
            </p:nvSpPr>
            <p:spPr>
              <a:xfrm>
                <a:off x="4923693" y="248134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693" y="248134"/>
                <a:ext cx="2675975" cy="1672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E8BEDB-0F03-384B-B08E-903EC5925AB7}"/>
              </a:ext>
            </a:extLst>
          </p:cNvPr>
          <p:cNvSpPr/>
          <p:nvPr/>
        </p:nvSpPr>
        <p:spPr>
          <a:xfrm>
            <a:off x="2215146" y="2092877"/>
            <a:ext cx="2675975" cy="2727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D705BC-758F-9C48-A1ED-E5E298551D1D}"/>
              </a:ext>
            </a:extLst>
          </p:cNvPr>
          <p:cNvGrpSpPr/>
          <p:nvPr/>
        </p:nvGrpSpPr>
        <p:grpSpPr>
          <a:xfrm>
            <a:off x="2835480" y="2232503"/>
            <a:ext cx="1563324" cy="2462698"/>
            <a:chOff x="6830202" y="3738770"/>
            <a:chExt cx="533401" cy="3086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/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72FAB1-241F-364D-AC98-4095B549C7D3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CB81BA-A3CF-DE4C-807B-15985D9482D8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321B22-7B47-644E-AC72-41F83A8D6E7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829CB8-ED48-3446-BA38-6701245A10A0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7F51A193-355B-E34B-8FEC-FEFE57717997}"/>
                </a:ext>
              </a:extLst>
            </p:cNvPr>
            <p:cNvCxnSpPr>
              <a:cxnSpLocks/>
              <a:stCxn id="7" idx="2"/>
              <a:endCxn id="9" idx="2"/>
            </p:cNvCxnSpPr>
            <p:nvPr/>
          </p:nvCxnSpPr>
          <p:spPr>
            <a:xfrm rot="10800000" flipV="1">
              <a:off x="6830203" y="4005470"/>
              <a:ext cx="12700" cy="2552700"/>
            </a:xfrm>
            <a:prstGeom prst="curvedConnector3">
              <a:avLst>
                <a:gd name="adj1" fmla="val 993358"/>
              </a:avLst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/>
              <p:nvPr/>
            </p:nvSpPr>
            <p:spPr>
              <a:xfrm>
                <a:off x="7654751" y="2620308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751" y="2620308"/>
                <a:ext cx="2675975" cy="16726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/>
              <p:nvPr/>
            </p:nvSpPr>
            <p:spPr>
              <a:xfrm>
                <a:off x="5046246" y="4992483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46" y="4992483"/>
                <a:ext cx="2675975" cy="16726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94F59A-86CA-6648-A147-FD98ED57717F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4891120" y="1920737"/>
            <a:ext cx="1370560" cy="153587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CD5961-3CFF-0849-A0E2-AEFA35CC7C7D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891120" y="3456609"/>
            <a:ext cx="276363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F44230-9FA0-9441-8860-54BF87FEEF94}"/>
              </a:ext>
            </a:extLst>
          </p:cNvPr>
          <p:cNvCxnSpPr>
            <a:cxnSpLocks/>
            <a:stCxn id="5" idx="3"/>
            <a:endCxn id="22" idx="0"/>
          </p:cNvCxnSpPr>
          <p:nvPr/>
        </p:nvCxnSpPr>
        <p:spPr>
          <a:xfrm>
            <a:off x="4891121" y="3456609"/>
            <a:ext cx="1493113" cy="153587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73E200A-F1F6-7340-BE4A-13BD514A2957}"/>
              </a:ext>
            </a:extLst>
          </p:cNvPr>
          <p:cNvSpPr txBox="1"/>
          <p:nvPr/>
        </p:nvSpPr>
        <p:spPr>
          <a:xfrm>
            <a:off x="3243322" y="27559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72C4DD-FAFA-8244-A2C0-E0B7C3873169}"/>
              </a:ext>
            </a:extLst>
          </p:cNvPr>
          <p:cNvSpPr txBox="1"/>
          <p:nvPr/>
        </p:nvSpPr>
        <p:spPr>
          <a:xfrm>
            <a:off x="5742843" y="2424962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DA1BB6-CFAE-FF44-945D-2DA2784DC840}"/>
              </a:ext>
            </a:extLst>
          </p:cNvPr>
          <p:cNvSpPr txBox="1"/>
          <p:nvPr/>
        </p:nvSpPr>
        <p:spPr>
          <a:xfrm>
            <a:off x="6219603" y="303205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0FE23-A8C1-774E-B0BE-519E1096E1B5}"/>
              </a:ext>
            </a:extLst>
          </p:cNvPr>
          <p:cNvSpPr txBox="1"/>
          <p:nvPr/>
        </p:nvSpPr>
        <p:spPr>
          <a:xfrm>
            <a:off x="5330873" y="42245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E4628C-7610-C14E-A5BC-C393E9D85DD5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flipH="1">
            <a:off x="3553134" y="1084436"/>
            <a:ext cx="1370559" cy="100844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56053A8-0518-A24E-AD97-83AF19F131CF}"/>
              </a:ext>
            </a:extLst>
          </p:cNvPr>
          <p:cNvSpPr txBox="1"/>
          <p:nvPr/>
        </p:nvSpPr>
        <p:spPr>
          <a:xfrm>
            <a:off x="3745934" y="134474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1CFDBD3-E253-174A-B01A-22B02C859D4E}"/>
              </a:ext>
            </a:extLst>
          </p:cNvPr>
          <p:cNvCxnSpPr>
            <a:cxnSpLocks/>
            <a:stCxn id="4" idx="1"/>
            <a:endCxn id="22" idx="0"/>
          </p:cNvCxnSpPr>
          <p:nvPr/>
        </p:nvCxnSpPr>
        <p:spPr>
          <a:xfrm>
            <a:off x="4923693" y="1084435"/>
            <a:ext cx="1460541" cy="390804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776CBB-6CAC-D841-B64B-D836C7C08386}"/>
              </a:ext>
            </a:extLst>
          </p:cNvPr>
          <p:cNvGrpSpPr/>
          <p:nvPr/>
        </p:nvGrpSpPr>
        <p:grpSpPr>
          <a:xfrm>
            <a:off x="8876691" y="2711907"/>
            <a:ext cx="910424" cy="1434187"/>
            <a:chOff x="6830202" y="3738770"/>
            <a:chExt cx="533401" cy="3086099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224079-A866-6A42-A0D8-B1764C88A816}"/>
                </a:ext>
              </a:extLst>
            </p:cNvPr>
            <p:cNvSpPr/>
            <p:nvPr/>
          </p:nvSpPr>
          <p:spPr>
            <a:xfrm>
              <a:off x="6830203" y="373877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0C9F593-4129-754F-AED0-8F3120BA57C7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23D888D-1FBC-0043-8B50-BD767B73B56A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425DB77-DD16-B14A-B9AA-F1CCB9ABA58B}"/>
                </a:ext>
              </a:extLst>
            </p:cNvPr>
            <p:cNvCxnSpPr>
              <a:stCxn id="55" idx="4"/>
              <a:endCxn id="56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70640EB-220F-6441-8AB2-663C536E596D}"/>
                </a:ext>
              </a:extLst>
            </p:cNvPr>
            <p:cNvCxnSpPr>
              <a:cxnSpLocks/>
              <a:stCxn id="56" idx="4"/>
              <a:endCxn id="57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30BF66E-A2EC-A14D-8158-2692C9A571BC}"/>
              </a:ext>
            </a:extLst>
          </p:cNvPr>
          <p:cNvSpPr txBox="1"/>
          <p:nvPr/>
        </p:nvSpPr>
        <p:spPr>
          <a:xfrm>
            <a:off x="5355332" y="200253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9FCD25F-E334-E346-B8D2-9727709E8181}"/>
              </a:ext>
            </a:extLst>
          </p:cNvPr>
          <p:cNvSpPr/>
          <p:nvPr/>
        </p:nvSpPr>
        <p:spPr>
          <a:xfrm>
            <a:off x="4830736" y="997941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0B113F0-2927-F042-90D6-B67A5AFC0EAD}"/>
              </a:ext>
            </a:extLst>
          </p:cNvPr>
          <p:cNvSpPr/>
          <p:nvPr/>
        </p:nvSpPr>
        <p:spPr>
          <a:xfrm>
            <a:off x="4810517" y="3370896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7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a Simple Failure Detector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Periodic send</a:t>
            </a:r>
          </a:p>
          <a:p>
            <a:r>
              <a:rPr lang="en-US" dirty="0"/>
              <a:t>Channel</a:t>
            </a:r>
          </a:p>
          <a:p>
            <a:r>
              <a:rPr lang="en-US" dirty="0"/>
              <a:t>Timeout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91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6434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78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Failure Detector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5638800" y="4136070"/>
            <a:ext cx="1047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8096134" y="4136070"/>
            <a:ext cx="971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 flipV="1">
            <a:off x="49339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</p:cNvCxnSpPr>
          <p:nvPr/>
        </p:nvCxnSpPr>
        <p:spPr>
          <a:xfrm>
            <a:off x="97726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36435" y="3729951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Send(m)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4779" y="3766738"/>
            <a:ext cx="904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recv</a:t>
            </a:r>
            <a:r>
              <a:rPr lang="en-US" dirty="0"/>
              <a:t>(m)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7502" y="4900918"/>
            <a:ext cx="46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4828" y="4962602"/>
            <a:ext cx="78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detect</a:t>
            </a:r>
          </a:p>
        </p:txBody>
      </p:sp>
    </p:spTree>
    <p:extLst>
      <p:ext uri="{BB962C8B-B14F-4D97-AF65-F5344CB8AC3E}">
        <p14:creationId xmlns:p14="http://schemas.microsoft.com/office/powerpoint/2010/main" val="3079893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085" y="1600201"/>
                <a:ext cx="10958285" cy="497477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Cambria Math"/>
                  </a:rPr>
                  <a:t>For compatible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𝑄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𝐻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(disjoint union)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𝑄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𝑣𝑎𝑙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𝑄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𝑋𝑖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i="1" dirty="0"/>
                  <a:t>H = H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:r>
                  <a:rPr lang="en-US" i="1" dirty="0">
                    <a:latin typeface="Cambria Math"/>
                    <a:ea typeface="Cambria Math"/>
                  </a:rPr>
                  <a:t>∪ H</a:t>
                </a:r>
                <a:r>
                  <a:rPr lang="en-US" i="1" baseline="-25000" dirty="0">
                    <a:latin typeface="Cambria Math"/>
                    <a:ea typeface="Cambria Math"/>
                  </a:rPr>
                  <a:t>2</a:t>
                </a:r>
                <a:r>
                  <a:rPr lang="en-US" i="1" dirty="0">
                    <a:latin typeface="Cambria Math"/>
                    <a:ea typeface="Cambria Math"/>
                  </a:rPr>
                  <a:t> (disjoint union) </a:t>
                </a:r>
              </a:p>
              <a:p>
                <a:r>
                  <a:rPr lang="en-US" i="1" dirty="0">
                    <a:latin typeface="Cambria Math"/>
                    <a:ea typeface="Cambria Math"/>
                  </a:rPr>
                  <a:t>E = </a:t>
                </a:r>
                <a:r>
                  <a:rPr lang="en-US" i="1" dirty="0"/>
                  <a:t>E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:r>
                  <a:rPr lang="en-US" i="1" dirty="0">
                    <a:latin typeface="Cambria Math"/>
                    <a:ea typeface="Cambria Math"/>
                  </a:rPr>
                  <a:t>∪ E</a:t>
                </a:r>
                <a:r>
                  <a:rPr lang="en-US" i="1" baseline="-25000" dirty="0">
                    <a:latin typeface="Cambria Math"/>
                    <a:ea typeface="Cambria Math"/>
                  </a:rPr>
                  <a:t>2  </a:t>
                </a:r>
                <a:r>
                  <a:rPr lang="en-US" i="1" dirty="0">
                    <a:latin typeface="Cambria Math"/>
                    <a:ea typeface="Cambria Math"/>
                  </a:rPr>
                  <a:t>and  </a:t>
                </a:r>
                <a:r>
                  <a:rPr lang="en-US" dirty="0"/>
                  <a:t>A= E </a:t>
                </a:r>
                <a:r>
                  <a:rPr lang="en-US" dirty="0">
                    <a:latin typeface="Cambria Math"/>
                    <a:ea typeface="Cambria Math"/>
                  </a:rPr>
                  <a:t>∪ H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iff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1</a:t>
                </a:r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i="1" baseline="-2500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2</a:t>
                </a:r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i="1" baseline="-25000" dirty="0">
                  <a:ea typeface="Cambria Math"/>
                </a:endParaRPr>
              </a:p>
              <a:p>
                <a:pPr lvl="1"/>
                <a:r>
                  <a:rPr lang="en-US" i="1" dirty="0">
                    <a:ea typeface="Cambria Math"/>
                  </a:rPr>
                  <a:t>Else,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1</a:t>
                </a:r>
                <a:r>
                  <a:rPr lang="en-US" i="1" dirty="0">
                    <a:ea typeface="Cambria Math"/>
                  </a:rPr>
                  <a:t> 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2</a:t>
                </a:r>
                <a:r>
                  <a:rPr lang="en-US" i="1" dirty="0">
                    <a:ea typeface="Cambria Math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set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trajectories</a:t>
                </a:r>
                <a:r>
                  <a:rPr lang="en-US" dirty="0"/>
                  <a:t> for X</a:t>
                </a:r>
                <a:r>
                  <a:rPr lang="en-US" i="1" dirty="0"/>
                  <a:t> </a:t>
                </a:r>
              </a:p>
              <a:p>
                <a:pPr lvl="1"/>
                <a:r>
                  <a:rPr lang="en-US" i="1" dirty="0">
                    <a:latin typeface="Cambria Math"/>
                    <a:ea typeface="Cambria Math"/>
                  </a:rPr>
                  <a:t>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iff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i="1" dirty="0">
                    <a:latin typeface="Cambria Math"/>
                    <a:ea typeface="Cambria Math"/>
                  </a:rPr>
                  <a:t>,  𝜏.Xi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baseline="-25000" dirty="0" err="1"/>
                  <a:t>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rgbClr val="00B050"/>
                    </a:solidFill>
                    <a:latin typeface="Cambria Math"/>
                    <a:ea typeface="Cambria Math"/>
                  </a:rPr>
                  <a:t>Theorem .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is also a hybrid automaton.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085" y="1600201"/>
                <a:ext cx="10958285" cy="4974770"/>
              </a:xfrm>
              <a:blipFill>
                <a:blip r:embed="rId3"/>
                <a:stretch>
                  <a:fillRect l="-695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3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Send || </a:t>
            </a:r>
            <a:r>
              <a:rPr lang="en-US" dirty="0" err="1"/>
              <a:t>TimedChannel</a:t>
            </a:r>
            <a:endParaRPr lang="en-US" dirty="0"/>
          </a:p>
        </p:txBody>
      </p:sp>
      <p:sp>
        <p:nvSpPr>
          <p:cNvPr id="7" name="Content Placeholder 10"/>
          <p:cNvSpPr>
            <a:spLocks noGrp="1"/>
          </p:cNvSpPr>
          <p:nvPr>
            <p:ph sz="half" idx="1"/>
          </p:nvPr>
        </p:nvSpPr>
        <p:spPr>
          <a:xfrm>
            <a:off x="6067097" y="1600201"/>
            <a:ext cx="4524703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 err="1"/>
              <a:t>PeriodicSend</a:t>
            </a:r>
            <a:r>
              <a:rPr lang="en-US" sz="1800" dirty="0"/>
              <a:t>(u, M)</a:t>
            </a:r>
          </a:p>
          <a:p>
            <a:pPr marL="0" indent="0">
              <a:buNone/>
            </a:pPr>
            <a:r>
              <a:rPr lang="en-US" sz="1800" b="1" dirty="0"/>
              <a:t>	variables: internal </a:t>
            </a:r>
            <a:r>
              <a:rPr lang="en-US" sz="1800" dirty="0">
                <a:solidFill>
                  <a:srgbClr val="7030A0"/>
                </a:solidFill>
              </a:rPr>
              <a:t>clock: Reals := 0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	actions: external </a:t>
            </a:r>
            <a:r>
              <a:rPr lang="en-US" sz="1800" dirty="0"/>
              <a:t>send(</a:t>
            </a:r>
            <a:r>
              <a:rPr lang="en-US" sz="1800" dirty="0" err="1"/>
              <a:t>m:M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b="1" dirty="0"/>
              <a:t>	transitions:</a:t>
            </a:r>
          </a:p>
          <a:p>
            <a:pPr marL="0" indent="0">
              <a:buNone/>
            </a:pPr>
            <a:r>
              <a:rPr lang="en-US" sz="1800" b="1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sz="1800" b="1" dirty="0"/>
              <a:t>		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clock = u</a:t>
            </a:r>
          </a:p>
          <a:p>
            <a:pPr marL="0" indent="0">
              <a:buNone/>
            </a:pPr>
            <a:r>
              <a:rPr lang="en-US" sz="1800" b="1" dirty="0"/>
              <a:t>		</a:t>
            </a:r>
            <a:r>
              <a:rPr lang="en-US" sz="1800" b="1" dirty="0" err="1"/>
              <a:t>eff</a:t>
            </a:r>
            <a:r>
              <a:rPr lang="en-US" sz="1800" b="1" dirty="0"/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clock := 0</a:t>
            </a:r>
          </a:p>
          <a:p>
            <a:pPr marL="0" indent="0">
              <a:buNone/>
            </a:pPr>
            <a:r>
              <a:rPr lang="en-US" sz="1800" b="1" dirty="0"/>
              <a:t>	trajectories:</a:t>
            </a:r>
          </a:p>
          <a:p>
            <a:pPr marL="0" indent="0">
              <a:buNone/>
            </a:pPr>
            <a:r>
              <a:rPr lang="en-US" sz="1800" b="1" dirty="0"/>
              <a:t>		evolve </a:t>
            </a:r>
            <a:r>
              <a:rPr lang="en-US" sz="1800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sz="1800" b="1" dirty="0"/>
              <a:t>		stop when </a:t>
            </a:r>
            <a:r>
              <a:rPr lang="en-US" sz="1800" dirty="0">
                <a:solidFill>
                  <a:srgbClr val="F62AF6"/>
                </a:solidFill>
              </a:rPr>
              <a:t>clock=u</a:t>
            </a:r>
            <a:endParaRPr lang="en-US" sz="1800" b="1" dirty="0">
              <a:solidFill>
                <a:srgbClr val="F62AF6"/>
              </a:solidFill>
            </a:endParaRPr>
          </a:p>
        </p:txBody>
      </p:sp>
      <p:sp>
        <p:nvSpPr>
          <p:cNvPr id="9" name="Content Placeholder 4"/>
          <p:cNvSpPr>
            <a:spLocks noGrp="1"/>
          </p:cNvSpPr>
          <p:nvPr>
            <p:ph sz="half" idx="2"/>
          </p:nvPr>
        </p:nvSpPr>
        <p:spPr>
          <a:xfrm>
            <a:off x="1518745" y="1524000"/>
            <a:ext cx="52578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Channel(</a:t>
            </a:r>
            <a:r>
              <a:rPr lang="en-US" dirty="0" err="1"/>
              <a:t>b,M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>
                <a:solidFill>
                  <a:srgbClr val="7030A0"/>
                </a:solidFill>
              </a:rPr>
              <a:t>clock1: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clock1+b&gt;, queue)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d(clock1)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	</a:t>
            </a:r>
            <a:r>
              <a:rPr lang="en-US" dirty="0">
                <a:solidFill>
                  <a:srgbClr val="F62AF6"/>
                </a:solidFill>
              </a:rPr>
              <a:t>/\  clock=d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66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Automaton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905000" y="1524000"/>
            <a:ext cx="70866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SC(</a:t>
            </a:r>
            <a:r>
              <a:rPr lang="en-US" dirty="0" err="1"/>
              <a:t>b,u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 err="1">
                <a:solidFill>
                  <a:srgbClr val="7030A0"/>
                </a:solidFill>
              </a:rPr>
              <a:t>clock_s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clock_c</a:t>
            </a:r>
            <a:r>
              <a:rPr lang="en-US" dirty="0">
                <a:solidFill>
                  <a:srgbClr val="7030A0"/>
                </a:solidFill>
              </a:rPr>
              <a:t>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clock_s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u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clock_c+b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&gt;, queue);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clock_s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:= 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</a:t>
            </a:r>
            <a:r>
              <a:rPr lang="en-US" dirty="0" err="1">
                <a:solidFill>
                  <a:srgbClr val="00B050"/>
                </a:solidFill>
              </a:rPr>
              <a:t>clock_c</a:t>
            </a:r>
            <a:r>
              <a:rPr lang="en-US" dirty="0">
                <a:solidFill>
                  <a:srgbClr val="00B050"/>
                </a:solidFill>
              </a:rPr>
              <a:t>) = 1; d(</a:t>
            </a:r>
            <a:r>
              <a:rPr lang="en-US" dirty="0" err="1">
                <a:solidFill>
                  <a:srgbClr val="00B050"/>
                </a:solidFill>
              </a:rPr>
              <a:t>clock_s</a:t>
            </a:r>
            <a:r>
              <a:rPr lang="en-US" dirty="0">
                <a:solidFill>
                  <a:srgbClr val="00B050"/>
                </a:solidFill>
              </a:rPr>
              <a:t>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rgbClr val="F62AF6"/>
                </a:solidFill>
              </a:rPr>
              <a:t>(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  <a:r>
              <a:rPr lang="en-US" dirty="0">
                <a:solidFill>
                  <a:srgbClr val="F62AF6"/>
                </a:solidFill>
              </a:rPr>
              <a:t>/\  </a:t>
            </a:r>
            <a:r>
              <a:rPr lang="en-US" dirty="0" err="1">
                <a:solidFill>
                  <a:srgbClr val="F62AF6"/>
                </a:solidFill>
              </a:rPr>
              <a:t>clock_c</a:t>
            </a:r>
            <a:r>
              <a:rPr lang="en-US" dirty="0">
                <a:solidFill>
                  <a:srgbClr val="F62AF6"/>
                </a:solidFill>
              </a:rPr>
              <a:t>=d)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</a:rPr>
              <a:t>	\/ (</a:t>
            </a:r>
            <a:r>
              <a:rPr lang="en-US" dirty="0" err="1">
                <a:solidFill>
                  <a:srgbClr val="F62AF6"/>
                </a:solidFill>
              </a:rPr>
              <a:t>clock_s</a:t>
            </a:r>
            <a:r>
              <a:rPr lang="en-US" dirty="0">
                <a:solidFill>
                  <a:srgbClr val="F62AF6"/>
                </a:solidFill>
              </a:rPr>
              <a:t>=u)</a:t>
            </a:r>
            <a:endParaRPr lang="en-US" b="1" dirty="0">
              <a:solidFill>
                <a:srgbClr val="F62AF6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a Simple Failure Detector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7400" y="1600201"/>
            <a:ext cx="6019800" cy="4525963"/>
          </a:xfrm>
        </p:spPr>
        <p:txBody>
          <a:bodyPr/>
          <a:lstStyle/>
          <a:p>
            <a:r>
              <a:rPr lang="en-US" dirty="0"/>
              <a:t>Periodic send || Channel</a:t>
            </a:r>
          </a:p>
          <a:p>
            <a:r>
              <a:rPr lang="en-US" dirty="0"/>
              <a:t>Periodic send || Channel || Timeout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91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6434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78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Failure Detector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5638800" y="4136070"/>
            <a:ext cx="1047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8096134" y="4136070"/>
            <a:ext cx="971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 flipV="1">
            <a:off x="49339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</p:cNvCxnSpPr>
          <p:nvPr/>
        </p:nvCxnSpPr>
        <p:spPr>
          <a:xfrm>
            <a:off x="97726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36435" y="3729951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Send(m)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4779" y="3766738"/>
            <a:ext cx="904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recv</a:t>
            </a:r>
            <a:r>
              <a:rPr lang="en-US" dirty="0"/>
              <a:t>(m)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7502" y="4900918"/>
            <a:ext cx="46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4828" y="4962602"/>
            <a:ext cx="78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detect</a:t>
            </a:r>
          </a:p>
        </p:txBody>
      </p:sp>
    </p:spTree>
    <p:extLst>
      <p:ext uri="{BB962C8B-B14F-4D97-AF65-F5344CB8AC3E}">
        <p14:creationId xmlns:p14="http://schemas.microsoft.com/office/powerpoint/2010/main" val="808031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57" y="234496"/>
            <a:ext cx="11237686" cy="839561"/>
          </a:xfrm>
        </p:spPr>
        <p:txBody>
          <a:bodyPr>
            <a:normAutofit/>
          </a:bodyPr>
          <a:lstStyle/>
          <a:p>
            <a:r>
              <a:rPr lang="en-US" dirty="0"/>
              <a:t>Time bounded channel &amp; Simple Failure Detector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0" y="1600200"/>
            <a:ext cx="6705600" cy="4953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Timeout(</a:t>
            </a:r>
            <a:r>
              <a:rPr lang="en-US" dirty="0" err="1"/>
              <a:t>u,M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  <a:r>
              <a:rPr lang="en-US" dirty="0"/>
              <a:t>suspected: Boolean := F,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	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receive(</a:t>
            </a:r>
            <a:r>
              <a:rPr lang="en-US" dirty="0" err="1"/>
              <a:t>m:M</a:t>
            </a:r>
            <a:r>
              <a:rPr lang="en-US" dirty="0"/>
              <a:t>), timeout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clock := 0; suspected := false;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timeout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~suspected /\ clock = u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suspected := true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clock = u /\ ~suspected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5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General composition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3581400" y="1828800"/>
            <a:ext cx="5105400" cy="1981200"/>
            <a:chOff x="2057400" y="2639351"/>
            <a:chExt cx="3867034" cy="1094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057400" y="2819400"/>
                  <a:ext cx="1409700" cy="9144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ea typeface="Cambria Math" charset="0"/>
                    <a:cs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𝑚𝑜𝑑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819400"/>
                  <a:ext cx="1409700" cy="91440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4514734" y="2819400"/>
                  <a:ext cx="1409700" cy="9144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ea typeface="Cambria Math" charset="0"/>
                    <a:cs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𝑚𝑜𝑑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4734" y="2819400"/>
                  <a:ext cx="1409700" cy="9144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/>
            <p:nvPr/>
          </p:nvCxnSpPr>
          <p:spPr>
            <a:xfrm>
              <a:off x="3467100" y="2874330"/>
              <a:ext cx="1047634" cy="0"/>
            </a:xfrm>
            <a:prstGeom prst="straightConnector1">
              <a:avLst/>
            </a:prstGeom>
            <a:ln w="317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3875035" y="2639351"/>
                  <a:ext cx="354346" cy="2040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5035" y="2639351"/>
                  <a:ext cx="354346" cy="2040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Straight Arrow Connector 12"/>
          <p:cNvCxnSpPr/>
          <p:nvPr/>
        </p:nvCxnSpPr>
        <p:spPr>
          <a:xfrm>
            <a:off x="5410201" y="2743200"/>
            <a:ext cx="1383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903329" y="2362200"/>
                <a:ext cx="6821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charset="0"/>
                        </a:rPr>
                        <m:t>𝑣𝑎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329" y="2362200"/>
                <a:ext cx="68211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5410200" y="3352800"/>
            <a:ext cx="1371600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007812" y="2971800"/>
                <a:ext cx="4731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812" y="2971800"/>
                <a:ext cx="4731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724401" y="1371600"/>
            <a:ext cx="11525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829142" y="1524000"/>
                <a:ext cx="4726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142" y="1524000"/>
                <a:ext cx="4726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7728431" y="1371600"/>
            <a:ext cx="11525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772400" y="1447800"/>
                <a:ext cx="895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1447800"/>
                <a:ext cx="895630" cy="369332"/>
              </a:xfrm>
              <a:prstGeom prst="rect">
                <a:avLst/>
              </a:prstGeom>
              <a:blipFill>
                <a:blip r:embed="rId8"/>
                <a:stretch>
                  <a:fillRect l="-140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257800" y="4572001"/>
                <a:ext cx="1861138" cy="165527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𝒜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||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𝒜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charset="0"/>
                  <a:cs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en-US" i="1" dirty="0">
                  <a:latin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𝑚𝑜𝑑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1,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r>
                        <a:rPr lang="en-US" i="1">
                          <a:latin typeface="Cambria Math" charset="0"/>
                        </a:rPr>
                        <m:t>𝑚𝑜𝑑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572001"/>
                <a:ext cx="1861138" cy="16552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9" idx="3"/>
          </p:cNvCxnSpPr>
          <p:nvPr/>
        </p:nvCxnSpPr>
        <p:spPr>
          <a:xfrm flipV="1">
            <a:off x="8686800" y="2971801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763000" y="2514600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2514600"/>
                <a:ext cx="467756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V="1">
            <a:off x="7162800" y="5171036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239001" y="4713835"/>
                <a:ext cx="998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𝑣𝑎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1" y="4713835"/>
                <a:ext cx="998863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4639937" y="5181601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886200" y="4648200"/>
                <a:ext cx="7995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648200"/>
                <a:ext cx="79957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7086600" y="5856836"/>
            <a:ext cx="609600" cy="10565"/>
          </a:xfrm>
          <a:prstGeom prst="straightConnector1">
            <a:avLst/>
          </a:prstGeom>
          <a:ln w="349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162800" y="5399635"/>
                <a:ext cx="789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5399635"/>
                <a:ext cx="78996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981170" y="5257800"/>
                <a:ext cx="895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70" y="5257800"/>
                <a:ext cx="895630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4648200" y="5791201"/>
            <a:ext cx="609600" cy="10565"/>
          </a:xfrm>
          <a:prstGeom prst="straightConnector1">
            <a:avLst/>
          </a:prstGeom>
          <a:ln w="349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61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/>
      <p:bldP spid="33" grpId="0"/>
      <p:bldP spid="35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bounded channel &amp; Simple Failure Detector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0" y="1600200"/>
            <a:ext cx="4495800" cy="4953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Timeout(</a:t>
            </a:r>
            <a:r>
              <a:rPr lang="en-US" dirty="0" err="1"/>
              <a:t>u,M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</a:t>
            </a:r>
            <a:r>
              <a:rPr lang="en-US" dirty="0"/>
              <a:t>suspected: Boolean := F,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	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receive(</a:t>
            </a:r>
            <a:r>
              <a:rPr lang="en-US" dirty="0" err="1"/>
              <a:t>m:M</a:t>
            </a:r>
            <a:r>
              <a:rPr lang="en-US" dirty="0"/>
              <a:t>), timeout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clock := 0; suspected := false;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timeout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~suspected /\ clock = u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suspected := true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clock = u /\ ~suspected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52578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Channel(</a:t>
            </a:r>
            <a:r>
              <a:rPr lang="en-US" dirty="0" err="1"/>
              <a:t>b,M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>
                <a:solidFill>
                  <a:srgbClr val="7030A0"/>
                </a:solidFill>
              </a:rPr>
              <a:t>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clock+b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&gt;, queue)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	</a:t>
            </a:r>
            <a:r>
              <a:rPr lang="en-US" dirty="0">
                <a:solidFill>
                  <a:srgbClr val="F62AF6"/>
                </a:solidFill>
              </a:rPr>
              <a:t>/\  clock=d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524000" y="1005120"/>
              <a:ext cx="8792280" cy="4881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4640" y="995760"/>
                <a:ext cx="8811000" cy="49006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34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properties about composed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a typeface="Cambria Math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et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let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be an execution fragment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.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 err="1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 =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|(A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, X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) is an execution fragment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i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time-bounded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time-bounded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admissible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admissible</a:t>
                </a:r>
                <a:endParaRPr lang="en-US" dirty="0"/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closed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closed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non-Zeno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non-Zeno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an execution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executions</a:t>
                </a:r>
              </a:p>
              <a:p>
                <a:r>
                  <a:rPr lang="en-US" dirty="0">
                    <a:ea typeface="Cambria Math"/>
                  </a:rPr>
                  <a:t>Traces</a:t>
                </a:r>
                <a:r>
                  <a:rPr lang="en-US" b="1" baseline="-25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baseline="-25000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b="1" dirty="0">
                    <a:ea typeface="Cambria Math"/>
                  </a:rPr>
                  <a:t>  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𝜷</m:t>
                    </m:r>
                  </m:oMath>
                </a14:m>
                <a:r>
                  <a:rPr lang="en-US" dirty="0">
                    <a:ea typeface="Cambria Math"/>
                  </a:rPr>
                  <a:t>| E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l-GR" dirty="0">
                    <a:ea typeface="Cambria Math"/>
                  </a:rPr>
                  <a:t>ϵ</a:t>
                </a:r>
                <a:r>
                  <a:rPr lang="en-US" dirty="0">
                    <a:ea typeface="Cambria Math"/>
                  </a:rPr>
                  <a:t> Traces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 err="1"/>
                  <a:t>i</a:t>
                </a:r>
                <a:r>
                  <a:rPr lang="en-US" dirty="0"/>
                  <a:t> }</a:t>
                </a:r>
                <a:endParaRPr lang="en-US" dirty="0">
                  <a:ea typeface="Cambria Math"/>
                </a:endParaRPr>
              </a:p>
              <a:p>
                <a:r>
                  <a:rPr lang="en-US" dirty="0">
                    <a:ea typeface="Cambria Math"/>
                  </a:rPr>
                  <a:t>See examples in the TIOA monograph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9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873A-1519-FE4E-8943-61D7A098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trace theorem restriction from composition of I/O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5.5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(from Theory of Timed I/O Automata by Lynch et. al.) </a:t>
                </a:r>
              </a:p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and let E be the set of input/output actions of A.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is exactly the set of (E, ∅)-sequences whose restrictions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traces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, respectively. That is,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400" dirty="0"/>
                  <a:t> = {</a:t>
                </a:r>
                <a:r>
                  <a:rPr lang="el-GR" sz="2400" dirty="0"/>
                  <a:t>β | β </a:t>
                </a:r>
                <a:r>
                  <a:rPr lang="en-US" sz="2400" dirty="0"/>
                  <a:t>is an (E, ∅)-sequence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𝒜</m:t>
                                </m:r>
                                <m:r>
                                  <m:rPr>
                                    <m:nor/>
                                  </m:rPr>
                                  <a:rPr lang="en-US" sz="2400" baseline="-25000" dirty="0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/>
                              </a:rPr>
                              <m:t>Traces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sub>
                        </m:sSub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,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∈ {1, 2}}.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617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Substitutivity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1" dirty="0">
                    <a:solidFill>
                      <a:srgbClr val="00B0F0"/>
                    </a:solidFill>
                  </a:rPr>
                  <a:t>Theorem 1</a:t>
                </a:r>
                <a:r>
                  <a:rPr lang="en-US" sz="3200" b="1" dirty="0">
                    <a:solidFill>
                      <a:srgbClr val="00B050"/>
                    </a:solidFill>
                  </a:rPr>
                  <a:t>. </a:t>
                </a:r>
                <a:r>
                  <a:rPr lang="en-US" sz="3200" dirty="0"/>
                  <a:t>Suppose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 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and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3200" dirty="0"/>
                  <a:t> have the same external interface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 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are compatible with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32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then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||</a:t>
                </a:r>
                <a:r>
                  <a:rPr lang="en-US" sz="32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||</a:t>
                </a:r>
                <a:r>
                  <a:rPr lang="en-US" sz="32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8" t="-321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0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Substutivity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2. </a:t>
                </a: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HAs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is compatible with each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1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aseline="-250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Proof.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b="0" baseline="-25000" dirty="0">
                  <a:ea typeface="Cambria Math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dirty="0"/>
                  <a:t>By transitivity of implementation relation 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1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07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Proof. Let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By Theorem 5.5 (of LVS TIOA),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𝒜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ℬ</m:t>
                                </m:r>
                                <m:r>
                                  <a:rPr lang="en-US" i="1" baseline="-2500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𝛽</m:t>
                      </m:r>
                      <m:d>
                        <m:dPr>
                          <m:begChr m:val="⌈"/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Theorem 5.5 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 by assumption,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4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2609</Words>
  <Application>Microsoft Macintosh PowerPoint</Application>
  <PresentationFormat>Widescreen</PresentationFormat>
  <Paragraphs>396</Paragraphs>
  <Slides>35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Office Theme</vt:lpstr>
      <vt:lpstr>Abstractions II: Counter Example-Guided Abstraction Refinement</vt:lpstr>
      <vt:lpstr>Forward simulation relation</vt:lpstr>
      <vt:lpstr>Abstraction recap</vt:lpstr>
      <vt:lpstr>Counter-example guided abstraction-refinement</vt:lpstr>
      <vt:lpstr>Counterexample-guided abstraction refinement </vt:lpstr>
      <vt:lpstr>Counterexample guided abstraction refinement (CEGAR)</vt:lpstr>
      <vt:lpstr>PowerPoint Presentation</vt:lpstr>
      <vt:lpstr>PowerPoint Presentation</vt:lpstr>
      <vt:lpstr>Predicate Abstraction</vt:lpstr>
      <vt:lpstr>Key design choices</vt:lpstr>
      <vt:lpstr>PowerPoint Presentation</vt:lpstr>
      <vt:lpstr>PowerPoint Presentation</vt:lpstr>
      <vt:lpstr>PowerPoint Presentation</vt:lpstr>
      <vt:lpstr>Outline</vt:lpstr>
      <vt:lpstr>Substituting an automaton with its abstraction</vt:lpstr>
      <vt:lpstr>Substituting an automaton with its abstraction</vt:lpstr>
      <vt:lpstr>How is the abstract system related to the concrete system?</vt:lpstr>
      <vt:lpstr>Hybrid IO Automaton</vt:lpstr>
      <vt:lpstr>Composition of Hybrid Automata</vt:lpstr>
      <vt:lpstr>Composition</vt:lpstr>
      <vt:lpstr>PowerPoint Presentation</vt:lpstr>
      <vt:lpstr>Modeling a Simple Failure Detector System</vt:lpstr>
      <vt:lpstr>Composition</vt:lpstr>
      <vt:lpstr>Example: Send || TimedChannel</vt:lpstr>
      <vt:lpstr>Composed Automaton</vt:lpstr>
      <vt:lpstr>Modeling a Simple Failure Detector System</vt:lpstr>
      <vt:lpstr>Time bounded channel &amp; Simple Failure Detector</vt:lpstr>
      <vt:lpstr>General composition</vt:lpstr>
      <vt:lpstr>Time bounded channel &amp; Simple Failure Detector</vt:lpstr>
      <vt:lpstr>Some properties about composed automata</vt:lpstr>
      <vt:lpstr>A trace theorem restriction from composition of I/O automata</vt:lpstr>
      <vt:lpstr>Substitutivity</vt:lpstr>
      <vt:lpstr>Substutivity</vt:lpstr>
      <vt:lpstr>A stronger substitutivity result</vt:lpstr>
      <vt:lpstr>A stronger substitutivity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Abstractions II</dc:title>
  <dc:creator>Mitra, Sayan</dc:creator>
  <cp:lastModifiedBy>Mitra, Sayan</cp:lastModifiedBy>
  <cp:revision>5</cp:revision>
  <dcterms:created xsi:type="dcterms:W3CDTF">2025-11-04T15:33:12Z</dcterms:created>
  <dcterms:modified xsi:type="dcterms:W3CDTF">2025-11-21T05:51:48Z</dcterms:modified>
</cp:coreProperties>
</file>