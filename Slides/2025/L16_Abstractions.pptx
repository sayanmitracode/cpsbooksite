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324" r:id="rId2"/>
    <p:sldId id="265" r:id="rId3"/>
    <p:sldId id="270" r:id="rId4"/>
    <p:sldId id="587" r:id="rId5"/>
    <p:sldId id="573" r:id="rId6"/>
    <p:sldId id="542" r:id="rId7"/>
    <p:sldId id="553" r:id="rId8"/>
    <p:sldId id="554" r:id="rId9"/>
    <p:sldId id="555" r:id="rId10"/>
    <p:sldId id="571" r:id="rId11"/>
    <p:sldId id="572" r:id="rId12"/>
    <p:sldId id="556" r:id="rId13"/>
    <p:sldId id="507" r:id="rId14"/>
    <p:sldId id="549" r:id="rId15"/>
    <p:sldId id="548" r:id="rId16"/>
    <p:sldId id="550" r:id="rId17"/>
    <p:sldId id="506" r:id="rId18"/>
    <p:sldId id="551" r:id="rId19"/>
    <p:sldId id="50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2582"/>
    <p:restoredTop sz="96208"/>
  </p:normalViewPr>
  <p:slideViewPr>
    <p:cSldViewPr snapToGrid="0" snapToObjects="1" showGuides="1">
      <p:cViewPr varScale="1">
        <p:scale>
          <a:sx n="96" d="100"/>
          <a:sy n="96" d="100"/>
        </p:scale>
        <p:origin x="168" y="2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8:41:37.686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22049 14129 24575,'0'-26'0,"-2"1"0,-2-11 0,0-8 0,-1-4 0,-1-3 0,0 1 0,1 2 0,1 6 0,-1 0 0,0 0 0,0 0 0,0-2 0,0-1 0,0-2 0,0-3-235,1 8 1,1-1 0,0-2 0,0-1 0,-1-2 0,1 0 0,0-2 0,0 0 0,0 0 0,-1 0 0,1-1 0,0 2 0,-1-1 0,0 1-1,0 0 1,-1 0 0,1 0 0,-1 0 0,0 0 0,0 0 0,0-1 0,0 1 0,0 0 0,0-1 0,0 1 0,1-1 0,0 1 0,0 0-1,1-1 1,0 0 0,0 0 0,1 0 0,0 0 0,0 0 0,0 0 0,0 0 0,0 0 0,0 1 0,0-1 0,0 0 0,0 0 0,0 1-1,0 0 1,-1 0 0,0 0 0,1 0 0,-1 1 0,0-1 0,0 0 0,1 0 0,-1 1 0,1 0 0,-1 0 0,1 0 0,0 0 0,0 1 138,0-2 0,0 1 0,1 0 0,-1 0 0,1 0 0,-1 0 0,1 1 1,0-1-1,0 2 0,0-1 0,0 1 0,1 0 0,-1 1 96,1-2 0,-1 0 0,1 0 0,0 1 0,0 0 0,0 1 0,0 0 0,1 0 0,-1 0 0,0 1 0,0 0-174,0-7 0,0 0 1,0 0-1,0 1 0,0 0 1,0 1-1,0 0 0,0 2 1,0 0 173,0 1 0,0 0 0,1 2 0,-1 0 0,0 1 0,0 0 0,0 0 0,-1 1 240,0-2 1,-1 1 0,0 1 0,0 1-1,-1-2 1,1 0 0,-2-1-241,1-1 0,-1-3 0,0 0 0,0 0 0,-1-1 0,0 2 0,0 1 0,0 3 0,-1-2 0,0 4 0,-1 0 0,1 2 0,-1-2 0,0-1 282,0-1 0,0-1 0,-1-2 0,1 1 0,-1 1 0,1 2 0,0 4-282,-2-6 0,1 4 0,-1 2 0,0 1 0,-3-4 0,-1 3 0,2 0 1092,4 0 0,2 1 0,-2 2-719,-6-2 0,2 1 1265,9-3 0,2 0-1178,-3 10 0,-2 3 1052,-10-9-1512,11 3 0,-12 28 0,16-11 0</inkml:trace>
  <inkml:trace contextRef="#ctx0" brushRef="#br0" timeOffset="2000">21978 14446 24575,'9'-45'0,"1"-1"0,-1 1 0,1-1 0,-1 1 0,3 9 0,2-2 0,1-2 0,2-3 0,2-1 0,0-2 0,2-1 0,0-1 0,0 0 0,1 0 0,-1 0 0,0 1 0,-1 0 0,0 2 0,-2 0 0,1 1 0,-1 1 0,0-1 0,0 1 0,0-1 0,0 1 0,1-1 0,0 0 0,0-1 0,0 0 0,2-1 0,0-1 0,0-1-157,-2 8 1,-1-1 0,2-1 0,0-1 0,1 0 0,0-1 0,0 0 0,1-1 0,0 0 0,0 0 0,0 0 0,0 0 0,0 0 0,0 0 0,0 0 0,-1 1 0,1 1 0,-2 0 0,1 1 0,-1 1 0,-1 1-63,4-6 1,-1 0-1,0 0 1,-1 2-1,0-1 1,0 2-1,0-1 1,0 1-1,-1 1 1,0 0 0,0 0-1,0 1 1,0 0-1,0 0 1,0 0-56,2-3 1,-1 0 0,0 0 0,0 1 0,0 1 0,0 0 0,-1 0 0,1 1 0,-1 0 0,0 0 0,1 1 0,-1 1 124,2-3 0,0 0 0,0 0 0,0 2 0,-1-1 0,1 2 0,-1 0 0,0 0 0,0 2 0,-2 0 102,4-6 0,0 1 1,-2 1-1,0 1 1,0 1-1,1-1 1,0 1 46,1 0 0,0 0 0,1 0 0,0 1 0,0 0 0,-1 0 0,1 0 0,2-4 0,1 1 0,-1 0 0,1 0 0,-1 1 0,1-2 0,-5 6 0,1 1 0,-1-1 0,0 1 0,1-2 0,1-1 0,0-2 0,-1 4 0,1-1 0,0-3 0,1 0 0,0-1 0,1 1 0,-1-1 0,0 1 0,0 2 0,-2 1 0,5-5 0,-1 2 0,-1 1 0,0 1 0,0-1 0,0-1 0,2-2-45,-3 3 0,1-2 0,0-1 0,1-1 0,-1 0 0,1 0 0,-2 2 1,0 1-1,-1 2 45,3-5 0,-1 3 0,-1 1 0,-1 1 0,0 0 0,-1-1 0,-1 0 0,-1 1 0,0 0 0,0-1 0,-2 0 0,0 0-219,-1 0 0,-1 0 0,-1-1 1,0 1-1,-1-1 0,1 0 219,0 1 0,1-1 0,-1 1 0,0-1 0,-1 1 0,-1-1 0,2-6 0,-1 0 0,-1 0 0,0-1 0,0 1 0,-1-2 0,-1 0 0,0 0 0,1 1 0,0 1 451,0 3 0,0 2 0,1 0 0,-1 1 1,0-1-452,-1 0 0,-1 0 0,-1 1 0,1 0 0,0 2 432,2-2 0,1 2 0,0 0 0,0 1-432,4-10 0,0 0 0,-3 2 0,-5 7 0,-2 1 0,1-2 813,3 4 0,1-2 1,0 0-1,-2 1-813,1-8 0,-3 1 0,2-1 0,1-2 0,0 1 0,-1 3 0,-1-1 0,-4 7 662,-6 3 0,0 25 0,0 8 0</inkml:trace>
  <inkml:trace contextRef="#ctx0" brushRef="#br0" timeOffset="4150">21978 14340 24575,'-4'-15'0,"16"-14"0,11-9 0,-1 6 0,4-4 0,2-4 0,2-1-469,-6 9 1,1-3 0,1 0 0,1-2 0,0-1 0,1-2 0,-1 0 103,-1 3 1,0-2 0,0-2 0,1 0 0,0 0 0,0-2 0,0 1 0,1-1 0,0 0 66,-3 5 0,0-1 0,1 0 0,0 0 0,0-1 0,0 0 0,0 0 0,0 0 1,0-1-1,0 1 0,0-1 33,-2 2 0,0 0 1,-1-1-1,1 1 0,0-1 1,-1 0-1,1 0 0,-1-1 1,1 1-1,0 0 0,-1 0 1,1 0 177,0-1 0,0 1 0,0-1 0,0 1 0,0-1 0,0 1 0,1-1 0,-1 1 1,0-1-1,0 1 0,-1 0 0,1 1 87,1-3 0,-1 1 0,1 0 0,-1 0 0,0 0 0,0 0 0,1 1 0,-1 0 0,0 0 0,0 1 0,0 0-178,3-5 1,0 1 0,0 1-1,0-1 1,0 2 0,0-1-1,-1 2 1,1 0 0,-1 0 177,0 1 0,-1 0 0,1 1 0,-1 0 0,0 1 0,0 1 0,0 1 0,-1 1 181,4-2 1,0 1-1,-1 1 1,1 1-1,-1 1 1,0 1-182,3-4 0,0 1 0,0 1 0,0 1 0,-1 1 524,3-4 0,-1 2 0,1 0 1,0 1-525,4 0 0,2 1 0,-1 1 0,-3-1 0,-7 3 0,-2-1 0,-1 0 0,2 2 807,4 1 1,0 2 0,1 0 0,-2 0-808,5-11 0,-3 0 0,2 1 0,2 1 0,1 0 0,-1 1 0,-7 2 0,-2-1 0,2 2 0,5-2 0,1 0 0,-1-2 0,-5 0 0,-1-3 0,0 2 0,3 1 0,0 0 0,1-3 0,-7 3 0,3-3 0,-1-2 0,0 2 0,-4 2 0,1-1 0,-3 2 0,2-3 0,3-2 0,4-5 0,-1 2 0,-5 7 1638,-2 3 0,-2 3-1418,6-11 0,1 3 996,-8 16 1,-1 3-1217,2-10 1815,5-5-1815,-22 28 1265,6-27-1265,-8 27 0,0-27 0,0-5 0,0-3 0,0 13 0,0 1 0,0 6 0,0-13 0,0 28 0,0-11 0</inkml:trace>
  <inkml:trace contextRef="#ctx0" brushRef="#br0" timeOffset="8867">26494 14164 24575,'-4'-48'0,"1"1"0,-1-1 0,1 0 0,-1 1 0,1-1 0,-1 0 0,1 1 0,-1-1 0,1 2 0,1 3 0,-1 0 0,1 1 0,-1-1 0,0-2 0,0-1 0,-1-3-253,0 6 1,-1-2 0,0-2 0,0-1 0,0-2 0,-1 0 0,0-1 0,0 0 0,1 1 0,-1 0 0,1 2 0,0 1 0,1 2-113,0-7 1,0 1 0,1 2 0,0 0 0,0 1 0,0 1 0,0 0 0,-1 0 0,0 0-46,-2-4 0,0 0 1,0 0-1,-1 1 1,1 0-1,-1 1 0,1 2 1,1 0 216,-1-5 0,1 2 1,1 1-1,-1 1 0,1 0 1,0 1 192,1 3 0,0-1 0,0 1 0,1 1 0,-2 1 0,0 3 293,-3-4 0,-2 2 1,1 1-1,0 0-293,3-4 0,1 0 0,0 1 0,-2 3-70,-5 1 0,-1 4 0,-1-1 70,2 2 0,-1 0 0,0-2 0,0-5 0,0-3 0,1 4 0,0-1 0,2 0 0,3 0 0,0-2 0,3 1 0,2-2 0,2 0 0,-1-4 0,0-2 0,0 15 0,0 0 0,0-1 0,0-1 0,0-2 0,0 2 0,0 1 0,0 0 0,0 0 0,0-3 0,1 1 0,-2 1 0,-7-5 0,0 2 1638,6-3 0,0 2-686,-5 8 0,-2 3 536,1 2 1,1 1-1489,5 1 0,0 1 732,-6-1 0,0 1-732,8-14 201,0 9 1,0 1-202,0-8 0,0-6 0,-16 7 0,15 11 0,-2-1 0,-20-13 0,21 4 0,-22 4 0,21 27 0,-13-28 0,16 28 0,0-11 0,0-1 0,0-4 0,-16 1 0,12-20 0,-27 33 0,27-33 0,-27 35 0,27-12 0,-12 0 0,16 12 0,0-11 0,0 15 0,0 0 0</inkml:trace>
  <inkml:trace contextRef="#ctx0" brushRef="#br0" timeOffset="11150">26635 14041 24575,'2'-47'0,"1"-1"0,0 1 0,-1 0 0,1 0 0,-1 0 0,1 0 0,0 0 0,-1 0 0,1 3 0,-1 0 0,0 2 0,0-1 0,1 0 0,-1-1 0,0-1 0,1-1 0,0-3-253,0 5 1,-1-1 0,1-3 0,0 0 0,1-1 0,-1-1 0,0-1 0,1 1 0,-1-1 0,1 0 0,0 1 0,-1 1 0,1 0-22,0-1 1,0 1 0,0-1 0,1 1 0,-1-1 0,1 1 0,-1 0 0,0 0 0,1 1 0,-1-1 0,0 0 0,0 0-1,-1 2 1,1 0 0,-1-1 0,0 1 0,0 0 0,0 0 0,0 0 0,1 1 0,-1-1 0,0 0 0,0 0 0,1 0-1,0 0 1,0 0 0,0 0 0,1 0 0,-1 1 0,1-1 0,-1 0 0,1 0 0,-1 1 0,0-1 0,0 1 0,0 0 159,0-3 1,-1 0 0,1 0-1,-1 0 1,0 0 0,0 0-1,0 1 1,0 0 0,0 0-1,0 1 1,0 0 113,1 0 0,-1 0 0,1 0 0,0 1 0,0 0 0,-1 0 0,1 1 0,-1-1 0,1 1 0,-1 0-178,-1-3 0,1 0 0,-1 0 0,-1 0 0,1 1 0,0-1 0,0 2 0,0-1 0,1 2 178,1-3 0,0 0 0,0 1 0,1 1 0,-1 0 0,0 0 0,0 1 0,-1 0 137,-2-1 1,0 0 0,-2 0 0,1 1 0,0 1 0,1-1 0,0 2-138,3-5 0,2 0 0,0 2 0,0-1 0,-1 1 0,0 0 240,-2 3 1,-1 0 0,-1 0 0,1 0 0,-1 1 0,2 0-241,0-8 0,0 0 0,0 1 0,1 0 0,0 0 0,1 1 0,0 0 0,0 1 0,0 0 0,-1-1 0,-2 1 0,-2 0 0,0-1 0,0 1 0,2-1 0,0 2 0,2 0 0,0-1 0,-1 1 0,-1 0 466,-1 0 1,-1-1 0,0 0 0,0 2 0,-1 1-467,1-3 0,0 3 0,0 0 0,0-2 0,0 7 0,0 0 0,0-1 0,0-1 0,0-1 0,1-3 0,-1-2 0,0-2 0,1 1 0,-2 0 0,0 2 0,-1 0 0,-1 2 0,-1 1 0,0-1 0,2-2 0,1 1 0,1-2 0,0-1 0,0 1 0,-1 3 0,-1 4 0,-5-5 0,-1 5 0,-1 4 1638,1 3 0,-1 3-1636,-4 4 1,-2 3 2914,-20-4-2917,9 10 0,1-1 1421,6-1 0,-1 2-1421,-6 7 0,1 1 2173,-11-23-2173,1 28 0,0-11 0,7 15 0,-21 0 0,2 0 0,20 0 0,0 0 0,1-1 0,1 2 0,-1 5 0,1 3 0,-3 0 0,1 2 0,-4 6 0,-1 1 0,-3 0 0,1 0 0,10-1 0,1 1 0,-2-4 0,-1-1 0,-9 5 0,0 5 0,15-19 0,5 12 0,15-16 0,0 0 0</inkml:trace>
  <inkml:trace contextRef="#ctx0" brushRef="#br0" timeOffset="13700">31715 12153 24575,'0'-25'0,"0"-1"0,7-3 0,4-7 0,4-7 0,2-2 0,1-2 0,0 1 0,-2 2 0,-2 3 0,1 1 0,-1 0 0,0 0 0,1-2 0,0-2 0,2-3-274,-4 8 1,1-3 0,0-2 0,0-2 0,1 0 0,0-1 0,1-1 0,-1 0 0,0 1 0,0 0 0,0 2 0,0 1-55,1-2 0,0 1 0,0 1 1,0 0-1,0 1 0,0-1 1,-1 1-1,0 0 0,0-1 1,-1-1-1,-1 0 0,0 0 0,-1-1 1,-1 0-1,1 0 0,-1 0 1,0 0-1,0 1 0,1 0 1,-1 1 28,2-2 1,0 1-1,0 1 1,1-1-1,-1 1 1,0 1-1,-1-1 1,0 0-1,-1 1 299,0-4 0,-1 1 0,-1-1 0,0 1 0,0 0 0,-1 0 0,0 0 0,1-1 0,-1 1 0,0 0 0,0 0 0,-1 1 0,0-1 0,1 0 0,-2 0 0,0 1 0,1-5 0,-2 0 0,1 0 0,-1 1 0,-1 0 0,1-1 0,-1 1-11,-1 1 0,0-1 0,0 1 0,0 0 0,-1 0 0,1 0 0,-1 0 11,1 1 0,-1 1 0,1-1 0,-1 1 0,1 0 0,-2 0 0,1 1 0,-1-6 0,-1 2 0,0 0 0,-1-1 0,1 0 0,0-1 0,0 7 0,1-2 0,0 0 0,-1-1 0,1 0 0,-1 2 0,-1 0 0,-1 2 0,-2-4 0,0 2 0,-2 1 0,0 1 0,0-1 0,1-1-159,0-5 1,1-2-1,1 0 1,-2 2 0,-1 1-1,-3 6 159,-5-2 0,-4 6 0,-1 1 0,2-1 679,1-1 1,2 0 0,-1 2 0,-3 1-680,-9-4 0,-3 3 0,1-1 0,4-1 0,1-2 0,-2 3 0,-4 5 0,-2 2 0,0 0 0,3-3 0,0 0 0,-1 1 983,-2 6 0,-2 1 0,2 0-983,2-2 0,0-1 0,0 3 0,-2 4 0,0 3 0,2 0 1638,-8-7 0,3 1-1519,3 4 0,1 1 985,6 3 1,-1 1-1105,0-2 0,1 2 1359,2-2-1359,-24 3 796,27 16-796,1 0 0,3 0 0,0-16 0,12 12 0,-11-11 0,15 15 0,0 0 0</inkml:trace>
  <inkml:trace contextRef="#ctx0" brushRef="#br0" timeOffset="15700">31785 15857 24575,'16'-45'0,"-1"1"0,0-1 0,1 0 0,-1 0 0,0 0 0,1 0 0,-1 0 0,0 0 0,1 0 0,-1 0 0,0-2 0,-2 0 0,0 1 0,0 1 0,-1 0 0,1-2 0,1 0 0,0-2 0,2-3-219,-2 10 1,1-1-1,0-2 1,2-1-1,0-2 1,0 0-1,1 0 1,0-1-1,0 1 1,-1-1 0,0 1-1,0 0 1,-1 1-1,-1 1 1,-1 2-56,1-4 1,-2 1 0,0 1 0,0 0 0,-1 1 0,0 0 0,-1 0 0,0 1 0,0 0 0,1 0 0,-1 0 0,0 1-55,2-6 0,0 1 0,0 0 1,0 1-1,-1 0 0,1 0 1,-1 0-1,0 0 0,0 1 1,-1-1 178,-1 3 0,0-1 0,0 0 0,0 1 0,0-1 0,-1 1 0,0 0 0,0 0 0,-1 1 0,1 0 64,1-6 0,-1-1 0,1 1 0,-1 1 0,0-1 0,-1 2 0,0 0 0,-1 0 85,0 0 0,0 2 0,-2 0 0,1 1 0,-1-1 0,0-1 0,0-1 0,-1 3 0,0-1 0,0-1 0,0 0 0,0-1 0,0 0 0,-1 2 0,-1 1 0,0 2 0,-1-7 0,0 3 0,-2 2 0,1-1 0,-1 0 0,1-2 0,0 4 0,0-2 0,0 0 0,0-1 0,0 0 0,0 1 0,0 1 0,0 3 112,0-10 1,1 3 0,0 2 0,-1 0 0,-2 0-113,-2-1 0,-2 1 0,-1 0 0,0 0 0,0 0 0,0-4 0,0 1 0,0-1 0,-1 1 0,-3 2 0,-1 5 0,-2 2 0,-1 1 0,0-1 0,1 1-167,1-3 0,1 0 1,0-1-1,0 2 0,-2 3 167,-2-1 0,-1 3 0,0 1 0,-1 0 819,-1-1 0,-1 1 0,0 0 0,0 2-793,-4-7 1,0 2-1,-2 2-26,-2 2 0,-2 2 0,1 0 1007,3 2 0,0 1 1,0 0-1008,2 2 0,1 1 0,-2 0 0,-6-2 0,-2-1 0,2 0 0,6 4 0,1 0 0,-1 1 0,-6-3 0,-1 1 0,1 0 0,-5-10 0,-1 4 0,7 15 0,-3 2 0,2 0 0,-7-10 0,2-1 1232,0 0 0,1 1-1232,0 6 0,4-1 865,14-6 0,2 1-865,-18-11 1155,9 17-1155,5-13 545,-16 28-545,15-19 0,-11 21 0,27-6 0,-12 8 0,16-16 0,0 13 0,0-13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555BF6-068B-3340-B1BC-1F4AE6FE899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1BC44-1CAD-714E-A5E6-61D882A2C6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753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Relational composition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F81894-4E42-4C20-B559-1A0CBC527A2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7059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skip this maybe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B1D770-1E3A-4068-8773-94408BE3849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941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81386-8D16-F146-9B6B-CB726F554B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F483D4-0B51-2343-B3DE-FD4C5748F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34328-5004-FD4A-9F3A-E8BEB7D2A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B9D3D-344A-D147-8FE2-2D86293D046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7C055-41A7-6F40-9A55-2D8334902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EF878-7E05-C444-A841-1985322F0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67C3D-82E1-8846-8C72-DB73E51DD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314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DB52-DFFE-DE44-9E3B-697E88C5A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56BE7-8B3B-6B49-860A-32D499732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52E58-878E-AE49-B6CC-EA2171D24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B9D3D-344A-D147-8FE2-2D86293D046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AEE9E-17D1-4142-82E0-0E011073F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B9855-83E9-5C4E-BCEA-A290FEC55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67C3D-82E1-8846-8C72-DB73E51DD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10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1E31C-BAC0-454C-8F94-92E42DA9C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A237A6-E8AC-0045-B233-E820262015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20738A-7DAF-BC4D-BCD8-FD5446771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B9D3D-344A-D147-8FE2-2D86293D046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E1D91D-2C6E-9844-8DE5-00861C961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91CFE-6A9D-E947-B732-7E30FE072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67C3D-82E1-8846-8C72-DB73E51DD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186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79B2A-90EF-4944-B51F-BA31D0F94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E727A-D511-0A4E-B5BF-D04F4DC605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1B4CC-5583-DD4A-903D-69440C149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613B6-B2A5-584C-A4D1-986A92B77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B9D3D-344A-D147-8FE2-2D86293D046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E2E933-141E-C946-9F3D-FB1485CC8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30F01-EAF0-BC4D-8471-FC7AF5693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67C3D-82E1-8846-8C72-DB73E51DD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597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A8406-2D2B-FC4E-B53F-808D53618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76CCCA-B5F5-4546-A317-5FB9D5279D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7E74B-BA47-884D-B511-3CE64E7812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4AADF6-D7E2-6949-B37C-A97422BCCF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9FFA5B-3315-0049-A43C-6FB8BE4D51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B687CE-A44D-244F-8BA1-DB2AE3322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B9D3D-344A-D147-8FE2-2D86293D046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190C99-A19B-0541-BC29-FC5E70331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CAFDA8-7B39-C749-A7C6-3A7966F48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67C3D-82E1-8846-8C72-DB73E51DD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794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97BD4-BB90-F446-BC0B-57FC04EB0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F27AD5-A279-4F4D-9F3F-362BAE8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B9D3D-344A-D147-8FE2-2D86293D046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DCFD54-88DB-3441-8FBE-D551AABE3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42A7B3-1A5D-CD45-A3F5-65A428B3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67C3D-82E1-8846-8C72-DB73E51DD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945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A459DD-52A0-EF43-AF3F-B01977E2B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B9D3D-344A-D147-8FE2-2D86293D046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7589F2-67C2-C246-8D9E-A92338FC7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6A33E1-9A99-D147-A66E-03B867BE8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67C3D-82E1-8846-8C72-DB73E51DD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484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0F19E-1344-034A-A67A-AEE064D1A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FE8C84-82FE-D94F-8C3E-13CA51B16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7C29F-C3A7-1B44-9EFA-8F77B4C7AD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5F9A4-CBCC-F649-8751-FC87A2F6F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B9D3D-344A-D147-8FE2-2D86293D046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F7DC00-90B2-0341-883A-8AC7CA28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3D9E07-EC16-2F42-9635-16AD0B1DA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67C3D-82E1-8846-8C72-DB73E51DD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799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8E5C8-CF99-2E4A-A052-3B6C8EB8E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8FABAC-69AF-BF4E-8859-EA1E70C512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60308D-DD77-544A-A7C1-3350AF4EC6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4E5858-890C-C24F-A461-779F5957A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B9D3D-344A-D147-8FE2-2D86293D046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F1764-32F3-F74B-B56E-30F0C0FDB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DBE-CC97-7447-928B-1BB19454B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67C3D-82E1-8846-8C72-DB73E51DD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293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05F74-2BBF-0341-866B-0F65D6411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2CF70C-1DF0-3D40-B3E6-74374CD447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1646A-C477-3641-8C36-D04402585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B9D3D-344A-D147-8FE2-2D86293D046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26640-39E0-F142-AA2B-5BD2E1CEC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76B103-D993-5B41-8674-4B2086E0D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67C3D-82E1-8846-8C72-DB73E51DD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198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4A8532-4618-8546-99B6-28F33E2C0D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18958-5BCB-5E4C-AC5A-C40FC415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0F888-6CA6-1B4B-A024-654BBBA6B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B9D3D-344A-D147-8FE2-2D86293D046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3CDF2-2D96-F345-A54F-B14B24301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AC7F5-4922-8C4B-A294-3FBEAC48E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67C3D-82E1-8846-8C72-DB73E51DD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988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E9236A-2A88-264A-B6AA-116CE56E7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08348-DDD9-FE48-8116-E36821BFA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A4474A-2B06-404A-AA5E-F07EA9AE32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EB9D3D-344A-D147-8FE2-2D86293D046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A3F6E-314D-0547-AED9-7E30D404EA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E7A602-B083-C649-8413-BDBD8993EB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667C3D-82E1-8846-8C72-DB73E51DD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853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customXml" Target="../ink/ink1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67000" y="1699022"/>
            <a:ext cx="6858000" cy="745728"/>
          </a:xfrm>
        </p:spPr>
        <p:txBody>
          <a:bodyPr>
            <a:normAutofit/>
          </a:bodyPr>
          <a:lstStyle/>
          <a:p>
            <a:r>
              <a:rPr lang="en-US" sz="2700" dirty="0"/>
              <a:t>Abstractions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329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Review. Region automaton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7639"/>
                <a:ext cx="10644266" cy="452596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Given an ITA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=〈</m:t>
                    </m:r>
                    <m:r>
                      <a:rPr lang="en-US" sz="2000" i="1">
                        <a:latin typeface="Cambria Math"/>
                      </a:rPr>
                      <m:t>𝑉</m:t>
                    </m:r>
                    <m:r>
                      <a:rPr lang="en-US" sz="2000" i="1"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sz="2000">
                        <a:latin typeface="Cambria Math"/>
                      </a:rPr>
                      <m:t>Θ</m:t>
                    </m:r>
                    <m:r>
                      <a:rPr lang="en-US" sz="2000" i="1">
                        <a:latin typeface="Cambria Math"/>
                      </a:rPr>
                      <m:t>, </m:t>
                    </m:r>
                    <m:r>
                      <a:rPr lang="en-US" sz="2000" i="1">
                        <a:latin typeface="Cambria Math"/>
                        <a:ea typeface="Cambria Math"/>
                      </a:rPr>
                      <m:t>𝒟</m:t>
                    </m:r>
                    <m:r>
                      <a:rPr lang="en-US" sz="2000" i="1">
                        <a:latin typeface="Cambria Math"/>
                        <a:ea typeface="Cambria Math"/>
                      </a:rPr>
                      <m:t>, </m:t>
                    </m:r>
                    <m:r>
                      <a:rPr lang="en-US" sz="2000" i="1">
                        <a:latin typeface="Cambria Math"/>
                        <a:ea typeface="Cambria Math"/>
                      </a:rPr>
                      <m:t>𝒯</m:t>
                    </m:r>
                    <m:r>
                      <a:rPr lang="en-US" sz="2000" i="1">
                        <a:latin typeface="Cambria Math"/>
                        <a:ea typeface="Cambria Math"/>
                      </a:rPr>
                      <m:t>〉</m:t>
                    </m:r>
                  </m:oMath>
                </a14:m>
                <a:r>
                  <a:rPr lang="en-US" sz="2000" dirty="0"/>
                  <a:t>, we construct the corresponding </a:t>
                </a:r>
                <a:r>
                  <a:rPr lang="en-US" sz="2000" b="1" dirty="0"/>
                  <a:t>Region Automaton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=⟨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000" dirty="0"/>
                  <a:t> such that (</a:t>
                </a:r>
                <a:r>
                  <a:rPr lang="en-US" sz="2000" dirty="0" err="1"/>
                  <a:t>i</a:t>
                </a:r>
                <a:r>
                  <a:rPr lang="en-US" sz="2000" dirty="0"/>
                  <a:t>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visits the same set of locations (but does not have  timing information) and (ii)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is finite state machine.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000" dirty="0"/>
                  <a:t>ITA (clock constants) defines a set of  clock regions, say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sz="2000" dirty="0"/>
                  <a:t>. The set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</m:oMath>
                </a14:m>
                <a:endParaRPr lang="en-US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/>
                  <a:t>is the set of states contain initial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/>
                      </a:rPr>
                      <m:t>Θ</m:t>
                    </m:r>
                    <m:r>
                      <a:rPr lang="en-US" sz="2000" i="1">
                        <a:latin typeface="Cambria Math"/>
                      </a:rPr>
                      <m:t> </m:t>
                    </m:r>
                  </m:oMath>
                </a14:m>
                <a:r>
                  <a:rPr lang="en-US" sz="2000" dirty="0"/>
                  <a:t>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sz="2000" dirty="0"/>
                  <a:t>We add the transitions between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/>
                  <a:t> (regions)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sz="1600" b="1" dirty="0"/>
                  <a:t>Time successors</a:t>
                </a:r>
                <a:r>
                  <a:rPr lang="en-US" sz="1600" dirty="0"/>
                  <a:t>: Consider two clock regions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/>
                      </a:rPr>
                      <m:t>𝛾</m:t>
                    </m:r>
                    <m:r>
                      <a:rPr lang="en-US" sz="1600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600">
                        <a:latin typeface="Cambria Math"/>
                      </a:rPr>
                      <m:t>and</m:t>
                    </m:r>
                    <m:r>
                      <a:rPr lang="en-US" sz="1600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600" dirty="0"/>
                  <a:t>, we say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600" dirty="0"/>
                  <a:t> is a time successor of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/>
                      </a:rPr>
                      <m:t>𝛾</m:t>
                    </m:r>
                  </m:oMath>
                </a14:m>
                <a:r>
                  <a:rPr lang="en-US" sz="1600" dirty="0"/>
                  <a:t> if there exits a trajectory of ITA starting from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/>
                      </a:rPr>
                      <m:t>𝛾</m:t>
                    </m:r>
                  </m:oMath>
                </a14:m>
                <a:r>
                  <a:rPr lang="en-US" sz="1600" dirty="0"/>
                  <a:t> that ends in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/>
                      </a:rPr>
                      <m:t>𝛾</m:t>
                    </m:r>
                  </m:oMath>
                </a14:m>
                <a:r>
                  <a:rPr lang="en-US" sz="1600" dirty="0"/>
                  <a:t>’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sz="1600" b="1" dirty="0"/>
                  <a:t>Discrete transitions</a:t>
                </a:r>
                <a:r>
                  <a:rPr lang="en-US" sz="1600" dirty="0"/>
                  <a:t>: Same as the ITA</a:t>
                </a:r>
                <a:endParaRPr lang="en-US" sz="20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b="1" dirty="0"/>
                  <a:t>Theorem.</a:t>
                </a:r>
                <a:r>
                  <a:rPr lang="en-US" sz="2000" dirty="0"/>
                  <a:t> A location of ITA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reachable </a:t>
                </a:r>
                <a:r>
                  <a:rPr lang="en-US" sz="2000" dirty="0" err="1"/>
                  <a:t>iff</a:t>
                </a:r>
                <a:r>
                  <a:rPr lang="en-US" sz="2000" dirty="0"/>
                  <a:t> it is also reachable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(we say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</m:oMath>
                </a14:m>
                <a:r>
                  <a:rPr lang="en-US" sz="2000" dirty="0"/>
                  <a:t> is </a:t>
                </a:r>
                <a:r>
                  <a:rPr lang="en-US" sz="2000" i="1" dirty="0"/>
                  <a:t>time abstract </a:t>
                </a:r>
                <a:r>
                  <a:rPr lang="en-US" sz="2000" i="1" dirty="0" err="1"/>
                  <a:t>bisimilar</a:t>
                </a:r>
                <a:r>
                  <a:rPr lang="en-US" sz="2000" i="1" dirty="0"/>
                  <a:t> </a:t>
                </a:r>
                <a:r>
                  <a:rPr lang="en-US" sz="2000" dirty="0"/>
                  <a:t>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2000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7639"/>
                <a:ext cx="10644266" cy="4525963"/>
              </a:xfrm>
              <a:blipFill>
                <a:blip r:embed="rId3"/>
                <a:stretch>
                  <a:fillRect l="-715" r="-715" b="-4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439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228600"/>
            <a:ext cx="4852988" cy="61005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147456" y="4237121"/>
                <a:ext cx="242617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/>
                  <a:t>|X|! 2</a:t>
                </a:r>
                <a:r>
                  <a:rPr lang="en-US" baseline="30000" dirty="0"/>
                  <a:t>|X|</a:t>
                </a:r>
                <a14:m>
                  <m:oMath xmlns:m="http://schemas.openxmlformats.org/officeDocument/2006/math">
                    <m:nary>
                      <m:naryPr>
                        <m:chr m:val="∏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i="1">
                            <a:latin typeface="Cambria Math"/>
                          </a:rPr>
                          <m:t>𝑧</m:t>
                        </m:r>
                        <m:r>
                          <a:rPr lang="en-US" i="1">
                            <a:latin typeface="Cambria Math"/>
                          </a:rPr>
                          <m:t>∈</m:t>
                        </m:r>
                        <m:r>
                          <a:rPr lang="en-US" i="1">
                            <a:latin typeface="Cambria Math"/>
                          </a:rPr>
                          <m:t>𝑋</m:t>
                        </m:r>
                      </m:sub>
                      <m:sup/>
                      <m:e>
                        <m:r>
                          <a:rPr lang="en-US" i="1">
                            <a:latin typeface="Cambria Math"/>
                          </a:rPr>
                          <m:t>(2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𝒜</m:t>
                            </m:r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𝑧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  <a:ea typeface="Cambria Math"/>
                          </a:rPr>
                          <m:t>+2)</m:t>
                        </m:r>
                      </m:e>
                    </m:nary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7456" y="4237121"/>
                <a:ext cx="2426177" cy="369332"/>
              </a:xfrm>
              <a:prstGeom prst="rect">
                <a:avLst/>
              </a:prstGeom>
              <a:blipFill>
                <a:blip r:embed="rId3"/>
                <a:stretch>
                  <a:fillRect l="-1563" t="-110000" b="-16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/>
          <p:cNvSpPr/>
          <p:nvPr/>
        </p:nvSpPr>
        <p:spPr>
          <a:xfrm>
            <a:off x="2147455" y="4008521"/>
            <a:ext cx="1066800" cy="838200"/>
          </a:xfrm>
          <a:prstGeom prst="ellipse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1638301" y="304800"/>
            <a:ext cx="3581400" cy="6858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600" dirty="0"/>
              <a:t> </a:t>
            </a:r>
            <a:r>
              <a:rPr lang="en-US" sz="3200" dirty="0"/>
              <a:t>Corresponding FA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2147455" y="5029200"/>
            <a:ext cx="2653145" cy="762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/>
              <a:t>Drastically increasing with the number of clocks</a:t>
            </a:r>
          </a:p>
        </p:txBody>
      </p:sp>
    </p:spTree>
    <p:extLst>
      <p:ext uri="{BB962C8B-B14F-4D97-AF65-F5344CB8AC3E}">
        <p14:creationId xmlns:p14="http://schemas.microsoft.com/office/powerpoint/2010/main" val="1678656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35000">
              <a:schemeClr val="bg1"/>
            </a:gs>
            <a:gs pos="43000">
              <a:schemeClr val="bg1">
                <a:lumMod val="75000"/>
              </a:schemeClr>
            </a:gs>
            <a:gs pos="100000">
              <a:schemeClr val="tx1">
                <a:lumMod val="75000"/>
                <a:lumOff val="2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7630" y="365125"/>
            <a:ext cx="8229600" cy="1325563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Later we will study how far the idea of abstractions can help analyze a hierarchy of Hybrid Automata 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EB32AF7-57BB-8B8E-397A-4F4688D7DFCB}"/>
              </a:ext>
            </a:extLst>
          </p:cNvPr>
          <p:cNvCxnSpPr/>
          <p:nvPr/>
        </p:nvCxnSpPr>
        <p:spPr>
          <a:xfrm flipV="1">
            <a:off x="3994484" y="0"/>
            <a:ext cx="6882063" cy="6858000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6537A8-A363-A8AD-3404-61119D632416}"/>
              </a:ext>
            </a:extLst>
          </p:cNvPr>
          <p:cNvSpPr txBox="1"/>
          <p:nvPr/>
        </p:nvSpPr>
        <p:spPr>
          <a:xfrm>
            <a:off x="9192461" y="1106905"/>
            <a:ext cx="29995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Clr>
                <a:schemeClr val="accent2"/>
              </a:buClr>
              <a:buSzPct val="400000"/>
            </a:pPr>
            <a:r>
              <a:rPr lang="en-US" sz="2400" dirty="0">
                <a:solidFill>
                  <a:schemeClr val="accent2"/>
                </a:solidFill>
              </a:rPr>
              <a:t>        Nonlinear Hybrid </a:t>
            </a:r>
          </a:p>
          <a:p>
            <a:pPr marL="342900" indent="-342900">
              <a:buClr>
                <a:schemeClr val="accent2"/>
              </a:buClr>
              <a:buSzPct val="4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/>
                </a:solidFill>
              </a:rPr>
              <a:t>Automata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5844D2-583D-0BAD-B3D5-D9B7C368AFBC}"/>
              </a:ext>
            </a:extLst>
          </p:cNvPr>
          <p:cNvSpPr txBox="1"/>
          <p:nvPr/>
        </p:nvSpPr>
        <p:spPr>
          <a:xfrm>
            <a:off x="4820655" y="5831305"/>
            <a:ext cx="38619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Clr>
                <a:schemeClr val="accent2"/>
              </a:buClr>
              <a:buSzPct val="4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/>
                </a:solidFill>
              </a:rPr>
              <a:t>Integral Timed Automata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55200D-80C7-E9B8-2BF9-8FD83BEED50E}"/>
              </a:ext>
            </a:extLst>
          </p:cNvPr>
          <p:cNvSpPr txBox="1"/>
          <p:nvPr/>
        </p:nvSpPr>
        <p:spPr>
          <a:xfrm>
            <a:off x="5422234" y="5181600"/>
            <a:ext cx="39710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Clr>
                <a:schemeClr val="accent2"/>
              </a:buClr>
              <a:buSzPct val="4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/>
                </a:solidFill>
              </a:rPr>
              <a:t>Rational Timed Automata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592A37-64D3-E423-EF27-5518F547C1CA}"/>
              </a:ext>
            </a:extLst>
          </p:cNvPr>
          <p:cNvSpPr txBox="1"/>
          <p:nvPr/>
        </p:nvSpPr>
        <p:spPr>
          <a:xfrm>
            <a:off x="6079961" y="4539916"/>
            <a:ext cx="3166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Clr>
                <a:schemeClr val="accent2"/>
              </a:buClr>
              <a:buSzPct val="400000"/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accent2"/>
                </a:solidFill>
              </a:rPr>
              <a:t>Multirate</a:t>
            </a:r>
            <a:r>
              <a:rPr lang="en-US" sz="2400" dirty="0">
                <a:solidFill>
                  <a:schemeClr val="accent2"/>
                </a:solidFill>
              </a:rPr>
              <a:t> Automata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BAF886-7AE9-FE58-6DE4-A944E0CF6CB8}"/>
              </a:ext>
            </a:extLst>
          </p:cNvPr>
          <p:cNvSpPr txBox="1"/>
          <p:nvPr/>
        </p:nvSpPr>
        <p:spPr>
          <a:xfrm>
            <a:off x="7186866" y="3449052"/>
            <a:ext cx="4535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Clr>
                <a:schemeClr val="accent2"/>
              </a:buClr>
              <a:buSzPct val="4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/>
                </a:solidFill>
              </a:rPr>
              <a:t>Rectangular Hybrid Automata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79EA15-7095-0925-0BA1-C25D168024A2}"/>
              </a:ext>
            </a:extLst>
          </p:cNvPr>
          <p:cNvSpPr txBox="1"/>
          <p:nvPr/>
        </p:nvSpPr>
        <p:spPr>
          <a:xfrm>
            <a:off x="7884697" y="2778837"/>
            <a:ext cx="43073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accent2"/>
              </a:buClr>
              <a:buSzPct val="4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/>
                </a:solidFill>
              </a:rPr>
              <a:t>Rectangular Initialized Hybrid Automata</a:t>
            </a:r>
          </a:p>
        </p:txBody>
      </p:sp>
    </p:spTree>
    <p:extLst>
      <p:ext uri="{BB962C8B-B14F-4D97-AF65-F5344CB8AC3E}">
        <p14:creationId xmlns:p14="http://schemas.microsoft.com/office/powerpoint/2010/main" val="373219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76076-F4C0-6A47-AA28-E971A8847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A8FAA-F294-1449-9D5B-EB3D1062B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Abstractions</a:t>
            </a:r>
          </a:p>
          <a:p>
            <a:r>
              <a:rPr lang="en-US" dirty="0"/>
              <a:t>Simulation relations</a:t>
            </a:r>
          </a:p>
          <a:p>
            <a:r>
              <a:rPr lang="en-US" dirty="0"/>
              <a:t>Composition and substitutivity</a:t>
            </a:r>
          </a:p>
        </p:txBody>
      </p:sp>
    </p:spTree>
    <p:extLst>
      <p:ext uri="{BB962C8B-B14F-4D97-AF65-F5344CB8AC3E}">
        <p14:creationId xmlns:p14="http://schemas.microsoft.com/office/powerpoint/2010/main" val="1150866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Abstractions and Simulations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Consider models that have the same external interface (input/output variables and actions)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We would like to </a:t>
                </a:r>
                <a:r>
                  <a:rPr lang="en-US" i="1" dirty="0"/>
                  <a:t>approximate</a:t>
                </a:r>
                <a:r>
                  <a:rPr lang="en-US" dirty="0"/>
                  <a:t> one (hybrid) automaton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𝐻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with another 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𝐻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We can over-approximate the reachable states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𝐻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with those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This would ensure that invariants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i="1" dirty="0"/>
                  <a:t>carry over</a:t>
                </a:r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𝐻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We would like to go beyond invariants, and want to have more general requirements (e.g., CTL) carry over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𝐻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should be </a:t>
                </a:r>
                <a:r>
                  <a:rPr lang="en-US" i="1" dirty="0"/>
                  <a:t>simpler </a:t>
                </a:r>
                <a:r>
                  <a:rPr lang="en-US" dirty="0"/>
                  <a:t>(smaller description, fewer states, transitions, linear dynamics, etc.) and preserve some properties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𝐻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(and not others)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Verifying some requirements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𝐻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can then carry over requirements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𝐻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 t="-1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2782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state examples</a:t>
            </a:r>
          </a:p>
        </p:txBody>
      </p:sp>
      <p:sp>
        <p:nvSpPr>
          <p:cNvPr id="4" name="Oval 3"/>
          <p:cNvSpPr/>
          <p:nvPr/>
        </p:nvSpPr>
        <p:spPr>
          <a:xfrm>
            <a:off x="1259114" y="2209800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A0</a:t>
            </a:r>
          </a:p>
        </p:txBody>
      </p:sp>
      <p:sp>
        <p:nvSpPr>
          <p:cNvPr id="5" name="Oval 4"/>
          <p:cNvSpPr/>
          <p:nvPr/>
        </p:nvSpPr>
        <p:spPr>
          <a:xfrm>
            <a:off x="2706914" y="2209800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A1</a:t>
            </a:r>
          </a:p>
        </p:txBody>
      </p:sp>
      <p:cxnSp>
        <p:nvCxnSpPr>
          <p:cNvPr id="7" name="Curved Connector 6"/>
          <p:cNvCxnSpPr>
            <a:stCxn id="4" idx="7"/>
            <a:endCxn id="5" idx="1"/>
          </p:cNvCxnSpPr>
          <p:nvPr/>
        </p:nvCxnSpPr>
        <p:spPr>
          <a:xfrm rot="5400000" flipH="1" flipV="1">
            <a:off x="2364014" y="1866900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urved Connector 7"/>
          <p:cNvCxnSpPr>
            <a:stCxn id="5" idx="3"/>
            <a:endCxn id="4" idx="5"/>
          </p:cNvCxnSpPr>
          <p:nvPr/>
        </p:nvCxnSpPr>
        <p:spPr>
          <a:xfrm rot="5400000">
            <a:off x="2364014" y="2405716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219521" y="16042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9521" y="27871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cxnSp>
        <p:nvCxnSpPr>
          <p:cNvPr id="17" name="Curved Connector 16"/>
          <p:cNvCxnSpPr>
            <a:stCxn id="17" idx="7"/>
            <a:endCxn id="18" idx="1"/>
          </p:cNvCxnSpPr>
          <p:nvPr/>
        </p:nvCxnSpPr>
        <p:spPr>
          <a:xfrm rot="5400000" flipH="1" flipV="1">
            <a:off x="3799114" y="1866900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/>
          <p:cNvCxnSpPr>
            <a:stCxn id="18" idx="3"/>
            <a:endCxn id="17" idx="5"/>
          </p:cNvCxnSpPr>
          <p:nvPr/>
        </p:nvCxnSpPr>
        <p:spPr>
          <a:xfrm rot="5400000">
            <a:off x="3799114" y="2405716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54621" y="16042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4621" y="27871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1" name="Oval 20"/>
          <p:cNvSpPr/>
          <p:nvPr/>
        </p:nvSpPr>
        <p:spPr>
          <a:xfrm>
            <a:off x="4125672" y="2209800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A2</a:t>
            </a:r>
          </a:p>
        </p:txBody>
      </p:sp>
      <p:sp>
        <p:nvSpPr>
          <p:cNvPr id="22" name="Oval 21"/>
          <p:cNvSpPr/>
          <p:nvPr/>
        </p:nvSpPr>
        <p:spPr>
          <a:xfrm>
            <a:off x="5573472" y="2209800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A3</a:t>
            </a:r>
          </a:p>
        </p:txBody>
      </p:sp>
      <p:cxnSp>
        <p:nvCxnSpPr>
          <p:cNvPr id="23" name="Curved Connector 22"/>
          <p:cNvCxnSpPr>
            <a:stCxn id="23" idx="7"/>
            <a:endCxn id="24" idx="1"/>
          </p:cNvCxnSpPr>
          <p:nvPr/>
        </p:nvCxnSpPr>
        <p:spPr>
          <a:xfrm rot="5400000" flipH="1" flipV="1">
            <a:off x="5230572" y="1866900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/>
          <p:cNvCxnSpPr>
            <a:stCxn id="24" idx="3"/>
            <a:endCxn id="23" idx="5"/>
          </p:cNvCxnSpPr>
          <p:nvPr/>
        </p:nvCxnSpPr>
        <p:spPr>
          <a:xfrm rot="5400000">
            <a:off x="5230572" y="2405716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86079" y="16042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6079" y="27871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7" name="Oval 26"/>
          <p:cNvSpPr/>
          <p:nvPr/>
        </p:nvSpPr>
        <p:spPr>
          <a:xfrm>
            <a:off x="1259114" y="4186522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B02</a:t>
            </a:r>
          </a:p>
        </p:txBody>
      </p:sp>
      <p:sp>
        <p:nvSpPr>
          <p:cNvPr id="28" name="Oval 27"/>
          <p:cNvSpPr/>
          <p:nvPr/>
        </p:nvSpPr>
        <p:spPr>
          <a:xfrm>
            <a:off x="2706914" y="4186522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B13</a:t>
            </a:r>
          </a:p>
        </p:txBody>
      </p:sp>
      <p:cxnSp>
        <p:nvCxnSpPr>
          <p:cNvPr id="29" name="Curved Connector 28"/>
          <p:cNvCxnSpPr>
            <a:stCxn id="29" idx="7"/>
            <a:endCxn id="30" idx="1"/>
          </p:cNvCxnSpPr>
          <p:nvPr/>
        </p:nvCxnSpPr>
        <p:spPr>
          <a:xfrm rot="5400000" flipH="1" flipV="1">
            <a:off x="2364014" y="3843622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/>
          <p:cNvCxnSpPr>
            <a:stCxn id="30" idx="3"/>
            <a:endCxn id="29" idx="5"/>
          </p:cNvCxnSpPr>
          <p:nvPr/>
        </p:nvCxnSpPr>
        <p:spPr>
          <a:xfrm rot="5400000">
            <a:off x="2364014" y="4382438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219521" y="35809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19521" y="47638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3" name="Oval 32"/>
          <p:cNvSpPr/>
          <p:nvPr/>
        </p:nvSpPr>
        <p:spPr>
          <a:xfrm>
            <a:off x="1259114" y="5745594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C03</a:t>
            </a:r>
          </a:p>
        </p:txBody>
      </p:sp>
      <p:cxnSp>
        <p:nvCxnSpPr>
          <p:cNvPr id="35" name="Curved Connector 34"/>
          <p:cNvCxnSpPr>
            <a:stCxn id="33" idx="7"/>
            <a:endCxn id="33" idx="5"/>
          </p:cNvCxnSpPr>
          <p:nvPr/>
        </p:nvCxnSpPr>
        <p:spPr>
          <a:xfrm rot="16200000" flipH="1">
            <a:off x="1640114" y="6126594"/>
            <a:ext cx="538816" cy="12700"/>
          </a:xfrm>
          <a:prstGeom prst="curvedConnector5">
            <a:avLst>
              <a:gd name="adj1" fmla="val -42426"/>
              <a:gd name="adj2" fmla="val 6921323"/>
              <a:gd name="adj3" fmla="val 1424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786228" y="5994084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0,1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99670" y="4382856"/>
            <a:ext cx="1372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/>
              <a:t>Traces</a:t>
            </a:r>
            <a:r>
              <a:rPr lang="en-US" baseline="-25000" dirty="0" err="1"/>
              <a:t>B</a:t>
            </a:r>
            <a:r>
              <a:rPr lang="en-US" dirty="0"/>
              <a:t>= 01*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89064" y="5809418"/>
            <a:ext cx="15731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/>
              <a:t>Traces</a:t>
            </a:r>
            <a:r>
              <a:rPr lang="en-US" baseline="-25000" dirty="0" err="1"/>
              <a:t>C</a:t>
            </a:r>
            <a:r>
              <a:rPr lang="en-US" dirty="0"/>
              <a:t>= {0,1}*</a:t>
            </a:r>
          </a:p>
        </p:txBody>
      </p:sp>
      <p:sp>
        <p:nvSpPr>
          <p:cNvPr id="3" name="Rectangle 2"/>
          <p:cNvSpPr/>
          <p:nvPr/>
        </p:nvSpPr>
        <p:spPr>
          <a:xfrm>
            <a:off x="689687" y="2406134"/>
            <a:ext cx="3177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9687" y="4358296"/>
            <a:ext cx="3097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9687" y="5948278"/>
            <a:ext cx="3080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DF6A74-DB65-0136-5FFD-67C1454249F6}"/>
                  </a:ext>
                </a:extLst>
              </p:cNvPr>
              <p:cNvSpPr txBox="1"/>
              <p:nvPr/>
            </p:nvSpPr>
            <p:spPr>
              <a:xfrm>
                <a:off x="6502400" y="1291771"/>
                <a:ext cx="5994400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An execution of A is </a:t>
                </a:r>
              </a:p>
              <a:p>
                <a:r>
                  <a:rPr lang="en-US" sz="2000" b="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0,0,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1,1,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2,0,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3, 1, 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Trace is the </a:t>
                </a:r>
                <a:r>
                  <a:rPr lang="en-US" sz="2000" b="1" dirty="0"/>
                  <a:t>visible</a:t>
                </a:r>
                <a:r>
                  <a:rPr lang="en-US" sz="2000" dirty="0"/>
                  <a:t> or </a:t>
                </a:r>
                <a:r>
                  <a:rPr lang="en-US" sz="2000" b="1" dirty="0"/>
                  <a:t>observable</a:t>
                </a:r>
                <a:r>
                  <a:rPr lang="en-US" sz="2000" dirty="0"/>
                  <a:t> part of an execution</a:t>
                </a:r>
              </a:p>
              <a:p>
                <a:r>
                  <a:rPr lang="en-US" sz="2000" b="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𝑡𝑟𝑎𝑐𝑒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)=0,1,0,1</m:t>
                    </m:r>
                  </m:oMath>
                </a14:m>
                <a:endParaRPr lang="en-US" sz="2000" dirty="0"/>
              </a:p>
              <a:p>
                <a:r>
                  <a:rPr lang="en-US" sz="2000" b="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𝑇𝑟𝑎𝑐𝑒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000" dirty="0"/>
                  <a:t> Set of all traces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2000" b="0" dirty="0"/>
              </a:p>
              <a:p>
                <a:r>
                  <a:rPr lang="en-US" sz="2000" b="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𝑇𝑟𝑎𝑐𝑒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01</m:t>
                            </m:r>
                          </m:e>
                        </m:d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DF6A74-DB65-0136-5FFD-67C1454249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0" y="1291771"/>
                <a:ext cx="5994400" cy="1938992"/>
              </a:xfrm>
              <a:prstGeom prst="rect">
                <a:avLst/>
              </a:prstGeom>
              <a:blipFill>
                <a:blip r:embed="rId2"/>
                <a:stretch>
                  <a:fillRect l="-1268" t="-1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64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7" grpId="0"/>
      <p:bldP spid="47" grpId="0"/>
      <p:bldP spid="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state examples</a:t>
            </a:r>
          </a:p>
        </p:txBody>
      </p:sp>
      <p:sp>
        <p:nvSpPr>
          <p:cNvPr id="4" name="Oval 3"/>
          <p:cNvSpPr/>
          <p:nvPr/>
        </p:nvSpPr>
        <p:spPr>
          <a:xfrm>
            <a:off x="2362200" y="2209800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A0</a:t>
            </a:r>
          </a:p>
        </p:txBody>
      </p:sp>
      <p:sp>
        <p:nvSpPr>
          <p:cNvPr id="5" name="Oval 4"/>
          <p:cNvSpPr/>
          <p:nvPr/>
        </p:nvSpPr>
        <p:spPr>
          <a:xfrm>
            <a:off x="3810000" y="2209800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A1</a:t>
            </a:r>
          </a:p>
        </p:txBody>
      </p:sp>
      <p:cxnSp>
        <p:nvCxnSpPr>
          <p:cNvPr id="7" name="Curved Connector 6"/>
          <p:cNvCxnSpPr>
            <a:stCxn id="4" idx="7"/>
            <a:endCxn id="5" idx="1"/>
          </p:cNvCxnSpPr>
          <p:nvPr/>
        </p:nvCxnSpPr>
        <p:spPr>
          <a:xfrm rot="5400000" flipH="1" flipV="1">
            <a:off x="3467100" y="1866900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urved Connector 7"/>
          <p:cNvCxnSpPr>
            <a:stCxn id="5" idx="3"/>
            <a:endCxn id="4" idx="5"/>
          </p:cNvCxnSpPr>
          <p:nvPr/>
        </p:nvCxnSpPr>
        <p:spPr>
          <a:xfrm rot="5400000">
            <a:off x="3467100" y="2405716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22607" y="16042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607" y="27871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cxnSp>
        <p:nvCxnSpPr>
          <p:cNvPr id="17" name="Curved Connector 16"/>
          <p:cNvCxnSpPr>
            <a:stCxn id="17" idx="7"/>
            <a:endCxn id="18" idx="1"/>
          </p:cNvCxnSpPr>
          <p:nvPr/>
        </p:nvCxnSpPr>
        <p:spPr>
          <a:xfrm rot="5400000" flipH="1" flipV="1">
            <a:off x="4902200" y="1866900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/>
          <p:cNvCxnSpPr>
            <a:stCxn id="18" idx="3"/>
            <a:endCxn id="17" idx="5"/>
          </p:cNvCxnSpPr>
          <p:nvPr/>
        </p:nvCxnSpPr>
        <p:spPr>
          <a:xfrm rot="5400000">
            <a:off x="4902200" y="2405716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57707" y="16042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7707" y="27871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1" name="Oval 20"/>
          <p:cNvSpPr/>
          <p:nvPr/>
        </p:nvSpPr>
        <p:spPr>
          <a:xfrm>
            <a:off x="5228758" y="2209800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A2</a:t>
            </a:r>
          </a:p>
        </p:txBody>
      </p:sp>
      <p:sp>
        <p:nvSpPr>
          <p:cNvPr id="22" name="Oval 21"/>
          <p:cNvSpPr/>
          <p:nvPr/>
        </p:nvSpPr>
        <p:spPr>
          <a:xfrm>
            <a:off x="6676558" y="2209800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A3</a:t>
            </a:r>
          </a:p>
        </p:txBody>
      </p:sp>
      <p:cxnSp>
        <p:nvCxnSpPr>
          <p:cNvPr id="23" name="Curved Connector 22"/>
          <p:cNvCxnSpPr>
            <a:stCxn id="23" idx="7"/>
            <a:endCxn id="24" idx="1"/>
          </p:cNvCxnSpPr>
          <p:nvPr/>
        </p:nvCxnSpPr>
        <p:spPr>
          <a:xfrm rot="5400000" flipH="1" flipV="1">
            <a:off x="6333658" y="1866900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/>
          <p:cNvCxnSpPr>
            <a:stCxn id="24" idx="3"/>
            <a:endCxn id="23" idx="5"/>
          </p:cNvCxnSpPr>
          <p:nvPr/>
        </p:nvCxnSpPr>
        <p:spPr>
          <a:xfrm rot="5400000">
            <a:off x="6333658" y="2405716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189165" y="16042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9165" y="27871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7" name="Oval 26"/>
          <p:cNvSpPr/>
          <p:nvPr/>
        </p:nvSpPr>
        <p:spPr>
          <a:xfrm>
            <a:off x="2362200" y="4186522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B02</a:t>
            </a:r>
          </a:p>
        </p:txBody>
      </p:sp>
      <p:sp>
        <p:nvSpPr>
          <p:cNvPr id="28" name="Oval 27"/>
          <p:cNvSpPr/>
          <p:nvPr/>
        </p:nvSpPr>
        <p:spPr>
          <a:xfrm>
            <a:off x="3810000" y="4186522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B13</a:t>
            </a:r>
          </a:p>
        </p:txBody>
      </p:sp>
      <p:cxnSp>
        <p:nvCxnSpPr>
          <p:cNvPr id="29" name="Curved Connector 28"/>
          <p:cNvCxnSpPr>
            <a:stCxn id="29" idx="7"/>
            <a:endCxn id="30" idx="1"/>
          </p:cNvCxnSpPr>
          <p:nvPr/>
        </p:nvCxnSpPr>
        <p:spPr>
          <a:xfrm rot="5400000" flipH="1" flipV="1">
            <a:off x="3467100" y="3843622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/>
          <p:cNvCxnSpPr>
            <a:stCxn id="30" idx="3"/>
            <a:endCxn id="29" idx="5"/>
          </p:cNvCxnSpPr>
          <p:nvPr/>
        </p:nvCxnSpPr>
        <p:spPr>
          <a:xfrm rot="5400000">
            <a:off x="3467100" y="4382438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322607" y="35809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607" y="47638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3" name="Oval 32"/>
          <p:cNvSpPr/>
          <p:nvPr/>
        </p:nvSpPr>
        <p:spPr>
          <a:xfrm>
            <a:off x="2362200" y="5745594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C03</a:t>
            </a:r>
          </a:p>
        </p:txBody>
      </p:sp>
      <p:cxnSp>
        <p:nvCxnSpPr>
          <p:cNvPr id="35" name="Curved Connector 34"/>
          <p:cNvCxnSpPr>
            <a:stCxn id="33" idx="7"/>
            <a:endCxn id="33" idx="5"/>
          </p:cNvCxnSpPr>
          <p:nvPr/>
        </p:nvCxnSpPr>
        <p:spPr>
          <a:xfrm rot="16200000" flipH="1">
            <a:off x="2743200" y="6126594"/>
            <a:ext cx="538816" cy="12700"/>
          </a:xfrm>
          <a:prstGeom prst="curvedConnector5">
            <a:avLst>
              <a:gd name="adj1" fmla="val -42426"/>
              <a:gd name="adj2" fmla="val 6921323"/>
              <a:gd name="adj3" fmla="val 1424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89314" y="5994084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0,1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76559" y="3608926"/>
            <a:ext cx="292669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B </a:t>
            </a:r>
            <a:r>
              <a:rPr lang="en-US" b="1" dirty="0"/>
              <a:t>simulates</a:t>
            </a:r>
            <a:r>
              <a:rPr lang="en-US" dirty="0"/>
              <a:t> A and vice versa. </a:t>
            </a:r>
          </a:p>
          <a:p>
            <a:pPr algn="ctr"/>
            <a:r>
              <a:rPr lang="en-US" dirty="0"/>
              <a:t>A and B are </a:t>
            </a:r>
            <a:r>
              <a:rPr lang="en-US" b="1" dirty="0" err="1"/>
              <a:t>bisimilar</a:t>
            </a:r>
            <a:r>
              <a:rPr lang="en-US" dirty="0"/>
              <a:t>. 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7734" y="5540371"/>
            <a:ext cx="346434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C simulates both A and B</a:t>
            </a:r>
            <a:r>
              <a:rPr lang="en-US"/>
              <a:t>. </a:t>
            </a:r>
          </a:p>
          <a:p>
            <a:pPr algn="ctr"/>
            <a:r>
              <a:rPr lang="en-US" dirty="0"/>
              <a:t>C is an abstraction of both A and B.</a:t>
            </a:r>
          </a:p>
        </p:txBody>
      </p:sp>
      <p:sp>
        <p:nvSpPr>
          <p:cNvPr id="3" name="Rectangle 2"/>
          <p:cNvSpPr/>
          <p:nvPr/>
        </p:nvSpPr>
        <p:spPr>
          <a:xfrm>
            <a:off x="1792773" y="2406134"/>
            <a:ext cx="3177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92773" y="4358296"/>
            <a:ext cx="3097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92773" y="5948278"/>
            <a:ext cx="3080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8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7" grpId="0"/>
      <p:bldP spid="47" grpId="0"/>
      <p:bldP spid="47" grpId="1"/>
      <p:bldP spid="3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74" y="274638"/>
            <a:ext cx="8646627" cy="1143000"/>
          </a:xfrm>
        </p:spPr>
        <p:txBody>
          <a:bodyPr>
            <a:normAutofit/>
          </a:bodyPr>
          <a:lstStyle/>
          <a:p>
            <a:r>
              <a:rPr lang="en-US" dirty="0"/>
              <a:t>How to prove B simulates A?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651642" y="3791453"/>
                <a:ext cx="10865302" cy="22955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+mj-lt"/>
                  </a:rPr>
                  <a:t>Show there exists a </a:t>
                </a:r>
                <a:r>
                  <a:rPr lang="en-US" sz="2000" b="1" dirty="0">
                    <a:latin typeface="+mj-lt"/>
                  </a:rPr>
                  <a:t>simulation relation </a:t>
                </a:r>
                <a:r>
                  <a:rPr lang="en-US" sz="2000" dirty="0">
                    <a:latin typeface="+mj-lt"/>
                  </a:rPr>
                  <a:t>from states of A to states of B. Say,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= ((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0,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02), 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2,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02), 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1, 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13), 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3, 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13))</m:t>
                    </m:r>
                  </m:oMath>
                </a14:m>
                <a:endParaRPr lang="en-US" sz="2000" dirty="0">
                  <a:latin typeface="+mj-lt"/>
                </a:endParaRPr>
              </a:p>
              <a:p>
                <a:endParaRPr lang="en-US" sz="2000" dirty="0">
                  <a:latin typeface="+mj-lt"/>
                </a:endParaRPr>
              </a:p>
              <a:p>
                <a:r>
                  <a:rPr lang="en-US" sz="2000" dirty="0">
                    <a:latin typeface="+mj-lt"/>
                  </a:rPr>
                  <a:t>Show that for every transition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𝐴𝑖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𝐴𝑖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𝐴𝑖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𝐵𝑗</m:t>
                        </m:r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000" dirty="0">
                    <a:latin typeface="+mj-lt"/>
                  </a:rPr>
                  <a:t> there exists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𝐵𝑗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latin typeface="+mj-lt"/>
                  </a:rPr>
                  <a:t> such that 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𝐵𝑗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𝐵𝑗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sz="2000" dirty="0">
                  <a:latin typeface="+mj-lt"/>
                </a:endParaRP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𝐴𝑖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𝐵𝑗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2000" dirty="0">
                  <a:latin typeface="+mj-lt"/>
                </a:endParaRP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𝑇𝑟𝑎𝑐𝑒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𝐵𝑗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𝐵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𝑇𝑟𝑎𝑐𝑒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𝐴𝑖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42" y="3791453"/>
                <a:ext cx="10865302" cy="2295500"/>
              </a:xfrm>
              <a:prstGeom prst="rect">
                <a:avLst/>
              </a:prstGeom>
              <a:blipFill>
                <a:blip r:embed="rId2"/>
                <a:stretch>
                  <a:fillRect l="-467" t="-1657" b="-2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/>
          <p:cNvGrpSpPr/>
          <p:nvPr/>
        </p:nvGrpSpPr>
        <p:grpSpPr>
          <a:xfrm>
            <a:off x="1783809" y="1197495"/>
            <a:ext cx="4684227" cy="1350746"/>
            <a:chOff x="268773" y="1604260"/>
            <a:chExt cx="5645785" cy="1628022"/>
          </a:xfrm>
        </p:grpSpPr>
        <p:sp>
          <p:nvSpPr>
            <p:cNvPr id="4" name="Oval 3"/>
            <p:cNvSpPr/>
            <p:nvPr/>
          </p:nvSpPr>
          <p:spPr>
            <a:xfrm>
              <a:off x="838200" y="2209800"/>
              <a:ext cx="762000" cy="76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A0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2286000" y="2209800"/>
              <a:ext cx="762000" cy="76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A1</a:t>
              </a:r>
            </a:p>
          </p:txBody>
        </p:sp>
        <p:cxnSp>
          <p:nvCxnSpPr>
            <p:cNvPr id="7" name="Curved Connector 6"/>
            <p:cNvCxnSpPr>
              <a:stCxn id="4" idx="7"/>
              <a:endCxn id="5" idx="1"/>
            </p:cNvCxnSpPr>
            <p:nvPr/>
          </p:nvCxnSpPr>
          <p:spPr>
            <a:xfrm rot="5400000" flipH="1" flipV="1">
              <a:off x="1943100" y="1866900"/>
              <a:ext cx="12700" cy="908984"/>
            </a:xfrm>
            <a:prstGeom prst="curvedConnector3">
              <a:avLst>
                <a:gd name="adj1" fmla="val 267867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urved Connector 7"/>
            <p:cNvCxnSpPr>
              <a:stCxn id="5" idx="3"/>
              <a:endCxn id="4" idx="5"/>
            </p:cNvCxnSpPr>
            <p:nvPr/>
          </p:nvCxnSpPr>
          <p:spPr>
            <a:xfrm rot="5400000">
              <a:off x="1943100" y="2405716"/>
              <a:ext cx="12700" cy="908984"/>
            </a:xfrm>
            <a:prstGeom prst="curvedConnector3">
              <a:avLst>
                <a:gd name="adj1" fmla="val 267867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1798607" y="1604260"/>
              <a:ext cx="363615" cy="4451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0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98607" y="2787135"/>
              <a:ext cx="363615" cy="4451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cxnSp>
          <p:nvCxnSpPr>
            <p:cNvPr id="17" name="Curved Connector 16"/>
            <p:cNvCxnSpPr>
              <a:stCxn id="17" idx="7"/>
              <a:endCxn id="18" idx="1"/>
            </p:cNvCxnSpPr>
            <p:nvPr/>
          </p:nvCxnSpPr>
          <p:spPr>
            <a:xfrm rot="5400000" flipH="1" flipV="1">
              <a:off x="3378200" y="1866900"/>
              <a:ext cx="12700" cy="908984"/>
            </a:xfrm>
            <a:prstGeom prst="curvedConnector3">
              <a:avLst>
                <a:gd name="adj1" fmla="val 267867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urved Connector 17"/>
            <p:cNvCxnSpPr>
              <a:stCxn id="18" idx="3"/>
              <a:endCxn id="17" idx="5"/>
            </p:cNvCxnSpPr>
            <p:nvPr/>
          </p:nvCxnSpPr>
          <p:spPr>
            <a:xfrm rot="5400000">
              <a:off x="3378200" y="2405716"/>
              <a:ext cx="12700" cy="908984"/>
            </a:xfrm>
            <a:prstGeom prst="curvedConnector3">
              <a:avLst>
                <a:gd name="adj1" fmla="val 267867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233707" y="1604260"/>
              <a:ext cx="363615" cy="4451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233707" y="2787134"/>
              <a:ext cx="363615" cy="4451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3704758" y="2209800"/>
              <a:ext cx="762000" cy="76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A2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5152558" y="2209800"/>
              <a:ext cx="762000" cy="76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A3</a:t>
              </a:r>
            </a:p>
          </p:txBody>
        </p:sp>
        <p:cxnSp>
          <p:nvCxnSpPr>
            <p:cNvPr id="23" name="Curved Connector 22"/>
            <p:cNvCxnSpPr>
              <a:stCxn id="23" idx="7"/>
              <a:endCxn id="24" idx="1"/>
            </p:cNvCxnSpPr>
            <p:nvPr/>
          </p:nvCxnSpPr>
          <p:spPr>
            <a:xfrm rot="5400000" flipH="1" flipV="1">
              <a:off x="4809658" y="1866900"/>
              <a:ext cx="12700" cy="908984"/>
            </a:xfrm>
            <a:prstGeom prst="curvedConnector3">
              <a:avLst>
                <a:gd name="adj1" fmla="val 267867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24" idx="3"/>
              <a:endCxn id="23" idx="5"/>
            </p:cNvCxnSpPr>
            <p:nvPr/>
          </p:nvCxnSpPr>
          <p:spPr>
            <a:xfrm rot="5400000">
              <a:off x="4809658" y="2405716"/>
              <a:ext cx="12700" cy="908984"/>
            </a:xfrm>
            <a:prstGeom prst="curvedConnector3">
              <a:avLst>
                <a:gd name="adj1" fmla="val 267867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4665166" y="1604260"/>
              <a:ext cx="363615" cy="4451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665166" y="2787134"/>
              <a:ext cx="363615" cy="4451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3" name="Rectangle 2"/>
            <p:cNvSpPr/>
            <p:nvPr/>
          </p:nvSpPr>
          <p:spPr>
            <a:xfrm>
              <a:off x="268773" y="2406134"/>
              <a:ext cx="382935" cy="44514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850485" y="2550378"/>
            <a:ext cx="2199065" cy="1243727"/>
            <a:chOff x="268773" y="3580982"/>
            <a:chExt cx="2779227" cy="1571849"/>
          </a:xfrm>
        </p:grpSpPr>
        <p:sp>
          <p:nvSpPr>
            <p:cNvPr id="27" name="Oval 26"/>
            <p:cNvSpPr/>
            <p:nvPr/>
          </p:nvSpPr>
          <p:spPr>
            <a:xfrm>
              <a:off x="838200" y="4186522"/>
              <a:ext cx="762000" cy="76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1400" dirty="0"/>
                <a:t>B02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2286000" y="4186522"/>
              <a:ext cx="762000" cy="76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1400" dirty="0"/>
                <a:t>B13</a:t>
              </a:r>
            </a:p>
          </p:txBody>
        </p:sp>
        <p:cxnSp>
          <p:nvCxnSpPr>
            <p:cNvPr id="29" name="Curved Connector 28"/>
            <p:cNvCxnSpPr>
              <a:stCxn id="29" idx="7"/>
              <a:endCxn id="30" idx="1"/>
            </p:cNvCxnSpPr>
            <p:nvPr/>
          </p:nvCxnSpPr>
          <p:spPr>
            <a:xfrm rot="5400000" flipH="1" flipV="1">
              <a:off x="1943100" y="3843622"/>
              <a:ext cx="12700" cy="908984"/>
            </a:xfrm>
            <a:prstGeom prst="curvedConnector3">
              <a:avLst>
                <a:gd name="adj1" fmla="val 267867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urved Connector 29"/>
            <p:cNvCxnSpPr>
              <a:stCxn id="30" idx="3"/>
              <a:endCxn id="29" idx="5"/>
            </p:cNvCxnSpPr>
            <p:nvPr/>
          </p:nvCxnSpPr>
          <p:spPr>
            <a:xfrm rot="5400000">
              <a:off x="1943100" y="4382438"/>
              <a:ext cx="12700" cy="908984"/>
            </a:xfrm>
            <a:prstGeom prst="curvedConnector3">
              <a:avLst>
                <a:gd name="adj1" fmla="val 267867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1798607" y="3580982"/>
              <a:ext cx="348863" cy="38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0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798607" y="4763856"/>
              <a:ext cx="348863" cy="38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68773" y="4358295"/>
              <a:ext cx="356967" cy="3889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400" dirty="0"/>
                <a:t>B</a:t>
              </a:r>
            </a:p>
          </p:txBody>
        </p:sp>
      </p:grp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6579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9C2C-36ED-E643-A1BD-67F0C62CF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simulation relation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4029E7-DBE9-2547-AE31-FBBE8FB16C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5771" y="1825625"/>
                <a:ext cx="11078029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Consider a pair of automat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⟩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⟩.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Recall </a:t>
                </a:r>
                <a:r>
                  <a:rPr lang="en-US" i="1" dirty="0"/>
                  <a:t>trace</a:t>
                </a:r>
                <a:r>
                  <a:rPr lang="en-US" dirty="0"/>
                  <a:t> of an execution preserves the visible part of an execution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. A </a:t>
                </a:r>
                <a:r>
                  <a:rPr lang="en-US" b="1" dirty="0"/>
                  <a:t>relation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is a forward simulation relation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</a:p>
              <a:p>
                <a:pPr marL="514350" indent="-514350">
                  <a:buAutoNum type="arabicPeriod"/>
                </a:pPr>
                <a:r>
                  <a:rPr lang="en-US" dirty="0"/>
                  <a:t>For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there exists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514350" indent="-514350">
                  <a:buAutoNum type="arabicPeriod"/>
                </a:pPr>
                <a:r>
                  <a:rPr lang="en-US" dirty="0"/>
                  <a:t>For every transition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bSup>
                    <m:sSubSup>
                      <m:sSubSup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there exists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en-US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such that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𝑇𝑟𝑎𝑐𝑒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𝑇𝑟𝑎𝑐𝑒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Theorem. </a:t>
                </a:r>
                <a:r>
                  <a:rPr lang="en-US" dirty="0"/>
                  <a:t>If there exists a forward simulation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𝑇𝑟𝑎𝑐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𝑇𝑟𝑎𝑐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4029E7-DBE9-2547-AE31-FBBE8FB16C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5771" y="1825625"/>
                <a:ext cx="11078029" cy="4351338"/>
              </a:xfrm>
              <a:blipFill>
                <a:blip r:embed="rId2"/>
                <a:stretch>
                  <a:fillRect l="-801" t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1965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B2B982-2D14-084A-B2BE-377A2D62B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3944" y="256032"/>
                <a:ext cx="11878056" cy="660196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Theorem. </a:t>
                </a:r>
                <a:r>
                  <a:rPr lang="en-US" dirty="0"/>
                  <a:t>If there exists a forward simulation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𝑇𝑟𝑎𝑐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𝑇𝑟𝑎𝑐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Proof.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b="1" dirty="0"/>
                  <a:t>Consider any trace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b="1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1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b="1" dirty="0"/>
                  <a:t>There must exist a corresponding execution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b="1" dirty="0"/>
                  <a:t> 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𝑡𝑟𝑎𝑐𝑒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endParaRPr lang="en-US" b="1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b="1" dirty="0"/>
                  <a:t>We inductively construct a corresponding execution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/>
                  <a:t> 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𝑡𝑟𝑎𝑐𝑒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endParaRPr lang="en-US" b="0" i="1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𝑓𝑠𝑡𝑎𝑡𝑒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[by start condition]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Suppose we have already constructed prefix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ending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and the traces corresponding to the prefixes are equal.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For any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bSup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/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there exists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bSup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/>
                    </m:sSubSup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and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𝑇𝑟𝑎𝑐𝑒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𝑇𝑟𝑎𝑐𝑒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[by step condition]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B2B982-2D14-084A-B2BE-377A2D62B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3944" y="256032"/>
                <a:ext cx="11878056" cy="6601968"/>
              </a:xfrm>
              <a:blipFill>
                <a:blip r:embed="rId2"/>
                <a:stretch>
                  <a:fillRect l="-854"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776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state examples</a:t>
            </a:r>
          </a:p>
        </p:txBody>
      </p:sp>
      <p:sp>
        <p:nvSpPr>
          <p:cNvPr id="4" name="Oval 3"/>
          <p:cNvSpPr/>
          <p:nvPr/>
        </p:nvSpPr>
        <p:spPr>
          <a:xfrm>
            <a:off x="2362200" y="2209800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A0</a:t>
            </a:r>
          </a:p>
        </p:txBody>
      </p:sp>
      <p:sp>
        <p:nvSpPr>
          <p:cNvPr id="5" name="Oval 4"/>
          <p:cNvSpPr/>
          <p:nvPr/>
        </p:nvSpPr>
        <p:spPr>
          <a:xfrm>
            <a:off x="3810000" y="2209800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A1</a:t>
            </a:r>
          </a:p>
        </p:txBody>
      </p:sp>
      <p:cxnSp>
        <p:nvCxnSpPr>
          <p:cNvPr id="7" name="Curved Connector 6"/>
          <p:cNvCxnSpPr>
            <a:stCxn id="4" idx="7"/>
            <a:endCxn id="5" idx="1"/>
          </p:cNvCxnSpPr>
          <p:nvPr/>
        </p:nvCxnSpPr>
        <p:spPr>
          <a:xfrm rot="5400000" flipH="1" flipV="1">
            <a:off x="3467100" y="1866900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urved Connector 7"/>
          <p:cNvCxnSpPr>
            <a:stCxn id="5" idx="3"/>
            <a:endCxn id="4" idx="5"/>
          </p:cNvCxnSpPr>
          <p:nvPr/>
        </p:nvCxnSpPr>
        <p:spPr>
          <a:xfrm rot="5400000">
            <a:off x="3467100" y="2405716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22607" y="16042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607" y="27871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cxnSp>
        <p:nvCxnSpPr>
          <p:cNvPr id="17" name="Curved Connector 16"/>
          <p:cNvCxnSpPr>
            <a:stCxn id="17" idx="7"/>
            <a:endCxn id="18" idx="1"/>
          </p:cNvCxnSpPr>
          <p:nvPr/>
        </p:nvCxnSpPr>
        <p:spPr>
          <a:xfrm rot="5400000" flipH="1" flipV="1">
            <a:off x="4902200" y="1866900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/>
          <p:cNvCxnSpPr>
            <a:stCxn id="18" idx="3"/>
            <a:endCxn id="17" idx="5"/>
          </p:cNvCxnSpPr>
          <p:nvPr/>
        </p:nvCxnSpPr>
        <p:spPr>
          <a:xfrm rot="5400000">
            <a:off x="4902200" y="2405716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57707" y="16042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7707" y="27871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1" name="Oval 20"/>
          <p:cNvSpPr/>
          <p:nvPr/>
        </p:nvSpPr>
        <p:spPr>
          <a:xfrm>
            <a:off x="5228758" y="2209800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A2</a:t>
            </a:r>
          </a:p>
        </p:txBody>
      </p:sp>
      <p:sp>
        <p:nvSpPr>
          <p:cNvPr id="22" name="Oval 21"/>
          <p:cNvSpPr/>
          <p:nvPr/>
        </p:nvSpPr>
        <p:spPr>
          <a:xfrm>
            <a:off x="6676558" y="2209800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A3</a:t>
            </a:r>
          </a:p>
        </p:txBody>
      </p:sp>
      <p:cxnSp>
        <p:nvCxnSpPr>
          <p:cNvPr id="23" name="Curved Connector 22"/>
          <p:cNvCxnSpPr>
            <a:stCxn id="23" idx="7"/>
            <a:endCxn id="24" idx="1"/>
          </p:cNvCxnSpPr>
          <p:nvPr/>
        </p:nvCxnSpPr>
        <p:spPr>
          <a:xfrm rot="5400000" flipH="1" flipV="1">
            <a:off x="6333658" y="1866900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/>
          <p:cNvCxnSpPr>
            <a:stCxn id="24" idx="3"/>
            <a:endCxn id="23" idx="5"/>
          </p:cNvCxnSpPr>
          <p:nvPr/>
        </p:nvCxnSpPr>
        <p:spPr>
          <a:xfrm rot="5400000">
            <a:off x="6333658" y="2405716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189165" y="16042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9165" y="27871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7" name="Oval 26"/>
          <p:cNvSpPr/>
          <p:nvPr/>
        </p:nvSpPr>
        <p:spPr>
          <a:xfrm>
            <a:off x="2362200" y="4186522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B02</a:t>
            </a:r>
          </a:p>
        </p:txBody>
      </p:sp>
      <p:sp>
        <p:nvSpPr>
          <p:cNvPr id="28" name="Oval 27"/>
          <p:cNvSpPr/>
          <p:nvPr/>
        </p:nvSpPr>
        <p:spPr>
          <a:xfrm>
            <a:off x="3810000" y="4186522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B13</a:t>
            </a:r>
          </a:p>
        </p:txBody>
      </p:sp>
      <p:cxnSp>
        <p:nvCxnSpPr>
          <p:cNvPr id="29" name="Curved Connector 28"/>
          <p:cNvCxnSpPr>
            <a:stCxn id="29" idx="7"/>
            <a:endCxn id="30" idx="1"/>
          </p:cNvCxnSpPr>
          <p:nvPr/>
        </p:nvCxnSpPr>
        <p:spPr>
          <a:xfrm rot="5400000" flipH="1" flipV="1">
            <a:off x="3467100" y="3843622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/>
          <p:cNvCxnSpPr>
            <a:stCxn id="30" idx="3"/>
            <a:endCxn id="29" idx="5"/>
          </p:cNvCxnSpPr>
          <p:nvPr/>
        </p:nvCxnSpPr>
        <p:spPr>
          <a:xfrm rot="5400000">
            <a:off x="3467100" y="4382438"/>
            <a:ext cx="12700" cy="908984"/>
          </a:xfrm>
          <a:prstGeom prst="curvedConnector3">
            <a:avLst>
              <a:gd name="adj1" fmla="val 26786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322607" y="35809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607" y="47638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3" name="Oval 32"/>
          <p:cNvSpPr/>
          <p:nvPr/>
        </p:nvSpPr>
        <p:spPr>
          <a:xfrm>
            <a:off x="2362200" y="5745594"/>
            <a:ext cx="762000" cy="76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C03</a:t>
            </a:r>
          </a:p>
        </p:txBody>
      </p:sp>
      <p:cxnSp>
        <p:nvCxnSpPr>
          <p:cNvPr id="35" name="Curved Connector 34"/>
          <p:cNvCxnSpPr>
            <a:stCxn id="33" idx="7"/>
            <a:endCxn id="33" idx="1"/>
          </p:cNvCxnSpPr>
          <p:nvPr/>
        </p:nvCxnSpPr>
        <p:spPr>
          <a:xfrm rot="16200000" flipV="1">
            <a:off x="2743200" y="5587778"/>
            <a:ext cx="12700" cy="538816"/>
          </a:xfrm>
          <a:prstGeom prst="curvedConnector3">
            <a:avLst>
              <a:gd name="adj1" fmla="val 469044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234686" y="57143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4613742" y="3846375"/>
                <a:ext cx="6054258" cy="26161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800" dirty="0"/>
                  <a:t>Check that A also simulates B and that C simulates both A and B.</a:t>
                </a:r>
              </a:p>
              <a:p>
                <a:pPr algn="ctr"/>
                <a:endParaRPr lang="en-US" sz="2800" dirty="0"/>
              </a:p>
              <a:p>
                <a:r>
                  <a:rPr lang="en-US" sz="2400" dirty="0"/>
                  <a:t>Therefore, </a:t>
                </a:r>
                <a:r>
                  <a:rPr lang="en-US" sz="2400" dirty="0" err="1"/>
                  <a:t>Traces</a:t>
                </a:r>
                <a:r>
                  <a:rPr lang="en-US" sz="2400" baseline="-25000" dirty="0" err="1"/>
                  <a:t>A</a:t>
                </a:r>
                <a:r>
                  <a:rPr lang="en-US" sz="2400" baseline="-25000" dirty="0"/>
                  <a:t> </a:t>
                </a:r>
                <a:r>
                  <a:rPr lang="en-US" sz="2400" dirty="0"/>
                  <a:t>= </a:t>
                </a:r>
                <a:r>
                  <a:rPr lang="en-US" sz="2400" dirty="0" err="1"/>
                  <a:t>Traces</a:t>
                </a:r>
                <a:r>
                  <a:rPr lang="en-US" sz="2400" baseline="-25000" dirty="0" err="1"/>
                  <a:t>B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⊆</m:t>
                    </m:r>
                    <m:r>
                      <a:rPr lang="en-US" sz="2400" i="1">
                        <a:latin typeface="Cambria Math" charset="0"/>
                      </a:rPr>
                      <m:t>𝑇𝑟𝑎𝑐𝑒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charset="0"/>
                          </a:rPr>
                          <m:t>𝐶</m:t>
                        </m:r>
                      </m:sub>
                    </m:sSub>
                    <m:r>
                      <a:rPr lang="en-US" sz="2400" i="1">
                        <a:latin typeface="Cambria Math" charset="0"/>
                      </a:rPr>
                      <m:t>?</m:t>
                    </m:r>
                  </m:oMath>
                </a14:m>
                <a:endParaRPr lang="en-US" sz="2400" dirty="0"/>
              </a:p>
              <a:p>
                <a:pPr algn="ctr"/>
                <a:endParaRPr lang="en-US" sz="2800" dirty="0"/>
              </a:p>
              <a:p>
                <a:pPr algn="ctr"/>
                <a:r>
                  <a:rPr lang="en-US" sz="2800" dirty="0"/>
                  <a:t>Does A simulate C?</a:t>
                </a:r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742" y="3846375"/>
                <a:ext cx="6054258" cy="2616101"/>
              </a:xfrm>
              <a:prstGeom prst="rect">
                <a:avLst/>
              </a:prstGeom>
              <a:blipFill>
                <a:blip r:embed="rId2"/>
                <a:stretch>
                  <a:fillRect l="-1464" t="-2415" r="-2510" b="-48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/>
          <p:cNvSpPr/>
          <p:nvPr/>
        </p:nvSpPr>
        <p:spPr>
          <a:xfrm>
            <a:off x="1792773" y="2406134"/>
            <a:ext cx="3177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92773" y="4358296"/>
            <a:ext cx="3097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92773" y="5948278"/>
            <a:ext cx="3080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C</a:t>
            </a:r>
          </a:p>
        </p:txBody>
      </p:sp>
      <p:cxnSp>
        <p:nvCxnSpPr>
          <p:cNvPr id="38" name="Curved Connector 37"/>
          <p:cNvCxnSpPr>
            <a:stCxn id="33" idx="7"/>
            <a:endCxn id="33" idx="6"/>
          </p:cNvCxnSpPr>
          <p:nvPr/>
        </p:nvCxnSpPr>
        <p:spPr>
          <a:xfrm rot="16200000" flipH="1">
            <a:off x="2933700" y="5936094"/>
            <a:ext cx="269408" cy="111592"/>
          </a:xfrm>
          <a:prstGeom prst="curvedConnector4">
            <a:avLst>
              <a:gd name="adj1" fmla="val -81352"/>
              <a:gd name="adj2" fmla="val 5699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2592357" y="532364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695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7" grpId="0"/>
      <p:bldP spid="3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Simulation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ontent Placeholder 48"/>
              <p:cNvSpPr>
                <a:spLocks noGrp="1"/>
              </p:cNvSpPr>
              <p:nvPr>
                <p:ph sz="half" idx="1"/>
              </p:nvPr>
            </p:nvSpPr>
            <p:spPr>
              <a:xfrm>
                <a:off x="267629" y="1669507"/>
                <a:ext cx="6936059" cy="4351338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dirty="0"/>
                  <a:t> is an implementation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Is there a forward simulation from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dirty="0"/>
                  <a:t> ?</a:t>
                </a:r>
              </a:p>
              <a:p>
                <a:endParaRPr lang="en-US" dirty="0"/>
              </a:p>
              <a:p>
                <a:r>
                  <a:rPr lang="en-US" dirty="0"/>
                  <a:t>Consider the forward simulation relation</a:t>
                </a:r>
              </a:p>
              <a:p>
                <a:endParaRPr lang="en-US" i="1" dirty="0">
                  <a:latin typeface="Cambria Math"/>
                  <a:ea typeface="Cambria Math"/>
                </a:endParaRPr>
              </a:p>
              <a:p>
                <a:endParaRPr lang="en-US" i="1" dirty="0">
                  <a:latin typeface="Cambria Math"/>
                  <a:ea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𝒜</m:t>
                    </m:r>
                    <m:r>
                      <a:rPr lang="en-US" i="1" dirty="0">
                        <a:latin typeface="Cambria Math"/>
                        <a:ea typeface="Cambria Math"/>
                      </a:rPr>
                      <m:t> </m:t>
                    </m:r>
                    <m:r>
                      <a:rPr lang="en-US" b="0" i="0" dirty="0" smtClean="0">
                        <a:latin typeface="Cambria Math"/>
                        <a:ea typeface="Cambria Math"/>
                      </a:rPr>
                      <m:t>:</m:t>
                    </m:r>
                  </m:oMath>
                </a14:m>
                <a:r>
                  <a:rPr lang="en-US" dirty="0"/>
                  <a:t> 2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→</m:t>
                        </m:r>
                      </m:e>
                      <m:sub>
                        <m:r>
                          <a:rPr lang="en-US" b="0" i="1" dirty="0" smtClean="0">
                            <a:latin typeface="Cambria Math" charset="0"/>
                          </a:rPr>
                          <m:t>𝑐</m:t>
                        </m:r>
                      </m:sub>
                    </m:sSub>
                    <m:r>
                      <a:rPr lang="en-US" b="0" i="1" dirty="0" smtClean="0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dirty="0">
                    <a:sym typeface="Wingdings" pitchFamily="2" charset="2"/>
                  </a:rPr>
                  <a:t>4 cannot be simulated by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dirty="0"/>
                  <a:t> from 2’ although (2,2’) are related. </a:t>
                </a:r>
              </a:p>
            </p:txBody>
          </p:sp>
        </mc:Choice>
        <mc:Fallback xmlns="">
          <p:sp>
            <p:nvSpPr>
              <p:cNvPr id="49" name="Content Placeholder 48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7629" y="1669507"/>
                <a:ext cx="6936059" cy="4351338"/>
              </a:xfrm>
              <a:blipFill>
                <a:blip r:embed="rId2"/>
                <a:stretch>
                  <a:fillRect l="-1645" t="-2326" r="-7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/>
          <p:cNvSpPr/>
          <p:nvPr/>
        </p:nvSpPr>
        <p:spPr>
          <a:xfrm>
            <a:off x="7563130" y="2296469"/>
            <a:ext cx="457200" cy="381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9074090" y="1853104"/>
            <a:ext cx="497879" cy="381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2’</a:t>
            </a:r>
          </a:p>
        </p:txBody>
      </p:sp>
      <p:sp>
        <p:nvSpPr>
          <p:cNvPr id="7" name="Oval 6"/>
          <p:cNvSpPr/>
          <p:nvPr/>
        </p:nvSpPr>
        <p:spPr>
          <a:xfrm>
            <a:off x="10969746" y="1714539"/>
            <a:ext cx="457200" cy="381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10959237" y="2829869"/>
            <a:ext cx="457200" cy="381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10" name="Straight Arrow Connector 9"/>
          <p:cNvCxnSpPr>
            <a:stCxn id="4" idx="7"/>
            <a:endCxn id="6" idx="2"/>
          </p:cNvCxnSpPr>
          <p:nvPr/>
        </p:nvCxnSpPr>
        <p:spPr>
          <a:xfrm flipV="1">
            <a:off x="7953375" y="2043605"/>
            <a:ext cx="1120714" cy="30866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7"/>
            <a:endCxn id="7" idx="2"/>
          </p:cNvCxnSpPr>
          <p:nvPr/>
        </p:nvCxnSpPr>
        <p:spPr>
          <a:xfrm flipV="1">
            <a:off x="9499056" y="1905040"/>
            <a:ext cx="1470691" cy="386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35" idx="6"/>
            <a:endCxn id="8" idx="2"/>
          </p:cNvCxnSpPr>
          <p:nvPr/>
        </p:nvCxnSpPr>
        <p:spPr>
          <a:xfrm flipV="1">
            <a:off x="9531289" y="3020370"/>
            <a:ext cx="1427948" cy="69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59135" y="1714539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98115" y="185893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0137" y="2621673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2" name="Oval 21"/>
          <p:cNvSpPr/>
          <p:nvPr/>
        </p:nvSpPr>
        <p:spPr>
          <a:xfrm>
            <a:off x="7695819" y="4992530"/>
            <a:ext cx="457200" cy="38100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314412" y="4992530"/>
            <a:ext cx="457200" cy="38100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11067013" y="4223961"/>
            <a:ext cx="457200" cy="38100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1091926" y="5525930"/>
            <a:ext cx="457200" cy="38100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26" name="Straight Arrow Connector 25"/>
          <p:cNvCxnSpPr>
            <a:stCxn id="22" idx="6"/>
            <a:endCxn id="23" idx="2"/>
          </p:cNvCxnSpPr>
          <p:nvPr/>
        </p:nvCxnSpPr>
        <p:spPr>
          <a:xfrm>
            <a:off x="8153020" y="5183030"/>
            <a:ext cx="116139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23" idx="7"/>
            <a:endCxn id="24" idx="3"/>
          </p:cNvCxnSpPr>
          <p:nvPr/>
        </p:nvCxnSpPr>
        <p:spPr>
          <a:xfrm flipV="1">
            <a:off x="9704658" y="4549166"/>
            <a:ext cx="1429311" cy="49916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stCxn id="23" idx="5"/>
            <a:endCxn id="25" idx="2"/>
          </p:cNvCxnSpPr>
          <p:nvPr/>
        </p:nvCxnSpPr>
        <p:spPr>
          <a:xfrm>
            <a:off x="9704658" y="5317734"/>
            <a:ext cx="1387269" cy="39869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444188" y="4807864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18782" y="441446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4746" y="513306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5" name="Oval 34"/>
          <p:cNvSpPr/>
          <p:nvPr/>
        </p:nvSpPr>
        <p:spPr>
          <a:xfrm>
            <a:off x="9074089" y="2830566"/>
            <a:ext cx="457200" cy="381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cxnSp>
        <p:nvCxnSpPr>
          <p:cNvPr id="37" name="Straight Arrow Connector 36"/>
          <p:cNvCxnSpPr>
            <a:stCxn id="4" idx="5"/>
            <a:endCxn id="35" idx="2"/>
          </p:cNvCxnSpPr>
          <p:nvPr/>
        </p:nvCxnSpPr>
        <p:spPr>
          <a:xfrm>
            <a:off x="7953375" y="2621674"/>
            <a:ext cx="1120714" cy="39939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Rectangle 49"/>
              <p:cNvSpPr/>
              <p:nvPr/>
            </p:nvSpPr>
            <p:spPr>
              <a:xfrm>
                <a:off x="7456022" y="4199019"/>
                <a:ext cx="748923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dirty="0">
                          <a:latin typeface="Cambria Math"/>
                          <a:ea typeface="Cambria Math"/>
                        </a:rPr>
                        <m:t>𝒜</m:t>
                      </m:r>
                      <m:r>
                        <a:rPr lang="en-US" sz="3200" i="1" dirty="0">
                          <a:latin typeface="Cambria Math"/>
                          <a:ea typeface="Cambria Math"/>
                        </a:rPr>
                        <m:t> 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0" name="Rectangle 4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6022" y="4199019"/>
                <a:ext cx="748923" cy="584775"/>
              </a:xfrm>
              <a:prstGeom prst="rect">
                <a:avLst/>
              </a:prstGeom>
              <a:blipFill>
                <a:blip r:embed="rId3"/>
                <a:stretch>
                  <a:fillRect r="-8333" b="-234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Rectangle 50"/>
              <p:cNvSpPr/>
              <p:nvPr/>
            </p:nvSpPr>
            <p:spPr>
              <a:xfrm>
                <a:off x="7390082" y="1483773"/>
                <a:ext cx="615425" cy="6463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dirty="0">
                          <a:latin typeface="Cambria Math"/>
                          <a:ea typeface="Cambria Math"/>
                        </a:rPr>
                        <m:t>ℬ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1" name="Rectangle 5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0082" y="1483773"/>
                <a:ext cx="615425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/>
          <p:cNvSpPr txBox="1"/>
          <p:nvPr/>
        </p:nvSpPr>
        <p:spPr>
          <a:xfrm>
            <a:off x="8453388" y="2461234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EE84426-338C-56B0-8CDA-9E0B8C02D4EC}"/>
                  </a:ext>
                </a:extLst>
              </p14:cNvPr>
              <p14:cNvContentPartPr/>
              <p14:nvPr/>
            </p14:nvContentPartPr>
            <p14:xfrm>
              <a:off x="7734240" y="1974600"/>
              <a:ext cx="4084200" cy="37342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EE84426-338C-56B0-8CDA-9E0B8C02D4E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24880" y="1965240"/>
                <a:ext cx="4102920" cy="375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24463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Simulations for hybrid systems</a:t>
            </a:r>
            <a:br>
              <a:rPr lang="en-US" sz="3600" dirty="0"/>
            </a:b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1"/>
              </p:nvPr>
            </p:nvSpPr>
            <p:spPr>
              <a:xfrm>
                <a:off x="719847" y="1219200"/>
                <a:ext cx="10515600" cy="5334000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Forward simulation </a:t>
                </a:r>
                <a:r>
                  <a:rPr lang="en-US" sz="2400" dirty="0"/>
                  <a:t>relation from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2400" baseline="-25000" dirty="0"/>
                  <a:t>1</a:t>
                </a:r>
                <a:r>
                  <a:rPr lang="en-US" sz="2400" dirty="0"/>
                  <a:t> </a:t>
                </a:r>
                <a:r>
                  <a:rPr lang="en-US" sz="2400" b="1" dirty="0"/>
                  <a:t>to</a:t>
                </a:r>
                <a:r>
                  <a:rPr lang="en-US" sz="2400" dirty="0"/>
                  <a:t>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2400" baseline="-25000" dirty="0"/>
                  <a:t>2 </a:t>
                </a:r>
                <a:r>
                  <a:rPr lang="en-US" sz="2400" dirty="0"/>
                  <a:t>is a relation 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  <a:ea typeface="Cambria Math"/>
                      </a:rPr>
                      <m:t>⊆</m:t>
                    </m:r>
                    <m:r>
                      <a:rPr lang="en-US" sz="2400" i="1">
                        <a:latin typeface="Cambria Math" charset="0"/>
                        <a:ea typeface="Cambria Math"/>
                      </a:rPr>
                      <m:t>𝑣𝑎𝑙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charset="0"/>
                                <a:ea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400" i="1">
                                <a:latin typeface="Cambria Math" charset="0"/>
                                <a:ea typeface="Cambria Math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>
                        <a:latin typeface="Cambria Math"/>
                        <a:ea typeface="Cambria Math"/>
                      </a:rPr>
                      <m:t>×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charset="0"/>
                            <a:ea typeface="Cambria Math"/>
                          </a:rPr>
                          <m:t>𝑣𝑎𝑙</m:t>
                        </m:r>
                        <m:r>
                          <a:rPr lang="en-US" sz="2400" i="1">
                            <a:latin typeface="Cambria Math" charset="0"/>
                            <a:ea typeface="Cambria Math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charset="0"/>
                                <a:ea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400" i="1">
                                <a:latin typeface="Cambria Math" charset="0"/>
                                <a:ea typeface="Cambria Math"/>
                              </a:rPr>
                              <m:t>2</m:t>
                            </m:r>
                          </m:sub>
                        </m:sSub>
                        <m:r>
                          <a:rPr lang="en-US" sz="2400" i="1">
                            <a:latin typeface="Cambria Math" charset="0"/>
                            <a:ea typeface="Cambria Math"/>
                          </a:rPr>
                          <m:t>)</m:t>
                        </m:r>
                      </m:e>
                      <m:sub/>
                    </m:sSub>
                  </m:oMath>
                </a14:m>
                <a:r>
                  <a:rPr lang="en-US" sz="2400" dirty="0"/>
                  <a:t> such that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2000" dirty="0"/>
                  <a:t>For every </a:t>
                </a:r>
                <a:r>
                  <a:rPr lang="en-US" sz="2000" b="1" dirty="0"/>
                  <a:t>x</a:t>
                </a:r>
                <a:r>
                  <a:rPr lang="en-US" sz="2000" b="1" baseline="-25000" dirty="0"/>
                  <a:t>1 </a:t>
                </a:r>
                <a:r>
                  <a:rPr lang="en-US" sz="2000" dirty="0">
                    <a:latin typeface="Cambria Math"/>
                    <a:ea typeface="Cambria Math"/>
                  </a:rPr>
                  <a:t>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 i="1">
                        <a:latin typeface="Cambria Math"/>
                        <a:ea typeface="Cambria Math"/>
                      </a:rPr>
                      <m:t>Θ</m:t>
                    </m:r>
                    <m:r>
                      <a:rPr lang="en-US" sz="2000" i="1" baseline="-2500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sz="2000" baseline="-25000" dirty="0"/>
                  <a:t> </a:t>
                </a:r>
                <a:r>
                  <a:rPr lang="en-US" sz="2000" dirty="0"/>
                  <a:t>there exists </a:t>
                </a:r>
                <a:r>
                  <a:rPr lang="en-US" sz="2000" b="1" dirty="0"/>
                  <a:t>x</a:t>
                </a:r>
                <a:r>
                  <a:rPr lang="en-US" sz="2000" b="1" baseline="-25000" dirty="0"/>
                  <a:t>2 </a:t>
                </a:r>
                <a:r>
                  <a:rPr lang="en-US" sz="2000" dirty="0">
                    <a:latin typeface="Cambria Math"/>
                    <a:ea typeface="Cambria Math"/>
                  </a:rPr>
                  <a:t>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 i="1">
                        <a:latin typeface="Cambria Math"/>
                        <a:ea typeface="Cambria Math"/>
                      </a:rPr>
                      <m:t>Θ</m:t>
                    </m:r>
                    <m:r>
                      <a:rPr lang="en-US" sz="2000" i="1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sz="2000" baseline="-25000" dirty="0"/>
                  <a:t> </a:t>
                </a:r>
                <a:r>
                  <a:rPr lang="en-US" sz="2000" dirty="0"/>
                  <a:t>such that </a:t>
                </a:r>
                <a:r>
                  <a:rPr lang="en-US" sz="2000" b="1" dirty="0"/>
                  <a:t>x</a:t>
                </a:r>
                <a:r>
                  <a:rPr lang="en-US" sz="2000" b="1" baseline="-25000" dirty="0"/>
                  <a:t>1 </a:t>
                </a:r>
                <a:r>
                  <a:rPr lang="en-US" sz="2000" dirty="0"/>
                  <a:t>R</a:t>
                </a:r>
                <a:r>
                  <a:rPr lang="en-US" sz="2000" b="1" dirty="0"/>
                  <a:t> x</a:t>
                </a:r>
                <a:r>
                  <a:rPr lang="en-US" sz="2000" b="1" baseline="-25000" dirty="0"/>
                  <a:t>2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2000" dirty="0"/>
                  <a:t>For every </a:t>
                </a:r>
                <a:r>
                  <a:rPr lang="en-US" sz="2000" b="1" dirty="0"/>
                  <a:t>x</a:t>
                </a:r>
                <a:r>
                  <a:rPr lang="en-US" sz="2000" b="1" baseline="-25000" dirty="0"/>
                  <a:t>1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/>
                          </a:rPr>
                          <m:t>→</m:t>
                        </m:r>
                      </m:e>
                      <m:sub>
                        <m:sSub>
                          <m:sSub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>
                                <a:latin typeface="Cambria Math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000" b="1" i="1">
                                <a:latin typeface="Cambria Math" charset="0"/>
                              </a:rPr>
                              <m:t>𝟏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2000" b="1" dirty="0"/>
                  <a:t> x</a:t>
                </a:r>
                <a:r>
                  <a:rPr lang="en-US" sz="2000" b="1" baseline="-25000" dirty="0"/>
                  <a:t>1</a:t>
                </a:r>
                <a:r>
                  <a:rPr lang="en-US" sz="2000" b="1" dirty="0"/>
                  <a:t>’</a:t>
                </a:r>
                <a:r>
                  <a:rPr lang="en-US" sz="2000" b="1" baseline="-25000" dirty="0"/>
                  <a:t> </a:t>
                </a:r>
                <a:r>
                  <a:rPr lang="en-US" sz="2000" dirty="0">
                    <a:latin typeface="Cambria Math"/>
                    <a:ea typeface="Cambria Math"/>
                  </a:rPr>
                  <a:t>∈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sz="2000" baseline="-25000" dirty="0"/>
                  <a:t> </a:t>
                </a:r>
                <a:r>
                  <a:rPr lang="en-US" sz="2000" dirty="0"/>
                  <a:t>and </a:t>
                </a:r>
                <a:r>
                  <a:rPr lang="en-US" sz="2000" b="1" dirty="0"/>
                  <a:t>x</a:t>
                </a:r>
                <a:r>
                  <a:rPr lang="en-US" sz="2000" b="1" baseline="-25000" dirty="0"/>
                  <a:t>2 </a:t>
                </a:r>
                <a:r>
                  <a:rPr lang="en-US" sz="2000" dirty="0"/>
                  <a:t>such that </a:t>
                </a:r>
                <a:r>
                  <a:rPr lang="en-US" sz="2000" b="1" dirty="0"/>
                  <a:t>x</a:t>
                </a:r>
                <a:r>
                  <a:rPr lang="en-US" sz="2000" b="1" baseline="-25000" dirty="0"/>
                  <a:t>1 </a:t>
                </a:r>
                <a:r>
                  <a:rPr lang="en-US" sz="2000" dirty="0"/>
                  <a:t>R</a:t>
                </a:r>
                <a:r>
                  <a:rPr lang="en-US" sz="2000" b="1" dirty="0"/>
                  <a:t> x</a:t>
                </a:r>
                <a:r>
                  <a:rPr lang="en-US" sz="2000" b="1" baseline="-25000" dirty="0"/>
                  <a:t>2,</a:t>
                </a:r>
                <a:r>
                  <a:rPr lang="en-US" sz="2000" b="1" dirty="0"/>
                  <a:t> </a:t>
                </a:r>
                <a:r>
                  <a:rPr lang="en-US" sz="2000" dirty="0"/>
                  <a:t>there exists </a:t>
                </a:r>
                <a:r>
                  <a:rPr lang="en-US" sz="2000" b="1" dirty="0"/>
                  <a:t>x</a:t>
                </a:r>
                <a:r>
                  <a:rPr lang="en-US" sz="2000" b="1" baseline="-25000" dirty="0"/>
                  <a:t>2</a:t>
                </a:r>
                <a:r>
                  <a:rPr lang="en-US" sz="2000" b="1" dirty="0"/>
                  <a:t>’</a:t>
                </a:r>
                <a:r>
                  <a:rPr lang="en-US" sz="2000" dirty="0"/>
                  <a:t> such that </a:t>
                </a:r>
              </a:p>
              <a:p>
                <a:pPr lvl="2"/>
                <a:r>
                  <a:rPr lang="en-US" sz="1800" b="1" dirty="0"/>
                  <a:t>x</a:t>
                </a:r>
                <a:r>
                  <a:rPr lang="en-US" sz="1800" b="1" baseline="-25000" dirty="0"/>
                  <a:t>2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1800" b="1" i="1">
                            <a:latin typeface="Cambria Math"/>
                            <a:ea typeface="Cambria Math"/>
                          </a:rPr>
                          <m:t>→</m:t>
                        </m:r>
                      </m:e>
                      <m:sub>
                        <m:sSub>
                          <m:sSubPr>
                            <m:ctrlPr>
                              <a:rPr lang="en-US" sz="1800" b="1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sz="1800" b="1" i="1">
                                <a:latin typeface="Cambria Math" charset="0"/>
                                <a:ea typeface="Cambria Math"/>
                              </a:rPr>
                              <m:t>𝒂</m:t>
                            </m:r>
                          </m:e>
                          <m:sub>
                            <m:r>
                              <a:rPr lang="en-US" sz="1800" b="1" i="1">
                                <a:latin typeface="Cambria Math" charset="0"/>
                                <a:ea typeface="Cambria Math"/>
                              </a:rPr>
                              <m:t>𝟏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800" b="1" dirty="0"/>
                  <a:t> x</a:t>
                </a:r>
                <a:r>
                  <a:rPr lang="en-US" sz="1800" b="1" baseline="-25000" dirty="0"/>
                  <a:t>2</a:t>
                </a:r>
                <a:r>
                  <a:rPr lang="en-US" sz="1800" b="1" dirty="0"/>
                  <a:t>’ </a:t>
                </a:r>
                <a:r>
                  <a:rPr lang="en-US" sz="1800" dirty="0"/>
                  <a:t>and</a:t>
                </a:r>
                <a:r>
                  <a:rPr lang="en-US" sz="1800" b="1" dirty="0"/>
                  <a:t> </a:t>
                </a:r>
              </a:p>
              <a:p>
                <a:pPr lvl="2"/>
                <a:r>
                  <a:rPr lang="en-US" sz="1800" b="1" dirty="0"/>
                  <a:t>x</a:t>
                </a:r>
                <a:r>
                  <a:rPr lang="en-US" sz="1800" b="1" baseline="-25000" dirty="0"/>
                  <a:t>1</a:t>
                </a:r>
                <a:r>
                  <a:rPr lang="en-US" sz="1800" b="1" dirty="0"/>
                  <a:t>’</a:t>
                </a:r>
                <a:r>
                  <a:rPr lang="en-US" sz="1800" b="1" baseline="-25000" dirty="0"/>
                  <a:t> </a:t>
                </a:r>
                <a:r>
                  <a:rPr lang="en-US" sz="1800" dirty="0"/>
                  <a:t>R</a:t>
                </a:r>
                <a:r>
                  <a:rPr lang="en-US" sz="1800" b="1" dirty="0"/>
                  <a:t> x</a:t>
                </a:r>
                <a:r>
                  <a:rPr lang="en-US" sz="1800" b="1" baseline="-25000" dirty="0"/>
                  <a:t>2</a:t>
                </a:r>
                <a:r>
                  <a:rPr lang="en-US" sz="1800" b="1" dirty="0"/>
                  <a:t>’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2000" dirty="0"/>
                  <a:t>For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/>
                            <a:ea typeface="Cambria Math"/>
                          </a:rPr>
                          <m:t>𝝉</m:t>
                        </m:r>
                      </m:e>
                      <m:sub>
                        <m:r>
                          <a:rPr lang="en-US" sz="2000" b="1" i="1" dirty="0">
                            <a:latin typeface="Cambria Math" charset="0"/>
                            <a:ea typeface="Cambria Math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000" b="1" baseline="-25000" dirty="0"/>
                  <a:t> </a:t>
                </a:r>
                <a:r>
                  <a:rPr lang="en-US" sz="2000" dirty="0">
                    <a:latin typeface="Cambria Math"/>
                    <a:ea typeface="Cambria Math"/>
                  </a:rPr>
                  <a:t>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/>
                            <a:ea typeface="Cambria Math"/>
                          </a:rPr>
                          <m:t>𝒯</m:t>
                        </m:r>
                      </m:e>
                      <m:sub>
                        <m:r>
                          <a:rPr lang="en-US" sz="2000" i="1">
                            <a:latin typeface="Cambria Math" charset="0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/>
                  <a:t> and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/>
                        <a:ea typeface="Cambria Math"/>
                      </a:rPr>
                      <m:t> </m:t>
                    </m:r>
                  </m:oMath>
                </a14:m>
                <a:r>
                  <a:rPr lang="en-US" sz="2000" b="1" dirty="0"/>
                  <a:t>x</a:t>
                </a:r>
                <a:r>
                  <a:rPr lang="en-US" sz="2000" b="1" baseline="-25000" dirty="0"/>
                  <a:t>2 </a:t>
                </a:r>
                <a:r>
                  <a:rPr lang="en-US" sz="2000" dirty="0"/>
                  <a:t>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charset="0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charset="0"/>
                        <a:ea typeface="Cambria Math"/>
                      </a:rPr>
                      <m:t>.</m:t>
                    </m:r>
                    <m:r>
                      <a:rPr lang="en-US" sz="2000" i="1">
                        <a:latin typeface="Cambria Math" charset="0"/>
                        <a:ea typeface="Cambria Math"/>
                      </a:rPr>
                      <m:t>𝑓𝑠𝑡𝑎𝑡𝑒</m:t>
                    </m:r>
                  </m:oMath>
                </a14:m>
                <a:r>
                  <a:rPr lang="en-US" sz="2000" b="1" baseline="-25000" dirty="0"/>
                  <a:t> </a:t>
                </a:r>
                <a:r>
                  <a:rPr lang="en-US" sz="2000" dirty="0"/>
                  <a:t>R</a:t>
                </a:r>
                <a:r>
                  <a:rPr lang="en-US" sz="2000" b="1" dirty="0"/>
                  <a:t> x</a:t>
                </a:r>
                <a:r>
                  <a:rPr lang="en-US" sz="2000" b="1" baseline="-25000" dirty="0"/>
                  <a:t>2,</a:t>
                </a:r>
                <a:r>
                  <a:rPr lang="en-US" sz="2000" b="1" dirty="0"/>
                  <a:t> </a:t>
                </a:r>
                <a:r>
                  <a:rPr lang="en-US" sz="2000" dirty="0"/>
                  <a:t>there exists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charset="0"/>
                        <a:ea typeface="Cambria Math"/>
                      </a:rPr>
                      <m:t>∈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/>
                            <a:ea typeface="Cambria Math"/>
                          </a:rPr>
                          <m:t>𝒯</m:t>
                        </m:r>
                      </m:e>
                      <m:sub>
                        <m:r>
                          <a:rPr lang="en-US" sz="2000" i="1">
                            <a:latin typeface="Cambria Math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that </a:t>
                </a:r>
              </a:p>
              <a:p>
                <a:pPr lvl="2"/>
                <a:r>
                  <a:rPr lang="en-US" sz="1800" b="1" dirty="0"/>
                  <a:t>x</a:t>
                </a:r>
                <a:r>
                  <a:rPr lang="en-US" sz="1800" b="1" baseline="-25000" dirty="0"/>
                  <a:t>2</a:t>
                </a:r>
                <a:r>
                  <a:rPr lang="en-US" sz="1800" b="1" dirty="0"/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sz="1800" i="1">
                            <a:latin typeface="Cambria Math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sz="1800" i="1">
                        <a:latin typeface="Cambria Math" charset="0"/>
                        <a:ea typeface="Cambria Math"/>
                      </a:rPr>
                      <m:t>.</m:t>
                    </m:r>
                    <m:r>
                      <a:rPr lang="en-US" sz="1800" i="1">
                        <a:latin typeface="Cambria Math" charset="0"/>
                        <a:ea typeface="Cambria Math"/>
                      </a:rPr>
                      <m:t>𝑓𝑠𝑡𝑎𝑡𝑒</m:t>
                    </m:r>
                  </m:oMath>
                </a14:m>
                <a:r>
                  <a:rPr lang="en-US" sz="1800" b="1" dirty="0"/>
                  <a:t> </a:t>
                </a:r>
                <a:r>
                  <a:rPr lang="en-US" sz="1800" dirty="0"/>
                  <a:t>and</a:t>
                </a:r>
                <a:r>
                  <a:rPr lang="en-US" sz="1800" b="1" dirty="0"/>
                  <a:t> </a:t>
                </a:r>
              </a:p>
              <a:p>
                <a:pPr lvl="2"/>
                <a:r>
                  <a:rPr lang="en-US" sz="1800" b="1" dirty="0"/>
                  <a:t>x</a:t>
                </a:r>
                <a:r>
                  <a:rPr lang="en-US" sz="1800" b="1" baseline="-25000" dirty="0"/>
                  <a:t>1</a:t>
                </a:r>
                <a:r>
                  <a:rPr lang="en-US" sz="1800" b="1" dirty="0"/>
                  <a:t>’</a:t>
                </a:r>
                <a:r>
                  <a:rPr lang="en-US" sz="1800" b="1" baseline="-25000" dirty="0"/>
                  <a:t> </a:t>
                </a:r>
                <a:r>
                  <a:rPr lang="en-US" sz="1800" dirty="0"/>
                  <a:t>R</a:t>
                </a:r>
                <a:r>
                  <a:rPr lang="en-US" sz="18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sz="1800" i="1">
                            <a:latin typeface="Cambria Math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sz="1800" i="1">
                        <a:latin typeface="Cambria Math" charset="0"/>
                        <a:ea typeface="Cambria Math"/>
                      </a:rPr>
                      <m:t>.</m:t>
                    </m:r>
                    <m:r>
                      <a:rPr lang="en-US" sz="1800" i="1">
                        <a:latin typeface="Cambria Math" charset="0"/>
                        <a:ea typeface="Cambria Math"/>
                      </a:rPr>
                      <m:t>𝑙𝑠𝑡𝑎𝑡𝑒</m:t>
                    </m:r>
                  </m:oMath>
                </a14:m>
                <a:endParaRPr lang="en-US" sz="1800" b="1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sz="1800" i="1">
                            <a:latin typeface="Cambria Math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sz="1800">
                        <a:latin typeface="Cambria Math" charset="0"/>
                        <a:ea typeface="Cambria Math"/>
                      </a:rPr>
                      <m:t>.</m:t>
                    </m:r>
                    <m:r>
                      <m:rPr>
                        <m:sty m:val="p"/>
                      </m:rPr>
                      <a:rPr lang="en-US" sz="1800">
                        <a:latin typeface="Cambria Math" charset="0"/>
                        <a:ea typeface="Cambria Math"/>
                      </a:rPr>
                      <m:t>dom</m:t>
                    </m:r>
                    <m:r>
                      <a:rPr lang="en-US" sz="1800">
                        <a:latin typeface="Cambria Math" charset="0"/>
                        <a:ea typeface="Cambria Math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sz="1800" i="1">
                            <a:latin typeface="Cambria Math" charset="0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latin typeface="Cambria Math" charset="0"/>
                        <a:ea typeface="Cambria Math"/>
                      </a:rPr>
                      <m:t>.</m:t>
                    </m:r>
                    <m:r>
                      <a:rPr lang="en-US" sz="1800" i="1">
                        <a:latin typeface="Cambria Math" charset="0"/>
                        <a:ea typeface="Cambria Math"/>
                      </a:rPr>
                      <m:t>𝑑𝑜𝑚</m:t>
                    </m:r>
                  </m:oMath>
                </a14:m>
                <a:endParaRPr lang="en-US" sz="1800" dirty="0"/>
              </a:p>
              <a:p>
                <a:pPr marL="0" indent="0">
                  <a:buNone/>
                </a:pPr>
                <a:endParaRPr lang="en-US" sz="2400" b="1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rgbClr val="00B050"/>
                    </a:solidFill>
                  </a:rPr>
                  <a:t>Theorem. </a:t>
                </a:r>
                <a:r>
                  <a:rPr lang="en-US" sz="2400" dirty="0"/>
                  <a:t>If there exists a forward simulation relation from hybrid automaton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2400" baseline="-25000" dirty="0"/>
                  <a:t>1</a:t>
                </a:r>
                <a:r>
                  <a:rPr lang="en-US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  <a:ea typeface="Cambria Math"/>
                      </a:rPr>
                      <m:t>𝒜</m:t>
                    </m:r>
                    <m:r>
                      <a:rPr lang="en-US" sz="2400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sz="2400" dirty="0"/>
                  <a:t> then  for every execution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2400" baseline="-25000" dirty="0"/>
                  <a:t>1 </a:t>
                </a:r>
                <a:r>
                  <a:rPr lang="en-US" sz="2400" dirty="0"/>
                  <a:t>there exists a corresponding execution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sz="2400" i="1">
                            <a:latin typeface="Cambria Math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charset="0"/>
                        <a:ea typeface="Cambria Math"/>
                      </a:rPr>
                      <m:t>.</m:t>
                    </m:r>
                  </m:oMath>
                </a14:m>
                <a:r>
                  <a:rPr lang="en-US" sz="2400" dirty="0"/>
                  <a:t> </a:t>
                </a:r>
                <a:endParaRPr lang="en-US" sz="2400" baseline="-25000" dirty="0"/>
              </a:p>
              <a:p>
                <a:endParaRPr lang="en-US" sz="2400" b="1" baseline="-25000" dirty="0"/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9847" y="1219200"/>
                <a:ext cx="10515600" cy="5334000"/>
              </a:xfrm>
              <a:blipFill>
                <a:blip r:embed="rId2"/>
                <a:stretch>
                  <a:fillRect l="-965" t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6400" y="274638"/>
            <a:ext cx="87630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Simulation relations for hybrid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676400" y="1219201"/>
                <a:ext cx="8763000" cy="490696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2000" dirty="0"/>
                  <a:t>Recall condition 3 in definition of simulation relation: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charset="0"/>
                      </a:rPr>
                      <m:t>𝑇𝑟𝑎𝑐𝑒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charset="0"/>
                          </a:rPr>
                          <m:t>𝐵𝑗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charset="0"/>
                              </a:rPr>
                              <m:t>→</m:t>
                            </m:r>
                          </m:e>
                          <m:sub>
                            <m:r>
                              <a:rPr lang="en-US" sz="2000" i="1">
                                <a:latin typeface="Cambria Math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sz="2000" i="1">
                            <a:latin typeface="Cambria Math" charset="0"/>
                          </a:rPr>
                          <m:t>𝐵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2000" i="1">
                                <a:latin typeface="Cambria Math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charset="0"/>
                      </a:rPr>
                      <m:t>=</m:t>
                    </m:r>
                    <m:r>
                      <a:rPr lang="en-US" sz="2000" i="1" dirty="0">
                        <a:latin typeface="Cambria Math" charset="0"/>
                      </a:rPr>
                      <m:t>𝑇𝑟𝑎𝑐𝑒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charset="0"/>
                          </a:rPr>
                          <m:t>𝐴𝑖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charset="0"/>
                              </a:rPr>
                              <m:t>→</m:t>
                            </m:r>
                          </m:e>
                          <m:sub>
                            <m:r>
                              <a:rPr lang="en-US" sz="2000" i="1">
                                <a:latin typeface="Cambria Math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sz="2000" i="1">
                            <a:latin typeface="Cambria Math" charset="0"/>
                          </a:rPr>
                          <m:t>𝐴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charset="0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000" i="1">
                                <a:latin typeface="Cambria Math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sz="2000" dirty="0"/>
              </a:p>
              <a:p>
                <a:pPr>
                  <a:lnSpc>
                    <a:spcPct val="120000"/>
                  </a:lnSpc>
                </a:pPr>
                <a:endParaRPr lang="en-US" sz="2000" dirty="0"/>
              </a:p>
              <a:p>
                <a:pPr>
                  <a:lnSpc>
                    <a:spcPct val="120000"/>
                  </a:lnSpc>
                </a:pPr>
                <a:endParaRPr lang="en-US" sz="2000" dirty="0"/>
              </a:p>
              <a:p>
                <a:pPr>
                  <a:lnSpc>
                    <a:spcPct val="120000"/>
                  </a:lnSpc>
                </a:pPr>
                <a:endParaRPr lang="en-US" sz="2000" dirty="0"/>
              </a:p>
              <a:p>
                <a:pPr>
                  <a:lnSpc>
                    <a:spcPct val="120000"/>
                  </a:lnSpc>
                </a:pPr>
                <a:endParaRPr lang="en-US" sz="2000" dirty="0"/>
              </a:p>
              <a:p>
                <a:pPr>
                  <a:lnSpc>
                    <a:spcPct val="120000"/>
                  </a:lnSpc>
                </a:pPr>
                <a:r>
                  <a:rPr lang="en-US" sz="2000" dirty="0"/>
                  <a:t>Hybrid automata have transitions and trajectories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000" dirty="0"/>
                  <a:t>Different types of simulation depending on different notions for “Trace”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sz="1800" dirty="0"/>
                  <a:t>Match for all variable values, action names, and time duration of trajectories (abstraction)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sz="1800" dirty="0"/>
                  <a:t>Match variables but not time (time abstract simulation)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sz="1800" dirty="0"/>
                  <a:t>Match a subset (external) of variables and actions (trace inclusion)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sz="1800" dirty="0"/>
                  <a:t>Match single action/trajectory of A with a sequence of actions and trajectories of B</a:t>
                </a:r>
              </a:p>
              <a:p>
                <a:pPr>
                  <a:lnSpc>
                    <a:spcPct val="120000"/>
                  </a:lnSpc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6400" y="1219201"/>
                <a:ext cx="8763000" cy="4906963"/>
              </a:xfrm>
              <a:blipFill>
                <a:blip r:embed="rId2"/>
                <a:stretch>
                  <a:fillRect l="-580" b="-17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5600" y="1905001"/>
            <a:ext cx="6324600" cy="1734913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766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Timer simulates Ball (</a:t>
            </a:r>
            <a:r>
              <a:rPr lang="en-US" sz="3200" dirty="0" err="1"/>
              <a:t>w.r.t</a:t>
            </a:r>
            <a:r>
              <a:rPr lang="en-US" sz="3200" dirty="0"/>
              <a:t>. timing of bounce actions)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Automaton Ball</a:t>
                </a:r>
                <a:r>
                  <a:rPr lang="en-US" dirty="0"/>
                  <a:t>(c,v</a:t>
                </a:r>
                <a:r>
                  <a:rPr lang="en-US" baseline="-25000" dirty="0"/>
                  <a:t>0</a:t>
                </a:r>
                <a:r>
                  <a:rPr lang="en-US" dirty="0"/>
                  <a:t>,g)</a:t>
                </a:r>
              </a:p>
              <a:p>
                <a:pPr marL="0" indent="0">
                  <a:buNone/>
                </a:pPr>
                <a:r>
                  <a:rPr lang="en-US" b="1" dirty="0"/>
                  <a:t>   variables: 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      </a:t>
                </a:r>
                <a:r>
                  <a:rPr lang="en-US" dirty="0">
                    <a:solidFill>
                      <a:srgbClr val="7030A0"/>
                    </a:solidFill>
                  </a:rPr>
                  <a:t>x: Reals := 0 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7030A0"/>
                    </a:solidFill>
                  </a:rPr>
                  <a:t>      v: Reals := v</a:t>
                </a:r>
                <a:r>
                  <a:rPr lang="en-US" baseline="-25000" dirty="0">
                    <a:solidFill>
                      <a:srgbClr val="7030A0"/>
                    </a:solidFill>
                  </a:rPr>
                  <a:t>0</a:t>
                </a:r>
              </a:p>
              <a:p>
                <a:pPr marL="0" indent="0">
                  <a:buNone/>
                </a:pPr>
                <a:r>
                  <a:rPr lang="en-US" b="1" dirty="0"/>
                  <a:t>   actions: </a:t>
                </a:r>
                <a:r>
                  <a:rPr lang="en-US" dirty="0"/>
                  <a:t>bounce</a:t>
                </a:r>
              </a:p>
              <a:p>
                <a:pPr marL="0" indent="0">
                  <a:buNone/>
                </a:pPr>
                <a:r>
                  <a:rPr lang="en-US" b="1" dirty="0"/>
                  <a:t>      transitions:</a:t>
                </a:r>
              </a:p>
              <a:p>
                <a:pPr marL="0" indent="0">
                  <a:buNone/>
                </a:pPr>
                <a:r>
                  <a:rPr lang="en-US" b="1" dirty="0"/>
                  <a:t>          </a:t>
                </a:r>
                <a:r>
                  <a:rPr lang="en-US" dirty="0">
                    <a:solidFill>
                      <a:srgbClr val="FF0000"/>
                    </a:solidFill>
                  </a:rPr>
                  <a:t>bounce</a:t>
                </a:r>
              </a:p>
              <a:p>
                <a:pPr marL="0" indent="0">
                  <a:buNone/>
                </a:pPr>
                <a:r>
                  <a:rPr lang="en-US" b="1" dirty="0"/>
                  <a:t>	pre </a:t>
                </a:r>
                <a:r>
                  <a:rPr lang="en-US" i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x = 0 /\ v &lt; 0</a:t>
                </a:r>
              </a:p>
              <a:p>
                <a:pPr marL="0" indent="0">
                  <a:buNone/>
                </a:pPr>
                <a:r>
                  <a:rPr lang="en-US" b="1" dirty="0"/>
                  <a:t>	</a:t>
                </a:r>
                <a:r>
                  <a:rPr lang="en-US" b="1" dirty="0" err="1"/>
                  <a:t>eff</a:t>
                </a:r>
                <a:r>
                  <a:rPr lang="en-US" b="1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v := -cv</a:t>
                </a:r>
              </a:p>
              <a:p>
                <a:pPr marL="0" indent="0">
                  <a:buNone/>
                </a:pPr>
                <a:r>
                  <a:rPr lang="en-US" b="1" dirty="0"/>
                  <a:t>      trajectories:</a:t>
                </a:r>
              </a:p>
              <a:p>
                <a:pPr marL="0" indent="0">
                  <a:buNone/>
                </a:pPr>
                <a:r>
                  <a:rPr lang="en-US" b="1" dirty="0"/>
                  <a:t>	evolve </a:t>
                </a:r>
                <a:r>
                  <a:rPr lang="en-US" dirty="0">
                    <a:solidFill>
                      <a:srgbClr val="00B050"/>
                    </a:solidFill>
                  </a:rPr>
                  <a:t>d(x) = v; d(v) = -g</a:t>
                </a:r>
              </a:p>
              <a:p>
                <a:pPr marL="0" indent="0">
                  <a:buNone/>
                </a:pPr>
                <a:r>
                  <a:rPr lang="en-US" b="1" dirty="0"/>
                  <a:t>	invariant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62AF6"/>
                        </a:solidFill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1" i="1">
                        <a:solidFill>
                          <a:srgbClr val="F62AF6"/>
                        </a:solidFill>
                        <a:latin typeface="Cambria Math"/>
                        <a:ea typeface="Cambria Math"/>
                      </a:rPr>
                      <m:t>≥</m:t>
                    </m:r>
                    <m:r>
                      <a:rPr lang="en-US" b="1" i="1">
                        <a:solidFill>
                          <a:srgbClr val="F62AF6"/>
                        </a:solidFill>
                        <a:latin typeface="Cambria Math"/>
                        <a:ea typeface="Cambria Math"/>
                      </a:rPr>
                      <m:t>𝟎</m:t>
                    </m:r>
                  </m:oMath>
                </a14:m>
                <a:endParaRPr lang="en-US" sz="2400" b="1" dirty="0">
                  <a:solidFill>
                    <a:srgbClr val="F62AF6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1961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600201"/>
                <a:ext cx="4495800" cy="4525963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Automaton Timer</a:t>
                </a:r>
                <a:r>
                  <a:rPr lang="en-US" dirty="0"/>
                  <a:t>(c, v</a:t>
                </a:r>
                <a:r>
                  <a:rPr lang="en-US" baseline="-25000" dirty="0"/>
                  <a:t>0, </a:t>
                </a:r>
                <a:r>
                  <a:rPr lang="en-US" dirty="0"/>
                  <a:t>g)</a:t>
                </a:r>
              </a:p>
              <a:p>
                <a:pPr marL="0" indent="0">
                  <a:buNone/>
                </a:pPr>
                <a:r>
                  <a:rPr lang="en-US" b="1" dirty="0"/>
                  <a:t>   variables: analog 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   </a:t>
                </a:r>
                <a:r>
                  <a:rPr lang="en-US" dirty="0">
                    <a:solidFill>
                      <a:srgbClr val="7030A0"/>
                    </a:solidFill>
                  </a:rPr>
                  <a:t>timer: Reals :=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charset="0"/>
                      </a:rPr>
                      <m:t>2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charset="0"/>
                      </a:rPr>
                      <m:t>/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charset="0"/>
                      </a:rPr>
                      <m:t>𝑔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,</a:t>
                </a:r>
              </a:p>
              <a:p>
                <a:pPr marL="0" indent="0">
                  <a:buNone/>
                </a:pPr>
                <a:r>
                  <a:rPr lang="en-US" baseline="-25000" dirty="0">
                    <a:solidFill>
                      <a:srgbClr val="7030A0"/>
                    </a:solidFill>
                  </a:rPr>
                  <a:t> </a:t>
                </a:r>
                <a:r>
                  <a:rPr lang="en-US" dirty="0">
                    <a:solidFill>
                      <a:srgbClr val="7030A0"/>
                    </a:solidFill>
                  </a:rPr>
                  <a:t>  n:Naturals=0;</a:t>
                </a:r>
              </a:p>
              <a:p>
                <a:pPr marL="0" indent="0">
                  <a:buNone/>
                </a:pPr>
                <a:r>
                  <a:rPr lang="en-US" b="1" dirty="0"/>
                  <a:t>   actions: </a:t>
                </a:r>
                <a:r>
                  <a:rPr lang="en-US" dirty="0"/>
                  <a:t>bounce</a:t>
                </a:r>
              </a:p>
              <a:p>
                <a:pPr marL="0" indent="0">
                  <a:buNone/>
                </a:pPr>
                <a:r>
                  <a:rPr lang="en-US" b="1" dirty="0"/>
                  <a:t>      transitions:</a:t>
                </a:r>
              </a:p>
              <a:p>
                <a:pPr marL="0" indent="0">
                  <a:buNone/>
                </a:pPr>
                <a:r>
                  <a:rPr lang="en-US" b="1" dirty="0"/>
                  <a:t>          </a:t>
                </a:r>
                <a:r>
                  <a:rPr lang="en-US" dirty="0">
                    <a:solidFill>
                      <a:srgbClr val="FF0000"/>
                    </a:solidFill>
                  </a:rPr>
                  <a:t>bounce</a:t>
                </a:r>
              </a:p>
              <a:p>
                <a:pPr marL="0" indent="0">
                  <a:buNone/>
                </a:pPr>
                <a:r>
                  <a:rPr lang="en-US" b="1" dirty="0"/>
                  <a:t>	pre </a:t>
                </a:r>
                <a:r>
                  <a:rPr lang="en-US" i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timer = 0</a:t>
                </a:r>
              </a:p>
              <a:p>
                <a:pPr marL="0" indent="0">
                  <a:buNone/>
                </a:pPr>
                <a:r>
                  <a:rPr lang="en-US" b="1" dirty="0"/>
                  <a:t>	eff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n:=n+1; timer :=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charset="0"/>
                          </a:rPr>
                          <m:t>𝑔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charset="0"/>
                              </a:rPr>
                              <m:t>𝑛</m:t>
                            </m:r>
                          </m:sup>
                        </m:sSup>
                      </m:den>
                    </m:f>
                  </m:oMath>
                </a14:m>
                <a:endParaRPr lang="en-US" baseline="30000" dirty="0">
                  <a:solidFill>
                    <a:schemeClr val="accent6">
                      <a:lumMod val="75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/>
                  <a:t>      trajectories:</a:t>
                </a:r>
              </a:p>
              <a:p>
                <a:pPr marL="0" indent="0">
                  <a:buNone/>
                </a:pPr>
                <a:r>
                  <a:rPr lang="en-US" b="1" dirty="0"/>
                  <a:t>	evolve </a:t>
                </a:r>
                <a:r>
                  <a:rPr lang="en-US" dirty="0">
                    <a:solidFill>
                      <a:srgbClr val="00B050"/>
                    </a:solidFill>
                  </a:rPr>
                  <a:t>d(timer) = -1</a:t>
                </a:r>
              </a:p>
              <a:p>
                <a:pPr marL="0" indent="0">
                  <a:buNone/>
                </a:pPr>
                <a:r>
                  <a:rPr lang="en-US" b="1" dirty="0"/>
                  <a:t>	invariant </a:t>
                </a:r>
                <a:r>
                  <a:rPr lang="en-US" dirty="0">
                    <a:solidFill>
                      <a:srgbClr val="F62AF6"/>
                    </a:solidFill>
                  </a:rPr>
                  <a:t>timer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62AF6"/>
                        </a:solidFill>
                        <a:latin typeface="Cambria Math"/>
                        <a:ea typeface="Cambria Math"/>
                      </a:rPr>
                      <m:t>≥0</m:t>
                    </m:r>
                  </m:oMath>
                </a14:m>
                <a:endParaRPr lang="en-US" sz="2400" dirty="0">
                  <a:solidFill>
                    <a:srgbClr val="F62AF6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600201"/>
                <a:ext cx="4495800" cy="4525963"/>
              </a:xfrm>
              <a:blipFill>
                <a:blip r:embed="rId3"/>
                <a:stretch>
                  <a:fillRect l="-1408" t="-2801" b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845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Some nice properties of Forward Simulation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729574" y="1600200"/>
                <a:ext cx="10515600" cy="5105400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  <a:ea typeface="Cambria Math"/>
                      </a:rPr>
                      <m:t>𝒜</m:t>
                    </m:r>
                    <m:r>
                      <a:rPr lang="en-US" b="0" i="1" dirty="0" smtClean="0">
                        <a:latin typeface="Cambria Math"/>
                        <a:ea typeface="Cambria Math"/>
                      </a:rPr>
                      <m:t>, </m:t>
                    </m:r>
                    <m:r>
                      <a:rPr lang="en-US" i="1" dirty="0" smtClean="0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dirty="0" smtClean="0">
                        <a:latin typeface="Cambria Math"/>
                        <a:ea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/>
                        <a:ea typeface="Cambria Math"/>
                      </a:rPr>
                      <m:t>and</m:t>
                    </m:r>
                    <m:r>
                      <a:rPr lang="en-US" b="0" i="0" dirty="0" smtClean="0">
                        <a:latin typeface="Cambria Math"/>
                        <a:ea typeface="Cambria Math"/>
                      </a:rPr>
                      <m:t> </m:t>
                    </m:r>
                    <m:r>
                      <a:rPr lang="en-US" i="1" dirty="0" smtClean="0">
                        <a:latin typeface="Cambria Math"/>
                        <a:ea typeface="Cambria Math"/>
                      </a:rPr>
                      <m:t>𝒞</m:t>
                    </m:r>
                  </m:oMath>
                </a14:m>
                <a:r>
                  <a:rPr lang="en-US" dirty="0"/>
                  <a:t> be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comparable</a:t>
                </a:r>
                <a:r>
                  <a:rPr lang="en-US" dirty="0"/>
                  <a:t> </a:t>
                </a:r>
                <a:r>
                  <a:rPr lang="en-US" dirty="0" err="1"/>
                  <a:t>TAs.</a:t>
                </a:r>
                <a:r>
                  <a:rPr lang="en-US" dirty="0"/>
                  <a:t> If R</a:t>
                </a:r>
                <a:r>
                  <a:rPr lang="en-US" baseline="-25000" dirty="0"/>
                  <a:t>1</a:t>
                </a:r>
                <a:r>
                  <a:rPr lang="en-US" dirty="0"/>
                  <a:t> is a forward simulation from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dirty="0"/>
                  <a:t> and R</a:t>
                </a:r>
                <a:r>
                  <a:rPr lang="en-US" baseline="-25000" dirty="0"/>
                  <a:t>2</a:t>
                </a:r>
                <a:r>
                  <a:rPr lang="en-US" dirty="0"/>
                  <a:t> is a forward simulation from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𝒞</m:t>
                    </m:r>
                  </m:oMath>
                </a14:m>
                <a:r>
                  <a:rPr lang="en-US" dirty="0"/>
                  <a:t>, then R</a:t>
                </a:r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∘</m:t>
                    </m:r>
                  </m:oMath>
                </a14:m>
                <a:r>
                  <a:rPr lang="en-US" dirty="0"/>
                  <a:t> R</a:t>
                </a:r>
                <a:r>
                  <a:rPr lang="en-US" baseline="-25000" dirty="0"/>
                  <a:t>2</a:t>
                </a:r>
                <a:r>
                  <a:rPr lang="en-US" dirty="0"/>
                  <a:t> is a forward simulation from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𝒞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dirty="0"/>
                  <a:t> implements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𝒞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</a:rPr>
                  <a:t>implementation relation </a:t>
                </a:r>
                <a:r>
                  <a:rPr lang="en-US" dirty="0"/>
                  <a:t>is a preorder of the set of all (comparable) hybrid automata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:r>
                  <a:rPr lang="en-US" dirty="0"/>
                  <a:t>(A preorder is a reflexive and transitive relation)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If R is a forward simulation from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dirty="0"/>
                  <a:t> and R</a:t>
                </a:r>
                <a:r>
                  <a:rPr lang="en-US" baseline="30000" dirty="0"/>
                  <a:t>-1 </a:t>
                </a:r>
                <a:r>
                  <a:rPr lang="en-US" dirty="0"/>
                  <a:t>is a forward simulation from 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30000" dirty="0"/>
                  <a:t> </a:t>
                </a:r>
                <a:r>
                  <a:rPr lang="en-US" dirty="0"/>
                  <a:t>then R is called a </a:t>
                </a:r>
                <a:r>
                  <a:rPr lang="en-US" b="1" dirty="0" err="1">
                    <a:solidFill>
                      <a:schemeClr val="accent6">
                        <a:lumMod val="75000"/>
                      </a:schemeClr>
                    </a:solidFill>
                  </a:rPr>
                  <a:t>bisimulation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dirty="0"/>
                  <a:t> are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30000" dirty="0"/>
                  <a:t> </a:t>
                </a:r>
                <a:r>
                  <a:rPr lang="en-US" b="1" dirty="0" err="1">
                    <a:solidFill>
                      <a:schemeClr val="accent6">
                        <a:lumMod val="75000"/>
                      </a:schemeClr>
                    </a:solidFill>
                  </a:rPr>
                  <a:t>bisimilar</a:t>
                </a:r>
                <a:r>
                  <a:rPr lang="en-US" baseline="30000" dirty="0"/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 err="1"/>
                  <a:t>Bisimilarity</a:t>
                </a:r>
                <a:r>
                  <a:rPr lang="en-US" dirty="0"/>
                  <a:t> is an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</a:rPr>
                  <a:t>equivalence relation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:r>
                  <a:rPr lang="en-US" dirty="0"/>
                  <a:t>(reflexive, transitive, and symmetric)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9574" y="1600200"/>
                <a:ext cx="10515600" cy="5105400"/>
              </a:xfrm>
              <a:blipFill>
                <a:blip r:embed="rId3"/>
                <a:stretch>
                  <a:fillRect l="-965" t="-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495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Remark on Simulations and Stability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Stability not preserved by ordinary simulations and </a:t>
            </a:r>
            <a:r>
              <a:rPr lang="en-US" dirty="0" err="1"/>
              <a:t>bisimulations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[</a:t>
            </a:r>
            <a:r>
              <a:rPr lang="en-US" dirty="0" err="1">
                <a:solidFill>
                  <a:srgbClr val="00B050"/>
                </a:solidFill>
              </a:rPr>
              <a:t>Prabhakar</a:t>
            </a:r>
            <a:r>
              <a:rPr lang="en-US" dirty="0">
                <a:solidFill>
                  <a:srgbClr val="00B050"/>
                </a:solidFill>
              </a:rPr>
              <a:t>, et. al 15]</a:t>
            </a:r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2895600" y="3124200"/>
            <a:ext cx="0" cy="2286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H="1">
            <a:off x="2895600" y="5410200"/>
            <a:ext cx="228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H="1">
            <a:off x="2895600" y="5105400"/>
            <a:ext cx="2286000" cy="0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H="1">
            <a:off x="2895600" y="4800600"/>
            <a:ext cx="2286000" cy="0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H="1">
            <a:off x="2895600" y="4419600"/>
            <a:ext cx="2286000" cy="0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2895600" y="4038600"/>
            <a:ext cx="2286000" cy="0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H="1">
            <a:off x="2895600" y="3733800"/>
            <a:ext cx="2286000" cy="0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340557" y="5528231"/>
            <a:ext cx="6142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time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6775678" y="3133440"/>
            <a:ext cx="0" cy="2286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775678" y="5419440"/>
            <a:ext cx="228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6775678" y="5114640"/>
            <a:ext cx="2286000" cy="0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6775678" y="4648200"/>
            <a:ext cx="2286000" cy="161640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6775679" y="4165870"/>
            <a:ext cx="2285999" cy="262970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6775679" y="3586022"/>
            <a:ext cx="2285999" cy="461819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6775679" y="2914080"/>
            <a:ext cx="2285999" cy="828960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220635" y="5537471"/>
            <a:ext cx="6142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24001" y="5791201"/>
            <a:ext cx="869437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i="1" dirty="0"/>
              <a:t>Stability Preserving Simulations and </a:t>
            </a:r>
            <a:r>
              <a:rPr lang="en-US" sz="1600" i="1" dirty="0" err="1"/>
              <a:t>Bisimulations</a:t>
            </a:r>
            <a:r>
              <a:rPr lang="en-US" sz="1600" i="1" dirty="0"/>
              <a:t> for Hybrid Systems, </a:t>
            </a:r>
            <a:r>
              <a:rPr lang="en-US" sz="1600" i="1" dirty="0" err="1"/>
              <a:t>Prabhakar</a:t>
            </a:r>
            <a:r>
              <a:rPr lang="en-US" sz="1600" i="1" dirty="0"/>
              <a:t>, </a:t>
            </a:r>
            <a:r>
              <a:rPr lang="en-US" sz="1600" i="1" dirty="0" err="1"/>
              <a:t>Dullerud</a:t>
            </a:r>
            <a:r>
              <a:rPr lang="en-US" sz="1600" i="1" dirty="0"/>
              <a:t>, Viswanathan IEEE Trans. Automatic Control 2015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Lecture Slides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en-US" dirty="0"/>
              <a:t>Sayan Mitra</a:t>
            </a:r>
            <a:r>
              <a:rPr lang="de-DE" dirty="0"/>
              <a:t> </a:t>
            </a:r>
            <a:r>
              <a:rPr lang="de-DE" dirty="0" err="1"/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7926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Backward Simulations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1"/>
              </p:nvPr>
            </p:nvSpPr>
            <p:spPr>
              <a:xfrm>
                <a:off x="1600200" y="1600200"/>
                <a:ext cx="8001000" cy="4953000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</a:rPr>
                  <a:t>Backward simulation </a:t>
                </a:r>
                <a:r>
                  <a:rPr lang="en-US" dirty="0"/>
                  <a:t>relation from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:r>
                  <a:rPr lang="en-US" b="1" dirty="0"/>
                  <a:t>to</a:t>
                </a:r>
                <a:r>
                  <a:rPr lang="en-US" dirty="0"/>
                  <a:t>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is a relation 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⊆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/>
                        <a:ea typeface="Cambria Math"/>
                      </a:rPr>
                      <m:t>×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such that</a:t>
                </a:r>
              </a:p>
              <a:p>
                <a:pPr marL="914400" lvl="1" indent="-45720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dirty="0"/>
                  <a:t>If </a:t>
                </a:r>
                <a:r>
                  <a:rPr lang="en-US" b="1" dirty="0"/>
                  <a:t>x</a:t>
                </a:r>
                <a:r>
                  <a:rPr lang="en-US" b="1" baseline="-25000" dirty="0"/>
                  <a:t>1 </a:t>
                </a:r>
                <a:r>
                  <a:rPr lang="en-US" dirty="0">
                    <a:latin typeface="Cambria Math"/>
                    <a:ea typeface="Cambria Math"/>
                  </a:rPr>
                  <a:t>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/>
                        <a:ea typeface="Cambria Math"/>
                      </a:rPr>
                      <m:t>Θ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and </a:t>
                </a:r>
                <a:r>
                  <a:rPr lang="en-US" b="1" dirty="0"/>
                  <a:t>x</a:t>
                </a:r>
                <a:r>
                  <a:rPr lang="en-US" b="1" baseline="-25000" dirty="0"/>
                  <a:t>1 </a:t>
                </a:r>
                <a:r>
                  <a:rPr lang="en-US" dirty="0"/>
                  <a:t>R</a:t>
                </a:r>
                <a:r>
                  <a:rPr lang="en-US" b="1" dirty="0"/>
                  <a:t> x</a:t>
                </a:r>
                <a:r>
                  <a:rPr lang="en-US" b="1" baseline="-25000" dirty="0"/>
                  <a:t>2 </a:t>
                </a:r>
                <a:r>
                  <a:rPr lang="en-US" dirty="0"/>
                  <a:t>then </a:t>
                </a:r>
                <a:r>
                  <a:rPr lang="en-US" b="1" dirty="0"/>
                  <a:t>x</a:t>
                </a:r>
                <a:r>
                  <a:rPr lang="en-US" b="1" baseline="-25000" dirty="0"/>
                  <a:t>2 </a:t>
                </a:r>
                <a:r>
                  <a:rPr lang="en-US" dirty="0">
                    <a:latin typeface="Cambria Math"/>
                    <a:ea typeface="Cambria Math"/>
                  </a:rPr>
                  <a:t>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/>
                        <a:ea typeface="Cambria Math"/>
                      </a:rPr>
                      <m:t>Θ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such that</a:t>
                </a:r>
              </a:p>
              <a:p>
                <a:pPr marL="914400" lvl="1" indent="-45720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dirty="0"/>
                  <a:t>If </a:t>
                </a:r>
                <a:r>
                  <a:rPr lang="en-US" b="1" dirty="0"/>
                  <a:t>x’</a:t>
                </a:r>
                <a:r>
                  <a:rPr lang="en-US" b="1" baseline="-25000" dirty="0"/>
                  <a:t>1 </a:t>
                </a:r>
                <a:r>
                  <a:rPr lang="en-US" dirty="0"/>
                  <a:t>R</a:t>
                </a:r>
                <a:r>
                  <a:rPr lang="en-US" b="1" dirty="0"/>
                  <a:t> x’</a:t>
                </a:r>
                <a:r>
                  <a:rPr lang="en-US" b="1" baseline="-25000" dirty="0"/>
                  <a:t>2 </a:t>
                </a:r>
                <a:r>
                  <a:rPr lang="en-US" dirty="0"/>
                  <a:t>and x</a:t>
                </a:r>
                <a:r>
                  <a:rPr lang="en-US" baseline="-25000" dirty="0"/>
                  <a:t>1</a:t>
                </a:r>
                <a:r>
                  <a:rPr lang="en-US" dirty="0"/>
                  <a:t>—a</a:t>
                </a:r>
                <a:r>
                  <a:rPr lang="en-US" dirty="0">
                    <a:sym typeface="Wingdings" pitchFamily="2" charset="2"/>
                  </a:rPr>
                  <a:t> x</a:t>
                </a:r>
                <a:r>
                  <a:rPr lang="en-US" baseline="-25000" dirty="0">
                    <a:sym typeface="Wingdings" pitchFamily="2" charset="2"/>
                  </a:rPr>
                  <a:t>1</a:t>
                </a:r>
                <a:r>
                  <a:rPr lang="en-US" dirty="0">
                    <a:sym typeface="Wingdings" pitchFamily="2" charset="2"/>
                  </a:rPr>
                  <a:t>’ then </a:t>
                </a:r>
              </a:p>
              <a:p>
                <a:pPr marL="1314450" lvl="2" indent="-457200">
                  <a:lnSpc>
                    <a:spcPct val="120000"/>
                  </a:lnSpc>
                </a:pPr>
                <a:r>
                  <a:rPr lang="en-US" b="1" dirty="0"/>
                  <a:t>x</a:t>
                </a:r>
                <a:r>
                  <a:rPr lang="en-US" b="1" baseline="-25000" dirty="0"/>
                  <a:t>2 </a:t>
                </a:r>
                <a:r>
                  <a:rPr lang="en-US" b="1" dirty="0"/>
                  <a:t>–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  <a:ea typeface="Cambria Math"/>
                      </a:rPr>
                      <m:t>𝜷</m:t>
                    </m:r>
                  </m:oMath>
                </a14:m>
                <a:r>
                  <a:rPr lang="en-US" b="1" dirty="0">
                    <a:sym typeface="Wingdings" pitchFamily="2" charset="2"/>
                  </a:rPr>
                  <a:t></a:t>
                </a:r>
                <a:r>
                  <a:rPr lang="en-US" b="1" dirty="0"/>
                  <a:t> x</a:t>
                </a:r>
                <a:r>
                  <a:rPr lang="en-US" b="1" baseline="-25000" dirty="0"/>
                  <a:t>2</a:t>
                </a:r>
                <a:r>
                  <a:rPr lang="en-US" b="1" dirty="0"/>
                  <a:t>’ </a:t>
                </a:r>
                <a:r>
                  <a:rPr lang="en-US" dirty="0"/>
                  <a:t>and</a:t>
                </a:r>
                <a:r>
                  <a:rPr lang="en-US" b="1" dirty="0"/>
                  <a:t> </a:t>
                </a:r>
              </a:p>
              <a:p>
                <a:pPr marL="1314450" lvl="2" indent="-457200">
                  <a:lnSpc>
                    <a:spcPct val="120000"/>
                  </a:lnSpc>
                </a:pPr>
                <a:r>
                  <a:rPr lang="en-US" b="1" dirty="0"/>
                  <a:t>x</a:t>
                </a:r>
                <a:r>
                  <a:rPr lang="en-US" b="1" baseline="-25000" dirty="0"/>
                  <a:t>1 </a:t>
                </a:r>
                <a:r>
                  <a:rPr lang="en-US" dirty="0"/>
                  <a:t>R</a:t>
                </a:r>
                <a:r>
                  <a:rPr lang="en-US" b="1" dirty="0"/>
                  <a:t> x</a:t>
                </a:r>
                <a:r>
                  <a:rPr lang="en-US" b="1" baseline="-25000" dirty="0"/>
                  <a:t>2</a:t>
                </a:r>
                <a:endParaRPr lang="en-US" b="1" dirty="0"/>
              </a:p>
              <a:p>
                <a:pPr lvl="2">
                  <a:lnSpc>
                    <a:spcPct val="120000"/>
                  </a:lnSpc>
                </a:pPr>
                <a:r>
                  <a:rPr lang="en-US" b="1" dirty="0"/>
                  <a:t>Trace(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  <a:ea typeface="Cambria Math"/>
                      </a:rPr>
                      <m:t>𝜷</m:t>
                    </m:r>
                  </m:oMath>
                </a14:m>
                <a:r>
                  <a:rPr lang="en-US" dirty="0"/>
                  <a:t>) = </a:t>
                </a:r>
                <a:r>
                  <a:rPr lang="en-US" b="1" dirty="0"/>
                  <a:t>a</a:t>
                </a:r>
                <a:r>
                  <a:rPr lang="en-US" b="1" baseline="-25000" dirty="0"/>
                  <a:t>1</a:t>
                </a:r>
              </a:p>
              <a:p>
                <a:pPr marL="914400" lvl="1" indent="-45720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dirty="0"/>
                  <a:t>For every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  <a:ea typeface="Cambria Math"/>
                      </a:rPr>
                      <m:t>𝝉</m:t>
                    </m:r>
                  </m:oMath>
                </a14:m>
                <a:r>
                  <a:rPr lang="en-US" b="1" baseline="-25000" dirty="0"/>
                  <a:t> </a:t>
                </a:r>
                <a:r>
                  <a:rPr lang="en-US" dirty="0">
                    <a:latin typeface="Cambria Math"/>
                    <a:ea typeface="Cambria Math"/>
                  </a:rPr>
                  <a:t>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dirty="0"/>
                  <a:t> and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  <a:ea typeface="Cambria Math"/>
                      </a:rPr>
                      <m:t> </m:t>
                    </m:r>
                  </m:oMath>
                </a14:m>
                <a:r>
                  <a:rPr lang="en-US" b="1" dirty="0"/>
                  <a:t>x</a:t>
                </a:r>
                <a:r>
                  <a:rPr lang="en-US" b="1" baseline="-25000" dirty="0"/>
                  <a:t>2 </a:t>
                </a:r>
                <a:r>
                  <a:rPr lang="en-US" dirty="0">
                    <a:latin typeface="Cambria Math"/>
                    <a:ea typeface="Cambria Math"/>
                  </a:rPr>
                  <a:t>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  <a:ea typeface="Cambria Math"/>
                      </a:rPr>
                      <m:t>Q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2 </m:t>
                    </m:r>
                  </m:oMath>
                </a14:m>
                <a:r>
                  <a:rPr lang="en-US" dirty="0"/>
                  <a:t> such that </a:t>
                </a:r>
                <a:r>
                  <a:rPr lang="en-US" b="1" dirty="0"/>
                  <a:t>x</a:t>
                </a:r>
                <a:r>
                  <a:rPr lang="en-US" b="1" baseline="-25000" dirty="0"/>
                  <a:t>1</a:t>
                </a:r>
                <a:r>
                  <a:rPr lang="en-US" b="1" dirty="0"/>
                  <a:t>’</a:t>
                </a:r>
                <a:r>
                  <a:rPr lang="en-US" b="1" baseline="-25000" dirty="0"/>
                  <a:t> </a:t>
                </a:r>
                <a:r>
                  <a:rPr lang="en-US" dirty="0"/>
                  <a:t>R</a:t>
                </a:r>
                <a:r>
                  <a:rPr lang="en-US" b="1" dirty="0"/>
                  <a:t> x</a:t>
                </a:r>
                <a:r>
                  <a:rPr lang="en-US" b="1" baseline="-25000" dirty="0"/>
                  <a:t>2</a:t>
                </a:r>
                <a:r>
                  <a:rPr lang="en-US" b="1" dirty="0"/>
                  <a:t>’</a:t>
                </a:r>
                <a:r>
                  <a:rPr lang="en-US" b="1" baseline="-25000" dirty="0"/>
                  <a:t>,</a:t>
                </a:r>
                <a:r>
                  <a:rPr lang="en-US" b="1" dirty="0"/>
                  <a:t> </a:t>
                </a:r>
                <a:r>
                  <a:rPr lang="en-US" dirty="0"/>
                  <a:t>there exists </a:t>
                </a:r>
                <a:r>
                  <a:rPr lang="en-US" b="1" dirty="0"/>
                  <a:t>x</a:t>
                </a:r>
                <a:r>
                  <a:rPr lang="en-US" b="1" baseline="-25000" dirty="0"/>
                  <a:t>2</a:t>
                </a:r>
                <a:r>
                  <a:rPr lang="en-US" dirty="0"/>
                  <a:t> such that 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en-US" b="1" dirty="0"/>
                  <a:t>x</a:t>
                </a:r>
                <a:r>
                  <a:rPr lang="en-US" b="1" baseline="-25000" dirty="0"/>
                  <a:t>2 </a:t>
                </a:r>
                <a:r>
                  <a:rPr lang="en-US" b="1" dirty="0"/>
                  <a:t>–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  <a:ea typeface="Cambria Math"/>
                      </a:rPr>
                      <m:t>𝜷</m:t>
                    </m:r>
                  </m:oMath>
                </a14:m>
                <a:r>
                  <a:rPr lang="en-US" b="1" dirty="0">
                    <a:sym typeface="Wingdings" pitchFamily="2" charset="2"/>
                  </a:rPr>
                  <a:t></a:t>
                </a:r>
                <a:r>
                  <a:rPr lang="en-US" b="1" dirty="0"/>
                  <a:t> x</a:t>
                </a:r>
                <a:r>
                  <a:rPr lang="en-US" b="1" baseline="-25000" dirty="0"/>
                  <a:t>2</a:t>
                </a:r>
                <a:r>
                  <a:rPr lang="en-US" b="1" dirty="0"/>
                  <a:t>’ </a:t>
                </a:r>
                <a:r>
                  <a:rPr lang="en-US" dirty="0"/>
                  <a:t>and</a:t>
                </a:r>
                <a:r>
                  <a:rPr lang="en-US" b="1" dirty="0"/>
                  <a:t> 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en-US" b="1" dirty="0"/>
                  <a:t>x</a:t>
                </a:r>
                <a:r>
                  <a:rPr lang="en-US" b="1" baseline="-25000" dirty="0"/>
                  <a:t>1 </a:t>
                </a:r>
                <a:r>
                  <a:rPr lang="en-US" dirty="0"/>
                  <a:t>R</a:t>
                </a:r>
                <a:r>
                  <a:rPr lang="en-US" b="1" dirty="0"/>
                  <a:t> x</a:t>
                </a:r>
                <a:r>
                  <a:rPr lang="en-US" b="1" baseline="-25000" dirty="0"/>
                  <a:t>2</a:t>
                </a:r>
                <a:endParaRPr lang="en-US" b="1" dirty="0"/>
              </a:p>
              <a:p>
                <a:pPr lvl="2">
                  <a:lnSpc>
                    <a:spcPct val="120000"/>
                  </a:lnSpc>
                </a:pPr>
                <a:r>
                  <a:rPr lang="en-US" b="1" dirty="0"/>
                  <a:t>Trace(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  <a:ea typeface="Cambria Math"/>
                      </a:rPr>
                      <m:t>𝜷</m:t>
                    </m:r>
                  </m:oMath>
                </a14:m>
                <a:r>
                  <a:rPr lang="en-US" dirty="0"/>
                  <a:t>) =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  <a:ea typeface="Cambria Math"/>
                      </a:rPr>
                      <m:t>𝝉</m:t>
                    </m:r>
                  </m:oMath>
                </a14:m>
                <a:endParaRPr lang="en-US" b="1" dirty="0"/>
              </a:p>
              <a:p>
                <a:pPr lvl="2">
                  <a:lnSpc>
                    <a:spcPct val="120000"/>
                  </a:lnSpc>
                </a:pPr>
                <a:endParaRPr lang="en-US" b="1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Theorem. </a:t>
                </a:r>
                <a:r>
                  <a:rPr lang="en-US" dirty="0"/>
                  <a:t>If there exists a backward simulation relation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  <m:r>
                      <a:rPr lang="en-US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dirty="0"/>
                  <a:t> then  ClosedTraces</a:t>
                </a:r>
                <a:r>
                  <a:rPr lang="en-US" baseline="-25000" dirty="0"/>
                  <a:t>1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⊆</m:t>
                    </m:r>
                  </m:oMath>
                </a14:m>
                <a:r>
                  <a:rPr lang="en-US" dirty="0"/>
                  <a:t> ClosedTraces</a:t>
                </a:r>
                <a:r>
                  <a:rPr lang="en-US" baseline="-25000" dirty="0"/>
                  <a:t>2</a:t>
                </a:r>
              </a:p>
              <a:p>
                <a:pPr>
                  <a:lnSpc>
                    <a:spcPct val="120000"/>
                  </a:lnSpc>
                </a:pPr>
                <a:endParaRPr lang="en-US" b="1" baseline="-25000" dirty="0"/>
              </a:p>
              <a:p>
                <a:pPr lvl="1">
                  <a:lnSpc>
                    <a:spcPct val="12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600200" y="1600200"/>
                <a:ext cx="8001000" cy="4953000"/>
              </a:xfrm>
              <a:blipFill>
                <a:blip r:embed="rId3"/>
                <a:stretch>
                  <a:fillRect l="-792" t="-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3485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22665</TotalTime>
  <Words>1815</Words>
  <Application>Microsoft Macintosh PowerPoint</Application>
  <PresentationFormat>Widescreen</PresentationFormat>
  <Paragraphs>278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Office Theme</vt:lpstr>
      <vt:lpstr>Abstractions</vt:lpstr>
      <vt:lpstr>Review. Region automaton R(A) </vt:lpstr>
      <vt:lpstr>PowerPoint Presentation</vt:lpstr>
      <vt:lpstr>Later we will study how far the idea of abstractions can help analyze a hierarchy of Hybrid Automata </vt:lpstr>
      <vt:lpstr>Outline</vt:lpstr>
      <vt:lpstr>Abstractions and Simulations</vt:lpstr>
      <vt:lpstr>Finite state examples</vt:lpstr>
      <vt:lpstr>Finite state examples</vt:lpstr>
      <vt:lpstr>How to prove B simulates A? </vt:lpstr>
      <vt:lpstr>Forward simulation relation</vt:lpstr>
      <vt:lpstr>PowerPoint Presentation</vt:lpstr>
      <vt:lpstr>Finite state examples</vt:lpstr>
      <vt:lpstr>A Simulation Example</vt:lpstr>
      <vt:lpstr>Simulations for hybrid systems </vt:lpstr>
      <vt:lpstr>Simulation relations for hybrid automata</vt:lpstr>
      <vt:lpstr>Timer simulates Ball (w.r.t. timing of bounce actions) </vt:lpstr>
      <vt:lpstr>Some nice properties of Forward Simulation</vt:lpstr>
      <vt:lpstr>Remark on Simulations and Stability</vt:lpstr>
      <vt:lpstr>Backward Simulations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Mitra, Sayan</dc:creator>
  <cp:lastModifiedBy>Mitra, Sayan</cp:lastModifiedBy>
  <cp:revision>38</cp:revision>
  <dcterms:created xsi:type="dcterms:W3CDTF">2019-10-31T16:58:12Z</dcterms:created>
  <dcterms:modified xsi:type="dcterms:W3CDTF">2025-11-04T15:34:27Z</dcterms:modified>
</cp:coreProperties>
</file>