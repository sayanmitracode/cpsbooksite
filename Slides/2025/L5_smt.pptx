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4"/>
  </p:notesMasterIdLst>
  <p:sldIdLst>
    <p:sldId id="256" r:id="rId2"/>
    <p:sldId id="300" r:id="rId3"/>
    <p:sldId id="259" r:id="rId4"/>
    <p:sldId id="258" r:id="rId5"/>
    <p:sldId id="286" r:id="rId6"/>
    <p:sldId id="260" r:id="rId7"/>
    <p:sldId id="261" r:id="rId8"/>
    <p:sldId id="262" r:id="rId9"/>
    <p:sldId id="290" r:id="rId10"/>
    <p:sldId id="288" r:id="rId11"/>
    <p:sldId id="294" r:id="rId12"/>
    <p:sldId id="295" r:id="rId13"/>
    <p:sldId id="291" r:id="rId14"/>
    <p:sldId id="292" r:id="rId15"/>
    <p:sldId id="293" r:id="rId16"/>
    <p:sldId id="301" r:id="rId17"/>
    <p:sldId id="302" r:id="rId18"/>
    <p:sldId id="303" r:id="rId19"/>
    <p:sldId id="304" r:id="rId20"/>
    <p:sldId id="296" r:id="rId21"/>
    <p:sldId id="299" r:id="rId22"/>
    <p:sldId id="29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D8B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819"/>
    <p:restoredTop sz="82843"/>
  </p:normalViewPr>
  <p:slideViewPr>
    <p:cSldViewPr snapToGrid="0" snapToObjects="1">
      <p:cViewPr varScale="1">
        <p:scale>
          <a:sx n="82" d="100"/>
          <a:sy n="82" d="100"/>
        </p:scale>
        <p:origin x="1016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05T18:13:29.58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23548 8255 24575,'20'-43'0,"19"21"0,-18-17 0,7 12 0,3 5 0,-27-17 0,35 35 0,-33-27 0,33 27 0,-35-35 0,12 33 0,-16-18 0,23 24 0,-17 0 0,18-16 0,-24 13 0,0-13 0,0 16 0,0-16 0,0 12 0,0-11 0,0-9 0,0 18 0,0-17 0</inkml:trace>
  <inkml:trace contextRef="#ctx0" brushRef="#br0" timeOffset="2032">25506 7832 24575,'-20'0'0,"-19"0"0,17 0 0,-2 0 0,-2 0 0,-12 0 0,11 0 0,-5 0 0,29 0 0,-13 0 0,-8 0 0,18 0 0,-33 0 0,35 0 0,-11 0 0,15 0 0,0 23 0,0-17 0,0 18 0,0-24 0,0 0 0,0 15 0,0-11 0,0 12 0,0-16 0,0 16 0,0-13 0,0 13 0,0 8 0,0-18 0,0 33 0,0-35 0,0 11 0,0 1 0,0-12 0,0 35 0,0-33 0,0 18 0,0-24 0,0 15 0,0-11 0,0 12 0,0-16 0,0 0 0,15 0 0,-11 0 0,12 0 0,-16 23 0,0-17 0,23 18 0,-17-24 0,18 0 0,-24 0 0,16 0 0,-13 0 0,13 0 0,-16 0 0,16 0 0,-12 0 0,11 0 0,-15 0 0,24 0 0,-18 0 0,17 0 0,-23 0 0,16 0 0,-12 0 0,12 0 0,-16 0 0,23 0 0,-17 0 0,18 0 0,-24 0 0,0-24 0,0 18 0,0-17 0,0 23 0,0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F21478-EE46-7F4C-BE30-6BA75D170973}" type="datetimeFigureOut">
              <a:rPr lang="en-US" smtClean="0"/>
              <a:t>9/9/25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56B5F-2E37-8544-9BAC-1FF880C41B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7496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E9D17-5263-D544-B5AA-A1F6A8FDF166}" type="datetimeFigureOut">
              <a:rPr lang="en-US" smtClean="0"/>
              <a:t>9/9/25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C58AD-23D9-B844-A8FE-1AF8D1D4368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E9D17-5263-D544-B5AA-A1F6A8FDF166}" type="datetimeFigureOut">
              <a:rPr lang="en-US" smtClean="0"/>
              <a:t>9/9/25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C58AD-23D9-B844-A8FE-1AF8D1D4368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E9D17-5263-D544-B5AA-A1F6A8FDF166}" type="datetimeFigureOut">
              <a:rPr lang="en-US" smtClean="0"/>
              <a:t>9/9/25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C58AD-23D9-B844-A8FE-1AF8D1D4368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E9D17-5263-D544-B5AA-A1F6A8FDF166}" type="datetimeFigureOut">
              <a:rPr lang="en-US" smtClean="0"/>
              <a:t>9/9/25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C58AD-23D9-B844-A8FE-1AF8D1D4368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E9D17-5263-D544-B5AA-A1F6A8FDF166}" type="datetimeFigureOut">
              <a:rPr lang="en-US" smtClean="0"/>
              <a:t>9/9/25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C58AD-23D9-B844-A8FE-1AF8D1D4368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E9D17-5263-D544-B5AA-A1F6A8FDF166}" type="datetimeFigureOut">
              <a:rPr lang="en-US" smtClean="0"/>
              <a:t>9/9/25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C58AD-23D9-B844-A8FE-1AF8D1D4368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E9D17-5263-D544-B5AA-A1F6A8FDF166}" type="datetimeFigureOut">
              <a:rPr lang="en-US" smtClean="0"/>
              <a:t>9/9/25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C58AD-23D9-B844-A8FE-1AF8D1D4368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E9D17-5263-D544-B5AA-A1F6A8FDF166}" type="datetimeFigureOut">
              <a:rPr lang="en-US" smtClean="0"/>
              <a:t>9/9/25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C58AD-23D9-B844-A8FE-1AF8D1D4368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E9D17-5263-D544-B5AA-A1F6A8FDF166}" type="datetimeFigureOut">
              <a:rPr lang="en-US" smtClean="0"/>
              <a:t>9/9/25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C58AD-23D9-B844-A8FE-1AF8D1D4368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E9D17-5263-D544-B5AA-A1F6A8FDF166}" type="datetimeFigureOut">
              <a:rPr lang="en-US" smtClean="0"/>
              <a:t>9/9/25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C58AD-23D9-B844-A8FE-1AF8D1D4368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E9D17-5263-D544-B5AA-A1F6A8FDF166}" type="datetimeFigureOut">
              <a:rPr lang="en-US" smtClean="0"/>
              <a:t>9/9/25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C58AD-23D9-B844-A8FE-1AF8D1D4368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6E9D17-5263-D544-B5AA-A1F6A8FDF166}" type="datetimeFigureOut">
              <a:rPr lang="en-US" smtClean="0"/>
              <a:t>9/9/25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4C58AD-23D9-B844-A8FE-1AF8D1D436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08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mitras@illinois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6" Type="http://schemas.openxmlformats.org/officeDocument/2006/relationships/customXml" Target="../ink/ink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5" Type="http://schemas.openxmlformats.org/officeDocument/2006/relationships/image" Target="../media/image2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378372"/>
            <a:ext cx="10363200" cy="3131591"/>
          </a:xfrm>
        </p:spPr>
        <p:txBody>
          <a:bodyPr>
            <a:normAutofit/>
          </a:bodyPr>
          <a:lstStyle/>
          <a:p>
            <a:r>
              <a:rPr lang="en-US" sz="4400" dirty="0"/>
              <a:t>Satisfiability Modulo Theories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877590"/>
          </a:xfrm>
        </p:spPr>
        <p:txBody>
          <a:bodyPr>
            <a:normAutofit/>
          </a:bodyPr>
          <a:lstStyle/>
          <a:p>
            <a:r>
              <a:rPr lang="en-US" dirty="0"/>
              <a:t>Verifying cyberphysical systems</a:t>
            </a:r>
          </a:p>
          <a:p>
            <a:endParaRPr lang="en-US" dirty="0"/>
          </a:p>
          <a:p>
            <a:r>
              <a:rPr lang="en-US" dirty="0"/>
              <a:t>Sayan Mitra</a:t>
            </a:r>
          </a:p>
          <a:p>
            <a:r>
              <a:rPr lang="en-US" dirty="0">
                <a:hlinkClick r:id="rId2"/>
              </a:rPr>
              <a:t>mitras@illinois.edu</a:t>
            </a:r>
            <a:endParaRPr lang="en-US" dirty="0"/>
          </a:p>
          <a:p>
            <a:r>
              <a:rPr lang="en-US" dirty="0"/>
              <a:t>Some of the slides for this lecture are adapted from slides by Clark Barrett</a:t>
            </a:r>
          </a:p>
        </p:txBody>
      </p:sp>
    </p:spTree>
    <p:extLst>
      <p:ext uri="{BB962C8B-B14F-4D97-AF65-F5344CB8AC3E}">
        <p14:creationId xmlns:p14="http://schemas.microsoft.com/office/powerpoint/2010/main" val="1672710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14E7B-60EA-92F5-F5B4-DF8A10E22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A5CAB3-30D7-AA4D-CDA4-0071454BAC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1210365" cy="1831976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Boolean satisfiability problem 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¬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∧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)∧(¬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∨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¬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∧¬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∨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0" dirty="0"/>
              </a:p>
              <a:p>
                <a:r>
                  <a:rPr lang="en-US" dirty="0"/>
                  <a:t>DPLL algorithm (backtracking + unit propagation + </a:t>
                </a:r>
                <a:r>
                  <a:rPr lang="en-US" dirty="0" err="1"/>
                  <a:t>pureliteral</a:t>
                </a:r>
                <a:r>
                  <a:rPr lang="en-US" dirty="0"/>
                  <a:t> assignment)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A5CAB3-30D7-AA4D-CDA4-0071454BAC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1210365" cy="1831976"/>
              </a:xfrm>
              <a:blipFill>
                <a:blip r:embed="rId2"/>
                <a:stretch>
                  <a:fillRect l="-905" t="-55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0A1FE47-5B32-C1C3-0B17-8CF1189C7BC5}"/>
                  </a:ext>
                </a:extLst>
              </p:cNvPr>
              <p:cNvSpPr txBox="1"/>
              <p:nvPr/>
            </p:nvSpPr>
            <p:spPr>
              <a:xfrm>
                <a:off x="838199" y="4034117"/>
                <a:ext cx="6010835" cy="2677656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+mj-lt"/>
                  </a:rPr>
                  <a:t>function DPLL(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2400" dirty="0">
                    <a:latin typeface="+mj-lt"/>
                  </a:rPr>
                  <a:t>) </a:t>
                </a:r>
              </a:p>
              <a:p>
                <a:pPr lvl="1"/>
                <a:r>
                  <a:rPr lang="en-US" sz="2400" dirty="0">
                    <a:latin typeface="+mj-lt"/>
                  </a:rPr>
                  <a:t>Repeat</a:t>
                </a:r>
              </a:p>
              <a:p>
                <a:pPr lvl="2"/>
                <a:r>
                  <a:rPr lang="en-US" sz="2400" dirty="0">
                    <a:latin typeface="+mj-lt"/>
                  </a:rPr>
                  <a:t>unit-propagate </a:t>
                </a:r>
              </a:p>
              <a:p>
                <a:pPr lvl="2"/>
                <a:r>
                  <a:rPr lang="en-US" sz="2400" dirty="0">
                    <a:latin typeface="+mj-lt"/>
                  </a:rPr>
                  <a:t>pure-literal-assign </a:t>
                </a:r>
              </a:p>
              <a:p>
                <a:pPr lvl="1"/>
                <a:r>
                  <a:rPr lang="en-US" sz="2400" dirty="0">
                    <a:latin typeface="+mj-lt"/>
                  </a:rPr>
                  <a:t>	check-stopping-conditions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ℓ</m:t>
                    </m:r>
                  </m:oMath>
                </a14:m>
                <a:r>
                  <a:rPr lang="en-US" sz="2400" dirty="0">
                    <a:latin typeface="+mj-lt"/>
                  </a:rPr>
                  <a:t>← choose-literal(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2400" dirty="0">
                    <a:latin typeface="+mj-lt"/>
                  </a:rPr>
                  <a:t>); </a:t>
                </a:r>
              </a:p>
              <a:p>
                <a:pPr lvl="1"/>
                <a:r>
                  <a:rPr lang="en-US" sz="2400" dirty="0">
                    <a:latin typeface="+mj-lt"/>
                  </a:rPr>
                  <a:t>return (DPLL(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2400" dirty="0">
                    <a:latin typeface="+mj-lt"/>
                  </a:rPr>
                  <a:t> ∧ {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ℓ</m:t>
                    </m:r>
                  </m:oMath>
                </a14:m>
                <a:r>
                  <a:rPr lang="en-US" sz="2400" dirty="0">
                    <a:latin typeface="+mj-lt"/>
                  </a:rPr>
                  <a:t>}) or DPLL(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2400" dirty="0">
                    <a:latin typeface="+mj-lt"/>
                  </a:rPr>
                  <a:t> ∧ {¬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ℓ</m:t>
                    </m:r>
                  </m:oMath>
                </a14:m>
                <a:r>
                  <a:rPr lang="en-US" sz="2400" dirty="0">
                    <a:latin typeface="+mj-lt"/>
                  </a:rPr>
                  <a:t>})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0A1FE47-5B32-C1C3-0B17-8CF1189C7B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4034117"/>
                <a:ext cx="6010835" cy="2677656"/>
              </a:xfrm>
              <a:prstGeom prst="rect">
                <a:avLst/>
              </a:prstGeom>
              <a:blipFill>
                <a:blip r:embed="rId3"/>
                <a:stretch>
                  <a:fillRect l="-1474" t="-1415" b="-4245"/>
                </a:stretch>
              </a:blipFill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35162016-1243-A307-F8A1-49F1BE59B1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7902" y="4034117"/>
            <a:ext cx="5241851" cy="2677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599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5B6BF-AF9C-DC4B-91A8-0990C357F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Satisfiability modulo theories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35E665-1805-1945-8523-A3E30C8D5F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latin typeface="+mj-lt"/>
                  </a:rPr>
                  <a:t>SAT: Given a </a:t>
                </a:r>
                <a:r>
                  <a:rPr lang="en-US" i="1" dirty="0">
                    <a:latin typeface="+mj-lt"/>
                  </a:rPr>
                  <a:t>well-formed formula </a:t>
                </a:r>
                <a:r>
                  <a:rPr lang="en-US" dirty="0">
                    <a:latin typeface="+mj-lt"/>
                  </a:rPr>
                  <a:t>in propositional logic, determine whether there exists a satisfying solution</a:t>
                </a:r>
              </a:p>
              <a:p>
                <a:r>
                  <a:rPr lang="en-US" dirty="0">
                    <a:latin typeface="+mj-lt"/>
                  </a:rPr>
                  <a:t>A </a:t>
                </a:r>
                <a:r>
                  <a:rPr lang="en-US" i="1" dirty="0">
                    <a:solidFill>
                      <a:srgbClr val="0070C0"/>
                    </a:solidFill>
                    <a:latin typeface="+mj-lt"/>
                  </a:rPr>
                  <a:t>satisfiability modulo theory </a:t>
                </a:r>
                <a:r>
                  <a:rPr lang="en-US" dirty="0">
                    <a:solidFill>
                      <a:srgbClr val="0070C0"/>
                    </a:solidFill>
                    <a:latin typeface="+mj-lt"/>
                  </a:rPr>
                  <a:t>(SMT) </a:t>
                </a:r>
                <a:r>
                  <a:rPr lang="en-US" dirty="0">
                    <a:latin typeface="+mj-lt"/>
                  </a:rPr>
                  <a:t>problem is a generalization of SAT in which some of the binary variables are replaced by predicates over a suitable set of non-binary variables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 err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sz="2000" i="1" dirty="0" err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 dirty="0" err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i="1" dirty="0" err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 dirty="0" err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000" i="1" dirty="0" err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 dirty="0" err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:= </m:t>
                    </m:r>
                    <m:d>
                      <m:d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 = 5</m:t>
                        </m:r>
                      </m:e>
                    </m:d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 − </m:t>
                        </m:r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≥ 2</m:t>
                        </m:r>
                      </m:e>
                    </m:d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∧ </m:t>
                    </m:r>
                    <m:d>
                      <m:d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 &gt; 2</m:t>
                        </m:r>
                      </m:e>
                    </m:d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∧ (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−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= 2)   	</m:t>
                    </m:r>
                  </m:oMath>
                </a14:m>
                <a:endParaRPr lang="en-US" sz="2000" dirty="0">
                  <a:latin typeface="+mj-lt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 err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i="1" dirty="0" err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 dirty="0" err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000" i="1" dirty="0" err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 dirty="0" err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:= </m:t>
                    </m:r>
                    <m:d>
                      <m:d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sSup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−4</m:t>
                        </m:r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+5</m:t>
                        </m:r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≤ 5</m:t>
                        </m:r>
                      </m:e>
                    </m:d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∧ (−2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+ 5</m:t>
                    </m:r>
                    <m:sSup>
                      <m:sSup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≤ 7) </m:t>
                    </m:r>
                  </m:oMath>
                </a14:m>
                <a:endParaRPr lang="en-US" sz="2000" dirty="0">
                  <a:latin typeface="+mj-lt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>
                    <a:latin typeface="+mj-lt"/>
                  </a:rPr>
                  <a:t> is a predicate in </a:t>
                </a:r>
                <a:r>
                  <a:rPr lang="en-US" sz="2000" i="1" dirty="0">
                    <a:latin typeface="+mj-lt"/>
                  </a:rPr>
                  <a:t>difference logic</a:t>
                </a:r>
                <a:r>
                  <a:rPr lang="en-US" sz="2000" dirty="0">
                    <a:latin typeface="+mj-lt"/>
                  </a:rPr>
                  <a:t> in which the variables are real-valued, and the clauses are constructed with  standard comparison operations &gt;, &gt;=, =$ and –(minus)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>
                    <a:latin typeface="+mj-lt"/>
                  </a:rPr>
                  <a:t> is a predicate in real arithmetic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35E665-1805-1945-8523-A3E30C8D5F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2632" r="-19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3810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A2E06-4195-8B47-9A9A-8A3F58A2A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theory in mathematical logic?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6E4DB-099B-B948-95E6-B19E34523B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we talk about </a:t>
            </a:r>
            <a:r>
              <a:rPr lang="en-US" dirty="0">
                <a:solidFill>
                  <a:srgbClr val="0070C0"/>
                </a:solidFill>
              </a:rPr>
              <a:t>well-formed formulas with non-binary variables</a:t>
            </a:r>
            <a:r>
              <a:rPr lang="en-US" dirty="0"/>
              <a:t>, we have to say exactly what type of formulas are allowed</a:t>
            </a:r>
          </a:p>
          <a:p>
            <a:r>
              <a:rPr lang="en-US" dirty="0"/>
              <a:t>and, what it means for assignments to </a:t>
            </a:r>
            <a:r>
              <a:rPr lang="en-US" i="1" dirty="0"/>
              <a:t>satisfy such formulas </a:t>
            </a:r>
            <a:endParaRPr lang="en-US" dirty="0"/>
          </a:p>
          <a:p>
            <a:r>
              <a:rPr lang="en-US" dirty="0"/>
              <a:t>This brings us to the notions </a:t>
            </a:r>
            <a:r>
              <a:rPr lang="en-US" i="1" dirty="0">
                <a:solidFill>
                  <a:srgbClr val="0070C0"/>
                </a:solidFill>
              </a:rPr>
              <a:t>theory</a:t>
            </a:r>
            <a:r>
              <a:rPr lang="en-US" dirty="0"/>
              <a:t> and </a:t>
            </a:r>
            <a:r>
              <a:rPr lang="en-US" i="1" dirty="0">
                <a:solidFill>
                  <a:srgbClr val="0070C0"/>
                </a:solidFill>
              </a:rPr>
              <a:t>models</a:t>
            </a:r>
            <a:r>
              <a:rPr lang="en-US" dirty="0"/>
              <a:t> in mathematical logic</a:t>
            </a:r>
          </a:p>
        </p:txBody>
      </p:sp>
    </p:spTree>
    <p:extLst>
      <p:ext uri="{BB962C8B-B14F-4D97-AF65-F5344CB8AC3E}">
        <p14:creationId xmlns:p14="http://schemas.microsoft.com/office/powerpoint/2010/main" val="4193397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B0D1324-5D3D-6D4A-8C62-76A473F3D45F}"/>
              </a:ext>
            </a:extLst>
          </p:cNvPr>
          <p:cNvCxnSpPr>
            <a:cxnSpLocks/>
          </p:cNvCxnSpPr>
          <p:nvPr/>
        </p:nvCxnSpPr>
        <p:spPr>
          <a:xfrm>
            <a:off x="3238079" y="3118776"/>
            <a:ext cx="2587370" cy="738649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C16A10B-78BA-8E4E-B958-FAEE057E3058}"/>
              </a:ext>
            </a:extLst>
          </p:cNvPr>
          <p:cNvSpPr txBox="1"/>
          <p:nvPr/>
        </p:nvSpPr>
        <p:spPr>
          <a:xfrm>
            <a:off x="1293586" y="1935326"/>
            <a:ext cx="3398780" cy="3970318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endParaRPr lang="en-US" dirty="0">
              <a:latin typeface="+mj-lt"/>
            </a:endParaRPr>
          </a:p>
          <a:p>
            <a:pPr algn="ctr"/>
            <a:r>
              <a:rPr lang="en-US" dirty="0">
                <a:latin typeface="+mj-lt"/>
              </a:rPr>
              <a:t>Theory solvers/decision procedures</a:t>
            </a:r>
          </a:p>
          <a:p>
            <a:pPr algn="ctr"/>
            <a:endParaRPr lang="en-US" dirty="0">
              <a:latin typeface="+mj-lt"/>
            </a:endParaRPr>
          </a:p>
          <a:p>
            <a:pPr algn="ctr"/>
            <a:endParaRPr lang="en-US" dirty="0">
              <a:latin typeface="+mj-lt"/>
            </a:endParaRPr>
          </a:p>
          <a:p>
            <a:pPr algn="ctr"/>
            <a:endParaRPr lang="en-US" dirty="0">
              <a:latin typeface="+mj-lt"/>
            </a:endParaRPr>
          </a:p>
          <a:p>
            <a:pPr algn="ctr"/>
            <a:endParaRPr lang="en-US" dirty="0">
              <a:latin typeface="+mj-lt"/>
            </a:endParaRPr>
          </a:p>
          <a:p>
            <a:pPr algn="ctr"/>
            <a:endParaRPr lang="en-US" dirty="0">
              <a:latin typeface="+mj-lt"/>
            </a:endParaRPr>
          </a:p>
          <a:p>
            <a:pPr algn="ctr"/>
            <a:endParaRPr lang="en-US" dirty="0">
              <a:latin typeface="+mj-lt"/>
            </a:endParaRPr>
          </a:p>
          <a:p>
            <a:pPr algn="ctr"/>
            <a:endParaRPr lang="en-US" dirty="0">
              <a:latin typeface="+mj-lt"/>
            </a:endParaRPr>
          </a:p>
          <a:p>
            <a:pPr algn="ctr"/>
            <a:endParaRPr lang="en-US" dirty="0">
              <a:latin typeface="+mj-lt"/>
            </a:endParaRPr>
          </a:p>
          <a:p>
            <a:pPr algn="ctr"/>
            <a:endParaRPr lang="en-US" dirty="0">
              <a:latin typeface="+mj-lt"/>
            </a:endParaRPr>
          </a:p>
          <a:p>
            <a:pPr algn="ctr"/>
            <a:r>
              <a:rPr lang="en-US" dirty="0">
                <a:latin typeface="+mj-lt"/>
              </a:rPr>
              <a:t> </a:t>
            </a:r>
          </a:p>
          <a:p>
            <a:endParaRPr lang="en-US" dirty="0"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618114-0556-934E-86A0-115BDF7D5EE3}"/>
              </a:ext>
            </a:extLst>
          </p:cNvPr>
          <p:cNvSpPr txBox="1"/>
          <p:nvPr/>
        </p:nvSpPr>
        <p:spPr>
          <a:xfrm>
            <a:off x="1693894" y="2951000"/>
            <a:ext cx="1802525" cy="64633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+mj-lt"/>
              </a:rPr>
              <a:t>Arithmetic </a:t>
            </a:r>
          </a:p>
          <a:p>
            <a:pPr algn="ctr"/>
            <a:endParaRPr lang="en-US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6E6814-EF6C-E849-8498-8A5C61C990AA}"/>
              </a:ext>
            </a:extLst>
          </p:cNvPr>
          <p:cNvSpPr txBox="1"/>
          <p:nvPr/>
        </p:nvSpPr>
        <p:spPr>
          <a:xfrm>
            <a:off x="1877824" y="3274165"/>
            <a:ext cx="1802525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err="1">
                <a:latin typeface="+mj-lt"/>
              </a:rPr>
              <a:t>Bitvectors</a:t>
            </a:r>
            <a:r>
              <a:rPr lang="en-US" dirty="0">
                <a:latin typeface="+mj-lt"/>
              </a:rPr>
              <a:t> </a:t>
            </a:r>
          </a:p>
          <a:p>
            <a:endParaRPr lang="en-US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50C421-59BD-8940-BAA9-777FC8E2D644}"/>
              </a:ext>
            </a:extLst>
          </p:cNvPr>
          <p:cNvSpPr txBox="1"/>
          <p:nvPr/>
        </p:nvSpPr>
        <p:spPr>
          <a:xfrm>
            <a:off x="8759493" y="3458820"/>
            <a:ext cx="1802525" cy="923330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dirty="0">
              <a:latin typeface="+mj-lt"/>
            </a:endParaRPr>
          </a:p>
          <a:p>
            <a:pPr algn="ctr"/>
            <a:r>
              <a:rPr lang="en-US" dirty="0">
                <a:latin typeface="+mj-lt"/>
              </a:rPr>
              <a:t>DPLL </a:t>
            </a:r>
          </a:p>
          <a:p>
            <a:endParaRPr lang="en-US" dirty="0"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B6ED88-5CA9-0349-8E40-6D96563D337C}"/>
              </a:ext>
            </a:extLst>
          </p:cNvPr>
          <p:cNvSpPr txBox="1"/>
          <p:nvPr/>
        </p:nvSpPr>
        <p:spPr>
          <a:xfrm>
            <a:off x="2093278" y="3597325"/>
            <a:ext cx="1802525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+mj-lt"/>
              </a:rPr>
              <a:t>Difference logic </a:t>
            </a:r>
          </a:p>
          <a:p>
            <a:endParaRPr lang="en-US" dirty="0"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63652A-F276-824E-AF8D-2523940FEA37}"/>
              </a:ext>
            </a:extLst>
          </p:cNvPr>
          <p:cNvSpPr txBox="1"/>
          <p:nvPr/>
        </p:nvSpPr>
        <p:spPr>
          <a:xfrm>
            <a:off x="2308732" y="3920485"/>
            <a:ext cx="1802525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+mj-lt"/>
              </a:rPr>
              <a:t>…</a:t>
            </a:r>
          </a:p>
          <a:p>
            <a:pPr algn="ctr"/>
            <a:endParaRPr lang="en-US" dirty="0"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A5807D-5ACB-F44E-97FA-27DE06829BD5}"/>
              </a:ext>
            </a:extLst>
          </p:cNvPr>
          <p:cNvSpPr txBox="1"/>
          <p:nvPr/>
        </p:nvSpPr>
        <p:spPr>
          <a:xfrm>
            <a:off x="2524186" y="4243639"/>
            <a:ext cx="1802525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+mj-lt"/>
              </a:rPr>
              <a:t>Uninterpreted functions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8B2187-BA6E-0D4E-85F8-48645470EA19}"/>
              </a:ext>
            </a:extLst>
          </p:cNvPr>
          <p:cNvSpPr txBox="1"/>
          <p:nvPr/>
        </p:nvSpPr>
        <p:spPr>
          <a:xfrm>
            <a:off x="5825449" y="3458820"/>
            <a:ext cx="1802525" cy="923330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dirty="0">
              <a:latin typeface="+mj-lt"/>
            </a:endParaRPr>
          </a:p>
          <a:p>
            <a:pPr algn="ctr"/>
            <a:r>
              <a:rPr lang="en-US" dirty="0">
                <a:latin typeface="+mj-lt"/>
              </a:rPr>
              <a:t>Core </a:t>
            </a:r>
          </a:p>
          <a:p>
            <a:endParaRPr lang="en-US" dirty="0">
              <a:latin typeface="+mj-lt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D05AAEF-0C35-1643-AA43-EEE9CE3E89F7}"/>
              </a:ext>
            </a:extLst>
          </p:cNvPr>
          <p:cNvCxnSpPr/>
          <p:nvPr/>
        </p:nvCxnSpPr>
        <p:spPr>
          <a:xfrm flipH="1" flipV="1">
            <a:off x="3496419" y="2951000"/>
            <a:ext cx="2329030" cy="646325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5BACD5F-12BD-DB4B-BAE2-B97F1204ECB3}"/>
              </a:ext>
            </a:extLst>
          </p:cNvPr>
          <p:cNvCxnSpPr>
            <a:cxnSpLocks/>
          </p:cNvCxnSpPr>
          <p:nvPr/>
        </p:nvCxnSpPr>
        <p:spPr>
          <a:xfrm flipH="1" flipV="1">
            <a:off x="4693931" y="3274160"/>
            <a:ext cx="1131518" cy="323165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DB5BD65-2036-1C42-93CC-488D998856DB}"/>
              </a:ext>
            </a:extLst>
          </p:cNvPr>
          <p:cNvCxnSpPr>
            <a:cxnSpLocks/>
          </p:cNvCxnSpPr>
          <p:nvPr/>
        </p:nvCxnSpPr>
        <p:spPr>
          <a:xfrm>
            <a:off x="4693930" y="3525086"/>
            <a:ext cx="1131519" cy="332339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7C94757-437B-6642-8CE5-824185DA7AA5}"/>
              </a:ext>
            </a:extLst>
          </p:cNvPr>
          <p:cNvCxnSpPr>
            <a:cxnSpLocks/>
          </p:cNvCxnSpPr>
          <p:nvPr/>
        </p:nvCxnSpPr>
        <p:spPr>
          <a:xfrm flipH="1">
            <a:off x="4693928" y="3983545"/>
            <a:ext cx="1131521" cy="392400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BE1992D-A3B5-7E4F-A0C2-E0752F08438D}"/>
              </a:ext>
            </a:extLst>
          </p:cNvPr>
          <p:cNvCxnSpPr>
            <a:cxnSpLocks/>
          </p:cNvCxnSpPr>
          <p:nvPr/>
        </p:nvCxnSpPr>
        <p:spPr>
          <a:xfrm flipH="1">
            <a:off x="4693929" y="4243639"/>
            <a:ext cx="1144802" cy="415495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CB440D64-CA0E-A74D-A22A-97AE44FCD7F8}"/>
              </a:ext>
            </a:extLst>
          </p:cNvPr>
          <p:cNvSpPr txBox="1"/>
          <p:nvPr/>
        </p:nvSpPr>
        <p:spPr>
          <a:xfrm>
            <a:off x="4780857" y="2674008"/>
            <a:ext cx="14572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+mj-lt"/>
              </a:rPr>
              <a:t>CNF formula in </a:t>
            </a:r>
          </a:p>
          <a:p>
            <a:r>
              <a:rPr lang="en-US" sz="1600" dirty="0">
                <a:latin typeface="+mj-lt"/>
              </a:rPr>
              <a:t>real arithmetic</a:t>
            </a:r>
          </a:p>
          <a:p>
            <a:endParaRPr lang="en-US" sz="16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87B267D-4BA0-F445-AFC2-ED4B0AE93384}"/>
              </a:ext>
            </a:extLst>
          </p:cNvPr>
          <p:cNvSpPr txBox="1"/>
          <p:nvPr/>
        </p:nvSpPr>
        <p:spPr>
          <a:xfrm>
            <a:off x="4697053" y="4659119"/>
            <a:ext cx="15151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+mj-lt"/>
              </a:rPr>
              <a:t>solution or </a:t>
            </a:r>
          </a:p>
          <a:p>
            <a:r>
              <a:rPr lang="en-US" sz="1600" dirty="0">
                <a:latin typeface="+mj-lt"/>
              </a:rPr>
              <a:t>counterexample</a:t>
            </a:r>
            <a:endParaRPr lang="en-US" sz="1600" dirty="0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5D153A6-717D-1448-B7FE-CDD7697FBC11}"/>
              </a:ext>
            </a:extLst>
          </p:cNvPr>
          <p:cNvCxnSpPr>
            <a:cxnSpLocks/>
          </p:cNvCxnSpPr>
          <p:nvPr/>
        </p:nvCxnSpPr>
        <p:spPr>
          <a:xfrm flipH="1">
            <a:off x="7627974" y="3658879"/>
            <a:ext cx="1131518" cy="0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6FEAAD5-B25D-9B40-B748-E84660711D6A}"/>
              </a:ext>
            </a:extLst>
          </p:cNvPr>
          <p:cNvCxnSpPr>
            <a:cxnSpLocks/>
          </p:cNvCxnSpPr>
          <p:nvPr/>
        </p:nvCxnSpPr>
        <p:spPr>
          <a:xfrm>
            <a:off x="7627975" y="4151319"/>
            <a:ext cx="1131517" cy="2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7E3296A7-B8E9-9B4E-A3C1-1975DFE3F634}"/>
              </a:ext>
            </a:extLst>
          </p:cNvPr>
          <p:cNvSpPr txBox="1"/>
          <p:nvPr/>
        </p:nvSpPr>
        <p:spPr>
          <a:xfrm>
            <a:off x="7627974" y="2627823"/>
            <a:ext cx="11315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+mj-lt"/>
              </a:rPr>
              <a:t>boolean</a:t>
            </a:r>
            <a:r>
              <a:rPr lang="en-US" sz="1600" dirty="0">
                <a:latin typeface="+mj-lt"/>
              </a:rPr>
              <a:t> skeleton of problem</a:t>
            </a:r>
            <a:endParaRPr lang="en-US" sz="16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7BD610B-5A7C-E143-B2C0-88EA4F707EA6}"/>
              </a:ext>
            </a:extLst>
          </p:cNvPr>
          <p:cNvSpPr txBox="1"/>
          <p:nvPr/>
        </p:nvSpPr>
        <p:spPr>
          <a:xfrm>
            <a:off x="7627973" y="4382150"/>
            <a:ext cx="11315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+mj-lt"/>
              </a:rPr>
              <a:t>assertions</a:t>
            </a:r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7D5B5A-76D4-6140-A724-503C86372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of an SMT solver</a:t>
            </a:r>
          </a:p>
        </p:txBody>
      </p:sp>
    </p:spTree>
    <p:extLst>
      <p:ext uri="{BB962C8B-B14F-4D97-AF65-F5344CB8AC3E}">
        <p14:creationId xmlns:p14="http://schemas.microsoft.com/office/powerpoint/2010/main" val="2891778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4" grpId="0" animBg="1"/>
      <p:bldP spid="5" grpId="0" animBg="1"/>
      <p:bldP spid="7" grpId="0" animBg="1"/>
      <p:bldP spid="9" grpId="0" animBg="1"/>
      <p:bldP spid="8" grpId="0" animBg="1"/>
      <p:bldP spid="31" grpId="0"/>
      <p:bldP spid="3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2A479C8-9C77-3744-84B5-FB686A8E6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dirty="0"/>
              <a:t>Building up a theory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50DDAEE-6CAA-0146-B7C6-7CD12DAB5B1B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499872" y="1343818"/>
                <a:ext cx="5519928" cy="5266844"/>
              </a:xfrm>
            </p:spPr>
            <p:txBody>
              <a:bodyPr>
                <a:normAutofit fontScale="775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dirty="0"/>
                  <a:t>First we define the syntax for writing formulas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dirty="0"/>
                  <a:t>A</a:t>
                </a:r>
                <a:r>
                  <a:rPr lang="en-US" i="1" dirty="0"/>
                  <a:t> </a:t>
                </a:r>
                <a:r>
                  <a:rPr lang="en-US" i="1" dirty="0">
                    <a:solidFill>
                      <a:srgbClr val="0070C0"/>
                    </a:solidFill>
                  </a:rPr>
                  <a:t>signature</a:t>
                </a:r>
                <a:r>
                  <a:rPr lang="en-US" i="1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i="1" dirty="0"/>
              </a:p>
              <a:p>
                <a:pPr lvl="1">
                  <a:lnSpc>
                    <a:spcPct val="120000"/>
                  </a:lnSpc>
                </a:pPr>
                <a:r>
                  <a:rPr lang="en-US" b="0" dirty="0"/>
                  <a:t>set of </a:t>
                </a:r>
                <a:r>
                  <a:rPr lang="en-US" b="0" i="1" dirty="0">
                    <a:solidFill>
                      <a:srgbClr val="0070C0"/>
                    </a:solidFill>
                  </a:rPr>
                  <a:t>function symbols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., 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+,−,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𝑠𝑖𝑛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</m:t>
                        </m:r>
                      </m:e>
                    </m:d>
                  </m:oMath>
                </a14:m>
                <a:endParaRPr lang="en-US" b="0" dirty="0"/>
              </a:p>
              <a:p>
                <a:pPr lvl="1">
                  <a:lnSpc>
                    <a:spcPct val="120000"/>
                  </a:lnSpc>
                </a:pPr>
                <a:r>
                  <a:rPr lang="en-US" b="0" dirty="0"/>
                  <a:t>set of </a:t>
                </a:r>
                <a:r>
                  <a:rPr lang="en-US" b="0" i="1" dirty="0">
                    <a:solidFill>
                      <a:srgbClr val="0070C0"/>
                    </a:solidFill>
                  </a:rPr>
                  <a:t>predicate symbols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</m:oMath>
                </a14:m>
                <a:endParaRPr lang="en-US" b="0" dirty="0"/>
              </a:p>
              <a:p>
                <a:pPr lvl="1">
                  <a:lnSpc>
                    <a:spcPct val="120000"/>
                  </a:lnSpc>
                </a:pPr>
                <a:r>
                  <a:rPr lang="en-US" i="1" dirty="0"/>
                  <a:t>arity</a:t>
                </a:r>
                <a:r>
                  <a:rPr lang="en-US" dirty="0"/>
                  <a:t> of each function: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𝑎𝑟𝑖𝑡𝑦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ℕ</m:t>
                    </m:r>
                  </m:oMath>
                </a14:m>
                <a:endParaRPr lang="en-US" i="1" dirty="0"/>
              </a:p>
              <a:p>
                <a:pPr lvl="1">
                  <a:lnSpc>
                    <a:spcPct val="120000"/>
                  </a:lnSpc>
                </a:pPr>
                <a:r>
                  <a:rPr lang="en-US" i="1" dirty="0"/>
                  <a:t>0 </a:t>
                </a:r>
                <a:r>
                  <a:rPr lang="en-US" i="1" dirty="0">
                    <a:solidFill>
                      <a:srgbClr val="0070C0"/>
                    </a:solidFill>
                  </a:rPr>
                  <a:t>arity</a:t>
                </a:r>
                <a:r>
                  <a:rPr lang="en-US" i="1" dirty="0"/>
                  <a:t> </a:t>
                </a:r>
                <a:r>
                  <a:rPr lang="en-US" dirty="0"/>
                  <a:t>functions are constants</a:t>
                </a:r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b="0" i="1" dirty="0"/>
                  <a:t>: </a:t>
                </a:r>
                <a:r>
                  <a:rPr lang="en-US" b="0" dirty="0"/>
                  <a:t>set of </a:t>
                </a:r>
                <a:r>
                  <a:rPr lang="en-US" b="0" i="1" dirty="0">
                    <a:solidFill>
                      <a:srgbClr val="0070C0"/>
                    </a:solidFill>
                  </a:rPr>
                  <a:t>variables</a:t>
                </a:r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𝑇𝑒𝑟𝑚𝑠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</m:oMath>
                </a14:m>
                <a:endParaRPr lang="en-US" b="0" i="1" dirty="0"/>
              </a:p>
              <a:p>
                <a:pPr lvl="1">
                  <a:lnSpc>
                    <a:spcPct val="120000"/>
                  </a:lnSpc>
                </a:pPr>
                <a:r>
                  <a:rPr lang="en-US" b="0" dirty="0"/>
                  <a:t>Elements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b="0" dirty="0"/>
                  <a:t> are terms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𝑇𝑒𝑟𝑚𝑠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</m:oMath>
                </a14:m>
                <a:r>
                  <a:rPr lang="en-US" b="0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</m:oMath>
                </a14:m>
                <a:r>
                  <a:rPr lang="en-US" b="0" dirty="0"/>
                  <a:t> with arity k,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𝑇𝑒𝑟𝑚𝑠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0" dirty="0"/>
              </a:p>
              <a:p>
                <a:pPr lvl="1">
                  <a:lnSpc>
                    <a:spcPct val="120000"/>
                  </a:lnSpc>
                </a:pPr>
                <a:r>
                  <a:rPr lang="en-US" i="1" dirty="0">
                    <a:solidFill>
                      <a:srgbClr val="0070C0"/>
                    </a:solidFill>
                  </a:rPr>
                  <a:t>Ground terms </a:t>
                </a:r>
                <a:r>
                  <a:rPr lang="en-US" dirty="0"/>
                  <a:t>are terms without variables</a:t>
                </a:r>
                <a:endParaRPr lang="en-US" b="0" dirty="0"/>
              </a:p>
              <a:p>
                <a:pPr lvl="1">
                  <a:lnSpc>
                    <a:spcPct val="120000"/>
                  </a:lnSpc>
                </a:pPr>
                <a:endParaRPr lang="en-US" i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50DDAEE-6CAA-0146-B7C6-7CD12DAB5B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99872" y="1343818"/>
                <a:ext cx="5519928" cy="5266844"/>
              </a:xfrm>
              <a:blipFill>
                <a:blip r:embed="rId2"/>
                <a:stretch>
                  <a:fillRect l="-1147" t="-7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CE0CEE4F-48F1-1B47-98B4-428F663E41A4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172200" y="1343818"/>
                <a:ext cx="5181600" cy="4833145"/>
              </a:xfrm>
            </p:spPr>
            <p:txBody>
              <a:bodyPr>
                <a:normAutofit fontScale="77500" lnSpcReduction="20000"/>
              </a:bodyPr>
              <a:lstStyle/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0,+</m:t>
                        </m:r>
                      </m:e>
                    </m:d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</m:e>
                    </m:d>
                  </m:oMath>
                </a14:m>
                <a:endParaRPr lang="en-US" dirty="0"/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𝑎𝑟𝑖𝑡𝑦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b="0" dirty="0"/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𝑎𝑟𝑖𝑡𝑦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US" dirty="0"/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𝑎𝑟𝑖𝑡𝑦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US" dirty="0"/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:pPr>
                  <a:lnSpc>
                    <a:spcPct val="120000"/>
                  </a:lnSpc>
                </a:pPr>
                <a:endParaRPr lang="en-US" dirty="0"/>
              </a:p>
              <a:p>
                <a:pPr>
                  <a:lnSpc>
                    <a:spcPct val="120000"/>
                  </a:lnSpc>
                </a:pPr>
                <a:r>
                  <a:rPr lang="en-US" dirty="0"/>
                  <a:t>Terms defined by this signature are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+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+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,0,…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CE0CEE4F-48F1-1B47-98B4-428F663E41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172200" y="1343818"/>
                <a:ext cx="5181600" cy="4833145"/>
              </a:xfrm>
              <a:blipFill>
                <a:blip r:embed="rId3"/>
                <a:stretch>
                  <a:fillRect l="-1222" t="-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9655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BF053-31BD-1C46-BB5D-4D98103FB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9118"/>
          </a:xfrm>
        </p:spPr>
        <p:txBody>
          <a:bodyPr/>
          <a:lstStyle/>
          <a:p>
            <a:r>
              <a:rPr lang="en-US" dirty="0"/>
              <a:t>Terms to Formulas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08092F-39A2-084A-A4EB-9C3A4FF51F5E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494675" y="1154244"/>
                <a:ext cx="7570033" cy="5703756"/>
              </a:xfrm>
            </p:spPr>
            <p:txBody>
              <a:bodyPr>
                <a:normAutofit fontScale="625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b="0" dirty="0">
                    <a:solidFill>
                      <a:srgbClr val="0070C0"/>
                    </a:solidFill>
                  </a:rPr>
                  <a:t>Atomic formulas</a:t>
                </a:r>
                <a:r>
                  <a:rPr lang="en-US" b="0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𝐴𝐹</m:t>
                    </m:r>
                  </m:oMath>
                </a14:m>
                <a:endParaRPr lang="en-US" b="0" i="1" dirty="0"/>
              </a:p>
              <a:p>
                <a:pPr lvl="1">
                  <a:lnSpc>
                    <a:spcPct val="120000"/>
                  </a:lnSpc>
                </a:pPr>
                <a:r>
                  <a:rPr lang="en-US" b="0" dirty="0"/>
                  <a:t>True, False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𝑇𝑒𝑟𝑚𝑠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</m:oMath>
                </a14:m>
                <a:r>
                  <a:rPr lang="en-US" b="0" dirty="0"/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en-US" b="0" dirty="0"/>
                  <a:t> with arity k,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𝐴𝐹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0" dirty="0"/>
              </a:p>
              <a:p>
                <a:pPr lvl="1">
                  <a:lnSpc>
                    <a:spcPct val="120000"/>
                  </a:lnSpc>
                </a:pPr>
                <a:r>
                  <a:rPr lang="en-US" dirty="0"/>
                  <a:t>A </a:t>
                </a:r>
                <a:r>
                  <a:rPr lang="en-US" i="1" dirty="0"/>
                  <a:t>literal </a:t>
                </a:r>
                <a:r>
                  <a:rPr lang="en-US" dirty="0"/>
                  <a:t>is an AF or its negation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US" dirty="0"/>
                  <a:t>Set of all atomic formulas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𝐴𝐹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</m:oMath>
                </a14:m>
                <a:endParaRPr lang="en-US" dirty="0"/>
              </a:p>
              <a:p>
                <a:pPr>
                  <a:lnSpc>
                    <a:spcPct val="120000"/>
                  </a:lnSpc>
                </a:pPr>
                <a:r>
                  <a:rPr lang="en-US" b="0" dirty="0">
                    <a:solidFill>
                      <a:srgbClr val="0070C0"/>
                    </a:solidFill>
                  </a:rPr>
                  <a:t>Quantifier free formulas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𝑄𝐹𝐹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</m:oMath>
                </a14:m>
                <a:endParaRPr lang="en-US" b="0" dirty="0"/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𝐴𝐹</m:t>
                    </m:r>
                  </m:oMath>
                </a14:m>
                <a:endParaRPr lang="en-US" b="0" dirty="0"/>
              </a:p>
              <a:p>
                <a:pPr lvl="1">
                  <a:lnSpc>
                    <a:spcPct val="120000"/>
                  </a:lnSpc>
                </a:pPr>
                <a:r>
                  <a:rPr lang="en-US" b="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𝑄𝐹𝐹</m:t>
                    </m:r>
                  </m:oMath>
                </a14:m>
                <a:r>
                  <a:rPr lang="en-US" b="0" dirty="0"/>
                  <a:t> then </a:t>
                </a:r>
              </a:p>
              <a:p>
                <a:pPr lvl="2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¬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𝑄𝐹𝐹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∧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𝑄𝐹𝐹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∨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𝑄𝐹𝐹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𝑄𝐹𝐹</m:t>
                    </m:r>
                  </m:oMath>
                </a14:m>
                <a:endParaRPr lang="en-US" b="0" dirty="0"/>
              </a:p>
              <a:p>
                <a:pPr lvl="1">
                  <a:lnSpc>
                    <a:spcPct val="120000"/>
                  </a:lnSpc>
                </a:pPr>
                <a:r>
                  <a:rPr lang="en-US" b="0" dirty="0"/>
                  <a:t>Set of all quantifier free formulas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𝑄𝐹𝐹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</m:oMath>
                </a14:m>
                <a:endParaRPr lang="en-US" b="0" dirty="0"/>
              </a:p>
              <a:p>
                <a:pPr>
                  <a:lnSpc>
                    <a:spcPct val="120000"/>
                  </a:lnSpc>
                </a:pPr>
                <a:r>
                  <a:rPr lang="en-US" dirty="0">
                    <a:solidFill>
                      <a:srgbClr val="0070C0"/>
                    </a:solidFill>
                  </a:rPr>
                  <a:t>First order formulas </a:t>
                </a:r>
                <a:r>
                  <a:rPr lang="en-US" dirty="0"/>
                  <a:t>is the set of quantifier free formulas under universal and existential quantifiers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US" dirty="0">
                    <a:solidFill>
                      <a:srgbClr val="0070C0"/>
                    </a:solidFill>
                  </a:rPr>
                  <a:t>Bound variables </a:t>
                </a:r>
                <a:r>
                  <a:rPr lang="en-US" dirty="0"/>
                  <a:t>are those that are attached to quantifiers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US" dirty="0">
                    <a:solidFill>
                      <a:srgbClr val="0070C0"/>
                    </a:solidFill>
                  </a:rPr>
                  <a:t>Free variables</a:t>
                </a:r>
                <a:r>
                  <a:rPr lang="en-US" dirty="0"/>
                  <a:t>: variables not bound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i="1" dirty="0">
                    <a:solidFill>
                      <a:srgbClr val="0070C0"/>
                    </a:solidFill>
                  </a:rPr>
                  <a:t>Sentence</a:t>
                </a:r>
                <a:r>
                  <a:rPr lang="en-US" i="1" dirty="0"/>
                  <a:t>: </a:t>
                </a:r>
                <a:r>
                  <a:rPr lang="en-US" dirty="0"/>
                  <a:t>First order formula with no free variables</a:t>
                </a:r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Theory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</m:oMath>
                </a14:m>
                <a:r>
                  <a:rPr lang="en-US" dirty="0"/>
                  <a:t> set of all sentences over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08092F-39A2-084A-A4EB-9C3A4FF51F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94675" y="1154244"/>
                <a:ext cx="7570033" cy="5703756"/>
              </a:xfrm>
              <a:blipFill>
                <a:blip r:embed="rId2"/>
                <a:stretch>
                  <a:fillRect l="-335" t="-444" r="-8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34D510A9-FA4D-574A-8B22-089C888A5DEE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8409482" y="1154244"/>
                <a:ext cx="2944317" cy="5022719"/>
              </a:xfrm>
            </p:spPr>
            <p:txBody>
              <a:bodyPr>
                <a:normAutofit fontScale="62500" lnSpcReduction="20000"/>
              </a:bodyPr>
              <a:lstStyle/>
              <a:p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sz="3200" b="0" dirty="0"/>
              </a:p>
              <a:p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=+(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200" dirty="0"/>
                  <a:t> </a:t>
                </a:r>
              </a:p>
              <a:p>
                <a:endParaRPr lang="en-US" sz="3200" dirty="0"/>
              </a:p>
              <a:p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=0∧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sz="3200" dirty="0"/>
              </a:p>
              <a:p>
                <a:endParaRPr lang="en-US" sz="3200" dirty="0"/>
              </a:p>
              <a:p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, ∃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:+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3200" b="0" dirty="0"/>
              </a:p>
              <a:p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, ∃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sz="3200" b="0" dirty="0"/>
              </a:p>
              <a:p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, ∃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:+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sz="3200" b="0" dirty="0"/>
              </a:p>
              <a:p>
                <a:endParaRPr lang="en-US" sz="3200" b="0" dirty="0"/>
              </a:p>
              <a:p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∃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:+</m:t>
                    </m:r>
                    <m:d>
                      <m:d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sz="3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sz="3200" dirty="0"/>
              </a:p>
              <a:p>
                <a:endParaRPr lang="en-US" sz="32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34D510A9-FA4D-574A-8B22-089C888A5D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8409482" y="1154244"/>
                <a:ext cx="2944317" cy="5022719"/>
              </a:xfrm>
              <a:blipFill>
                <a:blip r:embed="rId3"/>
                <a:stretch>
                  <a:fillRect l="-1288" t="-10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0838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30A0C-1E59-CF48-951A-83BE50E4B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Models for theories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580B2B7A-E6F6-9B4F-99CD-C7993A13EF1C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359764" y="1499616"/>
                <a:ext cx="5660036" cy="5181599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2400" dirty="0"/>
                  <a:t>This notion of model from mathematical logic is not to be confused with the notion of a model for a computational or physical process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sz="2400" dirty="0"/>
              </a:p>
              <a:p>
                <a:pPr>
                  <a:lnSpc>
                    <a:spcPct val="120000"/>
                  </a:lnSpc>
                </a:pPr>
                <a:r>
                  <a:rPr lang="en-US" sz="2400" dirty="0"/>
                  <a:t>A </a:t>
                </a:r>
                <a:r>
                  <a:rPr lang="en-US" sz="2400" i="1" dirty="0">
                    <a:solidFill>
                      <a:srgbClr val="0070C0"/>
                    </a:solidFill>
                  </a:rPr>
                  <a:t>model</a:t>
                </a:r>
                <a:r>
                  <a:rPr lang="en-US" sz="2400" dirty="0"/>
                  <a:t> gives meanings or </a:t>
                </a:r>
                <a:r>
                  <a:rPr lang="en-US" sz="2400" i="1" dirty="0"/>
                  <a:t>interpretations </a:t>
                </a:r>
                <a:r>
                  <a:rPr lang="en-US" sz="2400" dirty="0"/>
                  <a:t>to formulas in theory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US" sz="2400" dirty="0"/>
              </a:p>
              <a:p>
                <a:pPr>
                  <a:lnSpc>
                    <a:spcPct val="120000"/>
                  </a:lnSpc>
                </a:pPr>
                <a:r>
                  <a:rPr lang="en-US" sz="2400" dirty="0"/>
                  <a:t>A model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400" dirty="0"/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Theory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has to define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US" sz="1800" dirty="0"/>
                  <a:t>A </a:t>
                </a:r>
                <a:r>
                  <a:rPr lang="en-US" sz="1800" dirty="0">
                    <a:solidFill>
                      <a:srgbClr val="0070C0"/>
                    </a:solidFill>
                  </a:rPr>
                  <a:t>domain</a:t>
                </a:r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r>
                      <a:rPr lang="en-US" sz="1800" b="0" i="0" smtClean="0"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US" sz="1800" b="0" i="0" smtClean="0"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sz="1800" b="0" i="0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lang="en-US" sz="1800" dirty="0"/>
              </a:p>
              <a:p>
                <a:pPr lvl="1">
                  <a:lnSpc>
                    <a:spcPct val="120000"/>
                  </a:lnSpc>
                </a:pPr>
                <a:r>
                  <a:rPr lang="en-US" sz="1800" dirty="0"/>
                  <a:t>interpretations of all functions and predicate symbols</a:t>
                </a:r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</m:d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→|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sz="1800" dirty="0"/>
                  <a:t>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b="0" i="0" smtClean="0">
                        <a:latin typeface="Cambria Math" panose="02040503050406030204" pitchFamily="18" charset="0"/>
                      </a:rPr>
                      <m:t>arity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1800" dirty="0"/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⊆</m:t>
                    </m:r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</m:d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1800" dirty="0"/>
                  <a:t> if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𝑎𝑟𝑖𝑡𝑦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1800" dirty="0"/>
              </a:p>
              <a:p>
                <a:pPr lvl="1">
                  <a:lnSpc>
                    <a:spcPct val="120000"/>
                  </a:lnSpc>
                </a:pPr>
                <a:r>
                  <a:rPr lang="en-US" sz="1800" dirty="0"/>
                  <a:t>Assignment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∈|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sz="1800" dirty="0"/>
                  <a:t> for every variable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sz="1800" dirty="0"/>
                  <a:t>   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sz="2400" dirty="0"/>
                  <a:t>A </a:t>
                </a:r>
                <a:r>
                  <a:rPr lang="en-US" sz="2400" dirty="0">
                    <a:solidFill>
                      <a:srgbClr val="0070C0"/>
                    </a:solidFill>
                  </a:rPr>
                  <a:t>formula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sz="2400" dirty="0">
                    <a:solidFill>
                      <a:srgbClr val="0070C0"/>
                    </a:solidFill>
                  </a:rPr>
                  <a:t> is true in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400" dirty="0">
                    <a:solidFill>
                      <a:srgbClr val="0070C0"/>
                    </a:solidFill>
                  </a:rPr>
                  <a:t> </a:t>
                </a:r>
                <a:r>
                  <a:rPr lang="en-US" sz="2400" dirty="0"/>
                  <a:t>if it evaluates to true under the given interpretations over domain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580B2B7A-E6F6-9B4F-99CD-C7993A13EF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359764" y="1499616"/>
                <a:ext cx="5660036" cy="5181599"/>
              </a:xfrm>
              <a:blipFill>
                <a:blip r:embed="rId2"/>
                <a:stretch>
                  <a:fillRect l="-671" t="-4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DF2DB802-4A12-7743-9B01-810753A01C2F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172200" y="914401"/>
                <a:ext cx="5181600" cy="1706880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Example model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={0,+,&lt;}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={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,⟨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⟩}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DF2DB802-4A12-7743-9B01-810753A01C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172200" y="914401"/>
                <a:ext cx="5181600" cy="1706880"/>
              </a:xfrm>
              <a:blipFill>
                <a:blip r:embed="rId3"/>
                <a:stretch>
                  <a:fillRect l="-1222" t="-82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35F55291-6A37-EA45-8AA1-418DAFC204F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339840" y="2687320"/>
              <a:ext cx="2516632" cy="14833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29158">
                      <a:extLst>
                        <a:ext uri="{9D8B030D-6E8A-4147-A177-3AD203B41FA5}">
                          <a16:colId xmlns:a16="http://schemas.microsoft.com/office/drawing/2014/main" val="3431582808"/>
                        </a:ext>
                      </a:extLst>
                    </a:gridCol>
                    <a:gridCol w="629158">
                      <a:extLst>
                        <a:ext uri="{9D8B030D-6E8A-4147-A177-3AD203B41FA5}">
                          <a16:colId xmlns:a16="http://schemas.microsoft.com/office/drawing/2014/main" val="3506829344"/>
                        </a:ext>
                      </a:extLst>
                    </a:gridCol>
                    <a:gridCol w="629158">
                      <a:extLst>
                        <a:ext uri="{9D8B030D-6E8A-4147-A177-3AD203B41FA5}">
                          <a16:colId xmlns:a16="http://schemas.microsoft.com/office/drawing/2014/main" val="1614161474"/>
                        </a:ext>
                      </a:extLst>
                    </a:gridCol>
                    <a:gridCol w="629158">
                      <a:extLst>
                        <a:ext uri="{9D8B030D-6E8A-4147-A177-3AD203B41FA5}">
                          <a16:colId xmlns:a16="http://schemas.microsoft.com/office/drawing/2014/main" val="390660372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948133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907235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805215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4307933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35F55291-6A37-EA45-8AA1-418DAFC204F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42744518"/>
                  </p:ext>
                </p:extLst>
              </p:nvPr>
            </p:nvGraphicFramePr>
            <p:xfrm>
              <a:off x="6339840" y="2687320"/>
              <a:ext cx="2516632" cy="14833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29158">
                      <a:extLst>
                        <a:ext uri="{9D8B030D-6E8A-4147-A177-3AD203B41FA5}">
                          <a16:colId xmlns:a16="http://schemas.microsoft.com/office/drawing/2014/main" val="3431582808"/>
                        </a:ext>
                      </a:extLst>
                    </a:gridCol>
                    <a:gridCol w="629158">
                      <a:extLst>
                        <a:ext uri="{9D8B030D-6E8A-4147-A177-3AD203B41FA5}">
                          <a16:colId xmlns:a16="http://schemas.microsoft.com/office/drawing/2014/main" val="3506829344"/>
                        </a:ext>
                      </a:extLst>
                    </a:gridCol>
                    <a:gridCol w="629158">
                      <a:extLst>
                        <a:ext uri="{9D8B030D-6E8A-4147-A177-3AD203B41FA5}">
                          <a16:colId xmlns:a16="http://schemas.microsoft.com/office/drawing/2014/main" val="1614161474"/>
                        </a:ext>
                      </a:extLst>
                    </a:gridCol>
                    <a:gridCol w="629158">
                      <a:extLst>
                        <a:ext uri="{9D8B030D-6E8A-4147-A177-3AD203B41FA5}">
                          <a16:colId xmlns:a16="http://schemas.microsoft.com/office/drawing/2014/main" val="390660372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00" t="-3333" r="-298000" b="-29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2000" t="-3333" r="-198000" b="-29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6122" t="-3333" r="-102041" b="-29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00000" t="-3333" b="-29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948133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00" t="-106897" r="-298000" b="-20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2000" t="-106897" r="-198000" b="-20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6122" t="-106897" r="-102041" b="-20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00000" t="-106897" b="-2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907235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00" t="-200000" r="-298000" b="-9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2000" t="-200000" r="-198000" b="-9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6122" t="-200000" r="-102041" b="-9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00000" t="-200000" b="-9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05215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00" t="-310345" r="-29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2000" t="-310345" r="-19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6122" t="-310345" r="-1020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00000" t="-31034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4307933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5">
                <a:extLst>
                  <a:ext uri="{FF2B5EF4-FFF2-40B4-BE49-F238E27FC236}">
                    <a16:creationId xmlns:a16="http://schemas.microsoft.com/office/drawing/2014/main" id="{BB6B8B6E-CD75-FA4E-9C94-82DCE73CE4C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19800" y="4470082"/>
                <a:ext cx="5334000" cy="227717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62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20000"/>
                  </a:lnSpc>
                  <a:buFont typeface="Arial" panose="020B0604020202020204" pitchFamily="34" charset="0"/>
                  <a:buNone/>
                </a:pPr>
                <a:r>
                  <a:rPr lang="en-US" b="0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/>
                  <a:t>then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e>
                    </m:d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e>
                    </m:d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(+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⊨∀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/>
                  <a:t>We say that the model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 </a:t>
                </a:r>
                <a:r>
                  <a:rPr lang="en-US" i="1" dirty="0">
                    <a:solidFill>
                      <a:srgbClr val="0070C0"/>
                    </a:solidFill>
                  </a:rPr>
                  <a:t>T-satisfies</a:t>
                </a:r>
                <a:r>
                  <a:rPr lang="en-US" dirty="0"/>
                  <a:t> the formula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8" name="Content Placeholder 5">
                <a:extLst>
                  <a:ext uri="{FF2B5EF4-FFF2-40B4-BE49-F238E27FC236}">
                    <a16:creationId xmlns:a16="http://schemas.microsoft.com/office/drawing/2014/main" id="{BB6B8B6E-CD75-FA4E-9C94-82DCE73CE4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9800" y="4470082"/>
                <a:ext cx="5334000" cy="2277171"/>
              </a:xfrm>
              <a:prstGeom prst="rect">
                <a:avLst/>
              </a:prstGeom>
              <a:blipFill>
                <a:blip r:embed="rId5"/>
                <a:stretch>
                  <a:fillRect l="-950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D41BC097-5B06-D84B-932B-03BBE830BA37}"/>
                  </a:ext>
                </a:extLst>
              </p14:cNvPr>
              <p14:cNvContentPartPr/>
              <p14:nvPr/>
            </p14:nvContentPartPr>
            <p14:xfrm>
              <a:off x="8477280" y="2819520"/>
              <a:ext cx="705240" cy="1526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D41BC097-5B06-D84B-932B-03BBE830BA3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467920" y="2810160"/>
                <a:ext cx="723960" cy="171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82255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57823D9-3C1E-544A-A156-2BF05A0B4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theories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6F685D3-5E64-5043-A32C-3686EC557A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84026"/>
                <a:ext cx="10515600" cy="5171607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Uninterpreted functions (UF)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 ∧ 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 ∧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Difference logic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:=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2,..,−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:=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&lt;,≤, =,&gt;,≥</m:t>
                        </m:r>
                      </m:e>
                    </m:d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≷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where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≷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&lt;,≤, =,&gt;,≥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Linear arithmetic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+6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≤10</m:t>
                    </m:r>
                  </m:oMath>
                </a14:m>
                <a:endParaRPr lang="en-US" dirty="0"/>
              </a:p>
              <a:p>
                <a:r>
                  <a:rPr lang="en-US" dirty="0"/>
                  <a:t>Real arithmetic (nonlinear)</a:t>
                </a:r>
              </a:p>
              <a:p>
                <a:pPr lvl="1"/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4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+6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−9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lang="en-US" dirty="0"/>
              </a:p>
              <a:p>
                <a:r>
                  <a:rPr lang="en-US" dirty="0"/>
                  <a:t>Bit vectors</a:t>
                </a:r>
              </a:p>
              <a:p>
                <a:r>
                  <a:rPr lang="en-US" dirty="0"/>
                  <a:t>Arrays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6F685D3-5E64-5043-A32C-3686EC557A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84026"/>
                <a:ext cx="10515600" cy="5171607"/>
              </a:xfrm>
              <a:blipFill>
                <a:blip r:embed="rId2"/>
                <a:stretch>
                  <a:fillRect l="-965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1577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980E5-CAB5-1D4F-BEC2-BB06A103B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procedures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2EC3F36-BB7C-7E4E-8EFA-162BE7C9E3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8235" y="1825625"/>
                <a:ext cx="11295529" cy="4351338"/>
              </a:xfrm>
            </p:spPr>
            <p:txBody>
              <a:bodyPr>
                <a:normAutofit fontScale="85000" lnSpcReduction="10000"/>
              </a:bodyPr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dirty="0"/>
                  <a:t>Given a theory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 a </a:t>
                </a:r>
                <a:r>
                  <a:rPr lang="en-US" dirty="0">
                    <a:solidFill>
                      <a:srgbClr val="0070C0"/>
                    </a:solidFill>
                  </a:rPr>
                  <a:t>theory solver or a decision procedure </a:t>
                </a:r>
                <a:r>
                  <a:rPr lang="en-US" dirty="0"/>
                  <a:t>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 takes as input a </a:t>
                </a:r>
                <a:r>
                  <a:rPr lang="en-US" dirty="0">
                    <a:solidFill>
                      <a:schemeClr val="tx1"/>
                    </a:solidFill>
                  </a:rPr>
                  <a:t>set of </a:t>
                </a:r>
                <a:r>
                  <a:rPr lang="en-US" dirty="0">
                    <a:solidFill>
                      <a:schemeClr val="accent2">
                        <a:lumMod val="75000"/>
                      </a:schemeClr>
                    </a:solidFill>
                  </a:rPr>
                  <a:t>literals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(atomic propositions) </a:t>
                </a:r>
                <a:r>
                  <a:rPr lang="en-US" dirty="0"/>
                  <a:t>and determines whether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>
                    <a:solidFill>
                      <a:srgbClr val="00B0F0"/>
                    </a:solidFill>
                  </a:rPr>
                  <a:t>-satisfiable</a:t>
                </a:r>
                <a:r>
                  <a:rPr lang="en-US" dirty="0"/>
                  <a:t>, that is, 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∃</m:t>
                    </m:r>
                  </m:oMath>
                </a14:m>
                <a:r>
                  <a:rPr lang="en-US" dirty="0"/>
                  <a:t> a model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 such that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⊨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endParaRPr lang="en-US" dirty="0"/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en-US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dirty="0"/>
                  <a:t>Note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dirty="0"/>
                  <a:t> is not a general formula; it is restricted to be a set of </a:t>
                </a:r>
                <a:r>
                  <a:rPr lang="en-US" dirty="0">
                    <a:solidFill>
                      <a:schemeClr val="accent2">
                        <a:lumMod val="75000"/>
                      </a:schemeClr>
                    </a:solidFill>
                  </a:rPr>
                  <a:t>literals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en-US" dirty="0">
                  <a:solidFill>
                    <a:schemeClr val="accent2">
                      <a:lumMod val="75000"/>
                    </a:schemeClr>
                  </a:solidFill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b="0" dirty="0">
                    <a:solidFill>
                      <a:schemeClr val="tx1"/>
                    </a:solidFill>
                  </a:rPr>
                  <a:t>Literals in the theory of uninterpreted functions: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    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   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dirty="0"/>
                  <a:t>Not literals: 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∧ 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     (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2EC3F36-BB7C-7E4E-8EFA-162BE7C9E3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8235" y="1825625"/>
                <a:ext cx="11295529" cy="4351338"/>
              </a:xfrm>
              <a:blipFill>
                <a:blip r:embed="rId2"/>
                <a:stretch>
                  <a:fillRect l="-899" t="-8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207262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43DF2-81AC-5045-A51C-4FB485896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decision procedure 2: Uninterpreted functions (UF)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4543A4B-1F26-C746-A897-94D77FFB14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69627" y="1825625"/>
                <a:ext cx="11047750" cy="4351338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∧(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∧(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∧  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Decision procedure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Put all variables and function instances in their own classes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is a literal then merge the classes containing them; do this repeatedly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are terms in the same class then merge classes containing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; repeat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is a literal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dirty="0"/>
                  <a:t> and they belong to the same class then return </a:t>
                </a:r>
                <a:r>
                  <a:rPr lang="en-US" dirty="0" err="1"/>
                  <a:t>unsat</a:t>
                </a:r>
                <a:r>
                  <a:rPr lang="en-US" dirty="0"/>
                  <a:t> else return sat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4543A4B-1F26-C746-A897-94D77FFB14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69627" y="1825625"/>
                <a:ext cx="11047750" cy="4351338"/>
              </a:xfrm>
              <a:blipFill>
                <a:blip r:embed="rId2"/>
                <a:stretch>
                  <a:fillRect l="-1033" t="-877" r="-115" b="-29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4900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43DF2-81AC-5045-A51C-4FB485896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decision procedure 2: Uninterpreted functions (UF)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4543A4B-1F26-C746-A897-94D77FFB14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69627" y="1825625"/>
                <a:ext cx="11047750" cy="4351338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Initial classes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∧(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∧(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∧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∧  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Classes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} 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e>
                    </m:d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e>
                    </m:d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</m:d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} </m:t>
                      </m:r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} </m:t>
                      </m:r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i="1" dirty="0" err="1">
                    <a:latin typeface="Cambria Math" panose="02040503050406030204" pitchFamily="18" charset="0"/>
                  </a:rPr>
                  <a:t>Unsat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4543A4B-1F26-C746-A897-94D77FFB14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69627" y="1825625"/>
                <a:ext cx="11047750" cy="4351338"/>
              </a:xfrm>
              <a:blipFill>
                <a:blip r:embed="rId2"/>
                <a:stretch>
                  <a:fillRect l="-918" t="-29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7736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425BB-C8FC-0F40-9CF6-3459AD650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Example decision procedure 1: Difference logic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8B7FB9-BA84-4B46-B4BD-666388D583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69626" y="1825625"/>
                <a:ext cx="11137692" cy="4351338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=5)∧(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≥2)∧(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&gt;2)∧(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=2)∧  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&lt;0)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dirty="0"/>
                  <a:t>Decision procedure:</a:t>
                </a:r>
              </a:p>
              <a:p>
                <a:pPr marL="0" indent="0">
                  <a:buNone/>
                </a:pPr>
                <a:r>
                  <a:rPr lang="en-US" dirty="0"/>
                  <a:t>Convert each literal (AF)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 form:</a:t>
                </a:r>
                <a:endParaRPr lang="en-US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∧(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≤−5)</m:t>
                      </m:r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≤−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∧</m:t>
                      </m:r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≤−3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∧</m:t>
                      </m:r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≤−2)</m:t>
                      </m:r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For integer domain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) is replaced by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)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8B7FB9-BA84-4B46-B4BD-666388D583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69626" y="1825625"/>
                <a:ext cx="11137692" cy="4351338"/>
              </a:xfrm>
              <a:blipFill>
                <a:blip r:embed="rId2"/>
                <a:stretch>
                  <a:fillRect l="-1025" t="-291" b="-8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8299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268980-04B8-3149-BE1E-FDC0D5B076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158850"/>
                <a:ext cx="10515600" cy="608995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Construct a graph with edge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for each literal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268980-04B8-3149-BE1E-FDC0D5B076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158850"/>
                <a:ext cx="10515600" cy="608995"/>
              </a:xfrm>
              <a:blipFill>
                <a:blip r:embed="rId2"/>
                <a:stretch>
                  <a:fillRect l="-1086" t="-16327" b="-40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E1E66E8D-0DD0-EA42-87BA-C9183DA834C2}"/>
                  </a:ext>
                </a:extLst>
              </p:cNvPr>
              <p:cNvSpPr/>
              <p:nvPr/>
            </p:nvSpPr>
            <p:spPr>
              <a:xfrm>
                <a:off x="1768840" y="199740"/>
                <a:ext cx="7989757" cy="19389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≤5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∧(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≤−5)</m:t>
                      </m:r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≤−2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∧</m:t>
                      </m:r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≤−3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∧</m:t>
                      </m:r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≤2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∧(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≤−2)</m:t>
                      </m:r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≤−1)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E1E66E8D-0DD0-EA42-87BA-C9183DA834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8840" y="199740"/>
                <a:ext cx="7989757" cy="1938992"/>
              </a:xfrm>
              <a:prstGeom prst="rect">
                <a:avLst/>
              </a:prstGeom>
              <a:blipFill>
                <a:blip r:embed="rId3"/>
                <a:stretch>
                  <a:fillRect b="-39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E4BDD2ED-0C7F-8243-AF59-41857A4D24FC}"/>
                  </a:ext>
                </a:extLst>
              </p:cNvPr>
              <p:cNvSpPr/>
              <p:nvPr/>
            </p:nvSpPr>
            <p:spPr>
              <a:xfrm>
                <a:off x="1079292" y="4001294"/>
                <a:ext cx="689548" cy="689548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E4BDD2ED-0C7F-8243-AF59-41857A4D24F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292" y="4001294"/>
                <a:ext cx="689548" cy="689548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8B3AB70B-AE1D-3A42-A016-452EE62613E9}"/>
                  </a:ext>
                </a:extLst>
              </p:cNvPr>
              <p:cNvSpPr/>
              <p:nvPr/>
            </p:nvSpPr>
            <p:spPr>
              <a:xfrm>
                <a:off x="3195403" y="2678412"/>
                <a:ext cx="689548" cy="689548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8B3AB70B-AE1D-3A42-A016-452EE62613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5403" y="2678412"/>
                <a:ext cx="689548" cy="689548"/>
              </a:xfrm>
              <a:prstGeom prst="ellipse">
                <a:avLst/>
              </a:prstGeom>
              <a:blipFill>
                <a:blip r:embed="rId5"/>
                <a:stretch>
                  <a:fillRect l="-1818" b="-89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23C86200-50F7-2442-A1B9-2B86B9904E63}"/>
                  </a:ext>
                </a:extLst>
              </p:cNvPr>
              <p:cNvSpPr/>
              <p:nvPr/>
            </p:nvSpPr>
            <p:spPr>
              <a:xfrm>
                <a:off x="5196590" y="4001294"/>
                <a:ext cx="689548" cy="689548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23C86200-50F7-2442-A1B9-2B86B9904E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6590" y="4001294"/>
                <a:ext cx="689548" cy="689548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377D87BF-60BC-5B45-9A8D-EC2F2BA42259}"/>
                  </a:ext>
                </a:extLst>
              </p:cNvPr>
              <p:cNvSpPr/>
              <p:nvPr/>
            </p:nvSpPr>
            <p:spPr>
              <a:xfrm>
                <a:off x="3195403" y="5820155"/>
                <a:ext cx="689548" cy="689548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377D87BF-60BC-5B45-9A8D-EC2F2BA4225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5403" y="5820155"/>
                <a:ext cx="689548" cy="689548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Curved Connector 9">
            <a:extLst>
              <a:ext uri="{FF2B5EF4-FFF2-40B4-BE49-F238E27FC236}">
                <a16:creationId xmlns:a16="http://schemas.microsoft.com/office/drawing/2014/main" id="{571231FC-F9BD-E148-88A7-2774A8921ED3}"/>
              </a:ext>
            </a:extLst>
          </p:cNvPr>
          <p:cNvCxnSpPr>
            <a:stCxn id="5" idx="0"/>
            <a:endCxn id="6" idx="2"/>
          </p:cNvCxnSpPr>
          <p:nvPr/>
        </p:nvCxnSpPr>
        <p:spPr>
          <a:xfrm rot="5400000" flipH="1" flipV="1">
            <a:off x="1820680" y="2626572"/>
            <a:ext cx="978108" cy="1771337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urved Connector 10">
            <a:extLst>
              <a:ext uri="{FF2B5EF4-FFF2-40B4-BE49-F238E27FC236}">
                <a16:creationId xmlns:a16="http://schemas.microsoft.com/office/drawing/2014/main" id="{F81D7F9B-348A-E34B-A9BA-B3AF03C2A9EA}"/>
              </a:ext>
            </a:extLst>
          </p:cNvPr>
          <p:cNvCxnSpPr>
            <a:cxnSpLocks/>
            <a:stCxn id="6" idx="3"/>
          </p:cNvCxnSpPr>
          <p:nvPr/>
        </p:nvCxnSpPr>
        <p:spPr>
          <a:xfrm rot="5400000">
            <a:off x="1993067" y="3042752"/>
            <a:ext cx="1079092" cy="1527545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urved Connector 14">
            <a:extLst>
              <a:ext uri="{FF2B5EF4-FFF2-40B4-BE49-F238E27FC236}">
                <a16:creationId xmlns:a16="http://schemas.microsoft.com/office/drawing/2014/main" id="{8DD7CC99-F4CA-164E-968D-E09038D6042B}"/>
              </a:ext>
            </a:extLst>
          </p:cNvPr>
          <p:cNvCxnSpPr>
            <a:cxnSpLocks/>
            <a:stCxn id="6" idx="6"/>
            <a:endCxn id="7" idx="0"/>
          </p:cNvCxnSpPr>
          <p:nvPr/>
        </p:nvCxnSpPr>
        <p:spPr>
          <a:xfrm>
            <a:off x="3884951" y="3023186"/>
            <a:ext cx="1656413" cy="978108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urved Connector 17">
            <a:extLst>
              <a:ext uri="{FF2B5EF4-FFF2-40B4-BE49-F238E27FC236}">
                <a16:creationId xmlns:a16="http://schemas.microsoft.com/office/drawing/2014/main" id="{D0333A49-765B-444C-A55D-38FB375F95FC}"/>
              </a:ext>
            </a:extLst>
          </p:cNvPr>
          <p:cNvCxnSpPr>
            <a:cxnSpLocks/>
            <a:stCxn id="7" idx="4"/>
            <a:endCxn id="8" idx="6"/>
          </p:cNvCxnSpPr>
          <p:nvPr/>
        </p:nvCxnSpPr>
        <p:spPr>
          <a:xfrm rot="5400000">
            <a:off x="3976115" y="4599679"/>
            <a:ext cx="1474087" cy="1656413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urved Connector 20">
            <a:extLst>
              <a:ext uri="{FF2B5EF4-FFF2-40B4-BE49-F238E27FC236}">
                <a16:creationId xmlns:a16="http://schemas.microsoft.com/office/drawing/2014/main" id="{34563C1F-5B3E-4E4E-BB9C-EF3DD956AC73}"/>
              </a:ext>
            </a:extLst>
          </p:cNvPr>
          <p:cNvCxnSpPr>
            <a:cxnSpLocks/>
            <a:stCxn id="8" idx="2"/>
            <a:endCxn id="5" idx="3"/>
          </p:cNvCxnSpPr>
          <p:nvPr/>
        </p:nvCxnSpPr>
        <p:spPr>
          <a:xfrm rot="10800000">
            <a:off x="1180275" y="4589861"/>
            <a:ext cx="2015129" cy="1575069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C58AEED0-3950-564A-9913-EB4EB360887B}"/>
                  </a:ext>
                </a:extLst>
              </p:cNvPr>
              <p:cNvSpPr/>
              <p:nvPr/>
            </p:nvSpPr>
            <p:spPr>
              <a:xfrm>
                <a:off x="1585937" y="2989519"/>
                <a:ext cx="36580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C58AEED0-3950-564A-9913-EB4EB360887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5937" y="2989519"/>
                <a:ext cx="365806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A2E618FC-4B2F-CE46-B247-7230AEBD09AD}"/>
                  </a:ext>
                </a:extLst>
              </p:cNvPr>
              <p:cNvSpPr/>
              <p:nvPr/>
            </p:nvSpPr>
            <p:spPr>
              <a:xfrm>
                <a:off x="2720192" y="4060419"/>
                <a:ext cx="53893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A2E618FC-4B2F-CE46-B247-7230AEBD09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0192" y="4060419"/>
                <a:ext cx="538930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14B018C9-1BF1-E74B-B397-E8EFFC363B58}"/>
                  </a:ext>
                </a:extLst>
              </p:cNvPr>
              <p:cNvSpPr/>
              <p:nvPr/>
            </p:nvSpPr>
            <p:spPr>
              <a:xfrm>
                <a:off x="5013687" y="2958242"/>
                <a:ext cx="53893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14B018C9-1BF1-E74B-B397-E8EFFC363B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3687" y="2958242"/>
                <a:ext cx="538930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Curved Connector 26">
            <a:extLst>
              <a:ext uri="{FF2B5EF4-FFF2-40B4-BE49-F238E27FC236}">
                <a16:creationId xmlns:a16="http://schemas.microsoft.com/office/drawing/2014/main" id="{844CA8B5-0F63-9944-8D66-38854288241E}"/>
              </a:ext>
            </a:extLst>
          </p:cNvPr>
          <p:cNvCxnSpPr>
            <a:cxnSpLocks/>
            <a:stCxn id="5" idx="5"/>
            <a:endCxn id="7" idx="3"/>
          </p:cNvCxnSpPr>
          <p:nvPr/>
        </p:nvCxnSpPr>
        <p:spPr>
          <a:xfrm rot="16200000" flipH="1">
            <a:off x="3482715" y="2775003"/>
            <a:ext cx="12700" cy="3629714"/>
          </a:xfrm>
          <a:prstGeom prst="curvedConnector3">
            <a:avLst>
              <a:gd name="adj1" fmla="val 259513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B70693CB-4166-C444-A671-A10875EE7A31}"/>
                  </a:ext>
                </a:extLst>
              </p:cNvPr>
              <p:cNvSpPr/>
              <p:nvPr/>
            </p:nvSpPr>
            <p:spPr>
              <a:xfrm>
                <a:off x="3202018" y="4506176"/>
                <a:ext cx="53893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B70693CB-4166-C444-A671-A10875EE7A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2018" y="4506176"/>
                <a:ext cx="538930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72FF4700-44CD-7B4A-A55E-7425EB73160C}"/>
                  </a:ext>
                </a:extLst>
              </p:cNvPr>
              <p:cNvSpPr/>
              <p:nvPr/>
            </p:nvSpPr>
            <p:spPr>
              <a:xfrm>
                <a:off x="1316472" y="5795597"/>
                <a:ext cx="36580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72FF4700-44CD-7B4A-A55E-7425EB7316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6472" y="5795597"/>
                <a:ext cx="365806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Curved Connector 31">
            <a:extLst>
              <a:ext uri="{FF2B5EF4-FFF2-40B4-BE49-F238E27FC236}">
                <a16:creationId xmlns:a16="http://schemas.microsoft.com/office/drawing/2014/main" id="{0A592D00-A09A-564E-8E48-EC363E6E7E65}"/>
              </a:ext>
            </a:extLst>
          </p:cNvPr>
          <p:cNvCxnSpPr>
            <a:cxnSpLocks/>
            <a:stCxn id="5" idx="4"/>
            <a:endCxn id="8" idx="1"/>
          </p:cNvCxnSpPr>
          <p:nvPr/>
        </p:nvCxnSpPr>
        <p:spPr>
          <a:xfrm rot="16200000" flipH="1">
            <a:off x="1745078" y="4369829"/>
            <a:ext cx="1230295" cy="1872319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955ACDFF-A299-9B4A-BDF1-4098D538E2AD}"/>
                  </a:ext>
                </a:extLst>
              </p:cNvPr>
              <p:cNvSpPr/>
              <p:nvPr/>
            </p:nvSpPr>
            <p:spPr>
              <a:xfrm>
                <a:off x="2090760" y="5367139"/>
                <a:ext cx="53893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955ACDFF-A299-9B4A-BDF1-4098D538E2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0760" y="5367139"/>
                <a:ext cx="538930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5C2D1DA5-B9DE-0144-81B6-01FB996EE993}"/>
                  </a:ext>
                </a:extLst>
              </p:cNvPr>
              <p:cNvSpPr/>
              <p:nvPr/>
            </p:nvSpPr>
            <p:spPr>
              <a:xfrm>
                <a:off x="4927125" y="5778292"/>
                <a:ext cx="53893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5C2D1DA5-B9DE-0144-81B6-01FB996EE9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7125" y="5778292"/>
                <a:ext cx="538930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327758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6" grpId="0" animBg="1"/>
      <p:bldP spid="7" grpId="0" animBg="1"/>
      <p:bldP spid="8" grpId="0" animBg="1"/>
      <p:bldP spid="24" grpId="0"/>
      <p:bldP spid="25" grpId="0"/>
      <p:bldP spid="26" grpId="0"/>
      <p:bldP spid="30" grpId="0"/>
      <p:bldP spid="31" grpId="0"/>
      <p:bldP spid="36" grpId="0"/>
      <p:bldP spid="3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268980-04B8-3149-BE1E-FDC0D5B076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158850"/>
                <a:ext cx="10515600" cy="608995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US" dirty="0"/>
                  <a:t>Construct a graph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b>
                    </m:sSub>
                  </m:oMath>
                </a14:m>
                <a:r>
                  <a:rPr lang="en-US" dirty="0"/>
                  <a:t> with edge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for each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literal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268980-04B8-3149-BE1E-FDC0D5B076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158850"/>
                <a:ext cx="10515600" cy="608995"/>
              </a:xfrm>
              <a:blipFill>
                <a:blip r:embed="rId2"/>
                <a:stretch>
                  <a:fillRect l="-1086" t="-12245" b="-20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E1E66E8D-0DD0-EA42-87BA-C9183DA834C2}"/>
                  </a:ext>
                </a:extLst>
              </p:cNvPr>
              <p:cNvSpPr/>
              <p:nvPr/>
            </p:nvSpPr>
            <p:spPr>
              <a:xfrm>
                <a:off x="1768840" y="199740"/>
                <a:ext cx="7989757" cy="19389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≤5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∧(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≤−5)</m:t>
                      </m:r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≤−2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∧</m:t>
                      </m:r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≤−3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∧</m:t>
                      </m:r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≤2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∧(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≤−2)</m:t>
                      </m:r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≤−1)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E1E66E8D-0DD0-EA42-87BA-C9183DA834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8840" y="199740"/>
                <a:ext cx="7989757" cy="1938992"/>
              </a:xfrm>
              <a:prstGeom prst="rect">
                <a:avLst/>
              </a:prstGeom>
              <a:blipFill>
                <a:blip r:embed="rId3"/>
                <a:stretch>
                  <a:fillRect b="-39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E4BDD2ED-0C7F-8243-AF59-41857A4D24FC}"/>
                  </a:ext>
                </a:extLst>
              </p:cNvPr>
              <p:cNvSpPr/>
              <p:nvPr/>
            </p:nvSpPr>
            <p:spPr>
              <a:xfrm>
                <a:off x="1079292" y="4001294"/>
                <a:ext cx="689548" cy="689548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E4BDD2ED-0C7F-8243-AF59-41857A4D24F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292" y="4001294"/>
                <a:ext cx="689548" cy="689548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8B3AB70B-AE1D-3A42-A016-452EE62613E9}"/>
                  </a:ext>
                </a:extLst>
              </p:cNvPr>
              <p:cNvSpPr/>
              <p:nvPr/>
            </p:nvSpPr>
            <p:spPr>
              <a:xfrm>
                <a:off x="3195403" y="2678412"/>
                <a:ext cx="689548" cy="689548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8B3AB70B-AE1D-3A42-A016-452EE62613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5403" y="2678412"/>
                <a:ext cx="689548" cy="689548"/>
              </a:xfrm>
              <a:prstGeom prst="ellipse">
                <a:avLst/>
              </a:prstGeom>
              <a:blipFill>
                <a:blip r:embed="rId5"/>
                <a:stretch>
                  <a:fillRect l="-1818" b="-89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23C86200-50F7-2442-A1B9-2B86B9904E63}"/>
                  </a:ext>
                </a:extLst>
              </p:cNvPr>
              <p:cNvSpPr/>
              <p:nvPr/>
            </p:nvSpPr>
            <p:spPr>
              <a:xfrm>
                <a:off x="5196590" y="4001294"/>
                <a:ext cx="689548" cy="689548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23C86200-50F7-2442-A1B9-2B86B9904E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6590" y="4001294"/>
                <a:ext cx="689548" cy="689548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377D87BF-60BC-5B45-9A8D-EC2F2BA42259}"/>
                  </a:ext>
                </a:extLst>
              </p:cNvPr>
              <p:cNvSpPr/>
              <p:nvPr/>
            </p:nvSpPr>
            <p:spPr>
              <a:xfrm>
                <a:off x="3195403" y="5820155"/>
                <a:ext cx="689548" cy="689548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377D87BF-60BC-5B45-9A8D-EC2F2BA4225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5403" y="5820155"/>
                <a:ext cx="689548" cy="689548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Curved Connector 9">
            <a:extLst>
              <a:ext uri="{FF2B5EF4-FFF2-40B4-BE49-F238E27FC236}">
                <a16:creationId xmlns:a16="http://schemas.microsoft.com/office/drawing/2014/main" id="{571231FC-F9BD-E148-88A7-2774A8921ED3}"/>
              </a:ext>
            </a:extLst>
          </p:cNvPr>
          <p:cNvCxnSpPr>
            <a:stCxn id="5" idx="0"/>
            <a:endCxn id="6" idx="2"/>
          </p:cNvCxnSpPr>
          <p:nvPr/>
        </p:nvCxnSpPr>
        <p:spPr>
          <a:xfrm rot="5400000" flipH="1" flipV="1">
            <a:off x="1820680" y="2626572"/>
            <a:ext cx="978108" cy="1771337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urved Connector 10">
            <a:extLst>
              <a:ext uri="{FF2B5EF4-FFF2-40B4-BE49-F238E27FC236}">
                <a16:creationId xmlns:a16="http://schemas.microsoft.com/office/drawing/2014/main" id="{F81D7F9B-348A-E34B-A9BA-B3AF03C2A9EA}"/>
              </a:ext>
            </a:extLst>
          </p:cNvPr>
          <p:cNvCxnSpPr>
            <a:cxnSpLocks/>
            <a:stCxn id="6" idx="3"/>
          </p:cNvCxnSpPr>
          <p:nvPr/>
        </p:nvCxnSpPr>
        <p:spPr>
          <a:xfrm rot="5400000">
            <a:off x="1993067" y="3042752"/>
            <a:ext cx="1079092" cy="1527545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urved Connector 14">
            <a:extLst>
              <a:ext uri="{FF2B5EF4-FFF2-40B4-BE49-F238E27FC236}">
                <a16:creationId xmlns:a16="http://schemas.microsoft.com/office/drawing/2014/main" id="{8DD7CC99-F4CA-164E-968D-E09038D6042B}"/>
              </a:ext>
            </a:extLst>
          </p:cNvPr>
          <p:cNvCxnSpPr>
            <a:cxnSpLocks/>
            <a:stCxn id="6" idx="6"/>
            <a:endCxn id="7" idx="0"/>
          </p:cNvCxnSpPr>
          <p:nvPr/>
        </p:nvCxnSpPr>
        <p:spPr>
          <a:xfrm>
            <a:off x="3884951" y="3023186"/>
            <a:ext cx="1656413" cy="978108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urved Connector 17">
            <a:extLst>
              <a:ext uri="{FF2B5EF4-FFF2-40B4-BE49-F238E27FC236}">
                <a16:creationId xmlns:a16="http://schemas.microsoft.com/office/drawing/2014/main" id="{D0333A49-765B-444C-A55D-38FB375F95FC}"/>
              </a:ext>
            </a:extLst>
          </p:cNvPr>
          <p:cNvCxnSpPr>
            <a:cxnSpLocks/>
            <a:stCxn id="7" idx="4"/>
            <a:endCxn id="8" idx="6"/>
          </p:cNvCxnSpPr>
          <p:nvPr/>
        </p:nvCxnSpPr>
        <p:spPr>
          <a:xfrm rot="5400000">
            <a:off x="3976115" y="4599679"/>
            <a:ext cx="1474087" cy="1656413"/>
          </a:xfrm>
          <a:prstGeom prst="curvedConnector2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urved Connector 20">
            <a:extLst>
              <a:ext uri="{FF2B5EF4-FFF2-40B4-BE49-F238E27FC236}">
                <a16:creationId xmlns:a16="http://schemas.microsoft.com/office/drawing/2014/main" id="{34563C1F-5B3E-4E4E-BB9C-EF3DD956AC73}"/>
              </a:ext>
            </a:extLst>
          </p:cNvPr>
          <p:cNvCxnSpPr>
            <a:cxnSpLocks/>
            <a:stCxn id="8" idx="2"/>
            <a:endCxn id="5" idx="3"/>
          </p:cNvCxnSpPr>
          <p:nvPr/>
        </p:nvCxnSpPr>
        <p:spPr>
          <a:xfrm rot="10800000">
            <a:off x="1180275" y="4589861"/>
            <a:ext cx="2015129" cy="1575069"/>
          </a:xfrm>
          <a:prstGeom prst="curvedConnector2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C58AEED0-3950-564A-9913-EB4EB360887B}"/>
                  </a:ext>
                </a:extLst>
              </p:cNvPr>
              <p:cNvSpPr/>
              <p:nvPr/>
            </p:nvSpPr>
            <p:spPr>
              <a:xfrm>
                <a:off x="1585937" y="2989519"/>
                <a:ext cx="36580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C58AEED0-3950-564A-9913-EB4EB360887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5937" y="2989519"/>
                <a:ext cx="365806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A2E618FC-4B2F-CE46-B247-7230AEBD09AD}"/>
                  </a:ext>
                </a:extLst>
              </p:cNvPr>
              <p:cNvSpPr/>
              <p:nvPr/>
            </p:nvSpPr>
            <p:spPr>
              <a:xfrm>
                <a:off x="2720192" y="4060419"/>
                <a:ext cx="53893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A2E618FC-4B2F-CE46-B247-7230AEBD09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0192" y="4060419"/>
                <a:ext cx="538930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14B018C9-1BF1-E74B-B397-E8EFFC363B58}"/>
                  </a:ext>
                </a:extLst>
              </p:cNvPr>
              <p:cNvSpPr/>
              <p:nvPr/>
            </p:nvSpPr>
            <p:spPr>
              <a:xfrm>
                <a:off x="5013687" y="2958242"/>
                <a:ext cx="53893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14B018C9-1BF1-E74B-B397-E8EFFC363B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3687" y="2958242"/>
                <a:ext cx="538930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Curved Connector 26">
            <a:extLst>
              <a:ext uri="{FF2B5EF4-FFF2-40B4-BE49-F238E27FC236}">
                <a16:creationId xmlns:a16="http://schemas.microsoft.com/office/drawing/2014/main" id="{844CA8B5-0F63-9944-8D66-38854288241E}"/>
              </a:ext>
            </a:extLst>
          </p:cNvPr>
          <p:cNvCxnSpPr>
            <a:cxnSpLocks/>
            <a:stCxn id="5" idx="5"/>
            <a:endCxn id="7" idx="3"/>
          </p:cNvCxnSpPr>
          <p:nvPr/>
        </p:nvCxnSpPr>
        <p:spPr>
          <a:xfrm rot="16200000" flipH="1">
            <a:off x="3482715" y="2775003"/>
            <a:ext cx="12700" cy="3629714"/>
          </a:xfrm>
          <a:prstGeom prst="curvedConnector3">
            <a:avLst>
              <a:gd name="adj1" fmla="val 2595134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B70693CB-4166-C444-A671-A10875EE7A31}"/>
                  </a:ext>
                </a:extLst>
              </p:cNvPr>
              <p:cNvSpPr/>
              <p:nvPr/>
            </p:nvSpPr>
            <p:spPr>
              <a:xfrm>
                <a:off x="3202018" y="4506176"/>
                <a:ext cx="53893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B70693CB-4166-C444-A671-A10875EE7A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2018" y="4506176"/>
                <a:ext cx="538930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72FF4700-44CD-7B4A-A55E-7425EB73160C}"/>
                  </a:ext>
                </a:extLst>
              </p:cNvPr>
              <p:cNvSpPr/>
              <p:nvPr/>
            </p:nvSpPr>
            <p:spPr>
              <a:xfrm>
                <a:off x="1316472" y="5795597"/>
                <a:ext cx="36580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72FF4700-44CD-7B4A-A55E-7425EB7316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6472" y="5795597"/>
                <a:ext cx="365806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Curved Connector 31">
            <a:extLst>
              <a:ext uri="{FF2B5EF4-FFF2-40B4-BE49-F238E27FC236}">
                <a16:creationId xmlns:a16="http://schemas.microsoft.com/office/drawing/2014/main" id="{0A592D00-A09A-564E-8E48-EC363E6E7E65}"/>
              </a:ext>
            </a:extLst>
          </p:cNvPr>
          <p:cNvCxnSpPr>
            <a:cxnSpLocks/>
            <a:stCxn id="5" idx="4"/>
            <a:endCxn id="8" idx="1"/>
          </p:cNvCxnSpPr>
          <p:nvPr/>
        </p:nvCxnSpPr>
        <p:spPr>
          <a:xfrm rot="16200000" flipH="1">
            <a:off x="1745078" y="4369829"/>
            <a:ext cx="1230295" cy="1872319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955ACDFF-A299-9B4A-BDF1-4098D538E2AD}"/>
                  </a:ext>
                </a:extLst>
              </p:cNvPr>
              <p:cNvSpPr/>
              <p:nvPr/>
            </p:nvSpPr>
            <p:spPr>
              <a:xfrm>
                <a:off x="2090760" y="5367139"/>
                <a:ext cx="53893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955ACDFF-A299-9B4A-BDF1-4098D538E2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0760" y="5367139"/>
                <a:ext cx="538930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5C2D1DA5-B9DE-0144-81B6-01FB996EE993}"/>
                  </a:ext>
                </a:extLst>
              </p:cNvPr>
              <p:cNvSpPr/>
              <p:nvPr/>
            </p:nvSpPr>
            <p:spPr>
              <a:xfrm>
                <a:off x="4927125" y="5778292"/>
                <a:ext cx="53893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5C2D1DA5-B9DE-0144-81B6-01FB996EE9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7125" y="5778292"/>
                <a:ext cx="538930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ontent Placeholder 2">
                <a:extLst>
                  <a:ext uri="{FF2B5EF4-FFF2-40B4-BE49-F238E27FC236}">
                    <a16:creationId xmlns:a16="http://schemas.microsoft.com/office/drawing/2014/main" id="{CE1B6A04-A5F6-AA48-A160-150D4BF3E5A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305865" y="2903244"/>
                <a:ext cx="5500138" cy="265487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b="1" dirty="0"/>
                  <a:t>Proposition.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dirty="0"/>
                  <a:t> is satisfiable </a:t>
                </a:r>
                <a:r>
                  <a:rPr lang="en-US" dirty="0" err="1"/>
                  <a:t>iff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negative cycle free. 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22" name="Content Placeholder 2">
                <a:extLst>
                  <a:ext uri="{FF2B5EF4-FFF2-40B4-BE49-F238E27FC236}">
                    <a16:creationId xmlns:a16="http://schemas.microsoft.com/office/drawing/2014/main" id="{CE1B6A04-A5F6-AA48-A160-150D4BF3E5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5865" y="2903244"/>
                <a:ext cx="5500138" cy="2654873"/>
              </a:xfrm>
              <a:prstGeom prst="rect">
                <a:avLst/>
              </a:prstGeom>
              <a:blipFill>
                <a:blip r:embed="rId15"/>
                <a:stretch>
                  <a:fillRect l="-2304" t="-3333" r="-23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33941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B67D3F-16E0-BB7B-C048-DFB2D515DC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478306" y="0"/>
                <a:ext cx="8677835" cy="6858000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b="1" dirty="0"/>
                  <a:t>Proposition</a:t>
                </a:r>
                <a:r>
                  <a:rPr lang="en-US" dirty="0"/>
                  <a:t>.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dirty="0"/>
                  <a:t> is satisfiable </a:t>
                </a:r>
                <a:r>
                  <a:rPr lang="en-US" dirty="0" err="1"/>
                  <a:t>iff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b>
                    </m:sSub>
                  </m:oMath>
                </a14:m>
                <a:r>
                  <a:rPr lang="en-US" dirty="0"/>
                  <a:t> is negative cycle free.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/>
                  <a:t>Proof. (&lt;=) If there is a negative cycle then there exists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/>
                  <a:t>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≤−3);(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≤−1);(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≤2) </m:t>
                    </m:r>
                  </m:oMath>
                </a14:m>
                <a:endParaRPr lang="en-US" b="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/>
                  <a:t>addingall up:(0≤−2) which is inconsistent.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/>
                  <a:t>(=&gt;) Let us assume that there is no negative cycle. We will construct a satisfying solution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 err="1"/>
                  <a:t>ℤ</a:t>
                </a:r>
                <a:r>
                  <a:rPr lang="en-US" dirty="0"/>
                  <a:t>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/>
                  <a:t>Consider additional vertex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𝑜</m:t>
                    </m:r>
                  </m:oMath>
                </a14:m>
                <a:r>
                  <a:rPr lang="en-US" dirty="0"/>
                  <a:t>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𝑜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edges for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/>
                  <a:t>For each variable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define solution as the shortest distance from o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(be aware of negative distances):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𝑑𝑖𝑠𝑡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/>
                  <a:t> Suppose FSOC,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𝝈</m:t>
                    </m:r>
                  </m:oMath>
                </a14:m>
                <a:r>
                  <a:rPr lang="en-US" dirty="0"/>
                  <a:t> does not satisfy a literal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then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𝑑𝑖𝑠𝑡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𝑑𝑖𝑠𝑡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𝑑𝑖𝑠𝑡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𝑑𝑖𝑠𝑡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𝑜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b="0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𝑑𝑖𝑠𝑡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𝑑𝑖𝑠𝑡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𝑑𝑖𝑠𝑡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𝑜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[because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/>
                  <a:t>violates triangle inequality definition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𝑑𝑖𝑠𝑡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dirty="0"/>
                  <a:t>!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B67D3F-16E0-BB7B-C048-DFB2D515DC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78306" y="0"/>
                <a:ext cx="8677835" cy="6858000"/>
              </a:xfrm>
              <a:blipFill>
                <a:blip r:embed="rId2"/>
                <a:stretch>
                  <a:fillRect l="-1023" t="-741" r="-10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CDFF1000-51A9-D3C6-6E38-A1F14F65FA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58" y="-1"/>
            <a:ext cx="3263153" cy="6702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7723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A3725-1A34-22A7-CFD3-1E0AA5678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Procedure for Difference Logic(DL)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A4C05-6FF7-353E-50AD-8391974D47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Satisfiability check for difference procedure of DL can be performed using Bellman-Ford algorithm in time O(|V|.|E|)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Inconsistency/</a:t>
            </a:r>
            <a:r>
              <a:rPr lang="en-US" dirty="0" err="1"/>
              <a:t>unsatisfiability</a:t>
            </a:r>
            <a:r>
              <a:rPr lang="en-US" dirty="0"/>
              <a:t> explanations are negative cycles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Amenable to incremental check</a:t>
            </a:r>
          </a:p>
        </p:txBody>
      </p:sp>
    </p:spTree>
    <p:extLst>
      <p:ext uri="{BB962C8B-B14F-4D97-AF65-F5344CB8AC3E}">
        <p14:creationId xmlns:p14="http://schemas.microsoft.com/office/powerpoint/2010/main" val="12033371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2D7ED-E5BC-B242-D212-6BD84D4F9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DPLL</a:t>
            </a:r>
            <a:r>
              <a:rPr lang="en-US" baseline="30000" dirty="0"/>
              <a:t>T</a:t>
            </a:r>
            <a:r>
              <a:rPr lang="en-US" dirty="0"/>
              <a:t>:DPLL modulo theories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D00B98-9793-6DA6-40C9-7C5E4D7E45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How can we extend DPLL to handle formulas over other theories like</a:t>
            </a:r>
          </a:p>
          <a:p>
            <a:r>
              <a:rPr lang="en-US" dirty="0"/>
              <a:t>Difference Logic (DL)</a:t>
            </a:r>
          </a:p>
          <a:p>
            <a:r>
              <a:rPr lang="en-US" dirty="0"/>
              <a:t>Uninterpreted functions (UF) </a:t>
            </a:r>
          </a:p>
          <a:p>
            <a:r>
              <a:rPr lang="en-US" dirty="0"/>
              <a:t>Linear Real Arithmetic (LRA)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Idea: Start with a Boolean abstraction (or skeleton) and incrementally add more theory information using decision procedure until we can conclusively say SAT or UNSAT</a:t>
            </a:r>
          </a:p>
        </p:txBody>
      </p:sp>
    </p:spTree>
    <p:extLst>
      <p:ext uri="{BB962C8B-B14F-4D97-AF65-F5344CB8AC3E}">
        <p14:creationId xmlns:p14="http://schemas.microsoft.com/office/powerpoint/2010/main" val="22852343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7459A-CBA9-EF17-BCDA-180EDA2F8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8"/>
            <a:ext cx="10515600" cy="836144"/>
          </a:xfrm>
        </p:spPr>
        <p:txBody>
          <a:bodyPr/>
          <a:lstStyle/>
          <a:p>
            <a:r>
              <a:rPr lang="en-US" dirty="0"/>
              <a:t>DPLL</a:t>
            </a:r>
            <a:r>
              <a:rPr lang="en-US" baseline="30000" dirty="0"/>
              <a:t>T</a:t>
            </a:r>
            <a:r>
              <a:rPr lang="en-US" dirty="0"/>
              <a:t>:DPLL modulo theories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AE82ED-295E-75DF-9EC2-C9ADE77321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25464" y="1362635"/>
                <a:ext cx="11670224" cy="5325036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 dirty="0"/>
                  <a:t>Abstract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dirty="0"/>
                  <a:t> to propositional form  </a:t>
                </a:r>
              </a:p>
              <a:p>
                <a:r>
                  <a:rPr lang="en-US" dirty="0"/>
                  <a:t>Feed to DPLL </a:t>
                </a:r>
              </a:p>
              <a:p>
                <a:r>
                  <a:rPr lang="en-US" dirty="0"/>
                  <a:t>Use theory decision procedure to refine propositional formula to guide DPLL</a:t>
                </a:r>
              </a:p>
              <a:p>
                <a:pPr marL="0" indent="0">
                  <a:buNone/>
                </a:pPr>
                <a:r>
                  <a:rPr lang="en-US" dirty="0"/>
                  <a:t>UF formula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≡(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)∧(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 ∧(</m:t>
                    </m:r>
                    <m:d>
                      <m:d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∨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∧  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abstract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∧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∧</m:t>
                    </m:r>
                    <m:d>
                      <m:d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∨¬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¬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b="0" dirty="0"/>
                  <a:t>LRA formula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≡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≤0∨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≤10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∧(¬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≤0)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abstract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≡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∨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∧(¬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Abstraction because information is lost: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&gt;10⇒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., ¬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⇒¬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not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p>
                    </m:sSup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Notation: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dirty="0"/>
                  <a:t> maps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p>
                    </m:sSup>
                  </m:oMath>
                </a14:m>
                <a:r>
                  <a:rPr lang="en-US" dirty="0"/>
                  <a:t> back to theory T, </a:t>
                </a:r>
                <a:r>
                  <a:rPr lang="en-US" dirty="0" err="1"/>
                  <a:t>i.e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r>
                  <a:rPr lang="en-US" b="1" dirty="0"/>
                  <a:t>Proposition. </a:t>
                </a:r>
                <a:r>
                  <a:rPr lang="en-US" dirty="0"/>
                  <a:t>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sup>
                    </m:sSup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is UNSAT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is UNSAT, but the converse does not hold. </a:t>
                </a:r>
              </a:p>
              <a:p>
                <a:pPr marL="0" indent="0">
                  <a:buNone/>
                </a:pPr>
                <a:r>
                  <a:rPr lang="en-US" b="1" dirty="0"/>
                  <a:t>Example</a:t>
                </a:r>
                <a:r>
                  <a:rPr lang="en-US" dirty="0"/>
                  <a:t>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≡(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≤0∧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 10)</m:t>
                    </m:r>
                  </m:oMath>
                </a14:m>
                <a:r>
                  <a:rPr lang="en-US" dirty="0"/>
                  <a:t> is UNSAT, however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SAT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AE82ED-295E-75DF-9EC2-C9ADE77321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5464" y="1362635"/>
                <a:ext cx="11670224" cy="5325036"/>
              </a:xfrm>
              <a:blipFill>
                <a:blip r:embed="rId2"/>
                <a:stretch>
                  <a:fillRect l="-870" t="-1905" b="-2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2104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B0D1324-5D3D-6D4A-8C62-76A473F3D45F}"/>
              </a:ext>
            </a:extLst>
          </p:cNvPr>
          <p:cNvCxnSpPr>
            <a:cxnSpLocks/>
          </p:cNvCxnSpPr>
          <p:nvPr/>
        </p:nvCxnSpPr>
        <p:spPr>
          <a:xfrm>
            <a:off x="3238079" y="3118776"/>
            <a:ext cx="2587370" cy="738649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C16A10B-78BA-8E4E-B958-FAEE057E3058}"/>
              </a:ext>
            </a:extLst>
          </p:cNvPr>
          <p:cNvSpPr txBox="1"/>
          <p:nvPr/>
        </p:nvSpPr>
        <p:spPr>
          <a:xfrm>
            <a:off x="1293586" y="1935326"/>
            <a:ext cx="3398780" cy="3970318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endParaRPr lang="en-US" dirty="0">
              <a:latin typeface="+mj-lt"/>
            </a:endParaRPr>
          </a:p>
          <a:p>
            <a:pPr algn="ctr"/>
            <a:r>
              <a:rPr lang="en-US" dirty="0">
                <a:latin typeface="+mj-lt"/>
              </a:rPr>
              <a:t>Theory solvers/decision procedures</a:t>
            </a:r>
          </a:p>
          <a:p>
            <a:pPr algn="ctr"/>
            <a:endParaRPr lang="en-US" dirty="0">
              <a:latin typeface="+mj-lt"/>
            </a:endParaRPr>
          </a:p>
          <a:p>
            <a:pPr algn="ctr"/>
            <a:endParaRPr lang="en-US" dirty="0">
              <a:latin typeface="+mj-lt"/>
            </a:endParaRPr>
          </a:p>
          <a:p>
            <a:pPr algn="ctr"/>
            <a:endParaRPr lang="en-US" dirty="0">
              <a:latin typeface="+mj-lt"/>
            </a:endParaRPr>
          </a:p>
          <a:p>
            <a:pPr algn="ctr"/>
            <a:endParaRPr lang="en-US" dirty="0">
              <a:latin typeface="+mj-lt"/>
            </a:endParaRPr>
          </a:p>
          <a:p>
            <a:pPr algn="ctr"/>
            <a:endParaRPr lang="en-US" dirty="0">
              <a:latin typeface="+mj-lt"/>
            </a:endParaRPr>
          </a:p>
          <a:p>
            <a:pPr algn="ctr"/>
            <a:endParaRPr lang="en-US" dirty="0">
              <a:latin typeface="+mj-lt"/>
            </a:endParaRPr>
          </a:p>
          <a:p>
            <a:pPr algn="ctr"/>
            <a:endParaRPr lang="en-US" dirty="0">
              <a:latin typeface="+mj-lt"/>
            </a:endParaRPr>
          </a:p>
          <a:p>
            <a:pPr algn="ctr"/>
            <a:endParaRPr lang="en-US" dirty="0">
              <a:latin typeface="+mj-lt"/>
            </a:endParaRPr>
          </a:p>
          <a:p>
            <a:pPr algn="ctr"/>
            <a:endParaRPr lang="en-US" dirty="0">
              <a:latin typeface="+mj-lt"/>
            </a:endParaRPr>
          </a:p>
          <a:p>
            <a:pPr algn="ctr"/>
            <a:r>
              <a:rPr lang="en-US" dirty="0">
                <a:latin typeface="+mj-lt"/>
              </a:rPr>
              <a:t> </a:t>
            </a:r>
          </a:p>
          <a:p>
            <a:endParaRPr lang="en-US" dirty="0"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618114-0556-934E-86A0-115BDF7D5EE3}"/>
              </a:ext>
            </a:extLst>
          </p:cNvPr>
          <p:cNvSpPr txBox="1"/>
          <p:nvPr/>
        </p:nvSpPr>
        <p:spPr>
          <a:xfrm>
            <a:off x="1693894" y="2951000"/>
            <a:ext cx="1802525" cy="64633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+mj-lt"/>
              </a:rPr>
              <a:t>Arithmetic </a:t>
            </a:r>
          </a:p>
          <a:p>
            <a:pPr algn="ctr"/>
            <a:endParaRPr lang="en-US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6E6814-EF6C-E849-8498-8A5C61C990AA}"/>
              </a:ext>
            </a:extLst>
          </p:cNvPr>
          <p:cNvSpPr txBox="1"/>
          <p:nvPr/>
        </p:nvSpPr>
        <p:spPr>
          <a:xfrm>
            <a:off x="1877824" y="3274165"/>
            <a:ext cx="1802525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err="1">
                <a:latin typeface="+mj-lt"/>
              </a:rPr>
              <a:t>Bitvectors</a:t>
            </a:r>
            <a:r>
              <a:rPr lang="en-US" dirty="0">
                <a:latin typeface="+mj-lt"/>
              </a:rPr>
              <a:t> </a:t>
            </a:r>
          </a:p>
          <a:p>
            <a:endParaRPr lang="en-US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50C421-59BD-8940-BAA9-777FC8E2D644}"/>
              </a:ext>
            </a:extLst>
          </p:cNvPr>
          <p:cNvSpPr txBox="1"/>
          <p:nvPr/>
        </p:nvSpPr>
        <p:spPr>
          <a:xfrm>
            <a:off x="8759493" y="3458820"/>
            <a:ext cx="1802525" cy="923330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dirty="0">
              <a:latin typeface="+mj-lt"/>
            </a:endParaRPr>
          </a:p>
          <a:p>
            <a:pPr algn="ctr"/>
            <a:r>
              <a:rPr lang="en-US" dirty="0">
                <a:latin typeface="+mj-lt"/>
              </a:rPr>
              <a:t>DPLL </a:t>
            </a:r>
          </a:p>
          <a:p>
            <a:endParaRPr lang="en-US" dirty="0"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B6ED88-5CA9-0349-8E40-6D96563D337C}"/>
              </a:ext>
            </a:extLst>
          </p:cNvPr>
          <p:cNvSpPr txBox="1"/>
          <p:nvPr/>
        </p:nvSpPr>
        <p:spPr>
          <a:xfrm>
            <a:off x="2093278" y="3597325"/>
            <a:ext cx="1802525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+mj-lt"/>
              </a:rPr>
              <a:t>Difference logic </a:t>
            </a:r>
          </a:p>
          <a:p>
            <a:endParaRPr lang="en-US" dirty="0"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63652A-F276-824E-AF8D-2523940FEA37}"/>
              </a:ext>
            </a:extLst>
          </p:cNvPr>
          <p:cNvSpPr txBox="1"/>
          <p:nvPr/>
        </p:nvSpPr>
        <p:spPr>
          <a:xfrm>
            <a:off x="2308732" y="3920485"/>
            <a:ext cx="1802525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+mj-lt"/>
              </a:rPr>
              <a:t>…</a:t>
            </a:r>
          </a:p>
          <a:p>
            <a:pPr algn="ctr"/>
            <a:endParaRPr lang="en-US" dirty="0"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A5807D-5ACB-F44E-97FA-27DE06829BD5}"/>
              </a:ext>
            </a:extLst>
          </p:cNvPr>
          <p:cNvSpPr txBox="1"/>
          <p:nvPr/>
        </p:nvSpPr>
        <p:spPr>
          <a:xfrm>
            <a:off x="2524186" y="4243639"/>
            <a:ext cx="1802525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+mj-lt"/>
              </a:rPr>
              <a:t>Uninterpreted functions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8B2187-BA6E-0D4E-85F8-48645470EA19}"/>
              </a:ext>
            </a:extLst>
          </p:cNvPr>
          <p:cNvSpPr txBox="1"/>
          <p:nvPr/>
        </p:nvSpPr>
        <p:spPr>
          <a:xfrm>
            <a:off x="5825449" y="3458820"/>
            <a:ext cx="1802525" cy="923330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dirty="0">
              <a:latin typeface="+mj-lt"/>
            </a:endParaRPr>
          </a:p>
          <a:p>
            <a:pPr algn="ctr"/>
            <a:r>
              <a:rPr lang="en-US" dirty="0">
                <a:latin typeface="+mj-lt"/>
              </a:rPr>
              <a:t>Core </a:t>
            </a:r>
          </a:p>
          <a:p>
            <a:endParaRPr lang="en-US" dirty="0">
              <a:latin typeface="+mj-lt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D05AAEF-0C35-1643-AA43-EEE9CE3E89F7}"/>
              </a:ext>
            </a:extLst>
          </p:cNvPr>
          <p:cNvCxnSpPr/>
          <p:nvPr/>
        </p:nvCxnSpPr>
        <p:spPr>
          <a:xfrm flipH="1" flipV="1">
            <a:off x="3496419" y="2951000"/>
            <a:ext cx="2329030" cy="646325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5BACD5F-12BD-DB4B-BAE2-B97F1204ECB3}"/>
              </a:ext>
            </a:extLst>
          </p:cNvPr>
          <p:cNvCxnSpPr>
            <a:cxnSpLocks/>
          </p:cNvCxnSpPr>
          <p:nvPr/>
        </p:nvCxnSpPr>
        <p:spPr>
          <a:xfrm flipH="1" flipV="1">
            <a:off x="4693931" y="3274160"/>
            <a:ext cx="1131518" cy="323165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DB5BD65-2036-1C42-93CC-488D998856DB}"/>
              </a:ext>
            </a:extLst>
          </p:cNvPr>
          <p:cNvCxnSpPr>
            <a:cxnSpLocks/>
          </p:cNvCxnSpPr>
          <p:nvPr/>
        </p:nvCxnSpPr>
        <p:spPr>
          <a:xfrm>
            <a:off x="4693930" y="3525086"/>
            <a:ext cx="1131519" cy="332339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7C94757-437B-6642-8CE5-824185DA7AA5}"/>
              </a:ext>
            </a:extLst>
          </p:cNvPr>
          <p:cNvCxnSpPr>
            <a:cxnSpLocks/>
          </p:cNvCxnSpPr>
          <p:nvPr/>
        </p:nvCxnSpPr>
        <p:spPr>
          <a:xfrm flipH="1">
            <a:off x="4693928" y="3983545"/>
            <a:ext cx="1131521" cy="392400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BE1992D-A3B5-7E4F-A0C2-E0752F08438D}"/>
              </a:ext>
            </a:extLst>
          </p:cNvPr>
          <p:cNvCxnSpPr>
            <a:cxnSpLocks/>
          </p:cNvCxnSpPr>
          <p:nvPr/>
        </p:nvCxnSpPr>
        <p:spPr>
          <a:xfrm flipH="1">
            <a:off x="4693929" y="4243639"/>
            <a:ext cx="1144802" cy="415495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CB440D64-CA0E-A74D-A22A-97AE44FCD7F8}"/>
              </a:ext>
            </a:extLst>
          </p:cNvPr>
          <p:cNvSpPr txBox="1"/>
          <p:nvPr/>
        </p:nvSpPr>
        <p:spPr>
          <a:xfrm>
            <a:off x="4780857" y="2674008"/>
            <a:ext cx="17381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+mj-lt"/>
              </a:rPr>
              <a:t>literals/formula in </a:t>
            </a:r>
          </a:p>
          <a:p>
            <a:r>
              <a:rPr lang="en-US" sz="1600" dirty="0">
                <a:latin typeface="+mj-lt"/>
              </a:rPr>
              <a:t>real arithmetic</a:t>
            </a:r>
          </a:p>
          <a:p>
            <a:endParaRPr lang="en-US" sz="16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87B267D-4BA0-F445-AFC2-ED4B0AE93384}"/>
              </a:ext>
            </a:extLst>
          </p:cNvPr>
          <p:cNvSpPr txBox="1"/>
          <p:nvPr/>
        </p:nvSpPr>
        <p:spPr>
          <a:xfrm>
            <a:off x="4697053" y="4659119"/>
            <a:ext cx="15151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+mj-lt"/>
              </a:rPr>
              <a:t>solution or </a:t>
            </a:r>
          </a:p>
          <a:p>
            <a:r>
              <a:rPr lang="en-US" sz="1600" dirty="0">
                <a:latin typeface="+mj-lt"/>
              </a:rPr>
              <a:t>counterexample</a:t>
            </a:r>
            <a:endParaRPr lang="en-US" sz="1600" dirty="0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5D153A6-717D-1448-B7FE-CDD7697FBC11}"/>
              </a:ext>
            </a:extLst>
          </p:cNvPr>
          <p:cNvCxnSpPr>
            <a:cxnSpLocks/>
          </p:cNvCxnSpPr>
          <p:nvPr/>
        </p:nvCxnSpPr>
        <p:spPr>
          <a:xfrm flipH="1">
            <a:off x="7627974" y="3658879"/>
            <a:ext cx="1131518" cy="0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6FEAAD5-B25D-9B40-B748-E84660711D6A}"/>
              </a:ext>
            </a:extLst>
          </p:cNvPr>
          <p:cNvCxnSpPr>
            <a:cxnSpLocks/>
          </p:cNvCxnSpPr>
          <p:nvPr/>
        </p:nvCxnSpPr>
        <p:spPr>
          <a:xfrm>
            <a:off x="7627975" y="4151319"/>
            <a:ext cx="1131517" cy="2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7E3296A7-B8E9-9B4E-A3C1-1975DFE3F634}"/>
              </a:ext>
            </a:extLst>
          </p:cNvPr>
          <p:cNvSpPr txBox="1"/>
          <p:nvPr/>
        </p:nvSpPr>
        <p:spPr>
          <a:xfrm>
            <a:off x="7627974" y="2627823"/>
            <a:ext cx="11315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+mj-lt"/>
              </a:rPr>
              <a:t>boolean</a:t>
            </a:r>
            <a:r>
              <a:rPr lang="en-US" sz="1600" dirty="0">
                <a:latin typeface="+mj-lt"/>
              </a:rPr>
              <a:t> skeleton of problem</a:t>
            </a:r>
            <a:endParaRPr lang="en-US" sz="16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7BD610B-5A7C-E143-B2C0-88EA4F707EA6}"/>
              </a:ext>
            </a:extLst>
          </p:cNvPr>
          <p:cNvSpPr txBox="1"/>
          <p:nvPr/>
        </p:nvSpPr>
        <p:spPr>
          <a:xfrm>
            <a:off x="7627973" y="4382150"/>
            <a:ext cx="11315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+mj-lt"/>
              </a:rPr>
              <a:t>assertions</a:t>
            </a:r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7D5B5A-76D4-6140-A724-503C86372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Return to SMT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2997BB6-6DA4-5B40-A695-5887DA07F6E9}"/>
                  </a:ext>
                </a:extLst>
              </p:cNvPr>
              <p:cNvSpPr txBox="1"/>
              <p:nvPr/>
            </p:nvSpPr>
            <p:spPr>
              <a:xfrm>
                <a:off x="4780857" y="440968"/>
                <a:ext cx="7024487" cy="5091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∨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2997BB6-6DA4-5B40-A695-5887DA07F6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0857" y="440968"/>
                <a:ext cx="7024487" cy="509178"/>
              </a:xfrm>
              <a:prstGeom prst="rect">
                <a:avLst/>
              </a:prstGeom>
              <a:blipFill>
                <a:blip r:embed="rId2"/>
                <a:stretch>
                  <a:fillRect b="-9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596EA2A-EED6-E445-BC12-0670239147C6}"/>
                  </a:ext>
                </a:extLst>
              </p:cNvPr>
              <p:cNvSpPr txBox="1"/>
              <p:nvPr/>
            </p:nvSpPr>
            <p:spPr>
              <a:xfrm>
                <a:off x="4866925" y="1049381"/>
                <a:ext cx="7517314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Several approaches, lazy approach: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Abstract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dirty="0"/>
                  <a:t> to propositional form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≡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∧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¬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∨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∧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endParaRPr lang="en-US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Feed to DPLL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Use theory decision procedure to refine propositional formula a guide SAT  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596EA2A-EED6-E445-BC12-0670239147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6925" y="1049381"/>
                <a:ext cx="7517314" cy="1200329"/>
              </a:xfrm>
              <a:prstGeom prst="rect">
                <a:avLst/>
              </a:prstGeom>
              <a:blipFill>
                <a:blip r:embed="rId3"/>
                <a:stretch>
                  <a:fillRect l="-675" t="-2083" b="-72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66078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22C0A-DBB3-262D-CA58-7FC75CF69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DPLL for SMT</a:t>
            </a:r>
          </a:p>
        </p:txBody>
      </p:sp>
      <p:pic>
        <p:nvPicPr>
          <p:cNvPr id="4" name="Google Shape;99;p20">
            <a:extLst>
              <a:ext uri="{FF2B5EF4-FFF2-40B4-BE49-F238E27FC236}">
                <a16:creationId xmlns:a16="http://schemas.microsoft.com/office/drawing/2014/main" id="{7898F081-EF38-0E62-4DD4-86D59FC0B756}"/>
              </a:ext>
            </a:extLst>
          </p:cNvPr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838199" y="1947364"/>
            <a:ext cx="10856289" cy="422483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786845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F91161DF-ECCE-9B40-B55D-462B3567882D}"/>
                  </a:ext>
                </a:extLst>
              </p:cNvPr>
              <p:cNvSpPr txBox="1">
                <a:spLocks noGrp="1"/>
              </p:cNvSpPr>
              <p:nvPr>
                <p:ph idx="1"/>
              </p:nvPr>
            </p:nvSpPr>
            <p:spPr>
              <a:xfrm>
                <a:off x="838200" y="1426759"/>
                <a:ext cx="9370102" cy="55154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∨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	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/>
                  <a:t>	         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acc>
                  </m:oMath>
                </a14:m>
                <a:r>
                  <a:rPr lang="en-US" sz="2400" dirty="0"/>
                  <a:t>	        	      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	           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acc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send {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acc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∨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acc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} to DPLL	</a:t>
                </a:r>
              </a:p>
              <a:p>
                <a:r>
                  <a:rPr lang="en-US" sz="2400" dirty="0"/>
                  <a:t>returns model {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acc>
                    <m:r>
                      <a:rPr lang="en-US" sz="2400" i="1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acc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} </a:t>
                </a:r>
              </a:p>
              <a:p>
                <a:r>
                  <a:rPr lang="en-US" sz="2400" dirty="0"/>
                  <a:t>UF solver concretizes to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checks this as UNSAT</a:t>
                </a:r>
              </a:p>
              <a:p>
                <a:r>
                  <a:rPr lang="en-US" sz="2400" dirty="0"/>
                  <a:t>send {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acc>
                    <m:r>
                      <a:rPr lang="en-US" sz="2000" i="1">
                        <a:latin typeface="Cambria Math" panose="02040503050406030204" pitchFamily="18" charset="0"/>
                      </a:rPr>
                      <m:t> ∨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3, 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acc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acc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∨2∨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} to DPLL</a:t>
                </a:r>
              </a:p>
              <a:p>
                <a:r>
                  <a:rPr lang="en-US" sz="2400" dirty="0"/>
                  <a:t>returns model {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dirty="0"/>
                  <a:t> 2,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acc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} </a:t>
                </a:r>
              </a:p>
              <a:p>
                <a:r>
                  <a:rPr lang="en-US" sz="2400" dirty="0"/>
                  <a:t>UF solver concretizes and finds this to be UNSAT</a:t>
                </a:r>
              </a:p>
              <a:p>
                <a:r>
                  <a:rPr lang="en-US" sz="2400" dirty="0"/>
                  <a:t>send {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acc>
                    <m:r>
                      <a:rPr lang="en-US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∨</m:t>
                    </m:r>
                    <m:r>
                      <a:rPr lang="en-US" sz="240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acc>
                    <m:r>
                      <a:rPr lang="en-US" sz="24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̅"/>
                        <m:ctrlPr>
                          <a:rPr lang="en-US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acc>
                    <m:r>
                      <a:rPr lang="en-US" sz="2400" i="1">
                        <a:latin typeface="Cambria Math" panose="02040503050406030204" pitchFamily="18" charset="0"/>
                      </a:rPr>
                      <m:t>∨</m:t>
                    </m:r>
                    <m:r>
                      <a:rPr lang="en-US" sz="240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∨</m:t>
                    </m:r>
                    <m:r>
                      <a:rPr lang="en-US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acc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∨</m:t>
                    </m:r>
                    <m:acc>
                      <m:accPr>
                        <m:chr m:val="̅"/>
                        <m:ctrlPr>
                          <a:rPr lang="en-US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acc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∨</m:t>
                    </m:r>
                    <m:acc>
                      <m:accPr>
                        <m:chr m:val="̅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acc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∨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US" sz="2400" dirty="0"/>
                  <a:t> } to DPLL</a:t>
                </a:r>
              </a:p>
              <a:p>
                <a:r>
                  <a:rPr lang="en-US" sz="2400" dirty="0"/>
                  <a:t>returns UNSAT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F91161DF-ECCE-9B40-B55D-462B3567882D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26759"/>
                <a:ext cx="9370102" cy="5515484"/>
              </a:xfrm>
              <a:prstGeom prst="rect">
                <a:avLst/>
              </a:prstGeom>
              <a:blipFill>
                <a:blip r:embed="rId2"/>
                <a:stretch>
                  <a:fillRect l="-812" t="-229" b="-13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reeform 4">
            <a:extLst>
              <a:ext uri="{FF2B5EF4-FFF2-40B4-BE49-F238E27FC236}">
                <a16:creationId xmlns:a16="http://schemas.microsoft.com/office/drawing/2014/main" id="{AFDFA509-F629-C64D-A7DE-93CE692C92D2}"/>
              </a:ext>
            </a:extLst>
          </p:cNvPr>
          <p:cNvSpPr/>
          <p:nvPr/>
        </p:nvSpPr>
        <p:spPr>
          <a:xfrm>
            <a:off x="1639550" y="1828800"/>
            <a:ext cx="853295" cy="194872"/>
          </a:xfrm>
          <a:custGeom>
            <a:avLst/>
            <a:gdLst>
              <a:gd name="connsiteX0" fmla="*/ 0 w 853295"/>
              <a:gd name="connsiteY0" fmla="*/ 16239 h 194872"/>
              <a:gd name="connsiteX1" fmla="*/ 48759 w 853295"/>
              <a:gd name="connsiteY1" fmla="*/ 162392 h 194872"/>
              <a:gd name="connsiteX2" fmla="*/ 182848 w 853295"/>
              <a:gd name="connsiteY2" fmla="*/ 113675 h 194872"/>
              <a:gd name="connsiteX3" fmla="*/ 219418 w 853295"/>
              <a:gd name="connsiteY3" fmla="*/ 97436 h 194872"/>
              <a:gd name="connsiteX4" fmla="*/ 268178 w 853295"/>
              <a:gd name="connsiteY4" fmla="*/ 113675 h 194872"/>
              <a:gd name="connsiteX5" fmla="*/ 292557 w 853295"/>
              <a:gd name="connsiteY5" fmla="*/ 162392 h 194872"/>
              <a:gd name="connsiteX6" fmla="*/ 316938 w 853295"/>
              <a:gd name="connsiteY6" fmla="*/ 194872 h 194872"/>
              <a:gd name="connsiteX7" fmla="*/ 377887 w 853295"/>
              <a:gd name="connsiteY7" fmla="*/ 113675 h 194872"/>
              <a:gd name="connsiteX8" fmla="*/ 451027 w 853295"/>
              <a:gd name="connsiteY8" fmla="*/ 81196 h 194872"/>
              <a:gd name="connsiteX9" fmla="*/ 609496 w 853295"/>
              <a:gd name="connsiteY9" fmla="*/ 97436 h 194872"/>
              <a:gd name="connsiteX10" fmla="*/ 646065 w 853295"/>
              <a:gd name="connsiteY10" fmla="*/ 113675 h 194872"/>
              <a:gd name="connsiteX11" fmla="*/ 792345 w 853295"/>
              <a:gd name="connsiteY11" fmla="*/ 97436 h 194872"/>
              <a:gd name="connsiteX12" fmla="*/ 853295 w 853295"/>
              <a:gd name="connsiteY12" fmla="*/ 0 h 194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53295" h="194872" extrusionOk="0">
                <a:moveTo>
                  <a:pt x="0" y="16239"/>
                </a:moveTo>
                <a:cubicBezTo>
                  <a:pt x="858" y="59590"/>
                  <a:pt x="-15199" y="156209"/>
                  <a:pt x="48759" y="162392"/>
                </a:cubicBezTo>
                <a:cubicBezTo>
                  <a:pt x="74307" y="166667"/>
                  <a:pt x="162294" y="121347"/>
                  <a:pt x="182848" y="113675"/>
                </a:cubicBezTo>
                <a:cubicBezTo>
                  <a:pt x="186992" y="110317"/>
                  <a:pt x="215148" y="103229"/>
                  <a:pt x="219418" y="97436"/>
                </a:cubicBezTo>
                <a:cubicBezTo>
                  <a:pt x="234356" y="102130"/>
                  <a:pt x="255360" y="101830"/>
                  <a:pt x="268178" y="113675"/>
                </a:cubicBezTo>
                <a:cubicBezTo>
                  <a:pt x="282515" y="124755"/>
                  <a:pt x="283581" y="146791"/>
                  <a:pt x="292557" y="162392"/>
                </a:cubicBezTo>
                <a:cubicBezTo>
                  <a:pt x="297383" y="173987"/>
                  <a:pt x="306943" y="185803"/>
                  <a:pt x="316938" y="194872"/>
                </a:cubicBezTo>
                <a:cubicBezTo>
                  <a:pt x="339141" y="150067"/>
                  <a:pt x="338747" y="137363"/>
                  <a:pt x="377887" y="113675"/>
                </a:cubicBezTo>
                <a:cubicBezTo>
                  <a:pt x="401371" y="99770"/>
                  <a:pt x="451027" y="81196"/>
                  <a:pt x="451027" y="81196"/>
                </a:cubicBezTo>
                <a:cubicBezTo>
                  <a:pt x="501974" y="86307"/>
                  <a:pt x="563122" y="93748"/>
                  <a:pt x="609496" y="97436"/>
                </a:cubicBezTo>
                <a:cubicBezTo>
                  <a:pt x="623471" y="101382"/>
                  <a:pt x="633452" y="116120"/>
                  <a:pt x="646065" y="113675"/>
                </a:cubicBezTo>
                <a:cubicBezTo>
                  <a:pt x="697657" y="117777"/>
                  <a:pt x="746681" y="106641"/>
                  <a:pt x="792345" y="97436"/>
                </a:cubicBezTo>
                <a:cubicBezTo>
                  <a:pt x="853265" y="18897"/>
                  <a:pt x="832189" y="53450"/>
                  <a:pt x="853295" y="0"/>
                </a:cubicBezTo>
              </a:path>
            </a:pathLst>
          </a:custGeom>
          <a:noFill/>
          <a:ln w="25400"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049311"/>
                      <a:gd name="connsiteY0" fmla="*/ 14990 h 179882"/>
                      <a:gd name="connsiteX1" fmla="*/ 59960 w 1049311"/>
                      <a:gd name="connsiteY1" fmla="*/ 149901 h 179882"/>
                      <a:gd name="connsiteX2" fmla="*/ 224852 w 1049311"/>
                      <a:gd name="connsiteY2" fmla="*/ 104931 h 179882"/>
                      <a:gd name="connsiteX3" fmla="*/ 269822 w 1049311"/>
                      <a:gd name="connsiteY3" fmla="*/ 89941 h 179882"/>
                      <a:gd name="connsiteX4" fmla="*/ 329783 w 1049311"/>
                      <a:gd name="connsiteY4" fmla="*/ 104931 h 179882"/>
                      <a:gd name="connsiteX5" fmla="*/ 359763 w 1049311"/>
                      <a:gd name="connsiteY5" fmla="*/ 149901 h 179882"/>
                      <a:gd name="connsiteX6" fmla="*/ 389744 w 1049311"/>
                      <a:gd name="connsiteY6" fmla="*/ 179882 h 179882"/>
                      <a:gd name="connsiteX7" fmla="*/ 464695 w 1049311"/>
                      <a:gd name="connsiteY7" fmla="*/ 104931 h 179882"/>
                      <a:gd name="connsiteX8" fmla="*/ 554636 w 1049311"/>
                      <a:gd name="connsiteY8" fmla="*/ 74951 h 179882"/>
                      <a:gd name="connsiteX9" fmla="*/ 749508 w 1049311"/>
                      <a:gd name="connsiteY9" fmla="*/ 89941 h 179882"/>
                      <a:gd name="connsiteX10" fmla="*/ 794478 w 1049311"/>
                      <a:gd name="connsiteY10" fmla="*/ 104931 h 179882"/>
                      <a:gd name="connsiteX11" fmla="*/ 974360 w 1049311"/>
                      <a:gd name="connsiteY11" fmla="*/ 89941 h 179882"/>
                      <a:gd name="connsiteX12" fmla="*/ 1049311 w 1049311"/>
                      <a:gd name="connsiteY12" fmla="*/ 0 h 17988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1049311" h="179882">
                        <a:moveTo>
                          <a:pt x="0" y="14990"/>
                        </a:moveTo>
                        <a:cubicBezTo>
                          <a:pt x="6047" y="57318"/>
                          <a:pt x="-8549" y="141337"/>
                          <a:pt x="59960" y="149901"/>
                        </a:cubicBezTo>
                        <a:cubicBezTo>
                          <a:pt x="90779" y="153753"/>
                          <a:pt x="203915" y="111910"/>
                          <a:pt x="224852" y="104931"/>
                        </a:cubicBezTo>
                        <a:lnTo>
                          <a:pt x="269822" y="89941"/>
                        </a:lnTo>
                        <a:cubicBezTo>
                          <a:pt x="289809" y="94938"/>
                          <a:pt x="312641" y="93503"/>
                          <a:pt x="329783" y="104931"/>
                        </a:cubicBezTo>
                        <a:cubicBezTo>
                          <a:pt x="344773" y="114924"/>
                          <a:pt x="348509" y="135833"/>
                          <a:pt x="359763" y="149901"/>
                        </a:cubicBezTo>
                        <a:cubicBezTo>
                          <a:pt x="368592" y="160937"/>
                          <a:pt x="379750" y="169888"/>
                          <a:pt x="389744" y="179882"/>
                        </a:cubicBezTo>
                        <a:cubicBezTo>
                          <a:pt x="417095" y="138855"/>
                          <a:pt x="417356" y="125970"/>
                          <a:pt x="464695" y="104931"/>
                        </a:cubicBezTo>
                        <a:cubicBezTo>
                          <a:pt x="493573" y="92096"/>
                          <a:pt x="554636" y="74951"/>
                          <a:pt x="554636" y="74951"/>
                        </a:cubicBezTo>
                        <a:cubicBezTo>
                          <a:pt x="619593" y="79948"/>
                          <a:pt x="684862" y="81860"/>
                          <a:pt x="749508" y="89941"/>
                        </a:cubicBezTo>
                        <a:cubicBezTo>
                          <a:pt x="765187" y="91901"/>
                          <a:pt x="778677" y="104931"/>
                          <a:pt x="794478" y="104931"/>
                        </a:cubicBezTo>
                        <a:cubicBezTo>
                          <a:pt x="854646" y="104931"/>
                          <a:pt x="914399" y="94938"/>
                          <a:pt x="974360" y="89941"/>
                        </a:cubicBezTo>
                        <a:cubicBezTo>
                          <a:pt x="1042221" y="22080"/>
                          <a:pt x="1021680" y="55262"/>
                          <a:pt x="1049311" y="0"/>
                        </a:cubicBezTo>
                      </a:path>
                    </a:pathLst>
                  </a:cu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9A07AE91-5EDF-D944-8556-B62FB41F73E9}"/>
              </a:ext>
            </a:extLst>
          </p:cNvPr>
          <p:cNvSpPr/>
          <p:nvPr/>
        </p:nvSpPr>
        <p:spPr>
          <a:xfrm>
            <a:off x="2869992" y="1828800"/>
            <a:ext cx="1620244" cy="194872"/>
          </a:xfrm>
          <a:custGeom>
            <a:avLst/>
            <a:gdLst>
              <a:gd name="connsiteX0" fmla="*/ 0 w 1620244"/>
              <a:gd name="connsiteY0" fmla="*/ 16239 h 194872"/>
              <a:gd name="connsiteX1" fmla="*/ 92584 w 1620244"/>
              <a:gd name="connsiteY1" fmla="*/ 162392 h 194872"/>
              <a:gd name="connsiteX2" fmla="*/ 347194 w 1620244"/>
              <a:gd name="connsiteY2" fmla="*/ 113675 h 194872"/>
              <a:gd name="connsiteX3" fmla="*/ 416632 w 1620244"/>
              <a:gd name="connsiteY3" fmla="*/ 97436 h 194872"/>
              <a:gd name="connsiteX4" fmla="*/ 509218 w 1620244"/>
              <a:gd name="connsiteY4" fmla="*/ 113675 h 194872"/>
              <a:gd name="connsiteX5" fmla="*/ 555511 w 1620244"/>
              <a:gd name="connsiteY5" fmla="*/ 162392 h 194872"/>
              <a:gd name="connsiteX6" fmla="*/ 601804 w 1620244"/>
              <a:gd name="connsiteY6" fmla="*/ 194872 h 194872"/>
              <a:gd name="connsiteX7" fmla="*/ 717536 w 1620244"/>
              <a:gd name="connsiteY7" fmla="*/ 113675 h 194872"/>
              <a:gd name="connsiteX8" fmla="*/ 856414 w 1620244"/>
              <a:gd name="connsiteY8" fmla="*/ 81196 h 194872"/>
              <a:gd name="connsiteX9" fmla="*/ 1157317 w 1620244"/>
              <a:gd name="connsiteY9" fmla="*/ 97436 h 194872"/>
              <a:gd name="connsiteX10" fmla="*/ 1226755 w 1620244"/>
              <a:gd name="connsiteY10" fmla="*/ 113675 h 194872"/>
              <a:gd name="connsiteX11" fmla="*/ 1504511 w 1620244"/>
              <a:gd name="connsiteY11" fmla="*/ 97436 h 194872"/>
              <a:gd name="connsiteX12" fmla="*/ 1620244 w 1620244"/>
              <a:gd name="connsiteY12" fmla="*/ 0 h 194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20244" h="194872" extrusionOk="0">
                <a:moveTo>
                  <a:pt x="0" y="16239"/>
                </a:moveTo>
                <a:cubicBezTo>
                  <a:pt x="7791" y="61140"/>
                  <a:pt x="-16053" y="154184"/>
                  <a:pt x="92584" y="162392"/>
                </a:cubicBezTo>
                <a:cubicBezTo>
                  <a:pt x="144207" y="167415"/>
                  <a:pt x="313944" y="121264"/>
                  <a:pt x="347194" y="113675"/>
                </a:cubicBezTo>
                <a:cubicBezTo>
                  <a:pt x="357866" y="117330"/>
                  <a:pt x="391251" y="97119"/>
                  <a:pt x="416632" y="97436"/>
                </a:cubicBezTo>
                <a:cubicBezTo>
                  <a:pt x="444748" y="101347"/>
                  <a:pt x="485124" y="102429"/>
                  <a:pt x="509218" y="113675"/>
                </a:cubicBezTo>
                <a:cubicBezTo>
                  <a:pt x="534404" y="124742"/>
                  <a:pt x="538625" y="146139"/>
                  <a:pt x="555511" y="162392"/>
                </a:cubicBezTo>
                <a:cubicBezTo>
                  <a:pt x="567864" y="174152"/>
                  <a:pt x="583744" y="186520"/>
                  <a:pt x="601804" y="194872"/>
                </a:cubicBezTo>
                <a:cubicBezTo>
                  <a:pt x="643966" y="149751"/>
                  <a:pt x="643142" y="138270"/>
                  <a:pt x="717536" y="113675"/>
                </a:cubicBezTo>
                <a:cubicBezTo>
                  <a:pt x="762127" y="99770"/>
                  <a:pt x="856414" y="81196"/>
                  <a:pt x="856414" y="81196"/>
                </a:cubicBezTo>
                <a:cubicBezTo>
                  <a:pt x="954081" y="86184"/>
                  <a:pt x="1070609" y="99404"/>
                  <a:pt x="1157317" y="97436"/>
                </a:cubicBezTo>
                <a:cubicBezTo>
                  <a:pt x="1183235" y="102101"/>
                  <a:pt x="1202467" y="114819"/>
                  <a:pt x="1226755" y="113675"/>
                </a:cubicBezTo>
                <a:cubicBezTo>
                  <a:pt x="1324085" y="120490"/>
                  <a:pt x="1418026" y="110321"/>
                  <a:pt x="1504511" y="97436"/>
                </a:cubicBezTo>
                <a:cubicBezTo>
                  <a:pt x="1613416" y="20311"/>
                  <a:pt x="1578368" y="56151"/>
                  <a:pt x="1620244" y="0"/>
                </a:cubicBezTo>
              </a:path>
            </a:pathLst>
          </a:custGeom>
          <a:noFill/>
          <a:ln w="25400"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049311"/>
                      <a:gd name="connsiteY0" fmla="*/ 14990 h 179882"/>
                      <a:gd name="connsiteX1" fmla="*/ 59960 w 1049311"/>
                      <a:gd name="connsiteY1" fmla="*/ 149901 h 179882"/>
                      <a:gd name="connsiteX2" fmla="*/ 224852 w 1049311"/>
                      <a:gd name="connsiteY2" fmla="*/ 104931 h 179882"/>
                      <a:gd name="connsiteX3" fmla="*/ 269822 w 1049311"/>
                      <a:gd name="connsiteY3" fmla="*/ 89941 h 179882"/>
                      <a:gd name="connsiteX4" fmla="*/ 329783 w 1049311"/>
                      <a:gd name="connsiteY4" fmla="*/ 104931 h 179882"/>
                      <a:gd name="connsiteX5" fmla="*/ 359763 w 1049311"/>
                      <a:gd name="connsiteY5" fmla="*/ 149901 h 179882"/>
                      <a:gd name="connsiteX6" fmla="*/ 389744 w 1049311"/>
                      <a:gd name="connsiteY6" fmla="*/ 179882 h 179882"/>
                      <a:gd name="connsiteX7" fmla="*/ 464695 w 1049311"/>
                      <a:gd name="connsiteY7" fmla="*/ 104931 h 179882"/>
                      <a:gd name="connsiteX8" fmla="*/ 554636 w 1049311"/>
                      <a:gd name="connsiteY8" fmla="*/ 74951 h 179882"/>
                      <a:gd name="connsiteX9" fmla="*/ 749508 w 1049311"/>
                      <a:gd name="connsiteY9" fmla="*/ 89941 h 179882"/>
                      <a:gd name="connsiteX10" fmla="*/ 794478 w 1049311"/>
                      <a:gd name="connsiteY10" fmla="*/ 104931 h 179882"/>
                      <a:gd name="connsiteX11" fmla="*/ 974360 w 1049311"/>
                      <a:gd name="connsiteY11" fmla="*/ 89941 h 179882"/>
                      <a:gd name="connsiteX12" fmla="*/ 1049311 w 1049311"/>
                      <a:gd name="connsiteY12" fmla="*/ 0 h 17988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1049311" h="179882">
                        <a:moveTo>
                          <a:pt x="0" y="14990"/>
                        </a:moveTo>
                        <a:cubicBezTo>
                          <a:pt x="6047" y="57318"/>
                          <a:pt x="-8549" y="141337"/>
                          <a:pt x="59960" y="149901"/>
                        </a:cubicBezTo>
                        <a:cubicBezTo>
                          <a:pt x="90779" y="153753"/>
                          <a:pt x="203915" y="111910"/>
                          <a:pt x="224852" y="104931"/>
                        </a:cubicBezTo>
                        <a:lnTo>
                          <a:pt x="269822" y="89941"/>
                        </a:lnTo>
                        <a:cubicBezTo>
                          <a:pt x="289809" y="94938"/>
                          <a:pt x="312641" y="93503"/>
                          <a:pt x="329783" y="104931"/>
                        </a:cubicBezTo>
                        <a:cubicBezTo>
                          <a:pt x="344773" y="114924"/>
                          <a:pt x="348509" y="135833"/>
                          <a:pt x="359763" y="149901"/>
                        </a:cubicBezTo>
                        <a:cubicBezTo>
                          <a:pt x="368592" y="160937"/>
                          <a:pt x="379750" y="169888"/>
                          <a:pt x="389744" y="179882"/>
                        </a:cubicBezTo>
                        <a:cubicBezTo>
                          <a:pt x="417095" y="138855"/>
                          <a:pt x="417356" y="125970"/>
                          <a:pt x="464695" y="104931"/>
                        </a:cubicBezTo>
                        <a:cubicBezTo>
                          <a:pt x="493573" y="92096"/>
                          <a:pt x="554636" y="74951"/>
                          <a:pt x="554636" y="74951"/>
                        </a:cubicBezTo>
                        <a:cubicBezTo>
                          <a:pt x="619593" y="79948"/>
                          <a:pt x="684862" y="81860"/>
                          <a:pt x="749508" y="89941"/>
                        </a:cubicBezTo>
                        <a:cubicBezTo>
                          <a:pt x="765187" y="91901"/>
                          <a:pt x="778677" y="104931"/>
                          <a:pt x="794478" y="104931"/>
                        </a:cubicBezTo>
                        <a:cubicBezTo>
                          <a:pt x="854646" y="104931"/>
                          <a:pt x="914399" y="94938"/>
                          <a:pt x="974360" y="89941"/>
                        </a:cubicBezTo>
                        <a:cubicBezTo>
                          <a:pt x="1042221" y="22080"/>
                          <a:pt x="1021680" y="55262"/>
                          <a:pt x="1049311" y="0"/>
                        </a:cubicBezTo>
                      </a:path>
                    </a:pathLst>
                  </a:cu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2F122656-CECD-EB47-AA15-CA02BA41F87C}"/>
              </a:ext>
            </a:extLst>
          </p:cNvPr>
          <p:cNvSpPr/>
          <p:nvPr/>
        </p:nvSpPr>
        <p:spPr>
          <a:xfrm>
            <a:off x="4896086" y="1828800"/>
            <a:ext cx="853295" cy="194872"/>
          </a:xfrm>
          <a:custGeom>
            <a:avLst/>
            <a:gdLst>
              <a:gd name="connsiteX0" fmla="*/ 0 w 853295"/>
              <a:gd name="connsiteY0" fmla="*/ 16239 h 194872"/>
              <a:gd name="connsiteX1" fmla="*/ 48759 w 853295"/>
              <a:gd name="connsiteY1" fmla="*/ 162392 h 194872"/>
              <a:gd name="connsiteX2" fmla="*/ 182848 w 853295"/>
              <a:gd name="connsiteY2" fmla="*/ 113675 h 194872"/>
              <a:gd name="connsiteX3" fmla="*/ 219418 w 853295"/>
              <a:gd name="connsiteY3" fmla="*/ 97436 h 194872"/>
              <a:gd name="connsiteX4" fmla="*/ 268178 w 853295"/>
              <a:gd name="connsiteY4" fmla="*/ 113675 h 194872"/>
              <a:gd name="connsiteX5" fmla="*/ 292557 w 853295"/>
              <a:gd name="connsiteY5" fmla="*/ 162392 h 194872"/>
              <a:gd name="connsiteX6" fmla="*/ 316938 w 853295"/>
              <a:gd name="connsiteY6" fmla="*/ 194872 h 194872"/>
              <a:gd name="connsiteX7" fmla="*/ 377887 w 853295"/>
              <a:gd name="connsiteY7" fmla="*/ 113675 h 194872"/>
              <a:gd name="connsiteX8" fmla="*/ 451027 w 853295"/>
              <a:gd name="connsiteY8" fmla="*/ 81196 h 194872"/>
              <a:gd name="connsiteX9" fmla="*/ 609496 w 853295"/>
              <a:gd name="connsiteY9" fmla="*/ 97436 h 194872"/>
              <a:gd name="connsiteX10" fmla="*/ 646065 w 853295"/>
              <a:gd name="connsiteY10" fmla="*/ 113675 h 194872"/>
              <a:gd name="connsiteX11" fmla="*/ 792345 w 853295"/>
              <a:gd name="connsiteY11" fmla="*/ 97436 h 194872"/>
              <a:gd name="connsiteX12" fmla="*/ 853295 w 853295"/>
              <a:gd name="connsiteY12" fmla="*/ 0 h 194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53295" h="194872" extrusionOk="0">
                <a:moveTo>
                  <a:pt x="0" y="16239"/>
                </a:moveTo>
                <a:cubicBezTo>
                  <a:pt x="858" y="59590"/>
                  <a:pt x="-15199" y="156209"/>
                  <a:pt x="48759" y="162392"/>
                </a:cubicBezTo>
                <a:cubicBezTo>
                  <a:pt x="74307" y="166667"/>
                  <a:pt x="162294" y="121347"/>
                  <a:pt x="182848" y="113675"/>
                </a:cubicBezTo>
                <a:cubicBezTo>
                  <a:pt x="186992" y="110317"/>
                  <a:pt x="215148" y="103229"/>
                  <a:pt x="219418" y="97436"/>
                </a:cubicBezTo>
                <a:cubicBezTo>
                  <a:pt x="234356" y="102130"/>
                  <a:pt x="255360" y="101830"/>
                  <a:pt x="268178" y="113675"/>
                </a:cubicBezTo>
                <a:cubicBezTo>
                  <a:pt x="282515" y="124755"/>
                  <a:pt x="283581" y="146791"/>
                  <a:pt x="292557" y="162392"/>
                </a:cubicBezTo>
                <a:cubicBezTo>
                  <a:pt x="297383" y="173987"/>
                  <a:pt x="306943" y="185803"/>
                  <a:pt x="316938" y="194872"/>
                </a:cubicBezTo>
                <a:cubicBezTo>
                  <a:pt x="339141" y="150067"/>
                  <a:pt x="338747" y="137363"/>
                  <a:pt x="377887" y="113675"/>
                </a:cubicBezTo>
                <a:cubicBezTo>
                  <a:pt x="401371" y="99770"/>
                  <a:pt x="451027" y="81196"/>
                  <a:pt x="451027" y="81196"/>
                </a:cubicBezTo>
                <a:cubicBezTo>
                  <a:pt x="501974" y="86307"/>
                  <a:pt x="563122" y="93748"/>
                  <a:pt x="609496" y="97436"/>
                </a:cubicBezTo>
                <a:cubicBezTo>
                  <a:pt x="623471" y="101382"/>
                  <a:pt x="633452" y="116120"/>
                  <a:pt x="646065" y="113675"/>
                </a:cubicBezTo>
                <a:cubicBezTo>
                  <a:pt x="697657" y="117777"/>
                  <a:pt x="746681" y="106641"/>
                  <a:pt x="792345" y="97436"/>
                </a:cubicBezTo>
                <a:cubicBezTo>
                  <a:pt x="853265" y="18897"/>
                  <a:pt x="832189" y="53450"/>
                  <a:pt x="853295" y="0"/>
                </a:cubicBezTo>
              </a:path>
            </a:pathLst>
          </a:custGeom>
          <a:noFill/>
          <a:ln w="25400"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049311"/>
                      <a:gd name="connsiteY0" fmla="*/ 14990 h 179882"/>
                      <a:gd name="connsiteX1" fmla="*/ 59960 w 1049311"/>
                      <a:gd name="connsiteY1" fmla="*/ 149901 h 179882"/>
                      <a:gd name="connsiteX2" fmla="*/ 224852 w 1049311"/>
                      <a:gd name="connsiteY2" fmla="*/ 104931 h 179882"/>
                      <a:gd name="connsiteX3" fmla="*/ 269822 w 1049311"/>
                      <a:gd name="connsiteY3" fmla="*/ 89941 h 179882"/>
                      <a:gd name="connsiteX4" fmla="*/ 329783 w 1049311"/>
                      <a:gd name="connsiteY4" fmla="*/ 104931 h 179882"/>
                      <a:gd name="connsiteX5" fmla="*/ 359763 w 1049311"/>
                      <a:gd name="connsiteY5" fmla="*/ 149901 h 179882"/>
                      <a:gd name="connsiteX6" fmla="*/ 389744 w 1049311"/>
                      <a:gd name="connsiteY6" fmla="*/ 179882 h 179882"/>
                      <a:gd name="connsiteX7" fmla="*/ 464695 w 1049311"/>
                      <a:gd name="connsiteY7" fmla="*/ 104931 h 179882"/>
                      <a:gd name="connsiteX8" fmla="*/ 554636 w 1049311"/>
                      <a:gd name="connsiteY8" fmla="*/ 74951 h 179882"/>
                      <a:gd name="connsiteX9" fmla="*/ 749508 w 1049311"/>
                      <a:gd name="connsiteY9" fmla="*/ 89941 h 179882"/>
                      <a:gd name="connsiteX10" fmla="*/ 794478 w 1049311"/>
                      <a:gd name="connsiteY10" fmla="*/ 104931 h 179882"/>
                      <a:gd name="connsiteX11" fmla="*/ 974360 w 1049311"/>
                      <a:gd name="connsiteY11" fmla="*/ 89941 h 179882"/>
                      <a:gd name="connsiteX12" fmla="*/ 1049311 w 1049311"/>
                      <a:gd name="connsiteY12" fmla="*/ 0 h 17988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1049311" h="179882">
                        <a:moveTo>
                          <a:pt x="0" y="14990"/>
                        </a:moveTo>
                        <a:cubicBezTo>
                          <a:pt x="6047" y="57318"/>
                          <a:pt x="-8549" y="141337"/>
                          <a:pt x="59960" y="149901"/>
                        </a:cubicBezTo>
                        <a:cubicBezTo>
                          <a:pt x="90779" y="153753"/>
                          <a:pt x="203915" y="111910"/>
                          <a:pt x="224852" y="104931"/>
                        </a:cubicBezTo>
                        <a:lnTo>
                          <a:pt x="269822" y="89941"/>
                        </a:lnTo>
                        <a:cubicBezTo>
                          <a:pt x="289809" y="94938"/>
                          <a:pt x="312641" y="93503"/>
                          <a:pt x="329783" y="104931"/>
                        </a:cubicBezTo>
                        <a:cubicBezTo>
                          <a:pt x="344773" y="114924"/>
                          <a:pt x="348509" y="135833"/>
                          <a:pt x="359763" y="149901"/>
                        </a:cubicBezTo>
                        <a:cubicBezTo>
                          <a:pt x="368592" y="160937"/>
                          <a:pt x="379750" y="169888"/>
                          <a:pt x="389744" y="179882"/>
                        </a:cubicBezTo>
                        <a:cubicBezTo>
                          <a:pt x="417095" y="138855"/>
                          <a:pt x="417356" y="125970"/>
                          <a:pt x="464695" y="104931"/>
                        </a:cubicBezTo>
                        <a:cubicBezTo>
                          <a:pt x="493573" y="92096"/>
                          <a:pt x="554636" y="74951"/>
                          <a:pt x="554636" y="74951"/>
                        </a:cubicBezTo>
                        <a:cubicBezTo>
                          <a:pt x="619593" y="79948"/>
                          <a:pt x="684862" y="81860"/>
                          <a:pt x="749508" y="89941"/>
                        </a:cubicBezTo>
                        <a:cubicBezTo>
                          <a:pt x="765187" y="91901"/>
                          <a:pt x="778677" y="104931"/>
                          <a:pt x="794478" y="104931"/>
                        </a:cubicBezTo>
                        <a:cubicBezTo>
                          <a:pt x="854646" y="104931"/>
                          <a:pt x="914399" y="94938"/>
                          <a:pt x="974360" y="89941"/>
                        </a:cubicBezTo>
                        <a:cubicBezTo>
                          <a:pt x="1042221" y="22080"/>
                          <a:pt x="1021680" y="55262"/>
                          <a:pt x="1049311" y="0"/>
                        </a:cubicBezTo>
                      </a:path>
                    </a:pathLst>
                  </a:cu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7AE152F9-D790-1042-BD9C-813643460115}"/>
              </a:ext>
            </a:extLst>
          </p:cNvPr>
          <p:cNvSpPr/>
          <p:nvPr/>
        </p:nvSpPr>
        <p:spPr>
          <a:xfrm>
            <a:off x="6169363" y="1791325"/>
            <a:ext cx="546516" cy="194872"/>
          </a:xfrm>
          <a:custGeom>
            <a:avLst/>
            <a:gdLst>
              <a:gd name="connsiteX0" fmla="*/ 0 w 546516"/>
              <a:gd name="connsiteY0" fmla="*/ 16239 h 194872"/>
              <a:gd name="connsiteX1" fmla="*/ 31229 w 546516"/>
              <a:gd name="connsiteY1" fmla="*/ 162392 h 194872"/>
              <a:gd name="connsiteX2" fmla="*/ 117110 w 546516"/>
              <a:gd name="connsiteY2" fmla="*/ 113675 h 194872"/>
              <a:gd name="connsiteX3" fmla="*/ 140532 w 546516"/>
              <a:gd name="connsiteY3" fmla="*/ 97436 h 194872"/>
              <a:gd name="connsiteX4" fmla="*/ 171761 w 546516"/>
              <a:gd name="connsiteY4" fmla="*/ 113675 h 194872"/>
              <a:gd name="connsiteX5" fmla="*/ 187376 w 546516"/>
              <a:gd name="connsiteY5" fmla="*/ 162392 h 194872"/>
              <a:gd name="connsiteX6" fmla="*/ 202991 w 546516"/>
              <a:gd name="connsiteY6" fmla="*/ 194872 h 194872"/>
              <a:gd name="connsiteX7" fmla="*/ 242028 w 546516"/>
              <a:gd name="connsiteY7" fmla="*/ 113675 h 194872"/>
              <a:gd name="connsiteX8" fmla="*/ 288872 w 546516"/>
              <a:gd name="connsiteY8" fmla="*/ 81196 h 194872"/>
              <a:gd name="connsiteX9" fmla="*/ 390368 w 546516"/>
              <a:gd name="connsiteY9" fmla="*/ 97436 h 194872"/>
              <a:gd name="connsiteX10" fmla="*/ 413790 w 546516"/>
              <a:gd name="connsiteY10" fmla="*/ 113675 h 194872"/>
              <a:gd name="connsiteX11" fmla="*/ 507479 w 546516"/>
              <a:gd name="connsiteY11" fmla="*/ 97436 h 194872"/>
              <a:gd name="connsiteX12" fmla="*/ 546516 w 546516"/>
              <a:gd name="connsiteY12" fmla="*/ 0 h 194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46516" h="194872" extrusionOk="0">
                <a:moveTo>
                  <a:pt x="0" y="16239"/>
                </a:moveTo>
                <a:cubicBezTo>
                  <a:pt x="-1935" y="58958"/>
                  <a:pt x="-9730" y="155094"/>
                  <a:pt x="31229" y="162392"/>
                </a:cubicBezTo>
                <a:cubicBezTo>
                  <a:pt x="49567" y="167047"/>
                  <a:pt x="105498" y="121257"/>
                  <a:pt x="117110" y="113675"/>
                </a:cubicBezTo>
                <a:cubicBezTo>
                  <a:pt x="121057" y="112595"/>
                  <a:pt x="128696" y="102580"/>
                  <a:pt x="140532" y="97436"/>
                </a:cubicBezTo>
                <a:cubicBezTo>
                  <a:pt x="149784" y="102216"/>
                  <a:pt x="164449" y="102066"/>
                  <a:pt x="171761" y="113675"/>
                </a:cubicBezTo>
                <a:cubicBezTo>
                  <a:pt x="181047" y="124675"/>
                  <a:pt x="182427" y="145275"/>
                  <a:pt x="187376" y="162392"/>
                </a:cubicBezTo>
                <a:cubicBezTo>
                  <a:pt x="190956" y="174192"/>
                  <a:pt x="196622" y="185141"/>
                  <a:pt x="202991" y="194872"/>
                </a:cubicBezTo>
                <a:cubicBezTo>
                  <a:pt x="217087" y="149008"/>
                  <a:pt x="215882" y="138537"/>
                  <a:pt x="242028" y="113675"/>
                </a:cubicBezTo>
                <a:cubicBezTo>
                  <a:pt x="257069" y="99770"/>
                  <a:pt x="288872" y="81196"/>
                  <a:pt x="288872" y="81196"/>
                </a:cubicBezTo>
                <a:cubicBezTo>
                  <a:pt x="321095" y="86350"/>
                  <a:pt x="359797" y="91215"/>
                  <a:pt x="390368" y="97436"/>
                </a:cubicBezTo>
                <a:cubicBezTo>
                  <a:pt x="399001" y="100253"/>
                  <a:pt x="405706" y="115189"/>
                  <a:pt x="413790" y="113675"/>
                </a:cubicBezTo>
                <a:cubicBezTo>
                  <a:pt x="445505" y="114256"/>
                  <a:pt x="478122" y="105143"/>
                  <a:pt x="507479" y="97436"/>
                </a:cubicBezTo>
                <a:cubicBezTo>
                  <a:pt x="543766" y="23093"/>
                  <a:pt x="532579" y="57725"/>
                  <a:pt x="546516" y="0"/>
                </a:cubicBezTo>
              </a:path>
            </a:pathLst>
          </a:custGeom>
          <a:noFill/>
          <a:ln w="25400"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049311"/>
                      <a:gd name="connsiteY0" fmla="*/ 14990 h 179882"/>
                      <a:gd name="connsiteX1" fmla="*/ 59960 w 1049311"/>
                      <a:gd name="connsiteY1" fmla="*/ 149901 h 179882"/>
                      <a:gd name="connsiteX2" fmla="*/ 224852 w 1049311"/>
                      <a:gd name="connsiteY2" fmla="*/ 104931 h 179882"/>
                      <a:gd name="connsiteX3" fmla="*/ 269822 w 1049311"/>
                      <a:gd name="connsiteY3" fmla="*/ 89941 h 179882"/>
                      <a:gd name="connsiteX4" fmla="*/ 329783 w 1049311"/>
                      <a:gd name="connsiteY4" fmla="*/ 104931 h 179882"/>
                      <a:gd name="connsiteX5" fmla="*/ 359763 w 1049311"/>
                      <a:gd name="connsiteY5" fmla="*/ 149901 h 179882"/>
                      <a:gd name="connsiteX6" fmla="*/ 389744 w 1049311"/>
                      <a:gd name="connsiteY6" fmla="*/ 179882 h 179882"/>
                      <a:gd name="connsiteX7" fmla="*/ 464695 w 1049311"/>
                      <a:gd name="connsiteY7" fmla="*/ 104931 h 179882"/>
                      <a:gd name="connsiteX8" fmla="*/ 554636 w 1049311"/>
                      <a:gd name="connsiteY8" fmla="*/ 74951 h 179882"/>
                      <a:gd name="connsiteX9" fmla="*/ 749508 w 1049311"/>
                      <a:gd name="connsiteY9" fmla="*/ 89941 h 179882"/>
                      <a:gd name="connsiteX10" fmla="*/ 794478 w 1049311"/>
                      <a:gd name="connsiteY10" fmla="*/ 104931 h 179882"/>
                      <a:gd name="connsiteX11" fmla="*/ 974360 w 1049311"/>
                      <a:gd name="connsiteY11" fmla="*/ 89941 h 179882"/>
                      <a:gd name="connsiteX12" fmla="*/ 1049311 w 1049311"/>
                      <a:gd name="connsiteY12" fmla="*/ 0 h 17988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1049311" h="179882">
                        <a:moveTo>
                          <a:pt x="0" y="14990"/>
                        </a:moveTo>
                        <a:cubicBezTo>
                          <a:pt x="6047" y="57318"/>
                          <a:pt x="-8549" y="141337"/>
                          <a:pt x="59960" y="149901"/>
                        </a:cubicBezTo>
                        <a:cubicBezTo>
                          <a:pt x="90779" y="153753"/>
                          <a:pt x="203915" y="111910"/>
                          <a:pt x="224852" y="104931"/>
                        </a:cubicBezTo>
                        <a:lnTo>
                          <a:pt x="269822" y="89941"/>
                        </a:lnTo>
                        <a:cubicBezTo>
                          <a:pt x="289809" y="94938"/>
                          <a:pt x="312641" y="93503"/>
                          <a:pt x="329783" y="104931"/>
                        </a:cubicBezTo>
                        <a:cubicBezTo>
                          <a:pt x="344773" y="114924"/>
                          <a:pt x="348509" y="135833"/>
                          <a:pt x="359763" y="149901"/>
                        </a:cubicBezTo>
                        <a:cubicBezTo>
                          <a:pt x="368592" y="160937"/>
                          <a:pt x="379750" y="169888"/>
                          <a:pt x="389744" y="179882"/>
                        </a:cubicBezTo>
                        <a:cubicBezTo>
                          <a:pt x="417095" y="138855"/>
                          <a:pt x="417356" y="125970"/>
                          <a:pt x="464695" y="104931"/>
                        </a:cubicBezTo>
                        <a:cubicBezTo>
                          <a:pt x="493573" y="92096"/>
                          <a:pt x="554636" y="74951"/>
                          <a:pt x="554636" y="74951"/>
                        </a:cubicBezTo>
                        <a:cubicBezTo>
                          <a:pt x="619593" y="79948"/>
                          <a:pt x="684862" y="81860"/>
                          <a:pt x="749508" y="89941"/>
                        </a:cubicBezTo>
                        <a:cubicBezTo>
                          <a:pt x="765187" y="91901"/>
                          <a:pt x="778677" y="104931"/>
                          <a:pt x="794478" y="104931"/>
                        </a:cubicBezTo>
                        <a:cubicBezTo>
                          <a:pt x="854646" y="104931"/>
                          <a:pt x="914399" y="94938"/>
                          <a:pt x="974360" y="89941"/>
                        </a:cubicBezTo>
                        <a:cubicBezTo>
                          <a:pt x="1042221" y="22080"/>
                          <a:pt x="1021680" y="55262"/>
                          <a:pt x="1049311" y="0"/>
                        </a:cubicBezTo>
                      </a:path>
                    </a:pathLst>
                  </a:cu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B2B66F5-A14B-B148-A59C-856C61CDED39}"/>
              </a:ext>
            </a:extLst>
          </p:cNvPr>
          <p:cNvGrpSpPr/>
          <p:nvPr/>
        </p:nvGrpSpPr>
        <p:grpSpPr>
          <a:xfrm>
            <a:off x="7179671" y="147459"/>
            <a:ext cx="4867371" cy="2343351"/>
            <a:chOff x="1293586" y="1935326"/>
            <a:chExt cx="9268432" cy="3337476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EAA46287-4808-E948-89F4-DD9510F6BA3B}"/>
                </a:ext>
              </a:extLst>
            </p:cNvPr>
            <p:cNvCxnSpPr>
              <a:cxnSpLocks/>
            </p:cNvCxnSpPr>
            <p:nvPr/>
          </p:nvCxnSpPr>
          <p:spPr>
            <a:xfrm>
              <a:off x="3238079" y="3118776"/>
              <a:ext cx="2587370" cy="738649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B148563-BAF3-0347-A753-3A9968E4AB3F}"/>
                </a:ext>
              </a:extLst>
            </p:cNvPr>
            <p:cNvSpPr txBox="1"/>
            <p:nvPr/>
          </p:nvSpPr>
          <p:spPr>
            <a:xfrm>
              <a:off x="1293586" y="1935326"/>
              <a:ext cx="3398781" cy="3265672"/>
            </a:xfrm>
            <a:prstGeom prst="rect">
              <a:avLst/>
            </a:prstGeom>
            <a:noFill/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en-US" sz="1100" dirty="0">
                <a:latin typeface="+mj-lt"/>
              </a:endParaRPr>
            </a:p>
            <a:p>
              <a:pPr algn="ctr"/>
              <a:r>
                <a:rPr lang="en-US" sz="1100" dirty="0">
                  <a:latin typeface="+mj-lt"/>
                </a:rPr>
                <a:t>Theory solvers/decision procedures</a:t>
              </a:r>
            </a:p>
            <a:p>
              <a:pPr algn="ctr"/>
              <a:endParaRPr lang="en-US" sz="1100" dirty="0">
                <a:latin typeface="+mj-lt"/>
              </a:endParaRPr>
            </a:p>
            <a:p>
              <a:pPr algn="ctr"/>
              <a:endParaRPr lang="en-US" sz="1100" dirty="0">
                <a:latin typeface="+mj-lt"/>
              </a:endParaRPr>
            </a:p>
            <a:p>
              <a:pPr algn="ctr"/>
              <a:endParaRPr lang="en-US" sz="1100" dirty="0">
                <a:latin typeface="+mj-lt"/>
              </a:endParaRPr>
            </a:p>
            <a:p>
              <a:pPr algn="ctr"/>
              <a:endParaRPr lang="en-US" sz="1100" dirty="0">
                <a:latin typeface="+mj-lt"/>
              </a:endParaRPr>
            </a:p>
            <a:p>
              <a:pPr algn="ctr"/>
              <a:endParaRPr lang="en-US" sz="1100" dirty="0">
                <a:latin typeface="+mj-lt"/>
              </a:endParaRPr>
            </a:p>
            <a:p>
              <a:pPr algn="ctr"/>
              <a:endParaRPr lang="en-US" sz="1100" dirty="0">
                <a:latin typeface="+mj-lt"/>
              </a:endParaRPr>
            </a:p>
            <a:p>
              <a:pPr algn="ctr"/>
              <a:endParaRPr lang="en-US" sz="1100" dirty="0">
                <a:latin typeface="+mj-lt"/>
              </a:endParaRPr>
            </a:p>
            <a:p>
              <a:pPr algn="ctr"/>
              <a:endParaRPr lang="en-US" sz="1100" dirty="0">
                <a:latin typeface="+mj-lt"/>
              </a:endParaRPr>
            </a:p>
            <a:p>
              <a:pPr algn="ctr"/>
              <a:endParaRPr lang="en-US" sz="1100" dirty="0">
                <a:latin typeface="+mj-lt"/>
              </a:endParaRPr>
            </a:p>
            <a:p>
              <a:pPr algn="ctr"/>
              <a:r>
                <a:rPr lang="en-US" sz="1100" dirty="0">
                  <a:latin typeface="+mj-lt"/>
                </a:rPr>
                <a:t> </a:t>
              </a:r>
            </a:p>
            <a:p>
              <a:endParaRPr lang="en-US" sz="1100" dirty="0">
                <a:latin typeface="+mj-lt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972C977-FAFA-6244-A6AE-4C297E8265B5}"/>
                </a:ext>
              </a:extLst>
            </p:cNvPr>
            <p:cNvSpPr txBox="1"/>
            <p:nvPr/>
          </p:nvSpPr>
          <p:spPr>
            <a:xfrm>
              <a:off x="1693893" y="2951000"/>
              <a:ext cx="1802525" cy="61368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latin typeface="+mj-lt"/>
                </a:rPr>
                <a:t>Arithmetic </a:t>
              </a:r>
            </a:p>
            <a:p>
              <a:pPr algn="ctr"/>
              <a:endParaRPr lang="en-US" sz="1100" dirty="0">
                <a:latin typeface="+mj-lt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9F8EE8D-FB15-FC4A-B8AC-5713C4075885}"/>
                </a:ext>
              </a:extLst>
            </p:cNvPr>
            <p:cNvSpPr txBox="1"/>
            <p:nvPr/>
          </p:nvSpPr>
          <p:spPr>
            <a:xfrm>
              <a:off x="1877825" y="3274166"/>
              <a:ext cx="1802525" cy="61368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1100" dirty="0" err="1">
                  <a:latin typeface="+mj-lt"/>
                </a:rPr>
                <a:t>Bitvectors</a:t>
              </a:r>
              <a:r>
                <a:rPr lang="en-US" sz="1100" dirty="0">
                  <a:latin typeface="+mj-lt"/>
                </a:rPr>
                <a:t> </a:t>
              </a:r>
            </a:p>
            <a:p>
              <a:endParaRPr lang="en-US" sz="1100" dirty="0">
                <a:latin typeface="+mj-lt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31CD58F-612B-EE47-9AF2-6F0345F86E73}"/>
                </a:ext>
              </a:extLst>
            </p:cNvPr>
            <p:cNvSpPr txBox="1"/>
            <p:nvPr/>
          </p:nvSpPr>
          <p:spPr>
            <a:xfrm>
              <a:off x="8759493" y="3458820"/>
              <a:ext cx="1802525" cy="854773"/>
            </a:xfrm>
            <a:prstGeom prst="rect">
              <a:avLst/>
            </a:prstGeom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endParaRPr lang="en-US" sz="1100" dirty="0">
                <a:latin typeface="+mj-lt"/>
              </a:endParaRPr>
            </a:p>
            <a:p>
              <a:pPr algn="ctr"/>
              <a:r>
                <a:rPr lang="en-US" sz="1100" dirty="0">
                  <a:latin typeface="+mj-lt"/>
                </a:rPr>
                <a:t>DPLL </a:t>
              </a:r>
            </a:p>
            <a:p>
              <a:endParaRPr lang="en-US" sz="1100" dirty="0">
                <a:latin typeface="+mj-lt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F03E7ED-CA18-0F42-BF7E-6A9C4FDFD777}"/>
                </a:ext>
              </a:extLst>
            </p:cNvPr>
            <p:cNvSpPr txBox="1"/>
            <p:nvPr/>
          </p:nvSpPr>
          <p:spPr>
            <a:xfrm>
              <a:off x="2093278" y="3597325"/>
              <a:ext cx="1802525" cy="61368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latin typeface="+mj-lt"/>
                </a:rPr>
                <a:t>Difference logic </a:t>
              </a:r>
            </a:p>
            <a:p>
              <a:endParaRPr lang="en-US" sz="1100" dirty="0">
                <a:latin typeface="+mj-lt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5318672-0404-9849-84CC-2AE4AD38C35A}"/>
                </a:ext>
              </a:extLst>
            </p:cNvPr>
            <p:cNvSpPr txBox="1"/>
            <p:nvPr/>
          </p:nvSpPr>
          <p:spPr>
            <a:xfrm>
              <a:off x="2308732" y="3920485"/>
              <a:ext cx="1802525" cy="61368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latin typeface="+mj-lt"/>
                </a:rPr>
                <a:t>…</a:t>
              </a:r>
            </a:p>
            <a:p>
              <a:pPr algn="ctr"/>
              <a:endParaRPr lang="en-US" sz="1100" dirty="0">
                <a:latin typeface="+mj-lt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F4033CC-0B03-2348-8BD5-C3F3D4593DA1}"/>
                </a:ext>
              </a:extLst>
            </p:cNvPr>
            <p:cNvSpPr txBox="1"/>
            <p:nvPr/>
          </p:nvSpPr>
          <p:spPr>
            <a:xfrm>
              <a:off x="2524186" y="4243639"/>
              <a:ext cx="1802525" cy="61368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latin typeface="+mj-lt"/>
                </a:rPr>
                <a:t>Uninterpreted functions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78E58EC-F4D9-6047-B996-DF1D811856A5}"/>
                </a:ext>
              </a:extLst>
            </p:cNvPr>
            <p:cNvSpPr txBox="1"/>
            <p:nvPr/>
          </p:nvSpPr>
          <p:spPr>
            <a:xfrm>
              <a:off x="5825449" y="3458820"/>
              <a:ext cx="1802525" cy="854773"/>
            </a:xfrm>
            <a:prstGeom prst="rect">
              <a:avLst/>
            </a:prstGeom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endParaRPr lang="en-US" sz="1100" dirty="0">
                <a:latin typeface="+mj-lt"/>
              </a:endParaRPr>
            </a:p>
            <a:p>
              <a:pPr algn="ctr"/>
              <a:r>
                <a:rPr lang="en-US" sz="1100" dirty="0">
                  <a:latin typeface="+mj-lt"/>
                </a:rPr>
                <a:t>Core </a:t>
              </a:r>
            </a:p>
            <a:p>
              <a:endParaRPr lang="en-US" sz="1100" dirty="0">
                <a:latin typeface="+mj-lt"/>
              </a:endParaRP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9B2570BB-9F16-BB4D-A822-AF6931DFFA10}"/>
                </a:ext>
              </a:extLst>
            </p:cNvPr>
            <p:cNvCxnSpPr/>
            <p:nvPr/>
          </p:nvCxnSpPr>
          <p:spPr>
            <a:xfrm flipH="1" flipV="1">
              <a:off x="3496419" y="2951000"/>
              <a:ext cx="2329030" cy="646325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7DC854EB-1CCF-7943-9F55-269ECF69EAF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93931" y="3274160"/>
              <a:ext cx="1131518" cy="323165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152CD124-F188-5B45-A38C-25F058EAF86B}"/>
                </a:ext>
              </a:extLst>
            </p:cNvPr>
            <p:cNvCxnSpPr>
              <a:cxnSpLocks/>
            </p:cNvCxnSpPr>
            <p:nvPr/>
          </p:nvCxnSpPr>
          <p:spPr>
            <a:xfrm>
              <a:off x="4693930" y="3525086"/>
              <a:ext cx="1131519" cy="332339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81874304-8E79-A144-85DE-87A8E1F06E1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93928" y="3983545"/>
              <a:ext cx="1131521" cy="392400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16A52B48-9509-CC44-8B67-1B84CFF4960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93929" y="4243639"/>
              <a:ext cx="1144802" cy="415495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3945CD6-46EB-D24B-A5F7-2D0DFF1292B8}"/>
                </a:ext>
              </a:extLst>
            </p:cNvPr>
            <p:cNvSpPr txBox="1"/>
            <p:nvPr/>
          </p:nvSpPr>
          <p:spPr>
            <a:xfrm>
              <a:off x="4780858" y="2674008"/>
              <a:ext cx="2320460" cy="8218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dirty="0">
                  <a:latin typeface="+mj-lt"/>
                </a:rPr>
                <a:t>literals/formula in </a:t>
              </a:r>
            </a:p>
            <a:p>
              <a:r>
                <a:rPr lang="en-US" sz="1050" dirty="0">
                  <a:latin typeface="+mj-lt"/>
                </a:rPr>
                <a:t>real arithmetic</a:t>
              </a:r>
            </a:p>
            <a:p>
              <a:endParaRPr lang="en-US" sz="1050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8C666C7-105C-074C-AF7B-035EB6A3CE79}"/>
                </a:ext>
              </a:extLst>
            </p:cNvPr>
            <p:cNvSpPr txBox="1"/>
            <p:nvPr/>
          </p:nvSpPr>
          <p:spPr>
            <a:xfrm>
              <a:off x="4697053" y="4659119"/>
              <a:ext cx="1561587" cy="6136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dirty="0">
                  <a:latin typeface="+mj-lt"/>
                </a:rPr>
                <a:t>solution or </a:t>
              </a:r>
            </a:p>
            <a:p>
              <a:r>
                <a:rPr lang="en-US" sz="1050" dirty="0">
                  <a:latin typeface="+mj-lt"/>
                </a:rPr>
                <a:t>counterexample</a:t>
              </a:r>
              <a:endParaRPr lang="en-US" sz="1050" dirty="0"/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D211E7A2-8997-5749-9086-FA9F8295EEC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27974" y="3658879"/>
              <a:ext cx="1131518" cy="0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D6E2BBAC-8D0A-744D-8944-12AB7E6612A4}"/>
                </a:ext>
              </a:extLst>
            </p:cNvPr>
            <p:cNvCxnSpPr>
              <a:cxnSpLocks/>
            </p:cNvCxnSpPr>
            <p:nvPr/>
          </p:nvCxnSpPr>
          <p:spPr>
            <a:xfrm>
              <a:off x="7627975" y="4151319"/>
              <a:ext cx="1131517" cy="2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95B03CD-2103-4543-9945-57D3F2E45E6D}"/>
                </a:ext>
              </a:extLst>
            </p:cNvPr>
            <p:cNvSpPr txBox="1"/>
            <p:nvPr/>
          </p:nvSpPr>
          <p:spPr>
            <a:xfrm>
              <a:off x="7627975" y="2627823"/>
              <a:ext cx="1802524" cy="8218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 err="1">
                  <a:latin typeface="+mj-lt"/>
                </a:rPr>
                <a:t>boolean</a:t>
              </a:r>
              <a:r>
                <a:rPr lang="en-US" sz="1050" dirty="0">
                  <a:latin typeface="+mj-lt"/>
                </a:rPr>
                <a:t> skeleton of problem</a:t>
              </a:r>
              <a:endParaRPr lang="en-US" sz="1050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2FC36D0-B056-644B-AEA7-FF21794AC91B}"/>
                </a:ext>
              </a:extLst>
            </p:cNvPr>
            <p:cNvSpPr txBox="1"/>
            <p:nvPr/>
          </p:nvSpPr>
          <p:spPr>
            <a:xfrm>
              <a:off x="7627973" y="4382150"/>
              <a:ext cx="1131518" cy="3725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+mj-lt"/>
                </a:rPr>
                <a:t>assertions</a:t>
              </a:r>
              <a:endParaRPr lang="en-US" sz="1050" dirty="0"/>
            </a:p>
          </p:txBody>
        </p:sp>
      </p:grpSp>
    </p:spTree>
    <p:extLst>
      <p:ext uri="{BB962C8B-B14F-4D97-AF65-F5344CB8AC3E}">
        <p14:creationId xmlns:p14="http://schemas.microsoft.com/office/powerpoint/2010/main" val="3696330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13313</TotalTime>
  <Words>2173</Words>
  <Application>Microsoft Macintosh PowerPoint</Application>
  <PresentationFormat>Widescreen</PresentationFormat>
  <Paragraphs>333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Calibri Light</vt:lpstr>
      <vt:lpstr>Cambria Math</vt:lpstr>
      <vt:lpstr>Office Theme</vt:lpstr>
      <vt:lpstr>Satisfiability Modulo Theories</vt:lpstr>
      <vt:lpstr>Review</vt:lpstr>
      <vt:lpstr>Satisfiability modulo theories</vt:lpstr>
      <vt:lpstr>What is a theory in mathematical logic? </vt:lpstr>
      <vt:lpstr>Architecture of an SMT solver</vt:lpstr>
      <vt:lpstr>Building up a theory</vt:lpstr>
      <vt:lpstr>Terms to Formulas</vt:lpstr>
      <vt:lpstr>Models for theories</vt:lpstr>
      <vt:lpstr>Example theories</vt:lpstr>
      <vt:lpstr>Decision procedures</vt:lpstr>
      <vt:lpstr>Example decision procedure 2: Uninterpreted functions (UF)</vt:lpstr>
      <vt:lpstr>Example decision procedure 2: Uninterpreted functions (UF)</vt:lpstr>
      <vt:lpstr>Example decision procedure 1: Difference logic</vt:lpstr>
      <vt:lpstr>PowerPoint Presentation</vt:lpstr>
      <vt:lpstr>PowerPoint Presentation</vt:lpstr>
      <vt:lpstr>PowerPoint Presentation</vt:lpstr>
      <vt:lpstr>Decision Procedure for Difference Logic(DL)</vt:lpstr>
      <vt:lpstr>DPLLT:DPLL modulo theories</vt:lpstr>
      <vt:lpstr>DPLLT:DPLL modulo theories</vt:lpstr>
      <vt:lpstr>Return to SMT</vt:lpstr>
      <vt:lpstr>DPLL for SMT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Mitra, Sayan</cp:lastModifiedBy>
  <cp:revision>75</cp:revision>
  <cp:lastPrinted>2019-09-03T19:32:40Z</cp:lastPrinted>
  <dcterms:created xsi:type="dcterms:W3CDTF">2017-09-10T19:42:11Z</dcterms:created>
  <dcterms:modified xsi:type="dcterms:W3CDTF">2025-09-09T19:25:18Z</dcterms:modified>
</cp:coreProperties>
</file>