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24" r:id="rId2"/>
    <p:sldId id="389" r:id="rId3"/>
    <p:sldId id="558" r:id="rId4"/>
    <p:sldId id="390" r:id="rId5"/>
    <p:sldId id="1258" r:id="rId6"/>
    <p:sldId id="946" r:id="rId7"/>
    <p:sldId id="1254" r:id="rId8"/>
    <p:sldId id="1255" r:id="rId9"/>
    <p:sldId id="1256" r:id="rId10"/>
    <p:sldId id="397" r:id="rId11"/>
    <p:sldId id="399" r:id="rId12"/>
    <p:sldId id="400" r:id="rId13"/>
    <p:sldId id="945" r:id="rId14"/>
    <p:sldId id="398" r:id="rId15"/>
    <p:sldId id="401" r:id="rId16"/>
    <p:sldId id="402" r:id="rId17"/>
    <p:sldId id="571" r:id="rId18"/>
    <p:sldId id="291" r:id="rId19"/>
    <p:sldId id="277" r:id="rId20"/>
    <p:sldId id="290" r:id="rId21"/>
    <p:sldId id="1259" r:id="rId22"/>
    <p:sldId id="289" r:id="rId23"/>
    <p:sldId id="279" r:id="rId24"/>
    <p:sldId id="56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613"/>
    <p:restoredTop sz="89866"/>
  </p:normalViewPr>
  <p:slideViewPr>
    <p:cSldViewPr showGuides="1">
      <p:cViewPr varScale="1">
        <p:scale>
          <a:sx n="87" d="100"/>
          <a:sy n="87" d="100"/>
        </p:scale>
        <p:origin x="46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18:34:27.071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28716 6085 24575,'0'44'0,"0"-1"0,0-8 0,0 2 0,0 4 0,0-2 0,0 4 0,0 2 0,0 2 0,0 1-469,0-7 1,0 2 0,0 0 0,0 2 0,0 1 0,0 1 0,0 1 140,0-6 0,0 1 0,0 1 1,0 0-1,0 2 0,0 0 1,0 0-1,0 1 0,0-1 1,0 1 29,0-1 0,0-1 0,0 1 0,0 1 0,-1-1 0,1 1 0,0 0 0,0 1 1,0 0-1,1-1 0,-1 2 36,1-2 0,0 0 0,0 2 1,1-1-1,-1 1 0,1-1 1,-1 1-1,1 0 0,-1 0 0,1-1 1,-1 1-1,0-1 174,-1-2 0,1 1 0,-1-1 0,-1 1 0,1-1 0,0 0 0,0 0 0,0 0 0,0 0 0,1 0 1,0 0-1,1 0 88,0 4 0,2 0 0,0 0 0,1 0 0,-1 0 0,1 0 0,1 0 0,-2-1 0,1 0 0,-1 0 0,0-1-188,-1 2 1,-1 0 0,0-1 0,0 0 0,0 0 0,-1 0 0,1-1 0,1-1 0,0 0 0,0-1 187,2 6 0,1-1 0,0-1 0,1-1 0,0 0 0,0-1 0,0 0 0,-1-1 110,1 2 1,-1 0-1,0 0 1,0-2-1,0 0 1,0-1-1,0-2-110,0 1 0,0-1 0,0-1 0,0-1 0,1-2 0,0-1 506,3 9 1,2-3 0,-1-2 0,-1 2-507,-4-2 0,-2 1 0,0-1 0,1-3 1092,6 1 0,1-3 0,-3 1-1063,-7 0 1,-3 0 0,4-4 1608,12 3 0,1-3-1083,-14 5 0,0-6 256,14-10 1,-16 7 0,0-31 0</inkml:trace>
  <inkml:trace contextRef="#ctx0" brushRef="#br0" timeOffset="1473">25382 10125 24575,'50'-3'0,"-1"0"0,1 0 0,-1 0 0,1 0 0,-1 0 0,1 0 0,-1 0 0,-9 0 0,2 0 0,0-1 0,1 0 0,2 0 0,0 0 0,2-1 0,0 1 0,1-1 0,0 0 0,1 1 0,1-1 0,0 0 0,1 1 0,0-1 0,0 1-143,-7 0 1,0 0-1,1 1 1,0-1-1,1 1 1,0-1-1,1 0 1,0 1-1,1-1 1,0 1-1,0-1 1,1 0-1,0 1 1,0-1 0,1 0-1,-1 0 1,1 1-1,0-1 1,0 0-1,0 0 1,1 0-1,-1 0 1,0-1 20,-2 1 1,-1 0-1,1 0 1,1-1 0,-1 1-1,1-1 1,0 1 0,1-1-1,-1 0 1,1 0 0,0 0-1,0 0 1,0 0-1,0 1 1,0-1 0,1 0-1,-1 0 1,0 0 0,0 1-1,0-1 1,0 1 0,0-1-1,-1 1 1,0 0 0,1 0-1,-2 0 1,1 1-11,1-1 1,1 1 0,-1 0 0,0-1 0,1 1 0,-1 0 0,1 0 0,-1 0 0,0 1 0,0-1 0,0 0 0,0 1 0,0-1 0,0 1-1,-1 0 1,0-1 0,0 1 0,0 0 0,0-1 0,-1 1 0,0 0 0,0-1 0,-1 1 0,0 0 0,0-1-33,4 1 0,1-1 0,-1 0 0,0 0 0,0 0 0,0 0 1,-1 1-1,0-1 0,0 0 0,-1 0 0,0 1 0,0-1 1,-1 1-1,0-1 0,-1 1 0,0 0 0,0 0 0,-1 0 1,0 1-1,-1-1 80,5 1 1,0 0 0,0 0 0,-1 0 0,0 0 0,-1 0 0,-1 1 0,0 0 0,0-1 0,-2 1 0,1 0-1,-2 0 1,0 0 0,-1 0 0,-1-1 83,9 1 0,-1 0 0,-1 0 0,-1 0 0,-1 0 0,-1 0 0,-1 0 0,-1 0 0,-1 0 0,-1 0-110,5 0 0,-1 0 0,-1 0 0,-1 0 0,-2 0 0,-2 0 0,0 0 110,12 0 0,-2 0 0,-3 0 0,-4 0 884,-4 0 0,-4 0 0,-1 0-884,7 0 0,-8 0 3276,-13 0-2586,-5 0 2586,-15 0-2392,0 0 1,0 0 0</inkml:trace>
  <inkml:trace contextRef="#ctx0" brushRef="#br0" timeOffset="8283">24818 6421 24575,'0'19'0,"0"13"0,0-13 0,-1 6 0,2 1 0,15 13 0,-11-6 0,1 1 0,10-6 0,2-1 0,-4 3 0,-1 2 0,4 11 0,1-1 0,0-8 0,0-2 0,-1 4 0,1-1 0,-1-1 0,1-1 0,0-9 0,0-1 0,-1 3 0,1 1 0,-1 3 0,1-2 0,0-8 0,-1 0 0,-3 13 0,0 0 0,2-13 0,1-1 0,-3 15 0,0-1 0,4-13 0,-1-1 0,-7 10 0,-1 1 0,7-4 0,0 1 0,-6 4 0,-1 1 0,8 3 0,2 0 0,-2-7 0,1-1 0,-1 8 0,1-3 0,17-1 0,-21 1 0,0 1 0,10-10 0,1 1 0,-10 10 0,1 2 0,16 0 0,3-1 0,-7-3 0,-1-1 0,0-5 0,1 1 0,5 2 0,0 0 0,-9-1 0,-1-1 0,11 1 0,1-1 0,-3-1 0,-1-1 0,-4-7 0,1-1 0,-3 1 0,0 0 0,1 0 0,-1-1 0,15 2 0,3-3 0,-26-16 0,7 0 0,-20 0 0,27 0 0,-11 0 0,15-16 0,-10 7 0,1-1 0,2-7 0,-1-1 0,1 1 0,-1-2 0,0-5 0,-3-3 0,3-12 0,-18 6 0,0 0 0,2 9 0,1 0 0,-2-9 0,0-2 0,7 3 0,1 1 0,-7 4 0,-2-1 0,-1 3 0,-1-1 0,2 0 0,-2 1 0,-3-14 0,12-4 0,-1 10 0,-11 5 0,12-7 0,-16 15 0,0 5 0,0 15 0,0-16 0,16-4 0,3-15 0,17 16 0,-17-13 0,13 28 0,-29-11 0,29 15 0,-28 0 0,11 0 0,-7 15 0,10 5 0,9 15 0,9-15 0,-1 11 0,0-11 0,-15 15 0,11 0 0,-27-15 0,27 3 0,-27-5 0,12 10 0,0 7 0,-12 0 0,27 0 0,-27 1 0,12-1 0,-1 0 0,-11-15 0,12 11 0,-8-19 0,-6 21 0,21-5 0,-19 7 0,27-15 0,-27 11 0,28-12 0,-13 1 0,1 11 0,11-11 0,-27 0 0,28 11 0,-29-27 0,29 27 0,-28-11 0,27-1 0,-27 5 0,27-22 0,-27 21 0,28-3 0,-5 15 0,-10-17 0,3 0 0,9 0 0,1-1 0,-3 1 0,1-1 0,14 2 0,2-3 0,-10-6 0,-1 0 0,1 7 0,0-3 0,-4-12 0,-1 0 0,-1 14 0,-1 0 0,1-14 0,-1 0 0,-1 6 0,-1-1 0,1-6 0,-1-2 0,14 1 0,4 0 0,-9-15 0,9 11 0,-24-11 0,1-2 0,12 7 0,3 1 0,-8-7 0,0-4 0,9-5 0,-1-1 0,-11 7 0,-1-1 0,3-5 0,-3-1 0,4-9 0,-2 14 0,1-1 0,-6-4 0,0-1 0,6-4 0,-1-1 0,-7-2 0,-1-2 0,0 0 0,1 1 0,0 4 0,-1-1 0,2-1 0,-2-2 0,-4-4 0,1-1 0,10 3 0,1 0 0,-10-7 0,1 2 0,17 10 0,1 1 0,-14-3 0,-1-1 0,3 9 0,2 1 0,-3-2 0,-1-10 0,-1 0 0,-2 8 0,0 0 0,0 0 0,5-10 0,-1 0 0,-2 3 0,-1-1 0,3-1 0,2-2 0,-7 11 0,2 0 0,-2 1 0,4-6 0,0 1 0,5-10 0,1 2 0,-8 17 0,-1 1 0,1-9 0,-1-3 0,1 0 0,-1 0 0,-3-1 0,0-3 0,2 4 0,1-3 0,-1 1-427,-1-8 0,1-2 427,4 5 0,4-2 0,-1 1 0,-5 8 0,0 2 0,1-1 0,4-6 0,1 0 0,-1 1 0,-2 5 0,0 2 0,0 0 0,2-1 0,0 0 0,0 1 0,-2 2 0,-1 1 0,1-1 0,3-1 0,0-1 0,-1 1-118,4-6 0,1 0 118,-6 8 0,1 0 0,-2 1 0,0-5 0,-2 3 0,-1 3 0,-1 1 0,6-17 0,-5 23 0,-6-11 0,4 27 0,-16-12 0</inkml:trace>
  <inkml:trace contextRef="#ctx0" brushRef="#br0" timeOffset="11766">29563 5009 24575,'0'26'0,"0"-1"0,-1 10 0,2 1 0,6 1 0,1 0 0,-7 11 0,2-1 0,13-11 0,0 0 0,-10 5 0,-1-4 0,13 3 0,-10 7 0,-8-43 0,0 11 0,16-15 0,-12 0 0,11-15 0,-15-21 0,16-3 0,-15 6 0,2-1 0,12 10 0,1 1 0,-6-3 0,0 0 0,7-5 0,1 3 0,2-11 0,-3 13 0,-3 1 0,-10-11 0,12 17 0,-16-13 0,0 28 0,0-11 0</inkml:trace>
  <inkml:trace contextRef="#ctx0" brushRef="#br0" timeOffset="13610">29422 10566 24575,'43'0'0,"0"0"0,-7 0 0,3 0 0,0 0 0,2 0 0,2 0 0,0 0-572,4 0 0,0 0 0,0 0 572,-5 0 0,0 0 0,-2 0 0,10 0 0,-2 0 277,-12 0 1,-2 0-278,-6 0 0,-5 0 0,-3 0 0,-5 0 0</inkml:trace>
  <inkml:trace contextRef="#ctx0" brushRef="#br0" timeOffset="14606">30798 10372 24575,'15'35'0,"5"8"0,3-9 0,5 1 0,0-3 0,-1 2 0,-8 10 0,1-1 0,4-15 0,-1-2 0,-13 1 0,-1-3 0,11-4 0,-4-4 0,-16-16 0</inkml:trace>
  <inkml:trace contextRef="#ctx0" brushRef="#br0" timeOffset="16440">30762 10866 24575,'16'-28'0,"4"-5"0,-1 5 0,12-7 0,-27 15 0,28 5 0,-28 15 0,11 0 0,-15-16 0,16-3 0,-12-1 0,27-11 0,-27 27 0,12-12 0,-16 0 0,0 12 0,16-11 0,-13 15 0,13 0 0,0-16 0,-12 12 0,27-27 0,-27 27 0,12-12 0,-16 0 0,0 13 0,0-13 0,0 8 0,0 6 0,8-6 0,-6-7 0,5 11 0,-7-12 0,0 16 0,0 0 0</inkml:trace>
  <inkml:trace contextRef="#ctx0" brushRef="#br0" timeOffset="20833">28240 8079 24575,'19'0'0,"-3"0"0,0 0 0,3 0 0,17 0 0,-1 0 0,0 0 0,1 0 0,-17 0 0,12 0 0,-19 0 0,6 0 0,5 0 0,-19 0 0,28 0 0,-13 0 0,1 0 0,11 0 0,-11 0 0,-1 0 0,13 0 0,-28 0 0,27 0 0,-11 0 0,-1 0 0,13 0 0,-13 0 0,1 0 0,3 0 0,-21 0 0,22 0 0,-20 0 0,11-16 0,17 12 0,-9-12 0,2 15 0,1 2 0,10-1 0,-1 0 0,-16 0 0,13 0 0,-28 0 0,11 0 0,1 0 0,11 0 0,11 0 0,-10 0 0,3 0 0,-4 0 0,0 0 0,0 0 0,1 0 0,6 0 0,-1 0 0,6 0 0,-9 0 0,-1 0 0,8 0 0,6 0 0,-7 0 0,-1 0 0,-16 0 0,13 0 0,-13 0 0,17 0 0,-1 0 0,0 0 0,0 0 0,-7 0 0,-10 0 0,5 0 0,-3 0 0,-1 0 0,-3 0 0,-16 0 0,16 0 0,3 0 0,6 1 0,1-2 0,13-14 0,-12 13 0,-3 0 0,-4-14 0,11 16 0,-27 0 0,12 0 0</inkml:trace>
  <inkml:trace contextRef="#ctx0" brushRef="#br0" timeOffset="23940">30709 7743 24575,'0'26'0,"0"-1"0,0 22 0,0-5 0,0 1 0,0-10 0,0 0 0,0 10 0,0 1 0,0-8 0,0-2 0,0 13 0,0-14 0,0-1 0,0-1 0,0-5 0,0-1 0,0 10 0,0 1 0,0-17 0,0-3 0,0-16 0,0 0 0,0-16 0,0-3 0,0-1 0,0-11 0,0 11 0,0-15 0,0-8 0,0 6 0,0-7 0,0 9 0,16 0 0,-12 0 0,12-1 0,-16 17 0,0-13 0,7 28 0,-5-11 0,22-1 0,-20 12 0,27-11 0,-11 15 0,-1-16 0,13 12 0,-28-12 0,11 16 0,1 0 0,-12 0 0,27 0 0,-11 0 0,15 0 0,-15 0 0,11 16 0,-27-12 0,12 12 0,-16-1 0,0-11 0,0 12 0,0-1 0,0-11 0,0 12 0,0 0 0,0-12 0,0 11 0,0 1 0,0-12 0,0 12 0,-16-16 0,12 0 0,-12 0 0,16 0 0,0 15 0,-15-11 0,11 12 0,-28-16 0,29 0 0,-29 16 0,28-13 0,-11 13 0,15-16 0,-16 0 0,12 0 0,-27 0 0,27 0 0,-12 0 0,0 0 0,12 0 0,-11 0 0,-1 0 0,-3 0 0,-1 0 0,-4 0 0,22 0 0,-21 0 0,19 0 0,-12 0 0,16 0 0,0-16 0,-15 13 0,11-13 0,-12 16 0</inkml:trace>
  <inkml:trace contextRef="#ctx0" brushRef="#br0" timeOffset="28573">25224 8149 24575,'9'0'0,"15"0"0,-4 0 0,15 0 0,-10 0 0,1 0 0,13 0 0,-6 0 0,1 0 0,5 0 0,4 0 0,-10 0 0,-5-16 0,7 13 0,0-13 0,-15 16 0,11 0 0,-11 0 0,15 0 0,-15 0 0,11 0 0,-11 0 0,15 0 0,8 0 0,-6-16 0,6 12 0,-7-11 0,-1 15 0,0 0 0,0 0 0,1 0 0,-1-16 0,0 12 0,-7-12 0,-11 16 0,7 0 0,-4 0 0,-1 0 0,12 0 0,-11 0 0,15 0 0,-15 0 0,11 0 0,-11 0 0,15 0 0,0-15 0,-15 11 0,11-12 0,-19 16 0,6 0 0,5 0 0,-3 0 0,15 0 0,-15 0 0,11 0 0,-27 0 0,27 0 0,-11 0 0,15 0 0,1 0 0,-11 0 0,1 0 0,5 0 0,18 0 0,-37 0 0,19 0 0,-11 0 0,-1 0 0,13 0 0,-29 0 0,29 0 0,-28 0 0,27 0 0,-27 0 0,27 0 0,-27 0 0,12 0 0,0 0 0,-12 0 0,27 0 0,-27 0 0,27 0 0,-19 0 0,21 0 0,-21 0 0,4 0 0,-1 0 0,5 0 0,0 0 0,27 0 0,-24 0 0,2 0 0,1 0 0,9 0 0,1 0 0,-1 0 0,-8 0 0,7 0 0,-7 0 0,8 0 0,1 16 0,-17-12 0,13 11 0,-13-15 0,17 0 0,-17 16 0,13-12 0,-13 12 0,16-16 0,-7 15 0,5-11 0,-5 12 0,7-16 0,0 16 0,-15-13 0,11 13 0,-11-16 0,15 0 0,-15 0 0,-5 0 0,-15 0 0</inkml:trace>
  <inkml:trace contextRef="#ctx0" brushRef="#br0" timeOffset="31783">25647 8237 24575,'0'36'0,"0"-1"0,0 0 0,0-9 0,0-1 0,0 14 0,0-14 0,0 1 0,0 0 0,0-1 0,0 22 0,0-21 0,0 1 0,0 3 0,0-1 0,0 10 0,7-13 0,2-1 0,-5 10 0,11 1 0,-15-1 0,0 0 0,0 8 0,16-5 0,-12 5 0,12-8 0,-16 0 0,0-9 0,0-1 0,0 14 0,-2-13 0,4-1 0,13 11 0,-11 7 0,4-17 0,0 1 0,-7 4 0,-2 0 0,0-3 0,2-1 0,6 7 0,1-1 0,-6-5 0,0-1 0,14 20 0,-7-14 0,-2-1 0,-3-1 0,4-6 0,-1 1 0,-7 9 0,0-15 0,0 11 0,0-11 0,0 15 0,0 0 0,16 1 0,-12 7 0,27-6 0,-28-8 0,-2 1 0,15 9 0,-16-13 0,0-1 0,16 10 0,-13-15 0,13 11 0,-16-27 0,0 12 0</inkml:trace>
  <inkml:trace contextRef="#ctx0" brushRef="#br0" timeOffset="34241">26864 8114 24575,'0'19'0,"0"-3"0,0 16 0,0-17 0,0 16 0,0 3 0,0-3 0,0-6 0,0 1 0,-1 0 0,2-1 0,15 14 0,-14-13 0,0-1 0,13 11 0,-15 7 0,0-6 0,16 6 0,-12-8 0,4-9 0,0-1 0,-8 14 0,0-13 0,0-1 0,0 11 0,-2-10 0,4-1 0,13 6 0,-11 18 0,12-22 0,-16 9 0,0-11 0,0 1 0,0 13 0,-2-6 0,4 1 0,14 5 0,-14-10 0,-1 1 0,8-4 0,-2 0 0,-7 21 0,0-21 0,0-1 0,0 11 0,0-1 0,16 0 0,-12 1 0,11-17 0,-15 13 0,0-13 0,0 9 0,0 5 0,8 10 0,-6-4 0,2-13 0,0-1 0,-4 10 0,0 1 0,0-17 0,0 13 0,0-28 0,0 27 0,0-27 0,0 27 0,16-27 0,-12 12 0,11-8 0,-15-6 0,0 5 0</inkml:trace>
  <inkml:trace contextRef="#ctx0" brushRef="#br0" timeOffset="36733">27376 8114 8191,'-20'0'0,"4"16"3276,16 3-1489,0 16 1031,0 9-2818,0-7 859,-1-8 1,2 1-860,15 9 1638,-14-7 0,0 2 0,5-6 0,2-1-1522,-1 1 0,-1-1-116,-5 3 0,0-1 0,14 8 0,-11-8 0,-2 1 0,-1 9 0,2-5 0,-1-1 0,-3 6 0,-1-13 0,2-1 0,15 10 0,-12-7 0,4-4 0,0 1 0,-8 6 0,0-6 0,0 1 0,0 9 0,-1-9 0,2-1 0,14 14 0,-12-6 0,-2 1 0,15 13 0,-16-13 0,0 1 0,8-4 0,0 0 0,-6 5 0,0-1 0,6-7 0,-1-1 0,-7 7 0,0-1 0,16-2 0,-12 2 0,12-9 0,-16-5 0,0 1 0,0 11 0,0-11 0,0 15 0,0 0 0,15-15 0,-11 11 0,12-11 0,-16 15 0,0 1 0,0-17 0,0 5 0,0-22 0,0 21 0,0-19 0,16 27 0,-13-27 0,13 28 0,-16-28 0,0 11 0,0-15 0</inkml:trace>
  <inkml:trace contextRef="#ctx0" brushRef="#br0" timeOffset="38943">29316 8149 24575,'0'32'0,"0"-1"0,0 10 0,0 2 0,-1-2 0,2 0 0,3-6 0,3 2 0,-2-3 0,-4 8 0,1-1 0,7-8 0,3 1 0,-1-1 0,-1 7 0,-1 2 0,-2-7 0,-2 1 0,3-1 0,9 6 0,-3 0 0,-11 2 0,-2-2 0,6-9 0,2-1 0,0 5 0,-2-1 0,-5-8 0,0 0 0,4 7 0,3-1 0,7 14 0,-14-20 0,0-1 0,14 17 0,-16-8 0,0 1 0,0-1 0,7-10 0,1 1 0,-4 13 0,4-14 0,0 1 0,-8 17 0,15-6 0,-13-7 0,0-1 0,14 10 0,-15-5 0,-2-1 0,1 6 0,0-3 0,16-5 0,-12-11 0,11-1 0,-15-3 0,0-16 0,0 0 0,0 0 0</inkml:trace>
  <inkml:trace contextRef="#ctx0" brushRef="#br0" timeOffset="43433">25894 10301 24575,'45'0'0,"-15"0"0,-1 0 0,10 0 0,-6 0 0,1 0 0,5 0 0,-6 0 0,0 0 0,7 0 0,-11 0 0,0 0 0,9 0 0,5 0 0,-24 0 0,13 0 0,-13 0 0,17 0 0,-1 0 0,0 0 0,0 0 0,1 0 0,-17 0 0,21 0 0,-19 0 0,7 0 0,3 0 0,-12 0 0,17 0 0,-1-16 0,-15 13 0,11-13 0,-27 16 0,12 0 0,-1 0 0,-11 0 0,12 0 0,0-16 0,3 12 0,1-11 0,3 15 0,-21 0 0,6-16 0,-8 12 0,-8-12 0,6 16 0,-6 0 0,8 0 0,0-15 0,0 11 0,0-12 0,-15 0 0,11 12 0,-12-27 0,16 27 0,0-12 0,0 16 0,0-7 0,-16 5 0,13-6 0,-13 8 0,0 0 0,-19 8 0,9-8 0,-3 2 0,-13 8 0,-2 3 0,-4-3 0,-2 0 0,14-4 0,0 0 0,0 1 0,3 4 0,0 1 0,1-3 0,-16-7 0,2 0 0,9 6 0,1-1 0,5-6 0,0-2 0,-4 1 0,3 0 0,-7 0 0,4 0 0,3 0 0,13 0 0,-1 0 0,4 0 0,16 0 0,16 0 0,7 0 0,5 0 0,14 0 0,6 0 0,-6 5 0,3 1 0,1-1-344,-7-3 0,1-2 1,1 0-1,-2 2 344,10 3 0,-1 1 0,0-1 0,0-4 0,-1-2 0,-3 1 0,7 0 0,-4 0 0,-9 0 0,-5 0 0,2 0 0,-35 0 0,-4 0 0,-27 0 1375,-4 0-1375,2-1 0,-5 2 0,-9 5 0,-4 3-362,11-2 1,-1-1-1,-1 1 362,-3-1 0,0 0 0,1 1 0,4 4 0,1 1 0,1-3 0,2-7 0,0-2 0,4 2 0,-1 6 0,3-1 0,4-6 0,1-2 0,-10 1 0,0 0 0,-1-15 1085,1 11-1085,8-28 0,-7 29 0,7-13 0,-8 16 0,15 0 0,4 0 0,16 0 0</inkml:trace>
  <inkml:trace contextRef="#ctx0" brushRef="#br0" timeOffset="47483">27711 10231 24575,'31'0'0,"0"0"0,11 0 0,1 0 0,-3 0 0,2 0 0,-8 0 0,2 0 0,0 0 0,13 0 0,0 0 0,-4 0 0,-2 0 0,-11 0 0,-1 0 0,3 0 0,-2 0 0,8 0 0,-7 0 0,0 0 0,-1 0 0,17 0 0,-6 0 0,-4 0 0,-13-8 0,-1 0 0,10 4 0,-10-4 0,1 0 0,13 8 0,-9 0 0,-1 0 0,8 0 0,6 0 0,-7-15 0,-11 13 0,1 0 0,13-14 0,-6 15 0,0 2 0,7-1 0,-11-7 0,0-2 0,9 5 0,5-11 0,-24 15 0,13 0 0,-13 0 0,1 0 0,11 0 0,-11-16 0,15 12 0,-15-12 0,11 16 0,-27 0 0,27 0 0,-27 0 0,12 0 0,0 0 0,-5 0 0,23 0 0,-22-7 0,19 5 0,-27-6 0,12 8 0,-16 0 0,-16 0 0,-4 0 0,1 0 0,-5 0 0,6 0 0,-25-16 0,4 12 0,14-10 0,-1-3 0,0 7 0,1 0 0,-14-9 0,5 11 0,1 0 0,2-8 0,-18 12 0,6-11 0,16 14 0,-1 2 0,-7-1 0,0 0 0,-1 0 0,1 0 0,-4-1 0,0 2 0,3 6 0,-1 1 0,-9-6 0,-2 0 0,3 14 0,0 0 0,-4-14 0,0 0 0,4 13 0,2 1 0,2-14 0,3 0 0,10 6 0,1 0 0,2-8 0,-1 0 0,1 0 0,-1 0 0,-13 0 0,-4 0 0,10 0 0,5 0 0,-7 0 0,0 0 0,10 0 0,-1 0 0,-13 0 0,5 0 0,1 0 0,-6 0 0,-4 0 0,9 0 0,7 0 0,7 0 0,-11 0 0,27 0 0,-27 0 0,27 0 0,-28 0 0,13 0 0,-16 0 0,-1 0 0,17 0 0,19 0 0,51 0 0,-16 0 0,4 0 0,-3 0 0,3 0 0,0 0-247,2 0 0,0 0 1,0 0 246,-1 0 0,-1 0 0,0 0 0,-1 0 0,0 0 0,0 0 0,-3 0 0,0 0 0,-2 0 0,9 0 0,-1 0 0,2 0 0,0 0 0,-7 0 0,-1 0 0,-4 0 0,0 0 0,-4 0 0,-1 0 0,4 0 0,-1 0 740,10 0-740,-6 0 0,1 0 0,5 0 0,-5 0 0,-1 0 0,-2 0 0,18 0 0,-6 0 0,-4 0 0,-13 0 0,-1 0 0,11 0 0,-1 0 0,0 0 0,0 0 0,1 0 0,-9 0 0,6 0 0,-5 0 0,7 0 0,0 0 0,1 0 0,-1 0 0,0 0 0,1 0 0,-1 0 0,-16 0 0,-3 0 0,0 0 0,-12 0 0,19 0 0,-21-16 0,22 12 0,-20-12 0,11 16 0</inkml:trace>
  <inkml:trace contextRef="#ctx0" brushRef="#br0" timeOffset="49450">24783 10777 24575,'0'43'0,"0"-17"0,0 1 0,0 4 0,0 1 0,0 4 0,0-1 0,-1-7 0,2-1 0,6-1 0,1-1 0,-4 2 0,12-9 0,-16 5 0,16-19 0,-12 27 0,11-27 0,-15 12 0,0-16 0,8 0 0,10 0 0,9 0 0,-3 0 0,3 0 0,0 0 0,1 0 0,0 0 0,-1 0 0,0 2 0,-3-4 0,-5-14 0,13 12 0,-28-11 0,11 15 0,-15 0 0,0 0 0</inkml:trace>
  <inkml:trace contextRef="#ctx0" brushRef="#br0" timeOffset="50857">25224 11077 24575,'0'43'0,"0"-17"0,0 1 0,-1 5 0,2-1 0,2-3 0,1-1 0,-3-1 0,0-1 0,7 10 0,8 0 0,-12-15 0,12 11 0,-16-11 0,0 0 0,0-5 0,0-15 0</inkml:trace>
  <inkml:trace contextRef="#ctx0" brushRef="#br0" timeOffset="53077">25241 11148 24575,'0'-20'0,"0"5"0,0 15 0,0-16 0,0 12 0,0-12 0,0 16 0,0 0 0,16 0 0,-12 0 0,27 0 0,-27 0 0,27 0 0,-27 0 0,28 16 0,-13-12 0,1 27 0,-4-27 0,-1 20 0,-11-22 0,12 21 0,-16-19 0,0 12 0,0-1 0,0-11 0,0 12 0,0 0 0,0-12 0,0 27 0,0-27 0,0 12 0,0-16 0,-16 15 0,12-11 0,-11 12 0,-1-16 0,12 0 0,-12 15 0,1-11 0,11 12 0,-12-16 0,16 0 0,-16 0 0,12 0 0,-27 0 0,27 0 0,-27 0 0,27 0 0,-12 0 0,16 0 0</inkml:trace>
  <inkml:trace contextRef="#ctx0" brushRef="#br1" timeOffset="60618">27975 8855 24575,'20'0'0,"-4"0"0,-16 0 0,15 0 0,-11 0 0,28 0 0,-29 0 0,29 0 0,-13 0 0,1 0 0,-4 0 0,-8 0 0,9 0 0,11 0 0,-3 1 0,1-2 0,13-15 0,-13 15 0,-1-2 0,-6-13 0,13 16 0,-28 0 0,27 0 0,-27 0 0,27 0 0,-11 0 0,7 0 0,-9 0 0,5 0 0,-19 0 0,28 0 0,-13 0 0,17 0 0,-1 0 0,0 0 0,0 0 0,-15 0 0,11 0 0,-11 0 0,15 0 0,-15 0 0,3 0 0,-21 0 0,22-15 0,-20 11 0,27-12 0,-27 16 0,27 0 0,-27 0 0,12 0 0,-16 0 0,0 0 0,0 0 0</inkml:trace>
  <inkml:trace contextRef="#ctx0" brushRef="#br1" timeOffset="62377">28011 8961 24575,'0'25'0,"0"18"0,-1-16 0,2 1 0,6 6 0,1 3 0,-7 6 0,2 0 0,13-10 0,0 0 0,-15 10 0,1-1 0,14-11 0,0 0 0,-14 4 0,0 1 0,13 0 0,1-1 0,-13-4 0,-2 0 0,7-4 0,0-1 0,-8 4 0,0-1 0,8 10 0,-7-4 0,7-3 0,-8-13 0,0 1 0,0 11 0,0-27 0,0 28 0,0-28 0,0 11 0,0 1 0,0-12 0,0 12 0,0-1 0,16-11 0,-12 20 0,12-7 0,-16-5 0,0-20 0,0 2 0,0-17 0</inkml:trace>
  <inkml:trace contextRef="#ctx0" brushRef="#br1" timeOffset="64433">28910 8855 24575,'0'35'0,"0"0"0,0 4 0,0 6 0,0 3-520,0-10 0,0 1 1,0 1 519,0 3 0,0 0 0,0 1 0,0-3 0,0 0 0,0 0 0,0 3 0,0 1 0,0-1 0,0 1 0,0 0 0,0-1 0,0-7 0,0-2 0,0 0 253,0 14 0,0-4-253,0-8 0,0-3 129,-1-5 0,2-3-129,15 9 0,-12-11 0,11-22 0,-15 5 0</inkml:trace>
  <inkml:trace contextRef="#ctx0" brushRef="#br1" timeOffset="65852">28540 10089 24575,'19'0'0,"-27"0"0,-29 0 0,0 8 0,-4 0 0,-4-6 0,0 0 0,-1 6 0,2 0 0,11-8 0,3 0 0,-19 0 0,53-16 0,20 3 0,11-1 0,-2-7 0,4-4 0,4 2-484,0 5 1,4 2 0,1 0-1,-1-1 484,-4 0 0,0-1 0,0 0 0,-2 1 0,8-2 0,-2 1 0,-3 4 0,0 3 0,-6 2 0,-3-6 0,-25 30 0,-16-11 0,6 12 0,-21 0 1934,3-13-1934,-15 29 0,10-30 0,-1 0 0,6 13 0,1 1 0,-6-13 0,-1-2 0,-1 7 0,3 0 0,0-8 0,-7 0 0,31 0 0,0 0 0,0 0 0</inkml:trace>
  <inkml:trace contextRef="#ctx0" brushRef="#br1" timeOffset="198653">8449 15928 24575,'0'10'0,"0"13"0,0 13 0,0-10 0,0 2 0,0 0 0,0-1 0,0 0 0,0-3 0,0-4 0,0 11 0,-16-27 0,-6 11 0,-7 1 0,-3-7 0,-7-4 0,-3 1-656,3 1 1,-3 2-1,-3 0 1,-1 0 0,0 0 577,3 0 1,-2 0 0,0 0 0,-1 0-1,-1 0 1,1-1 77,3-1 0,0 0 0,-1 0 0,0-1 0,0 0 0,1 1 0,0 0 0,-4 1 0,0 1 0,1 0 0,0 0 0,2-1 0,2 0-186,-9 2 0,3-1 0,2 0 1,2-2 185,0 0 0,2-1 0,7 1 0,6 2 0,7-2 0,6-7 0</inkml:trace>
  <inkml:trace contextRef="#ctx0" brushRef="#br1" timeOffset="-210267.73">11271 15928 24575,'39'0'0,"1"0"0,-1 0 0,-3 0 0,2 0 0,1 0 0,1 0 0,4 0 0,2 0 0,0 0 0,0 0-705,-1 0 1,-1 0 0,0 0 0,-1 0 704,-3 0 0,0 0 0,-2 0 0,-1 0 0,4 0 0,-2 0 0,-1 0 446,12 0 1,-2 0-447,-12 0 0,-4 0 115,12 0 1,-25 0 0,-3 0 0</inkml:trace>
  <inkml:trace contextRef="#ctx0" brushRef="#br1" timeOffset="-198427.73">9631 16351 24575,'35'-19'0,"8"3"0,-10 12 0,3 0 0,4-5 0,2 0 0,-7 5 0,1 1 0,-1-1 0,7-4 0,-2 0 0,4-1 0,-3 2 0,6 3 0,-14-4 0,0 1 0,-5 6 0,-1 2 0,8-1 0,1 0 0,-5 0 0,0 0 0,4 0 0,-1 0 0,13 0 0,-21 0 0,-1 0 0,10 0 0,-15 0 0,-4 0 0,-16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18:44:13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27975 14235 24575,'36'35'0,"-1"0"0,-18-2 0,1 1 0,4-10 0,-1 3 0,-8 4 0,-2 4 0,2-1-270,6-6 1,1-2-1,0 2 270,-1 6 0,-2 3 0,2-2 0,4-2 0,1-1 0,0 1 0,0 6 0,-1 2 0,0-2 0,-2-4 0,0-2 0,0 1 0,2 4 0,1 1 0,-2-2 0,1 8 0,1-2 0,-3-16 0,3-1 0,-3 0 0,-1 10 0,-1-2 99,7-6 1,-1-1-100,-7 7 0,0-1 0,17-2 0,-17-7 0,-1 1 0,-3-4 0,0 1 0,2 5 0,1 1 305,4 7 0,1 1-305,-3-9 0,1 0 0,12 9 0,3-5 0,-8-15 0,1-1 0,6 17 0,2 1 0,3-9 0,1-1 0,-4 5 0,0-1 0,-5-8 0,2-2 0,-3-2 0,0-4 0,-1-2 0,13-1 0,-2-1 0,7 9 0,-12-14 0,-1 0 0,13 14 0,-13-21 0,-1-6 0,6-9 0,-5 4 0,-1-3 0,-13 2 0,-1-1 0,10-8 0,1 1 0,-12 5 0,1 1 0,10-11 0,1 1 0,-11 10 0,1 0 0,6-9 0,-1-2 0,-6 3 0,-3-1 0,-6 1 0,0-1 0,5-6 0,1 1 0,4-6 0,-11 10 0,1-1 0,7 4 0,-2-1 0,-13-11 0,-1-2 0,11 3 0,0 0 0,-11-6 0,0-1 0,11 5 0,-1 0 0,-9 3 0,0-1 0,14-2 0,0 0 0,-14 3 0,0 1 0,12 0 0,3 0 0,-7 3 0,0 1 0,-1 4 0,1 1 0,6-3 0,0-1 0,-7 3 0,1 0 0,8 0 0,-1-1 0,-7-6 0,0 1 0,6 10 0,-1-1 0,-5-10 0,0-1 0,7 11 0,1 1 0,-4-3 0,0 1 0,19-10 0,-21 16 0,19 3 0,-27 16 0,12-16 0,15-3 0,-12 1 0,1 0 0,14 0 0,3 1 0,-6 3 0,1 1 0,2-5 0,0 2 0,-2 11 0,-1-1 0,-3-11 0,-1 2 0,-1 13 0,-1 0 0,10-13 0,0 15 0,1-16 0,-1 12 0,-8-12 0,7 1 0,-7 11 0,8-12 0,1 16 0,-11 0 0,1 0 0,13 0 0,-6-7 0,0-2 0,14 5 0,-13-4 0,1 1 0,-4 6 0,1 2 0,10-1 0,2 0 0,-7 0 0,0 0 0,3 0 0,-1 0 0,-4 0 0,-2 0 0,14 0 0,-11 0 0,-21 0 0,1 0 0,-12 0 0,43 0 0,-8-16 0,-2 14 0,5 0 0,-9-7 0,2-4 0,1 4 0,-3 6 0,1 4 0,0-3 0,2-8 0,-1-2 0,0 2 0,13 8 0,-2 1 0,-8-8 0,-3 2 0,-3 6 0,-1 2 0,-5-1 0,-1 0 0,10 0 0,0 0 0,-15 0 0,-5 0 0,-15 0 0</inkml:trace>
  <inkml:trace contextRef="#ctx0" brushRef="#br0" timeOffset="2646">28081 14499 24575,'-19'-16'0,"-13"13"0,13-13 0,-17 8 0,11 8 0,-1-2 0,-13-21 0,10 21 0,-1 0 0,4-14 0,-1 0 0,-3 13 0,-2 2 0,-4-6 0,1-1 0,7-1 0,1 2 0,1 6 0,1-2 0,-10-28 0,0 27 0,7-12 0,11 16 0,9 0 0,-8 0 0,12 0 0,-11 0 0,-1 0 0,-19 0 0,9 1 0,-3-2 0,-4-3 0,-2-3 0,1 2 0,-2 4 0,1-1 0,2-3 0,-2-2 0,3 3 0,-15 4 0,20 0 0,3 0 0,5 0 0,3 0 0,0 0 0,-3 0 0,-12 0 0,-5 0 0,4 0 0,-3 0 0,-2 0 0,-5 0 0,2 0 0,5 0 0,2 0 0,-1 0 0,-16 0 0,2 0 0,11 0 0,5 0 0,5 0 0,11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BD878-CB87-AC49-9AD4-B55B9A9C8C11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177EA-5FA2-FC4D-B806-DB3ED58BC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2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left to right angle of the pendulum: line : hanging right at the bottom</a:t>
            </a:r>
          </a:p>
          <a:p>
            <a:endParaRPr lang="en-US" dirty="0"/>
          </a:p>
          <a:p>
            <a:r>
              <a:rPr lang="en-US" dirty="0"/>
              <a:t>up : higher speed CW, down higher speed CCW, on this line speed 0</a:t>
            </a:r>
          </a:p>
          <a:p>
            <a:endParaRPr lang="en-US" dirty="0"/>
          </a:p>
          <a:p>
            <a:r>
              <a:rPr lang="en-US" b="1" dirty="0"/>
              <a:t>Now as its hanging at the bottom I give the pen a slight tap.. give it some speed… and plot all the angles and the corresponding speeds… what would this look like?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2075C-BB6B-1242-B0E9-C1B429E7B4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6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8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2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8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0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97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58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82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9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0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91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76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124793" y="144818"/>
            <a:ext cx="10058400" cy="1051561"/>
          </a:xfrm>
        </p:spPr>
        <p:txBody>
          <a:bodyPr>
            <a:normAutofit/>
          </a:bodyPr>
          <a:lstStyle>
            <a:lvl1pPr marL="0">
              <a:defRPr sz="4000">
                <a:latin typeface="+mj-lt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108355" y="1600200"/>
            <a:ext cx="10058400" cy="3720059"/>
          </a:xfrm>
        </p:spPr>
        <p:txBody>
          <a:bodyPr/>
          <a:lstStyle>
            <a:lvl1pPr marL="0" indent="0">
              <a:buSzPct val="100000"/>
              <a:buNone/>
              <a:defRPr>
                <a:latin typeface="+mj-lt"/>
              </a:defRPr>
            </a:lvl1pPr>
            <a:lvl2pPr marL="461422" indent="-260344">
              <a:buSzPct val="100000"/>
              <a:buFont typeface="Wingdings" charset="2"/>
              <a:buChar char="§"/>
              <a:tabLst/>
              <a:defRPr>
                <a:latin typeface="+mj-lt"/>
              </a:defRPr>
            </a:lvl2pPr>
            <a:lvl3pPr marL="613818" indent="-230712">
              <a:buSzPct val="100000"/>
              <a:buFont typeface="Wingdings" charset="2"/>
              <a:buChar char="§"/>
              <a:tabLst/>
              <a:defRPr>
                <a:latin typeface="+mj-lt"/>
              </a:defRPr>
            </a:lvl3pPr>
            <a:lvl4pPr marL="846646" indent="-232828">
              <a:buSzPct val="100000"/>
              <a:buFont typeface="Wingdings" charset="2"/>
              <a:buChar char="§"/>
              <a:tabLst/>
              <a:defRPr>
                <a:latin typeface="+mj-lt"/>
              </a:defRPr>
            </a:lvl4pPr>
            <a:lvl5pPr marL="1068891" indent="-222245">
              <a:buSzPct val="100000"/>
              <a:buFont typeface="Wingdings" charset="2"/>
              <a:buChar char="§"/>
              <a:tabLst/>
              <a:defRPr>
                <a:latin typeface="+mj-lt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8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0460" y="6459786"/>
            <a:ext cx="1312025" cy="365125"/>
          </a:xfrm>
        </p:spPr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319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2EBB2-AC81-40FB-9B0E-818D0BA8F2EB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7691F-5D15-450F-BBF1-1B8E6B03E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50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gif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Verifying Dynamical Systems: Stability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01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Dynamical system models</a:t>
            </a:r>
          </a:p>
          <a:p>
            <a:pPr lvl="1"/>
            <a:r>
              <a:rPr lang="en-US" dirty="0"/>
              <a:t>Stability</a:t>
            </a:r>
          </a:p>
          <a:p>
            <a:pPr lvl="1"/>
            <a:r>
              <a:rPr lang="en-US" dirty="0"/>
              <a:t>Lyapunov method</a:t>
            </a:r>
          </a:p>
          <a:p>
            <a:pPr lvl="1"/>
            <a:r>
              <a:rPr lang="en-US" dirty="0"/>
              <a:t>Stability of linear systems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892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dynamical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2954" y="1295400"/>
                <a:ext cx="11353800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>
                    <a:latin typeface="+mj-lt"/>
                  </a:rPr>
                  <a:t>Physical processes are modeled by ordinary differential equations (ODEs) also known as dynamical systems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>
                    <a:latin typeface="+mj-lt"/>
                  </a:rPr>
                  <a:t>ODEs describe how variables change with time and inputs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dirty="0">
                    <a:latin typeface="+mj-lt"/>
                  </a:rPr>
                  <a:t>	(1) </a:t>
                </a:r>
                <a:r>
                  <a:rPr lang="en-US" sz="2000" dirty="0">
                    <a:latin typeface="+mj-lt"/>
                  </a:rPr>
                  <a:t>where time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r>
                  <a:rPr lang="en-US" sz="2000" dirty="0">
                    <a:latin typeface="+mj-lt"/>
                  </a:rPr>
                  <a:t>;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𝑖𝑛𝑝𝑢𝑡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𝑢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;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×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>
                    <a:latin typeface="+mj-lt"/>
                  </a:rPr>
                  <a:t>In short this is written as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+mj-lt"/>
                  </a:rPr>
                  <a:t>	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dirty="0">
                    <a:latin typeface="+mj-lt"/>
                  </a:rPr>
                  <a:t>Given an ODE (1) and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j-lt"/>
                  </a:rPr>
                  <a:t>and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+mj-lt"/>
                  </a:rPr>
                  <a:t> a behavior of the system is a state trajectory or </a:t>
                </a:r>
                <a:r>
                  <a:rPr lang="en-US" sz="2400" i="1" dirty="0">
                    <a:latin typeface="+mj-lt"/>
                  </a:rPr>
                  <a:t>solution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/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latin typeface="+mj-lt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40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400" b="1" dirty="0">
                    <a:solidFill>
                      <a:srgbClr val="00B0F0"/>
                    </a:solidFill>
                    <a:latin typeface="+mj-lt"/>
                  </a:rPr>
                  <a:t>Theorem. </a:t>
                </a:r>
                <a:r>
                  <a:rPr lang="en-US" sz="24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+mj-lt"/>
                  </a:rPr>
                  <a:t> is Lipschitz continuous in the first argument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+mj-lt"/>
                  </a:rPr>
                  <a:t>is piece-wise continuous then (1) has unique solutions.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2954" y="1295400"/>
                <a:ext cx="11353800" cy="4525963"/>
              </a:xfrm>
              <a:blipFill>
                <a:blip r:embed="rId2"/>
                <a:stretch>
                  <a:fillRect l="-782" r="-223" b="-17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15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Review. Linear dynamical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1430000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r>
                        <a:rPr lang="en-US" b="0" i="1" smtClean="0">
                          <a:latin typeface="Cambria Math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+</m:t>
                      </m:r>
                      <m:r>
                        <a:rPr lang="en-US" b="0" i="1" smtClean="0">
                          <a:latin typeface="Cambria Math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</a:rPr>
                        <m:t>𝑢</m:t>
                      </m:r>
                      <m:r>
                        <a:rPr lang="en-US" b="0" i="1" smtClean="0">
                          <a:latin typeface="Cambria Math" charset="0"/>
                        </a:rPr>
                        <m:t>(</m:t>
                      </m:r>
                      <m:r>
                        <a:rPr lang="en-US" b="0" i="1" smtClean="0">
                          <a:latin typeface="Cambria Math" charset="0"/>
                        </a:rPr>
                        <m:t>𝑡</m:t>
                      </m:r>
                      <m:r>
                        <a:rPr lang="en-US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Linear time invariant (LTI) system 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a:rPr lang="en-US" b="0" i="1" smtClean="0">
                        <a:latin typeface="Cambria Math" charset="0"/>
                      </a:rPr>
                      <m:t>𝐴𝑥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+</m:t>
                    </m:r>
                    <m:r>
                      <a:rPr lang="en-US" b="0" i="1" smtClean="0">
                        <a:latin typeface="Cambria Math" charset="0"/>
                      </a:rPr>
                      <m:t>𝐵𝑢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𝑡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Theorem.</a:t>
                </a:r>
                <a:r>
                  <a:rPr lang="en-US" dirty="0"/>
                  <a:t> Solutions of LTI system: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charset="0"/>
                          <a:cs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,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𝑢</m:t>
                          </m:r>
                        </m:e>
                      </m:d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e</m:t>
                          </m:r>
                        </m:e>
                        <m:sup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+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𝐴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𝜏</m:t>
                              </m:r>
                              <m:r>
                                <a:rPr lang="en-US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𝐵𝑢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1430000" cy="4525963"/>
              </a:xfrm>
              <a:blipFill>
                <a:blip r:embed="rId2"/>
                <a:stretch>
                  <a:fillRect l="-1332" b="-6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05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B55BC0-BE9E-D387-1D4C-247AE067C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734" y="274638"/>
            <a:ext cx="7125866" cy="6583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2DFC76-E572-B237-F74D-B331E93A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4038600" cy="1143000"/>
          </a:xfrm>
        </p:spPr>
        <p:txBody>
          <a:bodyPr>
            <a:noAutofit/>
          </a:bodyPr>
          <a:lstStyle/>
          <a:p>
            <a:r>
              <a:rPr lang="en-US" sz="3200" dirty="0"/>
              <a:t>Properties of linear dynamical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0BDFE-A204-543C-CB51-9516EFB39D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40386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𝐴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𝐵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𝑢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80BDFE-A204-543C-CB51-9516EFB39D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4038600" cy="4525963"/>
              </a:xfrm>
              <a:blipFill>
                <a:blip r:embed="rId3"/>
                <a:stretch>
                  <a:fillRect l="-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A4BDD33-3F77-804C-40A0-3428FB338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67" y="3429000"/>
            <a:ext cx="4648200" cy="331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73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Example: Simple model of an economy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6172200" cy="4525963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charset="0"/>
                      </a:rPr>
                      <m:t>𝑥</m:t>
                    </m:r>
                  </m:oMath>
                </a14:m>
                <a:r>
                  <a:rPr lang="en-US" dirty="0"/>
                  <a:t>: national income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𝑦</m:t>
                    </m:r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r>
                  <a:rPr lang="en-US" dirty="0"/>
                  <a:t> rate of consumer spending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𝑔</m:t>
                    </m:r>
                  </m:oMath>
                </a14:m>
                <a:r>
                  <a:rPr lang="en-US" dirty="0"/>
                  <a:t>: rate government expenditure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 propensity to consume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: responsiveness of consumption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𝑥</m:t>
                    </m:r>
                    <m:r>
                      <a:rPr lang="en-US" b="0" i="1" dirty="0" smtClean="0">
                        <a:latin typeface="Cambria Math" charset="0"/>
                      </a:rPr>
                      <m:t> −</m:t>
                    </m:r>
                    <m:r>
                      <a:rPr lang="en-US" b="0" i="1" dirty="0" smtClean="0">
                        <a:latin typeface="Cambria Math" charset="0"/>
                      </a:rPr>
                      <m:t>𝛼</m:t>
                    </m:r>
                    <m:r>
                      <a:rPr lang="en-US" b="0" i="1" dirty="0" smtClean="0">
                        <a:latin typeface="Cambria Math" charset="0"/>
                      </a:rPr>
                      <m:t>𝑦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𝛽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charset="0"/>
                          </a:rPr>
                          <m:t>𝑔</m:t>
                        </m:r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6172200" cy="4525963"/>
              </a:xfrm>
              <a:blipFill>
                <a:blip r:embed="rId2"/>
                <a:stretch>
                  <a:fillRect l="-2259" t="-16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9E20EA8-1ECC-FA48-B220-35E09580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3135201"/>
            <a:ext cx="5715000" cy="372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67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9EF43-D781-9FDC-3A0B-FC60DD657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Gradient 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8E6AED-3C27-6C1D-71A0-02F365D7E6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066800"/>
                <a:ext cx="8610600" cy="5364162"/>
              </a:xfrm>
            </p:spPr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Consider the regression problem of fitting a straight line to data using gradient flow. The behavior of this learning algorithm can be modeled and analyzed as a dynamical system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Given data: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/>
                  <a:t> we want to fit a linear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by finding the </a:t>
                </a:r>
                <a:r>
                  <a:rPr lang="en-US" b="1" i="1" dirty="0"/>
                  <a:t>best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Minimizing the squared loss: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b="0" dirty="0"/>
                  <a:t>Gradient of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.2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Gradient descent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a parameter called learning rate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  	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Gradient flow is the continuous-time limit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			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		LTI system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8E6AED-3C27-6C1D-71A0-02F365D7E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066800"/>
                <a:ext cx="8610600" cy="5364162"/>
              </a:xfrm>
              <a:blipFill>
                <a:blip r:embed="rId2"/>
                <a:stretch>
                  <a:fillRect l="-590" t="-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EC3FF-1D49-B58B-4943-B0D7477B9BAB}"/>
                  </a:ext>
                </a:extLst>
              </p:cNvPr>
              <p:cNvSpPr txBox="1"/>
              <p:nvPr/>
            </p:nvSpPr>
            <p:spPr>
              <a:xfrm>
                <a:off x="9224682" y="1447800"/>
                <a:ext cx="3001078" cy="16422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Gradient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,…,</m:t>
                        </m:r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EC3FF-1D49-B58B-4943-B0D7477B9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682" y="1447800"/>
                <a:ext cx="3001078" cy="1642244"/>
              </a:xfrm>
              <a:prstGeom prst="rect">
                <a:avLst/>
              </a:prstGeom>
              <a:blipFill>
                <a:blip r:embed="rId3"/>
                <a:stretch>
                  <a:fillRect l="-1688" b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38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27F4-9B3F-88AA-26DD-C6AA069EF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Gradient flow convergence to an optimal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6B195F-8564-66E3-2223-E3A66DC4A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897" y="914400"/>
            <a:ext cx="6638691" cy="5471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E22B79-909B-6B33-B508-EF08EADE8022}"/>
                  </a:ext>
                </a:extLst>
              </p:cNvPr>
              <p:cNvSpPr txBox="1"/>
              <p:nvPr/>
            </p:nvSpPr>
            <p:spPr>
              <a:xfrm>
                <a:off x="228600" y="1026459"/>
                <a:ext cx="5410200" cy="3689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/>
                  <a:t>Consider the regression problem of fitting a straight line to data using gradient flow. The behavior of this learning algorithm can be modeled and analyzed as a dynamical system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Given data: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/>
                  <a:t> we want to fit a linear 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by finding the </a:t>
                </a:r>
                <a:r>
                  <a:rPr lang="en-US" b="1" i="1" dirty="0"/>
                  <a:t>best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Minimizing the squared loss: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nary>
                  </m:oMath>
                </a14:m>
                <a:endParaRPr lang="en-US" b="0" dirty="0"/>
              </a:p>
              <a:p>
                <a:pPr>
                  <a:lnSpc>
                    <a:spcPct val="120000"/>
                  </a:lnSpc>
                </a:pPr>
                <a:r>
                  <a:rPr lang="en-US" b="0" dirty="0"/>
                  <a:t>Gradient of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Gradient descent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Gradient flow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E22B79-909B-6B33-B508-EF08EADE8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026459"/>
                <a:ext cx="5410200" cy="3689215"/>
              </a:xfrm>
              <a:prstGeom prst="rect">
                <a:avLst/>
              </a:prstGeom>
              <a:blipFill>
                <a:blip r:embed="rId3"/>
                <a:stretch>
                  <a:fillRect l="-1171" r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71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010B2-3285-458F-564A-F51E3253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 flow converging but to an undesirable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F1814-ACF9-2182-EB4A-31309418E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019800" cy="45259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543FE-C035-E175-E5CB-7A3CCE728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295400"/>
            <a:ext cx="7772400" cy="539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66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Requirements for dynamical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type of properties are we interested in? </a:t>
            </a:r>
          </a:p>
          <a:p>
            <a:r>
              <a:rPr lang="en-US" dirty="0"/>
              <a:t>Invariance (as in the case of automata)</a:t>
            </a:r>
          </a:p>
          <a:p>
            <a:r>
              <a:rPr lang="en-US" dirty="0"/>
              <a:t>State remains bounded </a:t>
            </a:r>
          </a:p>
          <a:p>
            <a:r>
              <a:rPr lang="en-US" b="1" dirty="0"/>
              <a:t>State converges to target</a:t>
            </a:r>
          </a:p>
          <a:p>
            <a:r>
              <a:rPr lang="en-US" dirty="0"/>
              <a:t>Bounded input or disturbance gives bounded output (BIBO)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97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Requirements: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will focus on time invariant autonomous systems (closed systems, systems without inputs)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=</m:t>
                    </m:r>
                    <m:r>
                      <a:rPr lang="en-US" b="0" i="1" dirty="0" smtClean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=0</m:t>
                    </m:r>
                  </m:oMath>
                </a14:m>
                <a:r>
                  <a:rPr lang="en-US" b="0" i="1" dirty="0">
                    <a:latin typeface="Cambria Math" charset="0"/>
                  </a:rPr>
                  <a:t> </a:t>
                </a:r>
                <a:r>
                  <a:rPr lang="mr-IN" b="0" i="1" dirty="0">
                    <a:latin typeface="Cambria Math" charset="0"/>
                  </a:rPr>
                  <a:t>–</a:t>
                </a:r>
                <a:r>
                  <a:rPr lang="en-US" b="0" i="1" dirty="0">
                    <a:latin typeface="Cambria Math" charset="0"/>
                  </a:rPr>
                  <a:t>(1)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the solution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|</m:t>
                    </m:r>
                  </m:oMath>
                </a14:m>
                <a:r>
                  <a:rPr lang="en-US" dirty="0"/>
                  <a:t> norm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an </a:t>
                </a:r>
                <a:r>
                  <a:rPr lang="en-US" b="1" dirty="0"/>
                  <a:t>equilibrium point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charset="0"/>
                      </a:rPr>
                      <m:t>=0.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For analysis we will 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be an equilibrium point of (1) with out loss of generality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67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Pendulum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spcBef>
                    <a:spcPts val="0"/>
                  </a:spcBef>
                  <a:buNone/>
                  <a:defRPr/>
                </a:pPr>
                <a:r>
                  <a:rPr lang="en-US" dirty="0"/>
                  <a:t>Pendulum equation</a:t>
                </a: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sz="240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latin typeface="Cambria Math" charset="0"/>
                        </a:rPr>
                        <m:t>=</m:t>
                      </m:r>
                      <m:r>
                        <a:rPr lang="en-US" sz="1800" i="1">
                          <a:latin typeface="Cambria Math" charset="0"/>
                        </a:rPr>
                        <m:t>𝜃</m:t>
                      </m:r>
                      <m:r>
                        <a:rPr lang="en-US" sz="1800" i="1">
                          <a:latin typeface="Cambria Math" charset="0"/>
                        </a:rPr>
                        <m:t> 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𝜃</m:t>
                          </m:r>
                        </m:e>
                      </m:acc>
                    </m:oMath>
                  </m:oMathPara>
                </a14:m>
                <a:endParaRPr lang="en-US" sz="1800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sz="180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sz="1800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latin typeface="Cambria Math" charset="0"/>
                        </a:rPr>
                        <m:t>=−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charset="0"/>
                            </a:rPr>
                            <m:t>𝑔</m:t>
                          </m:r>
                        </m:num>
                        <m:den>
                          <m:r>
                            <a:rPr lang="en-US" sz="1800" i="1">
                              <a:latin typeface="Cambria Math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latin typeface="Cambria Math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1800" i="1">
                          <a:latin typeface="Cambria Math" charset="0"/>
                        </a:rPr>
                        <m:t>−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charset="0"/>
                            </a:rPr>
                            <m:t>𝑘</m:t>
                          </m:r>
                        </m:num>
                        <m:den>
                          <m:r>
                            <a:rPr lang="en-US" sz="1800" i="1">
                              <a:latin typeface="Cambria Math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180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n-US" sz="18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800" i="1">
                                  <a:latin typeface="Cambria Math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US" sz="1800" i="1">
                                      <a:latin typeface="Cambria Math" charset="0"/>
                                    </a:rPr>
                                    <m:t>𝑔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sz="1800" i="1">
                                      <a:latin typeface="Cambria Math" charset="0"/>
                                    </a:rPr>
                                    <m:t>𝑙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 sz="1800">
                                      <a:latin typeface="Cambria Math" charset="0"/>
                                    </a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charset="0"/>
                                    </a:rPr>
                                    <m:t>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800" i="1">
                                              <a:latin typeface="Cambria Math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800" i="1">
                                              <a:latin typeface="Cambria Math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sz="1800" i="1">
                                  <a:latin typeface="Cambria Math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𝑘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𝑚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𝑘</m:t>
                    </m:r>
                    <m:r>
                      <a:rPr lang="en-US" b="0" i="1" smtClean="0">
                        <a:latin typeface="Cambria Math" charset="0"/>
                      </a:rPr>
                      <m:t>:</m:t>
                    </m:r>
                  </m:oMath>
                </a14:m>
                <a:r>
                  <a:rPr lang="en-US" dirty="0"/>
                  <a:t> friction coefficient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dirty="0"/>
                  <a:t>Two equilibrium points: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0,0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, (</m:t>
                    </m:r>
                    <m:r>
                      <a:rPr lang="en-US" b="0" i="1" smtClean="0">
                        <a:latin typeface="Cambria Math" charset="0"/>
                      </a:rPr>
                      <m:t>𝜋</m:t>
                    </m:r>
                    <m:r>
                      <a:rPr lang="en-US" b="0" i="1" smtClean="0">
                        <a:latin typeface="Cambria Math" charset="0"/>
                      </a:rPr>
                      <m:t>,0)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704" t="-3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401598-0AA3-E748-87BE-893572C28C5B}"/>
              </a:ext>
            </a:extLst>
          </p:cNvPr>
          <p:cNvSpPr txBox="1"/>
          <p:nvPr/>
        </p:nvSpPr>
        <p:spPr>
          <a:xfrm rot="16200000">
            <a:off x="9149802" y="1748685"/>
            <a:ext cx="1243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upright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A267A3-06F0-D141-9457-195D6D471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229" y="2671421"/>
            <a:ext cx="3154309" cy="29687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226A1FD-A89C-D74C-88C4-C5307C1C98C1}"/>
              </a:ext>
            </a:extLst>
          </p:cNvPr>
          <p:cNvSpPr txBox="1"/>
          <p:nvPr/>
        </p:nvSpPr>
        <p:spPr>
          <a:xfrm rot="16200000">
            <a:off x="9249474" y="3270851"/>
            <a:ext cx="9924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down</a:t>
            </a:r>
          </a:p>
        </p:txBody>
      </p:sp>
      <p:pic>
        <p:nvPicPr>
          <p:cNvPr id="6" name="Picture 5" descr="A graph of a graph showing a number of waves&#10;&#10;Description automatically generated with medium confidence">
            <a:extLst>
              <a:ext uri="{FF2B5EF4-FFF2-40B4-BE49-F238E27FC236}">
                <a16:creationId xmlns:a16="http://schemas.microsoft.com/office/drawing/2014/main" id="{E662779F-1BBE-565B-A668-7835653E0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236" y="2605882"/>
            <a:ext cx="38671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3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F9918-18DF-8B4E-A8D2-A09BA21D1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AD149-68A8-BD4B-8BEE-E74FB8735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08103-4F00-1D46-B1C4-F27B524F8A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9091" t="6095" r="4022" b="10096"/>
          <a:stretch/>
        </p:blipFill>
        <p:spPr>
          <a:xfrm>
            <a:off x="0" y="0"/>
            <a:ext cx="12208999" cy="6865106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6E92D910-6B61-894F-9DBE-16983B473DD6}"/>
              </a:ext>
            </a:extLst>
          </p:cNvPr>
          <p:cNvSpPr/>
          <p:nvPr/>
        </p:nvSpPr>
        <p:spPr>
          <a:xfrm>
            <a:off x="9616796" y="3406729"/>
            <a:ext cx="445887" cy="451556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45862D-DE32-4748-888D-8130B65D115E}"/>
              </a:ext>
            </a:extLst>
          </p:cNvPr>
          <p:cNvSpPr/>
          <p:nvPr/>
        </p:nvSpPr>
        <p:spPr>
          <a:xfrm>
            <a:off x="6164867" y="3409244"/>
            <a:ext cx="445887" cy="451556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79674BFA-5C63-0240-BCBE-4E62180CCA5B}"/>
              </a:ext>
            </a:extLst>
          </p:cNvPr>
          <p:cNvSpPr/>
          <p:nvPr/>
        </p:nvSpPr>
        <p:spPr>
          <a:xfrm rot="1641923">
            <a:off x="5574826" y="2751946"/>
            <a:ext cx="1604030" cy="1653264"/>
          </a:xfrm>
          <a:prstGeom prst="arc">
            <a:avLst>
              <a:gd name="adj1" fmla="val 16248761"/>
              <a:gd name="adj2" fmla="val 16168665"/>
            </a:avLst>
          </a:prstGeom>
          <a:ln w="28575">
            <a:solidFill>
              <a:srgbClr val="7070FF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41FFB8-9A01-CE43-A2F4-F9D95A7A22D8}"/>
              </a:ext>
            </a:extLst>
          </p:cNvPr>
          <p:cNvCxnSpPr/>
          <p:nvPr/>
        </p:nvCxnSpPr>
        <p:spPr>
          <a:xfrm>
            <a:off x="-543339" y="3632507"/>
            <a:ext cx="13649739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256FB7-D893-024F-961E-7380AB8790C3}"/>
              </a:ext>
            </a:extLst>
          </p:cNvPr>
          <p:cNvCxnSpPr>
            <a:cxnSpLocks/>
          </p:cNvCxnSpPr>
          <p:nvPr/>
        </p:nvCxnSpPr>
        <p:spPr>
          <a:xfrm>
            <a:off x="6387548" y="7106"/>
            <a:ext cx="0" cy="68580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4E2815-7A3C-F644-9624-80C695C5E0CB}"/>
              </a:ext>
            </a:extLst>
          </p:cNvPr>
          <p:cNvCxnSpPr>
            <a:cxnSpLocks/>
          </p:cNvCxnSpPr>
          <p:nvPr/>
        </p:nvCxnSpPr>
        <p:spPr>
          <a:xfrm>
            <a:off x="9839740" y="31229"/>
            <a:ext cx="0" cy="68580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369BFC-6CC8-3248-8E39-214A0CB22A3E}"/>
              </a:ext>
            </a:extLst>
          </p:cNvPr>
          <p:cNvSpPr txBox="1"/>
          <p:nvPr/>
        </p:nvSpPr>
        <p:spPr>
          <a:xfrm>
            <a:off x="0" y="2717014"/>
            <a:ext cx="25218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speed=0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D0568A-0F53-9646-AEAB-F2D4C8EB9990}"/>
              </a:ext>
            </a:extLst>
          </p:cNvPr>
          <p:cNvSpPr txBox="1"/>
          <p:nvPr/>
        </p:nvSpPr>
        <p:spPr>
          <a:xfrm>
            <a:off x="0" y="-7836"/>
            <a:ext cx="11641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CW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4A6CF-1EC5-FB4D-876B-44EF585F18C7}"/>
              </a:ext>
            </a:extLst>
          </p:cNvPr>
          <p:cNvSpPr txBox="1"/>
          <p:nvPr/>
        </p:nvSpPr>
        <p:spPr>
          <a:xfrm>
            <a:off x="0" y="5887856"/>
            <a:ext cx="15263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CCW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D02C6-C78B-6944-AB75-DE602B168712}"/>
              </a:ext>
            </a:extLst>
          </p:cNvPr>
          <p:cNvSpPr txBox="1"/>
          <p:nvPr/>
        </p:nvSpPr>
        <p:spPr>
          <a:xfrm rot="16200000">
            <a:off x="8335785" y="5319781"/>
            <a:ext cx="2229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upright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48151B-C5D3-C344-A5D9-9D65ADF79AB1}"/>
              </a:ext>
            </a:extLst>
          </p:cNvPr>
          <p:cNvSpPr txBox="1"/>
          <p:nvPr/>
        </p:nvSpPr>
        <p:spPr>
          <a:xfrm rot="16200000">
            <a:off x="5232402" y="5521306"/>
            <a:ext cx="17441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down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64037D-8ED4-AA4E-894E-66DCB88AF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355" y="3927752"/>
            <a:ext cx="1564705" cy="147266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8A0909-7A30-7E4D-B1F0-9F689EB7E7A7}"/>
              </a:ext>
            </a:extLst>
          </p:cNvPr>
          <p:cNvSpPr txBox="1"/>
          <p:nvPr/>
        </p:nvSpPr>
        <p:spPr>
          <a:xfrm rot="2208569">
            <a:off x="4520227" y="2266514"/>
            <a:ext cx="18698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stable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378AB6-10FA-0349-9681-BA244E3D9DA3}"/>
              </a:ext>
            </a:extLst>
          </p:cNvPr>
          <p:cNvSpPr txBox="1"/>
          <p:nvPr/>
        </p:nvSpPr>
        <p:spPr>
          <a:xfrm rot="1973859">
            <a:off x="9865103" y="4196768"/>
            <a:ext cx="25815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i="1" dirty="0"/>
              <a:t>unstable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0BEA17-AF50-D245-B7F8-A8846171B7D9}"/>
              </a:ext>
            </a:extLst>
          </p:cNvPr>
          <p:cNvSpPr/>
          <p:nvPr/>
        </p:nvSpPr>
        <p:spPr>
          <a:xfrm>
            <a:off x="6313185" y="2648660"/>
            <a:ext cx="168737" cy="170882"/>
          </a:xfrm>
          <a:prstGeom prst="ellipse">
            <a:avLst/>
          </a:prstGeom>
          <a:solidFill>
            <a:srgbClr val="707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3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4.81481E-6 L 0.77265 -0.573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90" y="-286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19" grpId="0" animBg="1"/>
      <p:bldP spid="19" grpId="1" animBg="1"/>
      <p:bldP spid="12" grpId="0"/>
      <p:bldP spid="13" grpId="0"/>
      <p:bldP spid="14" grpId="0"/>
      <p:bldP spid="15" grpId="0"/>
      <p:bldP spid="16" grpId="0"/>
      <p:bldP spid="22" grpId="0"/>
      <p:bldP spid="23" grpId="0"/>
      <p:bldP spid="24" grpId="0" animBg="1"/>
      <p:bldP spid="24" grpId="1" animBg="1"/>
      <p:bldP spid="24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Aleksandr</a:t>
            </a:r>
            <a:r>
              <a:rPr lang="en-US" dirty="0"/>
              <a:t> M. </a:t>
            </a:r>
            <a:r>
              <a:rPr lang="en-US" dirty="0" err="1"/>
              <a:t>Lyapunov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1"/>
            <a:ext cx="6248400" cy="16764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Aleksandr Mikhailovich Lyapunov (June 6 1857–November 3, 1918), Russian mathematician and physicist.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29" y="1600200"/>
            <a:ext cx="2806700" cy="38481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926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Lyapunov</a:t>
            </a:r>
            <a:r>
              <a:rPr lang="en-US" dirty="0"/>
              <a:t>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Lyapunov stability: The system (1) is said to be </a:t>
                </a:r>
                <a:r>
                  <a:rPr lang="en-US" b="1" i="1" dirty="0"/>
                  <a:t>Lyapunov stable </a:t>
                </a:r>
                <a:r>
                  <a:rPr lang="en-US" dirty="0"/>
                  <a:t>(at the origin) if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charset="0"/>
                      </a:rPr>
                      <m:t>𝜀</m:t>
                    </m:r>
                    <m:r>
                      <a:rPr lang="en-US" i="1">
                        <a:latin typeface="Cambria Math" charset="0"/>
                      </a:rPr>
                      <m:t>&gt;0 ∃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𝜀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&gt;0 </m:t>
                    </m:r>
                  </m:oMath>
                </a14:m>
                <a:r>
                  <a:rPr lang="en-US" dirty="0"/>
                  <a:t>such that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𝜀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</a:rPr>
                      <m:t>t</m:t>
                    </m:r>
                    <m:r>
                      <a:rPr lang="en-US" b="0" i="1" smtClean="0">
                        <a:latin typeface="Cambria Math" charset="0"/>
                      </a:rPr>
                      <m:t>≥0,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charset="0"/>
                      </a:rPr>
                      <m:t>≤</m:t>
                    </m:r>
                    <m:r>
                      <a:rPr lang="en-US" b="0" i="1" smtClean="0">
                        <a:latin typeface="Cambria Math" charset="0"/>
                      </a:rPr>
                      <m:t>𝜀</m:t>
                    </m:r>
                    <m:r>
                      <a:rPr lang="en-US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is this related to </a:t>
                </a:r>
              </a:p>
              <a:p>
                <a:pPr marL="0" indent="0">
                  <a:buNone/>
                </a:pPr>
                <a:r>
                  <a:rPr lang="en-US" dirty="0"/>
                  <a:t>invariants and </a:t>
                </a:r>
              </a:p>
              <a:p>
                <a:pPr marL="0" indent="0">
                  <a:buNone/>
                </a:pPr>
                <a:r>
                  <a:rPr lang="en-US" dirty="0"/>
                  <a:t>reachable states 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7353300" y="4430807"/>
            <a:ext cx="1866900" cy="1921808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7010400" y="4038600"/>
            <a:ext cx="2590800" cy="2667000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cxnSpLocks/>
            <a:stCxn id="4" idx="1"/>
          </p:cNvCxnSpPr>
          <p:nvPr/>
        </p:nvCxnSpPr>
        <p:spPr>
          <a:xfrm>
            <a:off x="7626701" y="4712249"/>
            <a:ext cx="679100" cy="6598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>
            <a:stCxn id="5" idx="2"/>
          </p:cNvCxnSpPr>
          <p:nvPr/>
        </p:nvCxnSpPr>
        <p:spPr>
          <a:xfrm flipV="1">
            <a:off x="7010400" y="5372100"/>
            <a:ext cx="12954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851702" y="4670282"/>
                <a:ext cx="4540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𝜀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702" y="4670282"/>
                <a:ext cx="4540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 rot="426576">
                <a:off x="6254298" y="5100194"/>
                <a:ext cx="115402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26576">
                <a:off x="6254298" y="5100194"/>
                <a:ext cx="115402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/>
          <p:cNvSpPr/>
          <p:nvPr/>
        </p:nvSpPr>
        <p:spPr>
          <a:xfrm>
            <a:off x="7201707" y="4461418"/>
            <a:ext cx="1692849" cy="2080608"/>
          </a:xfrm>
          <a:custGeom>
            <a:avLst/>
            <a:gdLst>
              <a:gd name="connsiteX0" fmla="*/ 1440270 w 1692849"/>
              <a:gd name="connsiteY0" fmla="*/ 401935 h 2080608"/>
              <a:gd name="connsiteX1" fmla="*/ 1682318 w 1692849"/>
              <a:gd name="connsiteY1" fmla="*/ 1235653 h 2080608"/>
              <a:gd name="connsiteX2" fmla="*/ 1130988 w 1692849"/>
              <a:gd name="connsiteY2" fmla="*/ 1639064 h 2080608"/>
              <a:gd name="connsiteX3" fmla="*/ 324165 w 1692849"/>
              <a:gd name="connsiteY3" fmla="*/ 1706300 h 2080608"/>
              <a:gd name="connsiteX4" fmla="*/ 1435 w 1692849"/>
              <a:gd name="connsiteY4" fmla="*/ 1007053 h 2080608"/>
              <a:gd name="connsiteX5" fmla="*/ 431741 w 1692849"/>
              <a:gd name="connsiteY5" fmla="*/ 11970 h 2080608"/>
              <a:gd name="connsiteX6" fmla="*/ 1332694 w 1692849"/>
              <a:gd name="connsiteY6" fmla="*/ 509511 h 2080608"/>
              <a:gd name="connsiteX7" fmla="*/ 1547847 w 1692849"/>
              <a:gd name="connsiteY7" fmla="*/ 1289441 h 2080608"/>
              <a:gd name="connsiteX8" fmla="*/ 1252012 w 1692849"/>
              <a:gd name="connsiteY8" fmla="*/ 2042476 h 2080608"/>
              <a:gd name="connsiteX9" fmla="*/ 646894 w 1692849"/>
              <a:gd name="connsiteY9" fmla="*/ 1894558 h 2080608"/>
              <a:gd name="connsiteX10" fmla="*/ 445188 w 1692849"/>
              <a:gd name="connsiteY10" fmla="*/ 1249100 h 2080608"/>
              <a:gd name="connsiteX11" fmla="*/ 1036859 w 1692849"/>
              <a:gd name="connsiteY11" fmla="*/ 670876 h 208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692849" h="2080608">
                <a:moveTo>
                  <a:pt x="1440270" y="401935"/>
                </a:moveTo>
                <a:cubicBezTo>
                  <a:pt x="1587067" y="715700"/>
                  <a:pt x="1733865" y="1029465"/>
                  <a:pt x="1682318" y="1235653"/>
                </a:cubicBezTo>
                <a:cubicBezTo>
                  <a:pt x="1630771" y="1441841"/>
                  <a:pt x="1357347" y="1560623"/>
                  <a:pt x="1130988" y="1639064"/>
                </a:cubicBezTo>
                <a:cubicBezTo>
                  <a:pt x="904629" y="1717505"/>
                  <a:pt x="512424" y="1811635"/>
                  <a:pt x="324165" y="1706300"/>
                </a:cubicBezTo>
                <a:cubicBezTo>
                  <a:pt x="135906" y="1600965"/>
                  <a:pt x="-16494" y="1289441"/>
                  <a:pt x="1435" y="1007053"/>
                </a:cubicBezTo>
                <a:cubicBezTo>
                  <a:pt x="19364" y="724665"/>
                  <a:pt x="209865" y="94894"/>
                  <a:pt x="431741" y="11970"/>
                </a:cubicBezTo>
                <a:cubicBezTo>
                  <a:pt x="653617" y="-70954"/>
                  <a:pt x="1146676" y="296599"/>
                  <a:pt x="1332694" y="509511"/>
                </a:cubicBezTo>
                <a:cubicBezTo>
                  <a:pt x="1518712" y="722423"/>
                  <a:pt x="1561294" y="1033947"/>
                  <a:pt x="1547847" y="1289441"/>
                </a:cubicBezTo>
                <a:cubicBezTo>
                  <a:pt x="1534400" y="1544935"/>
                  <a:pt x="1402171" y="1941623"/>
                  <a:pt x="1252012" y="2042476"/>
                </a:cubicBezTo>
                <a:cubicBezTo>
                  <a:pt x="1101853" y="2143329"/>
                  <a:pt x="781365" y="2026787"/>
                  <a:pt x="646894" y="1894558"/>
                </a:cubicBezTo>
                <a:cubicBezTo>
                  <a:pt x="512423" y="1762329"/>
                  <a:pt x="380194" y="1453047"/>
                  <a:pt x="445188" y="1249100"/>
                </a:cubicBezTo>
                <a:cubicBezTo>
                  <a:pt x="510182" y="1045153"/>
                  <a:pt x="1036859" y="670876"/>
                  <a:pt x="1036859" y="670876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A9E8EFB-D983-0346-9569-815152934283}"/>
                  </a:ext>
                </a:extLst>
              </p:cNvPr>
              <p:cNvSpPr/>
              <p:nvPr/>
            </p:nvSpPr>
            <p:spPr>
              <a:xfrm>
                <a:off x="8229600" y="5117068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A9E8EFB-D983-0346-9569-815152934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5117068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718CB4F7-46BF-175E-BCDC-C2EFFAC53447}"/>
              </a:ext>
            </a:extLst>
          </p:cNvPr>
          <p:cNvSpPr/>
          <p:nvPr/>
        </p:nvSpPr>
        <p:spPr>
          <a:xfrm>
            <a:off x="8153400" y="5029200"/>
            <a:ext cx="228600" cy="2286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5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/>
      <p:bldP spid="12" grpId="0"/>
      <p:bldP spid="16" grpId="0" animBg="1"/>
      <p:bldP spid="9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Asymptotically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744200" cy="279138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The system (1) is said to be </a:t>
                </a:r>
                <a:r>
                  <a:rPr lang="en-US" b="1" i="1" dirty="0"/>
                  <a:t>Asymptotically stable </a:t>
                </a:r>
                <a:r>
                  <a:rPr lang="en-US" i="1" dirty="0"/>
                  <a:t>(at the origin) </a:t>
                </a:r>
                <a:r>
                  <a:rPr lang="en-US" dirty="0"/>
                  <a:t>if it is Lyapunov stable and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charset="0"/>
                      </a:rPr>
                      <m:t>&gt;0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</a:rPr>
                      <m:t>t</m:t>
                    </m:r>
                    <m:r>
                      <a:rPr lang="en-US" b="0" i="1" smtClean="0">
                        <a:latin typeface="Cambria Math" charset="0"/>
                      </a:rPr>
                      <m:t>→∞, 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charset="0"/>
                          </a:rPr>
                          <m:t>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→</m:t>
                    </m:r>
                    <m:r>
                      <a:rPr lang="en-US" b="1" i="1" smtClean="0">
                        <a:latin typeface="Cambria Math" charset="0"/>
                      </a:rPr>
                      <m:t>𝟎</m:t>
                    </m:r>
                    <m:r>
                      <a:rPr lang="en-US" b="0" i="1" smtClean="0">
                        <a:latin typeface="Cambria Math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If the property holds 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:r>
                  <a:rPr lang="en-US" b="1" dirty="0"/>
                  <a:t>Globally Asymptotically Stable</a:t>
                </a:r>
                <a:endParaRPr lang="en-US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744200" cy="2791384"/>
              </a:xfrm>
              <a:blipFill>
                <a:blip r:embed="rId2"/>
                <a:stretch>
                  <a:fillRect l="-1418" t="-2262" r="-1655" b="-4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7353300" y="4391586"/>
            <a:ext cx="1905000" cy="1961029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7520548" y="4754880"/>
            <a:ext cx="1594110" cy="1397540"/>
          </a:xfrm>
          <a:custGeom>
            <a:avLst/>
            <a:gdLst>
              <a:gd name="connsiteX0" fmla="*/ 371001 w 1594110"/>
              <a:gd name="connsiteY0" fmla="*/ 0 h 1397540"/>
              <a:gd name="connsiteX1" fmla="*/ 1584659 w 1594110"/>
              <a:gd name="connsiteY1" fmla="*/ 249382 h 1397540"/>
              <a:gd name="connsiteX2" fmla="*/ 886390 w 1594110"/>
              <a:gd name="connsiteY2" fmla="*/ 1396538 h 1397540"/>
              <a:gd name="connsiteX3" fmla="*/ 5241 w 1594110"/>
              <a:gd name="connsiteY3" fmla="*/ 448887 h 1397540"/>
              <a:gd name="connsiteX4" fmla="*/ 1318652 w 1594110"/>
              <a:gd name="connsiteY4" fmla="*/ 332509 h 1397540"/>
              <a:gd name="connsiteX5" fmla="*/ 1002768 w 1594110"/>
              <a:gd name="connsiteY5" fmla="*/ 1180407 h 1397540"/>
              <a:gd name="connsiteX6" fmla="*/ 271248 w 1594110"/>
              <a:gd name="connsiteY6" fmla="*/ 714895 h 1397540"/>
              <a:gd name="connsiteX7" fmla="*/ 1185648 w 1594110"/>
              <a:gd name="connsiteY7" fmla="*/ 448887 h 1397540"/>
              <a:gd name="connsiteX8" fmla="*/ 969517 w 1594110"/>
              <a:gd name="connsiteY8" fmla="*/ 1097280 h 1397540"/>
              <a:gd name="connsiteX9" fmla="*/ 470754 w 1594110"/>
              <a:gd name="connsiteY9" fmla="*/ 831273 h 1397540"/>
              <a:gd name="connsiteX10" fmla="*/ 936267 w 1594110"/>
              <a:gd name="connsiteY10" fmla="*/ 598516 h 1397540"/>
              <a:gd name="connsiteX11" fmla="*/ 919641 w 1594110"/>
              <a:gd name="connsiteY11" fmla="*/ 980902 h 1397540"/>
              <a:gd name="connsiteX12" fmla="*/ 670259 w 1594110"/>
              <a:gd name="connsiteY12" fmla="*/ 864524 h 1397540"/>
              <a:gd name="connsiteX13" fmla="*/ 803263 w 1594110"/>
              <a:gd name="connsiteY13" fmla="*/ 764771 h 139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94110" h="1397540">
                <a:moveTo>
                  <a:pt x="371001" y="0"/>
                </a:moveTo>
                <a:cubicBezTo>
                  <a:pt x="934881" y="8313"/>
                  <a:pt x="1498761" y="16626"/>
                  <a:pt x="1584659" y="249382"/>
                </a:cubicBezTo>
                <a:cubicBezTo>
                  <a:pt x="1670557" y="482138"/>
                  <a:pt x="1149626" y="1363287"/>
                  <a:pt x="886390" y="1396538"/>
                </a:cubicBezTo>
                <a:cubicBezTo>
                  <a:pt x="623154" y="1429789"/>
                  <a:pt x="-66803" y="626225"/>
                  <a:pt x="5241" y="448887"/>
                </a:cubicBezTo>
                <a:cubicBezTo>
                  <a:pt x="77285" y="271549"/>
                  <a:pt x="1152398" y="210589"/>
                  <a:pt x="1318652" y="332509"/>
                </a:cubicBezTo>
                <a:cubicBezTo>
                  <a:pt x="1484906" y="454429"/>
                  <a:pt x="1177335" y="1116676"/>
                  <a:pt x="1002768" y="1180407"/>
                </a:cubicBezTo>
                <a:cubicBezTo>
                  <a:pt x="828201" y="1244138"/>
                  <a:pt x="240768" y="836815"/>
                  <a:pt x="271248" y="714895"/>
                </a:cubicBezTo>
                <a:cubicBezTo>
                  <a:pt x="301728" y="592975"/>
                  <a:pt x="1069270" y="385156"/>
                  <a:pt x="1185648" y="448887"/>
                </a:cubicBezTo>
                <a:cubicBezTo>
                  <a:pt x="1302026" y="512618"/>
                  <a:pt x="1088666" y="1033549"/>
                  <a:pt x="969517" y="1097280"/>
                </a:cubicBezTo>
                <a:cubicBezTo>
                  <a:pt x="850368" y="1161011"/>
                  <a:pt x="476296" y="914400"/>
                  <a:pt x="470754" y="831273"/>
                </a:cubicBezTo>
                <a:cubicBezTo>
                  <a:pt x="465212" y="748146"/>
                  <a:pt x="861453" y="573578"/>
                  <a:pt x="936267" y="598516"/>
                </a:cubicBezTo>
                <a:cubicBezTo>
                  <a:pt x="1011081" y="623454"/>
                  <a:pt x="963976" y="936567"/>
                  <a:pt x="919641" y="980902"/>
                </a:cubicBezTo>
                <a:cubicBezTo>
                  <a:pt x="875306" y="1025237"/>
                  <a:pt x="689655" y="900546"/>
                  <a:pt x="670259" y="864524"/>
                </a:cubicBezTo>
                <a:cubicBezTo>
                  <a:pt x="650863" y="828502"/>
                  <a:pt x="803263" y="764771"/>
                  <a:pt x="803263" y="764771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Slides </a:t>
            </a:r>
            <a:r>
              <a:rPr lang="de-DE"/>
              <a:t>by </a:t>
            </a:r>
            <a:r>
              <a:rPr lang="en-US"/>
              <a:t>Sayan Mitra</a:t>
            </a:r>
            <a:r>
              <a:rPr lang="de-DE"/>
              <a:t> mitras@illinois.edu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047745-2E70-584F-94BC-F24B675999B1}"/>
              </a:ext>
            </a:extLst>
          </p:cNvPr>
          <p:cNvCxnSpPr>
            <a:cxnSpLocks/>
            <a:stCxn id="4" idx="7"/>
          </p:cNvCxnSpPr>
          <p:nvPr/>
        </p:nvCxnSpPr>
        <p:spPr>
          <a:xfrm flipH="1">
            <a:off x="8305801" y="4678772"/>
            <a:ext cx="673518" cy="693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5C13C6-786F-F548-82C7-75F28224D9C6}"/>
                  </a:ext>
                </a:extLst>
              </p:cNvPr>
              <p:cNvSpPr/>
              <p:nvPr/>
            </p:nvSpPr>
            <p:spPr>
              <a:xfrm>
                <a:off x="9166991" y="4389482"/>
                <a:ext cx="4616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15C13C6-786F-F548-82C7-75F28224D9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991" y="4389482"/>
                <a:ext cx="461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1AAA8D1-5FB4-6040-8723-8DA80537AA69}"/>
                  </a:ext>
                </a:extLst>
              </p:cNvPr>
              <p:cNvSpPr/>
              <p:nvPr/>
            </p:nvSpPr>
            <p:spPr>
              <a:xfrm>
                <a:off x="7599242" y="4697822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1AAA8D1-5FB4-6040-8723-8DA80537AA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9242" y="4697822"/>
                <a:ext cx="4660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19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472F-08EE-5B4A-BB2A-C9D2AD716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portrait of pendulum with friction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89C11-649C-354F-AB5A-ED1FFAA0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85268"/>
            <a:ext cx="7264400" cy="547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94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Butterfly*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02914" y="1600200"/>
                <a:ext cx="5163778" cy="45259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All solutions converge to 0 but the equilibrium point (0,0) is not </a:t>
                </a:r>
                <a:r>
                  <a:rPr lang="en-US" dirty="0" err="1"/>
                  <a:t>Lyapunov</a:t>
                </a:r>
                <a:r>
                  <a:rPr lang="en-US" dirty="0"/>
                  <a:t> stable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2914" y="1600200"/>
                <a:ext cx="5163778" cy="4525963"/>
              </a:xfrm>
              <a:blipFill>
                <a:blip r:embed="rId2"/>
                <a:stretch>
                  <a:fillRect l="-2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6283" y="1602580"/>
            <a:ext cx="5565015" cy="41124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95487" y="6308725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 discussed in class</a:t>
            </a:r>
          </a:p>
        </p:txBody>
      </p:sp>
    </p:spTree>
    <p:extLst>
      <p:ext uri="{BB962C8B-B14F-4D97-AF65-F5344CB8AC3E}">
        <p14:creationId xmlns:p14="http://schemas.microsoft.com/office/powerpoint/2010/main" val="232049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Van der pol oscillator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  <a:defRPr/>
                </a:pPr>
                <a:r>
                  <a:rPr lang="en-US" dirty="0"/>
                  <a:t>Van der pol oscillator</a:t>
                </a: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charset="0"/>
                        </a:rPr>
                        <m:t>−</m:t>
                      </m:r>
                      <m:r>
                        <a:rPr lang="en-US" sz="2400" i="1">
                          <a:latin typeface="Cambria Math" charset="0"/>
                        </a:rPr>
                        <m:t>𝜇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charset="0"/>
                            </a:rPr>
                            <m:t>𝑑𝑥</m:t>
                          </m:r>
                        </m:num>
                        <m:den>
                          <m:r>
                            <a:rPr lang="en-US" sz="2400" i="1">
                              <a:latin typeface="Cambria Math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charset="0"/>
                        </a:rPr>
                        <m:t>+</m:t>
                      </m:r>
                      <m:r>
                        <a:rPr lang="en-US" sz="2400" i="1">
                          <a:latin typeface="Cambria Math" charset="0"/>
                        </a:rPr>
                        <m:t>𝑥</m:t>
                      </m:r>
                      <m:r>
                        <a:rPr lang="en-US" sz="2400" i="1">
                          <a:latin typeface="Cambria Math" charset="0"/>
                        </a:rPr>
                        <m:t>=0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sz="240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=</m:t>
                      </m:r>
                      <m:r>
                        <a:rPr lang="en-US" sz="2400" i="1">
                          <a:latin typeface="Cambria Math" charset="0"/>
                        </a:rPr>
                        <m:t>𝑥</m:t>
                      </m:r>
                      <m:r>
                        <a:rPr lang="en-US" sz="2400" i="1">
                          <a:latin typeface="Cambria Math" charset="0"/>
                        </a:rPr>
                        <m:t>;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</a:rPr>
                        <m:t>;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400" dirty="0"/>
                  <a:t>coupling coefficient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𝜇</m:t>
                    </m:r>
                    <m:r>
                      <a:rPr lang="en-US" sz="2400" i="1">
                        <a:latin typeface="Cambria Math" charset="0"/>
                      </a:rPr>
                      <m:t>=2  0.1</m:t>
                    </m:r>
                  </m:oMath>
                </a14:m>
                <a:endParaRPr lang="en-US" sz="24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2400" i="1" dirty="0">
                  <a:latin typeface="Cambria Math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mr-I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charset="0"/>
                                </a:rPr>
                                <m:t>𝜇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1−</m:t>
                                  </m:r>
                                  <m:sSubSup>
                                    <m:sSub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b="0" dirty="0"/>
                  <a:t>stable ?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dirty="0"/>
              </a:p>
              <a:p>
                <a:pPr marL="0" indent="0">
                  <a:spcBef>
                    <a:spcPts val="0"/>
                  </a:spcBef>
                  <a:buNone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752" b="-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44" y="1427336"/>
            <a:ext cx="4241757" cy="29362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850" y="4089081"/>
            <a:ext cx="4227151" cy="280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Stability of solutions* (instead of points)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For any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𝜉</m:t>
                    </m:r>
                    <m:r>
                      <a:rPr lang="en-US" sz="2400" i="1">
                        <a:latin typeface="Cambria Math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charset="0"/>
                      </a:rPr>
                      <m:t>PC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≥0</m:t>
                            </m:r>
                          </m:sup>
                        </m:s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define the s-norm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𝜉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=</m:t>
                    </m:r>
                    <m:limLow>
                      <m:limLow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charset="0"/>
                          </a:rPr>
                          <m:t>sup</m:t>
                        </m:r>
                      </m:e>
                      <m:lim>
                        <m:r>
                          <a:rPr lang="en-US" sz="2400" i="1">
                            <a:latin typeface="Cambria Math" charset="0"/>
                          </a:rPr>
                          <m:t>𝑡</m:t>
                        </m:r>
                        <m:r>
                          <a:rPr lang="en-US" sz="2400" i="1">
                            <a:latin typeface="Cambria Math" charset="0"/>
                          </a:rPr>
                          <m:t>∈</m:t>
                        </m:r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lim>
                    </m:limLow>
                    <m:r>
                      <a:rPr lang="en-US" sz="2400" i="1">
                        <a:latin typeface="Cambria Math" charset="0"/>
                      </a:rPr>
                      <m:t>|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charset="0"/>
                          </a:rPr>
                          <m:t>𝜉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charset="0"/>
                      </a:rPr>
                      <m:t>|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A dynamical system can be seen as an operator that maps initial states to signals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𝑇</m:t>
                    </m:r>
                    <m:r>
                      <a:rPr lang="en-US" sz="2400" i="1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𝑃𝐶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≥0</m:t>
                            </m:r>
                          </m:sup>
                        </m:s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>
                  <a:ea typeface="Cambria Math" charset="0"/>
                  <a:cs typeface="Cambria Math" charset="0"/>
                </a:endParaRPr>
              </a:p>
              <a:p>
                <a:endParaRPr lang="en-US" sz="2400" dirty="0"/>
              </a:p>
              <a:p>
                <a:r>
                  <a:rPr lang="en-US" sz="2400" dirty="0" err="1"/>
                  <a:t>Lyapunov</a:t>
                </a:r>
                <a:r>
                  <a:rPr lang="en-US" sz="2400" dirty="0"/>
                  <a:t> stability required that this operator is continuous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𝜉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is </a:t>
                </a:r>
                <a:r>
                  <a:rPr lang="en-US" sz="2400" b="1" i="1" dirty="0" err="1"/>
                  <a:t>Lyapunov</a:t>
                </a:r>
                <a:r>
                  <a:rPr lang="en-US" sz="2400" b="1" i="1" dirty="0"/>
                  <a:t> stable </a:t>
                </a: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charset="0"/>
                      </a:rPr>
                      <m:t>𝑇</m:t>
                    </m:r>
                  </m:oMath>
                </a14:m>
                <a:r>
                  <a:rPr lang="en-US" sz="2400" dirty="0"/>
                  <a:t> is continuous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𝜉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charset="0"/>
                      </a:rPr>
                      <m:t>(0) . </m:t>
                    </m:r>
                    <m:r>
                      <a:rPr lang="en-US" sz="2400">
                        <a:latin typeface="Cambria Math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i</m:t>
                    </m:r>
                    <m:r>
                      <a:rPr lang="en-US" sz="2400">
                        <a:latin typeface="Cambria Math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sz="2400">
                        <a:latin typeface="Cambria Math" charset="0"/>
                      </a:rPr>
                      <m:t>e</m:t>
                    </m:r>
                    <m:r>
                      <a:rPr lang="en-US" sz="2400">
                        <a:latin typeface="Cambria Math" charset="0"/>
                      </a:rPr>
                      <m:t>., </m:t>
                    </m:r>
                  </m:oMath>
                </a14:m>
                <a:r>
                  <a:rPr lang="en-US" sz="2400" dirty="0"/>
                  <a:t>for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</a:rPr>
                      <m:t>𝜀</m:t>
                    </m:r>
                    <m:r>
                      <a:rPr lang="en-US" sz="2400" i="1">
                        <a:latin typeface="Cambria Math" charset="0"/>
                      </a:rPr>
                      <m:t>&gt;0 </m:t>
                    </m:r>
                  </m:oMath>
                </a14:m>
                <a:r>
                  <a:rPr lang="en-US" sz="2400" dirty="0"/>
                  <a:t>there exists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𝜀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&gt;0 </m:t>
                    </m:r>
                  </m:oMath>
                </a14:m>
                <a:r>
                  <a:rPr lang="en-US" sz="2400" dirty="0"/>
                  <a:t>such that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en-US" sz="2400" i="1">
                                <a:latin typeface="Cambria Math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>
                            <a:latin typeface="Cambria Math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charset="0"/>
                          </a:rPr>
                          <m:t>𝛿</m:t>
                        </m:r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𝜀</m:t>
                        </m:r>
                      </m:sub>
                    </m:sSub>
                  </m:oMath>
                </a14:m>
                <a:r>
                  <a:rPr lang="en-US" sz="2400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latin typeface="Cambria Math" charset="0"/>
                                          </a:rPr>
                                          <m:t>𝜉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latin typeface="Cambria Math" charset="0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400" i="1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charset="0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en-US" sz="2400" i="1">
                            <a:latin typeface="Cambria Math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charset="0"/>
                      </a:rPr>
                      <m:t>≤</m:t>
                    </m:r>
                    <m:r>
                      <a:rPr lang="en-US" sz="2400" i="1">
                        <a:latin typeface="Cambria Math" charset="0"/>
                      </a:rPr>
                      <m:t>𝜀</m:t>
                    </m:r>
                    <m:r>
                      <a:rPr lang="en-US" sz="2400" i="1">
                        <a:latin typeface="Cambria Math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0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1995487" y="6308725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 discussed in class</a:t>
            </a:r>
          </a:p>
        </p:txBody>
      </p:sp>
    </p:spTree>
    <p:extLst>
      <p:ext uri="{BB962C8B-B14F-4D97-AF65-F5344CB8AC3E}">
        <p14:creationId xmlns:p14="http://schemas.microsoft.com/office/powerpoint/2010/main" val="1636767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Verifying Termination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2"/>
                <a:ext cx="5486400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How to verify that a loop terminates?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b="1" dirty="0"/>
                  <a:t>While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i="1" dirty="0">
                    <a:latin typeface="Cambria Math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where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ℤ</m:t>
                        </m:r>
                      </m:e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→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ℤ</m:t>
                        </m:r>
                      </m:e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Come up with a </a:t>
                </a:r>
                <a:r>
                  <a:rPr lang="en-US" sz="2800" b="1" dirty="0"/>
                  <a:t>ranking function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ℤ</m:t>
                        </m:r>
                      </m:e>
                      <m:sup>
                        <m:r>
                          <a:rPr lang="en-US" sz="28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ℕ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400" dirty="0"/>
                  <a:t>such</a:t>
                </a:r>
                <a:r>
                  <a:rPr lang="en-US" sz="2800" dirty="0"/>
                  <a:t> that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2"/>
                <a:ext cx="5486400" cy="4525963"/>
              </a:xfrm>
              <a:blipFill>
                <a:blip r:embed="rId2"/>
                <a:stretch>
                  <a:fillRect l="-2309" t="-560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F2C7FB-8353-DEC5-CE8A-19A111CB5EE4}"/>
              </a:ext>
            </a:extLst>
          </p:cNvPr>
          <p:cNvSpPr txBox="1">
            <a:spLocks/>
          </p:cNvSpPr>
          <p:nvPr/>
        </p:nvSpPr>
        <p:spPr>
          <a:xfrm>
            <a:off x="6812280" y="1600202"/>
            <a:ext cx="7391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itchFamily="34" charset="0"/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2809AD1-E3D1-A527-1A86-47F1B0E0A7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6900" y="1623063"/>
                <a:ext cx="6172200" cy="50060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sz="2000" b="1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000" b="1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sz="2000" b="1" dirty="0"/>
                  <a:t>While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sz="2000" i="1" dirty="0">
                    <a:latin typeface="Cambria Math" charset="0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sz="2000" dirty="0"/>
                  <a:t>Claim.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works</a:t>
                </a:r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ℕ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  <a:cs typeface="Cambria Math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as loop stops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=0]</m:t>
                    </m:r>
                  </m:oMath>
                </a14:m>
                <a:endParaRPr lang="en-US" sz="20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/>
                  <a:t>Last inequality uses the invariant: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2809AD1-E3D1-A527-1A86-47F1B0E0A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900" y="1623063"/>
                <a:ext cx="6172200" cy="5006021"/>
              </a:xfrm>
              <a:prstGeom prst="rect">
                <a:avLst/>
              </a:prstGeom>
              <a:blipFill>
                <a:blip r:embed="rId3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nonlinear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any </a:t>
                </a:r>
                <a:r>
                  <a:rPr lang="en-US" b="1" i="1" dirty="0">
                    <a:solidFill>
                      <a:srgbClr val="00B0F0"/>
                    </a:solidFill>
                  </a:rPr>
                  <a:t>positive definite </a:t>
                </a:r>
                <a:r>
                  <a:rPr lang="en-US" dirty="0"/>
                  <a:t>function of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𝑉</m:t>
                    </m:r>
                    <m:r>
                      <a:rPr lang="en-US" i="1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≥0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=0 </m:t>
                    </m:r>
                  </m:oMath>
                </a14:m>
                <a:r>
                  <a:rPr lang="en-US" dirty="0"/>
                  <a:t>iff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sz="3000" b="1" i="1" dirty="0">
                    <a:solidFill>
                      <a:srgbClr val="00B0F0"/>
                    </a:solidFill>
                  </a:rPr>
                  <a:t>Sublevel sets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charset="0"/>
                      </a:rPr>
                      <m:t>={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>
                    <a:latin typeface="Cambria Math" charset="0"/>
                  </a:rPr>
                  <a:t> </a:t>
                </a:r>
                <a:r>
                  <a:rPr lang="en-US" dirty="0">
                    <a:latin typeface="Cambria Math" charset="0"/>
                  </a:rPr>
                  <a:t>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≤</m:t>
                    </m:r>
                    <m:r>
                      <a:rPr lang="en-US" b="0" i="1" smtClean="0">
                        <a:latin typeface="Cambria Math" charset="0"/>
                      </a:rPr>
                      <m:t>𝑝</m:t>
                    </m:r>
                    <m:r>
                      <a:rPr lang="en-US" b="0" i="1" smtClean="0">
                        <a:latin typeface="Cambria Math" charset="0"/>
                      </a:rPr>
                      <m:t>}</m:t>
                    </m:r>
                  </m:oMath>
                </a14:m>
                <a:endParaRPr lang="en-US" i="1" dirty="0">
                  <a:latin typeface="Cambria Math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</a:rPr>
                      <m:t>𝑉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V </a:t>
                </a:r>
                <a:r>
                  <a:rPr lang="en-US" dirty="0"/>
                  <a:t>differentiable with continuous first derivative</a:t>
                </a:r>
                <a:endParaRPr lang="en-US" b="0" i="1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</m:e>
                    </m:acc>
                    <m:r>
                      <a:rPr lang="en-US" b="0" i="1" dirty="0" smtClean="0">
                        <a:latin typeface="Cambria Math" charset="0"/>
                      </a:rPr>
                      <m:t>= </m:t>
                    </m:r>
                    <m:r>
                      <a:rPr lang="en-US" b="0" i="1" smtClean="0">
                        <a:latin typeface="Cambria Math" charset="0"/>
                      </a:rPr>
                      <m:t>𝑑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= ?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.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𝑑𝑡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.</m:t>
                    </m:r>
                    <m:r>
                      <a:rPr lang="en-US" b="0" i="1" smtClean="0">
                        <a:latin typeface="Cambria Math" charset="0"/>
                      </a:rPr>
                      <m:t>𝑓</m:t>
                    </m:r>
                    <m:r>
                      <a:rPr lang="en-US" b="0" i="1" smtClean="0">
                        <a:latin typeface="Cambria Math" charset="0"/>
                      </a:rPr>
                      <m:t>(</m:t>
                    </m:r>
                    <m:r>
                      <a:rPr lang="en-US" b="0" i="1" smtClean="0">
                        <a:latin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b="0" dirty="0"/>
                  <a:t> is also </a:t>
                </a:r>
                <a:r>
                  <a:rPr lang="en-US" dirty="0"/>
                  <a:t>c</a:t>
                </a:r>
                <a:r>
                  <a:rPr lang="en-US" b="0" dirty="0"/>
                  <a:t>ontinuous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𝑉</m:t>
                    </m:r>
                  </m:oMath>
                </a14:m>
                <a:r>
                  <a:rPr lang="en-US" b="0" dirty="0"/>
                  <a:t> is </a:t>
                </a:r>
                <a:r>
                  <a:rPr lang="en-US" b="1" dirty="0">
                    <a:solidFill>
                      <a:srgbClr val="00B0F0"/>
                    </a:solidFill>
                  </a:rPr>
                  <a:t>radially unbounded </a:t>
                </a:r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→∞⇒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→∞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972800" cy="4983161"/>
              </a:xfrm>
              <a:blipFill>
                <a:blip r:embed="rId2"/>
                <a:stretch>
                  <a:fillRect l="-1387" t="-2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9D6C5A-DEF0-170D-5195-30A161CEB530}"/>
                  </a:ext>
                </a:extLst>
              </p14:cNvPr>
              <p14:cNvContentPartPr/>
              <p14:nvPr/>
            </p14:nvContentPartPr>
            <p14:xfrm>
              <a:off x="2457360" y="1803240"/>
              <a:ext cx="9442800" cy="4147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9D6C5A-DEF0-170D-5195-30A161CEB5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48000" y="1793880"/>
                <a:ext cx="9461520" cy="416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874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Verifying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endParaRPr lang="en-US" b="1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/>
                  <a:t>Theorem. </a:t>
                </a:r>
                <a:r>
                  <a:rPr lang="en-US" dirty="0"/>
                  <a:t>(</a:t>
                </a:r>
                <a:r>
                  <a:rPr lang="en-US" dirty="0" err="1"/>
                  <a:t>Lyapunov</a:t>
                </a:r>
                <a:r>
                  <a:rPr lang="en-US" dirty="0"/>
                  <a:t>) Consider the system (1) with state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and suppose there exists a </a:t>
                </a:r>
                <a:r>
                  <a:rPr lang="en-US" b="1" dirty="0"/>
                  <a:t>positive definite, continuously differentiable </a:t>
                </a: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</a:rPr>
                      <m:t>𝑉</m:t>
                    </m:r>
                    <m:r>
                      <a:rPr lang="en-US" b="0" i="1" smtClean="0">
                        <a:latin typeface="Cambria Math" charset="0"/>
                      </a:rPr>
                      <m:t>: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ℝ</m:t>
                    </m:r>
                  </m:oMath>
                </a14:m>
                <a:r>
                  <a:rPr lang="en-US" dirty="0"/>
                  <a:t>. The system is: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1. </a:t>
                </a:r>
                <a:r>
                  <a:rPr lang="en-US" dirty="0" err="1"/>
                  <a:t>Lyapunov</a:t>
                </a:r>
                <a:r>
                  <a:rPr lang="en-US" dirty="0"/>
                  <a:t> stable if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≤0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≠0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2. Asymptotically stable if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&lt;0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,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≠0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3. It is globally AS if </a:t>
                </a:r>
                <a:r>
                  <a:rPr lang="en-US" i="1" dirty="0"/>
                  <a:t>V </a:t>
                </a:r>
                <a:r>
                  <a:rPr lang="en-US" dirty="0"/>
                  <a:t>is also radially unbounded.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D908FC-BD34-FA29-0F71-7B3F1A960F85}"/>
                  </a:ext>
                </a:extLst>
              </p14:cNvPr>
              <p14:cNvContentPartPr/>
              <p14:nvPr/>
            </p14:nvContentPartPr>
            <p14:xfrm>
              <a:off x="9455040" y="4978080"/>
              <a:ext cx="2495880" cy="851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D908FC-BD34-FA29-0F71-7B3F1A960F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45680" y="4968720"/>
                <a:ext cx="2514600" cy="87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009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4373B-5985-884E-BE9C-C69375CA7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puzzle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15D22-F176-FA44-BBAE-633FD5D6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Platonic solids. Solid bodies whose faces are regular polygons, all identical, that meet in identical fashion at every vertex. How many such are there? Exactly five!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CF1FF-590E-F54A-BC22-9671805D8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429000"/>
            <a:ext cx="8206089" cy="2139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728455-68FE-E147-A87D-D05EB648CD5F}"/>
              </a:ext>
            </a:extLst>
          </p:cNvPr>
          <p:cNvSpPr txBox="1"/>
          <p:nvPr/>
        </p:nvSpPr>
        <p:spPr>
          <a:xfrm>
            <a:off x="465003" y="6126164"/>
            <a:ext cx="23453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Platonic solids. </a:t>
            </a:r>
          </a:p>
          <a:p>
            <a:r>
              <a:rPr lang="en-US" dirty="0" err="1"/>
              <a:t>Wilczek</a:t>
            </a:r>
            <a:r>
              <a:rPr lang="en-US" dirty="0"/>
              <a:t>, Frank. A Beautiful Question: Finding Nature's Deep Design (p. 39). </a:t>
            </a:r>
          </a:p>
        </p:txBody>
      </p:sp>
    </p:spTree>
    <p:extLst>
      <p:ext uri="{BB962C8B-B14F-4D97-AF65-F5344CB8AC3E}">
        <p14:creationId xmlns:p14="http://schemas.microsoft.com/office/powerpoint/2010/main" val="2667467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34316</TotalTime>
  <Words>1542</Words>
  <Application>Microsoft Macintosh PowerPoint</Application>
  <PresentationFormat>Widescreen</PresentationFormat>
  <Paragraphs>195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Wingdings</vt:lpstr>
      <vt:lpstr>Office Theme</vt:lpstr>
      <vt:lpstr>Verifying Dynamical Systems: Stability</vt:lpstr>
      <vt:lpstr>Plan</vt:lpstr>
      <vt:lpstr>Review dynamical systems</vt:lpstr>
      <vt:lpstr>Review. Linear dynamical system</vt:lpstr>
      <vt:lpstr>Properties of linear dynamical systems</vt:lpstr>
      <vt:lpstr>Example: Simple model of an economy</vt:lpstr>
      <vt:lpstr>Example: Gradient flow</vt:lpstr>
      <vt:lpstr>Gradient flow convergence to an optimal model</vt:lpstr>
      <vt:lpstr>Grad flow converging but to an undesirable value</vt:lpstr>
      <vt:lpstr>Requirements for dynamical systems</vt:lpstr>
      <vt:lpstr>Requirements: Stability</vt:lpstr>
      <vt:lpstr>Example: Pendulum</vt:lpstr>
      <vt:lpstr>PowerPoint Presentation</vt:lpstr>
      <vt:lpstr>Aleksandr M. Lyapunov </vt:lpstr>
      <vt:lpstr>Lyapunov stability</vt:lpstr>
      <vt:lpstr>Asymptotically stability</vt:lpstr>
      <vt:lpstr>Phase portrait of pendulum with friction</vt:lpstr>
      <vt:lpstr>Butterfly*</vt:lpstr>
      <vt:lpstr>Van der pol oscillator</vt:lpstr>
      <vt:lpstr>Stability of solutions* (instead of points)</vt:lpstr>
      <vt:lpstr>Verifying Termination</vt:lpstr>
      <vt:lpstr>Stability of nonlinear systems</vt:lpstr>
      <vt:lpstr>Verifying Stability</vt:lpstr>
      <vt:lpstr>Small puzzle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584/CS 584: Embedded System Verification SpaceEx and Linear Hybrid Syatems</dc:title>
  <dc:creator>Sayan Mitras</dc:creator>
  <cp:lastModifiedBy>Mitra, Sayan</cp:lastModifiedBy>
  <cp:revision>155</cp:revision>
  <cp:lastPrinted>2017-10-12T04:42:23Z</cp:lastPrinted>
  <dcterms:created xsi:type="dcterms:W3CDTF">2012-10-11T16:05:22Z</dcterms:created>
  <dcterms:modified xsi:type="dcterms:W3CDTF">2025-10-07T17:18:13Z</dcterms:modified>
</cp:coreProperties>
</file>