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324" r:id="rId2"/>
    <p:sldId id="951" r:id="rId3"/>
    <p:sldId id="955" r:id="rId4"/>
    <p:sldId id="952" r:id="rId5"/>
    <p:sldId id="313" r:id="rId6"/>
    <p:sldId id="567" r:id="rId7"/>
    <p:sldId id="264" r:id="rId8"/>
    <p:sldId id="286" r:id="rId9"/>
    <p:sldId id="960" r:id="rId10"/>
    <p:sldId id="491" r:id="rId11"/>
    <p:sldId id="916" r:id="rId12"/>
    <p:sldId id="274" r:id="rId13"/>
    <p:sldId id="915" r:id="rId14"/>
    <p:sldId id="953" r:id="rId15"/>
    <p:sldId id="917" r:id="rId16"/>
    <p:sldId id="948" r:id="rId17"/>
    <p:sldId id="493" r:id="rId18"/>
    <p:sldId id="949" r:id="rId19"/>
    <p:sldId id="950" r:id="rId20"/>
    <p:sldId id="257" r:id="rId21"/>
    <p:sldId id="334" r:id="rId22"/>
    <p:sldId id="325" r:id="rId23"/>
    <p:sldId id="326" r:id="rId24"/>
    <p:sldId id="327" r:id="rId25"/>
    <p:sldId id="328" r:id="rId26"/>
    <p:sldId id="330" r:id="rId27"/>
    <p:sldId id="329" r:id="rId28"/>
    <p:sldId id="331" r:id="rId29"/>
    <p:sldId id="957" r:id="rId30"/>
    <p:sldId id="959" r:id="rId31"/>
    <p:sldId id="958" r:id="rId32"/>
    <p:sldId id="332" r:id="rId33"/>
    <p:sldId id="33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81"/>
    <p:restoredTop sz="94690"/>
  </p:normalViewPr>
  <p:slideViewPr>
    <p:cSldViewPr snapToGrid="0" snapToObjects="1" showGuides="1">
      <p:cViewPr varScale="1">
        <p:scale>
          <a:sx n="65" d="100"/>
          <a:sy n="65" d="100"/>
        </p:scale>
        <p:origin x="224" y="136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1295 24575,'39'-30'0,"-8"4"0,26-21 0,-20 17 0,6-6 0,-2 5 0,-5 1 0,6-5 0,-14 12 0,4-5 0,5-3 0,-8 12 0,12-10 0,-20 17 0,11-4 0,-5 1 0,0 3 0,4-4 0,-4 6 0,6-1 0,0-1 0,0 1 0,0 0 0,-6 1 0,13-6 0,-16 5 0,17-5 0,-20 6 0,5 0 0,-1 4 0,3-4 0,-1 5 0,5-6 0,-5 0 0,0 1 0,5-2 0,-5 2 0,6 4 0,0-4 0,0 4 0,0-1 0,0-3 0,7 4 0,1-6 0,1 5 0,-3-3 0,16-2 0,-17 5 0,17-8 0,-28 9 0,5-5 0,-11 5 0,11-4 0,-11 4 0,5-4 0,0-1 0,-4 5 0,9-4 0,-3-1 0,5-1 0,0-4 0,6 4 0,-4 1 0,5-1 0,0 1 0,-6-1 0,28 0 0,-24 1 0,25-5 0,-27 9 0,9-12 0,-22 17 0,5-12 0,-13 13 0,0-7 0,4 2 0,-3-4 0,4 0 0,0-5 0,-5 5 0,4-9 0,-4 3 0,5 0 0,-4-3 0,3 8 0,-8-8 0,8 7 0,-3-7 0,4 8 0,-5-3 0,4 4 0,-9 0 0,8 1 0,-8 4 0,3-3 0,-8 7 0,-1-3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24575,'-5'4'0,"2"5"0,3 1 0,0 4 0,0-5 0,4 1 0,1-1 0,0 0 0,3 0 0,-3-4 0,0-5 0,-1-5 0,-4-3 0,0-1 0,0 4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24575,'9'0'0,"-1"0"0,-3-8 0,-1 2 0,-4-3 0,0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0 629 24575,'18'-14'0,"1"-1"0,1 0 0,-5 0 0,4 5 0,-4 1 0,5-1 0,0-1 0,6 1 0,22-6 0,-3 3 0,17-4 0,-14 0 0,0 3 0,0-3 0,-7 5 0,5 0 0,-11 6 0,4-4 0,1 9 0,-6-9 0,6 9 0,-1-4 0,-4 5 0,17 0 0,-9 0 0,19 0 0,-4 0 0,7 0 0,-1 0 0,0 0 0,0 0 0,1 0 0,0 0 0,-1 0 0,0 0 0,14 0 0,-10 0 0,-18 0 0,0 0 0,12 0 0,23 0 0,-36 0 0,14 0 0,-6 0 0,9 0 0,-1 0 0,-8 0 0,6 0 0,-5 0 0,-1 0 0,35 0 0,-27 0 0,29 0 0,-29 6 0,0-5 0,0 5 0,9-6 0,-7 0 0,6 0 0,-8 0 0,0 0 0,8 0 0,-5 0 0,5-6 0,-16-1 0,-1-5 0,-8 0 0,0-6 0,-7 5 0,-1-9 0,-7 10 0,-6-4 0,8-3 0,-13 6 0,7-10 0,-14 12 0,4-4 0,-8 6 0,3-6 0,-5 5 0,5-5 0,-3 6 0,3 0 0,0-6 0,-4 5 0,9-5 0,-4 1 0,0 3 0,-1-3 0,-5 5 0,0 4 0,0-3 0,0 7 0,0-7 0,-3 7 0,-2-4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19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71 24575,'-10'-3'0,"-1"-2"0,10-4 0,-2 8 0,3 6 0,3 0 0,2 3 0,4-8 0,-1 0 0,1 0 0,-1 0 0,-3-4 0,-1-1 0,-4-3 0,0 0 0,-4 3 0,-1 1 0,-4 4 0,4-4 0,-3 3 0,3-3 0,-4 4 0,0 0 0,1 0 0,-1 0 0,4 4 0,2 0 0,3 5 0,0-1 0,3-3 0,2 2 0,3-6 0,-3 7 0,3-7 0,-3 3 0,3-4 0,1 0 0,-1 0 0,1 0 0,-1-4 0,-3-1 0,2 0 0,-6-2 0,7 6 0,-7-7 0,7 7 0,-7-7 0,2 3 0,-3-4 0,0 1 0,0-1 0,-4 5 0,0 0 0,-5 4 0,0 0 0,0 0 0,0 0 0,1 0 0,-1 0 0,0 0 0,1 0 0,-1 0 0,0 0 0,1 0 0,-1 3 0,4 2 0,2 3 0,3 1 0,0-1 0,0 1 0,0-1 0,3-3 0,2-1 0,4-4 0,-1 0 0,1 0 0,-1 0 0,1 0 0,0 0 0,-1 0 0,-3 4 0,2-3 0,-2 3 0,4 0 0,0-3 0,-5 6 0,4-6 0,-3 4 0,4-5 0,0 0 0,-1 0 0,1 0 0,-4-4 0,-2-1 0,-3-4 0,0-1 0,0 1 0,0 0 0,0 0 0,0 0 0,-4 4 0,-1 2 0,-4 3 0,0-5 0,0 4 0,0-3 0,0 4 0,0 0 0,1 0 0,-1 0 0,0 0 0,0 0 0,1 0 0,3 4 0,-3 1 0,7 3 0,-3 1 0,4 0 0,0 0 0,-4-4 0,3 3 0,-3-3 0,4 4 0,0 0 0,0 0 0,0-1 0,0 1 0,0-1 0,0 1 0,4-5 0,1 0 0,3-4 0,1 0 0,-1 0 0,1 0 0,-1 0 0,1 0 0,-1 0 0,1 0 0,-1 0 0,1 0 0,-5-4 0,0-1 0,-4-3 0,0-1 0,0 1 0,0-1 0,0 0 0,0 1 0,-4 2 0,3-1 0,-7 6 0,3-3 0,-4 0 0,1 3 0,3-7 0,-3 7 0,4-3 0,-1 0 0,1 3 0,4-3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23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46 24575,'0'9'0,"0"-1"0,0 1 0,0-1 0,4-3 0,1-1 0,3-4 0,1 0 0,-1 0 0,1 0 0,-1 0 0,1 0 0,0 0 0,-4-4 0,-1-1 0,-1-4 0,-2 0 0,3 0 0,-4 0 0,0 0 0,0 0 0,0 1 0,-4 3 0,-1 1 0,-4 4 0,0 0 0,0 0 0,0 0 0,0-4 0,1 3 0,-1-3 0,0 4 0,1 0 0,-1 0 0,1 4 0,-1 1 0,4 4 0,-3-1 0,3 2 0,-4-1 0,-1 5 0,1 1 0,-1 5 0,-1 0 0,6-5 0,-4-1 0,8 0 0,-7-4 0,7 4 0,0-9 0,6-1 0,4-4 0,0 0 0,0 0 0,0 0 0,0 0 0,-1 0 0,1 0 0,-1-3 0,-3-3 0,3-2 0,-3-2 0,0 1 0,4-5 0,-4 3 0,0-3 0,3 5 0,-3 0 0,0 0 0,-1-1 0,-4 2 0,4 2 0,-3-1 0,-1 6 0,-5-3 0,-3 4 0,3-4 0,-4 3 0,5-3 0,-5 4 0,0-4 0,0 3 0,1-2 0,-1 3 0,1 0 0,-1 0 0,1 0 0,-1 0 0,1 0 0,3 3 0,5-2 0,1 7 0,7-3 0,-7 4 0,3 0 0,0 0 0,1 0 0,0 0 0,3-5 0,-7 4 0,2-3 0,1 0 0,1-1 0,3-4 0,0 0 0,0 0 0,1 0 0,-1 0 0,1 0 0,-1 0 0,0 0 0,-3-4 0,-1-1 0,-4-3 0,0 3 0,0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26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27 24575,'-9'0'0,"1"0"0,-1 0 0,4 4 0,1 1 0,4 3 0,0 1 0,0 0 0,0 0 0,0 0 0,4-4 0,0-1 0,5-4 0,-1 0 0,0 0 0,-3-4 0,3 3 0,-7-7 0,3 3 0,-4-4 0,0 0 0,0 0 0,0 0 0,0 0 0,0 0 0,0 1 0,-4 3 0,-1 1 0,-3 4 0,-1 0 0,0 0 0,0 0 0,0 0 0,0 0 0,0 0 0,1 0 0,-1 0 0,5 4 0,0 1 0,4 3 0,0 0 0,0 1 0,0-1 0,0 1 0,0 0 0,0-1 0,4 1 0,0-4 0,5 3 0,0-7 0,0 7 0,0-7 0,0 7 0,5-3 0,-3 4 0,7 1 0,-8-5 0,3-1 0,-4-4 0,0 0 0,0 0 0,0 0 0,-4-4 0,-2-1 0,-3-3 0,0-1 0,0 0 0,0 0 0,0 1 0,0-1 0,0 0 0,0 1 0,-3 3 0,2-3 0,-7 7 0,3-7 0,-4 7 0,0-3 0,1 4 0,-1 0 0,1 0 0,-1 0 0,1 0 0,3 4 0,1 1 0,4-1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30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80 24575,'-4'4'0,"0"0"0,4 5 0,0-1 0,0 0 0,4-3 0,0-1 0,5-4 0,-1 0 0,0 0 0,-3-4 0,3-1 0,-7-4 0,2 0 0,-3 0 0,0 0 0,0 0 0,0 0 0,0 0 0,0 0 0,-3 5 0,-2 0 0,-4 4 0,1 0 0,-1 0 0,1 0 0,-1 0 0,0 0 0,1 0 0,-1 0 0,4 3 0,2 2 0,3 4 0,0-1 0,0 0 0,0 1 0,0-1 0,3-3 0,2-2 0,3-3 0,1 0 0,-1 0 0,0 0 0,1 0 0,-1 0 0,1-4 0,-4-1 0,2-3 0,-2 2 0,0-2 0,-1 4 0,0-1 0,-3-3 0,3 3 0,-4-3 0,0-1 0,-4 5 0,0 0 0,-5 4 0,0 0 0,1 0 0,-1 0 0,0 0 0,0 0 0,0 0 0,0 0 0,1 0 0,-1 0 0,4 3 0,1 2 0,4 4 0,0-1 0,0 1 0,0 0 0,0 0 0,0 0 0,0 0 0,0 0 0,0-1 0,0 1 0,0-1 0,0 1 0,0-1 0,4-3 0,1-1 0,0 0 0,3-3 0,-3 7 0,4-7 0,-1 2 0,1-3 0,0 0 0,-5-4 0,4-1 0,-7-4 0,7 0 0,-7-1 0,8 1 0,-5 0 0,1 0 0,-1 0 0,0 4 0,-3-2 0,3 2 0,-4-4 0,0 1 0,0-1 0,0 0 0,0 0 0,0 1 0,-4 3 0,0 1 0,-5 4 0,0-4 0,0 3 0,0-3 0,0 4 0,1 0 0,-1 0 0,0 0 0,1 0 0,-1 0 0,1 4 0,3 1 0,1 3 0,4 1 0,0 0 0,0-1 0,0 1 0,0-1 0,0 1 0,0-1 0,4-3 0,1-2 0,4-3 0,-1 0 0,1 0 0,0 0 0,-1 0 0,1 0 0,-1 0 0,1 0 0,-1 0 0,-3-4 0,2 3 0,-6-3 0,3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4T17:57:45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26705 11042 24575,'0'-20'0,"-15"-11"0,11 27 0,-28-12 0,28 16 0,-35-23 0,33 17 0,-17-18 0,7 24 0,12 0 0,-11 0 0,-1 0 0,12 0 0,-35 0 0,33-15 0,-18 11 0,24-12 0,-15 16 0,11 0 0,-12 0 0,16 0 0,-23 0 0,17 0 0,-18-23 0,24 17 0,-16-18 0,13 24 0,-13 0 0,16 0 0,-16 0 0,12 24 0,-11-18 0,15 17 0,0-23 0,-24 16 0,18-12 0,-17 11 0,23-15 0,0 24 0,-16-18 0,12 17 0,-12-23 0,16 16 0,0-12 0,0 12 0,0-16 0,0 15 0,0-11 0,0 12 0,0-16 0,0 23 0,0-17 0,0 18 0,0-24 0,0 16 0,0-13 0,0 13 0,0-16 0,0 16 0,0-12 0,0 11 0,0-15 0,0 24 0,0-18 0,0 17 0,0-23 0,0 16 0,0-12 0,0 12 0,0-1 0,0-11 0,0 12 0,0-16 0,0 23 0,0-17 0,0 18 0,16-24 0,-12 0 0,12 15 0,7-11 0,-17 12 0,18-16 0,-9 0 0,-11 0 0,12 24 0,-16-19 0,16 19 0,-13-24 0,13 0 0,-16 0 0,24 0 0,-18 0 0,17 0 0,-7 0 0,-12 0 0,11 0 0,-15 0 0,24 0 0,-18 0 0,17 0 0,-23 0 0,16 0 0,-12 0 0,12 0 0,-16 0 0,15 0 0,-11 0 0,12 0 0,-16 0 0,23 0 0,-17-24 0,18 19 0,-24-19 0,0 24 0,15-16 0,-11 12 0,12-35 0,-16 33 0,16-17 0,-12 7 0,11 12 0,-15-11 0,0 15 0,0 0 0,0-16 0,0 12 0,24-12 0,-18 16 0,17 0 0,-23-23 0,0 17 0,0-18 0,0 9 0,0 11 0,0-12 0,0 0 0,0 13 0,0-13 0,0 16 0,0 0 0,-23 0 0,17-24 0,-18 18 0,24-17 0,0 23 0,0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4T18:06:36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24589 10707 24575,'43'0'0,"-6"0"0,-10 0 0,2 0 0,-3 0 0,-16 0 0,27 0 0,4 0 0,-15 0 0,2 0 0,3 0 0,12 0 0,-6 0 0,-9 0 0,3 0 0,-27 0 0,12 0 0,7 0 0,-17 0 0,17 0 0,-23 0 0,0 0 0,-23 0 0,17 0 0,-17 0 0,23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4T18:25:22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14058 3792 24575,'42'0'0,"0"0"0,-16 0 0,1 0 0,9 0 0,5 0 0,-4 0-1598,-2 0 0,-1 0 1598,-1 0 0,3 0 0,-1 0-823,5 0 1,0 0 822,-7 0 0,2 0 0,-1 0 0,8 0 0,0 0 0,-8 0 0,1 0 0,0 0 0,0 0 0,0 0 0,-1 0 0,12 0 0,0 0 0,2 0 0,0 0 0,-14 0 0,1 0 0,-2 0 0,10 0 0,-2 0 0,-1 0 0,1 0 0,0 0 0,0 0 0,-8 0 0,-1 0-151,-1 0 1,2 0 150,9 0 0,-2 0-619,2 0 619,-9 0 0,0 0 0,5 0 0,-5 0 0,0 0 0,8 0 0,-11-7 0,-1-1 0,14 4 1303,-6-12-1303,-9 16 1996,11 0-1996,-2 0 0,-9 0 0,-1 0 0,10 0 0,3-23 1635,-36 17-1635,11-18 827,1 24-827,-12 0 0,12 0 0,-16 0 0,0 0 0</inkml:trace>
  <inkml:trace contextRef="#ctx0" brushRef="#br0" timeOffset="31614">24377 3792 24575,'29'0'0,"11"0"0,-21 0 0,24 0 0,-21 0 0,17 0 0,-19 0 0,23-15 0,-22 11 0,18-12 0,-35 16 0,28 0 0,-5 0 0,-5 0 0,17 0 0,-35 0 0,35 0 0,-33 0 0,33 0 0,-35 0 0,27 0 0,-27 0 0,36 0 0,-35-23 0,19 17 0,-8-18 0,-12 24 0,11 0 0,1 0 0,-12 0 0,12-16 0,7 13 0,-17-13 0,17 16 0,-7 0 0,-12 0 0,12 0 0,-16 0 0,15 0 0,-11 0 0,12 0 0,-16 0 0,23 0 0,-17 0 0,18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A870F-C41B-9B4C-901B-7159AE079D00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CFE49-7933-1B4D-81B7-A9163543A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1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couple</a:t>
            </a:r>
            <a:r>
              <a:rPr lang="en-US" baseline="0" dirty="0"/>
              <a:t> of nice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5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Guard, Precondition</a:t>
            </a:r>
          </a:p>
          <a:p>
            <a:r>
              <a:rPr lang="en-US" dirty="0"/>
              <a:t>Effect, Reset map</a:t>
            </a:r>
          </a:p>
          <a:p>
            <a:r>
              <a:rPr lang="en-US" dirty="0"/>
              <a:t>Invariance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8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075C-BB6B-1242-B0E9-C1B429E7B4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1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300 years of mathematics developed for analyzing physics will not be enough for analyzing systems like self-driving cars where computers switch between different physics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075C-BB6B-1242-B0E9-C1B429E7B4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3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8B86-8394-CF4A-8879-985DED942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E8767-01DB-644B-8656-C6EFB5A41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0A7D0-C575-F24A-BB45-ACACEAC8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0689-5CA8-714A-9066-C1657D87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6E8F8-BB2D-EB4B-A41E-26E92CB7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49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0C49-22EA-0349-883C-1151767C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DB3E3-218C-3F4D-91D5-C2D0F9E6C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F8787-F933-7A4C-9DBC-876DBC26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1B10C-0667-2840-B949-F299D282B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E409-847A-834A-A045-AD74C586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8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5699-8781-C741-9AEB-D20BDBDE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D410E-179E-4941-B697-062DB2B6E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9B6CF-7A24-6943-AD57-36F46FE5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94D23-2641-774F-9A73-CAC38CC7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4156-0D71-F44D-98B9-3533989A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3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039E-C9C6-E845-84B8-3396A9A0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0ED53-F7D8-9D4C-91C1-3B2C54895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25857-5DF5-2F42-8DD0-F54894745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4D066-9882-A346-8370-579B2591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A40B7-5CC0-3840-83D9-FB52F605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0AAB1-862E-414B-A02E-9C68829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6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7BC3-F4CA-2445-BE4A-F3331C88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5936-7721-BA40-8CC4-85C7DA621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73070-2956-1C45-9B17-FEAB41357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8567D-C1F3-CF46-AEC6-79837CB23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67E23-0020-9040-A4AA-9C88F765C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B1D9A-D762-A947-89EB-DC41499B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AFD1F-012B-324E-B3A6-2A7CE3B3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E49C7-8745-9842-91FA-22C3C694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1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1385-4DB7-7545-A627-12C7FF0C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B17AE-1B1A-6C44-9A88-FBC1369E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084A8-AF1E-704C-A9D9-54303698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C7B52-D078-EC44-83C8-AE32896D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7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A8E95-A1E0-614C-99F0-8FD407E90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01ACC-7B0F-8C4E-B570-27CABC7A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6F871-54E7-6E4F-A01B-951EE7BF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8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E1F0-C70B-0E4C-B5B5-7CE99600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6656-68B0-AA48-A979-ACBF123E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E1E83-C986-C644-865D-1A9B4EC15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F7BD4-1280-7D48-BEAB-7DADB9D4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C559A-F195-2E40-9FB1-DD44756B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61874-5FB0-6548-A898-DA548F4A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2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BC5E-5612-384A-AC0A-DC89CA81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7FEEE-9FE5-0348-A675-095DB2EF2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FF4EA-4E99-FD4D-AE6F-71A2F04BE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4C6C-4DFA-FD45-A040-7E5FD28A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4CAB3-E86A-6E4A-AFCC-2E376E20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9F31B-8428-3446-84BD-534CE739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1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72AF-0390-1747-9F43-0886D610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F510A-BF30-ED4C-9055-5F26395EA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0B714-F60D-1444-AF99-F3610870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C39DE-D529-8947-B94B-7EC6DA90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E377B-9055-4C46-8575-90576FAF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9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0C65D-041F-8541-B8F4-1FD71717D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D139C-CB53-A249-9422-F81FC7090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30235-E02C-894B-ACBA-07ADBB1C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B82DC-3033-1B4F-9246-B3C055A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80D55-FFE4-B841-B7A5-90315C45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1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09A39-6773-3641-86A3-424C5981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16471-7EC3-0D49-9300-A63F047B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29416-6A45-1649-AE56-DB76C248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5D9E1-BA57-E444-8F13-844B2ED4FDAE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3410C-627E-D645-814F-14E2B72E4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C04EF-9CE7-794F-B579-07C21F427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8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iff"/><Relationship Id="rId3" Type="http://schemas.openxmlformats.org/officeDocument/2006/relationships/image" Target="../media/image13.tiff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18" Type="http://schemas.openxmlformats.org/officeDocument/2006/relationships/customXml" Target="../ink/ink6.xml"/><Relationship Id="rId26" Type="http://schemas.openxmlformats.org/officeDocument/2006/relationships/customXml" Target="../ink/ink9.xml"/><Relationship Id="rId3" Type="http://schemas.openxmlformats.org/officeDocument/2006/relationships/customXml" Target="../ink/ink1.xml"/><Relationship Id="rId21" Type="http://schemas.openxmlformats.org/officeDocument/2006/relationships/image" Target="../media/image31.png"/><Relationship Id="rId7" Type="http://schemas.openxmlformats.org/officeDocument/2006/relationships/customXml" Target="../ink/ink3.xml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5" Type="http://schemas.openxmlformats.org/officeDocument/2006/relationships/image" Target="../media/image34.png"/><Relationship Id="rId2" Type="http://schemas.openxmlformats.org/officeDocument/2006/relationships/image" Target="../media/image13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24" Type="http://schemas.openxmlformats.org/officeDocument/2006/relationships/image" Target="../media/image33.png"/><Relationship Id="rId5" Type="http://schemas.openxmlformats.org/officeDocument/2006/relationships/customXml" Target="../ink/ink2.xml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10" Type="http://schemas.openxmlformats.org/officeDocument/2006/relationships/image" Target="../media/image23.png"/><Relationship Id="rId19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customXml" Target="../ink/ink4.xml"/><Relationship Id="rId14" Type="http://schemas.openxmlformats.org/officeDocument/2006/relationships/image" Target="../media/image27.png"/><Relationship Id="rId22" Type="http://schemas.openxmlformats.org/officeDocument/2006/relationships/customXml" Target="../ink/ink8.xml"/><Relationship Id="rId27" Type="http://schemas.openxmlformats.org/officeDocument/2006/relationships/image" Target="../media/image1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7" Type="http://schemas.microsoft.com/office/2007/relationships/hdphoto" Target="../media/hdphoto2.wdp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Modeling Cyberphysical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8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6A42-60A7-C449-8930-90B43F45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3E42-F664-934E-B525-1A44AD459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Modeling cyber-physical systems</a:t>
            </a:r>
          </a:p>
          <a:p>
            <a:pPr lvl="1"/>
            <a:r>
              <a:rPr lang="en-US" dirty="0"/>
              <a:t>Hybrid automata</a:t>
            </a:r>
          </a:p>
          <a:p>
            <a:pPr lvl="1"/>
            <a:r>
              <a:rPr lang="en-US" dirty="0"/>
              <a:t>Executions</a:t>
            </a:r>
          </a:p>
          <a:p>
            <a:pPr lvl="1"/>
            <a:r>
              <a:rPr lang="en-US" dirty="0"/>
              <a:t>Urgency</a:t>
            </a:r>
          </a:p>
          <a:p>
            <a:r>
              <a:rPr lang="en-US" dirty="0"/>
              <a:t>Zeno</a:t>
            </a:r>
          </a:p>
          <a:p>
            <a:r>
              <a:rPr lang="en-US" dirty="0"/>
              <a:t>Hybrid stability</a:t>
            </a:r>
          </a:p>
        </p:txBody>
      </p:sp>
    </p:spTree>
    <p:extLst>
      <p:ext uri="{BB962C8B-B14F-4D97-AF65-F5344CB8AC3E}">
        <p14:creationId xmlns:p14="http://schemas.microsoft.com/office/powerpoint/2010/main" val="393583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1E9D-E9CF-C43F-B64F-E6E377D9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combine discrete and continuous time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C27A0-E033-C533-0D4D-014B6812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Engineering systems can have dynamics with widely different time constants</a:t>
            </a:r>
          </a:p>
          <a:p>
            <a:pPr lvl="1"/>
            <a:r>
              <a:rPr lang="en-US" dirty="0">
                <a:latin typeface="+mj-lt"/>
              </a:rPr>
              <a:t>Software for AV updates at 1 GHz --- human scale motion 10 Hz</a:t>
            </a:r>
          </a:p>
          <a:p>
            <a:pPr lvl="1"/>
            <a:r>
              <a:rPr lang="en-US" dirty="0">
                <a:latin typeface="+mj-lt"/>
              </a:rPr>
              <a:t>Electrical circuit breakers 50 Hz --- power system dynamics 0.1 – 1 Hz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Widely different time constants can make computation numerically unstable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Some state changes are naturally described by automata: </a:t>
            </a:r>
          </a:p>
          <a:p>
            <a:pPr lvl="1"/>
            <a:r>
              <a:rPr lang="en-US" dirty="0">
                <a:latin typeface="+mj-lt"/>
              </a:rPr>
              <a:t>programs, automata, SMT, switching rules, etc.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while others are naturally described by ODEs: </a:t>
            </a:r>
          </a:p>
          <a:p>
            <a:pPr lvl="1"/>
            <a:r>
              <a:rPr lang="en-US" dirty="0">
                <a:latin typeface="+mj-lt"/>
              </a:rPr>
              <a:t>motion of planets and satellites, physical laws, weather</a:t>
            </a:r>
          </a:p>
        </p:txBody>
      </p:sp>
    </p:spTree>
    <p:extLst>
      <p:ext uri="{BB962C8B-B14F-4D97-AF65-F5344CB8AC3E}">
        <p14:creationId xmlns:p14="http://schemas.microsoft.com/office/powerpoint/2010/main" val="212330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8960-AB09-BE42-9E8A-A6C12B9D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092"/>
          </a:xfrm>
        </p:spPr>
        <p:txBody>
          <a:bodyPr/>
          <a:lstStyle/>
          <a:p>
            <a:r>
              <a:rPr lang="en-US" dirty="0"/>
              <a:t>Example. Thermostat automaton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16046-AC4B-ED49-9AE3-4BB081C8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6" y="1363489"/>
            <a:ext cx="5839084" cy="1647898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5A7AC65-9D5F-4744-8882-C507A419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974529"/>
            <a:ext cx="595294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automaton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Thermostat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where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&gt;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enumeration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[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variables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transitions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trajectories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San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8" name="Picture 4" descr="page75image7967904">
            <a:extLst>
              <a:ext uri="{FF2B5EF4-FFF2-40B4-BE49-F238E27FC236}">
                <a16:creationId xmlns:a16="http://schemas.microsoft.com/office/drawing/2014/main" id="{387B2CD3-C3A0-6049-BEE7-BAA0CA40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754063"/>
            <a:ext cx="455930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2A16590-659E-F647-9F4C-830CCB4E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687" y="2107016"/>
            <a:ext cx="353861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Kx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EF79F-021D-0142-9021-2353BD38BB67}"/>
              </a:ext>
            </a:extLst>
          </p:cNvPr>
          <p:cNvSpPr txBox="1"/>
          <p:nvPr/>
        </p:nvSpPr>
        <p:spPr>
          <a:xfrm>
            <a:off x="8099832" y="5615806"/>
            <a:ext cx="3253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Determinism vs nondeterminism</a:t>
            </a:r>
          </a:p>
          <a:p>
            <a:r>
              <a:rPr lang="en-US" dirty="0"/>
              <a:t>mode invariants</a:t>
            </a:r>
          </a:p>
        </p:txBody>
      </p:sp>
      <p:pic>
        <p:nvPicPr>
          <p:cNvPr id="3" name="Picture 2" descr="A graph of a controller with blue and green lines&#10;&#10;Description automatically generated">
            <a:extLst>
              <a:ext uri="{FF2B5EF4-FFF2-40B4-BE49-F238E27FC236}">
                <a16:creationId xmlns:a16="http://schemas.microsoft.com/office/drawing/2014/main" id="{DF83B790-1B88-6648-80B6-53F1C132F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60"/>
          <a:stretch/>
        </p:blipFill>
        <p:spPr>
          <a:xfrm>
            <a:off x="131404" y="3620812"/>
            <a:ext cx="5812352" cy="28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7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Recall language for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32837"/>
                <a:ext cx="6716486" cy="44558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0" dirty="0">
                    <a:latin typeface="+mj-lt"/>
                    <a:ea typeface="Cambria Math" panose="02040503050406030204" pitchFamily="18" charset="0"/>
                  </a:rPr>
                  <a:t>An </a:t>
                </a:r>
                <a:r>
                  <a:rPr lang="en-US" sz="2000" b="1" dirty="0">
                    <a:latin typeface="+mj-lt"/>
                    <a:ea typeface="Cambria Math" panose="02040503050406030204" pitchFamily="18" charset="0"/>
                  </a:rPr>
                  <a:t>automaton</a:t>
                </a:r>
                <a:r>
                  <a:rPr lang="en-US" sz="2000" b="0" dirty="0">
                    <a:latin typeface="+mj-lt"/>
                    <a:ea typeface="Cambria Math" panose="02040503050406030204" pitchFamily="18" charset="0"/>
                  </a:rPr>
                  <a:t> tuple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+mj-lt"/>
                  </a:rPr>
                  <a:t> is a set of variables; each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is associated with a type,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pPr lvl="1"/>
                <a:r>
                  <a:rPr lang="en-US" sz="1800" dirty="0">
                    <a:latin typeface="+mj-lt"/>
                  </a:rPr>
                  <a:t>A </a:t>
                </a:r>
                <a:r>
                  <a:rPr lang="en-US" sz="1800" b="1" dirty="0">
                    <a:latin typeface="+mj-lt"/>
                  </a:rPr>
                  <a:t>valuation</a:t>
                </a:r>
                <a:r>
                  <a:rPr lang="en-US" sz="1800" dirty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+mj-lt"/>
                  </a:rPr>
                  <a:t> maps each variable in X to its type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Set of all valuations: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>
                    <a:latin typeface="+mj-lt"/>
                  </a:rPr>
                  <a:t> is the </a:t>
                </a:r>
                <a:r>
                  <a:rPr lang="en-US" sz="1800" b="1" dirty="0">
                    <a:latin typeface="+mj-lt"/>
                  </a:rPr>
                  <a:t>state space </a:t>
                </a:r>
                <a:endParaRPr lang="en-US" sz="18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+mj-lt"/>
                  </a:rPr>
                  <a:t> set of </a:t>
                </a:r>
                <a:r>
                  <a:rPr lang="en-US" sz="2000" b="1" dirty="0">
                    <a:latin typeface="+mj-lt"/>
                  </a:rPr>
                  <a:t>initial</a:t>
                </a:r>
                <a:r>
                  <a:rPr lang="en-US" sz="2000" dirty="0">
                    <a:latin typeface="+mj-lt"/>
                  </a:rPr>
                  <a:t> or </a:t>
                </a:r>
                <a:r>
                  <a:rPr lang="en-US" sz="2000" b="1" dirty="0">
                    <a:latin typeface="+mj-lt"/>
                  </a:rPr>
                  <a:t>start states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+mj-lt"/>
                  </a:rPr>
                  <a:t> is a set of names of </a:t>
                </a:r>
                <a:r>
                  <a:rPr lang="en-US" sz="2000" b="1" dirty="0">
                    <a:latin typeface="+mj-lt"/>
                  </a:rPr>
                  <a:t>actions</a:t>
                </a:r>
                <a:r>
                  <a:rPr lang="en-US" sz="2000" dirty="0">
                    <a:latin typeface="+mj-lt"/>
                  </a:rPr>
                  <a:t> or </a:t>
                </a:r>
                <a:r>
                  <a:rPr lang="en-US" sz="2000" b="1" dirty="0">
                    <a:latin typeface="+mj-lt"/>
                  </a:rPr>
                  <a:t>labels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is the set of </a:t>
                </a:r>
                <a:r>
                  <a:rPr lang="en-US" sz="2000" b="1" dirty="0">
                    <a:latin typeface="+mj-lt"/>
                  </a:rPr>
                  <a:t>transitions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a transition is a triple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sz="1800" dirty="0">
                    <a:latin typeface="+mj-lt"/>
                  </a:rPr>
                  <a:t> 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defined by </a:t>
                </a:r>
                <a:r>
                  <a:rPr lang="en-US" sz="1800" b="1" dirty="0">
                    <a:latin typeface="+mj-lt"/>
                  </a:rPr>
                  <a:t>pre and eff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We write it 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800" dirty="0">
                  <a:latin typeface="+mj-lt"/>
                </a:endParaRPr>
              </a:p>
              <a:p>
                <a:pPr marL="914400" lvl="2" indent="0">
                  <a:buNone/>
                </a:pPr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32837"/>
                <a:ext cx="6716486" cy="4455830"/>
              </a:xfrm>
              <a:blipFill>
                <a:blip r:embed="rId2"/>
                <a:stretch>
                  <a:fillRect l="-1134" t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4F07ED-781B-1D4D-AA8D-D7DA7592417C}"/>
              </a:ext>
            </a:extLst>
          </p:cNvPr>
          <p:cNvSpPr txBox="1"/>
          <p:nvPr/>
        </p:nvSpPr>
        <p:spPr>
          <a:xfrm>
            <a:off x="7795431" y="2757358"/>
            <a:ext cx="4113542" cy="33239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automaton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0119FF"/>
                </a:solidFill>
              </a:rPr>
              <a:t>DijkstraTR</a:t>
            </a:r>
            <a:r>
              <a:rPr lang="en-US" sz="1400" dirty="0"/>
              <a:t>(</a:t>
            </a:r>
            <a:r>
              <a:rPr lang="en-US" sz="1400" dirty="0" err="1"/>
              <a:t>N:</a:t>
            </a:r>
            <a:r>
              <a:rPr lang="en-US" sz="1400" dirty="0" err="1">
                <a:solidFill>
                  <a:srgbClr val="00B050"/>
                </a:solidFill>
              </a:rPr>
              <a:t>Nat</a:t>
            </a:r>
            <a:r>
              <a:rPr lang="en-US" sz="1400" dirty="0"/>
              <a:t>, </a:t>
            </a:r>
            <a:r>
              <a:rPr lang="en-US" sz="1400" dirty="0" err="1"/>
              <a:t>K:</a:t>
            </a:r>
            <a:r>
              <a:rPr lang="en-US" sz="1400" dirty="0" err="1">
                <a:solidFill>
                  <a:srgbClr val="00B050"/>
                </a:solidFill>
              </a:rPr>
              <a:t>Nat</a:t>
            </a:r>
            <a:r>
              <a:rPr lang="en-US" sz="1400" dirty="0"/>
              <a:t>), </a:t>
            </a:r>
            <a:r>
              <a:rPr lang="en-US" sz="1400" b="1" dirty="0"/>
              <a:t>where</a:t>
            </a:r>
            <a:r>
              <a:rPr lang="en-US" sz="1400" dirty="0"/>
              <a:t> K &gt; N</a:t>
            </a:r>
          </a:p>
          <a:p>
            <a:r>
              <a:rPr lang="en-US" sz="1400" dirty="0"/>
              <a:t>  </a:t>
            </a:r>
            <a:r>
              <a:rPr lang="en-US" sz="1400" b="1" dirty="0"/>
              <a:t>type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119FF"/>
                </a:solidFill>
              </a:rPr>
              <a:t>ID</a:t>
            </a:r>
            <a:r>
              <a:rPr lang="en-US" sz="1400" dirty="0"/>
              <a:t>: </a:t>
            </a:r>
            <a:r>
              <a:rPr lang="en-US" sz="1400" b="1" dirty="0"/>
              <a:t>enumeration</a:t>
            </a:r>
            <a:r>
              <a:rPr lang="en-US" sz="1400" dirty="0"/>
              <a:t> [0,...,N-1]</a:t>
            </a:r>
          </a:p>
          <a:p>
            <a:r>
              <a:rPr lang="en-US" sz="1400" dirty="0"/>
              <a:t>  </a:t>
            </a:r>
            <a:r>
              <a:rPr lang="en-US" sz="1400" b="1" dirty="0"/>
              <a:t>type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119FF"/>
                </a:solidFill>
              </a:rPr>
              <a:t>Val</a:t>
            </a:r>
            <a:r>
              <a:rPr lang="en-US" sz="1400" dirty="0"/>
              <a:t>: </a:t>
            </a:r>
            <a:r>
              <a:rPr lang="en-US" sz="1400" b="1" dirty="0"/>
              <a:t>enumeration</a:t>
            </a:r>
            <a:r>
              <a:rPr lang="en-US" sz="1400" dirty="0"/>
              <a:t> [0,...,K]</a:t>
            </a:r>
          </a:p>
          <a:p>
            <a:r>
              <a:rPr lang="en-US" sz="1400" dirty="0"/>
              <a:t>  </a:t>
            </a:r>
            <a:r>
              <a:rPr lang="en-US" sz="1400" b="1" dirty="0"/>
              <a:t>actions</a:t>
            </a:r>
          </a:p>
          <a:p>
            <a:r>
              <a:rPr lang="en-US" sz="1400" dirty="0"/>
              <a:t>      </a:t>
            </a:r>
            <a:r>
              <a:rPr lang="en-US" sz="1400" dirty="0">
                <a:solidFill>
                  <a:srgbClr val="0119FF"/>
                </a:solidFill>
              </a:rPr>
              <a:t>update</a:t>
            </a:r>
            <a:r>
              <a:rPr lang="en-US" sz="1400" dirty="0"/>
              <a:t>(</a:t>
            </a:r>
            <a:r>
              <a:rPr lang="en-US" sz="1400" dirty="0" err="1"/>
              <a:t>i:ID</a:t>
            </a:r>
            <a:r>
              <a:rPr lang="en-US" sz="1400" dirty="0"/>
              <a:t>)</a:t>
            </a:r>
          </a:p>
          <a:p>
            <a:r>
              <a:rPr lang="en-US" sz="1400" dirty="0"/>
              <a:t>  </a:t>
            </a:r>
            <a:r>
              <a:rPr lang="en-US" sz="1400" b="1" dirty="0"/>
              <a:t>variables</a:t>
            </a:r>
          </a:p>
          <a:p>
            <a:r>
              <a:rPr lang="en-US" sz="1400" dirty="0"/>
              <a:t>      </a:t>
            </a:r>
            <a:r>
              <a:rPr lang="en-US" sz="1400" dirty="0">
                <a:solidFill>
                  <a:srgbClr val="0119FF"/>
                </a:solidFill>
              </a:rPr>
              <a:t>x</a:t>
            </a:r>
            <a:r>
              <a:rPr lang="en-US" sz="1400" dirty="0"/>
              <a:t>:[ID -&gt; Val]</a:t>
            </a:r>
          </a:p>
          <a:p>
            <a:r>
              <a:rPr lang="en-US" sz="1400" dirty="0"/>
              <a:t>   </a:t>
            </a:r>
            <a:r>
              <a:rPr lang="en-US" sz="1400" b="1" dirty="0"/>
              <a:t>transitions</a:t>
            </a:r>
          </a:p>
          <a:p>
            <a:r>
              <a:rPr lang="en-US" sz="1400" dirty="0"/>
              <a:t>      </a:t>
            </a:r>
            <a:r>
              <a:rPr lang="en-US" sz="1400" dirty="0">
                <a:solidFill>
                  <a:srgbClr val="0119FF"/>
                </a:solidFill>
              </a:rPr>
              <a:t>update</a:t>
            </a:r>
            <a:r>
              <a:rPr lang="en-US" sz="1400" dirty="0"/>
              <a:t>(</a:t>
            </a:r>
            <a:r>
              <a:rPr lang="en-US" sz="1400" dirty="0" err="1"/>
              <a:t>i:ID</a:t>
            </a:r>
            <a:r>
              <a:rPr lang="en-US" sz="1400" dirty="0"/>
              <a:t>) </a:t>
            </a:r>
          </a:p>
          <a:p>
            <a:r>
              <a:rPr lang="en-US" sz="1400" b="1" dirty="0"/>
              <a:t>        pre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= 0 /\ x[</a:t>
            </a:r>
            <a:r>
              <a:rPr lang="en-US" sz="1400" dirty="0" err="1"/>
              <a:t>i</a:t>
            </a:r>
            <a:r>
              <a:rPr lang="en-US" sz="1400" dirty="0"/>
              <a:t>] = x[N-1]</a:t>
            </a:r>
          </a:p>
          <a:p>
            <a:r>
              <a:rPr lang="en-US" sz="1400" dirty="0"/>
              <a:t>        </a:t>
            </a:r>
            <a:r>
              <a:rPr lang="en-US" sz="1400" b="1" dirty="0"/>
              <a:t>eff</a:t>
            </a:r>
            <a:r>
              <a:rPr lang="en-US" sz="1400" dirty="0"/>
              <a:t> x[</a:t>
            </a:r>
            <a:r>
              <a:rPr lang="en-US" sz="1400" dirty="0" err="1"/>
              <a:t>i</a:t>
            </a:r>
            <a:r>
              <a:rPr lang="en-US" sz="1400" dirty="0"/>
              <a:t>] := (x[</a:t>
            </a:r>
            <a:r>
              <a:rPr lang="en-US" sz="1400" dirty="0" err="1"/>
              <a:t>i</a:t>
            </a:r>
            <a:r>
              <a:rPr lang="en-US" sz="1400" dirty="0"/>
              <a:t>] + 1) %  K</a:t>
            </a:r>
          </a:p>
          <a:p>
            <a:r>
              <a:rPr lang="en-US" sz="1400" dirty="0"/>
              <a:t>   </a:t>
            </a:r>
          </a:p>
          <a:p>
            <a:r>
              <a:rPr lang="en-US" sz="1400" dirty="0"/>
              <a:t>       </a:t>
            </a:r>
            <a:r>
              <a:rPr lang="en-US" sz="1400" dirty="0">
                <a:solidFill>
                  <a:srgbClr val="0119FF"/>
                </a:solidFill>
              </a:rPr>
              <a:t>update</a:t>
            </a:r>
            <a:r>
              <a:rPr lang="en-US" sz="1400" dirty="0"/>
              <a:t>(</a:t>
            </a:r>
            <a:r>
              <a:rPr lang="en-US" sz="1400" dirty="0" err="1"/>
              <a:t>i:ID</a:t>
            </a:r>
            <a:r>
              <a:rPr lang="en-US" sz="1400" dirty="0"/>
              <a:t>)</a:t>
            </a:r>
          </a:p>
          <a:p>
            <a:r>
              <a:rPr lang="en-US" sz="1400" dirty="0"/>
              <a:t>         </a:t>
            </a:r>
            <a:r>
              <a:rPr lang="en-US" sz="1400" b="1" dirty="0"/>
              <a:t>pre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&gt;0  /\ x[</a:t>
            </a:r>
            <a:r>
              <a:rPr lang="en-US" sz="1400" dirty="0" err="1"/>
              <a:t>i</a:t>
            </a:r>
            <a:r>
              <a:rPr lang="en-US" sz="1400" dirty="0"/>
              <a:t>] ~= x[i-1]</a:t>
            </a:r>
          </a:p>
          <a:p>
            <a:r>
              <a:rPr lang="en-US" sz="1400" dirty="0"/>
              <a:t>         </a:t>
            </a:r>
            <a:r>
              <a:rPr lang="en-US" sz="1400" b="1" dirty="0"/>
              <a:t>eff</a:t>
            </a:r>
            <a:r>
              <a:rPr lang="en-US" sz="1400" dirty="0"/>
              <a:t> x[</a:t>
            </a:r>
            <a:r>
              <a:rPr lang="en-US" sz="1400" dirty="0" err="1"/>
              <a:t>i</a:t>
            </a:r>
            <a:r>
              <a:rPr lang="en-US" sz="1400" dirty="0"/>
              <a:t>] := x[i-1]</a:t>
            </a:r>
          </a:p>
        </p:txBody>
      </p:sp>
    </p:spTree>
    <p:extLst>
      <p:ext uri="{BB962C8B-B14F-4D97-AF65-F5344CB8AC3E}">
        <p14:creationId xmlns:p14="http://schemas.microsoft.com/office/powerpoint/2010/main" val="157966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CCC8D5-96B3-8D43-B38C-2C89D12A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35" y="15253"/>
            <a:ext cx="10515600" cy="1325563"/>
          </a:xfrm>
        </p:spPr>
        <p:txBody>
          <a:bodyPr/>
          <a:lstStyle/>
          <a:p>
            <a:r>
              <a:rPr lang="en-US" dirty="0"/>
              <a:t>Trajectories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7103D87-9FF5-4644-9699-65B2A8E626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7835" y="1333500"/>
                <a:ext cx="9430808" cy="55245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set of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j-lt"/>
                  </a:rPr>
                  <a:t> and time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>
                    <a:latin typeface="+mj-lt"/>
                  </a:rPr>
                  <a:t> of the form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[0,∞)</m:t>
                    </m:r>
                  </m:oMath>
                </a14:m>
                <a:r>
                  <a:rPr lang="en-US" dirty="0">
                    <a:latin typeface="+mj-lt"/>
                  </a:rPr>
                  <a:t>, a </a:t>
                </a:r>
                <a:r>
                  <a:rPr lang="en-US" b="1" i="1" dirty="0">
                    <a:latin typeface="+mj-lt"/>
                  </a:rPr>
                  <a:t>trajectory</a:t>
                </a:r>
                <a:r>
                  <a:rPr lang="en-US" dirty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j-lt"/>
                  </a:rPr>
                  <a:t> is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We will specify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as </a:t>
                </a:r>
                <a:r>
                  <a:rPr lang="en-US" i="1" dirty="0">
                    <a:latin typeface="+mj-lt"/>
                  </a:rPr>
                  <a:t>solutions of </a:t>
                </a:r>
                <a:r>
                  <a:rPr lang="en-US" dirty="0">
                    <a:latin typeface="+mj-lt"/>
                  </a:rPr>
                  <a:t>differential</a:t>
                </a:r>
                <a:r>
                  <a:rPr lang="en-US" i="1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</a:rPr>
                  <a:t>equations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+mj-lt"/>
                  </a:rPr>
                  <a:t>first state </a:t>
                </a:r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is right closed then the </a:t>
                </a:r>
                <a:r>
                  <a:rPr lang="en-US" b="1" dirty="0">
                    <a:latin typeface="+mj-lt"/>
                  </a:rPr>
                  <a:t>limit state </a:t>
                </a:r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is finite then </a:t>
                </a:r>
                <a:r>
                  <a:rPr lang="en-US" b="1" dirty="0">
                    <a:latin typeface="+mj-lt"/>
                  </a:rPr>
                  <a:t>duration</a:t>
                </a:r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i="1" dirty="0">
                    <a:latin typeface="+mj-lt"/>
                  </a:rPr>
                  <a:t>Domain</a:t>
                </a:r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 </a:t>
                </a:r>
                <a:r>
                  <a:rPr lang="en-US" b="1" dirty="0">
                    <a:latin typeface="+mj-lt"/>
                  </a:rPr>
                  <a:t>point trajectory </a:t>
                </a:r>
                <a:r>
                  <a:rPr lang="en-US" dirty="0">
                    <a:latin typeface="+mj-lt"/>
                  </a:rPr>
                  <a:t>is a trajectory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=[0,0]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 </a:t>
                </a:r>
                <a:r>
                  <a:rPr lang="en-US" b="1" dirty="0">
                    <a:latin typeface="+mj-lt"/>
                  </a:rPr>
                  <a:t>prefix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, is a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+mj-lt"/>
                </a:endParaRP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7103D87-9FF5-4644-9699-65B2A8E62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7835" y="1333500"/>
                <a:ext cx="9430808" cy="5524500"/>
              </a:xfrm>
              <a:blipFill>
                <a:blip r:embed="rId2"/>
                <a:stretch>
                  <a:fillRect l="-1211" t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graph of a controller with blue and green lines&#10;&#10;Description automatically generated">
            <a:extLst>
              <a:ext uri="{FF2B5EF4-FFF2-40B4-BE49-F238E27FC236}">
                <a16:creationId xmlns:a16="http://schemas.microsoft.com/office/drawing/2014/main" id="{147F8C79-EE7D-ED21-8273-0867F33C7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0" r="22134"/>
          <a:stretch/>
        </p:blipFill>
        <p:spPr>
          <a:xfrm>
            <a:off x="9057520" y="2659063"/>
            <a:ext cx="3007038" cy="190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3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Automaton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 variables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states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start states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actions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, A= E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∪ H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 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trajectories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for X</a:t>
                </a:r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which is closed under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prefix, suffix, and concatenation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  <a:blipFill>
                <a:blip r:embed="rId3"/>
                <a:stretch>
                  <a:fillRect l="-1520" t="-813" r="-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103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Semantics: Executions and Traces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51113" y="1600200"/>
                <a:ext cx="6183083" cy="51054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An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execution </a:t>
                </a:r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 is an (possibly infinite) alternating sequence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r>
                  <a:rPr lang="en-US" dirty="0">
                    <a:latin typeface="+mj-lt"/>
                  </a:rPr>
                  <a:t> where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+mj-lt"/>
                    <a:ea typeface="Cambria Math"/>
                  </a:rPr>
                  <a:t>∀ </a:t>
                </a:r>
                <a:r>
                  <a:rPr lang="en-US" dirty="0" err="1">
                    <a:latin typeface="+mj-lt"/>
                    <a:ea typeface="Cambria Math"/>
                  </a:rPr>
                  <a:t>i</a:t>
                </a:r>
                <a:r>
                  <a:rPr lang="en-US" dirty="0">
                    <a:latin typeface="+mj-lt"/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+1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⟶</m:t>
                          </m:r>
                        </m:e>
                      </m:mr>
                    </m:m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</m:oMath>
                </a14:m>
                <a:endParaRPr lang="en-US" b="0" dirty="0">
                  <a:latin typeface="+mj-lt"/>
                  <a:ea typeface="Cambria Math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+mj-lt"/>
                    <a:ea typeface="Cambria Math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.</a:t>
                </a:r>
                <a:r>
                  <a:rPr lang="en-US" dirty="0" err="1">
                    <a:latin typeface="+mj-lt"/>
                  </a:rPr>
                  <a:t>fstate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is an </a:t>
                </a:r>
                <a:r>
                  <a:rPr lang="en-US" b="1" dirty="0">
                    <a:latin typeface="+mj-lt"/>
                  </a:rPr>
                  <a:t>execution</a:t>
                </a:r>
                <a:endParaRPr lang="en-US" b="1" dirty="0"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Execs</a:t>
                </a:r>
                <a14:m>
                  <m:oMath xmlns:m="http://schemas.openxmlformats.org/officeDocument/2006/math">
                    <m:r>
                      <a:rPr lang="en-US" b="1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b="1" baseline="-25000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set of all executions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First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is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finite and closed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</m:oMath>
                </a14:m>
                <a:endParaRPr lang="en-US" b="0" dirty="0"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A state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is </a:t>
                </a:r>
                <a:r>
                  <a:rPr lang="en-US" i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reachable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if there exists an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+mj-lt"/>
                  <a:ea typeface="Cambria Math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51113" y="1600200"/>
                <a:ext cx="6183083" cy="5105400"/>
              </a:xfrm>
              <a:blipFill>
                <a:blip r:embed="rId2"/>
                <a:stretch>
                  <a:fillRect l="-1643" t="-995" r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984752-55CF-8109-45DE-7840454F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979" y="1232823"/>
            <a:ext cx="4580675" cy="12927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6BC41C4-BBE3-6FBA-1EE0-E77F200BACC3}"/>
              </a:ext>
            </a:extLst>
          </p:cNvPr>
          <p:cNvGrpSpPr/>
          <p:nvPr/>
        </p:nvGrpSpPr>
        <p:grpSpPr>
          <a:xfrm>
            <a:off x="7304979" y="2923140"/>
            <a:ext cx="4580675" cy="2906850"/>
            <a:chOff x="7304979" y="2923140"/>
            <a:chExt cx="4580675" cy="2906850"/>
          </a:xfrm>
        </p:grpSpPr>
        <p:pic>
          <p:nvPicPr>
            <p:cNvPr id="3" name="Picture 2" descr="A graph of a controller with blue and green lines&#10;&#10;Description automatically generated">
              <a:extLst>
                <a:ext uri="{FF2B5EF4-FFF2-40B4-BE49-F238E27FC236}">
                  <a16:creationId xmlns:a16="http://schemas.microsoft.com/office/drawing/2014/main" id="{F192A976-672E-1D70-22E6-60E2304FE9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260" r="22134"/>
            <a:stretch/>
          </p:blipFill>
          <p:spPr>
            <a:xfrm>
              <a:off x="7304979" y="2923140"/>
              <a:ext cx="4580675" cy="29068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5C3ED2-59BC-FA59-7BF4-14640D83B359}"/>
                </a:ext>
              </a:extLst>
            </p:cNvPr>
            <p:cNvSpPr txBox="1"/>
            <p:nvPr/>
          </p:nvSpPr>
          <p:spPr>
            <a:xfrm rot="16200000">
              <a:off x="7648381" y="3591528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643B60-046E-FCD3-2DFE-55D0F415FA85}"/>
                </a:ext>
              </a:extLst>
            </p:cNvPr>
            <p:cNvSpPr txBox="1"/>
            <p:nvPr/>
          </p:nvSpPr>
          <p:spPr>
            <a:xfrm rot="16200000">
              <a:off x="9372530" y="3591527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89B711-3464-B7C5-9F59-141CF17E5240}"/>
                </a:ext>
              </a:extLst>
            </p:cNvPr>
            <p:cNvSpPr txBox="1"/>
            <p:nvPr/>
          </p:nvSpPr>
          <p:spPr>
            <a:xfrm rot="16200000">
              <a:off x="10737177" y="3591526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764E3-7B53-D385-A177-DFF0311E7FC6}"/>
                </a:ext>
              </a:extLst>
            </p:cNvPr>
            <p:cNvSpPr txBox="1"/>
            <p:nvPr/>
          </p:nvSpPr>
          <p:spPr>
            <a:xfrm rot="16200000">
              <a:off x="9005205" y="3591526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9BADAA-262A-D205-B7E2-421023EC167D}"/>
                </a:ext>
              </a:extLst>
            </p:cNvPr>
            <p:cNvSpPr txBox="1"/>
            <p:nvPr/>
          </p:nvSpPr>
          <p:spPr>
            <a:xfrm rot="16200000">
              <a:off x="10330109" y="3583704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246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229F-69B5-FF2F-B913-1B75B7E9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885"/>
          </a:xfrm>
        </p:spPr>
        <p:txBody>
          <a:bodyPr>
            <a:normAutofit fontScale="90000"/>
          </a:bodyPr>
          <a:lstStyle/>
          <a:p>
            <a:r>
              <a:rPr lang="en-US" dirty="0"/>
              <a:t>Mode invariants: Urgency in transitions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9B99E6-1D1C-35D4-EEA0-4451B3AC35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232452"/>
                <a:ext cx="6466778" cy="546652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The trajectories in a hybrid automaton are often specified as solutions of ODEs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Solutions of 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define a family of trajectories which are closed under prefix, suffix, and concatenation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Nothing prevents a trajectory to continue forever unless an action is forced to occur by a </a:t>
                </a:r>
                <a:r>
                  <a:rPr lang="en-US" b="1" dirty="0"/>
                  <a:t>mode invariant</a:t>
                </a:r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9B99E6-1D1C-35D4-EEA0-4451B3AC3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232452"/>
                <a:ext cx="6466778" cy="5466522"/>
              </a:xfrm>
              <a:blipFill>
                <a:blip r:embed="rId2"/>
                <a:stretch>
                  <a:fillRect l="-1765" t="-926" r="-1569" b="-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CD015DB-E1F7-7863-1168-86EE77B2473E}"/>
              </a:ext>
            </a:extLst>
          </p:cNvPr>
          <p:cNvGrpSpPr/>
          <p:nvPr/>
        </p:nvGrpSpPr>
        <p:grpSpPr>
          <a:xfrm>
            <a:off x="7304979" y="2923140"/>
            <a:ext cx="4580675" cy="2906850"/>
            <a:chOff x="7304979" y="2923140"/>
            <a:chExt cx="4580675" cy="2906850"/>
          </a:xfrm>
        </p:grpSpPr>
        <p:pic>
          <p:nvPicPr>
            <p:cNvPr id="7" name="Picture 6" descr="A graph of a controller with blue and green lines&#10;&#10;Description automatically generated">
              <a:extLst>
                <a:ext uri="{FF2B5EF4-FFF2-40B4-BE49-F238E27FC236}">
                  <a16:creationId xmlns:a16="http://schemas.microsoft.com/office/drawing/2014/main" id="{3423E34D-E946-F080-1ABF-FB8BABBE2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60" r="22134"/>
            <a:stretch/>
          </p:blipFill>
          <p:spPr>
            <a:xfrm>
              <a:off x="7304979" y="2923140"/>
              <a:ext cx="4580675" cy="29068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D48698-8A53-4E33-5C27-3FEE0F7564AB}"/>
                </a:ext>
              </a:extLst>
            </p:cNvPr>
            <p:cNvSpPr txBox="1"/>
            <p:nvPr/>
          </p:nvSpPr>
          <p:spPr>
            <a:xfrm rot="16200000">
              <a:off x="7648381" y="3591528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1E2D30-5246-2E75-8D70-9E8647350A21}"/>
                </a:ext>
              </a:extLst>
            </p:cNvPr>
            <p:cNvSpPr txBox="1"/>
            <p:nvPr/>
          </p:nvSpPr>
          <p:spPr>
            <a:xfrm rot="16200000">
              <a:off x="9372530" y="3591527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02F0BD-62B2-44CE-5582-BB3E5BF5C734}"/>
                </a:ext>
              </a:extLst>
            </p:cNvPr>
            <p:cNvSpPr txBox="1"/>
            <p:nvPr/>
          </p:nvSpPr>
          <p:spPr>
            <a:xfrm rot="16200000">
              <a:off x="10737177" y="3591526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6340D1-9698-1C08-1339-E4B297BF25B2}"/>
                </a:ext>
              </a:extLst>
            </p:cNvPr>
            <p:cNvSpPr txBox="1"/>
            <p:nvPr/>
          </p:nvSpPr>
          <p:spPr>
            <a:xfrm rot="16200000">
              <a:off x="9005205" y="3591526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E055F7-C965-F2B2-D14A-FE1C62E1A3C0}"/>
                </a:ext>
              </a:extLst>
            </p:cNvPr>
            <p:cNvSpPr txBox="1"/>
            <p:nvPr/>
          </p:nvSpPr>
          <p:spPr>
            <a:xfrm rot="16200000">
              <a:off x="10330109" y="3583704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314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308"/>
          </a:xfrm>
        </p:spPr>
        <p:txBody>
          <a:bodyPr/>
          <a:lstStyle/>
          <a:p>
            <a:r>
              <a:rPr lang="en-US" dirty="0"/>
              <a:t>Example. Bouncing Ball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10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038600" y="1410652"/>
                <a:ext cx="5486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automaton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Bouncingball</a:t>
                </a:r>
                <a:r>
                  <a:rPr lang="en-US" sz="1800" dirty="0">
                    <a:solidFill>
                      <a:schemeClr val="tx1"/>
                    </a:solidFill>
                  </a:rPr>
                  <a:t>(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c,h,g</a:t>
                </a:r>
                <a:r>
                  <a:rPr lang="en-US" sz="18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variables: </a:t>
                </a:r>
                <a:r>
                  <a:rPr lang="en-US" sz="1800" dirty="0">
                    <a:solidFill>
                      <a:schemeClr val="tx1"/>
                    </a:solidFill>
                  </a:rPr>
                  <a:t>x: Reals := h, v: Reals := 0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actions: </a:t>
                </a:r>
                <a:r>
                  <a:rPr lang="en-US" sz="1800" dirty="0">
                    <a:solidFill>
                      <a:schemeClr val="tx1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transitions: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      </a:t>
                </a:r>
                <a:r>
                  <a:rPr lang="en-US" sz="1800" dirty="0">
                    <a:solidFill>
                      <a:schemeClr val="tx1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pre </a:t>
                </a:r>
                <a:r>
                  <a:rPr lang="en-US" sz="1800" i="1" dirty="0">
                    <a:solidFill>
                      <a:schemeClr val="tx1"/>
                    </a:solidFill>
                  </a:rPr>
                  <a:t>x = 0 /\ v &lt; 0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eff </a:t>
                </a:r>
                <a:r>
                  <a:rPr lang="en-US" sz="1800" dirty="0">
                    <a:solidFill>
                      <a:schemeClr val="tx1"/>
                    </a:solidFill>
                  </a:rPr>
                  <a:t>v := -cv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 trajectories: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</a:t>
                </a:r>
                <a:r>
                  <a:rPr lang="en-US" sz="1800" dirty="0">
                    <a:solidFill>
                      <a:schemeClr val="tx1"/>
                    </a:solidFill>
                  </a:rPr>
                  <a:t>Loc1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evolve </a:t>
                </a:r>
                <a:r>
                  <a:rPr lang="en-US" sz="1800" dirty="0">
                    <a:solidFill>
                      <a:schemeClr val="tx1"/>
                    </a:solidFill>
                  </a:rPr>
                  <a:t>d(x) = v; d(v) = -g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38600" y="1410652"/>
                <a:ext cx="5486400" cy="4525963"/>
              </a:xfrm>
              <a:blipFill>
                <a:blip r:embed="rId3"/>
                <a:stretch>
                  <a:fillRect l="-1155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/>
              <p:cNvSpPr/>
              <p:nvPr/>
            </p:nvSpPr>
            <p:spPr>
              <a:xfrm>
                <a:off x="1210602" y="3403806"/>
                <a:ext cx="1600200" cy="12192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Loc</a:t>
                </a:r>
                <a:r>
                  <a:rPr lang="en-US" dirty="0">
                    <a:solidFill>
                      <a:schemeClr val="tx1"/>
                    </a:solidFill>
                  </a:rPr>
                  <a:t>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𝟎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602" y="3403806"/>
                <a:ext cx="1600200" cy="1219200"/>
              </a:xfrm>
              <a:prstGeom prst="ellipse">
                <a:avLst/>
              </a:prstGeom>
              <a:blipFill>
                <a:blip r:embed="rId4"/>
                <a:stretch>
                  <a:fillRect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6" idx="1"/>
            <a:endCxn id="6" idx="7"/>
          </p:cNvCxnSpPr>
          <p:nvPr/>
        </p:nvCxnSpPr>
        <p:spPr>
          <a:xfrm rot="5400000" flipH="1" flipV="1">
            <a:off x="2010702" y="3016598"/>
            <a:ext cx="12700" cy="1131512"/>
          </a:xfrm>
          <a:prstGeom prst="curvedConnector3">
            <a:avLst>
              <a:gd name="adj1" fmla="val 521358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6349" y="5846543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Graphical Representation used in many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82" y="1935050"/>
            <a:ext cx="135005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bounce</a:t>
            </a:r>
            <a:endParaRPr lang="en-US" i="1" dirty="0"/>
          </a:p>
          <a:p>
            <a:pPr algn="ctr"/>
            <a:r>
              <a:rPr lang="en-US" i="1" dirty="0"/>
              <a:t>x = 0 /\ v &lt; 0</a:t>
            </a:r>
          </a:p>
          <a:p>
            <a:pPr algn="ctr"/>
            <a:r>
              <a:rPr lang="en-US" i="1" dirty="0"/>
              <a:t>v’ := -cv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2" name="Straight Arrow Connector 21"/>
          <p:cNvCxnSpPr>
            <a:endCxn id="6" idx="2"/>
          </p:cNvCxnSpPr>
          <p:nvPr/>
        </p:nvCxnSpPr>
        <p:spPr>
          <a:xfrm>
            <a:off x="677202" y="4013406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7317" y="4104574"/>
            <a:ext cx="636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x:= h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Slides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en-US" dirty="0"/>
              <a:t>Sayan Mitra</a:t>
            </a:r>
            <a:r>
              <a:rPr lang="de-DE" dirty="0"/>
              <a:t> </a:t>
            </a:r>
            <a:r>
              <a:rPr lang="de-DE" dirty="0" err="1"/>
              <a:t>mitras@illinois.edu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F3E2E-D247-8B4E-A245-B00FC243FC2D}"/>
              </a:ext>
            </a:extLst>
          </p:cNvPr>
          <p:cNvSpPr/>
          <p:nvPr/>
        </p:nvSpPr>
        <p:spPr>
          <a:xfrm>
            <a:off x="9525000" y="5303108"/>
            <a:ext cx="2109963" cy="12936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 invariant, not to be confused with invariants of the automaton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69887C-AE55-6F47-8DC8-DB07A46E0A50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781800" y="5447348"/>
            <a:ext cx="2743200" cy="50256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pic>
        <p:nvPicPr>
          <p:cNvPr id="12" name="Picture 11" descr="A diagram of a ball&#10;&#10;Description automatically generated">
            <a:extLst>
              <a:ext uri="{FF2B5EF4-FFF2-40B4-BE49-F238E27FC236}">
                <a16:creationId xmlns:a16="http://schemas.microsoft.com/office/drawing/2014/main" id="{C7833F4E-9300-9171-ADB7-561F6365A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384" y="2694810"/>
            <a:ext cx="3516255" cy="2637191"/>
          </a:xfrm>
          <a:prstGeom prst="rect">
            <a:avLst/>
          </a:prstGeom>
        </p:spPr>
      </p:pic>
      <p:pic>
        <p:nvPicPr>
          <p:cNvPr id="19" name="Picture 18" descr="A graph of a ball automation&#10;&#10;Description automatically generated">
            <a:extLst>
              <a:ext uri="{FF2B5EF4-FFF2-40B4-BE49-F238E27FC236}">
                <a16:creationId xmlns:a16="http://schemas.microsoft.com/office/drawing/2014/main" id="{E2DE0411-978A-CCEE-EE52-02A67FDD7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922" y="15284"/>
            <a:ext cx="3267761" cy="261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8960-AB09-BE42-9E8A-A6C12B9D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19995"/>
            <a:ext cx="10515600" cy="1325563"/>
          </a:xfrm>
        </p:spPr>
        <p:txBody>
          <a:bodyPr/>
          <a:lstStyle/>
          <a:p>
            <a:r>
              <a:rPr lang="en-US" dirty="0"/>
              <a:t>Urgency: Must transitions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16046-AC4B-ED49-9AE3-4BB081C8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645558"/>
            <a:ext cx="4839607" cy="1365827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5A7AC65-9D5F-4744-8882-C507A419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198803"/>
            <a:ext cx="424688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automaton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Thermostat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h,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MonL"/>
              </a:rPr>
              <a:t>Real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where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&gt;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enumeration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[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variables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transitions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trajectories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San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+ d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pic>
        <p:nvPicPr>
          <p:cNvPr id="1028" name="Picture 4" descr="page75image7967904">
            <a:extLst>
              <a:ext uri="{FF2B5EF4-FFF2-40B4-BE49-F238E27FC236}">
                <a16:creationId xmlns:a16="http://schemas.microsoft.com/office/drawing/2014/main" id="{387B2CD3-C3A0-6049-BEE7-BAA0CA40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754063"/>
            <a:ext cx="455930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2A16590-659E-F647-9F4C-830CCB4E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687" y="2107016"/>
            <a:ext cx="353861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Kx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- 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6E1C810-BD4E-804B-9EE1-2795D937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78" y="3784397"/>
            <a:ext cx="55941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urgent </a:t>
            </a:r>
            <a:r>
              <a:rPr kumimoji="0" lang="en-US" altLang="en-US" sz="240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transition (or action) is an action that has to occur as soon as it is enabled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0" i="0" baseline="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0" i="0" baseline="0" dirty="0"/>
              <a:t>Introduce special syntax for creating urgent transitions, but we can use mode invariants to accomplish this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681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0440" cy="1325563"/>
          </a:xfrm>
        </p:spPr>
        <p:txBody>
          <a:bodyPr>
            <a:normAutofit/>
          </a:bodyPr>
          <a:lstStyle/>
          <a:p>
            <a:r>
              <a:rPr lang="en-US" dirty="0"/>
              <a:t>Another Example: Periodically Sending Process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6096000" y="1690688"/>
            <a:ext cx="5486400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/>
              <a:t>Automaton </a:t>
            </a:r>
            <a:r>
              <a:rPr lang="en-US" sz="1800" dirty="0" err="1"/>
              <a:t>PeriodicSend</a:t>
            </a:r>
            <a:r>
              <a:rPr lang="en-US" sz="1800" dirty="0"/>
              <a:t>(u)</a:t>
            </a:r>
          </a:p>
          <a:p>
            <a:pPr marL="0" indent="0">
              <a:buNone/>
            </a:pPr>
            <a:r>
              <a:rPr lang="en-US" sz="1800" b="1" dirty="0"/>
              <a:t>    variables: analog </a:t>
            </a:r>
          </a:p>
          <a:p>
            <a:pPr marL="0" indent="0">
              <a:buNone/>
            </a:pPr>
            <a:r>
              <a:rPr lang="en-US" sz="1800" b="1" dirty="0"/>
              <a:t>        </a:t>
            </a:r>
            <a:r>
              <a:rPr lang="en-US" sz="1800" dirty="0"/>
              <a:t>clock: Reals := 0, z:Reals, </a:t>
            </a:r>
            <a:r>
              <a:rPr lang="en-US" sz="1800" dirty="0" err="1"/>
              <a:t>failed:Boolean</a:t>
            </a:r>
            <a:r>
              <a:rPr lang="en-US" sz="1800" dirty="0"/>
              <a:t> := F </a:t>
            </a:r>
          </a:p>
          <a:p>
            <a:pPr marL="0" indent="0">
              <a:buNone/>
            </a:pPr>
            <a:r>
              <a:rPr lang="en-US" sz="1800" b="1" dirty="0"/>
              <a:t>    actions: </a:t>
            </a:r>
            <a:r>
              <a:rPr lang="en-US" sz="1800" dirty="0"/>
              <a:t>send(</a:t>
            </a:r>
            <a:r>
              <a:rPr lang="en-US" sz="1800" dirty="0" err="1"/>
              <a:t>m:Reals</a:t>
            </a:r>
            <a:r>
              <a:rPr lang="en-US" sz="1800" dirty="0"/>
              <a:t>), fail</a:t>
            </a:r>
          </a:p>
          <a:p>
            <a:pPr marL="0" indent="0">
              <a:buNone/>
            </a:pPr>
            <a:r>
              <a:rPr lang="en-US" sz="1800" b="1" dirty="0"/>
              <a:t>    transitions:</a:t>
            </a:r>
          </a:p>
          <a:p>
            <a:pPr marL="0" indent="0">
              <a:buNone/>
            </a:pPr>
            <a:r>
              <a:rPr lang="en-US" sz="1800" b="1" dirty="0"/>
              <a:t>        </a:t>
            </a:r>
            <a:r>
              <a:rPr lang="en-US" sz="1800" dirty="0"/>
              <a:t>send(m)</a:t>
            </a:r>
          </a:p>
          <a:p>
            <a:pPr marL="0" indent="0">
              <a:buNone/>
            </a:pPr>
            <a:r>
              <a:rPr lang="en-US" sz="1800" b="1" dirty="0"/>
              <a:t>            pre </a:t>
            </a:r>
            <a:r>
              <a:rPr lang="en-US" sz="1800" dirty="0"/>
              <a:t>clock = u /\ m = z /\ ~failed</a:t>
            </a:r>
          </a:p>
          <a:p>
            <a:pPr marL="0" indent="0">
              <a:buNone/>
            </a:pPr>
            <a:r>
              <a:rPr lang="en-US" sz="1800" b="1" dirty="0"/>
              <a:t>            eff </a:t>
            </a:r>
            <a:r>
              <a:rPr lang="en-US" sz="1800" dirty="0"/>
              <a:t>clock := 0</a:t>
            </a:r>
          </a:p>
          <a:p>
            <a:pPr marL="0" indent="0">
              <a:buNone/>
            </a:pPr>
            <a:r>
              <a:rPr lang="en-US" sz="1800" dirty="0"/>
              <a:t>        fail</a:t>
            </a:r>
          </a:p>
          <a:p>
            <a:pPr marL="0" indent="0">
              <a:buNone/>
            </a:pPr>
            <a:r>
              <a:rPr lang="en-US" sz="1800" b="1" dirty="0"/>
              <a:t>            pre </a:t>
            </a:r>
            <a:r>
              <a:rPr lang="en-US" sz="1800" dirty="0"/>
              <a:t>true</a:t>
            </a:r>
          </a:p>
          <a:p>
            <a:pPr marL="0" indent="0">
              <a:buNone/>
            </a:pPr>
            <a:r>
              <a:rPr lang="en-US" sz="1800" b="1" dirty="0"/>
              <a:t>            eff </a:t>
            </a:r>
            <a:r>
              <a:rPr lang="en-US" sz="1800" dirty="0"/>
              <a:t>failed := T</a:t>
            </a:r>
          </a:p>
          <a:p>
            <a:pPr marL="0" indent="0">
              <a:buNone/>
            </a:pPr>
            <a:r>
              <a:rPr lang="en-US" sz="1800" b="1" dirty="0"/>
              <a:t>    trajectories:</a:t>
            </a:r>
          </a:p>
          <a:p>
            <a:pPr marL="0" indent="0">
              <a:buNone/>
            </a:pPr>
            <a:r>
              <a:rPr lang="en-US" sz="1800" b="1" dirty="0"/>
              <a:t>        evolve </a:t>
            </a:r>
            <a:r>
              <a:rPr lang="en-US" sz="1800" dirty="0"/>
              <a:t>d(clock) = 1, d(z) = f(z)</a:t>
            </a:r>
          </a:p>
          <a:p>
            <a:pPr marL="0" indent="0">
              <a:buNone/>
            </a:pPr>
            <a:r>
              <a:rPr lang="en-US" sz="1800" b="1" dirty="0"/>
              <a:t>        invariant </a:t>
            </a:r>
            <a:r>
              <a:rPr lang="en-US" sz="1800" dirty="0"/>
              <a:t>failed \/ clock&lt;=u</a:t>
            </a:r>
            <a:endParaRPr lang="en-US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523999" y="3330928"/>
                <a:ext cx="1600200" cy="142964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Loc</a:t>
                </a:r>
                <a:r>
                  <a:rPr lang="en-US" dirty="0">
                    <a:solidFill>
                      <a:schemeClr val="tx1"/>
                    </a:solidFill>
                  </a:rPr>
                  <a:t>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𝑐𝑙𝑜𝑐𝑘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~failed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</a:rPr>
                      <m:t>𝒄𝒍𝒐𝒄𝒌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𝒖</m:t>
                    </m:r>
                  </m:oMath>
                </a14:m>
                <a:endParaRPr lang="en-US" sz="1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3330928"/>
                <a:ext cx="1600200" cy="142964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6" idx="1"/>
            <a:endCxn id="6" idx="7"/>
          </p:cNvCxnSpPr>
          <p:nvPr/>
        </p:nvCxnSpPr>
        <p:spPr>
          <a:xfrm rot="5400000" flipH="1" flipV="1">
            <a:off x="2324099" y="2974538"/>
            <a:ext cx="12700" cy="1131512"/>
          </a:xfrm>
          <a:prstGeom prst="curvedConnector3">
            <a:avLst>
              <a:gd name="adj1" fmla="val 587163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34454" y="1862172"/>
            <a:ext cx="270490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send(m)</a:t>
            </a:r>
          </a:p>
          <a:p>
            <a:pPr algn="ctr"/>
            <a:r>
              <a:rPr lang="en-US" dirty="0"/>
              <a:t>clock = u /\ m = z /\ ~failed</a:t>
            </a:r>
          </a:p>
          <a:p>
            <a:pPr algn="ctr"/>
            <a:r>
              <a:rPr lang="en-US" dirty="0"/>
              <a:t>clock := 0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2" name="Straight Arrow Connector 21"/>
          <p:cNvCxnSpPr>
            <a:endCxn id="6" idx="2"/>
          </p:cNvCxnSpPr>
          <p:nvPr/>
        </p:nvCxnSpPr>
        <p:spPr>
          <a:xfrm>
            <a:off x="990599" y="4045749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6993" y="4150970"/>
            <a:ext cx="1007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clock:= 0</a:t>
            </a:r>
          </a:p>
        </p:txBody>
      </p:sp>
      <p:cxnSp>
        <p:nvCxnSpPr>
          <p:cNvPr id="18" name="Curved Connector 17"/>
          <p:cNvCxnSpPr>
            <a:stCxn id="6" idx="3"/>
            <a:endCxn id="6" idx="5"/>
          </p:cNvCxnSpPr>
          <p:nvPr/>
        </p:nvCxnSpPr>
        <p:spPr>
          <a:xfrm rot="16200000" flipH="1">
            <a:off x="2324099" y="3985448"/>
            <a:ext cx="12700" cy="1131512"/>
          </a:xfrm>
          <a:prstGeom prst="curvedConnector3">
            <a:avLst>
              <a:gd name="adj1" fmla="val 6494701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03575" y="5015547"/>
            <a:ext cx="110030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fail</a:t>
            </a:r>
          </a:p>
          <a:p>
            <a:pPr algn="ctr"/>
            <a:r>
              <a:rPr lang="en-US" dirty="0"/>
              <a:t>true</a:t>
            </a:r>
          </a:p>
          <a:p>
            <a:pPr algn="ctr"/>
            <a:r>
              <a:rPr lang="en-US" dirty="0"/>
              <a:t>failed := T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35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D8CAAD5-FB22-BF43-A462-66B0D482F4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17" t="4153" r="6419" b="60587"/>
          <a:stretch/>
        </p:blipFill>
        <p:spPr>
          <a:xfrm>
            <a:off x="6096000" y="634717"/>
            <a:ext cx="2218016" cy="1189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19C787-532B-0A4B-B97E-4B8F61C7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Zeno’s Paradox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BE937-AC0E-9F4C-8C90-A6C134DE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671"/>
            <a:ext cx="10515600" cy="494933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latin typeface="+mj-lt"/>
              </a:rPr>
              <a:t>Achilles runs 10 times faster than than the tortoise, but the turtle gets to start 1 second earlier. Can Achilles ever catch Turtle?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latin typeface="+mj-lt"/>
              </a:rPr>
              <a:t>Lesson: Mixing discrete transitions with continuous motion can be tricky!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ACD5C9-8453-FA48-9C03-9103CE217EEC}"/>
              </a:ext>
            </a:extLst>
          </p:cNvPr>
          <p:cNvSpPr/>
          <p:nvPr/>
        </p:nvSpPr>
        <p:spPr>
          <a:xfrm>
            <a:off x="838200" y="4967817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F79A4-DD6A-2948-A855-0A5E9DA63F1B}"/>
              </a:ext>
            </a:extLst>
          </p:cNvPr>
          <p:cNvSpPr/>
          <p:nvPr/>
        </p:nvSpPr>
        <p:spPr>
          <a:xfrm>
            <a:off x="6667499" y="7411"/>
            <a:ext cx="2723133" cy="583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Achilles, the fastest athlete,  greatest warrior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C36BF9-E158-7F4F-83C4-E5D44909F608}"/>
              </a:ext>
            </a:extLst>
          </p:cNvPr>
          <p:cNvSpPr/>
          <p:nvPr/>
        </p:nvSpPr>
        <p:spPr>
          <a:xfrm>
            <a:off x="10343676" y="7412"/>
            <a:ext cx="1829274" cy="5831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Zeno, Greek philosopher 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677DE7C9-15C9-7847-B7FA-D975C235AD40}"/>
              </a:ext>
            </a:extLst>
          </p:cNvPr>
          <p:cNvSpPr/>
          <p:nvPr/>
        </p:nvSpPr>
        <p:spPr>
          <a:xfrm>
            <a:off x="8915400" y="914400"/>
            <a:ext cx="1428276" cy="776288"/>
          </a:xfrm>
          <a:prstGeom prst="wedgeRoundRectCallout">
            <a:avLst>
              <a:gd name="adj1" fmla="val 72497"/>
              <a:gd name="adj2" fmla="val -3295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You couldn’t even beat a turtle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CDE728-459B-1C46-98C0-4B7A3B43429E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049867" y="5073651"/>
            <a:ext cx="6855409" cy="22407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910CB477-C5FE-3643-B7BD-46888D6C83D7}"/>
              </a:ext>
            </a:extLst>
          </p:cNvPr>
          <p:cNvSpPr/>
          <p:nvPr/>
        </p:nvSpPr>
        <p:spPr>
          <a:xfrm rot="10800000" flipV="1">
            <a:off x="944032" y="3660552"/>
            <a:ext cx="2645329" cy="2614530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C63F4360-FEB7-F745-BBB7-8A4C70F74E09}"/>
              </a:ext>
            </a:extLst>
          </p:cNvPr>
          <p:cNvSpPr/>
          <p:nvPr/>
        </p:nvSpPr>
        <p:spPr>
          <a:xfrm flipV="1">
            <a:off x="3589361" y="4547418"/>
            <a:ext cx="1279023" cy="1264132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8D5A4D8-F25A-5C43-8DC0-1F9A5ADAFECF}"/>
              </a:ext>
            </a:extLst>
          </p:cNvPr>
          <p:cNvSpPr/>
          <p:nvPr/>
        </p:nvSpPr>
        <p:spPr>
          <a:xfrm>
            <a:off x="3485294" y="4967817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56DE3C-97E2-7A48-9107-20BB815DAC00}"/>
              </a:ext>
            </a:extLst>
          </p:cNvPr>
          <p:cNvSpPr/>
          <p:nvPr/>
        </p:nvSpPr>
        <p:spPr>
          <a:xfrm>
            <a:off x="4762550" y="5006182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FD6D5CC0-A747-9145-BE8C-E1CD57F774E5}"/>
              </a:ext>
            </a:extLst>
          </p:cNvPr>
          <p:cNvSpPr/>
          <p:nvPr/>
        </p:nvSpPr>
        <p:spPr>
          <a:xfrm rot="10800000" flipV="1">
            <a:off x="3576621" y="4344241"/>
            <a:ext cx="1285815" cy="1270844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453BC72-90A4-5C4D-B174-547C93C56BB0}"/>
              </a:ext>
            </a:extLst>
          </p:cNvPr>
          <p:cNvSpPr/>
          <p:nvPr/>
        </p:nvSpPr>
        <p:spPr>
          <a:xfrm flipV="1">
            <a:off x="4889732" y="4898152"/>
            <a:ext cx="621695" cy="614456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F48F78-FC83-DB41-9E68-FD66D7436B55}"/>
              </a:ext>
            </a:extLst>
          </p:cNvPr>
          <p:cNvGrpSpPr/>
          <p:nvPr/>
        </p:nvGrpSpPr>
        <p:grpSpPr>
          <a:xfrm>
            <a:off x="4862163" y="4698601"/>
            <a:ext cx="967364" cy="653582"/>
            <a:chOff x="4879696" y="3698917"/>
            <a:chExt cx="3869756" cy="2614530"/>
          </a:xfrm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0FF734B2-C609-C948-A00D-B16101E0F227}"/>
                </a:ext>
              </a:extLst>
            </p:cNvPr>
            <p:cNvSpPr/>
            <p:nvPr/>
          </p:nvSpPr>
          <p:spPr>
            <a:xfrm rot="10800000" flipV="1">
              <a:off x="4879696" y="3698917"/>
              <a:ext cx="2645329" cy="2614530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A379434-ABB9-9A49-89B9-EF7891ACB776}"/>
                </a:ext>
              </a:extLst>
            </p:cNvPr>
            <p:cNvSpPr/>
            <p:nvPr/>
          </p:nvSpPr>
          <p:spPr>
            <a:xfrm flipV="1">
              <a:off x="7470429" y="5022551"/>
              <a:ext cx="1279023" cy="1264134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C2324F20-1A49-8A48-B92F-FD828D28FCFF}"/>
              </a:ext>
            </a:extLst>
          </p:cNvPr>
          <p:cNvSpPr/>
          <p:nvPr/>
        </p:nvSpPr>
        <p:spPr>
          <a:xfrm>
            <a:off x="5405596" y="4979663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D188FA-983C-9C4F-936B-FD0EF45D8538}"/>
              </a:ext>
            </a:extLst>
          </p:cNvPr>
          <p:cNvGrpSpPr/>
          <p:nvPr/>
        </p:nvGrpSpPr>
        <p:grpSpPr>
          <a:xfrm>
            <a:off x="5506617" y="4830390"/>
            <a:ext cx="496447" cy="453633"/>
            <a:chOff x="4879696" y="3698917"/>
            <a:chExt cx="3707519" cy="3387777"/>
          </a:xfrm>
        </p:grpSpPr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CBF2E86F-E623-D64A-B365-CF970211C924}"/>
                </a:ext>
              </a:extLst>
            </p:cNvPr>
            <p:cNvSpPr/>
            <p:nvPr/>
          </p:nvSpPr>
          <p:spPr>
            <a:xfrm rot="10800000" flipV="1">
              <a:off x="4879696" y="3698917"/>
              <a:ext cx="2645329" cy="2614530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2370A31-1530-7A4E-BD06-B56C93059F2C}"/>
                </a:ext>
              </a:extLst>
            </p:cNvPr>
            <p:cNvSpPr/>
            <p:nvPr/>
          </p:nvSpPr>
          <p:spPr>
            <a:xfrm flipV="1">
              <a:off x="7308190" y="5822561"/>
              <a:ext cx="1279025" cy="1264133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D97085B7-C476-AB4F-9802-F23C64F3E102}"/>
              </a:ext>
            </a:extLst>
          </p:cNvPr>
          <p:cNvSpPr/>
          <p:nvPr/>
        </p:nvSpPr>
        <p:spPr>
          <a:xfrm>
            <a:off x="5736539" y="4982018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6CE58F-94DE-8F4E-906E-656869F391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6400" l="5042" r="94958">
                        <a14:foregroundMark x1="39076" y1="52400" x2="39076" y2="52400"/>
                        <a14:foregroundMark x1="42437" y1="45200" x2="42437" y2="45200"/>
                        <a14:foregroundMark x1="52521" y1="40400" x2="52521" y2="40400"/>
                        <a14:foregroundMark x1="68908" y1="51600" x2="68908" y2="51600"/>
                        <a14:foregroundMark x1="57563" y1="56800" x2="57563" y2="56800"/>
                        <a14:foregroundMark x1="45798" y1="65200" x2="45798" y2="65200"/>
                        <a14:foregroundMark x1="34874" y1="67200" x2="34874" y2="67200"/>
                        <a14:foregroundMark x1="65126" y1="66400" x2="65126" y2="66400"/>
                        <a14:foregroundMark x1="75210" y1="63200" x2="75210" y2="63200"/>
                        <a14:foregroundMark x1="80672" y1="54400" x2="80672" y2="54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228896" y="5123762"/>
            <a:ext cx="633943" cy="66590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A8341B4-63A6-9840-89BD-60535076D876}"/>
              </a:ext>
            </a:extLst>
          </p:cNvPr>
          <p:cNvSpPr/>
          <p:nvPr/>
        </p:nvSpPr>
        <p:spPr>
          <a:xfrm>
            <a:off x="7531741" y="2949228"/>
            <a:ext cx="41697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+mj-lt"/>
              </a:rPr>
              <a:t>After 1/10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of a second, Achilles reaches where the Turtle (T) started, and T has a head start of 1/10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second.</a:t>
            </a:r>
          </a:p>
          <a:p>
            <a:r>
              <a:rPr lang="en-US" sz="2000" i="1" dirty="0">
                <a:latin typeface="+mj-lt"/>
              </a:rPr>
              <a:t>After another 1/100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of a second, A catches up to where T was at t=1/10 sec, but T has a head start of 1/100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</a:t>
            </a:r>
          </a:p>
          <a:p>
            <a:r>
              <a:rPr lang="en-US" sz="2000" i="1" dirty="0">
                <a:latin typeface="+mj-lt"/>
              </a:rPr>
              <a:t>… </a:t>
            </a:r>
          </a:p>
          <a:p>
            <a:r>
              <a:rPr lang="en-US" sz="2000" i="1" dirty="0">
                <a:latin typeface="+mj-lt"/>
              </a:rPr>
              <a:t>T is always ahead …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4C06E-AF08-F24D-94D0-973D7575EE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120" b="95506" l="5385" r="95769"/>
                    </a14:imgEffect>
                  </a14:imgLayer>
                </a14:imgProps>
              </a:ext>
            </a:extLst>
          </a:blip>
          <a:srcRect l="8183" t="4153" r="6791" b="5003"/>
          <a:stretch/>
        </p:blipFill>
        <p:spPr>
          <a:xfrm>
            <a:off x="305799" y="3820977"/>
            <a:ext cx="1018308" cy="1113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3D097E-A5F7-B647-A140-63639C637A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6092" y="590550"/>
            <a:ext cx="1132770" cy="1540567"/>
          </a:xfrm>
          <a:prstGeom prst="rect">
            <a:avLst/>
          </a:prstGeom>
        </p:spPr>
      </p:pic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3D1C9467-C6A7-E84D-8DE7-2A366768C0C8}"/>
              </a:ext>
            </a:extLst>
          </p:cNvPr>
          <p:cNvSpPr/>
          <p:nvPr/>
        </p:nvSpPr>
        <p:spPr>
          <a:xfrm>
            <a:off x="7717450" y="659653"/>
            <a:ext cx="1110461" cy="480172"/>
          </a:xfrm>
          <a:prstGeom prst="wedgeRoundRectCallout">
            <a:avLst>
              <a:gd name="adj1" fmla="val -91761"/>
              <a:gd name="adj2" fmla="val 637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solidFill>
                  <a:schemeClr val="tx1"/>
                </a:solidFill>
                <a:latin typeface="Comic Sans MS" panose="030F0902030302020204" pitchFamily="66" charset="0"/>
              </a:rPr>
              <a:t>whatever!</a:t>
            </a:r>
          </a:p>
        </p:txBody>
      </p:sp>
    </p:spTree>
    <p:extLst>
      <p:ext uri="{BB962C8B-B14F-4D97-AF65-F5344CB8AC3E}">
        <p14:creationId xmlns:p14="http://schemas.microsoft.com/office/powerpoint/2010/main" val="207117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10807 0.0002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04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463 L 0.2276 -0.00463 " pathEditMode="relative" ptsTypes="AA"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929 -0.00463 L 0.33372 -4.44444E-6 " pathEditMode="relative" ptsTypes="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546 0.00834 L 0.16223 0.00834 " pathEditMode="relative" ptsTypes="AA">
                                      <p:cBhvr>
                                        <p:cTn id="5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6" grpId="1" animBg="1"/>
      <p:bldP spid="3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C8AC-8B2E-1940-A2A1-F2B705DC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stability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A3A85-F113-F645-A4E5-1FBD31BB62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7157742" cy="466724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Given an admissible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Recall, stability is defined in terms 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|</m:t>
                    </m:r>
                  </m:oMath>
                </a14:m>
                <a:r>
                  <a:rPr lang="en-US" dirty="0"/>
                  <a:t>; two issues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We would like to view an execution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But, how to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is the longest </a:t>
                </a:r>
                <a:r>
                  <a:rPr lang="en-US" b="1" dirty="0"/>
                  <a:t>prefix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Also,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has valuations of discrete variables (loc) and continuous variable (x): ignore discrete variable when discussing stability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Now, we can import all the definitions of Lyapunov stability and asymptotic stability from dynamical system models to hybrid automata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Question. How can we check stability of a hybrid automaton?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A3A85-F113-F645-A4E5-1FBD31BB62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7157742" cy="4667245"/>
              </a:xfrm>
              <a:blipFill>
                <a:blip r:embed="rId2"/>
                <a:stretch>
                  <a:fillRect l="-1064" t="-1355" r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0032037-DC86-D246-83DE-789A29AAB971}"/>
              </a:ext>
            </a:extLst>
          </p:cNvPr>
          <p:cNvGrpSpPr/>
          <p:nvPr/>
        </p:nvGrpSpPr>
        <p:grpSpPr>
          <a:xfrm>
            <a:off x="7769283" y="1302875"/>
            <a:ext cx="4176987" cy="2797379"/>
            <a:chOff x="7811813" y="3471917"/>
            <a:chExt cx="4176987" cy="279737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834DC2-1FDB-244B-B161-5DA8994BF699}"/>
                </a:ext>
              </a:extLst>
            </p:cNvPr>
            <p:cNvCxnSpPr/>
            <p:nvPr/>
          </p:nvCxnSpPr>
          <p:spPr>
            <a:xfrm>
              <a:off x="9528980" y="3656583"/>
              <a:ext cx="50400" cy="201611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AD1D58A-759B-CE40-B937-6E12E0313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3600" y="4119385"/>
              <a:ext cx="0" cy="15533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7DC62E4-95DF-B140-8FB1-86C0671D9E74}"/>
                </a:ext>
              </a:extLst>
            </p:cNvPr>
            <p:cNvCxnSpPr>
              <a:cxnSpLocks/>
            </p:cNvCxnSpPr>
            <p:nvPr/>
          </p:nvCxnSpPr>
          <p:spPr>
            <a:xfrm>
              <a:off x="8483600" y="5672693"/>
              <a:ext cx="3505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88D16D-D530-714C-ADFB-29B2F4397651}"/>
                </a:ext>
              </a:extLst>
            </p:cNvPr>
            <p:cNvSpPr txBox="1"/>
            <p:nvPr/>
          </p:nvSpPr>
          <p:spPr>
            <a:xfrm>
              <a:off x="9929064" y="5807631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time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674ECC-E75C-DB43-ACE6-4FAD59DD42DE}"/>
                    </a:ext>
                  </a:extLst>
                </p14:cNvPr>
                <p14:cNvContentPartPr/>
                <p14:nvPr/>
              </p14:nvContentPartPr>
              <p14:xfrm>
                <a:off x="8504780" y="4826160"/>
                <a:ext cx="1027440" cy="466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674ECC-E75C-DB43-ACE6-4FAD59DD42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96140" y="4817520"/>
                  <a:ext cx="10450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544B89-EAE0-B44E-9735-37C7702EB3DE}"/>
                    </a:ext>
                  </a:extLst>
                </p14:cNvPr>
                <p14:cNvContentPartPr/>
                <p14:nvPr/>
              </p14:nvContentPartPr>
              <p14:xfrm>
                <a:off x="9528980" y="4555080"/>
                <a:ext cx="13320" cy="32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544B89-EAE0-B44E-9735-37C7702EB3D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20340" y="4546440"/>
                  <a:ext cx="30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79623F5-4752-D340-A603-186694F56D4A}"/>
                    </a:ext>
                  </a:extLst>
                </p14:cNvPr>
                <p14:cNvContentPartPr/>
                <p14:nvPr/>
              </p14:nvContentPartPr>
              <p14:xfrm>
                <a:off x="9525020" y="4276080"/>
                <a:ext cx="9360" cy="1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79623F5-4752-D340-A603-186694F56D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16020" y="4267440"/>
                  <a:ext cx="27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FEB7E6-3DE4-5B44-8A78-C657A9545331}"/>
                    </a:ext>
                  </a:extLst>
                </p14:cNvPr>
                <p14:cNvContentPartPr/>
                <p14:nvPr/>
              </p14:nvContentPartPr>
              <p14:xfrm>
                <a:off x="9525020" y="3791520"/>
                <a:ext cx="1500120" cy="22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FEB7E6-3DE4-5B44-8A78-C657A95453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16020" y="3782520"/>
                  <a:ext cx="1517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380D1A9-A577-B740-862C-2B56AFD210A8}"/>
                    </a:ext>
                  </a:extLst>
                </p:cNvPr>
                <p:cNvSpPr txBox="1"/>
                <p:nvPr/>
              </p:nvSpPr>
              <p:spPr>
                <a:xfrm>
                  <a:off x="7811813" y="4727966"/>
                  <a:ext cx="671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380D1A9-A577-B740-862C-2B56AFD210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1813" y="4727966"/>
                  <a:ext cx="67178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ACBD84B-7866-BD46-A20C-28B3C3532A19}"/>
                    </a:ext>
                  </a:extLst>
                </p:cNvPr>
                <p:cNvSpPr/>
                <p:nvPr/>
              </p:nvSpPr>
              <p:spPr>
                <a:xfrm>
                  <a:off x="8641394" y="4660661"/>
                  <a:ext cx="45070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ACBD84B-7866-BD46-A20C-28B3C3532A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1394" y="4660661"/>
                  <a:ext cx="45070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4F73831-4CA1-084F-9A16-286715EE385D}"/>
                    </a:ext>
                  </a:extLst>
                </p:cNvPr>
                <p:cNvSpPr/>
                <p:nvPr/>
              </p:nvSpPr>
              <p:spPr>
                <a:xfrm>
                  <a:off x="10175990" y="3471917"/>
                  <a:ext cx="50199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4F73831-4CA1-084F-9A16-286715EE38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5990" y="3471917"/>
                  <a:ext cx="501997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D9CFBF-2F16-6542-9CD7-7F9A1E719B51}"/>
                    </a:ext>
                  </a:extLst>
                </p:cNvPr>
                <p:cNvSpPr/>
                <p:nvPr/>
              </p:nvSpPr>
              <p:spPr>
                <a:xfrm>
                  <a:off x="9621789" y="4342041"/>
                  <a:ext cx="4966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D9CFBF-2F16-6542-9CD7-7F9A1E719B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1789" y="4342041"/>
                  <a:ext cx="496674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A1FE61DA-EC4C-F947-B081-7A459C99D6AB}"/>
                    </a:ext>
                  </a:extLst>
                </p:cNvPr>
                <p:cNvSpPr/>
                <p:nvPr/>
              </p:nvSpPr>
              <p:spPr>
                <a:xfrm>
                  <a:off x="9616466" y="4059547"/>
                  <a:ext cx="50199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A1FE61DA-EC4C-F947-B081-7A459C99D6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6466" y="4059547"/>
                  <a:ext cx="501997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0F996C-F904-1A4E-A50F-3916A0357D10}"/>
                    </a:ext>
                  </a:extLst>
                </p14:cNvPr>
                <p14:cNvContentPartPr/>
                <p14:nvPr/>
              </p14:nvContentPartPr>
              <p14:xfrm>
                <a:off x="9538340" y="4795200"/>
                <a:ext cx="59400" cy="48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0F996C-F904-1A4E-A50F-3916A0357D1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29700" y="4786560"/>
                  <a:ext cx="77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F1B29C-FBC5-D644-8E4F-56E9E71A929E}"/>
                    </a:ext>
                  </a:extLst>
                </p14:cNvPr>
                <p14:cNvContentPartPr/>
                <p14:nvPr/>
              </p14:nvContentPartPr>
              <p14:xfrm>
                <a:off x="9504860" y="4554000"/>
                <a:ext cx="74520" cy="68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F1B29C-FBC5-D644-8E4F-56E9E71A92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95860" y="4545000"/>
                  <a:ext cx="921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DA7A49-ACCC-D34A-B2D6-2354DA8AFD92}"/>
                    </a:ext>
                  </a:extLst>
                </p14:cNvPr>
                <p14:cNvContentPartPr/>
                <p14:nvPr/>
              </p14:nvContentPartPr>
              <p14:xfrm>
                <a:off x="9509180" y="4275720"/>
                <a:ext cx="59400" cy="51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DA7A49-ACCC-D34A-B2D6-2354DA8AFD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00540" y="4266720"/>
                  <a:ext cx="77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BB7402-5931-9B4C-8918-ABD91B8F32C9}"/>
                    </a:ext>
                  </a:extLst>
                </p14:cNvPr>
                <p14:cNvContentPartPr/>
                <p14:nvPr/>
              </p14:nvContentPartPr>
              <p14:xfrm>
                <a:off x="9519620" y="3991680"/>
                <a:ext cx="41760" cy="57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BB7402-5931-9B4C-8918-ABD91B8F32C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10620" y="3982680"/>
                  <a:ext cx="59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19BDAE4-D1D1-AA4E-992E-0F8B2DEE0BC7}"/>
                    </a:ext>
                  </a:extLst>
                </p:cNvPr>
                <p:cNvSpPr txBox="1"/>
                <p:nvPr/>
              </p:nvSpPr>
              <p:spPr>
                <a:xfrm>
                  <a:off x="9406312" y="5689321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19BDAE4-D1D1-AA4E-992E-0F8B2DEE0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6312" y="5689321"/>
                  <a:ext cx="42030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E88700-4B78-0B48-944D-F52823ED0624}"/>
              </a:ext>
            </a:extLst>
          </p:cNvPr>
          <p:cNvGrpSpPr/>
          <p:nvPr/>
        </p:nvGrpSpPr>
        <p:grpSpPr>
          <a:xfrm>
            <a:off x="8779869" y="1429499"/>
            <a:ext cx="792371" cy="517809"/>
            <a:chOff x="8822399" y="3598541"/>
            <a:chExt cx="792371" cy="5178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25CE1DA-8B8C-754C-A6F8-3958C1D9B041}"/>
                </a:ext>
              </a:extLst>
            </p:cNvPr>
            <p:cNvSpPr/>
            <p:nvPr/>
          </p:nvSpPr>
          <p:spPr>
            <a:xfrm>
              <a:off x="9449670" y="3951250"/>
              <a:ext cx="165100" cy="165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CF77C8-CF5B-5D43-AA64-F7C003AF6E23}"/>
                    </a:ext>
                  </a:extLst>
                </p:cNvPr>
                <p:cNvSpPr/>
                <p:nvPr/>
              </p:nvSpPr>
              <p:spPr>
                <a:xfrm>
                  <a:off x="8822399" y="3598541"/>
                  <a:ext cx="75751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CF77C8-CF5B-5D43-AA64-F7C003AF6E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2399" y="3598541"/>
                  <a:ext cx="757515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E4022A-71A4-9C48-BACC-C89A04732516}"/>
                  </a:ext>
                </a:extLst>
              </p14:cNvPr>
              <p14:cNvContentPartPr/>
              <p14:nvPr/>
            </p14:nvContentPartPr>
            <p14:xfrm>
              <a:off x="9393430" y="1729758"/>
              <a:ext cx="197280" cy="216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E4022A-71A4-9C48-BACC-C89A047325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84070" y="1720398"/>
                <a:ext cx="216000" cy="2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375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C57D90-9C83-A048-984C-A1697E8149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24" t="10877" r="10271" b="10333"/>
          <a:stretch/>
        </p:blipFill>
        <p:spPr>
          <a:xfrm>
            <a:off x="4823242" y="2282018"/>
            <a:ext cx="7187106" cy="4496960"/>
          </a:xfrm>
          <a:prstGeom prst="rect">
            <a:avLst/>
          </a:prstGeom>
        </p:spPr>
      </p:pic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CC7A9E2F-5622-CE4D-8B46-32D3011694A0}"/>
              </a:ext>
            </a:extLst>
          </p:cNvPr>
          <p:cNvSpPr/>
          <p:nvPr/>
        </p:nvSpPr>
        <p:spPr>
          <a:xfrm>
            <a:off x="2548884" y="5712350"/>
            <a:ext cx="1828800" cy="723636"/>
          </a:xfrm>
          <a:prstGeom prst="roundRect">
            <a:avLst/>
          </a:prstGeom>
          <a:noFill/>
          <a:ln w="76200">
            <a:solidFill>
              <a:srgbClr val="E47D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E47D01"/>
                </a:solidFill>
                <a:latin typeface="+mj-lt"/>
              </a:rPr>
              <a:t>Run</a:t>
            </a:r>
            <a:endParaRPr lang="en-US" sz="2000" b="1" dirty="0">
              <a:solidFill>
                <a:srgbClr val="E47D01"/>
              </a:solidFill>
              <a:latin typeface="+mj-lt"/>
            </a:endParaRPr>
          </a:p>
        </p:txBody>
      </p:sp>
      <p:sp>
        <p:nvSpPr>
          <p:cNvPr id="11" name="Rounded Rectangle 90">
            <a:extLst>
              <a:ext uri="{FF2B5EF4-FFF2-40B4-BE49-F238E27FC236}">
                <a16:creationId xmlns:a16="http://schemas.microsoft.com/office/drawing/2014/main" id="{C3E0AEC5-5C38-0A46-A608-8903DADD9611}"/>
              </a:ext>
            </a:extLst>
          </p:cNvPr>
          <p:cNvSpPr/>
          <p:nvPr/>
        </p:nvSpPr>
        <p:spPr>
          <a:xfrm>
            <a:off x="274526" y="4860758"/>
            <a:ext cx="1828800" cy="723636"/>
          </a:xfrm>
          <a:prstGeom prst="roundRect">
            <a:avLst/>
          </a:prstGeom>
          <a:noFill/>
          <a:ln w="76200">
            <a:solidFill>
              <a:srgbClr val="04B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4BFDA"/>
                </a:solidFill>
                <a:latin typeface="+mj-lt"/>
              </a:rPr>
              <a:t>Walk</a:t>
            </a:r>
            <a:endParaRPr lang="en-US" sz="2800" b="1" i="1" dirty="0">
              <a:solidFill>
                <a:srgbClr val="04BFDA"/>
              </a:solidFill>
              <a:latin typeface="+mj-lt"/>
            </a:endParaRPr>
          </a:p>
        </p:txBody>
      </p:sp>
      <p:cxnSp>
        <p:nvCxnSpPr>
          <p:cNvPr id="16" name="Connector: Curved 363">
            <a:extLst>
              <a:ext uri="{FF2B5EF4-FFF2-40B4-BE49-F238E27FC236}">
                <a16:creationId xmlns:a16="http://schemas.microsoft.com/office/drawing/2014/main" id="{F2326642-AD98-8043-96BD-BA0DFF5C9E1B}"/>
              </a:ext>
            </a:extLst>
          </p:cNvPr>
          <p:cNvCxnSpPr>
            <a:cxnSpLocks/>
            <a:stCxn id="11" idx="3"/>
            <a:endCxn id="10" idx="0"/>
          </p:cNvCxnSpPr>
          <p:nvPr/>
        </p:nvCxnSpPr>
        <p:spPr>
          <a:xfrm>
            <a:off x="2103326" y="5222577"/>
            <a:ext cx="1359958" cy="489772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363">
            <a:extLst>
              <a:ext uri="{FF2B5EF4-FFF2-40B4-BE49-F238E27FC236}">
                <a16:creationId xmlns:a16="http://schemas.microsoft.com/office/drawing/2014/main" id="{46CDCADB-B647-3944-9B0C-B0AA7E0561E8}"/>
              </a:ext>
            </a:extLst>
          </p:cNvPr>
          <p:cNvCxnSpPr>
            <a:cxnSpLocks/>
            <a:stCxn id="10" idx="1"/>
            <a:endCxn id="11" idx="2"/>
          </p:cNvCxnSpPr>
          <p:nvPr/>
        </p:nvCxnSpPr>
        <p:spPr>
          <a:xfrm rot="10800000">
            <a:off x="1188926" y="5584394"/>
            <a:ext cx="1359958" cy="48977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6A0CCC8C-AECD-914B-9E56-9887DDEEE59C}"/>
              </a:ext>
            </a:extLst>
          </p:cNvPr>
          <p:cNvSpPr txBox="1">
            <a:spLocks/>
          </p:cNvSpPr>
          <p:nvPr/>
        </p:nvSpPr>
        <p:spPr>
          <a:xfrm>
            <a:off x="488607" y="1779465"/>
            <a:ext cx="8669270" cy="773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Each of the modes of a walking robot are asymptotically stable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Is it possible to switch between them to make the system unstable?</a:t>
            </a:r>
            <a:endParaRPr lang="en-US" sz="9600" b="1" i="1" dirty="0"/>
          </a:p>
          <a:p>
            <a:endParaRPr lang="en-US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56F5169-7142-C741-91D1-5A40A057C3BA}"/>
              </a:ext>
            </a:extLst>
          </p:cNvPr>
          <p:cNvSpPr/>
          <p:nvPr/>
        </p:nvSpPr>
        <p:spPr>
          <a:xfrm rot="10624941">
            <a:off x="8154186" y="3987537"/>
            <a:ext cx="158840" cy="471341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1CCE781-209E-3D45-8F01-70F1CE0CCC5F}"/>
              </a:ext>
            </a:extLst>
          </p:cNvPr>
          <p:cNvSpPr/>
          <p:nvPr/>
        </p:nvSpPr>
        <p:spPr>
          <a:xfrm rot="17470908">
            <a:off x="8345040" y="4059178"/>
            <a:ext cx="266196" cy="617208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B2F44720-A257-8148-ACD3-FCDF48B83542}"/>
              </a:ext>
            </a:extLst>
          </p:cNvPr>
          <p:cNvSpPr/>
          <p:nvPr/>
        </p:nvSpPr>
        <p:spPr>
          <a:xfrm rot="694961">
            <a:off x="8292857" y="4243646"/>
            <a:ext cx="266196" cy="617208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633F256A-D59A-6D4B-BE32-3680434A8BAF}"/>
              </a:ext>
            </a:extLst>
          </p:cNvPr>
          <p:cNvSpPr/>
          <p:nvPr/>
        </p:nvSpPr>
        <p:spPr>
          <a:xfrm rot="5400000">
            <a:off x="7985593" y="4100519"/>
            <a:ext cx="256833" cy="906269"/>
          </a:xfrm>
          <a:prstGeom prst="arc">
            <a:avLst>
              <a:gd name="adj1" fmla="val 16200000"/>
              <a:gd name="adj2" fmla="val 548359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38AB7C4F-7CC8-5C48-9DA8-1FDEF499F240}"/>
              </a:ext>
            </a:extLst>
          </p:cNvPr>
          <p:cNvSpPr/>
          <p:nvPr/>
        </p:nvSpPr>
        <p:spPr>
          <a:xfrm>
            <a:off x="7641802" y="2648933"/>
            <a:ext cx="1982963" cy="3214540"/>
          </a:xfrm>
          <a:prstGeom prst="arc">
            <a:avLst>
              <a:gd name="adj1" fmla="val 9922229"/>
              <a:gd name="adj2" fmla="val 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A1352D7-4B49-314C-B0B4-FE5CD7BBBB54}"/>
              </a:ext>
            </a:extLst>
          </p:cNvPr>
          <p:cNvSpPr txBox="1">
            <a:spLocks/>
          </p:cNvSpPr>
          <p:nvPr/>
        </p:nvSpPr>
        <p:spPr>
          <a:xfrm>
            <a:off x="488607" y="420806"/>
            <a:ext cx="8669270" cy="773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Stability of a hybrid automaton</a:t>
            </a:r>
          </a:p>
        </p:txBody>
      </p:sp>
    </p:spTree>
    <p:extLst>
      <p:ext uri="{BB962C8B-B14F-4D97-AF65-F5344CB8AC3E}">
        <p14:creationId xmlns:p14="http://schemas.microsoft.com/office/powerpoint/2010/main" val="301148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E828F8-542A-B241-A457-9925184B84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52" t="10289" r="9954" b="11279"/>
          <a:stretch/>
        </p:blipFill>
        <p:spPr>
          <a:xfrm>
            <a:off x="3211285" y="27596"/>
            <a:ext cx="8980715" cy="683040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23A918B-6C7D-FF49-A71C-E8C6A1330070}"/>
              </a:ext>
            </a:extLst>
          </p:cNvPr>
          <p:cNvGrpSpPr/>
          <p:nvPr/>
        </p:nvGrpSpPr>
        <p:grpSpPr>
          <a:xfrm>
            <a:off x="225540" y="5024043"/>
            <a:ext cx="4103158" cy="1575228"/>
            <a:chOff x="-2051579" y="0"/>
            <a:chExt cx="4103158" cy="15752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418BB0-1D3D-E148-8A61-E3C872699266}"/>
                </a:ext>
              </a:extLst>
            </p:cNvPr>
            <p:cNvGrpSpPr/>
            <p:nvPr/>
          </p:nvGrpSpPr>
          <p:grpSpPr>
            <a:xfrm>
              <a:off x="-2051579" y="0"/>
              <a:ext cx="4103158" cy="1575228"/>
              <a:chOff x="9616209" y="2656196"/>
              <a:chExt cx="1725835" cy="837060"/>
            </a:xfrm>
          </p:grpSpPr>
          <p:sp>
            <p:nvSpPr>
              <p:cNvPr id="8" name="Rounded Rectangle 14">
                <a:extLst>
                  <a:ext uri="{FF2B5EF4-FFF2-40B4-BE49-F238E27FC236}">
                    <a16:creationId xmlns:a16="http://schemas.microsoft.com/office/drawing/2014/main" id="{F879F4C0-BE2A-474A-A364-819575793AED}"/>
                  </a:ext>
                </a:extLst>
              </p:cNvPr>
              <p:cNvSpPr/>
              <p:nvPr/>
            </p:nvSpPr>
            <p:spPr>
              <a:xfrm>
                <a:off x="10572830" y="3108723"/>
                <a:ext cx="769214" cy="384533"/>
              </a:xfrm>
              <a:prstGeom prst="roundRect">
                <a:avLst/>
              </a:prstGeom>
              <a:noFill/>
              <a:ln w="76200">
                <a:solidFill>
                  <a:srgbClr val="E47D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E47D01"/>
                    </a:solidFill>
                    <a:latin typeface="+mj-lt"/>
                  </a:rPr>
                  <a:t>Run</a:t>
                </a:r>
                <a:endParaRPr lang="en-US" sz="2000" b="1" dirty="0">
                  <a:solidFill>
                    <a:srgbClr val="E47D01"/>
                  </a:solidFill>
                  <a:latin typeface="+mj-lt"/>
                </a:endParaRPr>
              </a:p>
            </p:txBody>
          </p:sp>
          <p:sp>
            <p:nvSpPr>
              <p:cNvPr id="9" name="Rounded Rectangle 90">
                <a:extLst>
                  <a:ext uri="{FF2B5EF4-FFF2-40B4-BE49-F238E27FC236}">
                    <a16:creationId xmlns:a16="http://schemas.microsoft.com/office/drawing/2014/main" id="{EF4183DD-E295-CF44-95E8-EC971580332D}"/>
                  </a:ext>
                </a:extLst>
              </p:cNvPr>
              <p:cNvSpPr/>
              <p:nvPr/>
            </p:nvSpPr>
            <p:spPr>
              <a:xfrm>
                <a:off x="9616209" y="2656196"/>
                <a:ext cx="769214" cy="384533"/>
              </a:xfrm>
              <a:prstGeom prst="roundRect">
                <a:avLst/>
              </a:prstGeom>
              <a:noFill/>
              <a:ln w="76200">
                <a:solidFill>
                  <a:srgbClr val="04BF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04BFDA"/>
                    </a:solidFill>
                    <a:latin typeface="+mj-lt"/>
                  </a:rPr>
                  <a:t>Walk</a:t>
                </a:r>
                <a:endParaRPr lang="en-US" sz="2800" b="1" i="1" dirty="0">
                  <a:solidFill>
                    <a:srgbClr val="04BFDA"/>
                  </a:solidFill>
                  <a:latin typeface="+mj-lt"/>
                </a:endParaRPr>
              </a:p>
            </p:txBody>
          </p:sp>
          <p:cxnSp>
            <p:nvCxnSpPr>
              <p:cNvPr id="10" name="Connector: Curved 363">
                <a:extLst>
                  <a:ext uri="{FF2B5EF4-FFF2-40B4-BE49-F238E27FC236}">
                    <a16:creationId xmlns:a16="http://schemas.microsoft.com/office/drawing/2014/main" id="{A355E24B-F9CD-2445-94F8-146A3C433F33}"/>
                  </a:ext>
                </a:extLst>
              </p:cNvPr>
              <p:cNvCxnSpPr>
                <a:cxnSpLocks/>
                <a:stCxn id="9" idx="3"/>
                <a:endCxn id="8" idx="0"/>
              </p:cNvCxnSpPr>
              <p:nvPr/>
            </p:nvCxnSpPr>
            <p:spPr>
              <a:xfrm>
                <a:off x="10385423" y="2848463"/>
                <a:ext cx="572014" cy="260260"/>
              </a:xfrm>
              <a:prstGeom prst="curvedConnector2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Connector: Curved 363">
              <a:extLst>
                <a:ext uri="{FF2B5EF4-FFF2-40B4-BE49-F238E27FC236}">
                  <a16:creationId xmlns:a16="http://schemas.microsoft.com/office/drawing/2014/main" id="{1C10E144-6E38-5741-9065-77A7FD106ABA}"/>
                </a:ext>
              </a:extLst>
            </p:cNvPr>
            <p:cNvCxnSpPr>
              <a:cxnSpLocks/>
              <a:stCxn id="8" idx="1"/>
              <a:endCxn id="9" idx="2"/>
            </p:cNvCxnSpPr>
            <p:nvPr/>
          </p:nvCxnSpPr>
          <p:spPr>
            <a:xfrm rot="10800000">
              <a:off x="-1137179" y="723636"/>
              <a:ext cx="1359958" cy="489774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EAD13D9-7EC7-6845-A7AC-8E907DCA1890}"/>
              </a:ext>
            </a:extLst>
          </p:cNvPr>
          <p:cNvSpPr txBox="1">
            <a:spLocks/>
          </p:cNvSpPr>
          <p:nvPr/>
        </p:nvSpPr>
        <p:spPr>
          <a:xfrm>
            <a:off x="146957" y="277692"/>
            <a:ext cx="6498772" cy="1681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Yes! By switching between them the system becomes unstable</a:t>
            </a:r>
          </a:p>
        </p:txBody>
      </p:sp>
    </p:spTree>
    <p:extLst>
      <p:ext uri="{BB962C8B-B14F-4D97-AF65-F5344CB8AC3E}">
        <p14:creationId xmlns:p14="http://schemas.microsoft.com/office/powerpoint/2010/main" val="3693271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kinds of executions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>
                    <a:latin typeface="+mj-lt"/>
                  </a:rPr>
                  <a:t>Infinite</a:t>
                </a:r>
                <a:r>
                  <a:rPr lang="en-US" dirty="0">
                    <a:latin typeface="+mj-lt"/>
                  </a:rPr>
                  <a:t>: Infinite sequence of transitions and trajectories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r>
                  <a:rPr lang="en-US" b="1" dirty="0">
                    <a:latin typeface="+mj-lt"/>
                  </a:rPr>
                  <a:t>Closed</a:t>
                </a:r>
                <a:r>
                  <a:rPr lang="en-US" dirty="0">
                    <a:latin typeface="+mj-lt"/>
                  </a:rPr>
                  <a:t>: Finite with final trajectory with closed domain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=[0,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]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r>
                  <a:rPr lang="en-US" b="1" dirty="0">
                    <a:latin typeface="+mj-lt"/>
                  </a:rPr>
                  <a:t>Admissible</a:t>
                </a:r>
                <a:r>
                  <a:rPr lang="en-US" dirty="0">
                    <a:latin typeface="+mj-lt"/>
                  </a:rPr>
                  <a:t>: Infinite duration</a:t>
                </a:r>
              </a:p>
              <a:p>
                <a:pPr lvl="1"/>
                <a:r>
                  <a:rPr lang="en-US" dirty="0">
                    <a:latin typeface="+mj-lt"/>
                  </a:rPr>
                  <a:t>May or may not be infinite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=[0,∞)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r>
                  <a:rPr lang="en-US" b="1" dirty="0">
                    <a:latin typeface="+mj-lt"/>
                  </a:rPr>
                  <a:t>Zeno</a:t>
                </a:r>
                <a:r>
                  <a:rPr lang="en-US" dirty="0">
                    <a:latin typeface="+mj-lt"/>
                  </a:rPr>
                  <a:t>: Infinite but not admissible</a:t>
                </a:r>
              </a:p>
              <a:p>
                <a:pPr lvl="1"/>
                <a:r>
                  <a:rPr lang="en-US" dirty="0">
                    <a:latin typeface="+mj-lt"/>
                  </a:rPr>
                  <a:t>Infinite number of transitions in finite time</a:t>
                </a:r>
              </a:p>
              <a:p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 b="-3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92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2AF7-9C95-FE42-A677-696B30E6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Rimless wheel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434D8A-8610-E44F-9EAE-EBEE08CDB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333500"/>
            <a:ext cx="6892331" cy="26633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E8EAB8-5E72-2D48-8F75-EACFBC61DF2D}"/>
                  </a:ext>
                </a:extLst>
              </p:cNvPr>
              <p:cNvSpPr txBox="1"/>
              <p:nvPr/>
            </p:nvSpPr>
            <p:spPr>
              <a:xfrm>
                <a:off x="7730531" y="178069"/>
                <a:ext cx="4322978" cy="6314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automaton</a:t>
                </a:r>
                <a:r>
                  <a:rPr lang="en-US" dirty="0"/>
                  <a:t> </a:t>
                </a:r>
                <a:r>
                  <a:rPr lang="en-US" dirty="0" err="1"/>
                  <a:t>RimlessWheel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Real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Nat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  const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: Real :=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</a:t>
                </a:r>
                <a:r>
                  <a:rPr lang="en-US" b="1" dirty="0"/>
                  <a:t>type</a:t>
                </a:r>
                <a:r>
                  <a:rPr lang="en-US" dirty="0"/>
                  <a:t> Spokes: enumeration [1,...,n]</a:t>
                </a:r>
              </a:p>
              <a:p>
                <a:r>
                  <a:rPr lang="en-US" dirty="0"/>
                  <a:t>  </a:t>
                </a:r>
                <a:r>
                  <a:rPr lang="en-US" b="1" dirty="0"/>
                  <a:t>actions</a:t>
                </a:r>
              </a:p>
              <a:p>
                <a:r>
                  <a:rPr lang="en-US" b="1" dirty="0"/>
                  <a:t>    </a:t>
                </a:r>
                <a:r>
                  <a:rPr lang="en-US" dirty="0"/>
                  <a:t>impact</a:t>
                </a:r>
              </a:p>
              <a:p>
                <a:r>
                  <a:rPr lang="en-US" dirty="0"/>
                  <a:t>  </a:t>
                </a:r>
                <a:r>
                  <a:rPr lang="en-US" b="1" dirty="0"/>
                  <a:t>variables</a:t>
                </a:r>
              </a:p>
              <a:p>
                <a:r>
                  <a:rPr lang="en-US" dirty="0"/>
                  <a:t>    pivot: Spokes :=1</a:t>
                </a:r>
              </a:p>
              <a:p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:Real := 0</a:t>
                </a:r>
              </a:p>
              <a:p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: Real := 0</a:t>
                </a:r>
              </a:p>
              <a:p>
                <a:r>
                  <a:rPr lang="en-US" dirty="0"/>
                  <a:t>  </a:t>
                </a:r>
                <a:r>
                  <a:rPr lang="en-US" b="1" dirty="0"/>
                  <a:t>transitions</a:t>
                </a:r>
              </a:p>
              <a:p>
                <a:r>
                  <a:rPr lang="en-US" dirty="0"/>
                  <a:t>    impact</a:t>
                </a:r>
              </a:p>
              <a:p>
                <a:r>
                  <a:rPr lang="en-US" dirty="0"/>
                  <a:t>        pre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</a:t>
                </a:r>
                <a:r>
                  <a:rPr lang="en-US" b="1" dirty="0"/>
                  <a:t>eff</a:t>
                </a:r>
                <a:r>
                  <a:rPr lang="en-US" dirty="0"/>
                  <a:t> pivot := pivot + 1 mod n</a:t>
                </a:r>
              </a:p>
              <a:p>
                <a:r>
                  <a:rPr lang="en-US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𝜇𝜔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    </a:t>
                </a:r>
                <a:r>
                  <a:rPr lang="en-US" b="1" dirty="0"/>
                  <a:t>trajectories</a:t>
                </a:r>
              </a:p>
              <a:p>
                <a:r>
                  <a:rPr lang="en-US" dirty="0"/>
                  <a:t>        swing</a:t>
                </a:r>
              </a:p>
              <a:p>
                <a:r>
                  <a:rPr lang="en-US" dirty="0"/>
                  <a:t>        </a:t>
                </a:r>
                <a:r>
                  <a:rPr lang="en-US" b="1" dirty="0"/>
                  <a:t>evolve</a:t>
                </a:r>
              </a:p>
              <a:p>
                <a:r>
                  <a:rPr lang="en-US" dirty="0"/>
                  <a:t>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	</a:t>
                </a:r>
              </a:p>
              <a:p>
                <a:r>
                  <a:rPr lang="en-US" b="0" dirty="0"/>
                  <a:t>          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        </a:t>
                </a:r>
                <a:r>
                  <a:rPr lang="en-US" b="1" dirty="0"/>
                  <a:t>invariant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E8EAB8-5E72-2D48-8F75-EACFBC61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531" y="178069"/>
                <a:ext cx="4322978" cy="6314806"/>
              </a:xfrm>
              <a:prstGeom prst="rect">
                <a:avLst/>
              </a:prstGeom>
              <a:blipFill>
                <a:blip r:embed="rId3"/>
                <a:stretch>
                  <a:fillRect l="-1173" t="-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3D1D5F6-DC40-6A4C-80D9-2B460FB6A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72104" y="3274088"/>
            <a:ext cx="3477909" cy="45008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C05336-9E6B-1E40-A531-79338ABA119B}"/>
                  </a:ext>
                </a:extLst>
              </p14:cNvPr>
              <p14:cNvContentPartPr/>
              <p14:nvPr/>
            </p14:nvContentPartPr>
            <p14:xfrm>
              <a:off x="8852040" y="3854520"/>
              <a:ext cx="19692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C05336-9E6B-1E40-A531-79338ABA11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42680" y="3845160"/>
                <a:ext cx="21564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909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F3CBE-78DF-1443-BFC9-30D04CDC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Invariants and reachability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A6231-6640-0343-A518-5DAD5F2E4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/>
                  </a:rPr>
                  <a:t>A state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ea typeface="Cambria Math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dirty="0">
                    <a:ea typeface="Cambria Math"/>
                  </a:rPr>
                  <a:t> is </a:t>
                </a:r>
                <a:r>
                  <a:rPr lang="en-US" b="1" i="1" dirty="0">
                    <a:ea typeface="Cambria Math"/>
                  </a:rPr>
                  <a:t>reachable</a:t>
                </a:r>
                <a:r>
                  <a:rPr lang="en-US" dirty="0">
                    <a:ea typeface="Cambria Math"/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∃</m:t>
                    </m:r>
                  </m:oMath>
                </a14:m>
                <a:r>
                  <a:rPr lang="en-US" dirty="0">
                    <a:ea typeface="Cambria Math"/>
                  </a:rPr>
                  <a:t> an execution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ea typeface="Cambria Math"/>
                  </a:rPr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all reachable state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states reachable within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states reachable w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ithin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</m:oMath>
                </a14:m>
                <a:r>
                  <a:rPr lang="en-US" dirty="0">
                    <a:ea typeface="Cambria Math"/>
                  </a:rPr>
                  <a:t> transitions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states reachable up to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𝑘</m:t>
                    </m:r>
                  </m:oMath>
                </a14:m>
                <a:r>
                  <a:rPr lang="en-US" dirty="0">
                    <a:ea typeface="Cambria Math"/>
                  </a:rPr>
                  <a:t> transitions and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𝑇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/>
                  </a:rPr>
                  <a:t>An invariant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is a set of states that contains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A6231-6640-0343-A518-5DAD5F2E4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679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6D81-0FA4-F143-92C1-1D573E9DF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prove invariants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Recall the theorem we used for proving </a:t>
                </a:r>
                <a:r>
                  <a:rPr lang="en-US" sz="2000" i="1" dirty="0"/>
                  <a:t>I </a:t>
                </a:r>
                <a:r>
                  <a:rPr lang="en-US" sz="2000" dirty="0"/>
                  <a:t>is an invariant for automaton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𝐷</m:t>
                    </m:r>
                    <m:r>
                      <a:rPr lang="en-US" sz="2000" b="0" i="1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Theorem 7.1</a:t>
                </a:r>
                <a:r>
                  <a:rPr lang="en-US" sz="2000" dirty="0"/>
                  <a:t>. Given an automaton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𝑫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, if a set of states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/>
                  <a:t> satisfies the following: </a:t>
                </a:r>
              </a:p>
              <a:p>
                <a:r>
                  <a:rPr lang="en-US" sz="2000" dirty="0"/>
                  <a:t>(Start condition) For any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</a:t>
                </a:r>
              </a:p>
              <a:p>
                <a:r>
                  <a:rPr lang="en-US" sz="2000" dirty="0"/>
                  <a:t>(Transition closure) For any 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a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, if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𝒂</m:t>
                        </m:r>
                      </m:sub>
                    </m:sSub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, and 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is an inductive invariant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68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6D81-0FA4-F143-92C1-1D573E9DF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prove invariants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Theorem 7.1</a:t>
                </a:r>
                <a:r>
                  <a:rPr lang="en-US" sz="2000" dirty="0"/>
                  <a:t>. Given an HIOA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𝑫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, if a set of states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/>
                  <a:t> satisfies the following: </a:t>
                </a:r>
              </a:p>
              <a:p>
                <a:r>
                  <a:rPr lang="en-US" sz="2000" dirty="0"/>
                  <a:t>(Start condition) For any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</a:t>
                </a:r>
              </a:p>
              <a:p>
                <a:r>
                  <a:rPr lang="en-US" sz="2000" dirty="0"/>
                  <a:t>(Transition closure) For any 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a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, if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𝒂</m:t>
                        </m:r>
                      </m:sub>
                    </m:sSub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, and </a:t>
                </a:r>
              </a:p>
              <a:p>
                <a:r>
                  <a:rPr lang="en-US" sz="2000" dirty="0">
                    <a:solidFill>
                      <a:srgbClr val="0070C0"/>
                    </a:solidFill>
                  </a:rPr>
                  <a:t>(Trajectory closure) For any trajectory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is an inductive invariant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453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299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6D81-0FA4-F143-92C1-1D573E9D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en-US" dirty="0"/>
              <a:t>How to prove invariants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8923" y="1371600"/>
                <a:ext cx="10884877" cy="535744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Theorem 7.1</a:t>
                </a:r>
                <a:r>
                  <a:rPr lang="en-US" sz="2000" dirty="0"/>
                  <a:t>. Given an HIOA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𝑫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⟩</m:t>
                    </m:r>
                  </m:oMath>
                </a14:m>
                <a:r>
                  <a:rPr lang="en-US" sz="2000" dirty="0"/>
                  <a:t>, if a set of states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/>
                  <a:t> satisfies the following: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(Start condition) For any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(Transition closure) For any action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a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, if 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→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𝒂</m:t>
                        </m:r>
                      </m:sub>
                    </m:sSub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𝒙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, and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(Trajectory closure) For any trajectory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is an inductive invariant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Proof. </a:t>
                </a:r>
                <a:r>
                  <a:rPr lang="en-US" sz="2000" dirty="0"/>
                  <a:t>Consider any reachable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𝑅𝑒𝑎𝑐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. By the definition of a reachable state, there exists an execution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𝑥</m:t>
                    </m:r>
                  </m:oMath>
                </a14:m>
                <a:r>
                  <a:rPr lang="en-US" sz="2000" dirty="0"/>
                  <a:t>.  We proceed by induction on the length of the execution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. For the base case,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consists of a single starting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</m:oMath>
                </a14:m>
                <a:r>
                  <a:rPr lang="en-US" sz="2000" dirty="0"/>
                  <a:t>, and, by the </a:t>
                </a:r>
                <a:r>
                  <a:rPr lang="en-US" sz="2000" i="1" dirty="0"/>
                  <a:t>start condition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. For the inductive step, we consider two subcases: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Case 1: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𝐴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is a point trajectory at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000" dirty="0"/>
                  <a:t> 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By the induction hypothesis, we know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By invoking the </a:t>
                </a:r>
                <a:r>
                  <a:rPr lang="en-US" sz="2000" i="1" dirty="0"/>
                  <a:t>transition closure</a:t>
                </a:r>
                <a:r>
                  <a:rPr lang="en-US" sz="2000" dirty="0"/>
                  <a:t>, we obtain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b="1" dirty="0"/>
                  <a:t>Case 2: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is a trajectory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By the </a:t>
                </a:r>
                <a:r>
                  <a:rPr lang="en-US" sz="2000" i="1" dirty="0"/>
                  <a:t>induction hypothesis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r>
                  <a:rPr lang="en-US" sz="2000" dirty="0"/>
                  <a:t> and by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invoking the </a:t>
                </a:r>
                <a:r>
                  <a:rPr lang="en-US" sz="2000" i="1" dirty="0"/>
                  <a:t>trajectory closure</a:t>
                </a:r>
                <a:r>
                  <a:rPr lang="en-US" sz="2000" dirty="0"/>
                  <a:t>, we deduce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𝐼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98A46-4D5E-814C-9922-14281262A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923" y="1371600"/>
                <a:ext cx="10884877" cy="5357445"/>
              </a:xfrm>
              <a:blipFill>
                <a:blip r:embed="rId2"/>
                <a:stretch>
                  <a:fillRect l="-233" t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00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DEF0-9BF0-9148-A21F-B6C918A5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Candidate invariant: ``stays above ground’’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0≡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𝑣𝑎𝑙</m:t>
                          </m:r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 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Applying Theorem 7.1: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initial state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transition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𝑏𝑜𝑢𝑛𝑐𝑒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precondition we know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from effect we know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=0≥0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1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trajectory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mode invariant we know that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It follows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What part of </a:t>
                </a:r>
                <a:r>
                  <a:rPr lang="en-US" dirty="0" err="1"/>
                  <a:t>Bouncingball</a:t>
                </a:r>
                <a:r>
                  <a:rPr lang="en-US" dirty="0"/>
                  <a:t> was used ? What could be changed?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  <a:blipFill>
                <a:blip r:embed="rId2"/>
                <a:stretch>
                  <a:fillRect l="-1241" t="-1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automaton </a:t>
                </a:r>
                <a:r>
                  <a:rPr lang="en-US" sz="1800" dirty="0" err="1"/>
                  <a:t>Bouncingball</a:t>
                </a:r>
                <a:r>
                  <a:rPr lang="en-US" sz="1800" dirty="0"/>
                  <a:t>(</a:t>
                </a:r>
                <a:r>
                  <a:rPr lang="en-US" sz="1800" dirty="0" err="1"/>
                  <a:t>c,h,g</a:t>
                </a:r>
                <a:r>
                  <a:rPr lang="en-US" sz="1800" dirty="0"/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variables: </a:t>
                </a:r>
                <a:r>
                  <a:rPr lang="en-US" sz="1800" dirty="0"/>
                  <a:t>x: Reals := h, v: Reals :=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actions: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transitions: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    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pre </a:t>
                </a:r>
                <a:r>
                  <a:rPr lang="en-US" sz="1800" i="1" dirty="0"/>
                  <a:t>x = 0 /\ v &lt;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eff </a:t>
                </a:r>
                <a:r>
                  <a:rPr lang="en-US" sz="1800" dirty="0"/>
                  <a:t>v := -cv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trajectories: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</a:t>
                </a:r>
                <a:r>
                  <a:rPr lang="en-US" sz="1800" dirty="0"/>
                  <a:t>Loc1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evolve </a:t>
                </a:r>
                <a:r>
                  <a:rPr lang="en-US" sz="1800" dirty="0"/>
                  <a:t>d(x) = v; d(v) = -g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  <a:blipFill>
                <a:blip r:embed="rId3"/>
                <a:stretch>
                  <a:fillRect l="-1157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00F1EC-C4D4-E841-A88E-4B4E46E2017B}"/>
                  </a:ext>
                </a:extLst>
              </p14:cNvPr>
              <p14:cNvContentPartPr/>
              <p14:nvPr/>
            </p14:nvContentPartPr>
            <p14:xfrm>
              <a:off x="5060880" y="1320840"/>
              <a:ext cx="4032720" cy="44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00F1EC-C4D4-E841-A88E-4B4E46E201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51520" y="1311480"/>
                <a:ext cx="4051440" cy="6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086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DEF0-9BF0-9148-A21F-B6C918A5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Candidate invariant: ``stays above ground and below h’’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Applying Theorem 7.1: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initial state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transition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𝑏𝑜𝑢𝑛𝑐𝑒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precondition we know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from effect we know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Consider any trajectory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From mode invariant and inductive hypothesis we know that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b="1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solution of d(x) = v; d(v) = -g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solidFill>
                      <a:srgbClr val="FF0000"/>
                    </a:solidFill>
                  </a:rPr>
                  <a:t>Is this adequate to infer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  <a:blipFill>
                <a:blip r:embed="rId2"/>
                <a:stretch>
                  <a:fillRect l="-1418" t="-1464" b="-1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9324" y="1604334"/>
                <a:ext cx="54864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automaton </a:t>
                </a:r>
                <a:r>
                  <a:rPr lang="en-US" sz="1800" dirty="0" err="1"/>
                  <a:t>Bouncingball</a:t>
                </a:r>
                <a:r>
                  <a:rPr lang="en-US" sz="1800" dirty="0"/>
                  <a:t>(</a:t>
                </a:r>
                <a:r>
                  <a:rPr lang="en-US" sz="1800" dirty="0" err="1"/>
                  <a:t>c,h,g</a:t>
                </a:r>
                <a:r>
                  <a:rPr lang="en-US" sz="1800" dirty="0"/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variables: </a:t>
                </a:r>
                <a:r>
                  <a:rPr lang="en-US" sz="1800" dirty="0"/>
                  <a:t>x: Reals := h, v: Reals :=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actions: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transitions: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    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pre </a:t>
                </a:r>
                <a:r>
                  <a:rPr lang="en-US" sz="1800" i="1" dirty="0"/>
                  <a:t>x = 0 /\ v &lt;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eff </a:t>
                </a:r>
                <a:r>
                  <a:rPr lang="en-US" sz="1800" dirty="0"/>
                  <a:t>v := -cv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trajectories: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</a:t>
                </a:r>
                <a:r>
                  <a:rPr lang="en-US" sz="1800" dirty="0"/>
                  <a:t>Loc1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evolve </a:t>
                </a:r>
                <a:r>
                  <a:rPr lang="en-US" sz="1800" dirty="0"/>
                  <a:t>d(x) = v; d(v) = -g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4" y="1604334"/>
                <a:ext cx="5486400" cy="4525963"/>
              </a:xfrm>
              <a:prstGeom prst="rect">
                <a:avLst/>
              </a:prstGeom>
              <a:blipFill>
                <a:blip r:embed="rId3"/>
                <a:stretch>
                  <a:fillRect l="-924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78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DEF0-9BF0-9148-A21F-B6C918A5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86200" cy="1325563"/>
          </a:xfrm>
        </p:spPr>
        <p:txBody>
          <a:bodyPr/>
          <a:lstStyle/>
          <a:p>
            <a:r>
              <a:rPr lang="en-US" dirty="0"/>
              <a:t>Strengthened invariant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400" dirty="0"/>
                  <a:t>Candidate invariant: ``stays above ground and below h’’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400" dirty="0"/>
                  <a:t>Applying Theorem 7.1: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Consider any initial state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1" dirty="0">
                  <a:solidFill>
                    <a:srgbClr val="0070C0"/>
                  </a:solidFill>
                </a:endParaRP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sz="2400" b="1" dirty="0"/>
                  <a:t>Exercise</a:t>
                </a:r>
                <a:r>
                  <a:rPr lang="en-US" sz="2400" dirty="0"/>
                  <a:t>: Finish the rest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82DE08-D3DD-9C4B-A6EB-7C66C9B545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9908" y="504092"/>
                <a:ext cx="7151077" cy="6060831"/>
              </a:xfrm>
              <a:blipFill>
                <a:blip r:embed="rId2"/>
                <a:stretch>
                  <a:fillRect l="-1241" t="-418" r="-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automaton </a:t>
                </a:r>
                <a:r>
                  <a:rPr lang="en-US" sz="1800" dirty="0" err="1"/>
                  <a:t>Bouncingball</a:t>
                </a:r>
                <a:r>
                  <a:rPr lang="en-US" sz="1800" dirty="0"/>
                  <a:t>(</a:t>
                </a:r>
                <a:r>
                  <a:rPr lang="en-US" sz="1800" dirty="0" err="1"/>
                  <a:t>c,h,g</a:t>
                </a:r>
                <a:r>
                  <a:rPr lang="en-US" sz="1800" dirty="0"/>
                  <a:t>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variables: </a:t>
                </a:r>
                <a:r>
                  <a:rPr lang="en-US" sz="1800" dirty="0"/>
                  <a:t>x: Reals := h, v: Reals := 0</a:t>
                </a:r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en-US" sz="1800" dirty="0">
                    <a:solidFill>
                      <a:srgbClr val="0070C0"/>
                    </a:solidFill>
                  </a:rPr>
                  <a:t> k: Nat :=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actions: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transitions: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     </a:t>
                </a:r>
                <a:r>
                  <a:rPr lang="en-US" sz="1800" dirty="0"/>
                  <a:t>bounce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pre </a:t>
                </a:r>
                <a:r>
                  <a:rPr lang="en-US" sz="1800" i="1" dirty="0"/>
                  <a:t>x = 0 /\ v &lt; 0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eff </a:t>
                </a:r>
                <a:r>
                  <a:rPr lang="en-US" sz="1800" dirty="0"/>
                  <a:t>v := -cv; </a:t>
                </a:r>
                <a:r>
                  <a:rPr lang="en-US" sz="1800" dirty="0">
                    <a:solidFill>
                      <a:srgbClr val="0070C0"/>
                    </a:solidFill>
                  </a:rPr>
                  <a:t>k:= k + 1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       trajectories: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</a:t>
                </a:r>
                <a:r>
                  <a:rPr lang="en-US" sz="1800" dirty="0"/>
                  <a:t>Loc1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evolve </a:t>
                </a:r>
                <a:r>
                  <a:rPr lang="en-US" sz="1800" dirty="0"/>
                  <a:t>d(x) = v; d(v) = -g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800" b="1" dirty="0"/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1800" b="1" dirty="0"/>
              </a:p>
            </p:txBody>
          </p:sp>
        </mc:Choice>
        <mc:Fallback xmlns="">
          <p:sp>
            <p:nvSpPr>
              <p:cNvPr id="4" name="Content Placeholder 10">
                <a:extLst>
                  <a:ext uri="{FF2B5EF4-FFF2-40B4-BE49-F238E27FC236}">
                    <a16:creationId xmlns:a16="http://schemas.microsoft.com/office/drawing/2014/main" id="{62E97287-D77F-CE40-BC54-DA249B5CF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139" y="1776047"/>
                <a:ext cx="5486400" cy="4525963"/>
              </a:xfrm>
              <a:prstGeom prst="rect">
                <a:avLst/>
              </a:prstGeom>
              <a:blipFill>
                <a:blip r:embed="rId3"/>
                <a:stretch>
                  <a:fillRect l="-1157" t="-1120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961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91BD-3DF4-7D43-9CC0-1298632F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C362-6F7D-7F45-87F5-9B2226E6A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Theorem 7.1 gives a sufficient condition for proving </a:t>
            </a:r>
            <a:r>
              <a:rPr lang="en-US" b="1" dirty="0"/>
              <a:t>inductive </a:t>
            </a:r>
            <a:r>
              <a:rPr lang="en-US" dirty="0"/>
              <a:t>invariants</a:t>
            </a:r>
          </a:p>
          <a:p>
            <a:r>
              <a:rPr lang="en-US" dirty="0"/>
              <a:t>Not all invariants are inductive</a:t>
            </a:r>
          </a:p>
          <a:p>
            <a:r>
              <a:rPr lang="en-US" dirty="0"/>
              <a:t>We often have to </a:t>
            </a:r>
            <a:r>
              <a:rPr lang="en-US" b="1" dirty="0"/>
              <a:t>strengthen</a:t>
            </a:r>
            <a:r>
              <a:rPr lang="en-US" b="1" i="1" dirty="0"/>
              <a:t> </a:t>
            </a:r>
            <a:r>
              <a:rPr lang="en-US" dirty="0"/>
              <a:t>invariants to make them inductive</a:t>
            </a:r>
          </a:p>
          <a:p>
            <a:r>
              <a:rPr lang="en-US" dirty="0"/>
              <a:t>Read examples in Chapter 7</a:t>
            </a:r>
          </a:p>
        </p:txBody>
      </p:sp>
    </p:spTree>
    <p:extLst>
      <p:ext uri="{BB962C8B-B14F-4D97-AF65-F5344CB8AC3E}">
        <p14:creationId xmlns:p14="http://schemas.microsoft.com/office/powerpoint/2010/main" val="2213217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0E85C-0183-504B-B3CB-6F8081AD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Floyd-Hoare Proofs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F1F05-0F30-F145-A933-042E0CB21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core idea of inductive invariants dates back to program analysis technique called </a:t>
            </a:r>
            <a:r>
              <a:rPr lang="en-US" b="1" dirty="0"/>
              <a:t>Floyd-Hoare logic (1969) </a:t>
            </a:r>
            <a:r>
              <a:rPr lang="en-US" dirty="0"/>
              <a:t>which gives a set of rules for deducing correctness of automata, programs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logic is built on </a:t>
            </a:r>
            <a:r>
              <a:rPr lang="en-US" b="1" dirty="0"/>
              <a:t>Hoare triples</a:t>
            </a:r>
            <a:r>
              <a:rPr lang="en-US" dirty="0"/>
              <a:t>, which describes how the execution of a statement (or line of code) changes the state of the automaton: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i="1" dirty="0"/>
              <a:t>P c Q </a:t>
            </a:r>
            <a:r>
              <a:rPr lang="en-US" dirty="0"/>
              <a:t>where </a:t>
            </a:r>
          </a:p>
          <a:p>
            <a:pPr>
              <a:lnSpc>
                <a:spcPct val="120000"/>
              </a:lnSpc>
            </a:pP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are predicates on the program variables and are called the </a:t>
            </a:r>
            <a:r>
              <a:rPr lang="en-US" b="1" dirty="0"/>
              <a:t>precondition</a:t>
            </a:r>
            <a:r>
              <a:rPr lang="en-US" dirty="0"/>
              <a:t> and </a:t>
            </a:r>
            <a:r>
              <a:rPr lang="en-US" b="1" dirty="0"/>
              <a:t>postcondition</a:t>
            </a:r>
          </a:p>
          <a:p>
            <a:pPr>
              <a:lnSpc>
                <a:spcPct val="120000"/>
              </a:lnSpc>
            </a:pPr>
            <a:r>
              <a:rPr lang="en-US" i="1" dirty="0"/>
              <a:t>c</a:t>
            </a:r>
            <a:r>
              <a:rPr lang="en-US" dirty="0"/>
              <a:t> is a statement describing program variable change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triple implies that when the precondition </a:t>
            </a:r>
            <a:r>
              <a:rPr lang="en-US" i="1" dirty="0"/>
              <a:t>P</a:t>
            </a:r>
            <a:r>
              <a:rPr lang="en-US" dirty="0"/>
              <a:t> is met, execution of </a:t>
            </a:r>
            <a:r>
              <a:rPr lang="en-US" i="1" dirty="0"/>
              <a:t>c</a:t>
            </a:r>
            <a:r>
              <a:rPr lang="en-US" dirty="0"/>
              <a:t> establishes the postcondition Q </a:t>
            </a:r>
          </a:p>
        </p:txBody>
      </p:sp>
    </p:spTree>
    <p:extLst>
      <p:ext uri="{BB962C8B-B14F-4D97-AF65-F5344CB8AC3E}">
        <p14:creationId xmlns:p14="http://schemas.microsoft.com/office/powerpoint/2010/main" val="21767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DABF-5578-CE43-9449-483095C3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Sub-tangential conditions.</a:t>
            </a:r>
            <a:r>
              <a:rPr lang="en-US" sz="3600" dirty="0"/>
              <a:t> Checking trajectory conditions without solving ODEs [Bhatia and </a:t>
            </a:r>
            <a:r>
              <a:rPr lang="en-US" sz="3600" dirty="0" err="1"/>
              <a:t>Szegö</a:t>
            </a:r>
            <a:r>
              <a:rPr lang="en-US" sz="3600" dirty="0"/>
              <a:t> 67]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F9DF0-AFA4-7049-8F52-A10AD124C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8512834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+mj-lt"/>
                  </a:rPr>
                  <a:t>How to check trajectory closure: for any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/>
                      </a:rPr>
                      <m:t>∈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/>
                      </a:rPr>
                      <m:t>𝑻</m:t>
                    </m:r>
                  </m:oMath>
                </a14:m>
                <a:r>
                  <a:rPr lang="en-US" sz="2400" dirty="0">
                    <a:latin typeface="+mj-lt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?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+mj-lt"/>
                  </a:rPr>
                  <a:t>Use a Lyapunov function for each mode. How? Exercise.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b="1" dirty="0">
                    <a:latin typeface="+mj-lt"/>
                  </a:rPr>
                  <a:t>Lemma.</a:t>
                </a:r>
                <a:r>
                  <a:rPr lang="en-US" sz="2400" dirty="0">
                    <a:latin typeface="+mj-lt"/>
                  </a:rPr>
                  <a:t> Consider the ODE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 for state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+mj-lt"/>
                  </a:rPr>
                  <a:t> describing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dirty="0">
                    <a:latin typeface="+mj-lt"/>
                  </a:rPr>
                  <a:t>.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be a compact set containing the initial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400" dirty="0">
                    <a:latin typeface="+mj-lt"/>
                  </a:rPr>
                  <a:t>. </a:t>
                </a:r>
                <a:r>
                  <a:rPr lang="en-US" sz="2400" dirty="0"/>
                  <a:t>Boundary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is defined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1" i="1" dirty="0"/>
                  <a:t>. </a:t>
                </a:r>
                <a:r>
                  <a:rPr lang="en-US" sz="2400" dirty="0">
                    <a:latin typeface="+mj-lt"/>
                  </a:rPr>
                  <a:t>Then,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400" dirty="0">
                    <a:latin typeface="+mj-lt"/>
                  </a:rPr>
                  <a:t> is an inductive invariant of the above ODE if for each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𝑏𝑜𝑢𝑛𝑑𝑎𝑟𝑦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+mj-lt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+mj-lt"/>
                  </a:rPr>
                  <a:t> is pointing inwards from the  boundary. That is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FF9DF0-AFA4-7049-8F52-A10AD124C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8512834" cy="4351338"/>
              </a:xfrm>
              <a:blipFill>
                <a:blip r:embed="rId2"/>
                <a:stretch>
                  <a:fillRect l="-1192" t="-872" r="-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0332070-91E6-4F4B-942A-BC71E3C76ACA}"/>
              </a:ext>
            </a:extLst>
          </p:cNvPr>
          <p:cNvSpPr txBox="1"/>
          <p:nvPr/>
        </p:nvSpPr>
        <p:spPr>
          <a:xfrm>
            <a:off x="838200" y="6334964"/>
            <a:ext cx="8496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Related to the notions of Barrier Certificates and more general Control Barrier Functions.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F08D344-5403-4B4F-8916-DE5B184B4B77}"/>
              </a:ext>
            </a:extLst>
          </p:cNvPr>
          <p:cNvSpPr/>
          <p:nvPr/>
        </p:nvSpPr>
        <p:spPr>
          <a:xfrm>
            <a:off x="9747211" y="2085813"/>
            <a:ext cx="2034376" cy="3065935"/>
          </a:xfrm>
          <a:custGeom>
            <a:avLst/>
            <a:gdLst>
              <a:gd name="connsiteX0" fmla="*/ 2019220 w 2034376"/>
              <a:gd name="connsiteY0" fmla="*/ 1417815 h 3065935"/>
              <a:gd name="connsiteX1" fmla="*/ 1794933 w 2034376"/>
              <a:gd name="connsiteY1" fmla="*/ 227370 h 3065935"/>
              <a:gd name="connsiteX2" fmla="*/ 604487 w 2034376"/>
              <a:gd name="connsiteY2" fmla="*/ 106600 h 3065935"/>
              <a:gd name="connsiteX3" fmla="*/ 35144 w 2034376"/>
              <a:gd name="connsiteY3" fmla="*/ 1417815 h 3065935"/>
              <a:gd name="connsiteX4" fmla="*/ 224925 w 2034376"/>
              <a:gd name="connsiteY4" fmla="*/ 2953317 h 3065935"/>
              <a:gd name="connsiteX5" fmla="*/ 1553393 w 2034376"/>
              <a:gd name="connsiteY5" fmla="*/ 2780789 h 3065935"/>
              <a:gd name="connsiteX6" fmla="*/ 2019220 w 2034376"/>
              <a:gd name="connsiteY6" fmla="*/ 1417815 h 3065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34376" h="3065935">
                <a:moveTo>
                  <a:pt x="2019220" y="1417815"/>
                </a:moveTo>
                <a:cubicBezTo>
                  <a:pt x="2059477" y="992245"/>
                  <a:pt x="2030722" y="445906"/>
                  <a:pt x="1794933" y="227370"/>
                </a:cubicBezTo>
                <a:cubicBezTo>
                  <a:pt x="1559144" y="8834"/>
                  <a:pt x="897785" y="-91808"/>
                  <a:pt x="604487" y="106600"/>
                </a:cubicBezTo>
                <a:cubicBezTo>
                  <a:pt x="311189" y="305007"/>
                  <a:pt x="98404" y="943362"/>
                  <a:pt x="35144" y="1417815"/>
                </a:cubicBezTo>
                <a:cubicBezTo>
                  <a:pt x="-28116" y="1892268"/>
                  <a:pt x="-28117" y="2726155"/>
                  <a:pt x="224925" y="2953317"/>
                </a:cubicBezTo>
                <a:cubicBezTo>
                  <a:pt x="477966" y="3180479"/>
                  <a:pt x="1251468" y="3033831"/>
                  <a:pt x="1553393" y="2780789"/>
                </a:cubicBezTo>
                <a:cubicBezTo>
                  <a:pt x="1855317" y="2527748"/>
                  <a:pt x="1978963" y="1843385"/>
                  <a:pt x="2019220" y="141781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63BAD7-EC9C-D940-86E7-2483A0019FAD}"/>
                  </a:ext>
                </a:extLst>
              </p:cNvPr>
              <p:cNvSpPr txBox="1"/>
              <p:nvPr/>
            </p:nvSpPr>
            <p:spPr>
              <a:xfrm>
                <a:off x="9933335" y="5362207"/>
                <a:ext cx="20343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63BAD7-EC9C-D940-86E7-2483A0019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335" y="5362207"/>
                <a:ext cx="203437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908ED6-6946-1046-8DCE-02B260FEFFDA}"/>
                  </a:ext>
                </a:extLst>
              </p:cNvPr>
              <p:cNvSpPr txBox="1"/>
              <p:nvPr/>
            </p:nvSpPr>
            <p:spPr>
              <a:xfrm>
                <a:off x="9933335" y="3385180"/>
                <a:ext cx="203437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908ED6-6946-1046-8DCE-02B260FEF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3335" y="3385180"/>
                <a:ext cx="203437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3F1790-A41B-C845-825A-CF0BB90A50C4}"/>
              </a:ext>
            </a:extLst>
          </p:cNvPr>
          <p:cNvCxnSpPr/>
          <p:nvPr/>
        </p:nvCxnSpPr>
        <p:spPr>
          <a:xfrm>
            <a:off x="11353800" y="2085813"/>
            <a:ext cx="613912" cy="64013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659EFB-3BF4-314A-8CD3-E47BF671CD9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1231592" y="2313183"/>
            <a:ext cx="310552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EBBE54-5A48-0744-A4CE-150329054E9B}"/>
                  </a:ext>
                </a:extLst>
              </p:cNvPr>
              <p:cNvSpPr txBox="1"/>
              <p:nvPr/>
            </p:nvSpPr>
            <p:spPr>
              <a:xfrm>
                <a:off x="10272623" y="2349921"/>
                <a:ext cx="1695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EBBE54-5A48-0744-A4CE-150329054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623" y="2349921"/>
                <a:ext cx="1695089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C9D0028-92C0-944B-AB52-12FE5B62C381}"/>
              </a:ext>
            </a:extLst>
          </p:cNvPr>
          <p:cNvCxnSpPr>
            <a:cxnSpLocks/>
          </p:cNvCxnSpPr>
          <p:nvPr/>
        </p:nvCxnSpPr>
        <p:spPr>
          <a:xfrm flipH="1">
            <a:off x="11353799" y="4146230"/>
            <a:ext cx="345599" cy="73308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5A3F0C-1177-DD47-9CC7-08D170C3310F}"/>
              </a:ext>
            </a:extLst>
          </p:cNvPr>
          <p:cNvCxnSpPr>
            <a:cxnSpLocks/>
          </p:cNvCxnSpPr>
          <p:nvPr/>
        </p:nvCxnSpPr>
        <p:spPr>
          <a:xfrm flipV="1">
            <a:off x="11519138" y="4146230"/>
            <a:ext cx="7460" cy="377917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2AE0E0-019F-AC45-A16C-D6D9EAAF8BFB}"/>
              </a:ext>
            </a:extLst>
          </p:cNvPr>
          <p:cNvCxnSpPr>
            <a:cxnSpLocks/>
          </p:cNvCxnSpPr>
          <p:nvPr/>
        </p:nvCxnSpPr>
        <p:spPr>
          <a:xfrm flipH="1">
            <a:off x="9709181" y="3225800"/>
            <a:ext cx="87395" cy="92043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F695E1-A37B-F74C-8913-F3CC9FD18C5B}"/>
              </a:ext>
            </a:extLst>
          </p:cNvPr>
          <p:cNvCxnSpPr>
            <a:cxnSpLocks/>
          </p:cNvCxnSpPr>
          <p:nvPr/>
        </p:nvCxnSpPr>
        <p:spPr>
          <a:xfrm>
            <a:off x="9747211" y="3657600"/>
            <a:ext cx="98729" cy="308709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70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157B-58F6-3914-722B-8C43FDA9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70"/>
            <a:ext cx="10515600" cy="907888"/>
          </a:xfrm>
        </p:spPr>
        <p:txBody>
          <a:bodyPr>
            <a:normAutofit/>
          </a:bodyPr>
          <a:lstStyle/>
          <a:p>
            <a:r>
              <a:rPr lang="en-US" sz="4000" dirty="0"/>
              <a:t>Proving invariance using </a:t>
            </a:r>
            <a:r>
              <a:rPr lang="en-US" sz="4000" dirty="0" err="1"/>
              <a:t>subtangential</a:t>
            </a:r>
            <a:r>
              <a:rPr lang="en-US" sz="4000" dirty="0"/>
              <a:t>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954158"/>
                <a:ext cx="7796065" cy="5724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latin typeface="+mj-lt"/>
                  </a:rPr>
                  <a:t>Lemma.</a:t>
                </a:r>
                <a:r>
                  <a:rPr lang="en-US" sz="2000" dirty="0">
                    <a:latin typeface="+mj-lt"/>
                  </a:rPr>
                  <a:t> Consider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and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>
                    <a:latin typeface="+mj-lt"/>
                  </a:rPr>
                  <a:t> be a continuous function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≤0}</m:t>
                    </m:r>
                  </m:oMath>
                </a14:m>
                <a:r>
                  <a:rPr lang="en-US" sz="2000" dirty="0">
                    <a:latin typeface="+mj-lt"/>
                  </a:rPr>
                  <a:t> is compact and contains.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1" i="1" dirty="0"/>
                  <a:t> </a:t>
                </a:r>
                <a:r>
                  <a:rPr lang="en-US" sz="2000" dirty="0"/>
                  <a:t>is the boundary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and P is differentiable over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+mj-lt"/>
                  </a:rPr>
                  <a:t> If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Sub-tangential condition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latin typeface="+mj-lt"/>
                  </a:rPr>
                  <a:t> is an invariant</a:t>
                </a: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Proof. Fix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/>
                  <a:t> We must show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000" dirty="0"/>
                  <a:t>	[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≤0]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SFTC trajectory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000" dirty="0"/>
                  <a:t> leaves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at some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That is,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By continuity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there exists earliest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∈(0,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/>
                  <a:t> for some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d>
                        <m:dPr>
                          <m:ctrlP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1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/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is nonincreasing and it is not possible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954158"/>
                <a:ext cx="7796065" cy="5724937"/>
              </a:xfrm>
              <a:blipFill>
                <a:blip r:embed="rId2"/>
                <a:stretch>
                  <a:fillRect l="-813" t="-1106" r="-163" b="-10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 descr="A graph with a spiral of colored lines&#10;&#10;Description automatically generated with medium confidence">
            <a:extLst>
              <a:ext uri="{FF2B5EF4-FFF2-40B4-BE49-F238E27FC236}">
                <a16:creationId xmlns:a16="http://schemas.microsoft.com/office/drawing/2014/main" id="{B5BBDA6F-3CB6-474C-342B-49A5AE3478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0" r="5974"/>
          <a:stretch/>
        </p:blipFill>
        <p:spPr>
          <a:xfrm>
            <a:off x="7582505" y="2027301"/>
            <a:ext cx="4592079" cy="446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6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0"/>
                <a:ext cx="9214047" cy="667909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latin typeface="+mj-lt"/>
                  </a:rPr>
                  <a:t>Lemma.</a:t>
                </a:r>
                <a:r>
                  <a:rPr lang="en-US" sz="2000" dirty="0">
                    <a:latin typeface="+mj-lt"/>
                  </a:rPr>
                  <a:t> Consider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and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>
                    <a:latin typeface="+mj-lt"/>
                  </a:rPr>
                  <a:t> be a continuous function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≤0}</m:t>
                    </m:r>
                  </m:oMath>
                </a14:m>
                <a:r>
                  <a:rPr lang="en-US" sz="2000" dirty="0">
                    <a:latin typeface="+mj-lt"/>
                  </a:rPr>
                  <a:t> is compact and contains.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b="1" i="1" dirty="0"/>
                  <a:t> </a:t>
                </a:r>
                <a:r>
                  <a:rPr lang="en-US" sz="2000" dirty="0"/>
                  <a:t>is the boundary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/>
                  <a:t> and P is differentiable over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+mj-lt"/>
                  </a:rPr>
                  <a:t> If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Sub-tangential condition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2000" dirty="0">
                    <a:latin typeface="+mj-lt"/>
                  </a:rPr>
                  <a:t> is an invariant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600" dirty="0">
                    <a:latin typeface="+mj-lt"/>
                  </a:rPr>
                  <a:t>Example</a:t>
                </a:r>
                <a:r>
                  <a:rPr lang="en-US" sz="2000" dirty="0">
                    <a:latin typeface="+mj-lt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)≤0}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d>
                  </m:oMath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=4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)+2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=4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On the boundary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Completing the 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=−2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bSup>
                          <m:sSub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AFFB58-F59B-DAE9-B30A-38ED2660A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0"/>
                <a:ext cx="9214047" cy="6679095"/>
              </a:xfrm>
              <a:blipFill>
                <a:blip r:embed="rId2"/>
                <a:stretch>
                  <a:fillRect l="-1102" t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6" descr="A graph with a spiral of colored lines&#10;&#10;Description automatically generated with medium confidence">
            <a:extLst>
              <a:ext uri="{FF2B5EF4-FFF2-40B4-BE49-F238E27FC236}">
                <a16:creationId xmlns:a16="http://schemas.microsoft.com/office/drawing/2014/main" id="{B5BBDA6F-3CB6-474C-342B-49A5AE3478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0" r="5974"/>
          <a:stretch/>
        </p:blipFill>
        <p:spPr>
          <a:xfrm>
            <a:off x="9316279" y="132240"/>
            <a:ext cx="2752288" cy="267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98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98B4-99E9-EFB5-7F62-1690B559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449"/>
          </a:xfrm>
        </p:spPr>
        <p:txBody>
          <a:bodyPr/>
          <a:lstStyle/>
          <a:p>
            <a:r>
              <a:rPr lang="en-US" dirty="0"/>
              <a:t>Another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4B783D-6E35-048B-5522-7F6F7BE81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8884" y="1891886"/>
            <a:ext cx="4528943" cy="4351338"/>
          </a:xfrm>
        </p:spPr>
      </p:pic>
    </p:spTree>
    <p:extLst>
      <p:ext uri="{BB962C8B-B14F-4D97-AF65-F5344CB8AC3E}">
        <p14:creationId xmlns:p14="http://schemas.microsoft.com/office/powerpoint/2010/main" val="639062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A383-6DB0-DF48-8CCB-D62A2B9A9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sub-tangential condition in pieces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D0E306-087E-2240-B964-362084392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692" y="1991138"/>
            <a:ext cx="3915508" cy="46177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E5E724-12B8-D642-92DD-DAF9B4DAE0B9}"/>
              </a:ext>
            </a:extLst>
          </p:cNvPr>
          <p:cNvSpPr txBox="1"/>
          <p:nvPr/>
        </p:nvSpPr>
        <p:spPr>
          <a:xfrm>
            <a:off x="7643004" y="1904784"/>
            <a:ext cx="4038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the boundary is defined in pieces, for example, one fore each mode, then check the condition for each piece</a:t>
            </a:r>
          </a:p>
        </p:txBody>
      </p:sp>
    </p:spTree>
    <p:extLst>
      <p:ext uri="{BB962C8B-B14F-4D97-AF65-F5344CB8AC3E}">
        <p14:creationId xmlns:p14="http://schemas.microsoft.com/office/powerpoint/2010/main" val="466673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2771-F091-C84A-80B6-F75F5D7A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3A21-D622-7948-B80D-ECD53654D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124" y="1467817"/>
            <a:ext cx="8064260" cy="5025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Interesting features in hybrid models </a:t>
            </a:r>
          </a:p>
          <a:p>
            <a:r>
              <a:rPr lang="en-US" dirty="0"/>
              <a:t>Interaction between transitions, trajectories, and mode invariants can lead to extra sources of nondeterminism; transitions can be made urgent with mode invariants</a:t>
            </a:r>
          </a:p>
          <a:p>
            <a:r>
              <a:rPr lang="en-US" dirty="0"/>
              <a:t>Mode switches can make the system unstable</a:t>
            </a:r>
          </a:p>
          <a:p>
            <a:r>
              <a:rPr lang="en-US" dirty="0"/>
              <a:t>Zeno behavior</a:t>
            </a:r>
          </a:p>
          <a:p>
            <a:pPr marL="0" indent="0">
              <a:buNone/>
            </a:pPr>
            <a:r>
              <a:rPr lang="en-US" dirty="0"/>
              <a:t>Inductive invariance proofs work with additional condition for trajectory closure</a:t>
            </a:r>
          </a:p>
          <a:p>
            <a:r>
              <a:rPr lang="en-US" dirty="0"/>
              <a:t>Trajectory closure can be checked with </a:t>
            </a:r>
            <a:r>
              <a:rPr lang="en-US" dirty="0" err="1"/>
              <a:t>subtangential</a:t>
            </a:r>
            <a:r>
              <a:rPr lang="en-US" dirty="0"/>
              <a:t> condition, Lyapunov functions, Barrier certificates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B5912-0107-9E42-91C8-6B6A1C0A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861" y="497993"/>
            <a:ext cx="4226139" cy="11926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BA83F-0AC0-2642-92C8-CFE8704DD3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52" t="10289" r="9954" b="11279"/>
          <a:stretch/>
        </p:blipFill>
        <p:spPr>
          <a:xfrm>
            <a:off x="8902460" y="1823556"/>
            <a:ext cx="3223528" cy="245169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18206B6-EDDE-E749-8615-58924E67EAE0}"/>
              </a:ext>
            </a:extLst>
          </p:cNvPr>
          <p:cNvGrpSpPr/>
          <p:nvPr/>
        </p:nvGrpSpPr>
        <p:grpSpPr>
          <a:xfrm>
            <a:off x="9833932" y="4490207"/>
            <a:ext cx="1932499" cy="980501"/>
            <a:chOff x="2382856" y="3974748"/>
            <a:chExt cx="3620208" cy="1836802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B1C0ACC0-BBC6-7B4C-A5D2-FC306C0CCE21}"/>
                </a:ext>
              </a:extLst>
            </p:cNvPr>
            <p:cNvSpPr/>
            <p:nvPr/>
          </p:nvSpPr>
          <p:spPr>
            <a:xfrm flipV="1">
              <a:off x="3589361" y="4547418"/>
              <a:ext cx="1279023" cy="1264132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394D04-0949-6747-A149-29E6CBAD2AC2}"/>
                </a:ext>
              </a:extLst>
            </p:cNvPr>
            <p:cNvSpPr/>
            <p:nvPr/>
          </p:nvSpPr>
          <p:spPr>
            <a:xfrm>
              <a:off x="3485294" y="4967817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C3CD913-73DB-3142-A3C4-0225D62B8F1C}"/>
                </a:ext>
              </a:extLst>
            </p:cNvPr>
            <p:cNvSpPr/>
            <p:nvPr/>
          </p:nvSpPr>
          <p:spPr>
            <a:xfrm>
              <a:off x="4762550" y="5006182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61718516-6600-BB48-8429-FCE05BCF03C5}"/>
                </a:ext>
              </a:extLst>
            </p:cNvPr>
            <p:cNvSpPr/>
            <p:nvPr/>
          </p:nvSpPr>
          <p:spPr>
            <a:xfrm rot="10800000" flipV="1">
              <a:off x="3576621" y="4344241"/>
              <a:ext cx="1285815" cy="1270844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0792766F-BF4F-F848-A98E-C9620E25C4F2}"/>
                </a:ext>
              </a:extLst>
            </p:cNvPr>
            <p:cNvSpPr/>
            <p:nvPr/>
          </p:nvSpPr>
          <p:spPr>
            <a:xfrm flipV="1">
              <a:off x="4889732" y="4898152"/>
              <a:ext cx="621695" cy="614456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58601D-2E4B-7C43-BA18-BC6FB60F112A}"/>
                </a:ext>
              </a:extLst>
            </p:cNvPr>
            <p:cNvGrpSpPr/>
            <p:nvPr/>
          </p:nvGrpSpPr>
          <p:grpSpPr>
            <a:xfrm>
              <a:off x="4862163" y="4698601"/>
              <a:ext cx="967364" cy="653582"/>
              <a:chOff x="4879696" y="3698917"/>
              <a:chExt cx="3869756" cy="2614530"/>
            </a:xfrm>
          </p:grpSpPr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C827B453-0105-7747-833F-901AD2B2E5AE}"/>
                  </a:ext>
                </a:extLst>
              </p:cNvPr>
              <p:cNvSpPr/>
              <p:nvPr/>
            </p:nvSpPr>
            <p:spPr>
              <a:xfrm rot="10800000" flipV="1">
                <a:off x="4879696" y="3698917"/>
                <a:ext cx="2645329" cy="2614530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9D8EA0BC-BF2B-6F4B-AE18-2A11F00326D2}"/>
                  </a:ext>
                </a:extLst>
              </p:cNvPr>
              <p:cNvSpPr/>
              <p:nvPr/>
            </p:nvSpPr>
            <p:spPr>
              <a:xfrm flipV="1">
                <a:off x="7470429" y="5022551"/>
                <a:ext cx="1279023" cy="1264134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334D706-6738-1B4E-9C48-347AEB537E12}"/>
                </a:ext>
              </a:extLst>
            </p:cNvPr>
            <p:cNvSpPr/>
            <p:nvPr/>
          </p:nvSpPr>
          <p:spPr>
            <a:xfrm>
              <a:off x="5405596" y="4979663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7CEF7FA-5751-1D4F-A135-C5F06C372C9F}"/>
                </a:ext>
              </a:extLst>
            </p:cNvPr>
            <p:cNvGrpSpPr/>
            <p:nvPr/>
          </p:nvGrpSpPr>
          <p:grpSpPr>
            <a:xfrm>
              <a:off x="5506617" y="4830390"/>
              <a:ext cx="496447" cy="453633"/>
              <a:chOff x="4879696" y="3698917"/>
              <a:chExt cx="3707519" cy="3387777"/>
            </a:xfrm>
          </p:grpSpPr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FDE757C2-E7B3-0244-AFBD-E7C3BC98DAC3}"/>
                  </a:ext>
                </a:extLst>
              </p:cNvPr>
              <p:cNvSpPr/>
              <p:nvPr/>
            </p:nvSpPr>
            <p:spPr>
              <a:xfrm rot="10800000" flipV="1">
                <a:off x="4879696" y="3698917"/>
                <a:ext cx="2645329" cy="2614530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C157589A-7C0B-3C42-B574-208907889AC6}"/>
                  </a:ext>
                </a:extLst>
              </p:cNvPr>
              <p:cNvSpPr/>
              <p:nvPr/>
            </p:nvSpPr>
            <p:spPr>
              <a:xfrm flipV="1">
                <a:off x="7308190" y="5822561"/>
                <a:ext cx="1279025" cy="1264133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1A610A8-C5CA-F446-AEDB-8415AD9BC710}"/>
                </a:ext>
              </a:extLst>
            </p:cNvPr>
            <p:cNvSpPr/>
            <p:nvPr/>
          </p:nvSpPr>
          <p:spPr>
            <a:xfrm>
              <a:off x="5736539" y="4982018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50BF58B-5397-2E47-B223-5D2422CDD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6400" l="5042" r="94958">
                          <a14:foregroundMark x1="39076" y1="52400" x2="39076" y2="52400"/>
                          <a14:foregroundMark x1="42437" y1="45200" x2="42437" y2="45200"/>
                          <a14:foregroundMark x1="52521" y1="40400" x2="52521" y2="40400"/>
                          <a14:foregroundMark x1="68908" y1="51600" x2="68908" y2="51600"/>
                          <a14:foregroundMark x1="57563" y1="56800" x2="57563" y2="56800"/>
                          <a14:foregroundMark x1="45798" y1="65200" x2="45798" y2="65200"/>
                          <a14:foregroundMark x1="34874" y1="67200" x2="34874" y2="67200"/>
                          <a14:foregroundMark x1="65126" y1="66400" x2="65126" y2="66400"/>
                          <a14:foregroundMark x1="75210" y1="63200" x2="75210" y2="63200"/>
                          <a14:foregroundMark x1="80672" y1="54400" x2="80672" y2="544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3228896" y="5123762"/>
              <a:ext cx="633943" cy="6659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CFE2513-57F9-4B46-9044-E333AB8919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120" b="95506" l="5385" r="95769"/>
                      </a14:imgEffect>
                    </a14:imgLayer>
                  </a14:imgProps>
                </a:ext>
              </a:extLst>
            </a:blip>
            <a:srcRect l="8183" t="4153" r="6791" b="5003"/>
            <a:stretch/>
          </p:blipFill>
          <p:spPr>
            <a:xfrm>
              <a:off x="2382856" y="3974748"/>
              <a:ext cx="1018308" cy="11131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96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4880</TotalTime>
  <Words>3941</Words>
  <Application>Microsoft Macintosh PowerPoint</Application>
  <PresentationFormat>Widescreen</PresentationFormat>
  <Paragraphs>434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Comic Sans MS</vt:lpstr>
      <vt:lpstr>NimbusMonL</vt:lpstr>
      <vt:lpstr>NimbusRomNo9L</vt:lpstr>
      <vt:lpstr>NimbusSanL</vt:lpstr>
      <vt:lpstr>rtxmi</vt:lpstr>
      <vt:lpstr>rtxr</vt:lpstr>
      <vt:lpstr>txsy</vt:lpstr>
      <vt:lpstr>Office Theme</vt:lpstr>
      <vt:lpstr>Modeling Cyberphysical Systems</vt:lpstr>
      <vt:lpstr>Outline</vt:lpstr>
      <vt:lpstr>Why combine discrete and continuous time models?</vt:lpstr>
      <vt:lpstr>Example. Thermostat automaton</vt:lpstr>
      <vt:lpstr>Recall language for automata</vt:lpstr>
      <vt:lpstr>Trajectories</vt:lpstr>
      <vt:lpstr>Hybrid Automaton</vt:lpstr>
      <vt:lpstr>Semantics: Executions and Traces</vt:lpstr>
      <vt:lpstr>Mode invariants: Urgency in transitions</vt:lpstr>
      <vt:lpstr>Example. Bouncing Ball</vt:lpstr>
      <vt:lpstr>Urgency: Must transitions</vt:lpstr>
      <vt:lpstr>Another Example: Periodically Sending Process</vt:lpstr>
      <vt:lpstr>Zeno’s Paradox</vt:lpstr>
      <vt:lpstr>Defining stability of hybrid automata</vt:lpstr>
      <vt:lpstr>PowerPoint Presentation</vt:lpstr>
      <vt:lpstr>PowerPoint Presentation</vt:lpstr>
      <vt:lpstr>Special kinds of executions</vt:lpstr>
      <vt:lpstr>Rimless wheel</vt:lpstr>
      <vt:lpstr>Invariants and reachability</vt:lpstr>
      <vt:lpstr>How to prove invariants of hybrid automata</vt:lpstr>
      <vt:lpstr>How to prove invariants of hybrid automata</vt:lpstr>
      <vt:lpstr>How to prove invariants of hybrid automata</vt:lpstr>
      <vt:lpstr>An application</vt:lpstr>
      <vt:lpstr>An application</vt:lpstr>
      <vt:lpstr>Strengthened invariant</vt:lpstr>
      <vt:lpstr>Summary</vt:lpstr>
      <vt:lpstr>Floyd-Hoare Proofs</vt:lpstr>
      <vt:lpstr>Sub-tangential conditions. Checking trajectory conditions without solving ODEs [Bhatia and Szegö 67]</vt:lpstr>
      <vt:lpstr>Proving invariance using subtangential condition</vt:lpstr>
      <vt:lpstr>PowerPoint Presentation</vt:lpstr>
      <vt:lpstr>Another example</vt:lpstr>
      <vt:lpstr>Checking sub-tangential condition in pieces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Cyberphysical Systems</dc:title>
  <dc:creator>Mitra, Sayan</dc:creator>
  <cp:lastModifiedBy>Mitra, Sayan</cp:lastModifiedBy>
  <cp:revision>63</cp:revision>
  <dcterms:created xsi:type="dcterms:W3CDTF">2019-09-17T14:48:50Z</dcterms:created>
  <dcterms:modified xsi:type="dcterms:W3CDTF">2025-10-09T17:22:28Z</dcterms:modified>
</cp:coreProperties>
</file>