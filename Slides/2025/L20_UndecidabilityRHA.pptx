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4" r:id="rId2"/>
    <p:sldId id="434" r:id="rId3"/>
    <p:sldId id="456" r:id="rId4"/>
    <p:sldId id="325" r:id="rId5"/>
    <p:sldId id="458" r:id="rId6"/>
    <p:sldId id="457" r:id="rId7"/>
    <p:sldId id="460" r:id="rId8"/>
    <p:sldId id="461" r:id="rId9"/>
    <p:sldId id="330" r:id="rId10"/>
    <p:sldId id="326" r:id="rId11"/>
    <p:sldId id="327" r:id="rId12"/>
    <p:sldId id="328" r:id="rId13"/>
    <p:sldId id="329" r:id="rId14"/>
    <p:sldId id="462" r:id="rId15"/>
    <p:sldId id="332" r:id="rId16"/>
    <p:sldId id="459" r:id="rId17"/>
    <p:sldId id="331" r:id="rId18"/>
    <p:sldId id="333" r:id="rId19"/>
    <p:sldId id="334" r:id="rId20"/>
    <p:sldId id="335" r:id="rId21"/>
    <p:sldId id="336" r:id="rId22"/>
    <p:sldId id="33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87"/>
    <p:restoredTop sz="96208"/>
  </p:normalViewPr>
  <p:slideViewPr>
    <p:cSldViewPr snapToGrid="0" snapToObjects="1" showGuides="1">
      <p:cViewPr varScale="1">
        <p:scale>
          <a:sx n="85" d="100"/>
          <a:sy n="85" d="100"/>
        </p:scale>
        <p:origin x="200" y="6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B2EE4-3D82-CF46-ABA8-6F2FAA037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CB4E0-15B5-AF40-B2EC-2FA60D5F3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FC4C8-FD13-504A-A2CB-075AF20B2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A5A26-B1C6-8E43-A71B-FD691C9C0D0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18153-A88B-5649-A80D-CC5643D81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D1EC5-5BBB-9F46-BA0F-297A8AC8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9241-3D88-A04F-952E-D3C68B5D9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1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F80D-D51B-E841-A2E6-68F7AFB0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EC083-0D43-D244-A154-2A56D9726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1BC23-3C76-914F-B483-CB0BC100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A5A26-B1C6-8E43-A71B-FD691C9C0D0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25C08-F9BB-3048-B3EE-A433167D3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9045C-E190-394B-902D-B420FEE4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9241-3D88-A04F-952E-D3C68B5D9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30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60B6-451C-4A41-ADB5-4F784233F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A720B-3F00-BC45-9757-8371E05E8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94559-6B90-8F48-A232-DD26B47F4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A5A26-B1C6-8E43-A71B-FD691C9C0D0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AF6E2-532F-844D-A9F5-02F3D63E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6FB40-86F2-A148-A3A9-9E9108F58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9241-3D88-A04F-952E-D3C68B5D9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6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882BF-EDA2-E64F-B044-97F3DDFB2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83A92-6319-F846-BF6E-0DC20759E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93233-3388-BF49-9D79-685283AB8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9AD89-A20E-5E47-B7AB-F808C0F0A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A5A26-B1C6-8E43-A71B-FD691C9C0D0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072C1-4B84-994D-89BE-5584C1A7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AEA09-50C0-2546-A91B-6ED9D8415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9241-3D88-A04F-952E-D3C68B5D9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0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148D1-7FF3-584E-B667-306C1A9E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45D9E-AF83-1C44-AED0-E7BE5C2DE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45A32-6D72-A94D-BD23-991A15E02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57616B-4079-2341-8C6B-FB5917E2E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7CF571-C91D-4E4E-A843-9779CBADE5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CBA7CB-B313-064E-97BE-9843077D0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A5A26-B1C6-8E43-A71B-FD691C9C0D0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50E017-044C-5A49-8FB8-7A7895438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6F4AA8-73A3-D441-A138-B7C25DDE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9241-3D88-A04F-952E-D3C68B5D9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5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9D9A-36A1-9C41-A054-ACC825F5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7A2FD-2E15-E241-8CD1-8102BD35A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A5A26-B1C6-8E43-A71B-FD691C9C0D0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BF735E-645F-2B44-847E-814086A4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4702F2-7F97-AB46-A9A5-5CF0AC35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9241-3D88-A04F-952E-D3C68B5D9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7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7507E7-3837-6A4E-8993-0301B4552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A5A26-B1C6-8E43-A71B-FD691C9C0D0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82C1B4-DB21-3747-9DDC-13AA4CD0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D3EA1-3AC9-924A-B3E1-17D6F6AB8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9241-3D88-A04F-952E-D3C68B5D9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53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47D50-2945-194B-9FAE-081B4860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E46DE-F00C-4948-A723-74AB6C624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BFF23-6AB2-B842-A9D8-4F307AC7D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E6621-654A-9841-B0C5-4BCB4201F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A5A26-B1C6-8E43-A71B-FD691C9C0D0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9E13E-9107-5A45-9E3B-80732574C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BB445-2742-E948-8A60-13E817803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9241-3D88-A04F-952E-D3C68B5D9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5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7B35-868F-DA42-951F-694E7273E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A6F221-428A-4942-8B68-7DD060D01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26D43-4658-B641-9061-4917C565E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5C263-B8F0-9F4D-B2A1-B7813537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A5A26-B1C6-8E43-A71B-FD691C9C0D0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A8EEE-3B8F-2D41-9959-A1B955D0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ABD20-5939-6D4B-9BF1-BA275BA1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9241-3D88-A04F-952E-D3C68B5D9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8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5EC0-499B-4A4D-A831-A9C9E907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02130-BD9C-FD48-ABA6-70057E970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A61C3-1B89-C040-B732-1C7B61E6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A5A26-B1C6-8E43-A71B-FD691C9C0D0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1CB88-DCBC-794F-AC1A-B7029ABD8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D9E68-76F2-CC46-8218-FF13CA6D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9241-3D88-A04F-952E-D3C68B5D9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89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EECFE-96D9-C14D-9524-346D5F054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E6ECC-2C5F-9746-8B93-A18A48F14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09153-2A6E-DF41-8B81-342E6A87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A5A26-B1C6-8E43-A71B-FD691C9C0D0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D2E89-65C5-6C4B-A6CE-FCFD52480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F7C46-0647-914A-9FE9-835B28B0C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9241-3D88-A04F-952E-D3C68B5D9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8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3B87E9-C4CD-7648-8889-B81A8B729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0AD76-C804-B443-873C-E2216FDAF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DF3C2-A85C-354D-9776-1FBBE7267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A5A26-B1C6-8E43-A71B-FD691C9C0D0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7E9E5-E83B-9D45-B620-C6BDF4AF2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3C691-5B94-3C49-8D49-4DBF205E4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09241-3D88-A04F-952E-D3C68B5D9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95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gr-courses.engr.illinois.edu/ece584/papers/henz_whats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040" y="1699022"/>
            <a:ext cx="9777984" cy="745728"/>
          </a:xfrm>
        </p:spPr>
        <p:txBody>
          <a:bodyPr>
            <a:normAutofit/>
          </a:bodyPr>
          <a:lstStyle/>
          <a:p>
            <a:r>
              <a:rPr lang="en-US" sz="4000" dirty="0"/>
              <a:t>Undecidability of Rectangular Hybrid Automata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Sayan Mitra</a:t>
            </a:r>
          </a:p>
          <a:p>
            <a:r>
              <a:rPr lang="en-US" dirty="0"/>
              <a:t>Verifying </a:t>
            </a:r>
            <a:r>
              <a:rPr lang="en-US"/>
              <a:t>cyberphysical</a:t>
            </a:r>
            <a:r>
              <a:rPr lang="en-US" dirty="0"/>
              <a:t> systems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283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Classes of Hybrid Automata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B32AF7-57BB-8B8E-397A-4F4688D7DFCB}"/>
              </a:ext>
            </a:extLst>
          </p:cNvPr>
          <p:cNvCxnSpPr/>
          <p:nvPr/>
        </p:nvCxnSpPr>
        <p:spPr>
          <a:xfrm flipV="1">
            <a:off x="3994484" y="0"/>
            <a:ext cx="6882063" cy="685800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6537A8-A363-A8AD-3404-61119D632416}"/>
              </a:ext>
            </a:extLst>
          </p:cNvPr>
          <p:cNvSpPr txBox="1"/>
          <p:nvPr/>
        </p:nvSpPr>
        <p:spPr>
          <a:xfrm>
            <a:off x="9192461" y="1106905"/>
            <a:ext cx="29995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2"/>
              </a:buClr>
              <a:buSzPct val="400000"/>
            </a:pPr>
            <a:r>
              <a:rPr lang="en-US" sz="2400" dirty="0">
                <a:solidFill>
                  <a:schemeClr val="accent2"/>
                </a:solidFill>
              </a:rPr>
              <a:t>        Nonlinear Hybrid </a:t>
            </a:r>
          </a:p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Automata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5844D2-583D-0BAD-B3D5-D9B7C368AFBC}"/>
              </a:ext>
            </a:extLst>
          </p:cNvPr>
          <p:cNvSpPr txBox="1"/>
          <p:nvPr/>
        </p:nvSpPr>
        <p:spPr>
          <a:xfrm>
            <a:off x="4820655" y="5831305"/>
            <a:ext cx="3861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Integral Timed Automata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55200D-80C7-E9B8-2BF9-8FD83BEED50E}"/>
              </a:ext>
            </a:extLst>
          </p:cNvPr>
          <p:cNvSpPr txBox="1"/>
          <p:nvPr/>
        </p:nvSpPr>
        <p:spPr>
          <a:xfrm>
            <a:off x="5422234" y="5181600"/>
            <a:ext cx="3971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Rational Timed Automata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592A37-64D3-E423-EF27-5518F547C1CA}"/>
              </a:ext>
            </a:extLst>
          </p:cNvPr>
          <p:cNvSpPr txBox="1"/>
          <p:nvPr/>
        </p:nvSpPr>
        <p:spPr>
          <a:xfrm>
            <a:off x="6079961" y="4539916"/>
            <a:ext cx="3166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2"/>
                </a:solidFill>
              </a:rPr>
              <a:t>Multirate</a:t>
            </a:r>
            <a:r>
              <a:rPr lang="en-US" sz="2400" dirty="0">
                <a:solidFill>
                  <a:schemeClr val="accent2"/>
                </a:solidFill>
              </a:rPr>
              <a:t> Automata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BAF886-7AE9-FE58-6DE4-A944E0CF6CB8}"/>
              </a:ext>
            </a:extLst>
          </p:cNvPr>
          <p:cNvSpPr txBox="1"/>
          <p:nvPr/>
        </p:nvSpPr>
        <p:spPr>
          <a:xfrm>
            <a:off x="7036965" y="3254180"/>
            <a:ext cx="38634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2"/>
              </a:buClr>
              <a:buSzPct val="400000"/>
            </a:pPr>
            <a:r>
              <a:rPr lang="en-US" sz="2400" dirty="0">
                <a:solidFill>
                  <a:schemeClr val="accent2"/>
                </a:solidFill>
              </a:rPr>
              <a:t>	Rectangular Initialized</a:t>
            </a:r>
          </a:p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Hybrid Automata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79EA15-7095-0925-0BA1-C25D168024A2}"/>
              </a:ext>
            </a:extLst>
          </p:cNvPr>
          <p:cNvSpPr txBox="1"/>
          <p:nvPr/>
        </p:nvSpPr>
        <p:spPr>
          <a:xfrm>
            <a:off x="7884697" y="2778837"/>
            <a:ext cx="430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Rectangular Hybrid Automata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C612F1-2886-BC8E-A862-B3F0A51D8DBA}"/>
              </a:ext>
            </a:extLst>
          </p:cNvPr>
          <p:cNvSpPr/>
          <p:nvPr/>
        </p:nvSpPr>
        <p:spPr>
          <a:xfrm>
            <a:off x="8034727" y="2518347"/>
            <a:ext cx="314794" cy="31479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71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0274"/>
            <a:ext cx="10515600" cy="804108"/>
          </a:xfrm>
        </p:spPr>
        <p:txBody>
          <a:bodyPr>
            <a:normAutofit/>
          </a:bodyPr>
          <a:lstStyle/>
          <a:p>
            <a:r>
              <a:rPr lang="en-US" dirty="0"/>
              <a:t>Control State Reachability of Rectangular HA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4555" y="884420"/>
                <a:ext cx="11197653" cy="50292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Definition. </a:t>
                </a:r>
                <a:r>
                  <a:rPr lang="en-US" sz="2000" dirty="0"/>
                  <a:t>A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rectangular hybrid automaton (RHA) </a:t>
                </a:r>
                <a:r>
                  <a:rPr lang="en-US" sz="2000" dirty="0"/>
                  <a:t>is a HA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  <a:ea typeface="Cambria Math"/>
                      </a:rPr>
                      <m:t>𝓐</m:t>
                    </m:r>
                    <m:r>
                      <a:rPr lang="en-US" sz="2000" b="1" i="1" dirty="0">
                        <a:latin typeface="Cambria Math" charset="0"/>
                        <a:ea typeface="Cambria Math"/>
                      </a:rPr>
                      <m:t>=⟨</m:t>
                    </m:r>
                    <m:r>
                      <a:rPr lang="en-US" sz="2000" i="1" dirty="0">
                        <a:latin typeface="Cambria Math" charset="0"/>
                        <a:ea typeface="Cambria Math"/>
                      </a:rPr>
                      <m:t>𝑉</m:t>
                    </m:r>
                    <m:r>
                      <a:rPr lang="en-US" sz="2000" i="1" dirty="0">
                        <a:latin typeface="Cambria Math" charset="0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000" i="1">
                        <a:latin typeface="Cambria Math" charset="0"/>
                        <a:ea typeface="Cambria Math"/>
                      </a:rPr>
                      <m:t>,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>
                        <a:latin typeface="Cambria Math" charset="0"/>
                        <a:ea typeface="Cambria Math"/>
                      </a:rPr>
                      <m:t>⟩</m:t>
                    </m:r>
                  </m:oMath>
                </a14:m>
                <a:r>
                  <a:rPr lang="en-US" sz="2000" dirty="0"/>
                  <a:t>  where </a:t>
                </a:r>
              </a:p>
              <a:p>
                <a:r>
                  <a:rPr lang="en-US" sz="2400" dirty="0"/>
                  <a:t>V = X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sz="2400" dirty="0"/>
                  <a:t> , X: </a:t>
                </a:r>
                <a:r>
                  <a:rPr lang="en-US" sz="2400" b="1" dirty="0">
                    <a:solidFill>
                      <a:srgbClr val="00B0F0"/>
                    </a:solidFill>
                  </a:rPr>
                  <a:t>continuous variables</a:t>
                </a:r>
                <a:r>
                  <a:rPr lang="en-US" sz="2400" dirty="0">
                    <a:solidFill>
                      <a:srgbClr val="00B0F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𝑙𝑜𝑐</m:t>
                    </m:r>
                  </m:oMath>
                </a14:m>
                <a:r>
                  <a:rPr lang="en-US" sz="2400" dirty="0"/>
                  <a:t> discrete variable of finite type </a:t>
                </a:r>
                <a:r>
                  <a:rPr lang="en-US" sz="2400" dirty="0" err="1"/>
                  <a:t>Ł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𝑄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/>
                      </a:rPr>
                      <m:t>𝑉𝑎𝑙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/>
                      </a:rPr>
                      <m:t>𝑉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sz="2400" baseline="-25000" dirty="0"/>
                  <a:t> </a:t>
                </a:r>
                <a:r>
                  <a:rPr lang="en-US" sz="2400" dirty="0"/>
                  <a:t>set of initial states </a:t>
                </a:r>
                <a:endParaRPr lang="en-US" sz="2400" baseline="-250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400" i="1">
                        <a:latin typeface="Cambria Math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  <a:ea typeface="Cambria Math"/>
                              </a:rPr>
                              <m:t>∪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  <a:ea typeface="Cambria Math"/>
                              </a:rPr>
                              <m:t>ℓ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2400" dirty="0"/>
                  <a:t> set of trajectories for X</a:t>
                </a:r>
              </a:p>
              <a:p>
                <a:pPr lvl="1"/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m:rPr>
                        <m:lit/>
                      </m:rPr>
                      <a:rPr 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/>
                          </a:rPr>
                          <m:t>ℓ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/>
                      </a:rPr>
                      <m:t>, 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𝑋</m:t>
                    </m:r>
                  </m:oMath>
                </a14:m>
                <a:r>
                  <a:rPr lang="en-US" dirty="0"/>
                  <a:t> either (</a:t>
                </a:r>
                <a:r>
                  <a:rPr lang="en-US" dirty="0" err="1"/>
                  <a:t>i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dirty="0"/>
                  <a:t> or (ii)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ℓ1 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ℓ2 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a set of transitions such that </a:t>
                </a:r>
              </a:p>
              <a:p>
                <a:pPr lvl="1"/>
                <a:r>
                  <a:rPr lang="en-US" dirty="0"/>
                  <a:t>Guards are described by </a:t>
                </a:r>
                <a:r>
                  <a:rPr lang="en-US" b="1" dirty="0">
                    <a:solidFill>
                      <a:srgbClr val="00B0F0"/>
                    </a:solidFill>
                  </a:rPr>
                  <a:t>rational</a:t>
                </a:r>
                <a:r>
                  <a:rPr lang="en-US" b="1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clock constraings  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𝑙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→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〈"/>
                        <m:endChr m:val="〉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𝑙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implies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𝑜𝑟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∈[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Control state reachability problem: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reachable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r>
                  <a:rPr lang="en-US" b="1" dirty="0"/>
                  <a:t>Theorem.</a:t>
                </a:r>
                <a:r>
                  <a:rPr lang="en-US" dirty="0"/>
                  <a:t> Control state reachability problem for RHA is undecidable.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4555" y="884420"/>
                <a:ext cx="11197653" cy="5029200"/>
              </a:xfrm>
              <a:blipFill>
                <a:blip r:embed="rId2"/>
                <a:stretch>
                  <a:fillRect l="-1133" t="-1511" b="-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350DF-B794-E27D-8217-951FF2F47F1E}"/>
              </a:ext>
            </a:extLst>
          </p:cNvPr>
          <p:cNvSpPr txBox="1"/>
          <p:nvPr/>
        </p:nvSpPr>
        <p:spPr>
          <a:xfrm>
            <a:off x="6065893" y="5837553"/>
            <a:ext cx="61261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Henzinger</a:t>
            </a:r>
            <a:r>
              <a:rPr lang="en-US" sz="1400" dirty="0"/>
              <a:t>, </a:t>
            </a:r>
            <a:r>
              <a:rPr lang="en-US" sz="1400" dirty="0" err="1"/>
              <a:t>Kopke</a:t>
            </a:r>
            <a:r>
              <a:rPr lang="en-US" sz="1400" dirty="0"/>
              <a:t>, Puri, and </a:t>
            </a:r>
            <a:r>
              <a:rPr lang="en-US" sz="1400" dirty="0" err="1"/>
              <a:t>Varaiya</a:t>
            </a:r>
            <a:r>
              <a:rPr lang="en-US" sz="1400" dirty="0"/>
              <a:t>. </a:t>
            </a:r>
            <a:r>
              <a:rPr lang="en-US" sz="1400" dirty="0">
                <a:hlinkClick r:id="rId3"/>
              </a:rPr>
              <a:t>What's Decidable About Hybrid Automata?. Journal of Computer and System Sciences. ACM Press, 1995. 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5094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C1DC-07A9-A542-A8CB-95C61634B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C49E01-884D-0D46-B292-BE503D4D95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There exists no algorithm that terminates and answers this fundamental verification question of rectangular hybrid automata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Use less expressive models</a:t>
                </a:r>
                <a:r>
                  <a:rPr lang="en-US" dirty="0"/>
                  <a:t>. CSR problem for </a:t>
                </a:r>
                <a:r>
                  <a:rPr lang="en-US" dirty="0">
                    <a:solidFill>
                      <a:srgbClr val="00B0F0"/>
                    </a:solidFill>
                  </a:rPr>
                  <a:t>initialized rectangular hybrid </a:t>
                </a:r>
                <a:r>
                  <a:rPr lang="en-US" dirty="0"/>
                  <a:t>automata (IRHA) is decidable. Express or approximate your problem as IRHA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Use approximation algorithms for partial decisions.</a:t>
                </a:r>
                <a:r>
                  <a:rPr lang="en-US" dirty="0"/>
                  <a:t> Reachability analysis algorithms can over-approximate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Reach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dirty="0"/>
                  <a:t> then we can conclude that RHA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safe, but otherwise we cannot conclude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unsafe.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C49E01-884D-0D46-B292-BE503D4D95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581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70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760B4-DCF0-DAEC-1DE1-5201F8291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1BB58-AF8D-38BB-E545-99F97E530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Hardness results</a:t>
            </a:r>
          </a:p>
          <a:p>
            <a:r>
              <a:rPr lang="en-US" dirty="0"/>
              <a:t>Halting problem</a:t>
            </a:r>
          </a:p>
          <a:p>
            <a:r>
              <a:rPr lang="en-US" dirty="0"/>
              <a:t>Reductions</a:t>
            </a:r>
          </a:p>
          <a:p>
            <a:r>
              <a:rPr lang="en-US" dirty="0"/>
              <a:t>Counter machines</a:t>
            </a:r>
          </a:p>
          <a:p>
            <a:r>
              <a:rPr lang="en-US" dirty="0"/>
              <a:t>RHA</a:t>
            </a:r>
          </a:p>
        </p:txBody>
      </p:sp>
    </p:spTree>
    <p:extLst>
      <p:ext uri="{BB962C8B-B14F-4D97-AF65-F5344CB8AC3E}">
        <p14:creationId xmlns:p14="http://schemas.microsoft.com/office/powerpoint/2010/main" val="1485509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85E2-C5C8-B9F6-A21F-680759B0B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problem that is hard / undecidable</a:t>
            </a:r>
          </a:p>
        </p:txBody>
      </p:sp>
    </p:spTree>
    <p:extLst>
      <p:ext uri="{BB962C8B-B14F-4D97-AF65-F5344CB8AC3E}">
        <p14:creationId xmlns:p14="http://schemas.microsoft.com/office/powerpoint/2010/main" val="422342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7787E-B1AE-0FC7-B970-1E07010D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2" y="365125"/>
            <a:ext cx="11767278" cy="729157"/>
          </a:xfrm>
        </p:spPr>
        <p:txBody>
          <a:bodyPr/>
          <a:lstStyle/>
          <a:p>
            <a:r>
              <a:rPr lang="en-US" dirty="0"/>
              <a:t>Halting Problem is Undecidable: Diagonalization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00FC4-CCBF-07E2-3240-C7CE3AE8D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744" y="1109272"/>
            <a:ext cx="10964056" cy="551638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Theorem</a:t>
            </a:r>
            <a:r>
              <a:rPr lang="en-US" dirty="0"/>
              <a:t>. There does not there exist an algorithm/compiler HALTS(P, x) that correctly answers yes </a:t>
            </a:r>
            <a:r>
              <a:rPr lang="en-US" dirty="0" err="1"/>
              <a:t>iff</a:t>
            </a:r>
            <a:r>
              <a:rPr lang="en-US" dirty="0"/>
              <a:t> a program P halts on x.</a:t>
            </a:r>
          </a:p>
          <a:p>
            <a:pPr>
              <a:lnSpc>
                <a:spcPct val="120000"/>
              </a:lnSpc>
            </a:pPr>
            <a:r>
              <a:rPr lang="en-US" dirty="0"/>
              <a:t>Assume, for contradiction, there is a correct procedure: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HALTS(P, x) returns: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TRUE if P halts on input x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FALSE if P runs forever on input x</a:t>
            </a:r>
          </a:p>
          <a:p>
            <a:pPr>
              <a:lnSpc>
                <a:spcPct val="120000"/>
              </a:lnSpc>
            </a:pPr>
            <a:r>
              <a:rPr lang="en-US" dirty="0"/>
              <a:t>Now define a new program D(P):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/>
              <a:t>if HALTS(P, P) = TRUE then loop forever</a:t>
            </a:r>
            <a:br>
              <a:rPr lang="en-US" dirty="0"/>
            </a:br>
            <a:r>
              <a:rPr lang="en-US" dirty="0"/>
              <a:t>else halt immediately</a:t>
            </a:r>
          </a:p>
          <a:p>
            <a:pPr>
              <a:lnSpc>
                <a:spcPct val="120000"/>
              </a:lnSpc>
            </a:pPr>
            <a:r>
              <a:rPr lang="en-US" dirty="0"/>
              <a:t>What happens when we run D on itself, D(D)?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If HALTS(D, D) = TRUE, then D(D) should halt</a:t>
            </a:r>
            <a:br>
              <a:rPr lang="en-US" dirty="0"/>
            </a:br>
            <a:r>
              <a:rPr lang="en-US" dirty="0"/>
              <a:t>but by definition of D, in this case D(D) loops forever. Contradiction.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If HALTS(D, D) = FALSE, then D(D) should loop forever…</a:t>
            </a:r>
            <a:br>
              <a:rPr lang="en-US" dirty="0"/>
            </a:br>
            <a:r>
              <a:rPr lang="en-US" dirty="0"/>
              <a:t>but by definition of D, in this case D(D) halts. Contradiction.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DCE21-E5C5-53BF-081D-7E8B075F8C48}"/>
              </a:ext>
            </a:extLst>
          </p:cNvPr>
          <p:cNvSpPr txBox="1"/>
          <p:nvPr/>
        </p:nvSpPr>
        <p:spPr>
          <a:xfrm>
            <a:off x="7989756" y="2698230"/>
            <a:ext cx="4002375" cy="1399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Cantor: build a real number that differs from the n-</a:t>
            </a:r>
            <a:r>
              <a:rPr lang="en-US" dirty="0" err="1"/>
              <a:t>th</a:t>
            </a:r>
            <a:r>
              <a:rPr lang="en-US" dirty="0"/>
              <a:t> real at the n-</a:t>
            </a:r>
            <a:r>
              <a:rPr lang="en-US" dirty="0" err="1"/>
              <a:t>th</a:t>
            </a:r>
            <a:r>
              <a:rPr lang="en-US" dirty="0"/>
              <a:t> digit.</a:t>
            </a:r>
          </a:p>
          <a:p>
            <a:pPr>
              <a:lnSpc>
                <a:spcPct val="120000"/>
              </a:lnSpc>
            </a:pPr>
            <a:r>
              <a:rPr lang="en-US" dirty="0"/>
              <a:t>Halting proof: build a program that differs from the n-</a:t>
            </a:r>
            <a:r>
              <a:rPr lang="en-US" dirty="0" err="1"/>
              <a:t>th</a:t>
            </a:r>
            <a:r>
              <a:rPr lang="en-US" dirty="0"/>
              <a:t> program on input n.</a:t>
            </a:r>
          </a:p>
        </p:txBody>
      </p:sp>
    </p:spTree>
    <p:extLst>
      <p:ext uri="{BB962C8B-B14F-4D97-AF65-F5344CB8AC3E}">
        <p14:creationId xmlns:p14="http://schemas.microsoft.com/office/powerpoint/2010/main" val="87884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85E2-C5C8-B9F6-A21F-680759B0B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show that RHA is undecidable?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27EB2-3380-6581-E494-7208702A8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Show that if RHA were decidable then Halting problem also becomes decidable. </a:t>
            </a:r>
          </a:p>
          <a:p>
            <a:pPr>
              <a:lnSpc>
                <a:spcPct val="110000"/>
              </a:lnSpc>
            </a:pPr>
            <a:r>
              <a:rPr lang="en-US" dirty="0"/>
              <a:t>Since Halting problem is undecidable, therefore CSR of RHA is also undecidable.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Do this in multiple steps</a:t>
            </a:r>
          </a:p>
          <a:p>
            <a:pPr>
              <a:lnSpc>
                <a:spcPct val="110000"/>
              </a:lnSpc>
            </a:pPr>
            <a:r>
              <a:rPr lang="en-US" dirty="0"/>
              <a:t>If Halting problem for 2-Counter Machines were decidable then Halting problem would be decidable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2 Counter Machines are as powerful/expressive as general programs</a:t>
            </a:r>
          </a:p>
          <a:p>
            <a:pPr>
              <a:lnSpc>
                <a:spcPct val="110000"/>
              </a:lnSpc>
            </a:pPr>
            <a:r>
              <a:rPr lang="en-US" dirty="0"/>
              <a:t>If RHA were decidable then 2-Counter machines would be decidable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RHA are as expressive / powerful as 2-CMs</a:t>
            </a:r>
          </a:p>
        </p:txBody>
      </p:sp>
    </p:spTree>
    <p:extLst>
      <p:ext uri="{BB962C8B-B14F-4D97-AF65-F5344CB8AC3E}">
        <p14:creationId xmlns:p14="http://schemas.microsoft.com/office/powerpoint/2010/main" val="294840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35AD0B4-557D-2F4C-926A-471E81559EA2}"/>
              </a:ext>
            </a:extLst>
          </p:cNvPr>
          <p:cNvSpPr/>
          <p:nvPr/>
        </p:nvSpPr>
        <p:spPr>
          <a:xfrm>
            <a:off x="2806262" y="2427911"/>
            <a:ext cx="7719849" cy="2501440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Decision procedure for B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38448-9948-CE44-A40B-89C12B87F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reductions: Using known hard problem B to show hardness of 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9CED2E-5007-334C-9C22-C473CA944E6D}"/>
              </a:ext>
            </a:extLst>
          </p:cNvPr>
          <p:cNvSpPr/>
          <p:nvPr/>
        </p:nvSpPr>
        <p:spPr>
          <a:xfrm>
            <a:off x="8271641" y="2732690"/>
            <a:ext cx="2102069" cy="181303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Purported Algorithm for Problem 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8024DE0-0311-754E-984E-EFD871556B0F}"/>
              </a:ext>
            </a:extLst>
          </p:cNvPr>
          <p:cNvSpPr/>
          <p:nvPr/>
        </p:nvSpPr>
        <p:spPr>
          <a:xfrm>
            <a:off x="244365" y="2732689"/>
            <a:ext cx="1573925" cy="814551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Instance of  B (known to be hard)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17514A-9949-AD40-B950-88BF9E247BEB}"/>
              </a:ext>
            </a:extLst>
          </p:cNvPr>
          <p:cNvSpPr/>
          <p:nvPr/>
        </p:nvSpPr>
        <p:spPr>
          <a:xfrm>
            <a:off x="2994134" y="2732691"/>
            <a:ext cx="2102069" cy="8145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Translator f: B </a:t>
            </a:r>
            <a:r>
              <a:rPr lang="en-US" dirty="0">
                <a:sym typeface="Wingdings" pitchFamily="2" charset="2"/>
              </a:rPr>
              <a:t> A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FF0ED6-5230-1E4B-8A1F-7F210CC580AB}"/>
              </a:ext>
            </a:extLst>
          </p:cNvPr>
          <p:cNvSpPr/>
          <p:nvPr/>
        </p:nvSpPr>
        <p:spPr>
          <a:xfrm>
            <a:off x="5521872" y="2732689"/>
            <a:ext cx="2102069" cy="814551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instance of 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6559D5-9F44-D847-BD14-A776025EC286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623941" y="3139965"/>
            <a:ext cx="6477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0C173C-A171-E542-B106-67E7BCCF3A61}"/>
              </a:ext>
            </a:extLst>
          </p:cNvPr>
          <p:cNvCxnSpPr/>
          <p:nvPr/>
        </p:nvCxnSpPr>
        <p:spPr>
          <a:xfrm>
            <a:off x="10373710" y="3139965"/>
            <a:ext cx="851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ECA43C-D5D8-3E4C-B148-95EB657B19ED}"/>
              </a:ext>
            </a:extLst>
          </p:cNvPr>
          <p:cNvSpPr txBox="1"/>
          <p:nvPr/>
        </p:nvSpPr>
        <p:spPr>
          <a:xfrm>
            <a:off x="10699531" y="2732690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44A22-082A-1840-A025-C0C5412DDB87}"/>
              </a:ext>
            </a:extLst>
          </p:cNvPr>
          <p:cNvSpPr txBox="1"/>
          <p:nvPr/>
        </p:nvSpPr>
        <p:spPr>
          <a:xfrm>
            <a:off x="10699531" y="3959358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F87F53-3D3A-6E4C-8CE0-409A8E2A0340}"/>
              </a:ext>
            </a:extLst>
          </p:cNvPr>
          <p:cNvCxnSpPr/>
          <p:nvPr/>
        </p:nvCxnSpPr>
        <p:spPr>
          <a:xfrm>
            <a:off x="10379986" y="3961985"/>
            <a:ext cx="851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73E5F6-F0B0-F244-940F-7D3E0C0A692B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818290" y="3139965"/>
            <a:ext cx="117584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2E3122-BAB5-C04B-8D5D-0C8927BF1303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5096203" y="3139965"/>
            <a:ext cx="425669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649F431-A281-4141-AA87-69D408B0DD68}"/>
              </a:ext>
            </a:extLst>
          </p:cNvPr>
          <p:cNvSpPr txBox="1"/>
          <p:nvPr/>
        </p:nvSpPr>
        <p:spPr>
          <a:xfrm>
            <a:off x="1883298" y="5210171"/>
            <a:ext cx="89160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Given B is known to be hard  </a:t>
            </a:r>
          </a:p>
          <a:p>
            <a:r>
              <a:rPr lang="en-US" sz="2400" dirty="0">
                <a:latin typeface="+mj-lt"/>
              </a:rPr>
              <a:t>Suppose (for the sake of contradiction) A is solvable</a:t>
            </a:r>
          </a:p>
          <a:p>
            <a:r>
              <a:rPr lang="en-US" sz="2400" dirty="0">
                <a:latin typeface="+mj-lt"/>
              </a:rPr>
              <a:t>If we can construct a reduction f: B</a:t>
            </a:r>
            <a:r>
              <a:rPr lang="en-US" sz="2400" dirty="0">
                <a:latin typeface="+mj-lt"/>
                <a:sym typeface="Wingdings" pitchFamily="2" charset="2"/>
              </a:rPr>
              <a:t>A</a:t>
            </a:r>
            <a:r>
              <a:rPr lang="en-US" sz="2400" dirty="0">
                <a:latin typeface="+mj-lt"/>
              </a:rPr>
              <a:t> (from B to A) then B becomes easy, which is a contradiction</a:t>
            </a:r>
          </a:p>
        </p:txBody>
      </p:sp>
    </p:spTree>
    <p:extLst>
      <p:ext uri="{BB962C8B-B14F-4D97-AF65-F5344CB8AC3E}">
        <p14:creationId xmlns:p14="http://schemas.microsoft.com/office/powerpoint/2010/main" val="937015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35AD0B4-557D-2F4C-926A-471E81559EA2}"/>
              </a:ext>
            </a:extLst>
          </p:cNvPr>
          <p:cNvSpPr/>
          <p:nvPr/>
        </p:nvSpPr>
        <p:spPr>
          <a:xfrm>
            <a:off x="2806262" y="2427911"/>
            <a:ext cx="7719849" cy="2501440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2 CM Halting problem decider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38448-9948-CE44-A40B-89C12B87F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from Halting Problem for 2CM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9CED2E-5007-334C-9C22-C473CA944E6D}"/>
              </a:ext>
            </a:extLst>
          </p:cNvPr>
          <p:cNvSpPr/>
          <p:nvPr/>
        </p:nvSpPr>
        <p:spPr>
          <a:xfrm>
            <a:off x="8271641" y="2732690"/>
            <a:ext cx="2102069" cy="181303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CSR algorithm for Rectangular HA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8024DE0-0311-754E-984E-EFD871556B0F}"/>
              </a:ext>
            </a:extLst>
          </p:cNvPr>
          <p:cNvSpPr/>
          <p:nvPr/>
        </p:nvSpPr>
        <p:spPr>
          <a:xfrm>
            <a:off x="244365" y="2732689"/>
            <a:ext cx="1573925" cy="814551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2CM Halting problem: 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17514A-9949-AD40-B950-88BF9E247BEB}"/>
              </a:ext>
            </a:extLst>
          </p:cNvPr>
          <p:cNvSpPr/>
          <p:nvPr/>
        </p:nvSpPr>
        <p:spPr>
          <a:xfrm>
            <a:off x="2994134" y="2732691"/>
            <a:ext cx="2102069" cy="8145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Translator f(p)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FF0ED6-5230-1E4B-8A1F-7F210CC580AB}"/>
              </a:ext>
            </a:extLst>
          </p:cNvPr>
          <p:cNvSpPr/>
          <p:nvPr/>
        </p:nvSpPr>
        <p:spPr>
          <a:xfrm>
            <a:off x="5521872" y="2732689"/>
            <a:ext cx="2102069" cy="814551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CSR for RHA: f(p)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6559D5-9F44-D847-BD14-A776025EC286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623941" y="3139965"/>
            <a:ext cx="6477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0C173C-A171-E542-B106-67E7BCCF3A61}"/>
              </a:ext>
            </a:extLst>
          </p:cNvPr>
          <p:cNvCxnSpPr/>
          <p:nvPr/>
        </p:nvCxnSpPr>
        <p:spPr>
          <a:xfrm>
            <a:off x="10373710" y="3139965"/>
            <a:ext cx="851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ECA43C-D5D8-3E4C-B148-95EB657B19ED}"/>
              </a:ext>
            </a:extLst>
          </p:cNvPr>
          <p:cNvSpPr txBox="1"/>
          <p:nvPr/>
        </p:nvSpPr>
        <p:spPr>
          <a:xfrm>
            <a:off x="10699531" y="2732690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44A22-082A-1840-A025-C0C5412DDB87}"/>
              </a:ext>
            </a:extLst>
          </p:cNvPr>
          <p:cNvSpPr txBox="1"/>
          <p:nvPr/>
        </p:nvSpPr>
        <p:spPr>
          <a:xfrm>
            <a:off x="10699531" y="3959358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F87F53-3D3A-6E4C-8CE0-409A8E2A0340}"/>
              </a:ext>
            </a:extLst>
          </p:cNvPr>
          <p:cNvCxnSpPr/>
          <p:nvPr/>
        </p:nvCxnSpPr>
        <p:spPr>
          <a:xfrm>
            <a:off x="10379986" y="3961985"/>
            <a:ext cx="851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73E5F6-F0B0-F244-940F-7D3E0C0A692B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818290" y="3139965"/>
            <a:ext cx="117584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2E3122-BAB5-C04B-8D5D-0C8927BF1303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5096203" y="3139965"/>
            <a:ext cx="425669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EABB04A-2FDF-334D-9AF9-94C8AC33E971}"/>
              </a:ext>
            </a:extLst>
          </p:cNvPr>
          <p:cNvSpPr txBox="1"/>
          <p:nvPr/>
        </p:nvSpPr>
        <p:spPr>
          <a:xfrm>
            <a:off x="1909715" y="5365116"/>
            <a:ext cx="89160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Suppose CSR for RHA is decidable </a:t>
            </a:r>
          </a:p>
          <a:p>
            <a:r>
              <a:rPr lang="en-US" sz="2400" dirty="0">
                <a:latin typeface="+mj-lt"/>
              </a:rPr>
              <a:t>If we can construct a reduction from 2CM Halting Problem to CSR for RHA then 2CM Halting problem is also decidable </a:t>
            </a:r>
          </a:p>
        </p:txBody>
      </p:sp>
    </p:spTree>
    <p:extLst>
      <p:ext uri="{BB962C8B-B14F-4D97-AF65-F5344CB8AC3E}">
        <p14:creationId xmlns:p14="http://schemas.microsoft.com/office/powerpoint/2010/main" val="356771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B2FF-5004-A244-AE7C-E98EEF2D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A4C8D-E593-1C49-A52D-E8168C691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+mj-lt"/>
              </a:rPr>
              <a:t>An n-counter machine is an elementary computer with n-unbounded counters and  a finite program written in a  minimalistic assembly language.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More precisely: A 2-counter machine (2CM) is a discrete transition system with the following components:</a:t>
            </a:r>
          </a:p>
          <a:p>
            <a:r>
              <a:rPr lang="en-US" dirty="0">
                <a:latin typeface="+mj-lt"/>
              </a:rPr>
              <a:t>Two nonnegative integer  counters C and D. Both are initialized to $0$.</a:t>
            </a:r>
          </a:p>
          <a:p>
            <a:r>
              <a:rPr lang="en-US" dirty="0">
                <a:latin typeface="+mj-lt"/>
              </a:rPr>
              <a:t>A finite program with one of these instructions at each location (or line):</a:t>
            </a:r>
          </a:p>
          <a:p>
            <a:pPr lvl="1"/>
            <a:r>
              <a:rPr lang="en-US" dirty="0">
                <a:latin typeface="+mj-lt"/>
              </a:rPr>
              <a:t>INCC, INCD: increments counter C (or D)</a:t>
            </a:r>
          </a:p>
          <a:p>
            <a:pPr lvl="1"/>
            <a:r>
              <a:rPr lang="en-US" dirty="0">
                <a:latin typeface="+mj-lt"/>
              </a:rPr>
              <a:t>DECC, DECD: decrements counter C (or D), provided it is not 0,</a:t>
            </a:r>
          </a:p>
          <a:p>
            <a:pPr lvl="1"/>
            <a:r>
              <a:rPr lang="en-US" dirty="0">
                <a:latin typeface="+mj-lt"/>
              </a:rPr>
              <a:t>JNZC, JNZD [label]: moves the program control to line </a:t>
            </a:r>
            <a:r>
              <a:rPr lang="en-US" i="1" dirty="0">
                <a:latin typeface="+mj-lt"/>
              </a:rPr>
              <a:t>label</a:t>
            </a:r>
            <a:r>
              <a:rPr lang="en-US" dirty="0">
                <a:latin typeface="+mj-lt"/>
              </a:rPr>
              <a:t> provided that counter C (or D) is not zero. </a:t>
            </a:r>
          </a:p>
        </p:txBody>
      </p:sp>
    </p:spTree>
    <p:extLst>
      <p:ext uri="{BB962C8B-B14F-4D97-AF65-F5344CB8AC3E}">
        <p14:creationId xmlns:p14="http://schemas.microsoft.com/office/powerpoint/2010/main" val="416342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6990-E89C-1248-8AA3-C97552F5A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2CM for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685F9-AB9E-7740-B631-9B8B482D7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/>
              <a:t>A 2-counter machine for multiplying  2x3 is shown below.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INCC;</a:t>
            </a:r>
          </a:p>
          <a:p>
            <a:pPr marL="0" indent="0">
              <a:buNone/>
            </a:pPr>
            <a:r>
              <a:rPr lang="en-US" sz="2000" dirty="0"/>
              <a:t>INCC;		% C = 2</a:t>
            </a:r>
          </a:p>
          <a:p>
            <a:pPr marL="0" indent="0">
              <a:buNone/>
            </a:pPr>
            <a:r>
              <a:rPr lang="en-US" sz="2000" dirty="0"/>
              <a:t>INCD;		% LOOP</a:t>
            </a:r>
          </a:p>
          <a:p>
            <a:pPr marL="0" indent="0">
              <a:buNone/>
            </a:pPr>
            <a:r>
              <a:rPr lang="en-US" sz="2000" dirty="0"/>
              <a:t>INCD;</a:t>
            </a:r>
          </a:p>
          <a:p>
            <a:pPr marL="0" indent="0">
              <a:buNone/>
            </a:pPr>
            <a:r>
              <a:rPr lang="en-US" sz="2000" dirty="0"/>
              <a:t>INCD;</a:t>
            </a:r>
          </a:p>
          <a:p>
            <a:pPr marL="0" indent="0">
              <a:buNone/>
            </a:pPr>
            <a:r>
              <a:rPr lang="en-US" sz="2000" dirty="0"/>
              <a:t>DECC;</a:t>
            </a:r>
          </a:p>
          <a:p>
            <a:pPr marL="0" indent="0">
              <a:buNone/>
            </a:pPr>
            <a:r>
              <a:rPr lang="en-US" sz="2000" dirty="0"/>
              <a:t>JNZC 3;		% Jump to LOOP</a:t>
            </a:r>
          </a:p>
          <a:p>
            <a:pPr marL="0" indent="0">
              <a:buNone/>
            </a:pPr>
            <a:r>
              <a:rPr lang="en-US" sz="2000" dirty="0"/>
              <a:t>		% HALT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Exercise:</a:t>
            </a:r>
            <a:r>
              <a:rPr lang="en-US" sz="2000" dirty="0"/>
              <a:t> Show that any k-counter machine can be simulated  by a 2CM. </a:t>
            </a:r>
          </a:p>
        </p:txBody>
      </p:sp>
    </p:spTree>
    <p:extLst>
      <p:ext uri="{BB962C8B-B14F-4D97-AF65-F5344CB8AC3E}">
        <p14:creationId xmlns:p14="http://schemas.microsoft.com/office/powerpoint/2010/main" val="3427988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DDE6-EA7E-BE45-A3C8-E4BCB1D7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Halting problem for 2CM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CE242-A10A-AD48-B6B6-38BEBA488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A </a:t>
            </a:r>
            <a:r>
              <a:rPr lang="en-US" b="1" dirty="0"/>
              <a:t>configuration</a:t>
            </a:r>
            <a:r>
              <a:rPr lang="en-US" dirty="0"/>
              <a:t> of a 2CM is a triple (pc, C, D)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pc is the program counter that stores the next line to be executed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C, D are values of the counter </a:t>
            </a:r>
          </a:p>
          <a:p>
            <a:pPr>
              <a:lnSpc>
                <a:spcPct val="120000"/>
              </a:lnSpc>
            </a:pPr>
            <a:r>
              <a:rPr lang="en-US" dirty="0"/>
              <a:t>A sequence of configurations (pc0, D0, C0), (pc1, D1, C1), … is an </a:t>
            </a:r>
            <a:r>
              <a:rPr lang="en-US" b="1" dirty="0"/>
              <a:t>execution </a:t>
            </a:r>
            <a:r>
              <a:rPr lang="en-US" dirty="0"/>
              <a:t>if the </a:t>
            </a:r>
            <a:r>
              <a:rPr lang="en-US" dirty="0" err="1"/>
              <a:t>ith</a:t>
            </a:r>
            <a:r>
              <a:rPr lang="en-US" dirty="0"/>
              <a:t> configuration goes to the (i+1)</a:t>
            </a:r>
            <a:r>
              <a:rPr lang="en-US" dirty="0" err="1"/>
              <a:t>st</a:t>
            </a:r>
            <a:r>
              <a:rPr lang="en-US" dirty="0"/>
              <a:t> configuration in the sequence executing  the instruction in line </a:t>
            </a:r>
            <a:r>
              <a:rPr lang="en-US" dirty="0" err="1"/>
              <a:t>pci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Given a 2CM </a:t>
            </a:r>
            <a:r>
              <a:rPr lang="en-US" b="1" dirty="0"/>
              <a:t>M</a:t>
            </a:r>
            <a:r>
              <a:rPr lang="en-US" dirty="0"/>
              <a:t> a special halting location (</a:t>
            </a:r>
            <a:r>
              <a:rPr lang="en-US" dirty="0" err="1"/>
              <a:t>pc_halt</a:t>
            </a:r>
            <a:r>
              <a:rPr lang="en-US" dirty="0"/>
              <a:t>), the Halting problem requires us to decide whether all executions of  </a:t>
            </a:r>
            <a:r>
              <a:rPr lang="en-US" b="1" dirty="0"/>
              <a:t>M</a:t>
            </a:r>
            <a:r>
              <a:rPr lang="en-US" dirty="0"/>
              <a:t>  reach the halting location</a:t>
            </a:r>
          </a:p>
          <a:p>
            <a:pPr>
              <a:lnSpc>
                <a:spcPct val="120000"/>
              </a:lnSpc>
            </a:pPr>
            <a:r>
              <a:rPr lang="en-US" dirty="0"/>
              <a:t>Theorem [Minsky 67]. The Halting problem for 2CMs is undecidable.</a:t>
            </a:r>
          </a:p>
        </p:txBody>
      </p:sp>
    </p:spTree>
    <p:extLst>
      <p:ext uri="{BB962C8B-B14F-4D97-AF65-F5344CB8AC3E}">
        <p14:creationId xmlns:p14="http://schemas.microsoft.com/office/powerpoint/2010/main" val="311351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35AD0B4-557D-2F4C-926A-471E81559EA2}"/>
              </a:ext>
            </a:extLst>
          </p:cNvPr>
          <p:cNvSpPr/>
          <p:nvPr/>
        </p:nvSpPr>
        <p:spPr>
          <a:xfrm>
            <a:off x="2806262" y="2427911"/>
            <a:ext cx="7719849" cy="2501440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Halting problem decider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38448-9948-CE44-A40B-89C12B87F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from Halting Problem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9CED2E-5007-334C-9C22-C473CA944E6D}"/>
              </a:ext>
            </a:extLst>
          </p:cNvPr>
          <p:cNvSpPr/>
          <p:nvPr/>
        </p:nvSpPr>
        <p:spPr>
          <a:xfrm>
            <a:off x="8271641" y="2732690"/>
            <a:ext cx="2102069" cy="181303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Halting algorithm for 2CM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8024DE0-0311-754E-984E-EFD871556B0F}"/>
              </a:ext>
            </a:extLst>
          </p:cNvPr>
          <p:cNvSpPr/>
          <p:nvPr/>
        </p:nvSpPr>
        <p:spPr>
          <a:xfrm>
            <a:off x="244365" y="2732689"/>
            <a:ext cx="1573925" cy="814551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 Halting problem: 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17514A-9949-AD40-B950-88BF9E247BEB}"/>
              </a:ext>
            </a:extLst>
          </p:cNvPr>
          <p:cNvSpPr/>
          <p:nvPr/>
        </p:nvSpPr>
        <p:spPr>
          <a:xfrm>
            <a:off x="2994134" y="2732691"/>
            <a:ext cx="2102069" cy="8145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Translator f(p)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FF0ED6-5230-1E4B-8A1F-7F210CC580AB}"/>
              </a:ext>
            </a:extLst>
          </p:cNvPr>
          <p:cNvSpPr/>
          <p:nvPr/>
        </p:nvSpPr>
        <p:spPr>
          <a:xfrm>
            <a:off x="5521872" y="2732689"/>
            <a:ext cx="2102069" cy="814551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2CM: f(p)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6559D5-9F44-D847-BD14-A776025EC286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623941" y="3139965"/>
            <a:ext cx="6477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0C173C-A171-E542-B106-67E7BCCF3A61}"/>
              </a:ext>
            </a:extLst>
          </p:cNvPr>
          <p:cNvCxnSpPr/>
          <p:nvPr/>
        </p:nvCxnSpPr>
        <p:spPr>
          <a:xfrm>
            <a:off x="10373710" y="3139965"/>
            <a:ext cx="851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ECA43C-D5D8-3E4C-B148-95EB657B19ED}"/>
              </a:ext>
            </a:extLst>
          </p:cNvPr>
          <p:cNvSpPr txBox="1"/>
          <p:nvPr/>
        </p:nvSpPr>
        <p:spPr>
          <a:xfrm>
            <a:off x="10699531" y="2732690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44A22-082A-1840-A025-C0C5412DDB87}"/>
              </a:ext>
            </a:extLst>
          </p:cNvPr>
          <p:cNvSpPr txBox="1"/>
          <p:nvPr/>
        </p:nvSpPr>
        <p:spPr>
          <a:xfrm>
            <a:off x="10699531" y="3959358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F87F53-3D3A-6E4C-8CE0-409A8E2A0340}"/>
              </a:ext>
            </a:extLst>
          </p:cNvPr>
          <p:cNvCxnSpPr/>
          <p:nvPr/>
        </p:nvCxnSpPr>
        <p:spPr>
          <a:xfrm>
            <a:off x="10379986" y="3961985"/>
            <a:ext cx="851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73E5F6-F0B0-F244-940F-7D3E0C0A692B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818290" y="3139965"/>
            <a:ext cx="117584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2E3122-BAB5-C04B-8D5D-0C8927BF1303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5096203" y="3139965"/>
            <a:ext cx="425669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598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9D31-030E-8A4F-93F9-FA9FAD37C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from 2CM to CSR-RHS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31783-0EF3-1349-A5D7-46CFCC36D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have to construct a function (reduction) that maps instances of 2CM-Halt to instances of CSR-RHA</a:t>
            </a:r>
          </a:p>
        </p:txBody>
      </p:sp>
    </p:spTree>
    <p:extLst>
      <p:ext uri="{BB962C8B-B14F-4D97-AF65-F5344CB8AC3E}">
        <p14:creationId xmlns:p14="http://schemas.microsoft.com/office/powerpoint/2010/main" val="2980621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35AD0B4-557D-2F4C-926A-471E81559EA2}"/>
              </a:ext>
            </a:extLst>
          </p:cNvPr>
          <p:cNvSpPr/>
          <p:nvPr/>
        </p:nvSpPr>
        <p:spPr>
          <a:xfrm>
            <a:off x="2806262" y="2427911"/>
            <a:ext cx="7719849" cy="2501440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2 CM Halting problem decider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38448-9948-CE44-A40B-89C12B87F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from Halting Problem for 2CM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9CED2E-5007-334C-9C22-C473CA944E6D}"/>
              </a:ext>
            </a:extLst>
          </p:cNvPr>
          <p:cNvSpPr/>
          <p:nvPr/>
        </p:nvSpPr>
        <p:spPr>
          <a:xfrm>
            <a:off x="8271641" y="2732690"/>
            <a:ext cx="2102069" cy="181303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CSR algorithm for Rectangular HA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8024DE0-0311-754E-984E-EFD871556B0F}"/>
              </a:ext>
            </a:extLst>
          </p:cNvPr>
          <p:cNvSpPr/>
          <p:nvPr/>
        </p:nvSpPr>
        <p:spPr>
          <a:xfrm>
            <a:off x="244365" y="2732689"/>
            <a:ext cx="1573925" cy="814551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2CM Halting problem: 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17514A-9949-AD40-B950-88BF9E247BEB}"/>
              </a:ext>
            </a:extLst>
          </p:cNvPr>
          <p:cNvSpPr/>
          <p:nvPr/>
        </p:nvSpPr>
        <p:spPr>
          <a:xfrm>
            <a:off x="2994134" y="2732691"/>
            <a:ext cx="2102069" cy="8145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Translator f(p)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FF0ED6-5230-1E4B-8A1F-7F210CC580AB}"/>
              </a:ext>
            </a:extLst>
          </p:cNvPr>
          <p:cNvSpPr/>
          <p:nvPr/>
        </p:nvSpPr>
        <p:spPr>
          <a:xfrm>
            <a:off x="5521872" y="2732689"/>
            <a:ext cx="2102069" cy="814551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CSR for RHA: f(p)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6559D5-9F44-D847-BD14-A776025EC286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623941" y="3139965"/>
            <a:ext cx="6477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0C173C-A171-E542-B106-67E7BCCF3A61}"/>
              </a:ext>
            </a:extLst>
          </p:cNvPr>
          <p:cNvCxnSpPr/>
          <p:nvPr/>
        </p:nvCxnSpPr>
        <p:spPr>
          <a:xfrm>
            <a:off x="10373710" y="3139965"/>
            <a:ext cx="851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ECA43C-D5D8-3E4C-B148-95EB657B19ED}"/>
              </a:ext>
            </a:extLst>
          </p:cNvPr>
          <p:cNvSpPr txBox="1"/>
          <p:nvPr/>
        </p:nvSpPr>
        <p:spPr>
          <a:xfrm>
            <a:off x="10699531" y="2732690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44A22-082A-1840-A025-C0C5412DDB87}"/>
              </a:ext>
            </a:extLst>
          </p:cNvPr>
          <p:cNvSpPr txBox="1"/>
          <p:nvPr/>
        </p:nvSpPr>
        <p:spPr>
          <a:xfrm>
            <a:off x="10699531" y="3959358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F87F53-3D3A-6E4C-8CE0-409A8E2A0340}"/>
              </a:ext>
            </a:extLst>
          </p:cNvPr>
          <p:cNvCxnSpPr/>
          <p:nvPr/>
        </p:nvCxnSpPr>
        <p:spPr>
          <a:xfrm>
            <a:off x="10379986" y="3961985"/>
            <a:ext cx="851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73E5F6-F0B0-F244-940F-7D3E0C0A692B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818290" y="3139965"/>
            <a:ext cx="117584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2E3122-BAB5-C04B-8D5D-0C8927BF1303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5096203" y="3139965"/>
            <a:ext cx="425669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EABB04A-2FDF-334D-9AF9-94C8AC33E971}"/>
              </a:ext>
            </a:extLst>
          </p:cNvPr>
          <p:cNvSpPr txBox="1"/>
          <p:nvPr/>
        </p:nvSpPr>
        <p:spPr>
          <a:xfrm>
            <a:off x="1909715" y="5365116"/>
            <a:ext cx="89160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Suppose CSR for RHA is decidable </a:t>
            </a:r>
          </a:p>
          <a:p>
            <a:r>
              <a:rPr lang="en-US" sz="2400" dirty="0">
                <a:latin typeface="+mj-lt"/>
              </a:rPr>
              <a:t>If we can construct a reduction from 2CM Halting Problem to CSR for RHA then 2CM Halting problem is also decidable </a:t>
            </a:r>
          </a:p>
        </p:txBody>
      </p:sp>
    </p:spTree>
    <p:extLst>
      <p:ext uri="{BB962C8B-B14F-4D97-AF65-F5344CB8AC3E}">
        <p14:creationId xmlns:p14="http://schemas.microsoft.com/office/powerpoint/2010/main" val="45587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9D31-030E-8A4F-93F9-FA9FAD37C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Translation/Reduction from 2CM to CSR-RHS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31783-0EF3-1349-A5D7-46CFCC36D6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Program counter pc</a:t>
            </a:r>
          </a:p>
          <a:p>
            <a:r>
              <a:rPr lang="en-US" dirty="0"/>
              <a:t>Counters C, D</a:t>
            </a:r>
          </a:p>
          <a:p>
            <a:r>
              <a:rPr lang="en-US" dirty="0"/>
              <a:t>Instructions (program)</a:t>
            </a:r>
          </a:p>
          <a:p>
            <a:r>
              <a:rPr lang="en-US" dirty="0"/>
              <a:t>Halting 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EC3C103-6F77-2C4C-AD05-162AB42ADA3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Locations, sequence of locations</a:t>
                </a:r>
              </a:p>
              <a:p>
                <a:r>
                  <a:rPr lang="en-US" dirty="0"/>
                  <a:t>Clocks c, d that can go at some constant rates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Transitions: </a:t>
                </a:r>
                <a:r>
                  <a:rPr lang="en-US" i="1" dirty="0"/>
                  <a:t>widgets</a:t>
                </a:r>
              </a:p>
              <a:p>
                <a:r>
                  <a:rPr lang="en-US" dirty="0"/>
                  <a:t>Particular location / control state (to which we will check CSR)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EC3C103-6F77-2C4C-AD05-162AB42ADA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956" t="-2632" r="-3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52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A77A40-E099-2B47-9F92-DB1F1724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49" y="365125"/>
            <a:ext cx="10807907" cy="1325563"/>
          </a:xfrm>
        </p:spPr>
        <p:txBody>
          <a:bodyPr/>
          <a:lstStyle/>
          <a:p>
            <a:r>
              <a:rPr lang="en-US" dirty="0"/>
              <a:t>Idea of reduction: a compiler from 2CM-&gt;RHA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1C7C9CE-F66C-BE4C-AD4D-DB56A598E0A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Two clocks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d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1C7C9CE-F66C-BE4C-AD4D-DB56A598E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5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64CD6FD-CEB5-4247-AC79-AC40B0DFA71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INCC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DECC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dirty="0"/>
                  <a:t> after checking nonzero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64CD6FD-CEB5-4247-AC79-AC40B0DFA7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95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69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6FEE-510F-874F-A920-E5220088C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widget that preserves the value of clock 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85AA4-E864-1942-9CF8-7D5855BFD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7550"/>
            <a:ext cx="4152900" cy="28829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58B81B-AA74-DA47-E0B1-21484E5EE372}"/>
              </a:ext>
            </a:extLst>
          </p:cNvPr>
          <p:cNvCxnSpPr/>
          <p:nvPr/>
        </p:nvCxnSpPr>
        <p:spPr>
          <a:xfrm>
            <a:off x="7375161" y="5336498"/>
            <a:ext cx="31779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48E387-95AE-7C3A-83EA-708F9E8F18E2}"/>
              </a:ext>
            </a:extLst>
          </p:cNvPr>
          <p:cNvCxnSpPr>
            <a:cxnSpLocks/>
          </p:cNvCxnSpPr>
          <p:nvPr/>
        </p:nvCxnSpPr>
        <p:spPr>
          <a:xfrm flipV="1">
            <a:off x="7405141" y="2338466"/>
            <a:ext cx="0" cy="3013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104DCA-0C68-336F-1EB6-594BC9B35B1F}"/>
              </a:ext>
            </a:extLst>
          </p:cNvPr>
          <p:cNvCxnSpPr>
            <a:cxnSpLocks/>
          </p:cNvCxnSpPr>
          <p:nvPr/>
        </p:nvCxnSpPr>
        <p:spPr>
          <a:xfrm flipV="1">
            <a:off x="7405141" y="2668249"/>
            <a:ext cx="2698229" cy="263826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C30F57B-020A-2885-E1D9-5F9B7DDE8E00}"/>
              </a:ext>
            </a:extLst>
          </p:cNvPr>
          <p:cNvSpPr txBox="1"/>
          <p:nvPr/>
        </p:nvSpPr>
        <p:spPr>
          <a:xfrm>
            <a:off x="8049718" y="403235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613221-6FC6-A260-8E8D-B86898ABE9C0}"/>
              </a:ext>
            </a:extLst>
          </p:cNvPr>
          <p:cNvCxnSpPr>
            <a:cxnSpLocks/>
          </p:cNvCxnSpPr>
          <p:nvPr/>
        </p:nvCxnSpPr>
        <p:spPr>
          <a:xfrm>
            <a:off x="7405141" y="2668249"/>
            <a:ext cx="379251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D9B41D7-FBD5-8AF5-46E3-87AC9230FA6B}"/>
              </a:ext>
            </a:extLst>
          </p:cNvPr>
          <p:cNvSpPr txBox="1"/>
          <p:nvPr/>
        </p:nvSpPr>
        <p:spPr>
          <a:xfrm>
            <a:off x="7032886" y="2445895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AA0655-9775-4253-C7E6-532147EA3FC0}"/>
              </a:ext>
            </a:extLst>
          </p:cNvPr>
          <p:cNvCxnSpPr>
            <a:cxnSpLocks/>
          </p:cNvCxnSpPr>
          <p:nvPr/>
        </p:nvCxnSpPr>
        <p:spPr>
          <a:xfrm flipV="1">
            <a:off x="7405141" y="3357797"/>
            <a:ext cx="1693889" cy="1169233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9E4813-3E80-0877-8BDC-87A3A52F882C}"/>
              </a:ext>
            </a:extLst>
          </p:cNvPr>
          <p:cNvCxnSpPr>
            <a:cxnSpLocks/>
          </p:cNvCxnSpPr>
          <p:nvPr/>
        </p:nvCxnSpPr>
        <p:spPr>
          <a:xfrm flipV="1">
            <a:off x="9071546" y="4557010"/>
            <a:ext cx="1046815" cy="796976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AE8E47-EEE5-7766-5C7E-3F159863C9A9}"/>
              </a:ext>
            </a:extLst>
          </p:cNvPr>
          <p:cNvCxnSpPr>
            <a:cxnSpLocks/>
          </p:cNvCxnSpPr>
          <p:nvPr/>
        </p:nvCxnSpPr>
        <p:spPr>
          <a:xfrm flipV="1">
            <a:off x="10075888" y="2400925"/>
            <a:ext cx="0" cy="3013023"/>
          </a:xfrm>
          <a:prstGeom prst="straightConnector1">
            <a:avLst/>
          </a:prstGeom>
          <a:ln w="15875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82F0AAA-C0B8-481E-3C94-5D4099259D79}"/>
              </a:ext>
            </a:extLst>
          </p:cNvPr>
          <p:cNvCxnSpPr>
            <a:cxnSpLocks/>
          </p:cNvCxnSpPr>
          <p:nvPr/>
        </p:nvCxnSpPr>
        <p:spPr>
          <a:xfrm flipV="1">
            <a:off x="9089036" y="2523345"/>
            <a:ext cx="0" cy="3013023"/>
          </a:xfrm>
          <a:prstGeom prst="straightConnector1">
            <a:avLst/>
          </a:prstGeom>
          <a:ln w="15875">
            <a:solidFill>
              <a:schemeClr val="accent6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3EB16BC-B239-0E10-15E2-0A7EADECD1CE}"/>
              </a:ext>
            </a:extLst>
          </p:cNvPr>
          <p:cNvSpPr txBox="1"/>
          <p:nvPr/>
        </p:nvSpPr>
        <p:spPr>
          <a:xfrm>
            <a:off x="7677462" y="3600137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40D4BC6-CA44-AC49-8AE9-771FB6D3C71A}"/>
              </a:ext>
            </a:extLst>
          </p:cNvPr>
          <p:cNvCxnSpPr>
            <a:cxnSpLocks/>
          </p:cNvCxnSpPr>
          <p:nvPr/>
        </p:nvCxnSpPr>
        <p:spPr>
          <a:xfrm>
            <a:off x="7407640" y="3345304"/>
            <a:ext cx="379251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AF2537E-505E-29C1-9473-566AC9550D3B}"/>
              </a:ext>
            </a:extLst>
          </p:cNvPr>
          <p:cNvSpPr txBox="1"/>
          <p:nvPr/>
        </p:nvSpPr>
        <p:spPr>
          <a:xfrm>
            <a:off x="6765563" y="3167918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k1W</a:t>
            </a:r>
          </a:p>
        </p:txBody>
      </p:sp>
    </p:spTree>
    <p:extLst>
      <p:ext uri="{BB962C8B-B14F-4D97-AF65-F5344CB8AC3E}">
        <p14:creationId xmlns:p14="http://schemas.microsoft.com/office/powerpoint/2010/main" val="3058016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B0703-3791-4648-AA06-983159BA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widget for checking JNZC (c &lt; k_1)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D1F63-C723-9941-96E3-920156BA4E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6FBE1-616D-1A4B-952E-4F6E097B3C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583117-42D7-C54E-AAE7-48CBDC229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905794"/>
            <a:ext cx="46736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63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5BD9-B758-2B4E-AEB6-62EA4BD8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widget implementing INCC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24ACC-F1FE-2044-A888-2DE7EF8DFD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A9A862-C8A6-3D43-9E08-62CB7AB9F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25675"/>
            <a:ext cx="7239000" cy="4267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310FDA-E01B-F049-B899-89ACA8746B1E}"/>
                  </a:ext>
                </a:extLst>
              </p:cNvPr>
              <p:cNvSpPr txBox="1"/>
              <p:nvPr/>
            </p:nvSpPr>
            <p:spPr>
              <a:xfrm>
                <a:off x="7162800" y="4762500"/>
                <a:ext cx="4483279" cy="809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First outgoing transition sets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and </a:t>
                </a:r>
              </a:p>
              <a:p>
                <a:r>
                  <a:rPr lang="en-US" dirty="0"/>
                  <a:t>the next outgoing transition sets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310FDA-E01B-F049-B899-89ACA8746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4762500"/>
                <a:ext cx="4483279" cy="809837"/>
              </a:xfrm>
              <a:prstGeom prst="rect">
                <a:avLst/>
              </a:prstGeom>
              <a:blipFill>
                <a:blip r:embed="rId3"/>
                <a:stretch>
                  <a:fillRect l="-1133" t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556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E2EAC-5D0D-5B4A-A43D-4D8EBB739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A74208-BE16-BD47-A44B-B64B7BDFF494}"/>
              </a:ext>
            </a:extLst>
          </p:cNvPr>
          <p:cNvSpPr/>
          <p:nvPr/>
        </p:nvSpPr>
        <p:spPr>
          <a:xfrm>
            <a:off x="3212662" y="2027219"/>
            <a:ext cx="7719849" cy="2501440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2 CM Halting problem decider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12F02F-17F0-5349-8A3F-CD58CF1DBD8C}"/>
              </a:ext>
            </a:extLst>
          </p:cNvPr>
          <p:cNvSpPr/>
          <p:nvPr/>
        </p:nvSpPr>
        <p:spPr>
          <a:xfrm>
            <a:off x="8678041" y="2331998"/>
            <a:ext cx="2102069" cy="181303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CSR algorithm for Rectangular HA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332659-BF1F-974B-9F00-84586683B9B9}"/>
              </a:ext>
            </a:extLst>
          </p:cNvPr>
          <p:cNvSpPr/>
          <p:nvPr/>
        </p:nvSpPr>
        <p:spPr>
          <a:xfrm>
            <a:off x="650765" y="2331997"/>
            <a:ext cx="1573925" cy="2372711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2CM: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INCC</a:t>
            </a:r>
          </a:p>
          <a:p>
            <a:pPr algn="ctr"/>
            <a:r>
              <a:rPr lang="en-US" dirty="0"/>
              <a:t>INCC</a:t>
            </a:r>
          </a:p>
          <a:p>
            <a:pPr algn="ctr"/>
            <a:r>
              <a:rPr lang="en-US" dirty="0"/>
              <a:t>DECC</a:t>
            </a:r>
          </a:p>
          <a:p>
            <a:pPr algn="ctr"/>
            <a:r>
              <a:rPr lang="en-US" dirty="0"/>
              <a:t>JNC 1</a:t>
            </a:r>
          </a:p>
          <a:p>
            <a:pPr algn="ctr"/>
            <a:r>
              <a:rPr lang="en-US" dirty="0"/>
              <a:t>DECC </a:t>
            </a:r>
          </a:p>
          <a:p>
            <a:pPr algn="ctr"/>
            <a:r>
              <a:rPr lang="en-US" b="1" dirty="0"/>
              <a:t>HALT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2B787F5-3F92-6744-97CD-BA2E87D994F6}"/>
              </a:ext>
            </a:extLst>
          </p:cNvPr>
          <p:cNvSpPr/>
          <p:nvPr/>
        </p:nvSpPr>
        <p:spPr>
          <a:xfrm>
            <a:off x="3400534" y="2331999"/>
            <a:ext cx="2102069" cy="8145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Translator f(p)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A73B63C-C589-7F45-BA9A-1D47DCB0A49D}"/>
              </a:ext>
            </a:extLst>
          </p:cNvPr>
          <p:cNvSpPr/>
          <p:nvPr/>
        </p:nvSpPr>
        <p:spPr>
          <a:xfrm>
            <a:off x="5928272" y="2331997"/>
            <a:ext cx="2102069" cy="1596001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CSR-RHA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F8E4C9-C189-F941-9255-C3F573BD1F31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8030341" y="2739274"/>
            <a:ext cx="647700" cy="3907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95ED50-3418-6E46-A422-72213B1C0F6D}"/>
              </a:ext>
            </a:extLst>
          </p:cNvPr>
          <p:cNvCxnSpPr>
            <a:cxnSpLocks/>
          </p:cNvCxnSpPr>
          <p:nvPr/>
        </p:nvCxnSpPr>
        <p:spPr>
          <a:xfrm>
            <a:off x="10780110" y="2739273"/>
            <a:ext cx="851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716EF2-964F-574D-B06D-725E61D24E4F}"/>
              </a:ext>
            </a:extLst>
          </p:cNvPr>
          <p:cNvSpPr txBox="1"/>
          <p:nvPr/>
        </p:nvSpPr>
        <p:spPr>
          <a:xfrm>
            <a:off x="11105931" y="2331998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381949-2B5D-0043-A350-A3C5F47227A4}"/>
              </a:ext>
            </a:extLst>
          </p:cNvPr>
          <p:cNvSpPr txBox="1"/>
          <p:nvPr/>
        </p:nvSpPr>
        <p:spPr>
          <a:xfrm>
            <a:off x="11105931" y="3558666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A97DE8-1237-2648-8EDC-E58EEBE0CAA9}"/>
              </a:ext>
            </a:extLst>
          </p:cNvPr>
          <p:cNvCxnSpPr>
            <a:cxnSpLocks/>
          </p:cNvCxnSpPr>
          <p:nvPr/>
        </p:nvCxnSpPr>
        <p:spPr>
          <a:xfrm>
            <a:off x="10786386" y="3561293"/>
            <a:ext cx="851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04F4C0-628B-D940-8FCB-C23565026043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224690" y="2739273"/>
            <a:ext cx="117584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90E258-3B06-1741-96F7-0BDCB23010C4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5502603" y="2739275"/>
            <a:ext cx="425669" cy="390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60AA023-5867-E34C-8A3D-0A2BC1A5467F}"/>
              </a:ext>
            </a:extLst>
          </p:cNvPr>
          <p:cNvSpPr txBox="1"/>
          <p:nvPr/>
        </p:nvSpPr>
        <p:spPr>
          <a:xfrm>
            <a:off x="1925538" y="5041240"/>
            <a:ext cx="89160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Suppose CSR for RHA is decidable </a:t>
            </a:r>
          </a:p>
          <a:p>
            <a:r>
              <a:rPr lang="en-US" sz="2400" dirty="0">
                <a:latin typeface="+mj-lt"/>
              </a:rPr>
              <a:t>If we can construct a reduction from 2CM Halting Problem to CSR for RHA then 2CM Halting problem is also decidable </a:t>
            </a:r>
          </a:p>
          <a:p>
            <a:r>
              <a:rPr lang="en-US" sz="2400" b="1" dirty="0">
                <a:latin typeface="+mj-lt"/>
              </a:rPr>
              <a:t>Theorem:</a:t>
            </a:r>
            <a:r>
              <a:rPr lang="en-US" sz="2400" dirty="0">
                <a:latin typeface="+mj-lt"/>
              </a:rPr>
              <a:t> CSR for RHA is undecidable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CA96C8A-B7C3-3741-A076-ADDA59222FA4}"/>
              </a:ext>
            </a:extLst>
          </p:cNvPr>
          <p:cNvSpPr/>
          <p:nvPr/>
        </p:nvSpPr>
        <p:spPr>
          <a:xfrm>
            <a:off x="6740852" y="3129997"/>
            <a:ext cx="292100" cy="2921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2F8D973-B354-C842-A0A8-C1410737F801}"/>
              </a:ext>
            </a:extLst>
          </p:cNvPr>
          <p:cNvSpPr/>
          <p:nvPr/>
        </p:nvSpPr>
        <p:spPr>
          <a:xfrm>
            <a:off x="6261537" y="3129997"/>
            <a:ext cx="292100" cy="2921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E73B1C2-8CCF-484E-95DE-658AA7C66BBD}"/>
              </a:ext>
            </a:extLst>
          </p:cNvPr>
          <p:cNvSpPr/>
          <p:nvPr/>
        </p:nvSpPr>
        <p:spPr>
          <a:xfrm>
            <a:off x="6502400" y="3559750"/>
            <a:ext cx="292100" cy="2921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481F587-39E2-584E-A10B-B40FC42F6993}"/>
              </a:ext>
            </a:extLst>
          </p:cNvPr>
          <p:cNvSpPr/>
          <p:nvPr/>
        </p:nvSpPr>
        <p:spPr>
          <a:xfrm>
            <a:off x="7150100" y="3520641"/>
            <a:ext cx="292100" cy="2921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B483BD9-B01D-1C48-AF42-3CFFBC79BE98}"/>
              </a:ext>
            </a:extLst>
          </p:cNvPr>
          <p:cNvSpPr/>
          <p:nvPr/>
        </p:nvSpPr>
        <p:spPr>
          <a:xfrm>
            <a:off x="7268341" y="3076152"/>
            <a:ext cx="292100" cy="2921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B20865E3-1214-1548-92B2-D82E1D02E7ED}"/>
              </a:ext>
            </a:extLst>
          </p:cNvPr>
          <p:cNvCxnSpPr>
            <a:cxnSpLocks/>
            <a:stCxn id="23" idx="6"/>
            <a:endCxn id="24" idx="0"/>
          </p:cNvCxnSpPr>
          <p:nvPr/>
        </p:nvCxnSpPr>
        <p:spPr>
          <a:xfrm>
            <a:off x="6553637" y="3276047"/>
            <a:ext cx="94813" cy="28370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98491D91-6AB4-2A4B-997D-EF954E2D9C14}"/>
              </a:ext>
            </a:extLst>
          </p:cNvPr>
          <p:cNvCxnSpPr>
            <a:cxnSpLocks/>
            <a:stCxn id="23" idx="3"/>
            <a:endCxn id="24" idx="2"/>
          </p:cNvCxnSpPr>
          <p:nvPr/>
        </p:nvCxnSpPr>
        <p:spPr>
          <a:xfrm rot="16200000" flipH="1">
            <a:off x="6240117" y="3443517"/>
            <a:ext cx="326480" cy="19808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B397CA47-236F-624D-A033-E8CF0C519142}"/>
              </a:ext>
            </a:extLst>
          </p:cNvPr>
          <p:cNvCxnSpPr>
            <a:cxnSpLocks/>
            <a:stCxn id="23" idx="7"/>
            <a:endCxn id="22" idx="1"/>
          </p:cNvCxnSpPr>
          <p:nvPr/>
        </p:nvCxnSpPr>
        <p:spPr>
          <a:xfrm rot="5400000" flipH="1" flipV="1">
            <a:off x="6647244" y="3036390"/>
            <a:ext cx="12700" cy="272769"/>
          </a:xfrm>
          <a:prstGeom prst="curvedConnector3">
            <a:avLst>
              <a:gd name="adj1" fmla="val 93681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3A46234A-12C7-6349-B1F9-3DA83E19EBC5}"/>
              </a:ext>
            </a:extLst>
          </p:cNvPr>
          <p:cNvCxnSpPr>
            <a:cxnSpLocks/>
            <a:stCxn id="22" idx="7"/>
            <a:endCxn id="26" idx="1"/>
          </p:cNvCxnSpPr>
          <p:nvPr/>
        </p:nvCxnSpPr>
        <p:spPr>
          <a:xfrm rot="5400000" flipH="1" flipV="1">
            <a:off x="7123724" y="2985381"/>
            <a:ext cx="53845" cy="320943"/>
          </a:xfrm>
          <a:prstGeom prst="curvedConnector3">
            <a:avLst>
              <a:gd name="adj1" fmla="val 29737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DBC13194-725A-F84B-BE3E-673F801C4D50}"/>
              </a:ext>
            </a:extLst>
          </p:cNvPr>
          <p:cNvCxnSpPr>
            <a:cxnSpLocks/>
            <a:stCxn id="22" idx="4"/>
            <a:endCxn id="25" idx="2"/>
          </p:cNvCxnSpPr>
          <p:nvPr/>
        </p:nvCxnSpPr>
        <p:spPr>
          <a:xfrm rot="16200000" flipH="1">
            <a:off x="6896204" y="3412795"/>
            <a:ext cx="244594" cy="26319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2862</TotalTime>
  <Words>1416</Words>
  <Application>Microsoft Macintosh PowerPoint</Application>
  <PresentationFormat>Widescreen</PresentationFormat>
  <Paragraphs>209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Undecidability of Rectangular Hybrid Automata</vt:lpstr>
      <vt:lpstr>Special Classes of Hybrid Automata</vt:lpstr>
      <vt:lpstr>Control State Reachability of Rectangular HA</vt:lpstr>
      <vt:lpstr>Implications</vt:lpstr>
      <vt:lpstr>Outline</vt:lpstr>
      <vt:lpstr>One problem that is hard / undecidable</vt:lpstr>
      <vt:lpstr>Halting Problem is Undecidable: Diagonalization</vt:lpstr>
      <vt:lpstr>How to show that RHA is undecidable?</vt:lpstr>
      <vt:lpstr>General reductions: Using known hard problem B to show hardness of A</vt:lpstr>
      <vt:lpstr>Reduction from Halting Problem for 2CM</vt:lpstr>
      <vt:lpstr>Counter Machines</vt:lpstr>
      <vt:lpstr>Example 2CM for multiplication</vt:lpstr>
      <vt:lpstr>Halting problem for 2CM</vt:lpstr>
      <vt:lpstr>Reduction from Halting Problem</vt:lpstr>
      <vt:lpstr>Reduction from 2CM to CSR-RHS</vt:lpstr>
      <vt:lpstr>Reduction from Halting Problem for 2CM</vt:lpstr>
      <vt:lpstr>Translation/Reduction from 2CM to CSR-RHS</vt:lpstr>
      <vt:lpstr>Idea of reduction: a compiler from 2CM-&gt;RHA</vt:lpstr>
      <vt:lpstr>A widget that preserves the value of clock c</vt:lpstr>
      <vt:lpstr>A widget for checking JNZC (c &lt; k_1)</vt:lpstr>
      <vt:lpstr>A widget implementing INCC</vt:lpstr>
      <vt:lpstr>Putting it all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Reachability analysis: Undecidability of Rectangular Hybrid Automata</dc:title>
  <dc:creator>Mitra, Sayan</dc:creator>
  <cp:lastModifiedBy>Mitra, Sayan</cp:lastModifiedBy>
  <cp:revision>28</cp:revision>
  <dcterms:created xsi:type="dcterms:W3CDTF">2019-10-29T16:05:00Z</dcterms:created>
  <dcterms:modified xsi:type="dcterms:W3CDTF">2025-11-18T20:41:13Z</dcterms:modified>
</cp:coreProperties>
</file>