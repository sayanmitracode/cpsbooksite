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324" r:id="rId2"/>
    <p:sldId id="951" r:id="rId3"/>
    <p:sldId id="264" r:id="rId4"/>
    <p:sldId id="259" r:id="rId5"/>
    <p:sldId id="260" r:id="rId6"/>
    <p:sldId id="261" r:id="rId7"/>
    <p:sldId id="262" r:id="rId8"/>
    <p:sldId id="263" r:id="rId9"/>
    <p:sldId id="961" r:id="rId10"/>
    <p:sldId id="960" r:id="rId11"/>
    <p:sldId id="266" r:id="rId12"/>
    <p:sldId id="271" r:id="rId13"/>
    <p:sldId id="265" r:id="rId14"/>
    <p:sldId id="267" r:id="rId15"/>
    <p:sldId id="268" r:id="rId16"/>
    <p:sldId id="269" r:id="rId17"/>
    <p:sldId id="270" r:id="rId18"/>
    <p:sldId id="962" r:id="rId19"/>
    <p:sldId id="434" r:id="rId20"/>
    <p:sldId id="448" r:id="rId21"/>
    <p:sldId id="449" r:id="rId22"/>
    <p:sldId id="450" r:id="rId23"/>
    <p:sldId id="451" r:id="rId24"/>
    <p:sldId id="452" r:id="rId25"/>
    <p:sldId id="453" r:id="rId26"/>
    <p:sldId id="454" r:id="rId27"/>
    <p:sldId id="455" r:id="rId28"/>
    <p:sldId id="456" r:id="rId29"/>
    <p:sldId id="457" r:id="rId30"/>
    <p:sldId id="458" r:id="rId31"/>
    <p:sldId id="459" r:id="rId32"/>
    <p:sldId id="460" r:id="rId33"/>
    <p:sldId id="461" r:id="rId34"/>
    <p:sldId id="462" r:id="rId35"/>
    <p:sldId id="463" r:id="rId36"/>
    <p:sldId id="464" r:id="rId37"/>
    <p:sldId id="465" r:id="rId38"/>
    <p:sldId id="466" r:id="rId39"/>
    <p:sldId id="469" r:id="rId40"/>
    <p:sldId id="468" r:id="rId41"/>
    <p:sldId id="472" r:id="rId42"/>
    <p:sldId id="473" r:id="rId43"/>
    <p:sldId id="471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58"/>
    <p:restoredTop sz="96197"/>
  </p:normalViewPr>
  <p:slideViewPr>
    <p:cSldViewPr snapToGrid="0">
      <p:cViewPr varScale="1">
        <p:scale>
          <a:sx n="76" d="100"/>
          <a:sy n="76" d="100"/>
        </p:scale>
        <p:origin x="208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543E3A-FF90-2B44-94CA-714A280D4294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F83970-97DE-5945-B35A-12CE010E2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177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a couple</a:t>
            </a:r>
            <a:r>
              <a:rPr lang="en-US" baseline="0" dirty="0"/>
              <a:t> of nice examples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F81894-4E42-4C20-B559-1A0CBC527A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6506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fix-point implementation in tools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 can remove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init.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set.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Hytech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will accept the automaton, but there is no guarantee on termination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62BFAB-8FF8-6341-B15F-2DC58818824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706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598F-4121-9315-5FBD-0CD89D3498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082C0-FEF8-AB01-A607-EF6905467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C3207-D94E-7054-3863-3CB46A3C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F4E29-2E69-E428-6637-184AB619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811E-470D-13C1-EA5F-1D39A793A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24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47E88-F7FA-31B7-05A9-970B1FCAC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AE6B1-FB3B-86BE-B054-9CC628958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3CA2A-0239-91C1-7677-431F4E6B1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B8B21-E40E-8675-1D47-DEA412EF3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0DE9FE-C4BC-75DC-E77F-E23213215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2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81BA-8537-77D5-C558-B80CB3567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372B58-CE50-29B2-2A91-AC5A5618E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A7EE7-9578-6DEC-2B28-DF0AFE4FE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90EF-70BB-E021-72DE-4BF45CAF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F64DE-4348-63BA-B540-20D7893C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61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2F30D-53BA-809E-D5BD-4B7F6B0F7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998D4-6106-C4B0-72C4-27EB197C84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7A42C2-5779-870E-99BA-401B10C74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389030-8DBC-E0A5-ABE8-B9AA96A7D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544B31-469D-3C18-2CDD-464C6E83B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06A6D-A403-6378-8511-3A3DB6C1E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33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8A01-B139-45E7-2559-4AC7CA120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2032B-C6E7-63F3-971D-006D5A7D0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0D409-293A-1179-E4E6-0C8DEAF6FC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EFA88A-5D1E-0EAD-5FF8-8885188338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A954C-43C3-65AA-6FA0-68D578D895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90ECF1-A314-DAF4-47E6-9F7E6F92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2ACFEB-C885-145F-30E8-01E833C7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8F0849-9A29-5533-F6DC-E02F15620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09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F42E-741B-36A1-7BFC-D1750B479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D1BA5E-21F6-079D-F8FE-877510039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F35AEF-A679-E62C-A439-48C17620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EC5D57-6838-4551-BDB6-BD29343F6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28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DF62DA-1A8F-C109-6D9C-689D2830B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4D9970-5F91-202E-B7EA-EDE0EE891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1C115-7901-607B-ECDA-8D83693D8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3C785-ED42-0F36-436B-227195E5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B055A-099A-1B54-535D-6867260C0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3A46A-896F-BB73-EA4D-6D49556F5A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7504C4-E6B8-1B83-BE89-CC15D4A4B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3F3C9-9068-6A28-0A56-4EF5EC1FE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C94B5-3606-0E71-241C-8C19AD712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1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8413A-43A5-AAC8-1B48-671D0952C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068A0-5302-410C-AE6C-BCBBF50B51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D368C9-65C2-6B36-B456-C1DA10D42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FC63B-76F6-2455-889C-3433BF5B5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3E05A-72E5-38C1-27B4-2ADDDD0CD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4D35EA-6C6A-114B-02B1-C1EBB0BE2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366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16BE8-6B56-898E-C6C0-B36354DB5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437EB2-F22A-B53D-707D-24C4C7A38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A8F04-85A0-88A8-8A97-F8F3DB93F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68B8D-3266-DE64-E0A9-5608CA3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B5D46-962C-0D46-50BB-6CD27E841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94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E76C73-E5A4-B215-91CA-01F721244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F30859-B442-70E1-FCF9-21666D3AD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F825D-296D-6F78-39E1-6641220E7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5F549-5713-CA10-5F5D-7A4630D7D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C0472-7E69-244E-4215-1B0FDD9BE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400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6D5D4-A317-6189-C058-1716A2421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AD140-1C11-C1CE-7DAD-B6C65B9E0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C562ED-E5E1-2D70-AA92-9D21FE9666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7AFD7-5FF8-3700-C2AF-5EC315B43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53FA3-02E9-D9E1-AA59-2D56728785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347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engr-courses.engr.illinois.edu/ece584/papers/alur_dill94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3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engr-courses.engr.illinois.edu/ece584/papers/henz_whats.pdf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6.png"/><Relationship Id="rId7" Type="http://schemas.openxmlformats.org/officeDocument/2006/relationships/image" Target="../media/image7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4.png"/><Relationship Id="rId4" Type="http://schemas.openxmlformats.org/officeDocument/2006/relationships/image" Target="../media/image67.png"/><Relationship Id="rId9" Type="http://schemas.openxmlformats.org/officeDocument/2006/relationships/image" Target="../media/image7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76.png"/><Relationship Id="rId7" Type="http://schemas.openxmlformats.org/officeDocument/2006/relationships/image" Target="../media/image87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91.png"/><Relationship Id="rId5" Type="http://schemas.openxmlformats.org/officeDocument/2006/relationships/image" Target="../media/image86.png"/><Relationship Id="rId10" Type="http://schemas.openxmlformats.org/officeDocument/2006/relationships/image" Target="../media/image89.png"/><Relationship Id="rId4" Type="http://schemas.openxmlformats.org/officeDocument/2006/relationships/image" Target="../media/image77.png"/><Relationship Id="rId9" Type="http://schemas.openxmlformats.org/officeDocument/2006/relationships/image" Target="../media/image88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Timed Automata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80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C6A42-60A7-C449-8930-90B43F45B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3E42-F664-934E-B525-1A44AD459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Review: Modeling cyber-physical systems</a:t>
            </a:r>
          </a:p>
          <a:p>
            <a:pPr lvl="1"/>
            <a:r>
              <a:rPr lang="en-US" dirty="0"/>
              <a:t>Hybrid automata</a:t>
            </a:r>
          </a:p>
          <a:p>
            <a:pPr lvl="1"/>
            <a:r>
              <a:rPr lang="en-US" dirty="0"/>
              <a:t>Executions</a:t>
            </a:r>
          </a:p>
          <a:p>
            <a:pPr lvl="1"/>
            <a:r>
              <a:rPr lang="en-US" dirty="0"/>
              <a:t>Urgency</a:t>
            </a:r>
          </a:p>
          <a:p>
            <a:pPr lvl="1"/>
            <a:r>
              <a:rPr lang="en-US" dirty="0"/>
              <a:t>Zeno</a:t>
            </a:r>
          </a:p>
          <a:p>
            <a:pPr lvl="1"/>
            <a:r>
              <a:rPr lang="en-US" dirty="0"/>
              <a:t>Hybrid stability</a:t>
            </a:r>
          </a:p>
        </p:txBody>
      </p:sp>
    </p:spTree>
    <p:extLst>
      <p:ext uri="{BB962C8B-B14F-4D97-AF65-F5344CB8AC3E}">
        <p14:creationId xmlns:p14="http://schemas.microsoft.com/office/powerpoint/2010/main" val="393583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Hybrid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7510670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𝒟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𝒯</m:t>
                        </m:r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  <a:latin typeface="+mj-lt"/>
                  <a:ea typeface="Cambria Math"/>
                </a:endParaRP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: 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state variables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𝑣𝑎𝑙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states</a:t>
                </a: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start states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actions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, A= E 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∪ H</a:t>
                </a: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𝒟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 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𝑄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×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𝑄</m:t>
                    </m:r>
                  </m:oMath>
                </a14:m>
                <a:endParaRPr lang="en-US" b="0" i="1" dirty="0">
                  <a:solidFill>
                    <a:schemeClr val="tx1"/>
                  </a:solidFill>
                  <a:latin typeface="+mj-lt"/>
                  <a:ea typeface="Cambria Math"/>
                </a:endParaRP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/>
                      </a:rPr>
                      <m:t>𝒯</m:t>
                    </m:r>
                  </m:oMath>
                </a14:m>
                <a:r>
                  <a:rPr lang="en-US" i="1" dirty="0">
                    <a:solidFill>
                      <a:schemeClr val="accent1"/>
                    </a:solidFill>
                    <a:latin typeface="+mj-lt"/>
                  </a:rPr>
                  <a:t>: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</a:rPr>
                  <a:t>set of </a:t>
                </a:r>
                <a:r>
                  <a:rPr lang="en-US" b="1" dirty="0">
                    <a:solidFill>
                      <a:schemeClr val="accent1"/>
                    </a:solidFill>
                    <a:latin typeface="+mj-lt"/>
                  </a:rPr>
                  <a:t>trajectories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</a:rPr>
                  <a:t> for X</a:t>
                </a:r>
                <a:r>
                  <a:rPr lang="en-US" i="1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</a:rPr>
                  <a:t>which is closed under </a:t>
                </a:r>
                <a:r>
                  <a:rPr lang="en-US" b="1" dirty="0">
                    <a:solidFill>
                      <a:schemeClr val="accent1"/>
                    </a:solidFill>
                    <a:latin typeface="+mj-lt"/>
                  </a:rPr>
                  <a:t>prefix, suffix, and concatenation</a:t>
                </a:r>
              </a:p>
              <a:p>
                <a:pPr>
                  <a:lnSpc>
                    <a:spcPct val="110000"/>
                  </a:lnSpc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7510670" cy="4667250"/>
              </a:xfrm>
              <a:blipFill>
                <a:blip r:embed="rId3"/>
                <a:stretch>
                  <a:fillRect l="-1520" t="-813" r="-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6103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Classes of Hybrid Automata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00202"/>
            <a:ext cx="10515599" cy="3505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Algorithmic analysis of (Alur-Dill’s) Timed Automata[1]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Timed Automata are a restricted class of hybrid automata with only clock variables which are amenable to automatic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5638801"/>
            <a:ext cx="8001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[1] Rajeev </a:t>
            </a:r>
            <a:r>
              <a:rPr lang="en-US" dirty="0" err="1"/>
              <a:t>Alur</a:t>
            </a:r>
            <a:r>
              <a:rPr lang="en-US" dirty="0"/>
              <a:t> and David L. Dill. </a:t>
            </a:r>
            <a:r>
              <a:rPr lang="en-US" dirty="0">
                <a:hlinkClick r:id="rId2"/>
              </a:rPr>
              <a:t>A theory of timed automata</a:t>
            </a:r>
            <a:r>
              <a:rPr lang="en-US" dirty="0"/>
              <a:t>. Theoretical Computer Science, 126:183-235, 1994.</a:t>
            </a:r>
          </a:p>
        </p:txBody>
      </p:sp>
    </p:spTree>
    <p:extLst>
      <p:ext uri="{BB962C8B-B14F-4D97-AF65-F5344CB8AC3E}">
        <p14:creationId xmlns:p14="http://schemas.microsoft.com/office/powerpoint/2010/main" val="354822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Clocks and Clock Constraints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272" y="1375920"/>
                <a:ext cx="11497456" cy="484499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 </a:t>
                </a:r>
                <a:r>
                  <a:rPr lang="en-US" sz="2400" dirty="0">
                    <a:solidFill>
                      <a:srgbClr val="00B0F0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clock variable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x is a continuous (analog) variable of type real such that along any trajectory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τ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of x, for all t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τ</m:t>
                    </m:r>
                    <m:r>
                      <a:rPr lang="en-US" sz="2400" b="0" i="0" smtClean="0">
                        <a:latin typeface="Cambria Math"/>
                      </a:rPr>
                      <m:t>.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dom</m:t>
                    </m:r>
                    <m:r>
                      <a:rPr lang="en-US" sz="2400" b="0" i="0" smtClean="0">
                        <a:latin typeface="Cambria Math"/>
                      </a:rPr>
                      <m:t>, 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/>
                          </a:rPr>
                          <m:t>τ</m:t>
                        </m:r>
                        <m:r>
                          <a:rPr lang="en-US" sz="2400" b="0" i="0" smtClean="0">
                            <a:latin typeface="Cambria Math"/>
                          </a:rPr>
                          <m:t>↓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/>
                          </a:rPr>
                          <m:t>x</m:t>
                        </m:r>
                      </m:e>
                    </m:d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/>
                          </a:rPr>
                          <m:t>t</m:t>
                        </m:r>
                      </m:e>
                    </m:d>
                    <m:r>
                      <a:rPr lang="en-US" sz="2400" b="0" i="0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t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For a set X of clock variables,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Φ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(X) of </a:t>
                </a:r>
                <a:r>
                  <a:rPr lang="en-US" sz="2400" dirty="0">
                    <a:solidFill>
                      <a:srgbClr val="00B0F0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integral clock constraints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are expressions defined by the syntax: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g ::= x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/>
                      </a:rPr>
                      <m:t>≤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q</m:t>
                    </m:r>
                    <m:r>
                      <a:rPr lang="en-US" sz="1800" b="0" i="0" smtClean="0">
                        <a:latin typeface="Cambria Math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0" smtClean="0">
                            <a:latin typeface="Cambria Math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</a:rPr>
                          <m:t>x</m:t>
                        </m:r>
                        <m:r>
                          <a:rPr lang="en-US" sz="1800" b="0" i="0" smtClean="0">
                            <a:latin typeface="Cambria Math"/>
                          </a:rPr>
                          <m:t>≥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</a:rPr>
                          <m:t>q</m:t>
                        </m:r>
                        <m:r>
                          <a:rPr lang="en-US" sz="1800" b="0" i="0" smtClean="0">
                            <a:latin typeface="Cambria Math"/>
                          </a:rPr>
                          <m:t> </m:t>
                        </m:r>
                      </m:e>
                    </m:d>
                    <m:r>
                      <a:rPr lang="en-US" sz="1800" b="0" i="0" smtClean="0">
                        <a:latin typeface="Cambria Math"/>
                      </a:rPr>
                      <m:t> ¬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g</m:t>
                    </m:r>
                    <m:r>
                      <a:rPr lang="en-US" sz="1800" b="0" i="0" smtClean="0">
                        <a:latin typeface="Cambria Math"/>
                      </a:rPr>
                      <m:t>  | 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</a:rPr>
                          <m:t>g</m:t>
                        </m:r>
                      </m:e>
                      <m:sub>
                        <m:r>
                          <a:rPr lang="en-US" sz="1800" b="0" i="0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1800" b="0" i="0" smtClean="0">
                        <a:latin typeface="Cambria Math"/>
                      </a:rPr>
                      <m:t>∧  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</a:rPr>
                          <m:t>g</m:t>
                        </m:r>
                      </m:e>
                      <m:sub>
                        <m:r>
                          <a:rPr lang="en-US" sz="1800" b="0" i="0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1800" b="0" i="0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x</m:t>
                    </m:r>
                    <m:r>
                      <a:rPr lang="en-US" sz="1800" b="0" i="0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X</m:t>
                    </m:r>
                    <m:r>
                      <a:rPr lang="en-US" sz="1800" b="0" i="0" smtClean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and</m:t>
                    </m:r>
                    <m:r>
                      <a:rPr lang="en-US" sz="1800" b="0" i="0" smtClean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q</m:t>
                    </m:r>
                    <m:r>
                      <a:rPr lang="en-US" sz="1800" b="0" i="0" smtClean="0">
                        <a:latin typeface="Cambria Math"/>
                      </a:rPr>
                      <m:t>∈ </m:t>
                    </m:r>
                    <m:r>
                      <a:rPr lang="en-US" sz="1800" b="0" i="0" smtClean="0">
                        <a:latin typeface="Cambria Math"/>
                        <a:ea typeface="Cambria Math"/>
                      </a:rPr>
                      <m:t>ℤ</m:t>
                    </m:r>
                  </m:oMath>
                </a14:m>
                <a:endParaRPr lang="en-US" sz="24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Examples: x = 10; x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/>
                      </a:rPr>
                      <m:t>∈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[2, 5); true are valid clock constraints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What do clock constraints look like geometrically in state space?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Semantics of clock constraints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/>
                      </a:rPr>
                      <m:t>[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g</m:t>
                    </m:r>
                    <m:r>
                      <a:rPr lang="en-US" sz="2400" b="0" i="0" smtClean="0">
                        <a:latin typeface="Cambria Math"/>
                      </a:rPr>
                      <m:t>]</m:t>
                    </m:r>
                  </m:oMath>
                </a14:m>
                <a:endParaRPr lang="en-US" sz="24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sz="24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272" y="1375920"/>
                <a:ext cx="11497456" cy="4844998"/>
              </a:xfrm>
              <a:blipFill>
                <a:blip r:embed="rId2"/>
                <a:stretch>
                  <a:fillRect l="-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298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Timed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Definition. An </a:t>
                </a:r>
                <a:r>
                  <a:rPr lang="en-US" dirty="0">
                    <a:solidFill>
                      <a:srgbClr val="00B0F0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integral timed automaton </a:t>
                </a: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is a HIOA  </a:t>
                </a:r>
                <a14:m>
                  <m:oMath xmlns:m="http://schemas.openxmlformats.org/officeDocument/2006/math"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V</m:t>
                    </m:r>
                    <m:r>
                      <a:rPr lang="en-US" b="0" i="0"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Θ</m:t>
                    </m:r>
                    <m:r>
                      <a:rPr lang="en-US" b="0" i="0"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A</m:t>
                    </m:r>
                    <m:r>
                      <a:rPr lang="en-US" b="0" i="0">
                        <a:latin typeface="Cambria Math"/>
                      </a:rPr>
                      <m:t>, </m:t>
                    </m:r>
                    <m:r>
                      <a:rPr lang="en-US" b="0" i="0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b="0" i="0">
                        <a:latin typeface="Cambria Math"/>
                        <a:ea typeface="Cambria Math"/>
                      </a:rPr>
                      <m:t>, </m:t>
                    </m:r>
                    <m:r>
                      <a:rPr lang="en-US" b="0" i="0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b="0" i="0">
                        <a:latin typeface="Cambria Math"/>
                        <a:ea typeface="Cambria Math"/>
                      </a:rPr>
                      <m:t>〉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where </a:t>
                </a:r>
              </a:p>
              <a:p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V = X </a:t>
                </a:r>
                <a14:m>
                  <m:oMath xmlns:m="http://schemas.openxmlformats.org/officeDocument/2006/math">
                    <m:r>
                      <a:rPr lang="en-US" b="0" i="0"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/>
                          </a:rPr>
                          <m:t>l</m:t>
                        </m:r>
                      </m:e>
                    </m:d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X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a set of n clocks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l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a discrete state variable of finite type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endParaRPr lang="en-US" baseline="-250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 is a finite set </a:t>
                </a:r>
              </a:p>
              <a:p>
                <a14:m>
                  <m:oMath xmlns:m="http://schemas.openxmlformats.org/officeDocument/2006/math">
                    <m:r>
                      <a:rPr lang="en-US" b="0" i="0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b="0" i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is a set of transitions such that </a:t>
                </a:r>
              </a:p>
              <a:p>
                <a:pPr lvl="1"/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The guards are described by clock constraings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Φ</m:t>
                    </m:r>
                    <m:r>
                      <a:rPr lang="en-US" b="0" i="0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X</m:t>
                    </m:r>
                    <m:r>
                      <a:rPr lang="en-US" b="0" i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/>
                          </a:rPr>
                          <m:t>x</m:t>
                        </m:r>
                        <m:r>
                          <a:rPr lang="en-US" b="0" i="0">
                            <a:latin typeface="Cambria Math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>
                            <a:latin typeface="Cambria Math"/>
                          </a:rPr>
                          <m:t>l</m:t>
                        </m:r>
                      </m:e>
                    </m:d>
                    <m:r>
                      <a:rPr lang="en-US" b="0" i="0">
                        <a:latin typeface="Cambria Math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a</m:t>
                    </m:r>
                    <m:r>
                      <a:rPr lang="en-US" b="0" i="0">
                        <a:latin typeface="Cambria Math"/>
                      </a:rPr>
                      <m:t>→</m:t>
                    </m:r>
                    <m:d>
                      <m:dPr>
                        <m:begChr m:val="〈"/>
                        <m:endChr m:val="〉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>
                                <a:latin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en-US" b="0" i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en-US" b="0" i="0">
                            <a:latin typeface="Cambria Math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>
                                <a:latin typeface="Cambria Math"/>
                              </a:rPr>
                              <m:t>l</m:t>
                            </m:r>
                          </m:e>
                          <m:sup>
                            <m:r>
                              <a:rPr lang="en-US" b="0" i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implies either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/>
                          </a:rPr>
                          <m:t>x</m:t>
                        </m:r>
                      </m:e>
                      <m:sup>
                        <m:r>
                          <a:rPr lang="en-US" b="0" i="0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b="0" i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x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/>
                      </a:rPr>
                      <m:t>x</m:t>
                    </m:r>
                    <m:r>
                      <a:rPr lang="en-US" b="0" i="0">
                        <a:latin typeface="Cambria Math"/>
                      </a:rPr>
                      <m:t>=0</m:t>
                    </m:r>
                  </m:oMath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0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set of clock trajectories for the clock variables in X</a:t>
                </a:r>
              </a:p>
              <a:p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487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Light switch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539875"/>
                <a:ext cx="4724400" cy="4953000"/>
              </a:xfrm>
            </p:spPr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sz="3400" b="1" dirty="0"/>
                  <a:t>Math Formulation</a:t>
                </a:r>
              </a:p>
              <a:p>
                <a:pPr marL="0" indent="0">
                  <a:buNone/>
                </a:pPr>
                <a:r>
                  <a:rPr lang="en-US" sz="3400" b="1" dirty="0"/>
                  <a:t>automaton </a:t>
                </a:r>
                <a:r>
                  <a:rPr lang="en-US" sz="3400" dirty="0"/>
                  <a:t>Switch</a:t>
                </a:r>
              </a:p>
              <a:p>
                <a:pPr marL="400050" lvl="1" indent="0">
                  <a:buNone/>
                </a:pPr>
                <a:r>
                  <a:rPr lang="en-US" sz="3400" b="1" dirty="0"/>
                  <a:t>variables</a:t>
                </a:r>
              </a:p>
              <a:p>
                <a:pPr marL="400050" lvl="1" indent="0">
                  <a:buNone/>
                </a:pPr>
                <a:r>
                  <a:rPr lang="en-US" sz="3400" b="1" dirty="0"/>
                  <a:t>internal </a:t>
                </a:r>
                <a:r>
                  <a:rPr lang="en-US" sz="3400" dirty="0"/>
                  <a:t>x, y:Real := 0, </a:t>
                </a:r>
                <a:r>
                  <a:rPr lang="en-US" sz="3400" dirty="0" err="1"/>
                  <a:t>loc</a:t>
                </a:r>
                <a:r>
                  <a:rPr lang="en-US" sz="3400" dirty="0"/>
                  <a:t>: {on,off} := off</a:t>
                </a:r>
              </a:p>
              <a:p>
                <a:pPr marL="400050" lvl="1" indent="0">
                  <a:buNone/>
                </a:pPr>
                <a:endParaRPr lang="en-US" sz="3400" dirty="0"/>
              </a:p>
              <a:p>
                <a:pPr marL="400050" lvl="1" indent="0">
                  <a:buNone/>
                </a:pPr>
                <a:r>
                  <a:rPr lang="en-US" sz="3400" b="1" dirty="0"/>
                  <a:t>transitions</a:t>
                </a:r>
              </a:p>
              <a:p>
                <a:pPr marL="400050" lvl="1" indent="0">
                  <a:buNone/>
                </a:pPr>
                <a:r>
                  <a:rPr lang="en-US" sz="3400" b="1" dirty="0"/>
                  <a:t>internal </a:t>
                </a:r>
                <a:r>
                  <a:rPr lang="en-US" sz="3400" dirty="0"/>
                  <a:t>push</a:t>
                </a:r>
              </a:p>
              <a:p>
                <a:pPr marL="0" indent="0">
                  <a:buNone/>
                </a:pPr>
                <a:r>
                  <a:rPr lang="en-US" sz="3400" b="1" dirty="0"/>
                  <a:t>	pre </a:t>
                </a:r>
                <a:r>
                  <a:rPr lang="en-US" sz="3400" dirty="0"/>
                  <a:t>x </a:t>
                </a:r>
                <a14:m>
                  <m:oMath xmlns:m="http://schemas.openxmlformats.org/officeDocument/2006/math">
                    <m:r>
                      <a:rPr lang="en-US" sz="3400" i="1">
                        <a:latin typeface="Cambria Math"/>
                      </a:rPr>
                      <m:t>≥</m:t>
                    </m:r>
                  </m:oMath>
                </a14:m>
                <a:r>
                  <a:rPr lang="en-US" sz="3400" dirty="0"/>
                  <a:t> 2</a:t>
                </a:r>
              </a:p>
              <a:p>
                <a:pPr marL="0" indent="0">
                  <a:buNone/>
                </a:pPr>
                <a:r>
                  <a:rPr lang="en-US" sz="3400" b="1" dirty="0"/>
                  <a:t>	eff if </a:t>
                </a:r>
                <a:r>
                  <a:rPr lang="en-US" sz="3400" dirty="0"/>
                  <a:t>loc = on </a:t>
                </a:r>
                <a:r>
                  <a:rPr lang="en-US" sz="3400" b="1" dirty="0"/>
                  <a:t>then </a:t>
                </a:r>
                <a:r>
                  <a:rPr lang="en-US" sz="3400" dirty="0"/>
                  <a:t>x := 0 </a:t>
                </a:r>
                <a:r>
                  <a:rPr lang="en-US" sz="3400" b="1" dirty="0"/>
                  <a:t> </a:t>
                </a:r>
              </a:p>
              <a:p>
                <a:pPr marL="0" indent="0">
                  <a:buNone/>
                </a:pPr>
                <a:r>
                  <a:rPr lang="en-US" sz="3400" dirty="0"/>
                  <a:t>	    </a:t>
                </a:r>
                <a:r>
                  <a:rPr lang="en-US" sz="3400" b="1" dirty="0"/>
                  <a:t>else</a:t>
                </a:r>
                <a:r>
                  <a:rPr lang="en-US" sz="3400" dirty="0"/>
                  <a:t> </a:t>
                </a:r>
                <a:r>
                  <a:rPr lang="en-US" sz="3400" dirty="0" err="1"/>
                  <a:t>x,y</a:t>
                </a:r>
                <a:r>
                  <a:rPr lang="en-US" sz="3400" dirty="0"/>
                  <a:t> := 0; loc := off</a:t>
                </a:r>
              </a:p>
              <a:p>
                <a:pPr marL="400050" lvl="1" indent="0">
                  <a:buNone/>
                </a:pPr>
                <a:r>
                  <a:rPr lang="en-US" sz="3400" b="1" dirty="0"/>
                  <a:t>internal </a:t>
                </a:r>
                <a:r>
                  <a:rPr lang="en-US" sz="3400" dirty="0"/>
                  <a:t>pop</a:t>
                </a:r>
              </a:p>
              <a:p>
                <a:pPr marL="0" indent="0">
                  <a:buNone/>
                </a:pPr>
                <a:r>
                  <a:rPr lang="en-US" sz="3400" b="1" dirty="0"/>
                  <a:t>	pre </a:t>
                </a:r>
                <a:r>
                  <a:rPr lang="en-US" sz="3400" dirty="0"/>
                  <a:t>y = 15 /\ </a:t>
                </a:r>
                <a:r>
                  <a:rPr lang="en-US" sz="3400" dirty="0" err="1"/>
                  <a:t>loc</a:t>
                </a:r>
                <a:r>
                  <a:rPr lang="en-US" sz="3400" dirty="0"/>
                  <a:t> = off</a:t>
                </a:r>
              </a:p>
              <a:p>
                <a:pPr marL="0" indent="0">
                  <a:buNone/>
                </a:pPr>
                <a:r>
                  <a:rPr lang="en-US" sz="3400" b="1" dirty="0"/>
                  <a:t>	</a:t>
                </a:r>
                <a:r>
                  <a:rPr lang="en-US" sz="3400" b="1" dirty="0" err="1"/>
                  <a:t>eff</a:t>
                </a:r>
                <a:r>
                  <a:rPr lang="en-US" sz="3400" b="1" dirty="0"/>
                  <a:t> </a:t>
                </a:r>
                <a:r>
                  <a:rPr lang="en-US" sz="3400" dirty="0"/>
                  <a:t>x := 0</a:t>
                </a:r>
              </a:p>
              <a:p>
                <a:pPr marL="0" indent="0">
                  <a:buNone/>
                </a:pPr>
                <a:endParaRPr lang="en-US" sz="3400" dirty="0"/>
              </a:p>
              <a:p>
                <a:pPr marL="400050" lvl="1" indent="0">
                  <a:buNone/>
                </a:pPr>
                <a:r>
                  <a:rPr lang="en-US" sz="3400" b="1" dirty="0"/>
                  <a:t>trajectories</a:t>
                </a:r>
              </a:p>
              <a:p>
                <a:pPr marL="0" indent="0">
                  <a:buNone/>
                </a:pPr>
                <a:r>
                  <a:rPr lang="en-US" sz="3400" b="1" dirty="0"/>
                  <a:t>	invariant </a:t>
                </a:r>
                <a:r>
                  <a:rPr lang="en-US" sz="3400" dirty="0"/>
                  <a:t>loc = off =&gt; y </a:t>
                </a:r>
                <a14:m>
                  <m:oMath xmlns:m="http://schemas.openxmlformats.org/officeDocument/2006/math">
                    <m:r>
                      <a:rPr lang="en-US" sz="3400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3400" dirty="0"/>
                  <a:t> 15 </a:t>
                </a:r>
              </a:p>
              <a:p>
                <a:pPr marL="0" indent="0">
                  <a:buNone/>
                </a:pPr>
                <a:r>
                  <a:rPr lang="es-ES" sz="3400" b="1" dirty="0"/>
                  <a:t>	</a:t>
                </a:r>
                <a:r>
                  <a:rPr lang="es-ES" sz="3400" b="1" dirty="0" err="1"/>
                  <a:t>evolve</a:t>
                </a:r>
                <a:r>
                  <a:rPr lang="es-ES" sz="3400" b="1" dirty="0"/>
                  <a:t> </a:t>
                </a:r>
                <a:r>
                  <a:rPr lang="es-ES" sz="3400" dirty="0"/>
                  <a:t>d(x) = 1; d(y) = 1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539875"/>
                <a:ext cx="4724400" cy="4953000"/>
              </a:xfrm>
              <a:blipFill>
                <a:blip r:embed="rId2"/>
                <a:stretch>
                  <a:fillRect l="-804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581401"/>
            <a:ext cx="5625355" cy="25195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6074229" y="1524001"/>
            <a:ext cx="5528158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Description</a:t>
            </a:r>
          </a:p>
          <a:p>
            <a:r>
              <a:rPr lang="en-US" dirty="0"/>
              <a:t>Switch can be turned on whenever at least 2 time units have elapsed since the last turn on. Switches off automatically 15 time units after the last on.</a:t>
            </a:r>
          </a:p>
        </p:txBody>
      </p:sp>
    </p:spTree>
    <p:extLst>
      <p:ext uri="{BB962C8B-B14F-4D97-AF65-F5344CB8AC3E}">
        <p14:creationId xmlns:p14="http://schemas.microsoft.com/office/powerpoint/2010/main" val="293793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Control State (Location) Reachability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Given an ITA </a:t>
                </a:r>
                <a14:m>
                  <m:oMath xmlns:m="http://schemas.openxmlformats.org/officeDocument/2006/math"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 check if a particular (discrete) control state is reachable from the initial states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Why is control state reachability (CSR) good enough? 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This problem is decidable [Alur Dill]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Key idea: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Construct a finite automaton that is </a:t>
                </a:r>
                <a:r>
                  <a:rPr lang="en-US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 time-abstract </a:t>
                </a:r>
                <a:r>
                  <a:rPr lang="en-US" b="1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bisimilar</a:t>
                </a:r>
                <a:r>
                  <a:rPr lang="en-US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to the ITA (behaves identically with respect to control state reachability)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Check reachability of FSM </a:t>
                </a:r>
              </a:p>
              <a:p>
                <a:pPr>
                  <a:lnSpc>
                    <a:spcPct val="110000"/>
                  </a:lnSpc>
                </a:pPr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6" name="Conten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832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An equivalence relation with a finite quotient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59764" y="1439056"/>
                <a:ext cx="6041036" cy="4737907"/>
              </a:xfrm>
            </p:spPr>
            <p:txBody>
              <a:bodyPr>
                <a:noAutofit/>
              </a:bodyPr>
              <a:lstStyle/>
              <a:p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Under what conditions do two states 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of the automaton  </a:t>
                </a:r>
                <a14:m>
                  <m:oMath xmlns:m="http://schemas.openxmlformats.org/officeDocument/2006/math">
                    <m:r>
                      <a:rPr lang="en-US" sz="24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 behave identically with respect to control state reachability (CSR)?</a:t>
                </a:r>
              </a:p>
              <a:p>
                <a:pPr lvl="1"/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When do they satisfy the same set of clock constraints? </a:t>
                </a:r>
              </a:p>
              <a:p>
                <a:pPr lvl="1"/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When would they continue to satisfy the same set of clock constraints? </a:t>
                </a:r>
              </a:p>
              <a:p>
                <a:pPr lvl="1"/>
                <a:endParaRPr lang="en-US" sz="1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r>
                  <a:rPr lang="en-US" sz="2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If </a:t>
                </a:r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x</a:t>
                </a:r>
                <a:r>
                  <a:rPr lang="en-US" sz="20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 </a:t>
                </a:r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x</a:t>
                </a:r>
                <a:r>
                  <a:rPr lang="en-US" sz="20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 </a:t>
                </a:r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are equivalent, x</a:t>
                </a:r>
                <a:r>
                  <a:rPr lang="en-US" sz="20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≡</m:t>
                    </m:r>
                  </m:oMath>
                </a14:m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x</a:t>
                </a:r>
                <a:r>
                  <a:rPr lang="en-US" sz="20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</a:t>
                </a:r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 from the point of view of reachability then we can use this equivalence relation on the state space Q to define a new automaton </a:t>
                </a:r>
                <a14:m>
                  <m:oMath xmlns:m="http://schemas.openxmlformats.org/officeDocument/2006/math">
                    <m:r>
                      <a:rPr lang="en-US" sz="20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with state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Q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=</m:t>
                    </m:r>
                  </m:oMath>
                </a14:m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quotient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Q</m:t>
                    </m:r>
                  </m:oMath>
                </a14:m>
                <a:r>
                  <a:rPr lang="en-US" sz="2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/</a:t>
                </a:r>
                <a14:m>
                  <m:oMath xmlns:m="http://schemas.openxmlformats.org/officeDocument/2006/math">
                    <m:r>
                      <a:rPr lang="en-US" sz="2400" b="0" i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≡</m:t>
                    </m:r>
                  </m:oMath>
                </a14:m>
                <a:r>
                  <a:rPr lang="en-US" sz="2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(which is smaller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Q</m:t>
                    </m:r>
                    <m:r>
                      <a:rPr lang="en-US" sz="2200" b="0" i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) </m:t>
                    </m:r>
                  </m:oMath>
                </a14:m>
                <a:r>
                  <a:rPr lang="en-US" sz="2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perform reachability analysis on </a:t>
                </a:r>
                <a14:m>
                  <m:oMath xmlns:m="http://schemas.openxmlformats.org/officeDocument/2006/math">
                    <m:r>
                      <a:rPr lang="en-US" sz="24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4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2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9764" y="1439056"/>
                <a:ext cx="6041036" cy="4737907"/>
              </a:xfrm>
              <a:blipFill>
                <a:blip r:embed="rId2"/>
                <a:stretch>
                  <a:fillRect l="-1468" t="-1604" r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CEE4DF53-0731-FE99-B1B7-AC3DF756A0F6}"/>
              </a:ext>
            </a:extLst>
          </p:cNvPr>
          <p:cNvGrpSpPr/>
          <p:nvPr/>
        </p:nvGrpSpPr>
        <p:grpSpPr>
          <a:xfrm>
            <a:off x="8640743" y="367267"/>
            <a:ext cx="3334987" cy="2439574"/>
            <a:chOff x="8640743" y="367267"/>
            <a:chExt cx="3334987" cy="243957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FA5F29A9-4F86-17EB-66FC-32FC332C3303}"/>
                    </a:ext>
                  </a:extLst>
                </p:cNvPr>
                <p:cNvSpPr/>
                <p:nvPr/>
              </p:nvSpPr>
              <p:spPr>
                <a:xfrm>
                  <a:off x="8640743" y="914237"/>
                  <a:ext cx="1199408" cy="111628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FA5F29A9-4F86-17EB-66FC-32FC332C33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0743" y="914237"/>
                  <a:ext cx="1199408" cy="111628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EB974209-94E7-EB7E-A82F-81DD6116C944}"/>
                    </a:ext>
                  </a:extLst>
                </p:cNvPr>
                <p:cNvSpPr/>
                <p:nvPr/>
              </p:nvSpPr>
              <p:spPr>
                <a:xfrm>
                  <a:off x="10776322" y="914237"/>
                  <a:ext cx="1199408" cy="111628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off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EB974209-94E7-EB7E-A82F-81DD6116C94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76322" y="914237"/>
                  <a:ext cx="1199408" cy="111628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Curved Connector 6">
              <a:extLst>
                <a:ext uri="{FF2B5EF4-FFF2-40B4-BE49-F238E27FC236}">
                  <a16:creationId xmlns:a16="http://schemas.microsoft.com/office/drawing/2014/main" id="{943AB085-17D9-FD99-D1EA-7B92F96E5913}"/>
                </a:ext>
              </a:extLst>
            </p:cNvPr>
            <p:cNvCxnSpPr>
              <a:stCxn id="4" idx="7"/>
              <a:endCxn id="5" idx="1"/>
            </p:cNvCxnSpPr>
            <p:nvPr/>
          </p:nvCxnSpPr>
          <p:spPr>
            <a:xfrm rot="5400000" flipH="1" flipV="1">
              <a:off x="10308236" y="433978"/>
              <a:ext cx="12700" cy="1287469"/>
            </a:xfrm>
            <a:prstGeom prst="curvedConnector3">
              <a:avLst>
                <a:gd name="adj1" fmla="val 308720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Curved Connector 7">
              <a:extLst>
                <a:ext uri="{FF2B5EF4-FFF2-40B4-BE49-F238E27FC236}">
                  <a16:creationId xmlns:a16="http://schemas.microsoft.com/office/drawing/2014/main" id="{3596B0FD-4B19-139F-A95D-62954D1944EF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10308237" y="1223308"/>
              <a:ext cx="12700" cy="1287469"/>
            </a:xfrm>
            <a:prstGeom prst="curvedConnector3">
              <a:avLst>
                <a:gd name="adj1" fmla="val 308720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483A627-6512-5B0A-26D6-452E92D5BC8C}"/>
                    </a:ext>
                  </a:extLst>
                </p:cNvPr>
                <p:cNvSpPr txBox="1"/>
                <p:nvPr/>
              </p:nvSpPr>
              <p:spPr>
                <a:xfrm>
                  <a:off x="9897356" y="367267"/>
                  <a:ext cx="916213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0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turnoff</a:t>
                  </a: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oMath>
                    </m:oMathPara>
                  </a14:m>
                  <a:endParaRPr lang="en-US" dirty="0"/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≔0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483A627-6512-5B0A-26D6-452E92D5B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7356" y="367267"/>
                  <a:ext cx="916213" cy="923330"/>
                </a:xfrm>
                <a:prstGeom prst="rect">
                  <a:avLst/>
                </a:prstGeom>
                <a:blipFill>
                  <a:blip r:embed="rId5"/>
                  <a:stretch>
                    <a:fillRect l="-5479" t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F226205-F6A9-1803-AB63-B6C1F8CC2A88}"/>
                    </a:ext>
                  </a:extLst>
                </p:cNvPr>
                <p:cNvSpPr txBox="1"/>
                <p:nvPr/>
              </p:nvSpPr>
              <p:spPr>
                <a:xfrm>
                  <a:off x="9953159" y="1883511"/>
                  <a:ext cx="893193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0" i="1" dirty="0" err="1">
                      <a:latin typeface="Calibri" panose="020F0502020204030204" pitchFamily="34" charset="0"/>
                      <a:cs typeface="Calibri" panose="020F0502020204030204" pitchFamily="34" charset="0"/>
                    </a:rPr>
                    <a:t>turnon</a:t>
                  </a:r>
                  <a:endParaRPr lang="en-US" b="0" i="1" dirty="0">
                    <a:latin typeface="Cambria Math" panose="02040503050406030204" pitchFamily="18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≥2</m:t>
                        </m:r>
                      </m:oMath>
                    </m:oMathPara>
                  </a14:m>
                  <a:endParaRPr lang="en-US" dirty="0"/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≔0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F226205-F6A9-1803-AB63-B6C1F8CC2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3159" y="1883511"/>
                  <a:ext cx="893193" cy="923330"/>
                </a:xfrm>
                <a:prstGeom prst="rect">
                  <a:avLst/>
                </a:prstGeom>
                <a:blipFill>
                  <a:blip r:embed="rId6"/>
                  <a:stretch>
                    <a:fillRect l="-5634" t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E623C8B-35C9-FF7E-10C2-8FC945C536F4}"/>
              </a:ext>
            </a:extLst>
          </p:cNvPr>
          <p:cNvGrpSpPr/>
          <p:nvPr/>
        </p:nvGrpSpPr>
        <p:grpSpPr>
          <a:xfrm>
            <a:off x="6589819" y="3548540"/>
            <a:ext cx="4894523" cy="3098082"/>
            <a:chOff x="6589819" y="3548540"/>
            <a:chExt cx="4894523" cy="309808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FEEF6785-B695-6E90-3E9A-775CAD20F1EE}"/>
                    </a:ext>
                  </a:extLst>
                </p:cNvPr>
                <p:cNvSpPr/>
                <p:nvPr/>
              </p:nvSpPr>
              <p:spPr>
                <a:xfrm>
                  <a:off x="8338459" y="4603939"/>
                  <a:ext cx="1370610" cy="77981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0&lt;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&lt;1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FEEF6785-B695-6E90-3E9A-775CAD20F1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8459" y="4603939"/>
                  <a:ext cx="1370610" cy="779813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A2D3AFD0-A8EB-F4B4-9937-A787365013E6}"/>
                    </a:ext>
                  </a:extLst>
                </p:cNvPr>
                <p:cNvSpPr/>
                <p:nvPr/>
              </p:nvSpPr>
              <p:spPr>
                <a:xfrm>
                  <a:off x="6589819" y="4603939"/>
                  <a:ext cx="1370610" cy="77981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A2D3AFD0-A8EB-F4B4-9937-A787365013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9819" y="4603939"/>
                  <a:ext cx="1370610" cy="779813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B52C876-D7EE-A552-19FE-DCFF4F3FCBD7}"/>
                    </a:ext>
                  </a:extLst>
                </p:cNvPr>
                <p:cNvSpPr/>
                <p:nvPr/>
              </p:nvSpPr>
              <p:spPr>
                <a:xfrm>
                  <a:off x="8361672" y="5866809"/>
                  <a:ext cx="1370610" cy="77981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off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0&lt;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&lt;2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B52C876-D7EE-A552-19FE-DCFF4F3FCB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1672" y="5866809"/>
                  <a:ext cx="1370610" cy="779813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87F0B0E-B651-533C-D7DF-C03F469BC752}"/>
                    </a:ext>
                  </a:extLst>
                </p:cNvPr>
                <p:cNvSpPr/>
                <p:nvPr/>
              </p:nvSpPr>
              <p:spPr>
                <a:xfrm>
                  <a:off x="6609612" y="5860744"/>
                  <a:ext cx="1370610" cy="77981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off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87F0B0E-B651-533C-D7DF-C03F469BC7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9612" y="5860744"/>
                  <a:ext cx="1370610" cy="779813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BA003888-F666-F306-887F-60A5B21A84E9}"/>
                    </a:ext>
                  </a:extLst>
                </p:cNvPr>
                <p:cNvSpPr/>
                <p:nvPr/>
              </p:nvSpPr>
              <p:spPr>
                <a:xfrm>
                  <a:off x="10113732" y="5860743"/>
                  <a:ext cx="1370610" cy="77981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off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BA003888-F666-F306-887F-60A5B21A84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3732" y="5860743"/>
                  <a:ext cx="1370610" cy="779813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C07984A-5E72-54D8-310F-716D7B263AD6}"/>
                </a:ext>
              </a:extLst>
            </p:cNvPr>
            <p:cNvCxnSpPr>
              <a:stCxn id="14" idx="6"/>
              <a:endCxn id="13" idx="2"/>
            </p:cNvCxnSpPr>
            <p:nvPr/>
          </p:nvCxnSpPr>
          <p:spPr>
            <a:xfrm>
              <a:off x="7960429" y="4993846"/>
              <a:ext cx="3780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C0DCF6-A68B-06A1-99F9-775EF8BD92A0}"/>
                    </a:ext>
                  </a:extLst>
                </p:cNvPr>
                <p:cNvSpPr txBox="1"/>
                <p:nvPr/>
              </p:nvSpPr>
              <p:spPr>
                <a:xfrm>
                  <a:off x="7980222" y="4548249"/>
                  <a:ext cx="3418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C0DCF6-A68B-06A1-99F9-775EF8BD92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0222" y="4548249"/>
                  <a:ext cx="34188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6F8A96F4-1206-2912-1E89-C69E312BAF0E}"/>
                    </a:ext>
                  </a:extLst>
                </p:cNvPr>
                <p:cNvSpPr/>
                <p:nvPr/>
              </p:nvSpPr>
              <p:spPr>
                <a:xfrm>
                  <a:off x="10087099" y="4603939"/>
                  <a:ext cx="1370610" cy="77981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6F8A96F4-1206-2912-1E89-C69E312BAF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7099" y="4603939"/>
                  <a:ext cx="1370610" cy="779813"/>
                </a:xfrm>
                <a:prstGeom prst="ellipse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29D4F4D-B8E5-5B91-AF2F-D29EAF2A0B69}"/>
                </a:ext>
              </a:extLst>
            </p:cNvPr>
            <p:cNvCxnSpPr/>
            <p:nvPr/>
          </p:nvCxnSpPr>
          <p:spPr>
            <a:xfrm>
              <a:off x="9715993" y="4991871"/>
              <a:ext cx="3780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FFC296-514D-5074-6AB8-ADC93CD88345}"/>
                    </a:ext>
                  </a:extLst>
                </p:cNvPr>
                <p:cNvSpPr txBox="1"/>
                <p:nvPr/>
              </p:nvSpPr>
              <p:spPr>
                <a:xfrm>
                  <a:off x="9735786" y="4546274"/>
                  <a:ext cx="3418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FFC296-514D-5074-6AB8-ADC93CD8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5786" y="4546274"/>
                  <a:ext cx="34188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F1940E4-8D8B-365F-A165-5D039EB7B6CA}"/>
                </a:ext>
              </a:extLst>
            </p:cNvPr>
            <p:cNvCxnSpPr/>
            <p:nvPr/>
          </p:nvCxnSpPr>
          <p:spPr>
            <a:xfrm>
              <a:off x="7994079" y="6250651"/>
              <a:ext cx="3780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2A9DCC0-6C54-9C07-BCEE-D929E89D6BD4}"/>
                    </a:ext>
                  </a:extLst>
                </p:cNvPr>
                <p:cNvSpPr txBox="1"/>
                <p:nvPr/>
              </p:nvSpPr>
              <p:spPr>
                <a:xfrm>
                  <a:off x="8013872" y="5805054"/>
                  <a:ext cx="3418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2A9DCC0-6C54-9C07-BCEE-D929E89D6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3872" y="5805054"/>
                  <a:ext cx="34188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EF60DC7-9235-1D88-7648-87DDA6EA0C17}"/>
                </a:ext>
              </a:extLst>
            </p:cNvPr>
            <p:cNvCxnSpPr/>
            <p:nvPr/>
          </p:nvCxnSpPr>
          <p:spPr>
            <a:xfrm>
              <a:off x="9727874" y="6250651"/>
              <a:ext cx="3780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029592E-3DAD-2987-8C12-23329B17D5A5}"/>
                    </a:ext>
                  </a:extLst>
                </p:cNvPr>
                <p:cNvSpPr txBox="1"/>
                <p:nvPr/>
              </p:nvSpPr>
              <p:spPr>
                <a:xfrm>
                  <a:off x="9747667" y="5805054"/>
                  <a:ext cx="3418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029592E-3DAD-2987-8C12-23329B17D5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7667" y="5805054"/>
                  <a:ext cx="34188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3A426DD-B0D0-84AF-E67F-D3FEE1393AEE}"/>
                </a:ext>
              </a:extLst>
            </p:cNvPr>
            <p:cNvCxnSpPr>
              <a:cxnSpLocks/>
              <a:stCxn id="23" idx="4"/>
              <a:endCxn id="17" idx="0"/>
            </p:cNvCxnSpPr>
            <p:nvPr/>
          </p:nvCxnSpPr>
          <p:spPr>
            <a:xfrm flipH="1">
              <a:off x="7294917" y="5383752"/>
              <a:ext cx="3477487" cy="4769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90AFC1E-BE4E-989E-4120-4A55E8340294}"/>
                </a:ext>
              </a:extLst>
            </p:cNvPr>
            <p:cNvSpPr txBox="1"/>
            <p:nvPr/>
          </p:nvSpPr>
          <p:spPr>
            <a:xfrm>
              <a:off x="8070232" y="5328062"/>
              <a:ext cx="97674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0" i="1" dirty="0">
                  <a:latin typeface="Calibri" panose="020F0502020204030204" pitchFamily="34" charset="0"/>
                  <a:cs typeface="Calibri" panose="020F0502020204030204" pitchFamily="34" charset="0"/>
                </a:rPr>
                <a:t>turnoff</a:t>
              </a:r>
            </a:p>
          </p:txBody>
        </p:sp>
        <p:cxnSp>
          <p:nvCxnSpPr>
            <p:cNvPr id="38" name="Curved Connector 37">
              <a:extLst>
                <a:ext uri="{FF2B5EF4-FFF2-40B4-BE49-F238E27FC236}">
                  <a16:creationId xmlns:a16="http://schemas.microsoft.com/office/drawing/2014/main" id="{CE8D019E-87C6-8EF9-6012-687EDE51400C}"/>
                </a:ext>
              </a:extLst>
            </p:cNvPr>
            <p:cNvCxnSpPr>
              <a:stCxn id="18" idx="6"/>
              <a:endCxn id="14" idx="0"/>
            </p:cNvCxnSpPr>
            <p:nvPr/>
          </p:nvCxnSpPr>
          <p:spPr>
            <a:xfrm flipH="1" flipV="1">
              <a:off x="7275124" y="4603939"/>
              <a:ext cx="4209218" cy="1646711"/>
            </a:xfrm>
            <a:prstGeom prst="curvedConnector4">
              <a:avLst>
                <a:gd name="adj1" fmla="val -11638"/>
                <a:gd name="adj2" fmla="val 14056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1CA2602-8B54-4B3A-DD01-854527A1186A}"/>
                </a:ext>
              </a:extLst>
            </p:cNvPr>
            <p:cNvSpPr txBox="1"/>
            <p:nvPr/>
          </p:nvSpPr>
          <p:spPr>
            <a:xfrm>
              <a:off x="9625359" y="3548540"/>
              <a:ext cx="97674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0" i="1" dirty="0" err="1">
                  <a:latin typeface="Calibri" panose="020F0502020204030204" pitchFamily="34" charset="0"/>
                  <a:cs typeface="Calibri" panose="020F0502020204030204" pitchFamily="34" charset="0"/>
                </a:rPr>
                <a:t>turnon</a:t>
              </a:r>
              <a:endParaRPr lang="en-US" b="0" i="1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7371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An equivalence relation with a finite quotient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59764" y="1439056"/>
                <a:ext cx="11377534" cy="4737907"/>
              </a:xfrm>
            </p:spPr>
            <p:txBody>
              <a:bodyPr>
                <a:noAutofit/>
              </a:bodyPr>
              <a:lstStyle/>
              <a:p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Under what conditions do two states 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of the automaton  </a:t>
                </a:r>
                <a14:m>
                  <m:oMath xmlns:m="http://schemas.openxmlformats.org/officeDocument/2006/math">
                    <m:r>
                      <a:rPr lang="en-US" sz="24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 behave identically with respect to control state reachability (CSR)?</a:t>
                </a:r>
              </a:p>
              <a:p>
                <a:pPr lvl="1"/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When do they satisfy the same set of clock constraints? </a:t>
                </a:r>
              </a:p>
              <a:p>
                <a:pPr lvl="1"/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When would they continue to satisfy the same set of clock constraints? </a:t>
                </a:r>
              </a:p>
              <a:p>
                <a:pPr lvl="1"/>
                <a:endParaRPr lang="en-US" sz="1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/>
                      </a:rPr>
                      <m:t>.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loc</m:t>
                    </m:r>
                    <m:r>
                      <a:rPr lang="en-US" sz="2400" b="0" i="0" smtClean="0">
                        <a:latin typeface="Cambria Math"/>
                      </a:rPr>
                      <m:t>=</m:t>
                    </m:r>
                    <m:r>
                      <m:rPr>
                        <m:nor/>
                      </m:rPr>
                      <a:rPr lang="en-US" sz="2400" dirty="0">
                        <a:latin typeface="Calibri Light" panose="020F0302020204030204" pitchFamily="34" charset="0"/>
                        <a:cs typeface="Calibri Light" panose="020F0302020204030204" pitchFamily="34" charset="0"/>
                      </a:rPr>
                      <m:t>x</m:t>
                    </m:r>
                    <m:r>
                      <m:rPr>
                        <m:nor/>
                      </m:rPr>
                      <a:rPr lang="en-US" sz="2400" baseline="-25000" dirty="0" smtClean="0">
                        <a:latin typeface="Calibri Light" panose="020F0302020204030204" pitchFamily="34" charset="0"/>
                        <a:cs typeface="Calibri Light" panose="020F0302020204030204" pitchFamily="34" charset="0"/>
                      </a:rPr>
                      <m:t>2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>
                        <a:latin typeface="Cambria Math"/>
                      </a:rPr>
                      <m:t>l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/>
                      </a:rPr>
                      <m:t>oc</m:t>
                    </m:r>
                    <m:r>
                      <a:rPr lang="en-US" sz="2400" b="0" i="0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</a:t>
                </a:r>
              </a:p>
              <a:p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x</a:t>
                </a:r>
                <a:r>
                  <a:rPr lang="en-US" sz="24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satisfy the same set of clock constraints</a:t>
                </a: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For each clock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solidFill>
                          <a:schemeClr val="tx1"/>
                        </a:solidFill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int(x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=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int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or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int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y</m:t>
                    </m:r>
                    <m:r>
                      <a:rPr lang="en-US" sz="1800" b="0" i="0" smtClean="0">
                        <a:latin typeface="Cambria Math"/>
                      </a:rPr>
                      <m:t>)≥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sz="1800" b="0" i="0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  <a:ea typeface="Cambria Math"/>
                          </a:rPr>
                          <m:t>y</m:t>
                        </m:r>
                      </m:sub>
                    </m:sSub>
                    <m:r>
                      <a:rPr lang="en-US" sz="1800" b="0" i="0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int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y</m:t>
                    </m:r>
                    <m:r>
                      <a:rPr lang="en-US" sz="1800" b="0" i="0" smtClean="0">
                        <a:latin typeface="Cambria Math"/>
                      </a:rPr>
                      <m:t>)≥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sz="1800" b="0" i="0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/>
                            <a:ea typeface="Cambria Math"/>
                          </a:rPr>
                          <m:t>y</m:t>
                        </m:r>
                      </m:sub>
                    </m:sSub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sz="1800" b="0" i="0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sty m:val="p"/>
                          </m:rPr>
                          <a:rPr lang="en-US" sz="1800" b="0" i="0">
                            <a:latin typeface="Cambria Math"/>
                            <a:ea typeface="Cambria Math"/>
                          </a:rPr>
                          <m:t>y</m:t>
                        </m:r>
                      </m:sub>
                    </m:sSub>
                    <m:r>
                      <a:rPr lang="en-US" sz="1800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  <a:ea typeface="Cambria Math"/>
                      </a:rPr>
                      <m:t>is</m:t>
                    </m:r>
                    <m:r>
                      <a:rPr lang="en-US" sz="1800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  <a:ea typeface="Cambria Math"/>
                      </a:rPr>
                      <m:t>the</m:t>
                    </m:r>
                    <m:r>
                      <a:rPr lang="en-US" sz="1800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  <a:ea typeface="Cambria Math"/>
                      </a:rPr>
                      <m:t>maxium</m:t>
                    </m:r>
                    <m:r>
                      <a:rPr lang="en-US" sz="1800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  <a:ea typeface="Cambria Math"/>
                      </a:rPr>
                      <m:t>clock</m:t>
                    </m:r>
                    <m:r>
                      <a:rPr lang="en-US" sz="1800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  <a:ea typeface="Cambria Math"/>
                      </a:rPr>
                      <m:t>guard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</a:t>
                </a: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For each clock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solidFill>
                          <a:schemeClr val="tx1"/>
                        </a:solidFill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with x</a:t>
                </a:r>
                <a:r>
                  <a:rPr lang="en-US" sz="1800" baseline="-250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solidFill>
                          <a:schemeClr val="tx1"/>
                        </a:solidFill>
                        <a:latin typeface="Cambria Math"/>
                      </a:rPr>
                      <m:t>y</m:t>
                    </m:r>
                    <m:r>
                      <a:rPr lang="en-US" sz="1800" b="0" i="0" smtClean="0">
                        <a:solidFill>
                          <a:schemeClr val="tx1"/>
                        </a:solidFill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>
                            <a:solidFill>
                              <a:schemeClr val="tx1"/>
                            </a:solidFill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sz="1800" b="0" i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</a:rPr>
                          <m:t>y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 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frac(x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latin typeface="Cambria Math"/>
                      </a:rPr>
                      <m:t>y</m:t>
                    </m:r>
                    <m:r>
                      <a:rPr lang="en-US" sz="1800" b="0" i="0">
                        <a:latin typeface="Cambria Math"/>
                      </a:rPr>
                      <m:t>)=0 </m:t>
                    </m:r>
                  </m:oMath>
                </a14:m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iff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frac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latin typeface="Cambria Math"/>
                      </a:rPr>
                      <m:t>y</m:t>
                    </m:r>
                    <m:r>
                      <a:rPr lang="en-US" sz="1800" b="0" i="0">
                        <a:latin typeface="Cambria Math"/>
                      </a:rPr>
                      <m:t>)=0</m:t>
                    </m:r>
                  </m:oMath>
                </a14:m>
                <a:endParaRPr lang="en-US" sz="1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For any two clocks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solidFill>
                          <a:schemeClr val="tx1"/>
                        </a:solidFill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solidFill>
                          <a:schemeClr val="tx1"/>
                        </a:solidFill>
                        <a:latin typeface="Cambria Math"/>
                      </a:rPr>
                      <m:t>z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with x</a:t>
                </a:r>
                <a:r>
                  <a:rPr lang="en-US" sz="1800" baseline="-250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solidFill>
                          <a:schemeClr val="tx1"/>
                        </a:solidFill>
                        <a:latin typeface="Cambria Math"/>
                      </a:rPr>
                      <m:t>y</m:t>
                    </m:r>
                    <m:r>
                      <a:rPr lang="en-US" sz="1800" b="0" i="0">
                        <a:solidFill>
                          <a:schemeClr val="tx1"/>
                        </a:solidFill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>
                            <a:solidFill>
                              <a:schemeClr val="tx1"/>
                            </a:solidFill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sz="1800" b="0" i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</a:rPr>
                          <m:t>y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x</a:t>
                </a:r>
                <a:r>
                  <a:rPr lang="en-US" sz="1800" baseline="-250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solidFill>
                          <a:schemeClr val="tx1"/>
                        </a:solidFill>
                        <a:latin typeface="Cambria Math"/>
                        <a:ea typeface="Cambria Math"/>
                      </a:rPr>
                      <m:t>z</m:t>
                    </m:r>
                    <m:r>
                      <a:rPr lang="en-US" sz="1800" b="0" i="0">
                        <a:solidFill>
                          <a:schemeClr val="tx1"/>
                        </a:solidFill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>
                            <a:solidFill>
                              <a:schemeClr val="tx1"/>
                            </a:solidFill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sz="1800" b="0" i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frac(x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800" b="0" i="0">
                        <a:latin typeface="Cambria Math"/>
                      </a:rPr>
                      <m:t>≤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frac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1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/>
                      </a:rPr>
                      <m:t>z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iff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18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frac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latin typeface="Cambria Math"/>
                      </a:rPr>
                      <m:t>y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800" b="0" i="0">
                        <a:latin typeface="Cambria Math"/>
                      </a:rPr>
                      <m:t>≤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frac(x</a:t>
                </a:r>
                <a:r>
                  <a:rPr lang="en-US" sz="1800" baseline="-25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2</a:t>
                </a:r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>
                        <a:latin typeface="Cambria Math"/>
                      </a:rPr>
                      <m:t>z</m:t>
                    </m:r>
                  </m:oMath>
                </a14:m>
                <a:r>
                  <a:rPr lang="en-US" sz="1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</a:t>
                </a:r>
              </a:p>
              <a:p>
                <a:r>
                  <a:rPr lang="en-US" sz="2400" dirty="0">
                    <a:solidFill>
                      <a:srgbClr val="0070C0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Lemma.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This is a equivalence relation on </a:t>
                </a:r>
                <a:r>
                  <a:rPr lang="en-US" sz="24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val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(V) the states of </a:t>
                </a:r>
                <a14:m>
                  <m:oMath xmlns:m="http://schemas.openxmlformats.org/officeDocument/2006/math">
                    <m:r>
                      <a:rPr lang="en-US" sz="24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</a:p>
              <a:p>
                <a:endParaRPr lang="en-US" sz="24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The partition of </a:t>
                </a:r>
                <a:r>
                  <a:rPr lang="en-US" sz="2400" dirty="0" err="1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val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(V) induced by this relation is are called clock regions </a:t>
                </a:r>
              </a:p>
              <a:p>
                <a:pPr lvl="1"/>
                <a:endParaRPr lang="en-US" sz="1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9764" y="1439056"/>
                <a:ext cx="11377534" cy="4737907"/>
              </a:xfrm>
              <a:blipFill>
                <a:blip r:embed="rId2"/>
                <a:stretch>
                  <a:fillRect l="-780" t="-1604" b="-7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076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Geometry of clock regions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1" y="1524001"/>
            <a:ext cx="7119078" cy="5269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24852" y="1840676"/>
                <a:ext cx="3661349" cy="23374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Example of Two Clocks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X = {</a:t>
                </a:r>
                <a:r>
                  <a:rPr lang="en-US" sz="2400" dirty="0" err="1"/>
                  <a:t>y,z</a:t>
                </a:r>
                <a:r>
                  <a:rPr lang="en-US" sz="2400" dirty="0"/>
                  <a:t>}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sz="2400" dirty="0"/>
                  <a:t> = 2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sz="2400" dirty="0"/>
                  <a:t> = 3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52" y="1840676"/>
                <a:ext cx="3661349" cy="2337499"/>
              </a:xfrm>
              <a:prstGeom prst="rect">
                <a:avLst/>
              </a:prstGeom>
              <a:blipFill>
                <a:blip r:embed="rId3"/>
                <a:stretch>
                  <a:fillRect l="-2414" t="-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1722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>
                    <a:solidFill>
                      <a:srgbClr val="0070C0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Lemma</a:t>
                </a:r>
                <a:r>
                  <a:rPr lang="en-US" sz="3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 The number of clock regions is bounded by</a:t>
                </a:r>
              </a:p>
              <a:p>
                <a:pPr marL="0" indent="0">
                  <a:buNone/>
                </a:pPr>
                <a:r>
                  <a:rPr lang="en-US" sz="3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|X|! 2</a:t>
                </a:r>
                <a:r>
                  <a:rPr lang="en-US" sz="3200" baseline="30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|X|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supHide m:val="on"/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7"/>
                          </m:rPr>
                          <a:rPr lang="en-US" sz="3200" b="0" i="0" smtClean="0">
                            <a:latin typeface="Cambria Math"/>
                          </a:rPr>
                          <m:t>z</m:t>
                        </m:r>
                        <m:r>
                          <a:rPr lang="en-US" sz="3200" b="0" i="0" smtClean="0">
                            <a:latin typeface="Cambria Math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/>
                          </a:rPr>
                          <m:t>X</m:t>
                        </m:r>
                      </m:sub>
                      <m:sup/>
                      <m:e>
                        <m:r>
                          <a:rPr lang="en-US" sz="3200" b="0" i="0">
                            <a:latin typeface="Cambria Math"/>
                          </a:rPr>
                          <m:t>(2</m:t>
                        </m:r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>
                                <a:latin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en-US" sz="3200" b="0" i="0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  <m:r>
                              <m:rPr>
                                <m:sty m:val="p"/>
                              </m:rPr>
                              <a:rPr lang="en-US" sz="3200" b="0" i="0">
                                <a:latin typeface="Cambria Math"/>
                                <a:ea typeface="Cambria Math"/>
                              </a:rPr>
                              <m:t>z</m:t>
                            </m:r>
                          </m:sub>
                        </m:sSub>
                        <m:r>
                          <a:rPr lang="en-US" sz="3200" b="0" i="0">
                            <a:latin typeface="Cambria Math"/>
                            <a:ea typeface="Cambria Math"/>
                          </a:rPr>
                          <m:t>+2)</m:t>
                        </m:r>
                      </m:e>
                    </m:nary>
                  </m:oMath>
                </a14:m>
                <a:r>
                  <a:rPr lang="en-US" sz="3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sz="32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endParaRPr lang="en-US" sz="32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r>
                  <a:rPr lang="en-US" sz="32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Finite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4351338"/>
              </a:xfrm>
              <a:blipFill>
                <a:blip r:embed="rId2"/>
                <a:stretch>
                  <a:fillRect l="-1339" t="-6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2979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Region automaton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8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7639"/>
                <a:ext cx="10644266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Given an ITA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sz="2000" i="1">
                        <a:latin typeface="Cambria Math"/>
                      </a:rPr>
                      <m:t>𝑉</m:t>
                    </m:r>
                    <m:r>
                      <a:rPr lang="en-US" sz="2000" i="1"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Θ</m:t>
                    </m:r>
                    <m:r>
                      <a:rPr lang="en-US" sz="2000" i="1">
                        <a:latin typeface="Cambria Math"/>
                      </a:rPr>
                      <m:t>, 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, 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〉</m:t>
                    </m:r>
                  </m:oMath>
                </a14:m>
                <a:r>
                  <a:rPr lang="en-US" sz="2000" dirty="0"/>
                  <a:t>, we construct the corresponding </a:t>
                </a:r>
                <a:r>
                  <a:rPr lang="en-US" sz="2000" b="1" dirty="0"/>
                  <a:t>Region Automaton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such that (</a:t>
                </a:r>
                <a:r>
                  <a:rPr lang="en-US" sz="2000" dirty="0" err="1"/>
                  <a:t>i</a:t>
                </a:r>
                <a:r>
                  <a:rPr lang="en-US" sz="2000" dirty="0"/>
                  <a:t>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visits the same set of locations (but does not have  timing information) and (ii)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finite state machine.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ITA (clock constants) defines a set of  clock regions, say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000" dirty="0"/>
                  <a:t>. The set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is the set of states contain initial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Θ</m:t>
                    </m:r>
                    <m:r>
                      <a:rPr lang="en-US" sz="2000" i="1">
                        <a:latin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2000" dirty="0"/>
                  <a:t>We add the transitions between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(regions)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600" b="1" dirty="0"/>
                  <a:t>Time successors</a:t>
                </a:r>
                <a:r>
                  <a:rPr lang="en-US" sz="1600" dirty="0"/>
                  <a:t>: Consider two clock regions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  <m:r>
                      <a:rPr lang="en-US" sz="1600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latin typeface="Cambria Math"/>
                      </a:rPr>
                      <m:t>and</m:t>
                    </m:r>
                    <m:r>
                      <a:rPr lang="en-US" sz="160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/>
                  <a:t>, we say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/>
                  <a:t> is a time successor of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</m:oMath>
                </a14:m>
                <a:r>
                  <a:rPr lang="en-US" sz="1600" dirty="0"/>
                  <a:t> if there exits a trajectory of ITA starting from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</m:oMath>
                </a14:m>
                <a:r>
                  <a:rPr lang="en-US" sz="1600" dirty="0"/>
                  <a:t> that ends in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/>
                      </a:rPr>
                      <m:t>𝛾</m:t>
                    </m:r>
                  </m:oMath>
                </a14:m>
                <a:r>
                  <a:rPr lang="en-US" sz="1600" dirty="0"/>
                  <a:t>’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600" b="1" dirty="0"/>
                  <a:t>Discrete transitions</a:t>
                </a:r>
                <a:r>
                  <a:rPr lang="en-US" sz="1600" dirty="0"/>
                  <a:t>: Same as the ITA</a:t>
                </a:r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Theorem.</a:t>
                </a:r>
                <a:r>
                  <a:rPr lang="en-US" sz="2000" dirty="0"/>
                  <a:t> A location of ITA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reachable </a:t>
                </a:r>
                <a:r>
                  <a:rPr lang="en-US" sz="2000" dirty="0" err="1"/>
                  <a:t>iff</a:t>
                </a:r>
                <a:r>
                  <a:rPr lang="en-US" sz="2000" dirty="0"/>
                  <a:t> it is also reachable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(we say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</m:oMath>
                </a14:m>
                <a:r>
                  <a:rPr lang="en-US" sz="2000" dirty="0"/>
                  <a:t> is </a:t>
                </a:r>
                <a:r>
                  <a:rPr lang="en-US" sz="2000" i="1" dirty="0"/>
                  <a:t>time abstract </a:t>
                </a:r>
                <a:r>
                  <a:rPr lang="en-US" sz="2000" i="1" dirty="0" err="1"/>
                  <a:t>bisimilar</a:t>
                </a:r>
                <a:r>
                  <a:rPr lang="en-US" sz="2000" i="1" dirty="0"/>
                  <a:t> </a:t>
                </a:r>
                <a:r>
                  <a:rPr lang="en-US" sz="2000" dirty="0"/>
                  <a:t>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000" dirty="0"/>
                  <a:t>)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Proof. For each execution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000" dirty="0"/>
                  <a:t> inductively construct the corresponding execution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000" dirty="0"/>
                  <a:t>) and vice versa.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7639"/>
                <a:ext cx="10644266" cy="4525963"/>
              </a:xfrm>
              <a:blipFill>
                <a:blip r:embed="rId3"/>
                <a:stretch>
                  <a:fillRect l="-715" b="-2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43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successors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524001"/>
            <a:ext cx="4629150" cy="4067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7143750" y="1905000"/>
            <a:ext cx="3200400" cy="1066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The clock regions in blue are time successors of the clock region in red. </a:t>
            </a:r>
          </a:p>
        </p:txBody>
      </p:sp>
    </p:spTree>
    <p:extLst>
      <p:ext uri="{BB962C8B-B14F-4D97-AF65-F5344CB8AC3E}">
        <p14:creationId xmlns:p14="http://schemas.microsoft.com/office/powerpoint/2010/main" val="3400157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Region Automata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29" y="1524001"/>
            <a:ext cx="5080862" cy="1290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3657601"/>
            <a:ext cx="6219825" cy="2943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981200" y="1772484"/>
            <a:ext cx="1219200" cy="66591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 err="1"/>
              <a:t>ITA</a:t>
            </a:r>
            <a:endParaRPr lang="en-US" sz="3200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828800" y="2857500"/>
            <a:ext cx="3581400" cy="6858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200" dirty="0"/>
              <a:t>Corresponding FA</a:t>
            </a:r>
          </a:p>
        </p:txBody>
      </p:sp>
    </p:spTree>
    <p:extLst>
      <p:ext uri="{BB962C8B-B14F-4D97-AF65-F5344CB8AC3E}">
        <p14:creationId xmlns:p14="http://schemas.microsoft.com/office/powerpoint/2010/main" val="3766278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4" r="3399"/>
          <a:stretch/>
        </p:blipFill>
        <p:spPr bwMode="auto">
          <a:xfrm>
            <a:off x="3733801" y="1828801"/>
            <a:ext cx="5355771" cy="1628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00" y="4114800"/>
            <a:ext cx="2628900" cy="224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133600" y="2310229"/>
            <a:ext cx="1219200" cy="66591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 err="1"/>
              <a:t>ITA</a:t>
            </a:r>
            <a:endParaRPr lang="en-US" sz="3200" dirty="0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2155371" y="4800600"/>
            <a:ext cx="1905000" cy="10668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Clock Regions</a:t>
            </a:r>
          </a:p>
        </p:txBody>
      </p:sp>
    </p:spTree>
    <p:extLst>
      <p:ext uri="{BB962C8B-B14F-4D97-AF65-F5344CB8AC3E}">
        <p14:creationId xmlns:p14="http://schemas.microsoft.com/office/powerpoint/2010/main" val="633469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228600"/>
            <a:ext cx="4852988" cy="61005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147456" y="4237121"/>
                <a:ext cx="242617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|X|! 2</a:t>
                </a:r>
                <a:r>
                  <a:rPr lang="en-US" baseline="30000" dirty="0"/>
                  <a:t>|X|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latin typeface="Cambria Math"/>
                          </a:rPr>
                          <m:t>𝑧</m:t>
                        </m:r>
                        <m:r>
                          <a:rPr lang="en-US" i="1">
                            <a:latin typeface="Cambria Math"/>
                          </a:rPr>
                          <m:t>∈</m:t>
                        </m:r>
                        <m:r>
                          <a:rPr lang="en-US" i="1">
                            <a:latin typeface="Cambria Math"/>
                          </a:rPr>
                          <m:t>𝑋</m:t>
                        </m:r>
                      </m:sub>
                      <m:sup/>
                      <m:e>
                        <m:r>
                          <a:rPr lang="en-US" i="1">
                            <a:latin typeface="Cambria Math"/>
                          </a:rPr>
                          <m:t>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𝑧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  <a:ea typeface="Cambria Math"/>
                          </a:rPr>
                          <m:t>+2)</m:t>
                        </m:r>
                      </m:e>
                    </m:nary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7456" y="4237121"/>
                <a:ext cx="2426177" cy="369332"/>
              </a:xfrm>
              <a:prstGeom prst="rect">
                <a:avLst/>
              </a:prstGeom>
              <a:blipFill>
                <a:blip r:embed="rId3"/>
                <a:stretch>
                  <a:fillRect l="-1563" t="-110000" b="-16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/>
          <p:cNvSpPr/>
          <p:nvPr/>
        </p:nvSpPr>
        <p:spPr>
          <a:xfrm>
            <a:off x="2147455" y="4008521"/>
            <a:ext cx="1066800" cy="838200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638301" y="304800"/>
            <a:ext cx="3581400" cy="6858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200" dirty="0"/>
              <a:t>Corresponding FA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147455" y="5029200"/>
            <a:ext cx="2653145" cy="762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/>
              <a:t>Drastically increasing with the number of clocks</a:t>
            </a:r>
          </a:p>
        </p:txBody>
      </p:sp>
    </p:spTree>
    <p:extLst>
      <p:ext uri="{BB962C8B-B14F-4D97-AF65-F5344CB8AC3E}">
        <p14:creationId xmlns:p14="http://schemas.microsoft.com/office/powerpoint/2010/main" val="1678656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9CF5-1A57-9F17-4109-37B234267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1433D-1C20-7798-0EC8-03FA6A8F5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idea: If two states behave similarly---simulate each other---then a verification algorithm need not keep track of them separately</a:t>
            </a:r>
          </a:p>
          <a:p>
            <a:pPr lvl="1"/>
            <a:r>
              <a:rPr lang="en-US" dirty="0"/>
              <a:t>Related to notion of </a:t>
            </a:r>
            <a:r>
              <a:rPr lang="en-US" b="1" dirty="0"/>
              <a:t>indistinguishability</a:t>
            </a:r>
          </a:p>
          <a:p>
            <a:r>
              <a:rPr lang="en-US" dirty="0"/>
              <a:t>Big savings in memory and computation</a:t>
            </a:r>
          </a:p>
          <a:p>
            <a:r>
              <a:rPr lang="en-US" dirty="0"/>
              <a:t>Many generalizations</a:t>
            </a:r>
          </a:p>
          <a:p>
            <a:pPr lvl="1"/>
            <a:r>
              <a:rPr lang="en-US" dirty="0"/>
              <a:t>Simulation (one way containment) as opposed to bi-simulation</a:t>
            </a:r>
          </a:p>
          <a:p>
            <a:pPr lvl="1"/>
            <a:r>
              <a:rPr lang="en-US" dirty="0"/>
              <a:t>Simulation-like relations for stability (not just reachability) and other kinds of requirements</a:t>
            </a:r>
          </a:p>
          <a:p>
            <a:pPr lvl="1"/>
            <a:r>
              <a:rPr lang="en-US" dirty="0"/>
              <a:t>Computing simulations offline vs online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7517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Classes of Hybrid Automata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4600" y="1600200"/>
            <a:ext cx="7696200" cy="5257800"/>
          </a:xfrm>
        </p:spPr>
        <p:txBody>
          <a:bodyPr>
            <a:normAutofit/>
          </a:bodyPr>
          <a:lstStyle/>
          <a:p>
            <a:pPr lvl="1"/>
            <a:r>
              <a:rPr lang="en-US" dirty="0">
                <a:sym typeface="Wingdings" pitchFamily="2" charset="2"/>
              </a:rPr>
              <a:t>Timed Automata </a:t>
            </a:r>
            <a:r>
              <a:rPr lang="en-US" dirty="0">
                <a:sym typeface="Wingdings"/>
              </a:rPr>
              <a:t> </a:t>
            </a:r>
            <a:endParaRPr lang="en-US" dirty="0">
              <a:sym typeface="Wingdings" pitchFamily="2" charset="2"/>
            </a:endParaRPr>
          </a:p>
          <a:p>
            <a:pPr lvl="1"/>
            <a:r>
              <a:rPr lang="en-US" dirty="0">
                <a:sym typeface="Wingdings" pitchFamily="2" charset="2"/>
              </a:rPr>
              <a:t>Rational time automata</a:t>
            </a:r>
          </a:p>
          <a:p>
            <a:pPr lvl="1"/>
            <a:r>
              <a:rPr lang="en-US" dirty="0" err="1">
                <a:sym typeface="Wingdings" pitchFamily="2" charset="2"/>
              </a:rPr>
              <a:t>Multirate</a:t>
            </a:r>
            <a:r>
              <a:rPr lang="en-US" dirty="0">
                <a:sym typeface="Wingdings" pitchFamily="2" charset="2"/>
              </a:rPr>
              <a:t> automata</a:t>
            </a:r>
          </a:p>
          <a:p>
            <a:pPr lvl="1"/>
            <a:r>
              <a:rPr lang="en-US" dirty="0">
                <a:sym typeface="Wingdings" pitchFamily="2" charset="2"/>
              </a:rPr>
              <a:t>Rectangular Initialized HA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pPr lvl="1"/>
            <a:r>
              <a:rPr lang="en-US" dirty="0">
                <a:sym typeface="Wingdings" pitchFamily="2" charset="2"/>
              </a:rPr>
              <a:t>Rectangular HA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pPr lvl="1"/>
            <a:r>
              <a:rPr lang="en-US" dirty="0"/>
              <a:t>Linear HA 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Nonlinear HA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971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Clocks and </a:t>
            </a:r>
            <a:r>
              <a:rPr lang="en-US" b="1" dirty="0"/>
              <a:t>Rational</a:t>
            </a:r>
            <a:r>
              <a:rPr lang="en-US" dirty="0"/>
              <a:t> Clock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A </a:t>
                </a:r>
                <a:r>
                  <a:rPr lang="en-US" b="1" dirty="0"/>
                  <a:t>clock variable </a:t>
                </a:r>
                <a:r>
                  <a:rPr lang="en-US" dirty="0"/>
                  <a:t>x is a continuous (analog) variable of type real such that along any trajectory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𝜏</m:t>
                    </m:r>
                  </m:oMath>
                </a14:m>
                <a:r>
                  <a:rPr lang="en-US" dirty="0"/>
                  <a:t> of x, for all 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𝜏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𝑑𝑜𝑚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𝜏</m:t>
                        </m:r>
                        <m:r>
                          <a:rPr lang="en-US" b="0" i="1" smtClean="0">
                            <a:latin typeface="Cambria Math"/>
                          </a:rPr>
                          <m:t>↓</m:t>
                        </m:r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𝑡</m:t>
                    </m:r>
                  </m:oMath>
                </a14:m>
                <a:r>
                  <a:rPr lang="en-US" dirty="0"/>
                  <a:t>. </a:t>
                </a:r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For a set X of clock variables,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Φ</m:t>
                    </m:r>
                  </m:oMath>
                </a14:m>
                <a:r>
                  <a:rPr lang="en-US" dirty="0"/>
                  <a:t>(X) of </a:t>
                </a:r>
                <a:r>
                  <a:rPr lang="en-US" b="1" i="1" dirty="0"/>
                  <a:t>rational</a:t>
                </a:r>
                <a:r>
                  <a:rPr lang="en-US" b="1" dirty="0"/>
                  <a:t> clock constraints </a:t>
                </a:r>
                <a:r>
                  <a:rPr lang="en-US" dirty="0"/>
                  <a:t>are expressions defined by the syntax: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dirty="0"/>
                  <a:t>g ::= 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≤</m:t>
                    </m:r>
                    <m:r>
                      <a:rPr lang="en-US" b="0" i="1" smtClean="0">
                        <a:latin typeface="Cambria Math"/>
                      </a:rPr>
                      <m:t>𝑞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  <m:r>
                          <a:rPr lang="en-US" b="0" i="1" smtClean="0">
                            <a:latin typeface="Cambria Math"/>
                          </a:rPr>
                          <m:t>≥</m:t>
                        </m:r>
                        <m:r>
                          <a:rPr lang="en-US" b="0" i="1" smtClean="0">
                            <a:latin typeface="Cambria Math"/>
                          </a:rPr>
                          <m:t>𝑞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 ¬ 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r>
                      <a:rPr lang="en-US" b="0" i="1" smtClean="0">
                        <a:latin typeface="Cambria Math"/>
                      </a:rPr>
                      <m:t>  |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∧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𝑋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</a:rPr>
                      <m:t>𝑎𝑛𝑑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</a:rPr>
                      <m:t>𝑞</m:t>
                    </m:r>
                    <m:r>
                      <a:rPr lang="en-US" b="0" i="1" smtClean="0">
                        <a:latin typeface="Cambria Math"/>
                      </a:rPr>
                      <m:t>∈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ℚ</m:t>
                    </m:r>
                  </m:oMath>
                </a14:m>
                <a:endParaRPr lang="en-US" b="0" dirty="0">
                  <a:ea typeface="Cambria Math"/>
                </a:endParaRPr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Examples: x = 10.125; 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∈</m:t>
                    </m:r>
                  </m:oMath>
                </a14:m>
                <a:r>
                  <a:rPr lang="en-US" dirty="0"/>
                  <a:t> [2.99, 5); true are valid rational clock constraints</a:t>
                </a:r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Semantics of clock constraints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[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r>
                      <a:rPr lang="en-US" b="0" i="1" smtClean="0">
                        <a:latin typeface="Cambria Math"/>
                      </a:rPr>
                      <m:t>]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Lecture Slides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en-US" dirty="0"/>
              <a:t>Sayan Mitra</a:t>
            </a:r>
            <a:r>
              <a:rPr lang="de-DE" dirty="0"/>
              <a:t> </a:t>
            </a:r>
            <a:r>
              <a:rPr lang="de-DE" dirty="0" err="1"/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704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1. Rational Timed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Definition. </a:t>
                </a:r>
                <a:r>
                  <a:rPr lang="en-US" dirty="0"/>
                  <a:t>A </a:t>
                </a:r>
                <a:r>
                  <a:rPr lang="en-US" b="1" i="1" dirty="0"/>
                  <a:t>rational timed automaton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r>
                  <a:rPr lang="en-US" dirty="0"/>
                  <a:t>is a HA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〈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</a:rPr>
                      <m:t>𝐴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:r>
                  <a:rPr lang="en-US" dirty="0"/>
                  <a:t>V = 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𝑙𝑜𝑐</m:t>
                        </m:r>
                      </m:e>
                    </m:d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𝑋</m:t>
                    </m:r>
                  </m:oMath>
                </a14:m>
                <a:r>
                  <a:rPr lang="en-US" dirty="0"/>
                  <a:t> is a set of n clocks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𝑙</m:t>
                    </m:r>
                  </m:oMath>
                </a14:m>
                <a:r>
                  <a:rPr lang="en-US" dirty="0"/>
                  <a:t> is a discrete state variable of finite type Ł</a:t>
                </a:r>
                <a:endParaRPr lang="en-US" baseline="-25000" dirty="0"/>
              </a:p>
              <a:p>
                <a:pPr lvl="1"/>
                <a:r>
                  <a:rPr lang="en-US" dirty="0"/>
                  <a:t>A is a finite set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dirty="0"/>
                  <a:t>is a set of transitions such that </a:t>
                </a:r>
              </a:p>
              <a:p>
                <a:pPr lvl="2"/>
                <a:r>
                  <a:rPr lang="en-US" dirty="0"/>
                  <a:t>The guards are described by </a:t>
                </a:r>
                <a:r>
                  <a:rPr lang="en-US" b="1" dirty="0">
                    <a:solidFill>
                      <a:srgbClr val="00B050"/>
                    </a:solidFill>
                  </a:rPr>
                  <a:t>rational </a:t>
                </a:r>
                <a:r>
                  <a:rPr lang="en-US" dirty="0"/>
                  <a:t>clock constraings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Φ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𝑋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  <m:r>
                          <a:rPr lang="en-US" b="0" i="1" smtClean="0">
                            <a:latin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/>
                          </a:rPr>
                          <m:t>𝑙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−</m:t>
                    </m:r>
                    <m:r>
                      <a:rPr lang="en-US" b="0" i="1" smtClean="0">
                        <a:latin typeface="Cambria Math"/>
                      </a:rPr>
                      <m:t>𝑎</m:t>
                    </m:r>
                    <m:r>
                      <a:rPr lang="en-US" b="0" i="1" smtClean="0">
                        <a:latin typeface="Cambria Math"/>
                      </a:rPr>
                      <m:t>→</m:t>
                    </m:r>
                    <m:d>
                      <m:dPr>
                        <m:begChr m:val="〈"/>
                        <m:endChr m:val="〉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implies either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𝑥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/>
                  <a:t> set of clock trajectories for the clock variables in X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798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1" dirty="0">
                <a:solidFill>
                  <a:srgbClr val="00B0F0"/>
                </a:solidFill>
              </a:rPr>
              <a:t>Rational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dirty="0"/>
              <a:t>Light switch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1981200" y="1570038"/>
                <a:ext cx="6858000" cy="4525963"/>
              </a:xfrm>
            </p:spPr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Switch can be turned on whenever at least 2.25 time units have elapsed since the last turn off or on. Switches off automatically 15.5 time units after the last on.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automaton </a:t>
                </a:r>
                <a:r>
                  <a:rPr lang="en-US" dirty="0"/>
                  <a:t>Switch</a:t>
                </a:r>
              </a:p>
              <a:p>
                <a:pPr marL="0" indent="0">
                  <a:buNone/>
                </a:pPr>
                <a:r>
                  <a:rPr lang="en-US" b="1" dirty="0"/>
                  <a:t>  internal </a:t>
                </a:r>
                <a:r>
                  <a:rPr lang="en-US" dirty="0"/>
                  <a:t>push; pop</a:t>
                </a:r>
              </a:p>
              <a:p>
                <a:pPr marL="0" indent="0">
                  <a:buNone/>
                </a:pPr>
                <a:r>
                  <a:rPr lang="en-US" b="1" dirty="0"/>
                  <a:t>    variables</a:t>
                </a:r>
              </a:p>
              <a:p>
                <a:pPr marL="0" indent="0">
                  <a:buNone/>
                </a:pPr>
                <a:r>
                  <a:rPr lang="en-US" b="1" dirty="0"/>
                  <a:t>       internal </a:t>
                </a:r>
                <a:r>
                  <a:rPr lang="en-US" dirty="0"/>
                  <a:t>x, y:Real := 0, </a:t>
                </a:r>
                <a:r>
                  <a:rPr lang="en-US" dirty="0" err="1"/>
                  <a:t>loc</a:t>
                </a:r>
                <a:r>
                  <a:rPr lang="en-US" dirty="0"/>
                  <a:t>:{on,off} := off</a:t>
                </a:r>
              </a:p>
              <a:p>
                <a:pPr marL="0" indent="0">
                  <a:buNone/>
                </a:pPr>
                <a:r>
                  <a:rPr lang="en-US" b="1" dirty="0"/>
                  <a:t>     transitions</a:t>
                </a:r>
              </a:p>
              <a:p>
                <a:pPr marL="0" indent="0">
                  <a:buNone/>
                </a:pPr>
                <a:r>
                  <a:rPr lang="en-US" dirty="0"/>
                  <a:t>        push</a:t>
                </a:r>
              </a:p>
              <a:p>
                <a:pPr marL="0" indent="0">
                  <a:buNone/>
                </a:pPr>
                <a:r>
                  <a:rPr lang="en-US" b="1" dirty="0"/>
                  <a:t>           pre </a:t>
                </a:r>
                <a:r>
                  <a:rPr lang="en-US" dirty="0"/>
                  <a:t>x &gt;=2.25</a:t>
                </a:r>
              </a:p>
              <a:p>
                <a:pPr marL="0" indent="0">
                  <a:buNone/>
                </a:pPr>
                <a:r>
                  <a:rPr lang="en-US" b="1" dirty="0"/>
                  <a:t>           eff if </a:t>
                </a:r>
                <a:r>
                  <a:rPr lang="en-US" dirty="0" err="1"/>
                  <a:t>loc</a:t>
                </a:r>
                <a:r>
                  <a:rPr lang="en-US" dirty="0"/>
                  <a:t> = on </a:t>
                </a:r>
                <a:r>
                  <a:rPr lang="en-US" b="1" dirty="0"/>
                  <a:t>then </a:t>
                </a:r>
                <a:r>
                  <a:rPr lang="en-US" dirty="0"/>
                  <a:t>y := 0 </a:t>
                </a:r>
                <a:r>
                  <a:rPr lang="en-US" b="1" dirty="0"/>
                  <a:t>fi; </a:t>
                </a:r>
                <a:r>
                  <a:rPr lang="en-US" dirty="0"/>
                  <a:t>x := 0; </a:t>
                </a:r>
                <a:r>
                  <a:rPr lang="en-US" dirty="0" err="1"/>
                  <a:t>loc</a:t>
                </a:r>
                <a:r>
                  <a:rPr lang="en-US" dirty="0"/>
                  <a:t> := off</a:t>
                </a:r>
              </a:p>
              <a:p>
                <a:pPr marL="0" indent="0">
                  <a:buNone/>
                </a:pPr>
                <a:r>
                  <a:rPr lang="en-US" dirty="0"/>
                  <a:t>        pop</a:t>
                </a:r>
              </a:p>
              <a:p>
                <a:pPr marL="0" indent="0">
                  <a:buNone/>
                </a:pPr>
                <a:r>
                  <a:rPr lang="en-US" b="1" dirty="0"/>
                  <a:t>           pre </a:t>
                </a:r>
                <a:r>
                  <a:rPr lang="en-US" dirty="0"/>
                  <a:t>y = 15.5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  <a:ea typeface="Cambria Math"/>
                      </a:rPr>
                      <m:t>∧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loc</a:t>
                </a:r>
                <a:r>
                  <a:rPr lang="en-US" dirty="0"/>
                  <a:t> = off</a:t>
                </a:r>
              </a:p>
              <a:p>
                <a:pPr marL="0" indent="0">
                  <a:buNone/>
                </a:pPr>
                <a:r>
                  <a:rPr lang="en-US" b="1" dirty="0"/>
                  <a:t>           eff </a:t>
                </a:r>
                <a:r>
                  <a:rPr lang="en-US" dirty="0"/>
                  <a:t>x := 0</a:t>
                </a:r>
              </a:p>
              <a:p>
                <a:pPr marL="0" indent="0">
                  <a:buNone/>
                </a:pPr>
                <a:r>
                  <a:rPr lang="en-US" b="1" dirty="0"/>
                  <a:t>     trajectories</a:t>
                </a:r>
              </a:p>
              <a:p>
                <a:pPr marL="0" indent="0">
                  <a:buNone/>
                </a:pPr>
                <a:r>
                  <a:rPr lang="en-US" b="1" dirty="0"/>
                  <a:t>        invariant </a:t>
                </a:r>
                <a:r>
                  <a:rPr lang="en-US" dirty="0" err="1"/>
                  <a:t>loc</a:t>
                </a:r>
                <a:r>
                  <a:rPr lang="en-US" dirty="0"/>
                  <a:t> = on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/>
                        <a:ea typeface="Cambria Math"/>
                      </a:rPr>
                      <m:t>∨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loc</a:t>
                </a:r>
                <a:r>
                  <a:rPr lang="en-US" dirty="0"/>
                  <a:t> = off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        stop when </a:t>
                </a:r>
                <a:r>
                  <a:rPr lang="en-US" dirty="0"/>
                  <a:t>y = 15.5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∧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loc</a:t>
                </a:r>
                <a:r>
                  <a:rPr lang="en-US" dirty="0"/>
                  <a:t> = off</a:t>
                </a:r>
              </a:p>
              <a:p>
                <a:pPr marL="0" indent="0">
                  <a:buNone/>
                </a:pPr>
                <a:r>
                  <a:rPr lang="es-ES" b="1" dirty="0"/>
                  <a:t>        </a:t>
                </a:r>
                <a:r>
                  <a:rPr lang="es-ES" b="1" dirty="0" err="1"/>
                  <a:t>evolve</a:t>
                </a:r>
                <a:r>
                  <a:rPr lang="es-ES" b="1" dirty="0"/>
                  <a:t> </a:t>
                </a:r>
                <a:r>
                  <a:rPr lang="es-ES" dirty="0"/>
                  <a:t>d(x) = 1; d(y) = 1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981200" y="1570038"/>
                <a:ext cx="6858000" cy="4525963"/>
              </a:xfrm>
              <a:blipFill>
                <a:blip r:embed="rId2"/>
                <a:stretch>
                  <a:fillRect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4572000"/>
            <a:ext cx="3619500" cy="1666712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96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Control State (Location) Reachability Problem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an RTA, check if a particular location is reachable from the initial states</a:t>
            </a:r>
          </a:p>
          <a:p>
            <a:r>
              <a:rPr lang="en-US" dirty="0"/>
              <a:t>Is problem decidable? </a:t>
            </a:r>
          </a:p>
          <a:p>
            <a:r>
              <a:rPr lang="en-US" dirty="0"/>
              <a:t>Yes</a:t>
            </a:r>
          </a:p>
          <a:p>
            <a:r>
              <a:rPr lang="en-US" dirty="0"/>
              <a:t>Key idea: </a:t>
            </a:r>
          </a:p>
          <a:p>
            <a:pPr lvl="1"/>
            <a:r>
              <a:rPr lang="en-US" dirty="0"/>
              <a:t>Construct a ITA that is time-abstract </a:t>
            </a:r>
            <a:r>
              <a:rPr lang="en-US" dirty="0" err="1"/>
              <a:t>bisimilar</a:t>
            </a:r>
            <a:r>
              <a:rPr lang="en-US" dirty="0"/>
              <a:t> to the given RTA</a:t>
            </a:r>
          </a:p>
          <a:p>
            <a:pPr lvl="1"/>
            <a:r>
              <a:rPr lang="en-US" dirty="0"/>
              <a:t>Check CSR for ITA</a:t>
            </a:r>
          </a:p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948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Construction of ITA from RTA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Multiply all rational constants by a factor q that make them integral</a:t>
                </a:r>
              </a:p>
              <a:p>
                <a:r>
                  <a:rPr lang="en-US" dirty="0"/>
                  <a:t>Make d(x) = q for all the clocks</a:t>
                </a:r>
              </a:p>
              <a:p>
                <a:endParaRPr lang="en-US" dirty="0"/>
              </a:p>
              <a:p>
                <a:r>
                  <a:rPr lang="en-US" dirty="0"/>
                  <a:t>RTA Switch is </a:t>
                </a:r>
                <a:r>
                  <a:rPr lang="en-US" dirty="0" err="1"/>
                  <a:t>bisimilar</a:t>
                </a:r>
                <a:r>
                  <a:rPr lang="en-US" dirty="0"/>
                  <a:t> to ITA </a:t>
                </a:r>
                <a:r>
                  <a:rPr lang="en-US" dirty="0" err="1"/>
                  <a:t>Iswitch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Simulation relation R is given by </a:t>
                </a:r>
              </a:p>
              <a:p>
                <a:r>
                  <a:rPr lang="en-US" dirty="0"/>
                  <a:t>(</a:t>
                </a:r>
                <a:r>
                  <a:rPr lang="en-US" b="1" dirty="0" err="1"/>
                  <a:t>u,s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𝑅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:r>
                  <a:rPr lang="en-US" b="1" dirty="0" err="1"/>
                  <a:t>u.</a:t>
                </a:r>
                <a:r>
                  <a:rPr lang="en-US" dirty="0" err="1"/>
                  <a:t>x</a:t>
                </a:r>
                <a:r>
                  <a:rPr lang="en-US" dirty="0"/>
                  <a:t> = 4 </a:t>
                </a:r>
                <a:r>
                  <a:rPr lang="en-US" b="1" dirty="0" err="1"/>
                  <a:t>s.</a:t>
                </a:r>
                <a:r>
                  <a:rPr lang="en-US" dirty="0" err="1"/>
                  <a:t>x</a:t>
                </a:r>
                <a:r>
                  <a:rPr lang="en-US" dirty="0"/>
                  <a:t> and </a:t>
                </a:r>
                <a:r>
                  <a:rPr lang="en-US" b="1" dirty="0" err="1"/>
                  <a:t>u.</a:t>
                </a:r>
                <a:r>
                  <a:rPr lang="en-US" dirty="0" err="1"/>
                  <a:t>y</a:t>
                </a:r>
                <a:r>
                  <a:rPr lang="en-US" dirty="0"/>
                  <a:t> = 4 </a:t>
                </a:r>
                <a:r>
                  <a:rPr lang="en-US" b="1" dirty="0" err="1"/>
                  <a:t>s.</a:t>
                </a:r>
                <a:r>
                  <a:rPr lang="en-US" dirty="0" err="1"/>
                  <a:t>y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sz="half" idx="2"/>
              </p:nvPr>
            </p:nvSpPr>
            <p:spPr>
              <a:xfrm>
                <a:off x="5943600" y="1600201"/>
                <a:ext cx="4648200" cy="452596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automaton </a:t>
                </a:r>
                <a:r>
                  <a:rPr lang="en-US" dirty="0" err="1"/>
                  <a:t>ISwitch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internal </a:t>
                </a:r>
                <a:r>
                  <a:rPr lang="en-US" dirty="0"/>
                  <a:t>push; pop</a:t>
                </a:r>
              </a:p>
              <a:p>
                <a:pPr marL="0" indent="0">
                  <a:buNone/>
                </a:pPr>
                <a:r>
                  <a:rPr lang="en-US" b="1" dirty="0"/>
                  <a:t>variables</a:t>
                </a:r>
              </a:p>
              <a:p>
                <a:pPr marL="0" indent="0">
                  <a:buNone/>
                </a:pPr>
                <a:r>
                  <a:rPr lang="en-US" b="1" dirty="0"/>
                  <a:t>   internal </a:t>
                </a:r>
                <a:r>
                  <a:rPr lang="en-US" dirty="0"/>
                  <a:t>x, y:Real := 0, </a:t>
                </a:r>
                <a:r>
                  <a:rPr lang="en-US" dirty="0" err="1"/>
                  <a:t>loc</a:t>
                </a:r>
                <a:r>
                  <a:rPr lang="en-US" dirty="0"/>
                  <a:t>:{on,off} := off</a:t>
                </a:r>
              </a:p>
              <a:p>
                <a:pPr marL="0" indent="0">
                  <a:buNone/>
                </a:pPr>
                <a:r>
                  <a:rPr lang="en-US" b="1" dirty="0"/>
                  <a:t>transitions</a:t>
                </a:r>
              </a:p>
              <a:p>
                <a:pPr marL="0" indent="0">
                  <a:buNone/>
                </a:pPr>
                <a:r>
                  <a:rPr lang="en-US" dirty="0"/>
                  <a:t>   push</a:t>
                </a:r>
              </a:p>
              <a:p>
                <a:pPr marL="0" indent="0">
                  <a:buNone/>
                </a:pPr>
                <a:r>
                  <a:rPr lang="en-US" b="1" dirty="0"/>
                  <a:t>      pre </a:t>
                </a:r>
                <a:r>
                  <a:rPr lang="en-US" dirty="0"/>
                  <a:t>x &gt;=  9</a:t>
                </a:r>
              </a:p>
              <a:p>
                <a:pPr marL="0" indent="0">
                  <a:buNone/>
                </a:pPr>
                <a:r>
                  <a:rPr lang="en-US" b="1" dirty="0"/>
                  <a:t>      eff if </a:t>
                </a:r>
                <a:r>
                  <a:rPr lang="en-US" dirty="0" err="1"/>
                  <a:t>loc</a:t>
                </a:r>
                <a:r>
                  <a:rPr lang="en-US" dirty="0"/>
                  <a:t> = on </a:t>
                </a:r>
                <a:r>
                  <a:rPr lang="en-US" b="1" dirty="0"/>
                  <a:t>then </a:t>
                </a:r>
                <a:r>
                  <a:rPr lang="en-US" dirty="0"/>
                  <a:t>y := 0 </a:t>
                </a:r>
                <a:r>
                  <a:rPr lang="en-US" b="1" dirty="0"/>
                  <a:t>fi; </a:t>
                </a:r>
                <a:r>
                  <a:rPr lang="en-US" dirty="0"/>
                  <a:t>x := 0; </a:t>
                </a:r>
                <a:r>
                  <a:rPr lang="en-US" dirty="0" err="1"/>
                  <a:t>loc</a:t>
                </a:r>
                <a:r>
                  <a:rPr lang="en-US" dirty="0"/>
                  <a:t> := off</a:t>
                </a:r>
              </a:p>
              <a:p>
                <a:pPr marL="0" indent="0">
                  <a:buNone/>
                </a:pPr>
                <a:r>
                  <a:rPr lang="en-US" dirty="0"/>
                  <a:t>    pop</a:t>
                </a:r>
              </a:p>
              <a:p>
                <a:pPr marL="0" indent="0">
                  <a:buNone/>
                </a:pPr>
                <a:r>
                  <a:rPr lang="en-US" b="1" dirty="0"/>
                  <a:t>       pre </a:t>
                </a:r>
                <a:r>
                  <a:rPr lang="en-US" dirty="0"/>
                  <a:t>y = 62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∧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loc</a:t>
                </a:r>
                <a:r>
                  <a:rPr lang="en-US" dirty="0"/>
                  <a:t> = off</a:t>
                </a:r>
              </a:p>
              <a:p>
                <a:pPr marL="0" indent="0">
                  <a:buNone/>
                </a:pPr>
                <a:r>
                  <a:rPr lang="en-US" b="1" dirty="0"/>
                  <a:t>       eff </a:t>
                </a:r>
                <a:r>
                  <a:rPr lang="en-US" dirty="0"/>
                  <a:t>x := 0</a:t>
                </a:r>
              </a:p>
              <a:p>
                <a:pPr marL="0" indent="0">
                  <a:buNone/>
                </a:pPr>
                <a:r>
                  <a:rPr lang="en-US" b="1" dirty="0"/>
                  <a:t>trajectories</a:t>
                </a:r>
              </a:p>
              <a:p>
                <a:pPr marL="0" indent="0">
                  <a:buNone/>
                </a:pPr>
                <a:r>
                  <a:rPr lang="en-US" b="1" dirty="0"/>
                  <a:t>    invariant </a:t>
                </a:r>
                <a:r>
                  <a:rPr lang="en-US" dirty="0" err="1"/>
                  <a:t>loc</a:t>
                </a:r>
                <a:r>
                  <a:rPr lang="en-US" dirty="0"/>
                  <a:t> = on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>
                        <a:latin typeface="Cambria Math"/>
                        <a:ea typeface="Cambria Math"/>
                      </a:rPr>
                      <m:t>∨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loc</a:t>
                </a:r>
                <a:r>
                  <a:rPr lang="en-US" dirty="0"/>
                  <a:t> = off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    stop when </a:t>
                </a:r>
                <a:r>
                  <a:rPr lang="en-US" dirty="0"/>
                  <a:t>y = 62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ea typeface="Cambria Math"/>
                      </a:rPr>
                      <m:t>∧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loc</a:t>
                </a:r>
                <a:r>
                  <a:rPr lang="en-US" dirty="0"/>
                  <a:t> = off</a:t>
                </a:r>
              </a:p>
              <a:p>
                <a:pPr marL="0" indent="0">
                  <a:buNone/>
                </a:pPr>
                <a:r>
                  <a:rPr lang="en-US" b="1" dirty="0"/>
                  <a:t>    </a:t>
                </a:r>
                <a:r>
                  <a:rPr lang="es-ES" b="1" dirty="0" err="1"/>
                  <a:t>evolve</a:t>
                </a:r>
                <a:r>
                  <a:rPr lang="es-ES" b="1" dirty="0"/>
                  <a:t> </a:t>
                </a:r>
                <a:r>
                  <a:rPr lang="es-ES" dirty="0"/>
                  <a:t>d(x) = 4; d(y) = 4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943600" y="1600201"/>
                <a:ext cx="4648200" cy="4525963"/>
              </a:xfrm>
              <a:blipFill>
                <a:blip r:embed="rId3"/>
                <a:stretch>
                  <a:fillRect l="-545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6940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Multi-Rate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b="1" dirty="0"/>
                  <a:t>Definition. </a:t>
                </a:r>
                <a:r>
                  <a:rPr lang="en-US" dirty="0"/>
                  <a:t>A </a:t>
                </a:r>
                <a:r>
                  <a:rPr lang="en-US" b="1" dirty="0" err="1">
                    <a:solidFill>
                      <a:srgbClr val="00B0F0"/>
                    </a:solidFill>
                  </a:rPr>
                  <a:t>multirate</a:t>
                </a:r>
                <a:r>
                  <a:rPr lang="en-US" b="1" dirty="0">
                    <a:solidFill>
                      <a:srgbClr val="00B0F0"/>
                    </a:solidFill>
                  </a:rPr>
                  <a:t> automaton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〈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</a:rPr>
                      <m:t>𝑄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</a:rPr>
                      <m:t>𝐴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V = 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𝑙𝑜𝑐</m:t>
                        </m:r>
                      </m:e>
                    </m:d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𝑋</m:t>
                    </m:r>
                  </m:oMath>
                </a14:m>
                <a:r>
                  <a:rPr lang="en-US" dirty="0"/>
                  <a:t> is a set of n </a:t>
                </a:r>
                <a:r>
                  <a:rPr lang="en-US" b="1" dirty="0">
                    <a:solidFill>
                      <a:srgbClr val="00B0F0"/>
                    </a:solidFill>
                  </a:rPr>
                  <a:t>continuous variables</a:t>
                </a:r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𝑙𝑜𝑐</m:t>
                    </m:r>
                  </m:oMath>
                </a14:m>
                <a:r>
                  <a:rPr lang="en-US" dirty="0"/>
                  <a:t> is a discrete state variable of finite type Ł</a:t>
                </a:r>
                <a:endParaRPr lang="en-US" baseline="-25000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is a finite set of actions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dirty="0"/>
                  <a:t>is a set of transitions such that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dirty="0"/>
                  <a:t>The guards are described by </a:t>
                </a:r>
                <a:r>
                  <a:rPr lang="en-US" b="1" dirty="0">
                    <a:solidFill>
                      <a:srgbClr val="00B0F0"/>
                    </a:solidFill>
                  </a:rPr>
                  <a:t>rational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/>
                  <a:t>clock constraings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Φ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𝑋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>
                  <a:lnSpc>
                    <a:spcPct val="12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  <m:r>
                          <a:rPr lang="en-US" b="0" i="1" smtClean="0">
                            <a:latin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/>
                          </a:rPr>
                          <m:t>𝑙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−</m:t>
                    </m:r>
                    <m:r>
                      <a:rPr lang="en-US" b="0" i="1" smtClean="0">
                        <a:latin typeface="Cambria Math"/>
                      </a:rPr>
                      <m:t>𝑎</m:t>
                    </m:r>
                    <m:r>
                      <a:rPr lang="en-US" b="0" i="1" smtClean="0">
                        <a:latin typeface="Cambria Math"/>
                      </a:rPr>
                      <m:t>→</m:t>
                    </m:r>
                    <m:d>
                      <m:dPr>
                        <m:begChr m:val="〈"/>
                        <m:endChr m:val="〉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implies </a:t>
                </a:r>
                <a:r>
                  <a:rPr lang="en-US" dirty="0">
                    <a:solidFill>
                      <a:schemeClr val="tx1"/>
                    </a:solidFill>
                  </a:rPr>
                  <a:t>either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/>
                      </a:rPr>
                      <m:t>𝑐</m:t>
                    </m:r>
                    <m:sSup>
                      <m:sSup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𝑜𝑟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/>
                      </a:rPr>
                      <m:t>𝑥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/>
                  <a:t> set of trajectories such that 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n-US" dirty="0"/>
                  <a:t>	for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𝑋</m:t>
                    </m:r>
                    <m:r>
                      <a:rPr lang="en-US" b="0" i="1" smtClean="0">
                        <a:latin typeface="Cambria Math"/>
                      </a:rPr>
                      <m:t> ∃</m:t>
                    </m:r>
                    <m:r>
                      <a:rPr lang="en-US" b="0" i="1" smtClean="0">
                        <a:latin typeface="Cambria Math"/>
                      </a:rPr>
                      <m:t>𝑘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</a:rPr>
                      <m:t>𝑠𝑢𝑐h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</a:rPr>
                      <m:t>𝑡h𝑎𝑡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</a:rPr>
                      <m:t>𝜏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b="0" i="1" smtClean="0">
                        <a:latin typeface="Cambria Math"/>
                      </a:rPr>
                      <m:t>, </m:t>
                    </m:r>
                    <m:r>
                      <a:rPr lang="en-US" b="0" i="1" smtClean="0">
                        <a:latin typeface="Cambria Math"/>
                      </a:rPr>
                      <m:t>𝑡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𝜏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𝑑𝑜𝑚</m:t>
                    </m:r>
                    <m:r>
                      <a:rPr lang="en-US" b="0" i="1" smtClean="0">
                        <a:latin typeface="Cambria Math"/>
                      </a:rPr>
                      <m:t>  </m:t>
                    </m:r>
                  </m:oMath>
                </a14:m>
                <a:endParaRPr lang="en-US" b="0" i="1" dirty="0">
                  <a:latin typeface="Cambria Math"/>
                </a:endParaRP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.</m:t>
                      </m:r>
                      <m:r>
                        <a:rPr lang="en-US" b="0" i="1" smtClean="0">
                          <a:latin typeface="Cambria Math"/>
                        </a:rPr>
                        <m:t>𝑥</m:t>
                      </m:r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.</m:t>
                      </m:r>
                      <m:r>
                        <a:rPr lang="en-US" b="0" i="1" smtClean="0">
                          <a:latin typeface="Cambria Math"/>
                        </a:rPr>
                        <m:t>𝑥</m:t>
                      </m:r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r>
                        <a:rPr lang="en-US" b="0" i="1" smtClean="0">
                          <a:latin typeface="Cambria Math"/>
                        </a:rPr>
                        <m:t>𝑘</m:t>
                      </m:r>
                      <m:r>
                        <a:rPr lang="en-US" b="0" i="1" smtClean="0">
                          <a:latin typeface="Cambria Math"/>
                        </a:rPr>
                        <m:t> </m:t>
                      </m:r>
                      <m:r>
                        <a:rPr lang="en-US" b="0" i="1" smtClean="0">
                          <a:latin typeface="Cambria Math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479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Control State (Location) Reachability Problem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an MRA, check if a particular location is reachable from the initial states</a:t>
            </a:r>
          </a:p>
          <a:p>
            <a:r>
              <a:rPr lang="en-US" dirty="0"/>
              <a:t>Is problem is decidable? Yes</a:t>
            </a:r>
          </a:p>
          <a:p>
            <a:r>
              <a:rPr lang="en-US" dirty="0"/>
              <a:t>Key idea: </a:t>
            </a:r>
          </a:p>
          <a:p>
            <a:pPr lvl="1"/>
            <a:r>
              <a:rPr lang="en-US" dirty="0"/>
              <a:t>Construct a RTA that is </a:t>
            </a:r>
            <a:r>
              <a:rPr lang="en-US" dirty="0" err="1"/>
              <a:t>bisimilar</a:t>
            </a:r>
            <a:r>
              <a:rPr lang="en-US" dirty="0"/>
              <a:t> to the given MRA</a:t>
            </a:r>
          </a:p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212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Multi-rate to rational TA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5332" y="1252477"/>
            <a:ext cx="5819775" cy="2200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6589" y="3657601"/>
            <a:ext cx="5838825" cy="2314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6933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Rectangular HA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019300" y="1219200"/>
                <a:ext cx="8496300" cy="50292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Definition. </a:t>
                </a:r>
                <a:r>
                  <a:rPr lang="en-US" sz="2000" dirty="0"/>
                  <a:t>An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rectangular hybrid automaton (RHA) </a:t>
                </a:r>
                <a:r>
                  <a:rPr lang="en-US" sz="2000" dirty="0"/>
                  <a:t>is a HA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/>
                        <a:ea typeface="Cambria Math"/>
                      </a:rPr>
                      <m:t>𝓐</m:t>
                    </m:r>
                    <m:r>
                      <a:rPr lang="en-US" sz="2000" b="1" i="1" dirty="0">
                        <a:latin typeface="Cambria Math" charset="0"/>
                        <a:ea typeface="Cambria Math"/>
                      </a:rPr>
                      <m:t>=⟨</m:t>
                    </m:r>
                    <m:r>
                      <a:rPr lang="en-US" sz="2000" i="1" dirty="0">
                        <a:latin typeface="Cambria Math" charset="0"/>
                        <a:ea typeface="Cambria Math"/>
                      </a:rPr>
                      <m:t>𝑉</m:t>
                    </m:r>
                    <m:r>
                      <a:rPr lang="en-US" sz="2000" i="1" dirty="0">
                        <a:latin typeface="Cambria Math" charset="0"/>
                        <a:ea typeface="Cambria Math"/>
                      </a:rPr>
                      <m:t>,</m:t>
                    </m:r>
                    <m:r>
                      <a:rPr lang="en-US" sz="2000" i="1" dirty="0">
                        <a:latin typeface="Cambria Math" charset="0"/>
                        <a:ea typeface="Cambria Math"/>
                      </a:rPr>
                      <m:t>𝐴</m:t>
                    </m:r>
                    <m:r>
                      <a:rPr lang="en-US" sz="2000" i="1" dirty="0">
                        <a:latin typeface="Cambria Math" charset="0"/>
                        <a:ea typeface="Cambria Math"/>
                      </a:rPr>
                      <m:t>,</m:t>
                    </m:r>
                  </m:oMath>
                </a14:m>
                <a:r>
                  <a:rPr lang="en-US" sz="20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sz="2000" i="1">
                        <a:latin typeface="Cambria Math" charset="0"/>
                        <a:ea typeface="Cambria Math"/>
                      </a:rPr>
                      <m:t>,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sz="2000" i="1">
                        <a:latin typeface="Cambria Math" charset="0"/>
                        <a:ea typeface="Cambria Math"/>
                      </a:rPr>
                      <m:t>⟩</m:t>
                    </m:r>
                  </m:oMath>
                </a14:m>
                <a:r>
                  <a:rPr lang="en-US" sz="2000" dirty="0"/>
                  <a:t>  where </a:t>
                </a:r>
              </a:p>
              <a:p>
                <a:pPr lvl="1"/>
                <a:r>
                  <a:rPr lang="en-US" sz="2000" dirty="0"/>
                  <a:t>V = X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𝑙𝑜𝑐</m:t>
                        </m:r>
                      </m:e>
                    </m:d>
                  </m:oMath>
                </a14:m>
                <a:r>
                  <a:rPr lang="en-US" sz="2000" dirty="0"/>
                  <a:t> , where X is a set of n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continuous variables</a:t>
                </a:r>
                <a:r>
                  <a:rPr lang="en-US" sz="2000" dirty="0">
                    <a:solidFill>
                      <a:srgbClr val="00B0F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charset="0"/>
                      </a:rPr>
                      <m:t>𝑙𝑜𝑐</m:t>
                    </m:r>
                  </m:oMath>
                </a14:m>
                <a:r>
                  <a:rPr lang="en-US" sz="2000" dirty="0"/>
                  <a:t> is a discrete state variable of finite type Ł</a:t>
                </a:r>
                <a:endParaRPr lang="en-US" sz="2000" baseline="-25000" dirty="0"/>
              </a:p>
              <a:p>
                <a:pPr lvl="1"/>
                <a:r>
                  <a:rPr lang="en-US" sz="2000" dirty="0"/>
                  <a:t>A is a finite set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sz="2000" i="1">
                        <a:latin typeface="Cambria Math" charset="0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charset="0"/>
                                <a:ea typeface="Cambria Math"/>
                              </a:rPr>
                              <m:t>∪</m:t>
                            </m:r>
                          </m:e>
                          <m:sub>
                            <m:r>
                              <a:rPr lang="en-US" sz="2000" i="1">
                                <a:latin typeface="Cambria Math" charset="0"/>
                                <a:ea typeface="Cambria Math"/>
                              </a:rPr>
                              <m:t>ℓ</m:t>
                            </m:r>
                          </m:sub>
                        </m:sSub>
                        <m:r>
                          <a:rPr lang="en-US" sz="2000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  <m:sub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sz="2000" dirty="0"/>
                  <a:t> set of trajectories for X</a:t>
                </a:r>
              </a:p>
              <a:p>
                <a:pPr lvl="2"/>
                <a:r>
                  <a:rPr lang="en-US" dirty="0"/>
                  <a:t>For each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m:rPr>
                        <m:lit/>
                      </m:rPr>
                      <a:rPr lang="en-US" i="1">
                        <a:latin typeface="Cambria Math" charset="0"/>
                      </a:rPr>
                      <m:t> </m:t>
                    </m:r>
                    <m:r>
                      <a:rPr lang="en-US" i="1">
                        <a:latin typeface="Cambria Math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  <a:ea typeface="Cambria Math"/>
                          </a:rPr>
                          <m:t>ℓ</m:t>
                        </m:r>
                      </m:sub>
                    </m:sSub>
                    <m:r>
                      <a:rPr lang="en-US" i="1">
                        <a:latin typeface="Cambria Math" charset="0"/>
                        <a:ea typeface="Cambria Math"/>
                      </a:rPr>
                      <m:t>, </m:t>
                    </m:r>
                    <m:r>
                      <a:rPr lang="en-US" i="1">
                        <a:latin typeface="Cambria Math" charset="0"/>
                        <a:ea typeface="Cambria Math"/>
                      </a:rPr>
                      <m:t>𝑥</m:t>
                    </m:r>
                    <m:r>
                      <a:rPr lang="en-US" i="1">
                        <a:latin typeface="Cambria Math" charset="0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 charset="0"/>
                        <a:ea typeface="Cambria Math"/>
                      </a:rPr>
                      <m:t>𝑋</m:t>
                    </m:r>
                  </m:oMath>
                </a14:m>
                <a:r>
                  <a:rPr lang="en-US" dirty="0"/>
                  <a:t> either (</a:t>
                </a:r>
                <a:r>
                  <a:rPr lang="en-US" dirty="0" err="1"/>
                  <a:t>i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dirty="0"/>
                  <a:t> or (ii)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ℓ1 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ℓ2 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Equivalently, (</a:t>
                </a:r>
                <a:r>
                  <a:rPr lang="en-US" dirty="0" err="1"/>
                  <a:t>i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a:rPr lang="en-US" i="1">
                        <a:latin typeface="Cambria Math" charset="0"/>
                      </a:rPr>
                      <m:t>(0)⌈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914400" lvl="2" indent="0">
                  <a:buNone/>
                </a:pPr>
                <a:r>
                  <a:rPr lang="en-US" dirty="0"/>
                  <a:t>	(ii)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a:rPr lang="en-US" i="1">
                        <a:latin typeface="Cambria Math" charset="0"/>
                      </a:rPr>
                      <m:t>(0)⌈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ℓ1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𝑡</m:t>
                    </m:r>
                    <m:r>
                      <a:rPr lang="en-US" i="1">
                        <a:latin typeface="Cambria Math" charset="0"/>
                      </a:rPr>
                      <m:t>≤</m:t>
                    </m:r>
                    <m:r>
                      <a:rPr lang="en-US" i="1">
                        <a:latin typeface="Cambria Math" charset="0"/>
                      </a:rPr>
                      <m:t>𝜏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≤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a:rPr lang="en-US" i="1">
                        <a:latin typeface="Cambria Math" charset="0"/>
                      </a:rPr>
                      <m:t>(0)⌈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is a set of transitions such that </a:t>
                </a:r>
              </a:p>
              <a:p>
                <a:pPr lvl="2"/>
                <a:r>
                  <a:rPr lang="en-US" dirty="0"/>
                  <a:t>Guards are described by </a:t>
                </a:r>
                <a:r>
                  <a:rPr lang="en-US" b="1" dirty="0">
                    <a:solidFill>
                      <a:srgbClr val="00B0F0"/>
                    </a:solidFill>
                  </a:rPr>
                  <a:t>rational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/>
                  <a:t>clock constraings  </a:t>
                </a:r>
              </a:p>
              <a:p>
                <a:pPr lvl="2"/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𝑙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𝑎</m:t>
                        </m:r>
                      </m:sub>
                    </m:sSub>
                    <m:d>
                      <m:dPr>
                        <m:begChr m:val="〈"/>
                        <m:endChr m:val="〉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𝑙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implies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 </m:t>
                    </m:r>
                    <m:r>
                      <a:rPr lang="en-US" i="1">
                        <a:latin typeface="Cambria Math" charset="0"/>
                      </a:rPr>
                      <m:t>𝑜𝑟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charset="0"/>
                      </a:rPr>
                      <m:t>∈[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19300" y="1219200"/>
                <a:ext cx="8496300" cy="5029200"/>
              </a:xfrm>
              <a:blipFill>
                <a:blip r:embed="rId2"/>
                <a:stretch>
                  <a:fillRect l="-596" t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948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CSR Decidable for RHA?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an RHA, check if a particular location is reachable from the initial states?</a:t>
            </a:r>
          </a:p>
          <a:p>
            <a:r>
              <a:rPr lang="en-US" dirty="0"/>
              <a:t>Is this problem decidable? </a:t>
            </a:r>
            <a:r>
              <a:rPr lang="en-US" dirty="0">
                <a:solidFill>
                  <a:srgbClr val="FF0000"/>
                </a:solidFill>
              </a:rPr>
              <a:t>No </a:t>
            </a:r>
          </a:p>
          <a:p>
            <a:pPr lvl="1"/>
            <a:r>
              <a:rPr lang="en-US" sz="2000" b="1" dirty="0"/>
              <a:t>[Henz95]</a:t>
            </a:r>
            <a:r>
              <a:rPr lang="en-US" sz="2000" dirty="0"/>
              <a:t> Thomas </a:t>
            </a:r>
            <a:r>
              <a:rPr lang="en-US" sz="2000" dirty="0" err="1"/>
              <a:t>Henzinger</a:t>
            </a:r>
            <a:r>
              <a:rPr lang="en-US" sz="2000" dirty="0"/>
              <a:t>, Peter </a:t>
            </a:r>
            <a:r>
              <a:rPr lang="en-US" sz="2000" dirty="0" err="1"/>
              <a:t>Kopke</a:t>
            </a:r>
            <a:r>
              <a:rPr lang="en-US" sz="2000" dirty="0"/>
              <a:t>, Anuj </a:t>
            </a:r>
            <a:r>
              <a:rPr lang="en-US" sz="2000" dirty="0" err="1"/>
              <a:t>Puri</a:t>
            </a:r>
            <a:r>
              <a:rPr lang="en-US" sz="2000" dirty="0"/>
              <a:t>, and Pravin </a:t>
            </a:r>
            <a:r>
              <a:rPr lang="en-US" sz="2000" dirty="0" err="1"/>
              <a:t>Varaiya</a:t>
            </a:r>
            <a:r>
              <a:rPr lang="en-US" sz="2000" dirty="0"/>
              <a:t>. </a:t>
            </a:r>
            <a:r>
              <a:rPr lang="en-US" sz="2000" dirty="0">
                <a:hlinkClick r:id="rId2"/>
              </a:rPr>
              <a:t>What's Decidable About Hybrid Automata?. Journal of Computer and System Sciences, pages 373–382. ACM Press, 1995. </a:t>
            </a:r>
            <a:endParaRPr lang="en-US" sz="2000" dirty="0"/>
          </a:p>
          <a:p>
            <a:pPr lvl="1"/>
            <a:r>
              <a:rPr lang="en-US" sz="2000" dirty="0"/>
              <a:t>CSR for RHA reduction to Halting problem for 2 counter machines</a:t>
            </a:r>
          </a:p>
          <a:p>
            <a:pPr lvl="1"/>
            <a:r>
              <a:rPr lang="en-US" sz="2000" dirty="0"/>
              <a:t>Halting problem for 2CM known to be undecidable</a:t>
            </a:r>
          </a:p>
          <a:p>
            <a:pPr lvl="1"/>
            <a:r>
              <a:rPr lang="en-US" sz="2000" dirty="0"/>
              <a:t>Reduction in next lecture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442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4. Initialized Rectangular HA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1219200"/>
                <a:ext cx="8534400" cy="50292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Definition. </a:t>
                </a:r>
                <a:r>
                  <a:rPr lang="en-US" sz="2000" b="1" i="1" dirty="0"/>
                  <a:t>An initialized rectangular hybrid automaton </a:t>
                </a:r>
                <a:r>
                  <a:rPr lang="en-US" sz="2000" b="1" dirty="0"/>
                  <a:t>(IRHA) </a:t>
                </a:r>
                <a:r>
                  <a:rPr lang="en-US" sz="2000" dirty="0"/>
                  <a:t>is a RHA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sz="2000" dirty="0"/>
                  <a:t>  where </a:t>
                </a:r>
              </a:p>
              <a:p>
                <a:pPr lvl="1"/>
                <a:r>
                  <a:rPr lang="en-US" sz="2000" dirty="0"/>
                  <a:t>V = X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𝑙𝑜𝑐</m:t>
                        </m:r>
                      </m:e>
                    </m:d>
                  </m:oMath>
                </a14:m>
                <a:r>
                  <a:rPr lang="en-US" sz="2000" dirty="0"/>
                  <a:t>, where  X is a set of n continuous variables and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𝑙𝑜𝑐</m:t>
                        </m:r>
                      </m:e>
                    </m:d>
                  </m:oMath>
                </a14:m>
                <a:r>
                  <a:rPr lang="en-US" sz="2000" dirty="0"/>
                  <a:t> is a discrete state variable of finite type Ł</a:t>
                </a:r>
                <a:endParaRPr lang="en-US" sz="2000" baseline="-25000" dirty="0"/>
              </a:p>
              <a:p>
                <a:pPr lvl="1"/>
                <a:r>
                  <a:rPr lang="en-US" sz="2000" dirty="0"/>
                  <a:t>A is a finite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  <a:ea typeface="Cambria Math"/>
                      </a:rPr>
                      <m:t>𝒯</m:t>
                    </m:r>
                    <m:r>
                      <a:rPr lang="en-US" sz="2000" i="1">
                        <a:latin typeface="Cambria Math" charset="0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charset="0"/>
                                <a:ea typeface="Cambria Math"/>
                              </a:rPr>
                              <m:t>∪</m:t>
                            </m:r>
                          </m:e>
                          <m:sub>
                            <m:r>
                              <a:rPr lang="en-US" sz="2000" i="1">
                                <a:latin typeface="Cambria Math" charset="0"/>
                                <a:ea typeface="Cambria Math"/>
                              </a:rPr>
                              <m:t>ℓ</m:t>
                            </m:r>
                          </m:sub>
                        </m:sSub>
                        <m:r>
                          <a:rPr lang="en-US" sz="2000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  <m:sub>
                        <m:r>
                          <a:rPr lang="en-US" sz="2000" i="1">
                            <a:latin typeface="Cambria Math" charset="0"/>
                            <a:ea typeface="Cambria Math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sz="2000" dirty="0"/>
                  <a:t> set of trajectories for X</a:t>
                </a:r>
              </a:p>
              <a:p>
                <a:pPr lvl="2"/>
                <a:r>
                  <a:rPr lang="en-US" dirty="0"/>
                  <a:t>For each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m:rPr>
                        <m:lit/>
                      </m:rPr>
                      <a:rPr lang="en-US" i="1">
                        <a:latin typeface="Cambria Math" charset="0"/>
                      </a:rPr>
                      <m:t> </m:t>
                    </m:r>
                    <m:r>
                      <a:rPr lang="en-US" i="1">
                        <a:latin typeface="Cambria Math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  <a:ea typeface="Cambria Math"/>
                          </a:rPr>
                          <m:t>ℓ</m:t>
                        </m:r>
                      </m:sub>
                    </m:sSub>
                    <m:r>
                      <a:rPr lang="en-US" i="1">
                        <a:latin typeface="Cambria Math" charset="0"/>
                        <a:ea typeface="Cambria Math"/>
                      </a:rPr>
                      <m:t>, </m:t>
                    </m:r>
                    <m:r>
                      <a:rPr lang="en-US" i="1">
                        <a:latin typeface="Cambria Math" charset="0"/>
                        <a:ea typeface="Cambria Math"/>
                      </a:rPr>
                      <m:t>𝑥</m:t>
                    </m:r>
                    <m:r>
                      <a:rPr lang="en-US" i="1">
                        <a:latin typeface="Cambria Math" charset="0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 charset="0"/>
                        <a:ea typeface="Cambria Math"/>
                      </a:rPr>
                      <m:t>𝑋</m:t>
                    </m:r>
                  </m:oMath>
                </a14:m>
                <a:r>
                  <a:rPr lang="en-US" dirty="0"/>
                  <a:t> either (</a:t>
                </a:r>
                <a:r>
                  <a:rPr lang="en-US" dirty="0" err="1"/>
                  <a:t>i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dirty="0"/>
                  <a:t> or (ii)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ℓ1 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ℓ2 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Equivalently, (</a:t>
                </a:r>
                <a:r>
                  <a:rPr lang="en-US" dirty="0" err="1"/>
                  <a:t>i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a:rPr lang="en-US" i="1">
                        <a:latin typeface="Cambria Math" charset="0"/>
                      </a:rPr>
                      <m:t>(0)⌈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914400" lvl="2" indent="0">
                  <a:buNone/>
                </a:pPr>
                <a:r>
                  <a:rPr lang="en-US" dirty="0"/>
                  <a:t>	(ii)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a:rPr lang="en-US" i="1">
                        <a:latin typeface="Cambria Math" charset="0"/>
                      </a:rPr>
                      <m:t>(0)⌈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ℓ1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𝑡</m:t>
                    </m:r>
                    <m:r>
                      <a:rPr lang="en-US" i="1">
                        <a:latin typeface="Cambria Math" charset="0"/>
                      </a:rPr>
                      <m:t>≤</m:t>
                    </m:r>
                    <m:r>
                      <a:rPr lang="en-US" i="1">
                        <a:latin typeface="Cambria Math" charset="0"/>
                      </a:rPr>
                      <m:t>𝜏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charset="0"/>
                      </a:rPr>
                      <m:t>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≤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𝜏</m:t>
                    </m:r>
                    <m:r>
                      <a:rPr lang="en-US" i="1">
                        <a:latin typeface="Cambria Math" charset="0"/>
                      </a:rPr>
                      <m:t>(0)⌈</m:t>
                    </m:r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ℓ2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  <a:ea typeface="Cambria Math"/>
                      </a:rPr>
                      <m:t>𝒟</m:t>
                    </m:r>
                    <m:r>
                      <a:rPr lang="en-US" sz="2000" i="1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is a set of transitions such that </a:t>
                </a:r>
              </a:p>
              <a:p>
                <a:pPr lvl="2"/>
                <a:r>
                  <a:rPr lang="en-US" dirty="0"/>
                  <a:t>Guards are described by </a:t>
                </a:r>
                <a:r>
                  <a:rPr lang="en-US" b="1" dirty="0">
                    <a:solidFill>
                      <a:srgbClr val="00B050"/>
                    </a:solidFill>
                  </a:rPr>
                  <a:t>rational </a:t>
                </a:r>
                <a:r>
                  <a:rPr lang="en-US" dirty="0"/>
                  <a:t>clock constraings  </a:t>
                </a:r>
              </a:p>
              <a:p>
                <a:pPr lvl="2"/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𝑙</m:t>
                        </m:r>
                      </m:e>
                    </m:d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𝑎</m:t>
                        </m:r>
                      </m:sub>
                    </m:sSub>
                    <m:d>
                      <m:dPr>
                        <m:begChr m:val="〈"/>
                        <m:endChr m:val="〉"/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𝑙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implies if dynamics changes from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ℓ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ℓ′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∈[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, otherwise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=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</a:p>
              <a:p>
                <a:pPr lvl="1"/>
                <a:endParaRPr lang="en-US" sz="2000" dirty="0"/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1219200"/>
                <a:ext cx="8534400" cy="5029200"/>
              </a:xfrm>
              <a:blipFill>
                <a:blip r:embed="rId2"/>
                <a:stretch>
                  <a:fillRect l="-743" t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272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Rectangular Initialized HA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/>
              <p:cNvSpPr/>
              <p:nvPr/>
            </p:nvSpPr>
            <p:spPr>
              <a:xfrm>
                <a:off x="3497070" y="1998138"/>
                <a:ext cx="1611961" cy="142596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600" dirty="0"/>
                  <a:t>1</a:t>
                </a:r>
              </a:p>
              <a:p>
                <a:pPr algn="ctr"/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charset="0"/>
                        </a:rPr>
                        <m:t>𝑑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Cambria Math" charset="0"/>
                            </a:rPr>
                            <m:t>k</m:t>
                          </m:r>
                        </m:e>
                        <m:sub>
                          <m:r>
                            <a:rPr lang="en-US" sz="160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charset="0"/>
                        </a:rPr>
                        <m:t>𝑑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Cambria Math" charset="0"/>
                            </a:rPr>
                            <m:t>k</m:t>
                          </m:r>
                        </m:e>
                        <m:sub>
                          <m:r>
                            <a:rPr lang="en-US" sz="1600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Oval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0" y="1998138"/>
                <a:ext cx="1611961" cy="142596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/>
              <p:cNvSpPr/>
              <p:nvPr/>
            </p:nvSpPr>
            <p:spPr>
              <a:xfrm>
                <a:off x="7535670" y="1998138"/>
                <a:ext cx="1611961" cy="142596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600" dirty="0"/>
                  <a:t>2</a:t>
                </a:r>
              </a:p>
              <a:p>
                <a:pPr algn="ctr"/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charset="0"/>
                        </a:rPr>
                        <m:t>𝑑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Cambria Math" charset="0"/>
                            </a:rPr>
                            <m:t>k</m:t>
                          </m:r>
                          <m:r>
                            <a:rPr lang="en-US" sz="1600">
                              <a:latin typeface="Cambria Math" charset="0"/>
                            </a:rPr>
                            <m:t>′</m:t>
                          </m:r>
                        </m:e>
                        <m:sub>
                          <m:r>
                            <a:rPr lang="en-US" sz="160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charset="0"/>
                        </a:rPr>
                        <m:t>𝑑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Cambria Math" charset="0"/>
                            </a:rPr>
                            <m:t>k</m:t>
                          </m:r>
                        </m:e>
                        <m:sub>
                          <m:r>
                            <a:rPr lang="en-US" sz="1600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Oval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670" y="1998138"/>
                <a:ext cx="1611961" cy="142596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/>
              <p:cNvSpPr/>
              <p:nvPr/>
            </p:nvSpPr>
            <p:spPr>
              <a:xfrm>
                <a:off x="5582873" y="4436538"/>
                <a:ext cx="1735958" cy="142596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600" dirty="0"/>
                  <a:t>3</a:t>
                </a:r>
              </a:p>
              <a:p>
                <a:pPr algn="ctr"/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charset="0"/>
                        </a:rPr>
                        <m:t>𝑑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charset="0"/>
                        </a:rPr>
                        <m:t>∈[</m:t>
                      </m:r>
                      <m:r>
                        <a:rPr lang="en-US" sz="1600" i="1">
                          <a:latin typeface="Cambria Math" charset="0"/>
                        </a:rPr>
                        <m:t>𝑎</m:t>
                      </m:r>
                      <m:r>
                        <a:rPr lang="en-US" sz="1600" i="1">
                          <a:latin typeface="Cambria Math" charset="0"/>
                        </a:rPr>
                        <m:t>,</m:t>
                      </m:r>
                      <m:r>
                        <a:rPr lang="en-US" sz="1600" i="1">
                          <a:latin typeface="Cambria Math" charset="0"/>
                        </a:rPr>
                        <m:t>𝑏</m:t>
                      </m:r>
                      <m:r>
                        <a:rPr lang="en-US" sz="1600" i="1"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charset="0"/>
                        </a:rPr>
                        <m:t>𝑑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Cambria Math" charset="0"/>
                            </a:rPr>
                            <m:t>k</m:t>
                          </m:r>
                        </m:e>
                        <m:sub>
                          <m:r>
                            <a:rPr lang="en-US" sz="1600">
                              <a:latin typeface="Cambria Math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Oval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873" y="4436538"/>
                <a:ext cx="1735958" cy="142596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/>
          <p:cNvCxnSpPr>
            <a:stCxn id="4" idx="7"/>
            <a:endCxn id="5" idx="1"/>
          </p:cNvCxnSpPr>
          <p:nvPr/>
        </p:nvCxnSpPr>
        <p:spPr>
          <a:xfrm rot="5400000" flipH="1" flipV="1">
            <a:off x="6322349" y="757582"/>
            <a:ext cx="12700" cy="2898771"/>
          </a:xfrm>
          <a:prstGeom prst="curvedConnector3">
            <a:avLst>
              <a:gd name="adj1" fmla="val 344431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5194491" y="1428526"/>
                <a:ext cx="2743514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charset="0"/>
                      </a:rPr>
                      <m:t>≥</m:t>
                    </m:r>
                    <m:r>
                      <a:rPr lang="en-US" sz="1600" i="1">
                        <a:latin typeface="Cambria Math" charset="0"/>
                      </a:rPr>
                      <m:t>𝐺</m:t>
                    </m:r>
                    <m:r>
                      <a:rPr lang="en-US" sz="1600" i="1">
                        <a:latin typeface="Cambria Math" charset="0"/>
                      </a:rPr>
                      <m:t>∧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charset="0"/>
                      </a:rPr>
                      <m:t>≤</m:t>
                    </m:r>
                    <m:r>
                      <a:rPr lang="en-US" sz="1600" i="1">
                        <a:latin typeface="Cambria Math" charset="0"/>
                      </a:rPr>
                      <m:t>𝐺</m:t>
                    </m:r>
                    <m:r>
                      <a:rPr lang="en-US" sz="1600" i="1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1600" dirty="0"/>
                  <a:t> Eff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charset="0"/>
                      </a:rPr>
                      <m:t>≔0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491" y="1428526"/>
                <a:ext cx="2743514" cy="584775"/>
              </a:xfrm>
              <a:prstGeom prst="rect">
                <a:avLst/>
              </a:prstGeom>
              <a:blipFill>
                <a:blip r:embed="rId5"/>
                <a:stretch>
                  <a:fillRect l="-922" t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urved Connector 9"/>
          <p:cNvCxnSpPr>
            <a:stCxn id="5" idx="5"/>
            <a:endCxn id="6" idx="6"/>
          </p:cNvCxnSpPr>
          <p:nvPr/>
        </p:nvCxnSpPr>
        <p:spPr>
          <a:xfrm rot="5400000">
            <a:off x="7148077" y="3386033"/>
            <a:ext cx="1934245" cy="1592733"/>
          </a:xfrm>
          <a:prstGeom prst="curved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/>
          <p:cNvCxnSpPr>
            <a:stCxn id="4" idx="3"/>
            <a:endCxn id="6" idx="2"/>
          </p:cNvCxnSpPr>
          <p:nvPr/>
        </p:nvCxnSpPr>
        <p:spPr>
          <a:xfrm rot="16200000" flipH="1">
            <a:off x="3690883" y="3257529"/>
            <a:ext cx="1934245" cy="1849738"/>
          </a:xfrm>
          <a:prstGeom prst="curved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2899232" y="4317733"/>
                <a:ext cx="1136669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Both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charset="0"/>
                      </a:rPr>
                      <m:t>, 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have to be reset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232" y="4317733"/>
                <a:ext cx="1136669" cy="1077218"/>
              </a:xfrm>
              <a:prstGeom prst="rect">
                <a:avLst/>
              </a:prstGeom>
              <a:blipFill>
                <a:blip r:embed="rId6"/>
                <a:stretch>
                  <a:fillRect l="-3333" t="-1163" r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urved Connector 16"/>
          <p:cNvCxnSpPr>
            <a:cxnSpLocks/>
            <a:stCxn id="6" idx="7"/>
            <a:endCxn id="5" idx="2"/>
          </p:cNvCxnSpPr>
          <p:nvPr/>
        </p:nvCxnSpPr>
        <p:spPr>
          <a:xfrm rot="5400000" flipH="1" flipV="1">
            <a:off x="6333016" y="3442714"/>
            <a:ext cx="1934245" cy="471063"/>
          </a:xfrm>
          <a:prstGeom prst="curved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8158130" y="5240326"/>
                <a:ext cx="205630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Eff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charset="0"/>
                      </a:rPr>
                      <m:t>, 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charset="0"/>
                      </a:rPr>
                      <m:t>∈[</m:t>
                    </m:r>
                    <m:r>
                      <a:rPr lang="en-US" sz="1600" i="1">
                        <a:latin typeface="Cambria Math" charset="0"/>
                      </a:rPr>
                      <m:t>𝑐</m:t>
                    </m:r>
                    <m:r>
                      <a:rPr lang="en-US" sz="1600" i="1">
                        <a:latin typeface="Cambria Math" charset="0"/>
                      </a:rPr>
                      <m:t>,</m:t>
                    </m:r>
                    <m:r>
                      <a:rPr lang="en-US" sz="1600" i="1">
                        <a:latin typeface="Cambria Math" charset="0"/>
                      </a:rPr>
                      <m:t>𝑑</m:t>
                    </m:r>
                    <m:r>
                      <a:rPr lang="en-US" sz="1600" i="1">
                        <a:latin typeface="Cambria Math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8130" y="5240326"/>
                <a:ext cx="2056300" cy="338554"/>
              </a:xfrm>
              <a:prstGeom prst="rect">
                <a:avLst/>
              </a:prstGeom>
              <a:blipFill>
                <a:blip r:embed="rId7"/>
                <a:stretch>
                  <a:fillRect l="-1840" t="-3571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387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CSR Decidable for IRHA?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an IRHA, check if a particular location is reachable from the initial states</a:t>
            </a:r>
          </a:p>
          <a:p>
            <a:r>
              <a:rPr lang="en-US" dirty="0"/>
              <a:t>Is this problem decidable? </a:t>
            </a:r>
            <a:r>
              <a:rPr lang="en-US" dirty="0">
                <a:solidFill>
                  <a:srgbClr val="00B0F0"/>
                </a:solidFill>
              </a:rPr>
              <a:t>Yes</a:t>
            </a:r>
          </a:p>
          <a:p>
            <a:r>
              <a:rPr lang="en-US" dirty="0"/>
              <a:t>Key idea: </a:t>
            </a:r>
          </a:p>
          <a:p>
            <a:pPr lvl="1"/>
            <a:r>
              <a:rPr lang="en-US" dirty="0"/>
              <a:t>Construct a 2n-dimensional </a:t>
            </a:r>
            <a:r>
              <a:rPr lang="en-US" b="1" dirty="0"/>
              <a:t>initialized m</a:t>
            </a:r>
            <a:r>
              <a:rPr lang="en-US" dirty="0"/>
              <a:t>ulti-rate automaton that is </a:t>
            </a:r>
            <a:r>
              <a:rPr lang="en-US" dirty="0" err="1"/>
              <a:t>bisimilar</a:t>
            </a:r>
            <a:r>
              <a:rPr lang="en-US" dirty="0"/>
              <a:t> to the given IRHA</a:t>
            </a:r>
          </a:p>
          <a:p>
            <a:pPr lvl="1"/>
            <a:r>
              <a:rPr lang="en-US" dirty="0"/>
              <a:t>Construct a ITA that is </a:t>
            </a:r>
            <a:r>
              <a:rPr lang="en-US" dirty="0" err="1"/>
              <a:t>bisimilar</a:t>
            </a:r>
            <a:r>
              <a:rPr lang="en-US" dirty="0"/>
              <a:t> to the Singular TA</a:t>
            </a:r>
          </a:p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4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IRHA to Singular HA conversion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half" idx="1"/>
          </p:nvPr>
        </p:nvSpPr>
        <p:spPr>
          <a:xfrm>
            <a:off x="1981200" y="1600201"/>
            <a:ext cx="83820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every variable create two variables---tracking the upper and lower bounds</a:t>
            </a:r>
          </a:p>
          <a:p>
            <a:endParaRPr lang="en-US" dirty="0"/>
          </a:p>
        </p:txBody>
      </p:sp>
      <p:pic>
        <p:nvPicPr>
          <p:cNvPr id="18" name="Content Placeholder 17"/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-46366" b="-46366"/>
          <a:stretch>
            <a:fillRect/>
          </a:stretch>
        </p:blipFill>
        <p:spPr>
          <a:xfrm>
            <a:off x="6477000" y="2438401"/>
            <a:ext cx="4038600" cy="4525963"/>
          </a:xfr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1828800" y="3329781"/>
              <a:ext cx="4495800" cy="27432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97184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2395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IRHA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MRA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;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3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Evolve: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)∈ [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Evolve: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dirty="0" smtClean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;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dirty="0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2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Eff: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2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Eff: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sub>
                                </m:sSub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Guard: </a:t>
                          </a:r>
                          <a14:m>
                            <m:oMath xmlns:m="http://schemas.openxmlformats.org/officeDocument/2006/math">
                              <m:r>
                                <a:rPr lang="it-IT" sz="1400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it-IT" sz="1400" dirty="0" smtClean="0">
                                  <a:latin typeface="Cambria Math" panose="02040503050406030204" pitchFamily="18" charset="0"/>
                                </a:rPr>
                                <m:t>≥ 5 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1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1400" dirty="0" err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sz="1400" dirty="0" err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  <m:r>
                                  <a:rPr lang="it-IT" sz="1400" dirty="0" smtClean="0"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it-IT" sz="1400" dirty="0">
                                    <a:latin typeface="Cambria Math" panose="02040503050406030204" pitchFamily="18" charset="0"/>
                                  </a:rPr>
                                  <m:t> 5</m:t>
                                </m:r>
                              </m:oMath>
                            </m:oMathPara>
                          </a14:m>
                          <a:endParaRPr lang="it-IT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1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400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sz="1400" dirty="0" err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it-IT" sz="1400" dirty="0">
                                  <a:latin typeface="Cambria Math" panose="02040503050406030204" pitchFamily="18" charset="0"/>
                                </a:rPr>
                                <m:t> 5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dirty="0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≥5</m:t>
                              </m:r>
                            </m:oMath>
                          </a14:m>
                          <a:r>
                            <a:rPr lang="it-IT" sz="1400" dirty="0"/>
                            <a:t> Eff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400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sz="1400" dirty="0" err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it-IT" sz="1400" dirty="0">
                                  <a:latin typeface="Cambria Math" panose="02040503050406030204" pitchFamily="18" charset="0"/>
                                </a:rPr>
                                <m:t> 5</m:t>
                              </m:r>
                            </m:oMath>
                          </a14:m>
                          <a:endParaRPr lang="it-IT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1828800" y="3329781"/>
              <a:ext cx="4495800" cy="27432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97184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2395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IRHA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MRA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5" t="-100000" r="-129677" b="-5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392" t="-100000" r="-1005" b="-53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5" t="-146341" r="-129677" b="-2878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392" t="-146341" r="-1005" b="-2878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5" t="-348276" r="-129677" b="-3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392" t="-348276" r="-1005" b="-3068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5" t="-448276" r="-129677" b="-2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392" t="-448276" r="-1005" b="-2068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5" t="-530000" r="-12967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392" t="-530000" r="-1005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392" t="-651724" r="-1005" b="-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121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IRHA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/>
              <p:cNvSpPr/>
              <p:nvPr/>
            </p:nvSpPr>
            <p:spPr>
              <a:xfrm>
                <a:off x="2590800" y="16002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1,3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∈[−3,−2]</m:t>
                      </m:r>
                    </m:oMath>
                  </m:oMathPara>
                </a14:m>
                <a:endParaRPr lang="en-US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Oval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1600200"/>
                <a:ext cx="2209800" cy="1524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/>
              <p:cNvSpPr/>
              <p:nvPr/>
            </p:nvSpPr>
            <p:spPr>
              <a:xfrm>
                <a:off x="2590800" y="45720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v2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−4,−2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∈[−3,−2]</m:t>
                      </m:r>
                    </m:oMath>
                  </m:oMathPara>
                </a14:m>
                <a:endParaRPr lang="en-US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" name="Oval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4572000"/>
                <a:ext cx="2209800" cy="1524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4" idx="4"/>
            <a:endCxn id="5" idx="0"/>
          </p:cNvCxnSpPr>
          <p:nvPr/>
        </p:nvCxnSpPr>
        <p:spPr>
          <a:xfrm>
            <a:off x="3695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159510" y="1034534"/>
                <a:ext cx="15361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≔0;</m:t>
                      </m:r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≔1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510" y="1034534"/>
                <a:ext cx="15361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747474" y="3472624"/>
                <a:ext cx="176061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≤5∧</m:t>
                      </m:r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≤−3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≔4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474" y="3472624"/>
                <a:ext cx="176061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/>
              <p:cNvSpPr/>
              <p:nvPr/>
            </p:nvSpPr>
            <p:spPr>
              <a:xfrm>
                <a:off x="7162800" y="45720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v3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−4,−2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∈[1,2]</m:t>
                      </m:r>
                    </m:oMath>
                  </m:oMathPara>
                </a14:m>
                <a:endParaRPr lang="en-US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0" name="Oval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4572000"/>
                <a:ext cx="2209800" cy="1524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>
            <a:stCxn id="5" idx="6"/>
            <a:endCxn id="10" idx="2"/>
          </p:cNvCxnSpPr>
          <p:nvPr/>
        </p:nvCxnSpPr>
        <p:spPr>
          <a:xfrm>
            <a:off x="4800600" y="5334000"/>
            <a:ext cx="23622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953001" y="4687670"/>
                <a:ext cx="10239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≤−5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≔−4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1" y="4687670"/>
                <a:ext cx="1023935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/>
              <p:cNvSpPr/>
              <p:nvPr/>
            </p:nvSpPr>
            <p:spPr>
              <a:xfrm>
                <a:off x="7162800" y="16002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v4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1,3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∈[1,2]</m:t>
                      </m:r>
                    </m:oMath>
                  </m:oMathPara>
                </a14:m>
                <a:endParaRPr lang="en-US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Oval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1600200"/>
                <a:ext cx="2209800" cy="1524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>
            <a:stCxn id="10" idx="0"/>
            <a:endCxn id="15" idx="4"/>
          </p:cNvCxnSpPr>
          <p:nvPr/>
        </p:nvCxnSpPr>
        <p:spPr>
          <a:xfrm flipV="1">
            <a:off x="8267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8382000" y="3472623"/>
                <a:ext cx="188243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≥−3∧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≤−</m:t>
                    </m:r>
                  </m:oMath>
                </a14:m>
                <a:r>
                  <a:rPr lang="en-US" i="1" dirty="0">
                    <a:latin typeface="Cambria Math"/>
                  </a:rPr>
                  <a:t>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∈[−1,−2]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3472623"/>
                <a:ext cx="1882438" cy="646331"/>
              </a:xfrm>
              <a:prstGeom prst="rect">
                <a:avLst/>
              </a:prstGeom>
              <a:blipFill>
                <a:blip r:embed="rId9"/>
                <a:stretch>
                  <a:fillRect t="-3846" r="-1342" b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>
            <a:stCxn id="15" idx="2"/>
            <a:endCxn id="4" idx="6"/>
          </p:cNvCxnSpPr>
          <p:nvPr/>
        </p:nvCxnSpPr>
        <p:spPr>
          <a:xfrm flipH="1">
            <a:off x="4800600" y="2362200"/>
            <a:ext cx="23622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227102" y="1715869"/>
                <a:ext cx="15091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≥0∧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</m:oMath>
                </a14:m>
                <a:r>
                  <a:rPr lang="en-US" i="1" dirty="0">
                    <a:latin typeface="Cambria Math"/>
                  </a:rPr>
                  <a:t>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≔1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102" y="1715869"/>
                <a:ext cx="1509196" cy="646331"/>
              </a:xfrm>
              <a:prstGeom prst="rect">
                <a:avLst/>
              </a:prstGeom>
              <a:blipFill>
                <a:blip r:embed="rId10"/>
                <a:stretch>
                  <a:fillRect t="-3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endCxn id="4" idx="0"/>
          </p:cNvCxnSpPr>
          <p:nvPr/>
        </p:nvCxnSpPr>
        <p:spPr>
          <a:xfrm>
            <a:off x="3695700" y="838200"/>
            <a:ext cx="0" cy="762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3181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563558"/>
          </a:xfrm>
        </p:spPr>
        <p:txBody>
          <a:bodyPr>
            <a:normAutofit fontScale="90000"/>
          </a:bodyPr>
          <a:lstStyle/>
          <a:p>
            <a:r>
              <a:rPr lang="en-US" dirty="0"/>
              <a:t>Initialized Singular HA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/>
              <p:cNvSpPr/>
              <p:nvPr/>
            </p:nvSpPr>
            <p:spPr>
              <a:xfrm>
                <a:off x="2438400" y="1600200"/>
                <a:ext cx="25146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i="1" dirty="0">
                    <a:latin typeface="Cambria Math"/>
                  </a:rPr>
                  <a:t>v1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=1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=3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=−3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=−2</m:t>
                      </m:r>
                    </m:oMath>
                  </m:oMathPara>
                </a14:m>
                <a:endParaRPr lang="en-US" sz="1600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Oval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1600200"/>
                <a:ext cx="2514600" cy="1524000"/>
              </a:xfrm>
              <a:prstGeom prst="ellipse">
                <a:avLst/>
              </a:prstGeom>
              <a:blipFill>
                <a:blip r:embed="rId2"/>
                <a:stretch>
                  <a:fillRect t="-4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/>
              <p:cNvSpPr/>
              <p:nvPr/>
            </p:nvSpPr>
            <p:spPr>
              <a:xfrm>
                <a:off x="2590800" y="45720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i="1" dirty="0">
                    <a:latin typeface="Cambria Math"/>
                  </a:rPr>
                  <a:t>v2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eqArr>
                            <m:eqArr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acc>
                                <m:accPr>
                                  <m:chr m:val="̇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𝑙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sz="1600" i="1">
                                  <a:latin typeface="Cambria Math"/>
                                </a:rPr>
                                <m:t>=−4</m:t>
                              </m:r>
                            </m:e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1600" i="1" dirty="0">
                                  <a:latin typeface="Cambria Math"/>
                                </a:rPr>
                                <m:t>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sz="1600" i="1">
                                  <a:latin typeface="Cambria Math"/>
                                </a:rPr>
                                <m:t>=−2</m:t>
                              </m:r>
                            </m:e>
                            <m:e>
                              <m:eqArr>
                                <m:eqArr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1600" i="1">
                                      <a:latin typeface="Cambria Math"/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i="1" dirty="0">
                                      <a:latin typeface="Cambria Math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1600" i="1">
                                      <a:latin typeface="Cambria Math"/>
                                    </a:rPr>
                                    <m:t>=−3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i="1" dirty="0">
                                      <a:latin typeface="Cambria Math"/>
                                    </a:rPr>
                                    <m:t> </m:t>
                                  </m:r>
                                </m:e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1600" i="1">
                                      <a:latin typeface="Cambria Math"/>
                                    </a:rPr>
                                    <m:t>=−2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dirty="0"/>
                                    <m:t> </m:t>
                                  </m:r>
                                </m:e>
                              </m:eqArr>
                            </m:e>
                          </m:eqArr>
                        </m:e>
                      </m:acc>
                    </m:oMath>
                  </m:oMathPara>
                </a14:m>
                <a:endParaRPr lang="en-US" sz="1600" dirty="0"/>
              </a:p>
              <a:p>
                <a:pPr algn="ctr"/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5" name="Oval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4572000"/>
                <a:ext cx="2209800" cy="1524000"/>
              </a:xfrm>
              <a:prstGeom prst="ellipse">
                <a:avLst/>
              </a:prstGeom>
              <a:blipFill>
                <a:blip r:embed="rId3"/>
                <a:stretch>
                  <a:fillRect t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4" idx="4"/>
            <a:endCxn id="5" idx="0"/>
          </p:cNvCxnSpPr>
          <p:nvPr/>
        </p:nvCxnSpPr>
        <p:spPr>
          <a:xfrm>
            <a:off x="3695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381284" y="1230868"/>
                <a:ext cx="23144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≔0;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284" y="1230868"/>
                <a:ext cx="231441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/>
              <p:cNvSpPr/>
              <p:nvPr/>
            </p:nvSpPr>
            <p:spPr>
              <a:xfrm>
                <a:off x="7162800" y="45720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v3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𝑙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/>
                                </a:rPr>
                                <m:t>=−4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 dirty="0">
                                  <a:latin typeface="Cambria Math"/>
                                </a:rPr>
                                <m:t>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/>
                                </a:rPr>
                                <m:t>=−2</m:t>
                              </m:r>
                            </m:e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1" dirty="0">
                                      <a:latin typeface="Cambria Math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i="1">
                                      <a:latin typeface="Cambria Math"/>
                                    </a:rPr>
                                    <m:t>=1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1" dirty="0">
                                      <a:latin typeface="Cambria Math"/>
                                    </a:rPr>
                                    <m:t> </m:t>
                                  </m:r>
                                </m:e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i="1">
                                      <a:latin typeface="Cambria Math"/>
                                    </a:rPr>
                                    <m:t>=2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dirty="0"/>
                                    <m:t> </m:t>
                                  </m:r>
                                </m:e>
                              </m:eqArr>
                            </m:e>
                          </m:eqAr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val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4572000"/>
                <a:ext cx="2209800" cy="1524000"/>
              </a:xfrm>
              <a:prstGeom prst="ellipse">
                <a:avLst/>
              </a:prstGeom>
              <a:blipFill>
                <a:blip r:embed="rId5"/>
                <a:stretch>
                  <a:fillRect t="-3279" b="-7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>
            <a:stCxn id="5" idx="6"/>
            <a:endCxn id="10" idx="2"/>
          </p:cNvCxnSpPr>
          <p:nvPr/>
        </p:nvCxnSpPr>
        <p:spPr>
          <a:xfrm>
            <a:off x="4800600" y="5334000"/>
            <a:ext cx="23622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/>
              <p:cNvSpPr/>
              <p:nvPr/>
            </p:nvSpPr>
            <p:spPr>
              <a:xfrm>
                <a:off x="7162800" y="16002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v4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/>
                                      </a:rPr>
                                      <m:t>𝑙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i="1">
                                <a:latin typeface="Cambria Math"/>
                              </a:rPr>
                              <m:t>=1</m:t>
                            </m:r>
                          </m:e>
                          <m:e>
                            <m:r>
                              <a:rPr lang="en-US" i="1">
                                <a:latin typeface="Cambria Math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i="1" dirty="0">
                                <a:latin typeface="Cambria Math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/>
                                      </a:rPr>
                                      <m:t>𝑢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i="1">
                                <a:latin typeface="Cambria Math"/>
                              </a:rPr>
                              <m:t>=3</m:t>
                            </m:r>
                          </m:e>
                          <m:e>
                            <m:eqArr>
                              <m:eqArr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i="1" dirty="0">
                                    <a:latin typeface="Cambria Math"/>
                                  </a:rPr>
                                  <m:t> 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i="1">
                                    <a:latin typeface="Cambria Math"/>
                                  </a:rPr>
                                  <m:t>=1 </m:t>
                                </m:r>
                                <m:r>
                                  <m:rPr>
                                    <m:nor/>
                                  </m:rPr>
                                  <a:rPr lang="en-US" i="1" dirty="0">
                                    <a:latin typeface="Cambria Math"/>
                                  </a:rPr>
                                  <m:t> </m:t>
                                </m:r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i="1">
                                    <a:latin typeface="Cambria Math"/>
                                  </a:rPr>
                                  <m:t>=2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</m:eqArr>
                          </m:e>
                        </m:eqAr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Oval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1600200"/>
                <a:ext cx="2209800" cy="1524000"/>
              </a:xfrm>
              <a:prstGeom prst="ellipse">
                <a:avLst/>
              </a:prstGeom>
              <a:blipFill>
                <a:blip r:embed="rId6"/>
                <a:stretch>
                  <a:fillRect t="-3252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>
            <a:stCxn id="10" idx="0"/>
            <a:endCxn id="15" idx="4"/>
          </p:cNvCxnSpPr>
          <p:nvPr/>
        </p:nvCxnSpPr>
        <p:spPr>
          <a:xfrm flipV="1">
            <a:off x="8267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5" idx="2"/>
            <a:endCxn id="4" idx="6"/>
          </p:cNvCxnSpPr>
          <p:nvPr/>
        </p:nvCxnSpPr>
        <p:spPr>
          <a:xfrm flipH="1">
            <a:off x="4953000" y="2362200"/>
            <a:ext cx="22098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4" idx="0"/>
          </p:cNvCxnSpPr>
          <p:nvPr/>
        </p:nvCxnSpPr>
        <p:spPr>
          <a:xfrm>
            <a:off x="3695700" y="838200"/>
            <a:ext cx="0" cy="762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2230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Transitions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7010400" y="3447883"/>
            <a:ext cx="22860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7010400" y="1600201"/>
            <a:ext cx="0" cy="184768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7010400" y="2165866"/>
            <a:ext cx="609600" cy="501134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7010400" y="2133600"/>
            <a:ext cx="1828800" cy="83820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010400" y="2133600"/>
            <a:ext cx="2286000" cy="0"/>
          </a:xfrm>
          <a:prstGeom prst="lin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629400" y="19812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/>
              <p:cNvSpPr/>
              <p:nvPr/>
            </p:nvSpPr>
            <p:spPr>
              <a:xfrm>
                <a:off x="2438400" y="1600200"/>
                <a:ext cx="25146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i="1" dirty="0">
                    <a:latin typeface="Cambria Math"/>
                  </a:rPr>
                  <a:t>v1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=1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=3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=−3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=−2</m:t>
                      </m:r>
                    </m:oMath>
                  </m:oMathPara>
                </a14:m>
                <a:endParaRPr lang="en-US" sz="1600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0" name="Oval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1600200"/>
                <a:ext cx="2514600" cy="1524000"/>
              </a:xfrm>
              <a:prstGeom prst="ellipse">
                <a:avLst/>
              </a:prstGeom>
              <a:blipFill>
                <a:blip r:embed="rId2"/>
                <a:stretch>
                  <a:fillRect t="-4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>
            <a:stCxn id="20" idx="4"/>
          </p:cNvCxnSpPr>
          <p:nvPr/>
        </p:nvCxnSpPr>
        <p:spPr>
          <a:xfrm>
            <a:off x="3695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759596" y="3201770"/>
                <a:ext cx="119340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≤5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96" y="3201770"/>
                <a:ext cx="1193404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>
            <a:off x="6992587" y="5791200"/>
            <a:ext cx="22860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6992587" y="3943517"/>
            <a:ext cx="0" cy="18476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7010400" y="4620089"/>
            <a:ext cx="1600200" cy="994881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6992588" y="4867359"/>
            <a:ext cx="475013" cy="74761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6992587" y="5077088"/>
            <a:ext cx="2286000" cy="0"/>
          </a:xfrm>
          <a:prstGeom prst="lin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8025" y="491029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/>
              <p:cNvSpPr/>
              <p:nvPr/>
            </p:nvSpPr>
            <p:spPr>
              <a:xfrm>
                <a:off x="7641658" y="2592963"/>
                <a:ext cx="46365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658" y="2592963"/>
                <a:ext cx="463653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/>
              <p:cNvSpPr/>
              <p:nvPr/>
            </p:nvSpPr>
            <p:spPr>
              <a:xfrm>
                <a:off x="7298758" y="2223631"/>
                <a:ext cx="5104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Rectangl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758" y="2223631"/>
                <a:ext cx="510461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/>
              <p:cNvSpPr/>
              <p:nvPr/>
            </p:nvSpPr>
            <p:spPr>
              <a:xfrm>
                <a:off x="7641657" y="4682694"/>
                <a:ext cx="626646" cy="39645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  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Rectangl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657" y="4682694"/>
                <a:ext cx="626646" cy="396455"/>
              </a:xfrm>
              <a:prstGeom prst="rect">
                <a:avLst/>
              </a:prstGeom>
              <a:blipFill>
                <a:blip r:embed="rId6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/>
              <p:cNvSpPr/>
              <p:nvPr/>
            </p:nvSpPr>
            <p:spPr>
              <a:xfrm>
                <a:off x="7211290" y="5081518"/>
                <a:ext cx="49654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290" y="5081518"/>
                <a:ext cx="496546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/>
          <p:cNvCxnSpPr/>
          <p:nvPr/>
        </p:nvCxnSpPr>
        <p:spPr>
          <a:xfrm>
            <a:off x="7144987" y="5081519"/>
            <a:ext cx="0" cy="709683"/>
          </a:xfrm>
          <a:prstGeom prst="lin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7721691" y="5094959"/>
            <a:ext cx="0" cy="709683"/>
          </a:xfrm>
          <a:prstGeom prst="lin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/>
              <p:cNvSpPr/>
              <p:nvPr/>
            </p:nvSpPr>
            <p:spPr>
              <a:xfrm>
                <a:off x="3772321" y="3848101"/>
                <a:ext cx="3084544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≤−3</m:t>
                    </m:r>
                  </m:oMath>
                </a14:m>
                <a:r>
                  <a:rPr lang="en-US" i="1" dirty="0">
                    <a:latin typeface="Cambria Math"/>
                  </a:rPr>
                  <a:t> no reset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&gt;−3∧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≤−3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≔</m:t>
                    </m:r>
                  </m:oMath>
                </a14:m>
                <a:r>
                  <a:rPr lang="en-US" dirty="0"/>
                  <a:t>-3</a:t>
                </a:r>
              </a:p>
            </p:txBody>
          </p:sp>
        </mc:Choice>
        <mc:Fallback xmlns="">
          <p:sp>
            <p:nvSpPr>
              <p:cNvPr id="47" name="Rectangle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321" y="3848101"/>
                <a:ext cx="3084544" cy="646331"/>
              </a:xfrm>
              <a:prstGeom prst="rect">
                <a:avLst/>
              </a:prstGeom>
              <a:blipFill>
                <a:blip r:embed="rId8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069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Initialized Singular HA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/>
              <p:cNvSpPr/>
              <p:nvPr/>
            </p:nvSpPr>
            <p:spPr>
              <a:xfrm>
                <a:off x="2438400" y="1600200"/>
                <a:ext cx="25146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i="1" dirty="0">
                    <a:latin typeface="Cambria Math"/>
                  </a:rPr>
                  <a:t>v1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=1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=3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=−3 </m:t>
                      </m:r>
                    </m:oMath>
                  </m:oMathPara>
                </a14:m>
                <a:endParaRPr lang="en-US" sz="1600" i="1" dirty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/>
                        </a:rPr>
                        <m:t>=−2</m:t>
                      </m:r>
                    </m:oMath>
                  </m:oMathPara>
                </a14:m>
                <a:endParaRPr lang="en-US" sz="1600" dirty="0"/>
              </a:p>
              <a:p>
                <a:pPr algn="ctr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Oval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1600200"/>
                <a:ext cx="2514600" cy="1524000"/>
              </a:xfrm>
              <a:prstGeom prst="ellipse">
                <a:avLst/>
              </a:prstGeom>
              <a:blipFill>
                <a:blip r:embed="rId2"/>
                <a:stretch>
                  <a:fillRect t="-4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/>
              <p:cNvSpPr/>
              <p:nvPr/>
            </p:nvSpPr>
            <p:spPr>
              <a:xfrm>
                <a:off x="2590800" y="45720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i="1" dirty="0">
                    <a:latin typeface="Cambria Math"/>
                  </a:rPr>
                  <a:t>v2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eqArr>
                            <m:eqArr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acc>
                                <m:accPr>
                                  <m:chr m:val="̇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𝑙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sz="1600" i="1">
                                  <a:latin typeface="Cambria Math"/>
                                </a:rPr>
                                <m:t>=−4</m:t>
                              </m:r>
                            </m:e>
                            <m:e>
                              <m:r>
                                <a:rPr lang="en-US" sz="1600" i="1">
                                  <a:latin typeface="Cambria Math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1600" i="1" dirty="0">
                                  <a:latin typeface="Cambria Math"/>
                                </a:rPr>
                                <m:t>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sz="1600" i="1">
                                  <a:latin typeface="Cambria Math"/>
                                </a:rPr>
                                <m:t>=−2</m:t>
                              </m:r>
                            </m:e>
                            <m:e>
                              <m:eqArr>
                                <m:eqArr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1600" i="1">
                                      <a:latin typeface="Cambria Math"/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i="1" dirty="0">
                                      <a:latin typeface="Cambria Math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1600" i="1">
                                      <a:latin typeface="Cambria Math"/>
                                    </a:rPr>
                                    <m:t>=−3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i="1" dirty="0">
                                      <a:latin typeface="Cambria Math"/>
                                    </a:rPr>
                                    <m:t> </m:t>
                                  </m:r>
                                </m:e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1600" i="1">
                                      <a:latin typeface="Cambria Math"/>
                                    </a:rPr>
                                    <m:t>=−2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dirty="0"/>
                                    <m:t> </m:t>
                                  </m:r>
                                </m:e>
                              </m:eqArr>
                            </m:e>
                          </m:eqArr>
                        </m:e>
                      </m:acc>
                    </m:oMath>
                  </m:oMathPara>
                </a14:m>
                <a:endParaRPr lang="en-US" sz="1600" dirty="0"/>
              </a:p>
              <a:p>
                <a:pPr algn="ctr"/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5" name="Oval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4572000"/>
                <a:ext cx="2209800" cy="1524000"/>
              </a:xfrm>
              <a:prstGeom prst="ellipse">
                <a:avLst/>
              </a:prstGeom>
              <a:blipFill>
                <a:blip r:embed="rId3"/>
                <a:stretch>
                  <a:fillRect t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4" idx="4"/>
            <a:endCxn id="5" idx="0"/>
          </p:cNvCxnSpPr>
          <p:nvPr/>
        </p:nvCxnSpPr>
        <p:spPr>
          <a:xfrm>
            <a:off x="3695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381284" y="1230868"/>
                <a:ext cx="23144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≔0;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284" y="1230868"/>
                <a:ext cx="231441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467768" y="3210341"/>
                <a:ext cx="2547813" cy="12311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≤5∧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≤−3</m:t>
                      </m:r>
                    </m:oMath>
                  </m:oMathPara>
                </a14:m>
                <a:endParaRPr lang="en-US" sz="1400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≔4</m:t>
                      </m:r>
                    </m:oMath>
                  </m:oMathPara>
                </a14:m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≤5∧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≤−3∧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&gt;−3</m:t>
                      </m:r>
                    </m:oMath>
                  </m:oMathPara>
                </a14:m>
                <a:endParaRPr lang="en-US" sz="1400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≔4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≔−3</m:t>
                      </m:r>
                    </m:oMath>
                  </m:oMathPara>
                </a14:m>
                <a:endParaRPr lang="en-US" sz="1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768" y="3210341"/>
                <a:ext cx="2547813" cy="12311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/>
              <p:cNvSpPr/>
              <p:nvPr/>
            </p:nvSpPr>
            <p:spPr>
              <a:xfrm>
                <a:off x="7162800" y="45720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v3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𝑙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/>
                                </a:rPr>
                                <m:t>=−4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 dirty="0">
                                  <a:latin typeface="Cambria Math"/>
                                </a:rPr>
                                <m:t>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/>
                                </a:rPr>
                                <m:t>=−2</m:t>
                              </m:r>
                            </m:e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1" dirty="0">
                                      <a:latin typeface="Cambria Math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i="1">
                                      <a:latin typeface="Cambria Math"/>
                                    </a:rPr>
                                    <m:t>=1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1" dirty="0">
                                      <a:latin typeface="Cambria Math"/>
                                    </a:rPr>
                                    <m:t> </m:t>
                                  </m:r>
                                </m:e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i="1">
                                      <a:latin typeface="Cambria Math"/>
                                    </a:rPr>
                                    <m:t>=2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dirty="0"/>
                                    <m:t> </m:t>
                                  </m:r>
                                </m:e>
                              </m:eqArr>
                            </m:e>
                          </m:eqAr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val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4572000"/>
                <a:ext cx="2209800" cy="1524000"/>
              </a:xfrm>
              <a:prstGeom prst="ellipse">
                <a:avLst/>
              </a:prstGeom>
              <a:blipFill>
                <a:blip r:embed="rId6"/>
                <a:stretch>
                  <a:fillRect t="-3279" b="-7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>
            <a:stCxn id="5" idx="6"/>
            <a:endCxn id="10" idx="2"/>
          </p:cNvCxnSpPr>
          <p:nvPr/>
        </p:nvCxnSpPr>
        <p:spPr>
          <a:xfrm>
            <a:off x="4800600" y="5334000"/>
            <a:ext cx="23622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953001" y="4687670"/>
                <a:ext cx="134575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≤−5</m:t>
                      </m:r>
                    </m:oMath>
                  </m:oMathPara>
                </a14:m>
                <a:endParaRPr lang="en-US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1" y="4687670"/>
                <a:ext cx="1345753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/>
              <p:cNvSpPr/>
              <p:nvPr/>
            </p:nvSpPr>
            <p:spPr>
              <a:xfrm>
                <a:off x="7162800" y="1600200"/>
                <a:ext cx="2209800" cy="1524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i="1" dirty="0">
                    <a:latin typeface="Cambria Math"/>
                  </a:rPr>
                  <a:t>v4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/>
                                      </a:rPr>
                                      <m:t>𝑙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i="1">
                                <a:latin typeface="Cambria Math"/>
                              </a:rPr>
                              <m:t>=1</m:t>
                            </m:r>
                          </m:e>
                          <m:e>
                            <m:r>
                              <a:rPr lang="en-US" i="1">
                                <a:latin typeface="Cambria Math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i="1" dirty="0">
                                <a:latin typeface="Cambria Math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/>
                                      </a:rPr>
                                      <m:t>𝑢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i="1">
                                <a:latin typeface="Cambria Math"/>
                              </a:rPr>
                              <m:t>=3</m:t>
                            </m:r>
                          </m:e>
                          <m:e>
                            <m:eqArr>
                              <m:eqArr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i="1" dirty="0">
                                    <a:latin typeface="Cambria Math"/>
                                  </a:rPr>
                                  <m:t> 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i="1">
                                    <a:latin typeface="Cambria Math"/>
                                  </a:rPr>
                                  <m:t>=1 </m:t>
                                </m:r>
                                <m:r>
                                  <m:rPr>
                                    <m:nor/>
                                  </m:rPr>
                                  <a:rPr lang="en-US" i="1" dirty="0">
                                    <a:latin typeface="Cambria Math"/>
                                  </a:rPr>
                                  <m:t> </m:t>
                                </m:r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i="1">
                                    <a:latin typeface="Cambria Math"/>
                                  </a:rPr>
                                  <m:t>=2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</m:eqArr>
                          </m:e>
                        </m:eqAr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Oval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1600200"/>
                <a:ext cx="2209800" cy="1524000"/>
              </a:xfrm>
              <a:prstGeom prst="ellipse">
                <a:avLst/>
              </a:prstGeom>
              <a:blipFill>
                <a:blip r:embed="rId8"/>
                <a:stretch>
                  <a:fillRect t="-3252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>
            <a:stCxn id="10" idx="0"/>
            <a:endCxn id="15" idx="4"/>
          </p:cNvCxnSpPr>
          <p:nvPr/>
        </p:nvCxnSpPr>
        <p:spPr>
          <a:xfrm flipV="1">
            <a:off x="8267700" y="3124200"/>
            <a:ext cx="0" cy="1447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8229601" y="3340894"/>
                <a:ext cx="2656561" cy="12311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≥−3∧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≤−</m:t>
                    </m:r>
                  </m:oMath>
                </a14:m>
                <a:r>
                  <a:rPr lang="en-US" sz="1400" i="1" dirty="0">
                    <a:latin typeface="Cambria Math"/>
                  </a:rPr>
                  <a:t>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≔−2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≔−1</m:t>
                      </m:r>
                    </m:oMath>
                  </m:oMathPara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≥−3∧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≤−2 ∧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&gt;−2</m:t>
                    </m:r>
                  </m:oMath>
                </a14:m>
                <a:r>
                  <a:rPr lang="en-US" sz="1400" i="1" dirty="0">
                    <a:latin typeface="Cambria Math"/>
                  </a:rPr>
                  <a:t>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≔−2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≔−1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sz="1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1" y="3340894"/>
                <a:ext cx="2656561" cy="1231106"/>
              </a:xfrm>
              <a:prstGeom prst="rect">
                <a:avLst/>
              </a:prstGeom>
              <a:blipFill>
                <a:blip r:embed="rId9"/>
                <a:stretch>
                  <a:fillRect t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>
            <a:stCxn id="15" idx="2"/>
            <a:endCxn id="4" idx="6"/>
          </p:cNvCxnSpPr>
          <p:nvPr/>
        </p:nvCxnSpPr>
        <p:spPr>
          <a:xfrm flipH="1">
            <a:off x="4953000" y="2362200"/>
            <a:ext cx="22098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227103" y="1715869"/>
                <a:ext cx="160107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≥0∧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</m:oMath>
                </a14:m>
                <a:r>
                  <a:rPr lang="en-US" i="1" dirty="0">
                    <a:latin typeface="Cambria Math"/>
                  </a:rPr>
                  <a:t>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≔1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103" y="1715869"/>
                <a:ext cx="1601079" cy="646331"/>
              </a:xfrm>
              <a:prstGeom prst="rect">
                <a:avLst/>
              </a:prstGeom>
              <a:blipFill>
                <a:blip r:embed="rId10"/>
                <a:stretch>
                  <a:fillRect t="-3774" r="-2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endCxn id="4" idx="0"/>
          </p:cNvCxnSpPr>
          <p:nvPr/>
        </p:nvCxnSpPr>
        <p:spPr>
          <a:xfrm>
            <a:off x="3695700" y="838200"/>
            <a:ext cx="0" cy="762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5105400" y="2362199"/>
                <a:ext cx="2057400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&lt;0∧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𝑢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≥0∧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sz="1400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sz="1400" i="1">
                        <a:latin typeface="Cambria Math"/>
                      </a:rPr>
                      <m:t>≤</m:t>
                    </m:r>
                  </m:oMath>
                </a14:m>
                <a:r>
                  <a:rPr lang="en-US" sz="1400" i="1" dirty="0">
                    <a:latin typeface="Cambria Math"/>
                  </a:rPr>
                  <a:t>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≔0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sz="14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1400" i="1">
                          <a:latin typeface="Cambria Math"/>
                        </a:rPr>
                        <m:t>≔1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2362199"/>
                <a:ext cx="2057400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68920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this be further generalized 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initialized Rectangular HA, control state reachability is decidable</a:t>
            </a:r>
          </a:p>
          <a:p>
            <a:pPr lvl="1"/>
            <a:r>
              <a:rPr lang="en-US" dirty="0"/>
              <a:t>Can we drop the initialization restriction?</a:t>
            </a:r>
          </a:p>
          <a:p>
            <a:pPr lvl="2"/>
            <a:r>
              <a:rPr lang="en-US" dirty="0"/>
              <a:t>No, problem becomes undecidable (next time)</a:t>
            </a:r>
          </a:p>
          <a:p>
            <a:pPr lvl="1"/>
            <a:r>
              <a:rPr lang="en-US" dirty="0"/>
              <a:t>Can we drop the rectangular restriction?</a:t>
            </a:r>
          </a:p>
          <a:p>
            <a:pPr lvl="2"/>
            <a:r>
              <a:rPr lang="en-US" dirty="0"/>
              <a:t>No, problem becomes undecidable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5332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in tools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354931"/>
            <a:ext cx="5657202" cy="23177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3717809"/>
            <a:ext cx="5780690" cy="2070330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5733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Data structures make reachability go around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Hyperrectangles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mr-IN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mr-IN" sz="2000" dirty="0">
                                    <a:latin typeface="Cambria Math" charset="0"/>
                                  </a:rPr>
                                  <m:t>g</m:t>
                                </m:r>
                              </m:e>
                              <m:sub>
                                <m:r>
                                  <a:rPr lang="mr-IN" sz="2000" dirty="0">
                                    <a:latin typeface="Cambria Math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mr-IN" sz="2000" dirty="0">
                                <a:latin typeface="Cambria Math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mr-IN" sz="2000" dirty="0">
                                    <a:latin typeface="Cambria Math" charset="0"/>
                                  </a:rPr>
                                  <m:t>g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mr-IN" sz="2000" dirty="0">
                        <a:latin typeface="Cambria Math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charset="0"/>
                          </a:rPr>
                          <m:t>𝑥</m:t>
                        </m:r>
                        <m:r>
                          <a:rPr lang="en-US" sz="2000" i="1" dirty="0">
                            <a:latin typeface="Cambria Math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000" dirty="0">
                            <a:latin typeface="Cambria Math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dirty="0">
                            <a:latin typeface="Cambria Math" charset="0"/>
                          </a:rPr>
                          <m:t>  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 dirty="0">
                                    <a:latin typeface="Cambria Math" charset="0"/>
                                  </a:rPr>
                                  <m:t>x</m:t>
                                </m:r>
                                <m:r>
                                  <a:rPr lang="en-US" sz="2000" dirty="0">
                                    <a:latin typeface="Cambria Math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dirty="0">
                                        <a:latin typeface="Cambria Math" charset="0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a:rPr lang="en-US" sz="2000" dirty="0">
                                        <a:latin typeface="Cambria Math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lit/>
                              </m:rPr>
                              <a:rPr lang="en-US" sz="2000" dirty="0">
                                <a:latin typeface="Cambria Math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charset="0"/>
                              </a:rPr>
                              <m:t>∞</m:t>
                            </m:r>
                          </m:sub>
                        </m:sSub>
                      </m:sub>
                    </m:sSub>
                    <m:r>
                      <a:rPr lang="en-US" sz="2000" i="1" dirty="0">
                        <a:latin typeface="Cambria Math" charset="0"/>
                      </a:rPr>
                      <m:t>≤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dirty="0">
                                        <a:latin typeface="Cambria Math" charset="0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a:rPr lang="en-US" sz="2000" dirty="0">
                                        <a:latin typeface="Cambria Math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000" dirty="0">
                                    <a:latin typeface="Cambria Math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i="1" dirty="0">
                                        <a:latin typeface="Cambria Math" charset="0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a:rPr lang="en-US" sz="2000" i="1" dirty="0">
                                        <a:latin typeface="Cambria Math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lit/>
                              </m:rPr>
                              <a:rPr lang="en-US" sz="2000" dirty="0">
                                <a:latin typeface="Cambria Math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charset="0"/>
                              </a:rPr>
                              <m:t>∞</m:t>
                            </m:r>
                          </m:sub>
                        </m:sSub>
                      </m:sub>
                    </m:sSub>
                    <m:r>
                      <a:rPr lang="en-US" sz="2000" i="1" dirty="0">
                        <a:latin typeface="Cambria Math" charset="0"/>
                      </a:rPr>
                      <m:t>}</m:t>
                    </m:r>
                    <m:r>
                      <a:rPr lang="mr-IN" sz="2000" dirty="0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dirty="0">
                            <a:latin typeface="Cambria Math" charset="0"/>
                          </a:rPr>
                          <m:t>Π</m:t>
                        </m:r>
                      </m:e>
                      <m:sub>
                        <m:r>
                          <a:rPr lang="en-US" sz="2000" i="1" dirty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charset="0"/>
                      </a:rPr>
                      <m:t>[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charset="0"/>
                          </a:rPr>
                          <m:t>𝑔</m:t>
                        </m:r>
                      </m:e>
                      <m:sub>
                        <m:r>
                          <a:rPr lang="en-US" sz="2000" i="1" dirty="0">
                            <a:latin typeface="Cambria Math" charset="0"/>
                          </a:rPr>
                          <m:t>1</m:t>
                        </m:r>
                        <m:r>
                          <a:rPr lang="en-US" sz="2000" i="1" dirty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charset="0"/>
                      </a:rPr>
                      <m:t>,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charset="0"/>
                          </a:rPr>
                          <m:t>𝑔</m:t>
                        </m:r>
                      </m:e>
                      <m:sub>
                        <m:r>
                          <a:rPr lang="en-US" sz="2000" i="1" dirty="0">
                            <a:latin typeface="Cambria Math" charset="0"/>
                          </a:rPr>
                          <m:t>2</m:t>
                        </m:r>
                        <m:r>
                          <a:rPr lang="en-US" sz="2000" i="1" dirty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charset="0"/>
                      </a:rPr>
                      <m:t>]</m:t>
                    </m:r>
                  </m:oMath>
                </a14:m>
                <a:endParaRPr lang="en-US" sz="2000" dirty="0"/>
              </a:p>
              <a:p>
                <a:r>
                  <a:rPr lang="en-US" sz="2400" dirty="0" err="1"/>
                  <a:t>Polyhedra</a:t>
                </a:r>
                <a:endParaRPr lang="en-US" sz="2400" dirty="0"/>
              </a:p>
              <a:p>
                <a:r>
                  <a:rPr lang="en-US" sz="2400" dirty="0"/>
                  <a:t>Zonotopes </a:t>
                </a:r>
                <a:r>
                  <a:rPr lang="en-US" sz="2400" dirty="0">
                    <a:solidFill>
                      <a:srgbClr val="00B0F0"/>
                    </a:solidFill>
                  </a:rPr>
                  <a:t>[Girard 2005]</a:t>
                </a:r>
              </a:p>
              <a:p>
                <a:r>
                  <a:rPr lang="en-US" sz="2400" dirty="0"/>
                  <a:t>Ellipsoids </a:t>
                </a:r>
                <a:r>
                  <a:rPr lang="en-US" sz="2400" dirty="0">
                    <a:solidFill>
                      <a:srgbClr val="00B0F0"/>
                    </a:solidFill>
                  </a:rPr>
                  <a:t>[</a:t>
                </a:r>
                <a:r>
                  <a:rPr lang="en-US" sz="2400" dirty="0" err="1">
                    <a:solidFill>
                      <a:srgbClr val="00B0F0"/>
                    </a:solidFill>
                  </a:rPr>
                  <a:t>Kurzhanskiy</a:t>
                </a:r>
                <a:r>
                  <a:rPr lang="en-US" sz="2400" dirty="0">
                    <a:solidFill>
                      <a:srgbClr val="00B0F0"/>
                    </a:solidFill>
                  </a:rPr>
                  <a:t> 2001]</a:t>
                </a:r>
                <a:endParaRPr lang="en-US" sz="2400" dirty="0"/>
              </a:p>
              <a:p>
                <a:r>
                  <a:rPr lang="en-US" sz="2400" dirty="0"/>
                  <a:t>Support functions </a:t>
                </a:r>
                <a:r>
                  <a:rPr lang="en-US" sz="2400" dirty="0">
                    <a:solidFill>
                      <a:srgbClr val="00B0F0"/>
                    </a:solidFill>
                  </a:rPr>
                  <a:t>[</a:t>
                </a:r>
                <a:r>
                  <a:rPr lang="en-US" sz="2400" dirty="0" err="1">
                    <a:solidFill>
                      <a:srgbClr val="00B0F0"/>
                    </a:solidFill>
                  </a:rPr>
                  <a:t>Guernic</a:t>
                </a:r>
                <a:r>
                  <a:rPr lang="en-US" sz="2400" dirty="0">
                    <a:solidFill>
                      <a:srgbClr val="00B0F0"/>
                    </a:solidFill>
                  </a:rPr>
                  <a:t> et al. 2009]</a:t>
                </a:r>
              </a:p>
              <a:p>
                <a:r>
                  <a:rPr lang="en-US" sz="2400" dirty="0"/>
                  <a:t>Generalized star set </a:t>
                </a:r>
                <a:r>
                  <a:rPr lang="en-US" sz="2400" dirty="0">
                    <a:solidFill>
                      <a:srgbClr val="00B0F0"/>
                    </a:solidFill>
                  </a:rPr>
                  <a:t>[</a:t>
                </a:r>
                <a:r>
                  <a:rPr lang="en-US" sz="2400" dirty="0" err="1">
                    <a:solidFill>
                      <a:srgbClr val="00B0F0"/>
                    </a:solidFill>
                  </a:rPr>
                  <a:t>Duggirala</a:t>
                </a:r>
                <a:r>
                  <a:rPr lang="en-US" sz="2400" dirty="0">
                    <a:solidFill>
                      <a:srgbClr val="00B0F0"/>
                    </a:solidFill>
                  </a:rPr>
                  <a:t> and Viswanathan 2018]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0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409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8817F-A90D-1B46-AB05-719F0D62C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2650" y="365126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dirty="0"/>
              <a:t>Data structures: rectangles and ellipsoids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D82271-9E71-CB44-89C1-6991CC04F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93" y="1756085"/>
            <a:ext cx="7286614" cy="473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25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74A62-9027-A54F-92EC-AFDBC4957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Zonotopes and polytopes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43087D-FE68-094F-8A05-54EC853BA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472" y="1277505"/>
            <a:ext cx="7846965" cy="531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7394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ITA: Restricted class of hybrid automata</a:t>
            </a:r>
          </a:p>
          <a:p>
            <a:pPr lvl="1"/>
            <a:r>
              <a:rPr lang="en-US" dirty="0"/>
              <a:t>Clocks, integer constraints</a:t>
            </a:r>
          </a:p>
          <a:p>
            <a:pPr lvl="1"/>
            <a:r>
              <a:rPr lang="en-US" dirty="0"/>
              <a:t>No clock comparison, linear</a:t>
            </a:r>
          </a:p>
          <a:p>
            <a:r>
              <a:rPr lang="en-US" dirty="0"/>
              <a:t>Control state reachability with </a:t>
            </a:r>
            <a:r>
              <a:rPr lang="en-US" dirty="0" err="1"/>
              <a:t>Alur</a:t>
            </a:r>
            <a:r>
              <a:rPr lang="en-US" dirty="0"/>
              <a:t>-Dill’s algorithm (region automaton construction)</a:t>
            </a:r>
          </a:p>
          <a:p>
            <a:r>
              <a:rPr lang="en-US" dirty="0"/>
              <a:t>Rational coefficients; </a:t>
            </a:r>
            <a:r>
              <a:rPr lang="en-US" dirty="0" err="1"/>
              <a:t>multirate</a:t>
            </a:r>
            <a:r>
              <a:rPr lang="en-US" dirty="0"/>
              <a:t> Automata</a:t>
            </a:r>
          </a:p>
          <a:p>
            <a:r>
              <a:rPr lang="en-US" dirty="0"/>
              <a:t>Initialized Rectangular Hybrid Automata</a:t>
            </a:r>
          </a:p>
          <a:p>
            <a:r>
              <a:rPr lang="en-US" dirty="0" err="1"/>
              <a:t>HyTech</a:t>
            </a:r>
            <a:r>
              <a:rPr lang="en-US" dirty="0"/>
              <a:t>, </a:t>
            </a:r>
            <a:r>
              <a:rPr lang="en-US" dirty="0" err="1"/>
              <a:t>PHAVer</a:t>
            </a:r>
            <a:r>
              <a:rPr lang="en-US" dirty="0"/>
              <a:t> use polyhedral reachability computations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126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3503</Words>
  <Application>Microsoft Macintosh PowerPoint</Application>
  <PresentationFormat>Widescreen</PresentationFormat>
  <Paragraphs>456</Paragraphs>
  <Slides>43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Calibri Light</vt:lpstr>
      <vt:lpstr>Cambria Math</vt:lpstr>
      <vt:lpstr>Office Theme</vt:lpstr>
      <vt:lpstr>Timed Automata</vt:lpstr>
      <vt:lpstr>Outline</vt:lpstr>
      <vt:lpstr>Hybrid Automaton</vt:lpstr>
      <vt:lpstr>Special Classes of Hybrid Automata</vt:lpstr>
      <vt:lpstr>Clocks and Clock Constraints</vt:lpstr>
      <vt:lpstr>Integral Timed Automata</vt:lpstr>
      <vt:lpstr>Example: Light switch</vt:lpstr>
      <vt:lpstr>Control State (Location) Reachability Problem</vt:lpstr>
      <vt:lpstr>An equivalence relation with a finite quotient</vt:lpstr>
      <vt:lpstr>An equivalence relation with a finite quotient</vt:lpstr>
      <vt:lpstr>Geometry of clock regions</vt:lpstr>
      <vt:lpstr>Complexity</vt:lpstr>
      <vt:lpstr>Region automaton R(A) </vt:lpstr>
      <vt:lpstr>Time successors</vt:lpstr>
      <vt:lpstr>Example 1: Region Automata</vt:lpstr>
      <vt:lpstr>Example 2</vt:lpstr>
      <vt:lpstr>PowerPoint Presentation</vt:lpstr>
      <vt:lpstr>Summary</vt:lpstr>
      <vt:lpstr>Special Classes of Hybrid Automata</vt:lpstr>
      <vt:lpstr>Clocks and Rational Clock Constraints</vt:lpstr>
      <vt:lpstr>Step 1. Rational Timed Automata</vt:lpstr>
      <vt:lpstr>Example: Rational Light switch</vt:lpstr>
      <vt:lpstr>Control State (Location) Reachability Problem</vt:lpstr>
      <vt:lpstr>Construction of ITA from RTA</vt:lpstr>
      <vt:lpstr>Step 2. Multi-Rate Automaton</vt:lpstr>
      <vt:lpstr>Control State (Location) Reachability Problem</vt:lpstr>
      <vt:lpstr>Example: Multi-rate to rational TA</vt:lpstr>
      <vt:lpstr>Step 3. Rectangular HA</vt:lpstr>
      <vt:lpstr>CSR Decidable for RHA?</vt:lpstr>
      <vt:lpstr>Step 4. Initialized Rectangular HA</vt:lpstr>
      <vt:lpstr>Example: Rectangular Initialized HA</vt:lpstr>
      <vt:lpstr>CSR Decidable for IRHA?</vt:lpstr>
      <vt:lpstr>From IRHA to Singular HA conversion</vt:lpstr>
      <vt:lpstr>Example IRHA</vt:lpstr>
      <vt:lpstr>Initialized Singular HA</vt:lpstr>
      <vt:lpstr>Transitions</vt:lpstr>
      <vt:lpstr>Initialized Singular HA</vt:lpstr>
      <vt:lpstr>Can this be further generalized ? </vt:lpstr>
      <vt:lpstr>Verification in tools</vt:lpstr>
      <vt:lpstr>Data structures make reachability go around</vt:lpstr>
      <vt:lpstr>Data structures: rectangles and ellipsoids</vt:lpstr>
      <vt:lpstr>Zonotopes and polytopes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Cyberphysical Systems: Part 2</dc:title>
  <dc:creator>Mitra, Sayan</dc:creator>
  <cp:lastModifiedBy>Mitra, Sayan</cp:lastModifiedBy>
  <cp:revision>17</cp:revision>
  <dcterms:created xsi:type="dcterms:W3CDTF">2025-10-14T16:14:11Z</dcterms:created>
  <dcterms:modified xsi:type="dcterms:W3CDTF">2025-10-16T17:14:57Z</dcterms:modified>
</cp:coreProperties>
</file>