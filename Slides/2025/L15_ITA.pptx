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24" r:id="rId2"/>
    <p:sldId id="951" r:id="rId3"/>
    <p:sldId id="264" r:id="rId4"/>
    <p:sldId id="259" r:id="rId5"/>
    <p:sldId id="260" r:id="rId6"/>
    <p:sldId id="261" r:id="rId7"/>
    <p:sldId id="262" r:id="rId8"/>
    <p:sldId id="263" r:id="rId9"/>
    <p:sldId id="961" r:id="rId10"/>
    <p:sldId id="960" r:id="rId11"/>
    <p:sldId id="266" r:id="rId12"/>
    <p:sldId id="271" r:id="rId13"/>
    <p:sldId id="265" r:id="rId14"/>
    <p:sldId id="267" r:id="rId15"/>
    <p:sldId id="268" r:id="rId16"/>
    <p:sldId id="269" r:id="rId17"/>
    <p:sldId id="270" r:id="rId18"/>
    <p:sldId id="9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52"/>
    <p:restoredTop sz="96197"/>
  </p:normalViewPr>
  <p:slideViewPr>
    <p:cSldViewPr snapToGrid="0">
      <p:cViewPr varScale="1">
        <p:scale>
          <a:sx n="103" d="100"/>
          <a:sy n="103" d="100"/>
        </p:scale>
        <p:origin x="17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43E3A-FF90-2B44-94CA-714A280D4294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83970-97DE-5945-B35A-12CE010E2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77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couple</a:t>
            </a:r>
            <a:r>
              <a:rPr lang="en-US" baseline="0" dirty="0"/>
              <a:t> of nice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50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598F-4121-9315-5FBD-0CD89D349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082C0-FEF8-AB01-A607-EF6905467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C3207-D94E-7054-3863-3CB46A3C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F4E29-2E69-E428-6637-184AB619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3811E-470D-13C1-EA5F-1D39A793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2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7E88-F7FA-31B7-05A9-970B1FCA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AE6B1-FB3B-86BE-B054-9CC628958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3CA2A-0239-91C1-7677-431F4E6B1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B8B21-E40E-8675-1D47-DEA412EF3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DE9FE-C4BC-75DC-E77F-E2321321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2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81BA-8537-77D5-C558-B80CB356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72B58-CE50-29B2-2A91-AC5A5618E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A7EE7-9578-6DEC-2B28-DF0AFE4F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690EF-70BB-E021-72DE-4BF45CAF5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F64DE-4348-63BA-B540-20D7893C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6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F30D-53BA-809E-D5BD-4B7F6B0F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998D4-6106-C4B0-72C4-27EB197C8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A42C2-5779-870E-99BA-401B10C74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89030-8DBC-E0A5-ABE8-B9AA96A7D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44B31-469D-3C18-2CDD-464C6E83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06A6D-A403-6378-8511-3A3DB6C1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8A01-B139-45E7-2559-4AC7CA120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2032B-C6E7-63F3-971D-006D5A7D0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0D409-293A-1179-E4E6-0C8DEAF6F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FA88A-5D1E-0EAD-5FF8-888518833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A954C-43C3-65AA-6FA0-68D578D89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90ECF1-A314-DAF4-47E6-9F7E6F92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ACFEB-C885-145F-30E8-01E833C7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F0849-9A29-5533-F6DC-E02F15620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0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F42E-741B-36A1-7BFC-D1750B47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1BA5E-21F6-079D-F8FE-87751003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35AEF-A679-E62C-A439-48C17620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C5D57-6838-4551-BDB6-BD29343F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2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F62DA-1A8F-C109-6D9C-689D2830B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D9970-5F91-202E-B7EA-EDE0EE89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1C115-7901-607B-ECDA-8D83693D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9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C785-ED42-0F36-436B-227195E5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B055A-099A-1B54-535D-6867260C0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3A46A-896F-BB73-EA4D-6D49556F5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504C4-E6B8-1B83-BE89-CC15D4A4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3F3C9-9068-6A28-0A56-4EF5EC1F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C94B5-3606-0E71-241C-8C19AD71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1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413A-43A5-AAC8-1B48-671D0952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068A0-5302-410C-AE6C-BCBBF50B5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368C9-65C2-6B36-B456-C1DA10D42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FC63B-76F6-2455-889C-3433BF5B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3E05A-72E5-38C1-27B4-2ADDDD0C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D35EA-6C6A-114B-02B1-C1EBB0BE2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6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16BE8-6B56-898E-C6C0-B36354DB5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37EB2-F22A-B53D-707D-24C4C7A38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A8F04-85A0-88A8-8A97-F8F3DB93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68B8D-3266-DE64-E0A9-5608CA3A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B5D46-962C-0D46-50BB-6CD27E84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9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76C73-E5A4-B215-91CA-01F721244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30859-B442-70E1-FCF9-21666D3AD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F825D-296D-6F78-39E1-6641220E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5F549-5713-CA10-5F5D-7A4630D7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0472-7E69-244E-4215-1B0FDD9B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0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6D5D4-A317-6189-C058-1716A242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AD140-1C11-C1CE-7DAD-B6C65B9E0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562ED-E5E1-2D70-AA92-9D21FE966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8FF10-B70E-1B43-831B-B1E9792D44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7AFD7-5FF8-3700-C2AF-5EC315B43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53FA3-02E9-D9E1-AA59-2D5672878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5E0D2-20A5-1046-BD37-94EF0A5D7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4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engr-courses.engr.illinois.edu/ece584/papers/alur_dill94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4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4304"/>
          </a:xfrm>
        </p:spPr>
        <p:txBody>
          <a:bodyPr>
            <a:normAutofit/>
          </a:bodyPr>
          <a:lstStyle/>
          <a:p>
            <a:r>
              <a:rPr lang="en-US" sz="3600" dirty="0"/>
              <a:t>Timed Automata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8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6A42-60A7-C449-8930-90B43F45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73E42-F664-934E-B525-1A44AD459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Review: Modeling cyber-physical systems</a:t>
            </a:r>
          </a:p>
          <a:p>
            <a:pPr lvl="1"/>
            <a:r>
              <a:rPr lang="en-US" dirty="0"/>
              <a:t>Hybrid automata</a:t>
            </a:r>
          </a:p>
          <a:p>
            <a:pPr lvl="1"/>
            <a:r>
              <a:rPr lang="en-US" dirty="0"/>
              <a:t>Executions</a:t>
            </a:r>
          </a:p>
          <a:p>
            <a:pPr lvl="1"/>
            <a:r>
              <a:rPr lang="en-US" dirty="0"/>
              <a:t>Urgency</a:t>
            </a:r>
          </a:p>
          <a:p>
            <a:pPr lvl="1"/>
            <a:r>
              <a:rPr lang="en-US" dirty="0"/>
              <a:t>Zeno</a:t>
            </a:r>
          </a:p>
          <a:p>
            <a:pPr lvl="1"/>
            <a:r>
              <a:rPr lang="en-US" dirty="0"/>
              <a:t>Hybrid stability</a:t>
            </a:r>
          </a:p>
        </p:txBody>
      </p:sp>
    </p:spTree>
    <p:extLst>
      <p:ext uri="{BB962C8B-B14F-4D97-AF65-F5344CB8AC3E}">
        <p14:creationId xmlns:p14="http://schemas.microsoft.com/office/powerpoint/2010/main" val="393583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Hybrid Automaton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751067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𝒯</m:t>
                        </m:r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: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state variables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𝑣𝑎𝑙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states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start states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actions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, A= E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∪ H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𝒟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 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</m:oMath>
                </a14:m>
                <a:endParaRPr lang="en-US" b="0" i="1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/>
                      </a:rPr>
                      <m:t>𝒯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  <a:latin typeface="+mj-lt"/>
                  </a:rPr>
                  <a:t>: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accent1"/>
                    </a:solidFill>
                    <a:latin typeface="+mj-lt"/>
                  </a:rPr>
                  <a:t>trajectories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 for X</a:t>
                </a:r>
                <a:r>
                  <a:rPr lang="en-US" i="1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which is closed under </a:t>
                </a:r>
                <a:r>
                  <a:rPr lang="en-US" b="1" dirty="0">
                    <a:solidFill>
                      <a:schemeClr val="accent1"/>
                    </a:solidFill>
                    <a:latin typeface="+mj-lt"/>
                  </a:rPr>
                  <a:t>prefix, suffix, and concatenation</a:t>
                </a:r>
              </a:p>
              <a:p>
                <a:pPr>
                  <a:lnSpc>
                    <a:spcPct val="110000"/>
                  </a:lnSpc>
                </a:pPr>
                <a:endParaRPr 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7510670" cy="4667250"/>
              </a:xfrm>
              <a:blipFill>
                <a:blip r:embed="rId3"/>
                <a:stretch>
                  <a:fillRect l="-1520" t="-813" r="-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103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Classes of Hybrid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00202"/>
            <a:ext cx="10515599" cy="3505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Algorithmic analysis of (Alur-Dill’s) Timed Automata[1]</a:t>
            </a:r>
          </a:p>
          <a:p>
            <a:pPr marL="0" indent="0">
              <a:buNone/>
            </a:pP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Timed Automata are a restricted class of hybrid automata with only clock variables which are amenable to automatic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5638801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[1] Rajeev </a:t>
            </a:r>
            <a:r>
              <a:rPr lang="en-US" dirty="0" err="1"/>
              <a:t>Alur</a:t>
            </a:r>
            <a:r>
              <a:rPr lang="en-US" dirty="0"/>
              <a:t> and David L. Dill. </a:t>
            </a:r>
            <a:r>
              <a:rPr lang="en-US" dirty="0">
                <a:hlinkClick r:id="rId2"/>
              </a:rPr>
              <a:t>A theory of timed automata</a:t>
            </a:r>
            <a:r>
              <a:rPr lang="en-US" dirty="0"/>
              <a:t>. Theoretical Computer Science, 126:183-235, 1994.</a:t>
            </a:r>
          </a:p>
        </p:txBody>
      </p:sp>
    </p:spTree>
    <p:extLst>
      <p:ext uri="{BB962C8B-B14F-4D97-AF65-F5344CB8AC3E}">
        <p14:creationId xmlns:p14="http://schemas.microsoft.com/office/powerpoint/2010/main" val="354822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Clocks and Clock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7272" y="1375920"/>
                <a:ext cx="11497456" cy="484499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 </a:t>
                </a:r>
                <a:r>
                  <a:rPr lang="en-US" sz="2400" dirty="0">
                    <a:solidFill>
                      <a:srgbClr val="00B0F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clock variable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 is a continuous (analog) variable of type real such that along any trajectory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τ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of x, for all t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τ</m:t>
                    </m:r>
                    <m:r>
                      <a:rPr lang="en-US" sz="2400" b="0" i="0" smtClean="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dom</m:t>
                    </m:r>
                    <m:r>
                      <a:rPr lang="en-US" sz="2400" b="0" i="0" smtClean="0">
                        <a:latin typeface="Cambria Math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τ</m:t>
                        </m:r>
                        <m:r>
                          <a:rPr lang="en-US" sz="2400" b="0" i="0" smtClean="0">
                            <a:latin typeface="Cambria Math"/>
                          </a:rPr>
                          <m:t>↓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x</m:t>
                        </m:r>
                      </m:e>
                    </m:d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t</m:t>
                        </m:r>
                      </m:e>
                    </m:d>
                    <m:r>
                      <a:rPr lang="en-US" sz="2400" b="0" i="0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t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For a set X of clock variables,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Φ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(X) of </a:t>
                </a:r>
                <a:r>
                  <a:rPr lang="en-US" sz="2400" dirty="0">
                    <a:solidFill>
                      <a:srgbClr val="00B0F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integral clock constraints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are expressions defined by the syntax: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g ::= x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/>
                      </a:rPr>
                      <m:t>≤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q</m:t>
                    </m:r>
                    <m:r>
                      <a:rPr lang="en-US" sz="1800" b="0" i="0" smtClean="0">
                        <a:latin typeface="Cambria Math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</a:rPr>
                          <m:t>x</m:t>
                        </m:r>
                        <m:r>
                          <a:rPr lang="en-US" sz="1800" b="0" i="0" smtClean="0">
                            <a:latin typeface="Cambria Math"/>
                          </a:rPr>
                          <m:t>≥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</a:rPr>
                          <m:t>q</m:t>
                        </m:r>
                        <m:r>
                          <a:rPr lang="en-US" sz="1800" b="0" i="0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1800" b="0" i="0" smtClean="0">
                        <a:latin typeface="Cambria Math"/>
                      </a:rPr>
                      <m:t> ¬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g</m:t>
                    </m:r>
                    <m:r>
                      <a:rPr lang="en-US" sz="1800" b="0" i="0" smtClean="0">
                        <a:latin typeface="Cambria Math"/>
                      </a:rPr>
                      <m:t>  | 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</a:rPr>
                          <m:t>g</m:t>
                        </m:r>
                      </m:e>
                      <m:sub>
                        <m:r>
                          <a:rPr lang="en-US" sz="1800" b="0" i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b="0" i="0" smtClean="0">
                        <a:latin typeface="Cambria Math"/>
                      </a:rPr>
                      <m:t>∧  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</a:rPr>
                          <m:t>g</m:t>
                        </m:r>
                      </m:e>
                      <m:sub>
                        <m:r>
                          <a:rPr lang="en-US" sz="1800" b="0" i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x</m:t>
                    </m:r>
                    <m:r>
                      <a:rPr lang="en-US" sz="1800" b="0" i="0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X</m:t>
                    </m:r>
                    <m:r>
                      <a:rPr lang="en-US" sz="1800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and</m:t>
                    </m:r>
                    <m:r>
                      <a:rPr lang="en-US" sz="1800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q</m:t>
                    </m:r>
                    <m:r>
                      <a:rPr lang="en-US" sz="1800" b="0" i="0" smtClean="0">
                        <a:latin typeface="Cambria Math"/>
                      </a:rPr>
                      <m:t>∈ </m:t>
                    </m:r>
                    <m:r>
                      <a:rPr lang="en-US" sz="1800" b="0" i="0" smtClean="0">
                        <a:latin typeface="Cambria Math"/>
                        <a:ea typeface="Cambria Math"/>
                      </a:rPr>
                      <m:t>ℤ</m:t>
                    </m:r>
                  </m:oMath>
                </a14:m>
                <a:endParaRPr lang="en-US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Examples: x = 10; x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/>
                      </a:rPr>
                      <m:t>∈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[2, 5); true are valid clock constraints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What do clock constraints look like geometrically in state space?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Semantics of clock constraints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/>
                      </a:rPr>
                      <m:t>[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g</m:t>
                    </m:r>
                    <m:r>
                      <a:rPr lang="en-US" sz="2400" b="0" i="0" smtClean="0">
                        <a:latin typeface="Cambria Math"/>
                      </a:rPr>
                      <m:t>]</m:t>
                    </m:r>
                  </m:oMath>
                </a14:m>
                <a:endParaRPr lang="en-US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272" y="1375920"/>
                <a:ext cx="11497456" cy="4844998"/>
              </a:xfrm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98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Timed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Definition. An </a:t>
                </a:r>
                <a:r>
                  <a:rPr lang="en-US" dirty="0">
                    <a:solidFill>
                      <a:srgbClr val="00B0F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integral timed automaton 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is a HIOA  </a:t>
                </a:r>
                <a14:m>
                  <m:oMath xmlns:m="http://schemas.openxmlformats.org/officeDocument/2006/math"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=〈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V</m:t>
                    </m:r>
                    <m:r>
                      <a:rPr lang="en-US" b="0" i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Θ</m:t>
                    </m:r>
                    <m:r>
                      <a:rPr lang="en-US" b="0" i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A</m:t>
                    </m:r>
                    <m:r>
                      <a:rPr lang="en-US" b="0" i="0">
                        <a:latin typeface="Cambria Math"/>
                      </a:rPr>
                      <m:t>, </m:t>
                    </m:r>
                    <m:r>
                      <a:rPr lang="en-US" b="0" i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b="0" i="0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b="0" i="0"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where </a:t>
                </a:r>
              </a:p>
              <a:p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V = X </a:t>
                </a:r>
                <a14:m>
                  <m:oMath xmlns:m="http://schemas.openxmlformats.org/officeDocument/2006/math">
                    <m:r>
                      <a:rPr lang="en-US" b="0" i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/>
                          </a:rPr>
                          <m:t>l</m:t>
                        </m:r>
                      </m:e>
                    </m:d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X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a set of n clocks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l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a discrete state variable of finite 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en-US" baseline="-250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 is a finite set </a:t>
                </a:r>
              </a:p>
              <a:p>
                <a14:m>
                  <m:oMath xmlns:m="http://schemas.openxmlformats.org/officeDocument/2006/math">
                    <m:r>
                      <a:rPr lang="en-US" b="0" i="0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b="0" i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is a set of transitions such that </a:t>
                </a:r>
              </a:p>
              <a:p>
                <a:pPr lvl="1"/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guards are described by clock constraings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Φ</m:t>
                    </m:r>
                    <m:r>
                      <a:rPr lang="en-US" b="0" i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X</m:t>
                    </m:r>
                    <m:r>
                      <a:rPr lang="en-US" b="0" i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/>
                          </a:rPr>
                          <m:t>x</m:t>
                        </m:r>
                        <m:r>
                          <a:rPr lang="en-US" b="0" i="0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>
                            <a:latin typeface="Cambria Math"/>
                          </a:rPr>
                          <m:t>l</m:t>
                        </m:r>
                      </m:e>
                    </m:d>
                    <m:r>
                      <a:rPr lang="en-US" b="0" i="0">
                        <a:latin typeface="Cambria Math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a</m:t>
                    </m:r>
                    <m:r>
                      <a:rPr lang="en-US" b="0" i="0">
                        <a:latin typeface="Cambria Math"/>
                      </a:rPr>
                      <m:t>→</m:t>
                    </m:r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en-US" b="0" i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/>
                              </a:rPr>
                              <m:t>l</m:t>
                            </m:r>
                          </m:e>
                          <m:sup>
                            <m:r>
                              <a:rPr lang="en-US" b="0" i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implies either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/>
                          </a:rPr>
                          <m:t>x</m:t>
                        </m:r>
                      </m:e>
                      <m:sup>
                        <m:r>
                          <a:rPr lang="en-US" b="0" i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x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/>
                      </a:rPr>
                      <m:t>x</m:t>
                    </m:r>
                    <m:r>
                      <a:rPr lang="en-US" b="0" i="0">
                        <a:latin typeface="Cambria Math"/>
                      </a:rPr>
                      <m:t>=0</m:t>
                    </m:r>
                  </m:oMath>
                </a14:m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0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set of clock trajectories for the clock variables in X</a:t>
                </a:r>
              </a:p>
              <a:p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87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Light switch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539875"/>
                <a:ext cx="4724400" cy="4953000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sz="3400" b="1" dirty="0"/>
                  <a:t>Math Formulation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automaton </a:t>
                </a:r>
                <a:r>
                  <a:rPr lang="en-US" sz="3400" dirty="0"/>
                  <a:t>Switch</a:t>
                </a:r>
              </a:p>
              <a:p>
                <a:pPr marL="400050" lvl="1" indent="0">
                  <a:buNone/>
                </a:pPr>
                <a:r>
                  <a:rPr lang="en-US" sz="3400" b="1" dirty="0"/>
                  <a:t>variables</a:t>
                </a:r>
              </a:p>
              <a:p>
                <a:pPr marL="400050" lvl="1" indent="0">
                  <a:buNone/>
                </a:pPr>
                <a:r>
                  <a:rPr lang="en-US" sz="3400" b="1" dirty="0"/>
                  <a:t>internal </a:t>
                </a:r>
                <a:r>
                  <a:rPr lang="en-US" sz="3400" dirty="0"/>
                  <a:t>x, y:Real := 0, </a:t>
                </a:r>
                <a:r>
                  <a:rPr lang="en-US" sz="3400" dirty="0" err="1"/>
                  <a:t>loc</a:t>
                </a:r>
                <a:r>
                  <a:rPr lang="en-US" sz="3400" dirty="0"/>
                  <a:t>: {on,off} := off</a:t>
                </a:r>
              </a:p>
              <a:p>
                <a:pPr marL="400050" lvl="1" indent="0">
                  <a:buNone/>
                </a:pPr>
                <a:endParaRPr lang="en-US" sz="3400" dirty="0"/>
              </a:p>
              <a:p>
                <a:pPr marL="400050" lvl="1" indent="0">
                  <a:buNone/>
                </a:pPr>
                <a:r>
                  <a:rPr lang="en-US" sz="3400" b="1" dirty="0"/>
                  <a:t>transitions</a:t>
                </a:r>
              </a:p>
              <a:p>
                <a:pPr marL="400050" lvl="1" indent="0">
                  <a:buNone/>
                </a:pPr>
                <a:r>
                  <a:rPr lang="en-US" sz="3400" b="1" dirty="0"/>
                  <a:t>internal </a:t>
                </a:r>
                <a:r>
                  <a:rPr lang="en-US" sz="3400" dirty="0"/>
                  <a:t>push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	pre </a:t>
                </a:r>
                <a:r>
                  <a:rPr lang="en-US" sz="3400" dirty="0"/>
                  <a:t>x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/>
                      </a:rPr>
                      <m:t>≥</m:t>
                    </m:r>
                  </m:oMath>
                </a14:m>
                <a:r>
                  <a:rPr lang="en-US" sz="3400" dirty="0"/>
                  <a:t> 2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	eff if </a:t>
                </a:r>
                <a:r>
                  <a:rPr lang="en-US" sz="3400" dirty="0"/>
                  <a:t>loc = on </a:t>
                </a:r>
                <a:r>
                  <a:rPr lang="en-US" sz="3400" b="1" dirty="0"/>
                  <a:t>then </a:t>
                </a:r>
                <a:r>
                  <a:rPr lang="en-US" sz="3400" dirty="0"/>
                  <a:t>x := 0 </a:t>
                </a:r>
                <a:r>
                  <a:rPr lang="en-US" sz="34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3400" dirty="0"/>
                  <a:t>	    </a:t>
                </a:r>
                <a:r>
                  <a:rPr lang="en-US" sz="3400" b="1" dirty="0"/>
                  <a:t>else</a:t>
                </a:r>
                <a:r>
                  <a:rPr lang="en-US" sz="3400" dirty="0"/>
                  <a:t> </a:t>
                </a:r>
                <a:r>
                  <a:rPr lang="en-US" sz="3400" dirty="0" err="1"/>
                  <a:t>x,y</a:t>
                </a:r>
                <a:r>
                  <a:rPr lang="en-US" sz="3400" dirty="0"/>
                  <a:t> := 0; loc := on</a:t>
                </a:r>
              </a:p>
              <a:p>
                <a:pPr marL="400050" lvl="1" indent="0">
                  <a:buNone/>
                </a:pPr>
                <a:r>
                  <a:rPr lang="en-US" sz="3400" b="1" dirty="0"/>
                  <a:t>internal </a:t>
                </a:r>
                <a:r>
                  <a:rPr lang="en-US" sz="3400" dirty="0"/>
                  <a:t>pop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	pre </a:t>
                </a:r>
                <a:r>
                  <a:rPr lang="en-US" sz="3400" dirty="0"/>
                  <a:t>y = 15 /\ loc = on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	eff </a:t>
                </a:r>
                <a:r>
                  <a:rPr lang="en-US" sz="3400" dirty="0"/>
                  <a:t>x := 0</a:t>
                </a:r>
              </a:p>
              <a:p>
                <a:pPr marL="0" indent="0">
                  <a:buNone/>
                </a:pPr>
                <a:r>
                  <a:rPr lang="en-US" sz="3400" dirty="0"/>
                  <a:t>	loc := off</a:t>
                </a:r>
              </a:p>
              <a:p>
                <a:pPr marL="0" indent="0">
                  <a:buNone/>
                </a:pPr>
                <a:endParaRPr lang="en-US" sz="3400" dirty="0"/>
              </a:p>
              <a:p>
                <a:pPr marL="400050" lvl="1" indent="0">
                  <a:buNone/>
                </a:pPr>
                <a:r>
                  <a:rPr lang="en-US" sz="3400" b="1" dirty="0"/>
                  <a:t>trajectories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	invariant </a:t>
                </a:r>
                <a:r>
                  <a:rPr lang="en-US" sz="3400" dirty="0"/>
                  <a:t>loc = on =&gt; y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3400" dirty="0"/>
                  <a:t> 15 </a:t>
                </a:r>
              </a:p>
              <a:p>
                <a:pPr marL="0" indent="0">
                  <a:buNone/>
                </a:pPr>
                <a:r>
                  <a:rPr lang="es-ES" sz="3400" b="1" dirty="0"/>
                  <a:t>	</a:t>
                </a:r>
                <a:r>
                  <a:rPr lang="es-ES" sz="3400" b="1" dirty="0" err="1"/>
                  <a:t>evolve</a:t>
                </a:r>
                <a:r>
                  <a:rPr lang="es-ES" sz="3400" b="1" dirty="0"/>
                  <a:t> </a:t>
                </a:r>
                <a:r>
                  <a:rPr lang="es-ES" sz="3400" dirty="0"/>
                  <a:t>d(x) = 1; d(y) = 1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539875"/>
                <a:ext cx="4724400" cy="4953000"/>
              </a:xfrm>
              <a:blipFill>
                <a:blip r:embed="rId2"/>
                <a:stretch>
                  <a:fillRect l="-804" t="-1790" b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81401"/>
            <a:ext cx="5625355" cy="2519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074229" y="1524001"/>
            <a:ext cx="552815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Description</a:t>
            </a:r>
          </a:p>
          <a:p>
            <a:r>
              <a:rPr lang="en-US" dirty="0"/>
              <a:t>Switch can be turned on whenever at least 2 time units have elapsed since the last turn on. Switches off automatically 15 time units after the last on.</a:t>
            </a:r>
          </a:p>
        </p:txBody>
      </p:sp>
    </p:spTree>
    <p:extLst>
      <p:ext uri="{BB962C8B-B14F-4D97-AF65-F5344CB8AC3E}">
        <p14:creationId xmlns:p14="http://schemas.microsoft.com/office/powerpoint/2010/main" val="293793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Control State (Location) Reachability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Given an ITA </a:t>
                </a:r>
                <a14:m>
                  <m:oMath xmlns:m="http://schemas.openxmlformats.org/officeDocument/2006/math">
                    <m:r>
                      <a:rPr lang="en-U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check if a particular (discrete) control state is reachable from the initial states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Why is control state reachability (CSR) good enough?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This problem is decidable [Alur Dill]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Key idea: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Construct a finite automaton that is </a:t>
                </a:r>
                <a:r>
                  <a:rPr lang="en-US" b="1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 time-abstract </a:t>
                </a:r>
                <a:r>
                  <a:rPr lang="en-US" b="1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bisimilar</a:t>
                </a:r>
                <a:r>
                  <a:rPr lang="en-US" b="1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to the ITA (behaves identically with respect to control state reachability)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Check reachability of FSM </a:t>
                </a:r>
              </a:p>
              <a:p>
                <a:pPr>
                  <a:lnSpc>
                    <a:spcPct val="110000"/>
                  </a:lnSpc>
                </a:pPr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32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An equivalence relation with a finite quotient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9764" y="1439056"/>
                <a:ext cx="6041036" cy="4737907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Under what conditions do two states 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of the automaton  </a:t>
                </a:r>
                <a14:m>
                  <m:oMath xmlns:m="http://schemas.openxmlformats.org/officeDocument/2006/math">
                    <m:r>
                      <a:rPr lang="en-US" sz="24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 behave identically with respect to control state reachability (CSR)?</a:t>
                </a:r>
              </a:p>
              <a:p>
                <a:pPr lvl="1"/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When do they satisfy the same set of clock constraints? </a:t>
                </a:r>
              </a:p>
              <a:p>
                <a:pPr lvl="1"/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When would they continue to satisfy the same set of clock constraints? </a:t>
                </a:r>
              </a:p>
              <a:p>
                <a:pPr lvl="1"/>
                <a:endParaRPr lang="en-US" sz="18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r>
                  <a:rPr lang="en-US" sz="22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If </a:t>
                </a:r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</a:t>
                </a:r>
                <a:r>
                  <a:rPr lang="en-US" sz="20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 </a:t>
                </a:r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x</a:t>
                </a:r>
                <a:r>
                  <a:rPr lang="en-US" sz="20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 </a:t>
                </a:r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are equivalent, x</a:t>
                </a:r>
                <a:r>
                  <a:rPr lang="en-US" sz="20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≡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x</a:t>
                </a:r>
                <a:r>
                  <a:rPr lang="en-US" sz="20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from the point of view of reachability then we can use this equivalence relation on the state space Q to define a new automaton </a:t>
                </a:r>
                <a14:m>
                  <m:oMath xmlns:m="http://schemas.openxmlformats.org/officeDocument/2006/math">
                    <m:r>
                      <a:rPr lang="en-US" sz="20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with state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Q</m:t>
                        </m:r>
                      </m:e>
                      <m:sup>
                        <m:r>
                          <a:rPr lang="en-US" sz="2000" b="0" i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′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quotient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Q</m:t>
                    </m:r>
                  </m:oMath>
                </a14:m>
                <a:r>
                  <a:rPr lang="en-US" sz="22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/</a:t>
                </a:r>
                <a14:m>
                  <m:oMath xmlns:m="http://schemas.openxmlformats.org/officeDocument/2006/math">
                    <m:r>
                      <a:rPr lang="en-US" sz="2400" b="0" i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≡</m:t>
                    </m:r>
                  </m:oMath>
                </a14:m>
                <a:r>
                  <a:rPr lang="en-US" sz="22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(which is smaller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Q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) </m:t>
                    </m:r>
                  </m:oMath>
                </a14:m>
                <a:r>
                  <a:rPr lang="en-US" sz="22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perform reachability analysis on </a:t>
                </a:r>
                <a14:m>
                  <m:oMath xmlns:m="http://schemas.openxmlformats.org/officeDocument/2006/math">
                    <m:r>
                      <a:rPr lang="en-US" sz="24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4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2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764" y="1439056"/>
                <a:ext cx="6041036" cy="4737907"/>
              </a:xfrm>
              <a:blipFill>
                <a:blip r:embed="rId2"/>
                <a:stretch>
                  <a:fillRect l="-1468" t="-1604" r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CEE4DF53-0731-FE99-B1B7-AC3DF756A0F6}"/>
              </a:ext>
            </a:extLst>
          </p:cNvPr>
          <p:cNvGrpSpPr/>
          <p:nvPr/>
        </p:nvGrpSpPr>
        <p:grpSpPr>
          <a:xfrm>
            <a:off x="8640743" y="367267"/>
            <a:ext cx="3334987" cy="2439574"/>
            <a:chOff x="8640743" y="367267"/>
            <a:chExt cx="3334987" cy="24395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FA5F29A9-4F86-17EB-66FC-32FC332C3303}"/>
                    </a:ext>
                  </a:extLst>
                </p:cNvPr>
                <p:cNvSpPr/>
                <p:nvPr/>
              </p:nvSpPr>
              <p:spPr>
                <a:xfrm>
                  <a:off x="8640743" y="914237"/>
                  <a:ext cx="1199408" cy="111628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FA5F29A9-4F86-17EB-66FC-32FC332C33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0743" y="914237"/>
                  <a:ext cx="1199408" cy="111628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EB974209-94E7-EB7E-A82F-81DD6116C944}"/>
                    </a:ext>
                  </a:extLst>
                </p:cNvPr>
                <p:cNvSpPr/>
                <p:nvPr/>
              </p:nvSpPr>
              <p:spPr>
                <a:xfrm>
                  <a:off x="10776322" y="914237"/>
                  <a:ext cx="1199408" cy="111628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off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EB974209-94E7-EB7E-A82F-81DD6116C9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76322" y="914237"/>
                  <a:ext cx="1199408" cy="111628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urved Connector 6">
              <a:extLst>
                <a:ext uri="{FF2B5EF4-FFF2-40B4-BE49-F238E27FC236}">
                  <a16:creationId xmlns:a16="http://schemas.microsoft.com/office/drawing/2014/main" id="{943AB085-17D9-FD99-D1EA-7B92F96E5913}"/>
                </a:ext>
              </a:extLst>
            </p:cNvPr>
            <p:cNvCxnSpPr>
              <a:stCxn id="4" idx="7"/>
              <a:endCxn id="5" idx="1"/>
            </p:cNvCxnSpPr>
            <p:nvPr/>
          </p:nvCxnSpPr>
          <p:spPr>
            <a:xfrm rot="5400000" flipH="1" flipV="1">
              <a:off x="10308236" y="433978"/>
              <a:ext cx="12700" cy="1287469"/>
            </a:xfrm>
            <a:prstGeom prst="curvedConnector3">
              <a:avLst>
                <a:gd name="adj1" fmla="val 308720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Curved Connector 7">
              <a:extLst>
                <a:ext uri="{FF2B5EF4-FFF2-40B4-BE49-F238E27FC236}">
                  <a16:creationId xmlns:a16="http://schemas.microsoft.com/office/drawing/2014/main" id="{3596B0FD-4B19-139F-A95D-62954D1944EF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rot="5400000">
              <a:off x="10308237" y="1223308"/>
              <a:ext cx="12700" cy="1287469"/>
            </a:xfrm>
            <a:prstGeom prst="curvedConnector3">
              <a:avLst>
                <a:gd name="adj1" fmla="val 308720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483A627-6512-5B0A-26D6-452E92D5BC8C}"/>
                    </a:ext>
                  </a:extLst>
                </p:cNvPr>
                <p:cNvSpPr txBox="1"/>
                <p:nvPr/>
              </p:nvSpPr>
              <p:spPr>
                <a:xfrm>
                  <a:off x="9897356" y="367267"/>
                  <a:ext cx="916213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turnoff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483A627-6512-5B0A-26D6-452E92D5B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7356" y="367267"/>
                  <a:ext cx="916213" cy="923330"/>
                </a:xfrm>
                <a:prstGeom prst="rect">
                  <a:avLst/>
                </a:prstGeom>
                <a:blipFill>
                  <a:blip r:embed="rId5"/>
                  <a:stretch>
                    <a:fillRect l="-5479" t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F226205-F6A9-1803-AB63-B6C1F8CC2A88}"/>
                    </a:ext>
                  </a:extLst>
                </p:cNvPr>
                <p:cNvSpPr txBox="1"/>
                <p:nvPr/>
              </p:nvSpPr>
              <p:spPr>
                <a:xfrm>
                  <a:off x="9953159" y="1883511"/>
                  <a:ext cx="893193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i="1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turnon</a:t>
                  </a:r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F226205-F6A9-1803-AB63-B6C1F8CC2A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3159" y="1883511"/>
                  <a:ext cx="893193" cy="923330"/>
                </a:xfrm>
                <a:prstGeom prst="rect">
                  <a:avLst/>
                </a:prstGeom>
                <a:blipFill>
                  <a:blip r:embed="rId6"/>
                  <a:stretch>
                    <a:fillRect l="-5634" t="-27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E623C8B-35C9-FF7E-10C2-8FC945C536F4}"/>
              </a:ext>
            </a:extLst>
          </p:cNvPr>
          <p:cNvGrpSpPr/>
          <p:nvPr/>
        </p:nvGrpSpPr>
        <p:grpSpPr>
          <a:xfrm>
            <a:off x="6589819" y="3548540"/>
            <a:ext cx="4894523" cy="3098082"/>
            <a:chOff x="6589819" y="3548540"/>
            <a:chExt cx="4894523" cy="30980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FEEF6785-B695-6E90-3E9A-775CAD20F1EE}"/>
                    </a:ext>
                  </a:extLst>
                </p:cNvPr>
                <p:cNvSpPr/>
                <p:nvPr/>
              </p:nvSpPr>
              <p:spPr>
                <a:xfrm>
                  <a:off x="8338459" y="4603939"/>
                  <a:ext cx="1370610" cy="779813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FEEF6785-B695-6E90-3E9A-775CAD20F1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8459" y="4603939"/>
                  <a:ext cx="1370610" cy="77981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A2D3AFD0-A8EB-F4B4-9937-A787365013E6}"/>
                    </a:ext>
                  </a:extLst>
                </p:cNvPr>
                <p:cNvSpPr/>
                <p:nvPr/>
              </p:nvSpPr>
              <p:spPr>
                <a:xfrm>
                  <a:off x="6589819" y="4603939"/>
                  <a:ext cx="1370610" cy="779813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A2D3AFD0-A8EB-F4B4-9937-A787365013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9819" y="4603939"/>
                  <a:ext cx="1370610" cy="779813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B52C876-D7EE-A552-19FE-DCFF4F3FCBD7}"/>
                    </a:ext>
                  </a:extLst>
                </p:cNvPr>
                <p:cNvSpPr/>
                <p:nvPr/>
              </p:nvSpPr>
              <p:spPr>
                <a:xfrm>
                  <a:off x="8361672" y="5866809"/>
                  <a:ext cx="1370610" cy="779813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off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&lt;2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B52C876-D7EE-A552-19FE-DCFF4F3FCB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1672" y="5866809"/>
                  <a:ext cx="1370610" cy="779813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887F0B0E-B651-533C-D7DF-C03F469BC752}"/>
                    </a:ext>
                  </a:extLst>
                </p:cNvPr>
                <p:cNvSpPr/>
                <p:nvPr/>
              </p:nvSpPr>
              <p:spPr>
                <a:xfrm>
                  <a:off x="6609612" y="5860744"/>
                  <a:ext cx="1370610" cy="779813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off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887F0B0E-B651-533C-D7DF-C03F469BC7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9612" y="5860744"/>
                  <a:ext cx="1370610" cy="779813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BA003888-F666-F306-887F-60A5B21A84E9}"/>
                    </a:ext>
                  </a:extLst>
                </p:cNvPr>
                <p:cNvSpPr/>
                <p:nvPr/>
              </p:nvSpPr>
              <p:spPr>
                <a:xfrm>
                  <a:off x="10113732" y="5860743"/>
                  <a:ext cx="1370610" cy="779813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off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BA003888-F666-F306-887F-60A5B21A8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3732" y="5860743"/>
                  <a:ext cx="1370610" cy="779813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C07984A-5E72-54D8-310F-716D7B263AD6}"/>
                </a:ext>
              </a:extLst>
            </p:cNvPr>
            <p:cNvCxnSpPr>
              <a:stCxn id="14" idx="6"/>
              <a:endCxn id="13" idx="2"/>
            </p:cNvCxnSpPr>
            <p:nvPr/>
          </p:nvCxnSpPr>
          <p:spPr>
            <a:xfrm>
              <a:off x="7960429" y="4993846"/>
              <a:ext cx="3780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4C0DCF6-A68B-06A1-99F9-775EF8BD92A0}"/>
                    </a:ext>
                  </a:extLst>
                </p:cNvPr>
                <p:cNvSpPr txBox="1"/>
                <p:nvPr/>
              </p:nvSpPr>
              <p:spPr>
                <a:xfrm>
                  <a:off x="7980222" y="4548249"/>
                  <a:ext cx="3418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4C0DCF6-A68B-06A1-99F9-775EF8BD92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0222" y="4548249"/>
                  <a:ext cx="34188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6F8A96F4-1206-2912-1E89-C69E312BAF0E}"/>
                    </a:ext>
                  </a:extLst>
                </p:cNvPr>
                <p:cNvSpPr/>
                <p:nvPr/>
              </p:nvSpPr>
              <p:spPr>
                <a:xfrm>
                  <a:off x="10087099" y="4603939"/>
                  <a:ext cx="1370610" cy="779813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6F8A96F4-1206-2912-1E89-C69E312BAF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7099" y="4603939"/>
                  <a:ext cx="1370610" cy="779813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29D4F4D-B8E5-5B91-AF2F-D29EAF2A0B69}"/>
                </a:ext>
              </a:extLst>
            </p:cNvPr>
            <p:cNvCxnSpPr/>
            <p:nvPr/>
          </p:nvCxnSpPr>
          <p:spPr>
            <a:xfrm>
              <a:off x="9715993" y="4991871"/>
              <a:ext cx="3780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0FFC296-514D-5074-6AB8-ADC93CD88345}"/>
                    </a:ext>
                  </a:extLst>
                </p:cNvPr>
                <p:cNvSpPr txBox="1"/>
                <p:nvPr/>
              </p:nvSpPr>
              <p:spPr>
                <a:xfrm>
                  <a:off x="9735786" y="4546274"/>
                  <a:ext cx="3418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0FFC296-514D-5074-6AB8-ADC93CD883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5786" y="4546274"/>
                  <a:ext cx="34188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F1940E4-8D8B-365F-A165-5D039EB7B6CA}"/>
                </a:ext>
              </a:extLst>
            </p:cNvPr>
            <p:cNvCxnSpPr/>
            <p:nvPr/>
          </p:nvCxnSpPr>
          <p:spPr>
            <a:xfrm>
              <a:off x="7994079" y="6250651"/>
              <a:ext cx="3780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2A9DCC0-6C54-9C07-BCEE-D929E89D6BD4}"/>
                    </a:ext>
                  </a:extLst>
                </p:cNvPr>
                <p:cNvSpPr txBox="1"/>
                <p:nvPr/>
              </p:nvSpPr>
              <p:spPr>
                <a:xfrm>
                  <a:off x="8013872" y="5805054"/>
                  <a:ext cx="3418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2A9DCC0-6C54-9C07-BCEE-D929E89D6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3872" y="5805054"/>
                  <a:ext cx="34188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EF60DC7-9235-1D88-7648-87DDA6EA0C17}"/>
                </a:ext>
              </a:extLst>
            </p:cNvPr>
            <p:cNvCxnSpPr/>
            <p:nvPr/>
          </p:nvCxnSpPr>
          <p:spPr>
            <a:xfrm>
              <a:off x="9727874" y="6250651"/>
              <a:ext cx="3780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029592E-3DAD-2987-8C12-23329B17D5A5}"/>
                    </a:ext>
                  </a:extLst>
                </p:cNvPr>
                <p:cNvSpPr txBox="1"/>
                <p:nvPr/>
              </p:nvSpPr>
              <p:spPr>
                <a:xfrm>
                  <a:off x="9747667" y="5805054"/>
                  <a:ext cx="3418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029592E-3DAD-2987-8C12-23329B17D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7667" y="5805054"/>
                  <a:ext cx="341888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3A426DD-B0D0-84AF-E67F-D3FEE1393AEE}"/>
                </a:ext>
              </a:extLst>
            </p:cNvPr>
            <p:cNvCxnSpPr>
              <a:cxnSpLocks/>
              <a:stCxn id="23" idx="4"/>
              <a:endCxn id="17" idx="0"/>
            </p:cNvCxnSpPr>
            <p:nvPr/>
          </p:nvCxnSpPr>
          <p:spPr>
            <a:xfrm flipH="1">
              <a:off x="7294917" y="5383752"/>
              <a:ext cx="3477487" cy="4769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90AFC1E-BE4E-989E-4120-4A55E8340294}"/>
                </a:ext>
              </a:extLst>
            </p:cNvPr>
            <p:cNvSpPr txBox="1"/>
            <p:nvPr/>
          </p:nvSpPr>
          <p:spPr>
            <a:xfrm>
              <a:off x="8070232" y="5328062"/>
              <a:ext cx="9767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1" dirty="0">
                  <a:latin typeface="Calibri" panose="020F0502020204030204" pitchFamily="34" charset="0"/>
                  <a:cs typeface="Calibri" panose="020F0502020204030204" pitchFamily="34" charset="0"/>
                </a:rPr>
                <a:t>turnoff</a:t>
              </a:r>
            </a:p>
          </p:txBody>
        </p: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CE8D019E-87C6-8EF9-6012-687EDE51400C}"/>
                </a:ext>
              </a:extLst>
            </p:cNvPr>
            <p:cNvCxnSpPr>
              <a:stCxn id="18" idx="6"/>
              <a:endCxn id="14" idx="0"/>
            </p:cNvCxnSpPr>
            <p:nvPr/>
          </p:nvCxnSpPr>
          <p:spPr>
            <a:xfrm flipH="1" flipV="1">
              <a:off x="7275124" y="4603939"/>
              <a:ext cx="4209218" cy="1646711"/>
            </a:xfrm>
            <a:prstGeom prst="curvedConnector4">
              <a:avLst>
                <a:gd name="adj1" fmla="val -11638"/>
                <a:gd name="adj2" fmla="val 14056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1CA2602-8B54-4B3A-DD01-854527A1186A}"/>
                </a:ext>
              </a:extLst>
            </p:cNvPr>
            <p:cNvSpPr txBox="1"/>
            <p:nvPr/>
          </p:nvSpPr>
          <p:spPr>
            <a:xfrm>
              <a:off x="9625359" y="3548540"/>
              <a:ext cx="9767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turnon</a:t>
              </a:r>
              <a:endParaRPr lang="en-US" b="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737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An equivalence relation with a finite quotient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9764" y="1439056"/>
                <a:ext cx="11377534" cy="4737907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Under what conditions do two states 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of the automaton  </a:t>
                </a:r>
                <a14:m>
                  <m:oMath xmlns:m="http://schemas.openxmlformats.org/officeDocument/2006/math">
                    <m:r>
                      <a:rPr lang="en-US" sz="24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 behave identically with respect to control state reachability (CSR)?</a:t>
                </a:r>
              </a:p>
              <a:p>
                <a:pPr lvl="1"/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When do they satisfy the same set of clock constraints? </a:t>
                </a:r>
              </a:p>
              <a:p>
                <a:pPr lvl="1"/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When would they continue to satisfy the same set of clock constraints? </a:t>
                </a:r>
              </a:p>
              <a:p>
                <a:pPr lvl="1"/>
                <a:endParaRPr lang="en-US" sz="18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/>
                      </a:rPr>
                      <m:t>.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loc</m:t>
                    </m:r>
                    <m:r>
                      <a:rPr lang="en-US" sz="2400" b="0" i="0" smtClean="0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sz="2400" dirty="0">
                        <a:latin typeface="Calibri Light" panose="020F0302020204030204" pitchFamily="34" charset="0"/>
                        <a:cs typeface="Calibri Light" panose="020F030202020403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sz="2400" baseline="-25000" dirty="0" smtClean="0">
                        <a:latin typeface="Calibri Light" panose="020F0302020204030204" pitchFamily="34" charset="0"/>
                        <a:cs typeface="Calibri Light" panose="020F030202020403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>
                        <a:latin typeface="Cambria Math"/>
                      </a:rPr>
                      <m:t>l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oc</m:t>
                    </m:r>
                    <m:r>
                      <a:rPr lang="en-US" sz="2400" b="0" i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</a:t>
                </a:r>
              </a:p>
              <a:p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x</a:t>
                </a:r>
                <a:r>
                  <a:rPr lang="en-US" sz="24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 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satisfy the same set of clock constraints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For each clock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=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or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y</m:t>
                    </m:r>
                    <m:r>
                      <a:rPr lang="en-US" sz="1800" b="0" i="0" smtClean="0">
                        <a:latin typeface="Cambria Math"/>
                      </a:rPr>
                      <m:t>)≥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  <a:ea typeface="Cambria Math"/>
                          </a:rPr>
                          <m:t>y</m:t>
                        </m:r>
                      </m:sub>
                    </m:sSub>
                    <m:r>
                      <a:rPr lang="en-US" sz="18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and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int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y</m:t>
                    </m:r>
                    <m:r>
                      <a:rPr lang="en-US" sz="1800" b="0" i="0" smtClean="0">
                        <a:latin typeface="Cambria Math"/>
                      </a:rPr>
                      <m:t>)≥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/>
                            <a:ea typeface="Cambria Math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>
                            <a:latin typeface="Cambria Math"/>
                            <a:ea typeface="Cambria Math"/>
                          </a:rPr>
                          <m:t>y</m:t>
                        </m:r>
                      </m:sub>
                    </m:sSub>
                    <m:r>
                      <a:rPr lang="en-US" sz="18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  <a:ea typeface="Cambria Math"/>
                      </a:rPr>
                      <m:t>is</m:t>
                    </m:r>
                    <m:r>
                      <a:rPr lang="en-US" sz="18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  <a:ea typeface="Cambria Math"/>
                      </a:rPr>
                      <m:t>the</m:t>
                    </m:r>
                    <m:r>
                      <a:rPr lang="en-US" sz="18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  <a:ea typeface="Cambria Math"/>
                      </a:rPr>
                      <m:t>maxium</m:t>
                    </m:r>
                    <m:r>
                      <a:rPr lang="en-US" sz="18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  <a:ea typeface="Cambria Math"/>
                      </a:rPr>
                      <m:t>clock</m:t>
                    </m:r>
                    <m:r>
                      <a:rPr lang="en-US" sz="18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  <a:ea typeface="Cambria Math"/>
                      </a:rPr>
                      <m:t>guard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For each clock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with x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frac(x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y</m:t>
                    </m:r>
                    <m:r>
                      <a:rPr lang="en-US" sz="1800" b="0" i="0">
                        <a:latin typeface="Cambria Math"/>
                      </a:rPr>
                      <m:t>)=0 </m:t>
                    </m:r>
                  </m:oMath>
                </a14:m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iff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frac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y</m:t>
                    </m:r>
                    <m:r>
                      <a:rPr lang="en-US" sz="1800" b="0" i="0">
                        <a:latin typeface="Cambria Math"/>
                      </a:rPr>
                      <m:t>)=0</m:t>
                    </m:r>
                  </m:oMath>
                </a14:m>
                <a:endParaRPr lang="en-US" sz="18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For any two clocks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/>
                      </a:rPr>
                      <m:t>z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with x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  <m: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x</a:t>
                </a:r>
                <a:r>
                  <a:rPr lang="en-US" sz="1800" baseline="-250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z</m:t>
                    </m:r>
                    <m:r>
                      <a:rPr lang="en-US" sz="1800" b="0" i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800" b="0" i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z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frac(x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0" i="0">
                        <a:latin typeface="Cambria Math"/>
                      </a:rPr>
                      <m:t>≤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frac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1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z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iff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sz="18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frac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y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800" b="0" i="0">
                        <a:latin typeface="Cambria Math"/>
                      </a:rPr>
                      <m:t>≤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frac(x</a:t>
                </a:r>
                <a:r>
                  <a:rPr lang="en-US" sz="1800" baseline="-25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2</a:t>
                </a:r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>
                        <a:latin typeface="Cambria Math"/>
                      </a:rPr>
                      <m:t>z</m:t>
                    </m:r>
                  </m:oMath>
                </a14:m>
                <a:r>
                  <a:rPr lang="en-US" sz="18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</a:t>
                </a:r>
              </a:p>
              <a:p>
                <a:r>
                  <a:rPr lang="en-US" sz="2400" dirty="0">
                    <a:solidFill>
                      <a:srgbClr val="0070C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Lemma.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This is a equivalence relation on </a:t>
                </a:r>
                <a:r>
                  <a:rPr lang="en-US" sz="24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val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(V) the states of </a:t>
                </a:r>
                <a14:m>
                  <m:oMath xmlns:m="http://schemas.openxmlformats.org/officeDocument/2006/math">
                    <m:r>
                      <a:rPr lang="en-US" sz="24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</a:p>
              <a:p>
                <a:endParaRPr lang="en-US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partition of </a:t>
                </a:r>
                <a:r>
                  <a:rPr lang="en-US" sz="2400" dirty="0" err="1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val</a:t>
                </a:r>
                <a:r>
                  <a:rPr lang="en-US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(V) induced by this relation is are called clock regions </a:t>
                </a:r>
              </a:p>
              <a:p>
                <a:pPr lvl="1"/>
                <a:endParaRPr lang="en-US" sz="18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764" y="1439056"/>
                <a:ext cx="11377534" cy="4737907"/>
              </a:xfrm>
              <a:blipFill>
                <a:blip r:embed="rId2"/>
                <a:stretch>
                  <a:fillRect l="-780" t="-1604" b="-7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076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Geometry of clock regions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1524001"/>
            <a:ext cx="7119078" cy="526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4852" y="1840676"/>
                <a:ext cx="3661349" cy="2337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Example of Two Clocks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X = {</a:t>
                </a:r>
                <a:r>
                  <a:rPr lang="en-US" sz="2400" dirty="0" err="1"/>
                  <a:t>y,z</a:t>
                </a:r>
                <a:r>
                  <a:rPr lang="en-US" sz="2400" dirty="0"/>
                  <a:t>}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/>
                  <a:t> = 2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2400" dirty="0"/>
                  <a:t> = 3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52" y="1840676"/>
                <a:ext cx="3661349" cy="2337499"/>
              </a:xfrm>
              <a:prstGeom prst="rect">
                <a:avLst/>
              </a:prstGeom>
              <a:blipFill>
                <a:blip r:embed="rId3"/>
                <a:stretch>
                  <a:fillRect l="-2414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1722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>
                    <a:solidFill>
                      <a:srgbClr val="0070C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Lemma</a:t>
                </a:r>
                <a:r>
                  <a:rPr lang="en-US" sz="32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 The number of clock regions is bounded by</a:t>
                </a:r>
              </a:p>
              <a:p>
                <a:pPr marL="0" indent="0">
                  <a:buNone/>
                </a:pPr>
                <a:r>
                  <a:rPr lang="en-US" sz="32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|X|! 2</a:t>
                </a:r>
                <a:r>
                  <a:rPr lang="en-US" sz="3200" baseline="30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|X|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p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sz="3200" b="0" i="0" smtClean="0">
                            <a:latin typeface="Cambria Math"/>
                          </a:rPr>
                          <m:t>z</m:t>
                        </m:r>
                        <m:r>
                          <a:rPr lang="en-US" sz="3200" b="0" i="0" smtClean="0">
                            <a:latin typeface="Cambria Math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/>
                          </a:rPr>
                          <m:t>X</m:t>
                        </m:r>
                      </m:sub>
                      <m:sup/>
                      <m:e>
                        <m:r>
                          <a:rPr lang="en-US" sz="3200" b="0" i="0">
                            <a:latin typeface="Cambria Math"/>
                          </a:rPr>
                          <m:t>(2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>
                                <a:latin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en-US" sz="3200" b="0" i="0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  <m:r>
                              <m:rPr>
                                <m:sty m:val="p"/>
                              </m:rPr>
                              <a:rPr lang="en-US" sz="3200" b="0" i="0">
                                <a:latin typeface="Cambria Math"/>
                                <a:ea typeface="Cambria Math"/>
                              </a:rPr>
                              <m:t>z</m:t>
                            </m:r>
                          </m:sub>
                        </m:sSub>
                        <m:r>
                          <a:rPr lang="en-US" sz="3200" b="0" i="0">
                            <a:latin typeface="Cambria Math"/>
                            <a:ea typeface="Cambria Math"/>
                          </a:rPr>
                          <m:t>+2)</m:t>
                        </m:r>
                      </m:e>
                    </m:nary>
                  </m:oMath>
                </a14:m>
                <a:r>
                  <a:rPr lang="en-US" sz="32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32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0" indent="0">
                  <a:buNone/>
                </a:pPr>
                <a:endParaRPr lang="en-US" sz="32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Finite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  <a:blipFill>
                <a:blip r:embed="rId2"/>
                <a:stretch>
                  <a:fillRect l="-1339" t="-6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97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Region automaton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7639"/>
                <a:ext cx="10644266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Given an ITA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=〈</m:t>
                    </m:r>
                    <m:r>
                      <a:rPr lang="en-US" sz="2000" i="1">
                        <a:latin typeface="Cambria Math"/>
                      </a:rPr>
                      <m:t>𝑉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Θ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sz="2000" dirty="0"/>
                  <a:t>, we construct the corresponding </a:t>
                </a:r>
                <a:r>
                  <a:rPr lang="en-US" sz="2000" b="1" dirty="0"/>
                  <a:t>Region Automaton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=⟨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000" dirty="0"/>
                  <a:t> such that 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visits the same set of locations (but does not have  timing information) and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finite state machine.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ITA (clock constants) defines a set of  clock regions,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000" dirty="0"/>
                  <a:t>. The set of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is the set of states contain initial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Θ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000" dirty="0"/>
                  <a:t>We add the transitions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(regions)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600" b="1" dirty="0"/>
                  <a:t>Time successors</a:t>
                </a:r>
                <a:r>
                  <a:rPr lang="en-US" sz="1600" dirty="0"/>
                  <a:t>: Consider two clock regions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and</m:t>
                    </m:r>
                    <m:r>
                      <a:rPr lang="en-US" sz="160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/>
                  <a:t>, we say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/>
                  <a:t> is a time successor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</m:oMath>
                </a14:m>
                <a:r>
                  <a:rPr lang="en-US" sz="1600" dirty="0"/>
                  <a:t> if there exits a trajectory of ITA starting from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</m:oMath>
                </a14:m>
                <a:r>
                  <a:rPr lang="en-US" sz="1600" dirty="0"/>
                  <a:t> that ends in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</m:oMath>
                </a14:m>
                <a:r>
                  <a:rPr lang="en-US" sz="1600" dirty="0"/>
                  <a:t>’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600" b="1" dirty="0"/>
                  <a:t>Discrete transitions</a:t>
                </a:r>
                <a:r>
                  <a:rPr lang="en-US" sz="1600" dirty="0"/>
                  <a:t>: Same as the ITA</a:t>
                </a:r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Theorem.</a:t>
                </a:r>
                <a:r>
                  <a:rPr lang="en-US" sz="2000" dirty="0"/>
                  <a:t> A location of ITA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reachable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it is also reachable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(we say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</m:oMath>
                </a14:m>
                <a:r>
                  <a:rPr lang="en-US" sz="2000" dirty="0"/>
                  <a:t> is </a:t>
                </a:r>
                <a:r>
                  <a:rPr lang="en-US" sz="2000" i="1" dirty="0"/>
                  <a:t>time abstract </a:t>
                </a:r>
                <a:r>
                  <a:rPr lang="en-US" sz="2000" i="1" dirty="0" err="1"/>
                  <a:t>bisimilar</a:t>
                </a:r>
                <a:r>
                  <a:rPr lang="en-US" sz="2000" i="1" dirty="0"/>
                  <a:t> </a:t>
                </a:r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Proof. For each execution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/>
                  <a:t> inductively construct the corresponding execution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/>
                  <a:t>) and vice versa.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7639"/>
                <a:ext cx="10644266" cy="4525963"/>
              </a:xfrm>
              <a:blipFill>
                <a:blip r:embed="rId3"/>
                <a:stretch>
                  <a:fillRect l="-715" b="-2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43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successors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524001"/>
            <a:ext cx="462915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143750" y="1905000"/>
            <a:ext cx="3200400" cy="106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clock regions in blue are time successors of the clock region in red. </a:t>
            </a:r>
          </a:p>
        </p:txBody>
      </p:sp>
    </p:spTree>
    <p:extLst>
      <p:ext uri="{BB962C8B-B14F-4D97-AF65-F5344CB8AC3E}">
        <p14:creationId xmlns:p14="http://schemas.microsoft.com/office/powerpoint/2010/main" val="3400157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Region Automata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29" y="1524001"/>
            <a:ext cx="5080862" cy="129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3657601"/>
            <a:ext cx="6219825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81200" y="1772484"/>
            <a:ext cx="1219200" cy="6659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err="1"/>
              <a:t>ITA</a:t>
            </a:r>
            <a:endParaRPr lang="en-US" sz="320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828800" y="2857500"/>
            <a:ext cx="3581400" cy="68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 </a:t>
            </a:r>
            <a:r>
              <a:rPr lang="en-US" sz="3200" dirty="0"/>
              <a:t>Corresponding FA</a:t>
            </a:r>
          </a:p>
        </p:txBody>
      </p:sp>
    </p:spTree>
    <p:extLst>
      <p:ext uri="{BB962C8B-B14F-4D97-AF65-F5344CB8AC3E}">
        <p14:creationId xmlns:p14="http://schemas.microsoft.com/office/powerpoint/2010/main" val="3766278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" r="3399"/>
          <a:stretch/>
        </p:blipFill>
        <p:spPr bwMode="auto">
          <a:xfrm>
            <a:off x="3733801" y="1828801"/>
            <a:ext cx="5355771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4114800"/>
            <a:ext cx="26289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133600" y="2310229"/>
            <a:ext cx="1219200" cy="6659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err="1"/>
              <a:t>ITA</a:t>
            </a:r>
            <a:endParaRPr lang="en-US" sz="32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155371" y="4800600"/>
            <a:ext cx="1905000" cy="106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Clock Regions</a:t>
            </a:r>
          </a:p>
        </p:txBody>
      </p:sp>
    </p:spTree>
    <p:extLst>
      <p:ext uri="{BB962C8B-B14F-4D97-AF65-F5344CB8AC3E}">
        <p14:creationId xmlns:p14="http://schemas.microsoft.com/office/powerpoint/2010/main" val="633469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28600"/>
            <a:ext cx="4852988" cy="610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147456" y="4237121"/>
                <a:ext cx="24261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|X|! 2</a:t>
                </a:r>
                <a:r>
                  <a:rPr lang="en-US" baseline="30000" dirty="0"/>
                  <a:t>|X|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𝑧</m:t>
                        </m:r>
                        <m:r>
                          <a:rPr lang="en-US" i="1">
                            <a:latin typeface="Cambria Math"/>
                          </a:rPr>
                          <m:t>∈</m:t>
                        </m:r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  <m:sup/>
                      <m:e>
                        <m:r>
                          <a:rPr lang="en-US" i="1">
                            <a:latin typeface="Cambria Math"/>
                          </a:rPr>
                          <m:t>(2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𝑧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  <a:ea typeface="Cambria Math"/>
                          </a:rPr>
                          <m:t>+2)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456" y="4237121"/>
                <a:ext cx="2426177" cy="369332"/>
              </a:xfrm>
              <a:prstGeom prst="rect">
                <a:avLst/>
              </a:prstGeom>
              <a:blipFill>
                <a:blip r:embed="rId3"/>
                <a:stretch>
                  <a:fillRect l="-1563" t="-110000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147455" y="4008521"/>
            <a:ext cx="1066800" cy="8382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638301" y="304800"/>
            <a:ext cx="3581400" cy="68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 </a:t>
            </a:r>
            <a:r>
              <a:rPr lang="en-US" sz="3200" dirty="0"/>
              <a:t>Corresponding FA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147455" y="5029200"/>
            <a:ext cx="2653145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Drastically increasing with the number of clocks</a:t>
            </a:r>
          </a:p>
        </p:txBody>
      </p:sp>
    </p:spTree>
    <p:extLst>
      <p:ext uri="{BB962C8B-B14F-4D97-AF65-F5344CB8AC3E}">
        <p14:creationId xmlns:p14="http://schemas.microsoft.com/office/powerpoint/2010/main" val="1678656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9CF5-1A57-9F17-4109-37B23426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1433D-1C20-7798-0EC8-03FA6A8F5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idea: If two states behave similarly---simulate each other---then a verification algorithm need not keep track of them separately</a:t>
            </a:r>
          </a:p>
          <a:p>
            <a:pPr lvl="1"/>
            <a:r>
              <a:rPr lang="en-US" dirty="0"/>
              <a:t>Related to notion of </a:t>
            </a:r>
            <a:r>
              <a:rPr lang="en-US" b="1" dirty="0"/>
              <a:t>indistinguishability</a:t>
            </a:r>
          </a:p>
          <a:p>
            <a:r>
              <a:rPr lang="en-US" dirty="0"/>
              <a:t>Big savings in memory and computation</a:t>
            </a:r>
          </a:p>
          <a:p>
            <a:r>
              <a:rPr lang="en-US" dirty="0"/>
              <a:t>Many generalizations</a:t>
            </a:r>
          </a:p>
          <a:p>
            <a:pPr lvl="1"/>
            <a:r>
              <a:rPr lang="en-US" dirty="0"/>
              <a:t>Simulation (one way containment) as opposed to bi-simulation</a:t>
            </a:r>
          </a:p>
          <a:p>
            <a:pPr lvl="1"/>
            <a:r>
              <a:rPr lang="en-US" dirty="0"/>
              <a:t>Simulation-like relations for stability (not just reachability) and other kinds of requirements</a:t>
            </a:r>
          </a:p>
          <a:p>
            <a:pPr lvl="1"/>
            <a:r>
              <a:rPr lang="en-US" dirty="0"/>
              <a:t>Computing simulations offline vs online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51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1356</Words>
  <Application>Microsoft Macintosh PowerPoint</Application>
  <PresentationFormat>Widescreen</PresentationFormat>
  <Paragraphs>160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Cambria Math</vt:lpstr>
      <vt:lpstr>Office Theme</vt:lpstr>
      <vt:lpstr>Timed Automata</vt:lpstr>
      <vt:lpstr>Outline</vt:lpstr>
      <vt:lpstr>Hybrid Automaton</vt:lpstr>
      <vt:lpstr>Special Classes of Hybrid Automata</vt:lpstr>
      <vt:lpstr>Clocks and Clock Constraints</vt:lpstr>
      <vt:lpstr>Integral Timed Automata</vt:lpstr>
      <vt:lpstr>Example: Light switch</vt:lpstr>
      <vt:lpstr>Control State (Location) Reachability Problem</vt:lpstr>
      <vt:lpstr>An equivalence relation with a finite quotient</vt:lpstr>
      <vt:lpstr>An equivalence relation with a finite quotient</vt:lpstr>
      <vt:lpstr>Geometry of clock regions</vt:lpstr>
      <vt:lpstr>Complexity</vt:lpstr>
      <vt:lpstr>Region automaton R(A) </vt:lpstr>
      <vt:lpstr>Time successors</vt:lpstr>
      <vt:lpstr>Example 1: Region Automata</vt:lpstr>
      <vt:lpstr>Example 2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Cyberphysical Systems: Part 2</dc:title>
  <dc:creator>Mitra, Sayan</dc:creator>
  <cp:lastModifiedBy>Mitra, Sayan</cp:lastModifiedBy>
  <cp:revision>19</cp:revision>
  <dcterms:created xsi:type="dcterms:W3CDTF">2025-10-14T16:14:11Z</dcterms:created>
  <dcterms:modified xsi:type="dcterms:W3CDTF">2025-10-23T16:03:49Z</dcterms:modified>
</cp:coreProperties>
</file>