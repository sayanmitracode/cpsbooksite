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0" r:id="rId2"/>
  </p:sldMasterIdLst>
  <p:notesMasterIdLst>
    <p:notesMasterId r:id="rId38"/>
  </p:notesMasterIdLst>
  <p:sldIdLst>
    <p:sldId id="257" r:id="rId3"/>
    <p:sldId id="294" r:id="rId4"/>
    <p:sldId id="323" r:id="rId5"/>
    <p:sldId id="291" r:id="rId6"/>
    <p:sldId id="292" r:id="rId7"/>
    <p:sldId id="293" r:id="rId8"/>
    <p:sldId id="301" r:id="rId9"/>
    <p:sldId id="302" r:id="rId10"/>
    <p:sldId id="303" r:id="rId11"/>
    <p:sldId id="304" r:id="rId12"/>
    <p:sldId id="296" r:id="rId13"/>
    <p:sldId id="299" r:id="rId14"/>
    <p:sldId id="297" r:id="rId15"/>
    <p:sldId id="322" r:id="rId16"/>
    <p:sldId id="365" r:id="rId17"/>
    <p:sldId id="280" r:id="rId18"/>
    <p:sldId id="331" r:id="rId19"/>
    <p:sldId id="281" r:id="rId20"/>
    <p:sldId id="282" r:id="rId21"/>
    <p:sldId id="283" r:id="rId22"/>
    <p:sldId id="284" r:id="rId23"/>
    <p:sldId id="324" r:id="rId24"/>
    <p:sldId id="325" r:id="rId25"/>
    <p:sldId id="326" r:id="rId26"/>
    <p:sldId id="327" r:id="rId27"/>
    <p:sldId id="285" r:id="rId28"/>
    <p:sldId id="363" r:id="rId29"/>
    <p:sldId id="286" r:id="rId30"/>
    <p:sldId id="287" r:id="rId31"/>
    <p:sldId id="288" r:id="rId32"/>
    <p:sldId id="289" r:id="rId33"/>
    <p:sldId id="290" r:id="rId34"/>
    <p:sldId id="364" r:id="rId35"/>
    <p:sldId id="330" r:id="rId36"/>
    <p:sldId id="274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an" initials="h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81972"/>
  </p:normalViewPr>
  <p:slideViewPr>
    <p:cSldViewPr snapToGrid="0" snapToObjects="1" showGuides="1">
      <p:cViewPr varScale="1">
        <p:scale>
          <a:sx n="88" d="100"/>
          <a:sy n="88" d="100"/>
        </p:scale>
        <p:origin x="184" y="344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commentAuthors" Target="commentAuthor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B7A7C-B6CB-3445-AF52-6B26A5392F0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1A5A3-AF3C-6B41-961F-AF8DD9BBE89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Urban_legend" TargetMode="External"/><Relationship Id="rId3" Type="http://schemas.openxmlformats.org/officeDocument/2006/relationships/hyperlink" Target="https://en.wikipedia.org/wiki/George_Dantzig#Mathematical_statistics" TargetMode="External"/><Relationship Id="rId7" Type="http://schemas.openxmlformats.org/officeDocument/2006/relationships/hyperlink" Target="https://en.wikipedia.org/wiki/Statistics" TargetMode="External"/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George_Dantzig#cite_note-snopes-6" TargetMode="External"/><Relationship Id="rId5" Type="http://schemas.openxmlformats.org/officeDocument/2006/relationships/hyperlink" Target="https://en.wikipedia.org/wiki/George_Dantzig#cite_note-mmp-4" TargetMode="External"/><Relationship Id="rId4" Type="http://schemas.openxmlformats.org/officeDocument/2006/relationships/hyperlink" Target="https://en.wikipedia.org/wiki/Jerzy_Neyman" TargetMode="External"/><Relationship Id="rId9" Type="http://schemas.openxmlformats.org/officeDocument/2006/relationships/hyperlink" Target="https://en.wikipedia.org/wiki/Good_Will_Hunting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Dantzig realized that one of the unsolved problems that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George Dantzig"/>
              </a:rPr>
              <a:t>he had mistaken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as homework in his professor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Jerzy Neyman"/>
              </a:rPr>
              <a:t>Jerzy </a:t>
            </a:r>
            <a:r>
              <a:rPr lang="en-U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Jerzy Neyman"/>
              </a:rPr>
              <a:t>Neyman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class (and actually later solved), was applicable to finding an algorithm for linear programs.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From: https://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en.wikipedia.org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/wiki/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George_Dantzig#Mathematical_statistics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 1939, a misunderstanding brought about surprising results. Near the beginning of a class, Professor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Neyman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wrote two problems on the blackboard. Dantzig arrived late and assumed that they were a homework assignment. According to Dantzig, they "seemed to be a little harder than usual", but a few days later he handed in completed solutions for both problems, still believing that they were an assignment that was overdue.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[4]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[6]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Six weeks later, an excited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Neyman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eagerly told him that the "homework" problems he had solved were two of the most famous unsolved problems in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Statistics"/>
              </a:rPr>
              <a:t>statistics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story persisted in the form of an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Urban legend"/>
              </a:rPr>
              <a:t>urban legend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as an introductory scene in the movie </a:t>
            </a:r>
            <a:r>
              <a:rPr lang="en-U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Good Will Hunting"/>
              </a:rPr>
              <a:t>Good Will Hunting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/>
              </a:rPr>
              <a:t>[6]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79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Basic variables appear on the LHS of exactly one equality (may also appear in other inequalities)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the algorithm encounters a basic variable </a:t>
            </a:r>
            <a:r>
              <a:rPr lang="en-US" dirty="0" err="1"/>
              <a:t>x_i</a:t>
            </a:r>
            <a:r>
              <a:rPr lang="en-US" dirty="0"/>
              <a:t> that is below its lower bound (xi​&lt;li​), it must be adjusted upward to restore feasibility. </a:t>
            </a:r>
          </a:p>
          <a:p>
            <a:endParaRPr lang="en-US" dirty="0"/>
          </a:p>
          <a:p>
            <a:r>
              <a:rPr lang="en-US" dirty="0"/>
              <a:t>To do this, the method searches for a non-basic variable </a:t>
            </a:r>
            <a:r>
              <a:rPr lang="en-US" dirty="0" err="1"/>
              <a:t>xj</a:t>
            </a:r>
            <a:r>
              <a:rPr lang="en-US" dirty="0"/>
              <a:t> whose movement can increase </a:t>
            </a:r>
            <a:r>
              <a:rPr lang="en-US" dirty="0" err="1"/>
              <a:t>x_i</a:t>
            </a:r>
            <a:r>
              <a:rPr lang="en-US" dirty="0"/>
              <a:t> (depending on the sign of </a:t>
            </a:r>
            <a:r>
              <a:rPr lang="en-US" dirty="0" err="1"/>
              <a:t>cij</a:t>
            </a:r>
            <a:r>
              <a:rPr lang="en-US" dirty="0"/>
              <a:t>) while keeping </a:t>
            </a:r>
            <a:r>
              <a:rPr lang="en-US" dirty="0" err="1"/>
              <a:t>xj</a:t>
            </a:r>
            <a:r>
              <a:rPr lang="en-US" dirty="0"/>
              <a:t> within its own bounds. If no such </a:t>
            </a:r>
            <a:r>
              <a:rPr lang="en-US" dirty="0" err="1"/>
              <a:t>xj</a:t>
            </a:r>
            <a:r>
              <a:rPr lang="en-US" dirty="0"/>
              <a:t> exists, the system is declared UNSAT; otherwise, </a:t>
            </a:r>
            <a:r>
              <a:rPr lang="en-US" dirty="0" err="1"/>
              <a:t>xj</a:t>
            </a:r>
            <a:r>
              <a:rPr lang="en-US" dirty="0"/>
              <a:t> is shifted just enough so that xi reaches its lower bound, and then a pivot makes </a:t>
            </a:r>
            <a:r>
              <a:rPr lang="en-US" dirty="0" err="1"/>
              <a:t>xj</a:t>
            </a:r>
            <a:r>
              <a:rPr lang="en-US" dirty="0"/>
              <a:t> the new basic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297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B1A5A3-AF3C-6B41-961F-AF8DD9BBE89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720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182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358679-41F0-674C-A0AA-902561FABFB0}" type="datetimeFigureOut">
              <a:rPr lang="en-US" smtClean="0"/>
              <a:t>9/16/25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E64C32-2D2F-C74D-871A-5E0557184AD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uan@huan-zhang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0.png"/><Relationship Id="rId4" Type="http://schemas.openxmlformats.org/officeDocument/2006/relationships/image" Target="../media/image2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1.png"/><Relationship Id="rId5" Type="http://schemas.openxmlformats.org/officeDocument/2006/relationships/image" Target="../media/image340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6.png"/><Relationship Id="rId4" Type="http://schemas.openxmlformats.org/officeDocument/2006/relationships/image" Target="../media/image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document?repid=rep1&amp;type=pdf&amp;doi=55e1e23752da3458b3f25ae3072b83c2ca2fefeb" TargetMode="Externa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8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78372"/>
            <a:ext cx="10363200" cy="3131591"/>
          </a:xfrm>
        </p:spPr>
        <p:txBody>
          <a:bodyPr>
            <a:normAutofit/>
          </a:bodyPr>
          <a:lstStyle/>
          <a:p>
            <a:r>
              <a:rPr lang="en-US" sz="4400" dirty="0">
                <a:sym typeface="+mn-ea"/>
              </a:rPr>
              <a:t>Lecture 6: </a:t>
            </a:r>
            <a:r>
              <a:rPr lang="en-US" sz="4400" dirty="0"/>
              <a:t>Satisfiability modulo theories </a:t>
            </a:r>
            <a:br>
              <a:rPr lang="en-US" sz="4400" dirty="0"/>
            </a:br>
            <a:r>
              <a:rPr lang="en-US" sz="4400" dirty="0"/>
              <a:t>Part 2: DPLL(T) and Simplex Algorithm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877590"/>
          </a:xfrm>
        </p:spPr>
        <p:txBody>
          <a:bodyPr>
            <a:normAutofit/>
          </a:bodyPr>
          <a:lstStyle/>
          <a:p>
            <a:endParaRPr lang="en-US" dirty="0">
              <a:sym typeface="+mn-ea"/>
            </a:endParaRPr>
          </a:p>
          <a:p>
            <a:r>
              <a:rPr lang="en-US" dirty="0">
                <a:sym typeface="+mn-ea"/>
              </a:rPr>
              <a:t>Huan Zhang</a:t>
            </a:r>
            <a:endParaRPr lang="en-US" dirty="0"/>
          </a:p>
          <a:p>
            <a:r>
              <a:rPr lang="en-US" dirty="0">
                <a:sym typeface="+mn-ea"/>
                <a:hlinkClick r:id="rId2"/>
              </a:rPr>
              <a:t>huan@huan-zhang.com</a:t>
            </a:r>
            <a:endParaRPr lang="en-US" dirty="0"/>
          </a:p>
        </p:txBody>
      </p:sp>
      <p:sp>
        <p:nvSpPr>
          <p:cNvPr id="4" name="Text Box 3"/>
          <p:cNvSpPr txBox="1"/>
          <p:nvPr/>
        </p:nvSpPr>
        <p:spPr>
          <a:xfrm>
            <a:off x="539115" y="6178550"/>
            <a:ext cx="808990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  <a:sym typeface="+mn-ea"/>
              </a:rPr>
              <a:t>Slides adapted from Prof. Sayan Mitra’s slides in Fall 2021 </a:t>
            </a:r>
            <a:br>
              <a:rPr lang="en-US" dirty="0">
                <a:solidFill>
                  <a:schemeClr val="bg1">
                    <a:lumMod val="75000"/>
                  </a:schemeClr>
                </a:solidFill>
                <a:sym typeface="+mn-ea"/>
              </a:rPr>
            </a:br>
            <a:r>
              <a:rPr lang="en-US" dirty="0">
                <a:solidFill>
                  <a:schemeClr val="bg1">
                    <a:lumMod val="75000"/>
                  </a:schemeClr>
                </a:solidFill>
                <a:sym typeface="+mn-ea"/>
              </a:rPr>
              <a:t>Some of the slides for this lecture are adapted from slides by Clark Barrett</a:t>
            </a:r>
            <a:endParaRPr lang="en-US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dirty="0">
              <a:solidFill>
                <a:schemeClr val="bg1">
                  <a:lumMod val="75000"/>
                </a:schemeClr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SMT (continued)</a:t>
            </a:r>
          </a:p>
          <a:p>
            <a:pPr lvl="1"/>
            <a:r>
              <a:rPr lang="en-US" dirty="0"/>
              <a:t>Difference Logic</a:t>
            </a:r>
          </a:p>
          <a:p>
            <a:r>
              <a:rPr lang="en-US" dirty="0"/>
              <a:t>Decision procedure for Linear Real Arithmetic</a:t>
            </a:r>
          </a:p>
          <a:p>
            <a:pPr marL="457200" lvl="1" indent="0">
              <a:buNone/>
            </a:pPr>
            <a:r>
              <a:rPr lang="en-US" dirty="0"/>
              <a:t>Simplex Algorithm [Dantzig 1947]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Next 2 - 3 weeks: Verification of Neural Networks and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ym typeface="+mn-ea"/>
              </a:rPr>
              <a:t>Review: theories in SMT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83995"/>
                <a:ext cx="11539220" cy="517144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Linear </a:t>
                </a:r>
                <a:r>
                  <a:rPr lang="en-US" dirty="0">
                    <a:sym typeface="+mn-ea"/>
                  </a:rPr>
                  <a:t>(real)</a:t>
                </a:r>
                <a:r>
                  <a:rPr lang="en-US" dirty="0"/>
                  <a:t> arithmetic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≤1;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>
                    <a:sym typeface="+mn-ea"/>
                  </a:rPr>
                  <a:t>Nonlinear r</a:t>
                </a:r>
                <a:r>
                  <a:rPr lang="en-US" dirty="0"/>
                  <a:t>eal arithmetic</a:t>
                </a:r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+6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−9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Bit vectors</a:t>
                </a:r>
              </a:p>
              <a:p>
                <a:r>
                  <a:rPr lang="en-US" dirty="0"/>
                  <a:t>Arrays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Uninterpreted functions (UF)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∧ 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 ∧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Difference logic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0,1,2,3,...,−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&lt;,≤, =,&gt;,≥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:=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≷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≷∈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&lt;,≤, =,&gt;,≥</m:t>
                        </m:r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83995"/>
                <a:ext cx="11539220" cy="5171440"/>
              </a:xfrm>
              <a:blipFill rotWithShape="1">
                <a:blip r:embed="rId2"/>
                <a:stretch>
                  <a:fillRect b="-57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425BB-C8FC-0F40-9CF6-3459AD650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Example decision procedure 1: Difference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B7FB9-BA84-4B46-B4BD-666388D583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9626" y="1825625"/>
                <a:ext cx="11137692" cy="4351338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=5)∧(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≥2)∧(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&gt;2)∧(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=2)∧  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&lt;0)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dirty="0"/>
                  <a:t>Decision procedure:</a:t>
                </a:r>
              </a:p>
              <a:p>
                <a:pPr marL="0" indent="0">
                  <a:buNone/>
                </a:pPr>
                <a:r>
                  <a:rPr lang="en-US" dirty="0"/>
                  <a:t>Convert each literal (AF)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form:</a:t>
                </a:r>
                <a:endParaRPr lang="en-US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5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≤−5)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≤−3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≤−2)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For integer domain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 is replaced by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58B7FB9-BA84-4B46-B4BD-666388D583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9626" y="1825625"/>
                <a:ext cx="11137692" cy="4351338"/>
              </a:xfrm>
              <a:blipFill>
                <a:blip r:embed="rId2"/>
                <a:stretch>
                  <a:fillRect l="-1025" t="-291" b="-8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829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Construct a graph with edge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each 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  <a:blipFill>
                <a:blip r:embed="rId2"/>
                <a:stretch>
                  <a:fillRect l="-1086" t="-16327"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/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≤5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≤−5)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≤−2)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/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/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  <a:blipFill>
                <a:blip r:embed="rId5"/>
                <a:stretch>
                  <a:fillRect l="-1818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/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/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571231FC-F9BD-E148-88A7-2774A8921ED3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5400000" flipH="1" flipV="1">
            <a:off x="1820680" y="2626572"/>
            <a:ext cx="978108" cy="177133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F81D7F9B-348A-E34B-A9BA-B3AF03C2A9EA}"/>
              </a:ext>
            </a:extLst>
          </p:cNvPr>
          <p:cNvCxnSpPr>
            <a:cxnSpLocks/>
            <a:stCxn id="6" idx="3"/>
          </p:cNvCxnSpPr>
          <p:nvPr/>
        </p:nvCxnSpPr>
        <p:spPr>
          <a:xfrm rot="5400000">
            <a:off x="1993067" y="3042752"/>
            <a:ext cx="1079092" cy="152754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DD7CC99-F4CA-164E-968D-E09038D6042B}"/>
              </a:ext>
            </a:extLst>
          </p:cNvPr>
          <p:cNvCxnSpPr>
            <a:cxnSpLocks/>
            <a:stCxn id="6" idx="6"/>
            <a:endCxn id="7" idx="0"/>
          </p:cNvCxnSpPr>
          <p:nvPr/>
        </p:nvCxnSpPr>
        <p:spPr>
          <a:xfrm>
            <a:off x="3884951" y="3023186"/>
            <a:ext cx="1656413" cy="9781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0333A49-765B-444C-A55D-38FB375F95FC}"/>
              </a:ext>
            </a:extLst>
          </p:cNvPr>
          <p:cNvCxnSpPr>
            <a:cxnSpLocks/>
            <a:stCxn id="7" idx="4"/>
            <a:endCxn id="8" idx="6"/>
          </p:cNvCxnSpPr>
          <p:nvPr/>
        </p:nvCxnSpPr>
        <p:spPr>
          <a:xfrm rot="5400000">
            <a:off x="3976115" y="4599679"/>
            <a:ext cx="1474087" cy="1656413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34563C1F-5B3E-4E4E-BB9C-EF3DD956AC73}"/>
              </a:ext>
            </a:extLst>
          </p:cNvPr>
          <p:cNvCxnSpPr>
            <a:cxnSpLocks/>
            <a:stCxn id="8" idx="2"/>
            <a:endCxn id="5" idx="3"/>
          </p:cNvCxnSpPr>
          <p:nvPr/>
        </p:nvCxnSpPr>
        <p:spPr>
          <a:xfrm rot="10800000">
            <a:off x="1180275" y="4589861"/>
            <a:ext cx="2015129" cy="1575069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/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/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/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844CA8B5-0F63-9944-8D66-38854288241E}"/>
              </a:ext>
            </a:extLst>
          </p:cNvPr>
          <p:cNvCxnSpPr>
            <a:cxnSpLocks/>
            <a:stCxn id="5" idx="5"/>
            <a:endCxn id="7" idx="3"/>
          </p:cNvCxnSpPr>
          <p:nvPr/>
        </p:nvCxnSpPr>
        <p:spPr>
          <a:xfrm rot="16200000" flipH="1">
            <a:off x="3482715" y="2775003"/>
            <a:ext cx="12700" cy="3629714"/>
          </a:xfrm>
          <a:prstGeom prst="curvedConnector3">
            <a:avLst>
              <a:gd name="adj1" fmla="val 259513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/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/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0A592D00-A09A-564E-8E48-EC363E6E7E65}"/>
              </a:ext>
            </a:extLst>
          </p:cNvPr>
          <p:cNvCxnSpPr>
            <a:cxnSpLocks/>
            <a:stCxn id="5" idx="4"/>
            <a:endCxn id="8" idx="1"/>
          </p:cNvCxnSpPr>
          <p:nvPr/>
        </p:nvCxnSpPr>
        <p:spPr>
          <a:xfrm rot="16200000" flipH="1">
            <a:off x="1745078" y="4369829"/>
            <a:ext cx="1230295" cy="187231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/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/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2775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24" grpId="0"/>
      <p:bldP spid="25" grpId="0"/>
      <p:bldP spid="26" grpId="0"/>
      <p:bldP spid="30" grpId="0"/>
      <p:bldP spid="31" grpId="0"/>
      <p:bldP spid="36" grpId="0"/>
      <p:bldP spid="3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US" dirty="0"/>
                  <a:t>Construct a graph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dirty="0"/>
                  <a:t> with edge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268980-04B8-3149-BE1E-FDC0D5B076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158850"/>
                <a:ext cx="10515600" cy="608995"/>
              </a:xfrm>
              <a:blipFill>
                <a:blip r:embed="rId2"/>
                <a:stretch>
                  <a:fillRect l="-1086" t="-12245" b="-2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/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400" i="1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≤5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≤−5)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≤−3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≤2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∧(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≤−2)</m:t>
                      </m:r>
                    </m:oMath>
                  </m:oMathPara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≤−1)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E1E66E8D-0DD0-EA42-87BA-C9183DA834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40" y="199740"/>
                <a:ext cx="7989757" cy="1938992"/>
              </a:xfrm>
              <a:prstGeom prst="rect">
                <a:avLst/>
              </a:prstGeom>
              <a:blipFill>
                <a:blip r:embed="rId3"/>
                <a:stretch>
                  <a:fillRect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/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4BDD2ED-0C7F-8243-AF59-41857A4D24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9292" y="4001294"/>
                <a:ext cx="689548" cy="68954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/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8B3AB70B-AE1D-3A42-A016-452EE6261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2678412"/>
                <a:ext cx="689548" cy="689548"/>
              </a:xfrm>
              <a:prstGeom prst="ellipse">
                <a:avLst/>
              </a:prstGeom>
              <a:blipFill>
                <a:blip r:embed="rId5"/>
                <a:stretch>
                  <a:fillRect l="-1818" b="-8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/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3C86200-50F7-2442-A1B9-2B86B9904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6590" y="4001294"/>
                <a:ext cx="689548" cy="689548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/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377D87BF-60BC-5B45-9A8D-EC2F2BA422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403" y="5820155"/>
                <a:ext cx="689548" cy="689548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Curved Connector 9">
            <a:extLst>
              <a:ext uri="{FF2B5EF4-FFF2-40B4-BE49-F238E27FC236}">
                <a16:creationId xmlns:a16="http://schemas.microsoft.com/office/drawing/2014/main" id="{571231FC-F9BD-E148-88A7-2774A8921ED3}"/>
              </a:ext>
            </a:extLst>
          </p:cNvPr>
          <p:cNvCxnSpPr>
            <a:stCxn id="5" idx="0"/>
            <a:endCxn id="6" idx="2"/>
          </p:cNvCxnSpPr>
          <p:nvPr/>
        </p:nvCxnSpPr>
        <p:spPr>
          <a:xfrm rot="5400000" flipH="1" flipV="1">
            <a:off x="1820680" y="2626572"/>
            <a:ext cx="978108" cy="1771337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F81D7F9B-348A-E34B-A9BA-B3AF03C2A9EA}"/>
              </a:ext>
            </a:extLst>
          </p:cNvPr>
          <p:cNvCxnSpPr>
            <a:cxnSpLocks/>
            <a:stCxn id="6" idx="3"/>
          </p:cNvCxnSpPr>
          <p:nvPr/>
        </p:nvCxnSpPr>
        <p:spPr>
          <a:xfrm rot="5400000">
            <a:off x="1993067" y="3042752"/>
            <a:ext cx="1079092" cy="1527545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8DD7CC99-F4CA-164E-968D-E09038D6042B}"/>
              </a:ext>
            </a:extLst>
          </p:cNvPr>
          <p:cNvCxnSpPr>
            <a:cxnSpLocks/>
            <a:stCxn id="6" idx="6"/>
            <a:endCxn id="7" idx="0"/>
          </p:cNvCxnSpPr>
          <p:nvPr/>
        </p:nvCxnSpPr>
        <p:spPr>
          <a:xfrm>
            <a:off x="3884951" y="3023186"/>
            <a:ext cx="1656413" cy="978108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>
            <a:extLst>
              <a:ext uri="{FF2B5EF4-FFF2-40B4-BE49-F238E27FC236}">
                <a16:creationId xmlns:a16="http://schemas.microsoft.com/office/drawing/2014/main" id="{D0333A49-765B-444C-A55D-38FB375F95FC}"/>
              </a:ext>
            </a:extLst>
          </p:cNvPr>
          <p:cNvCxnSpPr>
            <a:cxnSpLocks/>
            <a:stCxn id="7" idx="4"/>
            <a:endCxn id="8" idx="6"/>
          </p:cNvCxnSpPr>
          <p:nvPr/>
        </p:nvCxnSpPr>
        <p:spPr>
          <a:xfrm rot="5400000">
            <a:off x="3976115" y="4599679"/>
            <a:ext cx="1474087" cy="1656413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urved Connector 20">
            <a:extLst>
              <a:ext uri="{FF2B5EF4-FFF2-40B4-BE49-F238E27FC236}">
                <a16:creationId xmlns:a16="http://schemas.microsoft.com/office/drawing/2014/main" id="{34563C1F-5B3E-4E4E-BB9C-EF3DD956AC73}"/>
              </a:ext>
            </a:extLst>
          </p:cNvPr>
          <p:cNvCxnSpPr>
            <a:cxnSpLocks/>
            <a:stCxn id="8" idx="2"/>
            <a:endCxn id="5" idx="3"/>
          </p:cNvCxnSpPr>
          <p:nvPr/>
        </p:nvCxnSpPr>
        <p:spPr>
          <a:xfrm rot="10800000">
            <a:off x="1180275" y="4589861"/>
            <a:ext cx="2015129" cy="1575069"/>
          </a:xfrm>
          <a:prstGeom prst="curved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/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58AEED0-3950-564A-9913-EB4EB36088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5937" y="2989519"/>
                <a:ext cx="365806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/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2E618FC-4B2F-CE46-B247-7230AEBD09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192" y="4060419"/>
                <a:ext cx="538930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/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4B018C9-1BF1-E74B-B397-E8EFFC363B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3687" y="2958242"/>
                <a:ext cx="53893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Curved Connector 26">
            <a:extLst>
              <a:ext uri="{FF2B5EF4-FFF2-40B4-BE49-F238E27FC236}">
                <a16:creationId xmlns:a16="http://schemas.microsoft.com/office/drawing/2014/main" id="{844CA8B5-0F63-9944-8D66-38854288241E}"/>
              </a:ext>
            </a:extLst>
          </p:cNvPr>
          <p:cNvCxnSpPr>
            <a:cxnSpLocks/>
            <a:stCxn id="5" idx="5"/>
            <a:endCxn id="7" idx="3"/>
          </p:cNvCxnSpPr>
          <p:nvPr/>
        </p:nvCxnSpPr>
        <p:spPr>
          <a:xfrm rot="16200000" flipH="1">
            <a:off x="3482715" y="2775003"/>
            <a:ext cx="12700" cy="3629714"/>
          </a:xfrm>
          <a:prstGeom prst="curvedConnector3">
            <a:avLst>
              <a:gd name="adj1" fmla="val 2595134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/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−3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B70693CB-4166-C444-A671-A10875EE7A3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2018" y="4506176"/>
                <a:ext cx="538930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/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2FF4700-44CD-7B4A-A55E-7425EB7316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6472" y="5795597"/>
                <a:ext cx="36580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Curved Connector 31">
            <a:extLst>
              <a:ext uri="{FF2B5EF4-FFF2-40B4-BE49-F238E27FC236}">
                <a16:creationId xmlns:a16="http://schemas.microsoft.com/office/drawing/2014/main" id="{0A592D00-A09A-564E-8E48-EC363E6E7E65}"/>
              </a:ext>
            </a:extLst>
          </p:cNvPr>
          <p:cNvCxnSpPr>
            <a:cxnSpLocks/>
            <a:stCxn id="5" idx="4"/>
            <a:endCxn id="8" idx="1"/>
          </p:cNvCxnSpPr>
          <p:nvPr/>
        </p:nvCxnSpPr>
        <p:spPr>
          <a:xfrm rot="16200000" flipH="1">
            <a:off x="1745078" y="4369829"/>
            <a:ext cx="1230295" cy="1872319"/>
          </a:xfrm>
          <a:prstGeom prst="curved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/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955ACDFF-A299-9B4A-BDF1-4098D538E2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0760" y="5367139"/>
                <a:ext cx="53893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/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5C2D1DA5-B9DE-0144-81B6-01FB996EE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7125" y="5778292"/>
                <a:ext cx="53893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CE1B6A04-A5F6-AA48-A160-150D4BF3E5A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05865" y="2903244"/>
                <a:ext cx="5500138" cy="26548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US" b="1" dirty="0"/>
                  <a:t>Proposition.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satisfiable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negative cycle free.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2" name="Content Placeholder 2">
                <a:extLst>
                  <a:ext uri="{FF2B5EF4-FFF2-40B4-BE49-F238E27FC236}">
                    <a16:creationId xmlns:a16="http://schemas.microsoft.com/office/drawing/2014/main" id="{CE1B6A04-A5F6-AA48-A160-150D4BF3E5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5865" y="2903244"/>
                <a:ext cx="5500138" cy="2654873"/>
              </a:xfrm>
              <a:prstGeom prst="rect">
                <a:avLst/>
              </a:prstGeom>
              <a:blipFill>
                <a:blip r:embed="rId15"/>
                <a:stretch>
                  <a:fillRect l="-2304" t="-3333" r="-23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33941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7D3F-16E0-BB7B-C048-DFB2D515DC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8306" y="0"/>
                <a:ext cx="8677835" cy="6858000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/>
                  <a:t>Proposition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is satisfiable </a:t>
                </a:r>
                <a:r>
                  <a:rPr lang="en-US" dirty="0" err="1"/>
                  <a:t>iff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dirty="0"/>
                  <a:t> is negative cycle free.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Proof. (&lt;=) If there is a negative cycle then there exists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≤−3);(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≤−1);(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≤2) </m:t>
                    </m:r>
                  </m:oMath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addingall up:(0≤−2) which is inconsistent.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(=&gt;) Let us assume that there is no negative cycle. We will construct a satisfying solution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 err="1"/>
                  <a:t>ℤ</a:t>
                </a:r>
                <a:r>
                  <a:rPr 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Consider additional vertex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edges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For each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define solution as the shortest distance from o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(be aware of negative distances):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 Suppose FSOC,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𝝈</m:t>
                    </m:r>
                  </m:oMath>
                </a14:m>
                <a:r>
                  <a:rPr lang="en-US" dirty="0"/>
                  <a:t> does not satisfy a literal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then 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𝑑𝑖𝑠𝑡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[because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violates triangle inequality definition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𝑑𝑖𝑠𝑡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B67D3F-16E0-BB7B-C048-DFB2D515DC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8306" y="0"/>
                <a:ext cx="8677835" cy="6858000"/>
              </a:xfrm>
              <a:blipFill>
                <a:blip r:embed="rId2"/>
                <a:stretch>
                  <a:fillRect l="-1023" t="-741" r="-10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DFF1000-51A9-D3C6-6E38-A1F14F65F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8" y="-1"/>
            <a:ext cx="3263153" cy="670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772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A3725-1A34-22A7-CFD3-1E0AA5678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Procedure for Difference Logic(DL)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A4C05-6FF7-353E-50AD-8391974D47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/>
              <a:t>Satisfiability check for difference procedure of DL can be performed using Bellman-Ford algorithm in time O(|V|.|E|)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Inconsistency/</a:t>
            </a:r>
            <a:r>
              <a:rPr lang="en-US" dirty="0" err="1"/>
              <a:t>unsatisfiability</a:t>
            </a:r>
            <a:r>
              <a:rPr lang="en-US" dirty="0"/>
              <a:t> explanations are negative cycles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/>
          </a:p>
          <a:p>
            <a:pPr marL="0" indent="0">
              <a:lnSpc>
                <a:spcPct val="100000"/>
              </a:lnSpc>
              <a:buNone/>
            </a:pPr>
            <a:r>
              <a:rPr lang="en-US" dirty="0"/>
              <a:t>Amenable to incremental check</a:t>
            </a:r>
          </a:p>
        </p:txBody>
      </p:sp>
    </p:spTree>
    <p:extLst>
      <p:ext uri="{BB962C8B-B14F-4D97-AF65-F5344CB8AC3E}">
        <p14:creationId xmlns:p14="http://schemas.microsoft.com/office/powerpoint/2010/main" val="1203337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D7ED-E5BC-B242-D212-6BD84D4F9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DPLL</a:t>
            </a:r>
            <a:r>
              <a:rPr lang="en-US" baseline="30000" dirty="0"/>
              <a:t>T</a:t>
            </a:r>
            <a:r>
              <a:rPr lang="en-US" dirty="0"/>
              <a:t>:DPLL modulo theories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00B98-9793-6DA6-40C9-7C5E4D7E4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How can we extend DPLL to handle formulas over other theories like</a:t>
            </a:r>
          </a:p>
          <a:p>
            <a:r>
              <a:rPr lang="en-US" dirty="0"/>
              <a:t>Difference Logic (DL)</a:t>
            </a:r>
          </a:p>
          <a:p>
            <a:r>
              <a:rPr lang="en-US" dirty="0"/>
              <a:t>Uninterpreted functions (UF) </a:t>
            </a:r>
          </a:p>
          <a:p>
            <a:r>
              <a:rPr lang="en-US" dirty="0"/>
              <a:t>Linear Real Arithmetic (LRA)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Idea: Start with a Boolean abstraction (or skeleton) and incrementally add more theory information using decision procedure until we can conclusively say SAT or UNSAT</a:t>
            </a:r>
          </a:p>
        </p:txBody>
      </p:sp>
    </p:spTree>
    <p:extLst>
      <p:ext uri="{BB962C8B-B14F-4D97-AF65-F5344CB8AC3E}">
        <p14:creationId xmlns:p14="http://schemas.microsoft.com/office/powerpoint/2010/main" val="2285234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459A-CBA9-EF17-BCDA-180EDA2F8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836144"/>
          </a:xfrm>
        </p:spPr>
        <p:txBody>
          <a:bodyPr/>
          <a:lstStyle/>
          <a:p>
            <a:r>
              <a:rPr lang="en-US" dirty="0"/>
              <a:t>DPLL</a:t>
            </a:r>
            <a:r>
              <a:rPr lang="en-US" baseline="30000" dirty="0"/>
              <a:t>T</a:t>
            </a:r>
            <a:r>
              <a:rPr lang="en-US" dirty="0"/>
              <a:t>:DPLL modulo theories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E82ED-295E-75DF-9EC2-C9ADE77321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5464" y="1362635"/>
                <a:ext cx="11670224" cy="5325036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dirty="0"/>
                  <a:t>Abstract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to propositional form  </a:t>
                </a:r>
              </a:p>
              <a:p>
                <a:r>
                  <a:rPr lang="en-US" dirty="0"/>
                  <a:t>Feed to DPLL </a:t>
                </a:r>
              </a:p>
              <a:p>
                <a:r>
                  <a:rPr lang="en-US" dirty="0"/>
                  <a:t>Use theory decision procedure to refine propositional formula to guide DPLL</a:t>
                </a:r>
              </a:p>
              <a:p>
                <a:pPr marL="0" indent="0">
                  <a:buNone/>
                </a:pPr>
                <a:r>
                  <a:rPr lang="en-US" dirty="0"/>
                  <a:t>UF formula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)∧(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∧(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∧  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abstract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∨¬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¬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b="0" dirty="0"/>
                  <a:t>LRA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≤0∨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≤10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∧(¬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≤0)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abstract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∧(¬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Abstraction because information is lost: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&gt;10⇒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., 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not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Notation: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dirty="0"/>
                  <a:t> maps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en-US" dirty="0"/>
                  <a:t> back to theory T, </a:t>
                </a:r>
                <a:r>
                  <a:rPr lang="en-US" dirty="0" err="1"/>
                  <a:t>i.e</a:t>
                </a:r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b="1" dirty="0"/>
                  <a:t>Proposition.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UNSAT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UNSAT, but the converse does not hold. </a:t>
                </a:r>
              </a:p>
              <a:p>
                <a:pPr marL="0" indent="0">
                  <a:buNone/>
                </a:pPr>
                <a:r>
                  <a:rPr lang="en-US" b="1" dirty="0"/>
                  <a:t>Example</a:t>
                </a:r>
                <a:r>
                  <a:rPr lang="en-US" dirty="0"/>
                  <a:t>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≤0∧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 10)</m:t>
                    </m:r>
                  </m:oMath>
                </a14:m>
                <a:r>
                  <a:rPr lang="en-US" dirty="0"/>
                  <a:t> is UNSAT, however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SAT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FAE82ED-295E-75DF-9EC2-C9ADE77321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5464" y="1362635"/>
                <a:ext cx="11670224" cy="5325036"/>
              </a:xfrm>
              <a:blipFill>
                <a:blip r:embed="rId2"/>
                <a:stretch>
                  <a:fillRect l="-870" t="-1905" b="-2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104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B0D1324-5D3D-6D4A-8C62-76A473F3D45F}"/>
              </a:ext>
            </a:extLst>
          </p:cNvPr>
          <p:cNvCxnSpPr>
            <a:cxnSpLocks/>
          </p:cNvCxnSpPr>
          <p:nvPr/>
        </p:nvCxnSpPr>
        <p:spPr>
          <a:xfrm>
            <a:off x="3238079" y="3118776"/>
            <a:ext cx="2587370" cy="738649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C16A10B-78BA-8E4E-B958-FAEE057E3058}"/>
              </a:ext>
            </a:extLst>
          </p:cNvPr>
          <p:cNvSpPr txBox="1"/>
          <p:nvPr/>
        </p:nvSpPr>
        <p:spPr>
          <a:xfrm>
            <a:off x="1293586" y="1935326"/>
            <a:ext cx="3398780" cy="3970318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Theory solvers/decision procedures</a:t>
            </a: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618114-0556-934E-86A0-115BDF7D5EE3}"/>
              </a:ext>
            </a:extLst>
          </p:cNvPr>
          <p:cNvSpPr txBox="1"/>
          <p:nvPr/>
        </p:nvSpPr>
        <p:spPr>
          <a:xfrm>
            <a:off x="1693894" y="2951000"/>
            <a:ext cx="1802525" cy="6463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Arithmetic 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6E6814-EF6C-E849-8498-8A5C61C990AA}"/>
              </a:ext>
            </a:extLst>
          </p:cNvPr>
          <p:cNvSpPr txBox="1"/>
          <p:nvPr/>
        </p:nvSpPr>
        <p:spPr>
          <a:xfrm>
            <a:off x="1877824" y="327416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+mj-lt"/>
              </a:rPr>
              <a:t>Bitvectors</a:t>
            </a:r>
            <a:r>
              <a:rPr lang="en-US" dirty="0">
                <a:latin typeface="+mj-lt"/>
              </a:rPr>
              <a:t>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50C421-59BD-8940-BAA9-777FC8E2D644}"/>
              </a:ext>
            </a:extLst>
          </p:cNvPr>
          <p:cNvSpPr txBox="1"/>
          <p:nvPr/>
        </p:nvSpPr>
        <p:spPr>
          <a:xfrm>
            <a:off x="8759493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DPLL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B6ED88-5CA9-0349-8E40-6D96563D337C}"/>
              </a:ext>
            </a:extLst>
          </p:cNvPr>
          <p:cNvSpPr txBox="1"/>
          <p:nvPr/>
        </p:nvSpPr>
        <p:spPr>
          <a:xfrm>
            <a:off x="2093278" y="359732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Difference logic </a:t>
            </a:r>
          </a:p>
          <a:p>
            <a:endParaRPr lang="en-US" dirty="0"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3652A-F276-824E-AF8D-2523940FEA37}"/>
              </a:ext>
            </a:extLst>
          </p:cNvPr>
          <p:cNvSpPr txBox="1"/>
          <p:nvPr/>
        </p:nvSpPr>
        <p:spPr>
          <a:xfrm>
            <a:off x="2308732" y="3920485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…</a:t>
            </a:r>
          </a:p>
          <a:p>
            <a:pPr algn="ctr"/>
            <a:endParaRPr lang="en-US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A5807D-5ACB-F44E-97FA-27DE06829BD5}"/>
              </a:ext>
            </a:extLst>
          </p:cNvPr>
          <p:cNvSpPr txBox="1"/>
          <p:nvPr/>
        </p:nvSpPr>
        <p:spPr>
          <a:xfrm>
            <a:off x="2524186" y="4243639"/>
            <a:ext cx="18025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Uninterpreted functions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8B2187-BA6E-0D4E-85F8-48645470EA19}"/>
              </a:ext>
            </a:extLst>
          </p:cNvPr>
          <p:cNvSpPr txBox="1"/>
          <p:nvPr/>
        </p:nvSpPr>
        <p:spPr>
          <a:xfrm>
            <a:off x="5825449" y="3458820"/>
            <a:ext cx="1802525" cy="92333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endParaRPr lang="en-US" dirty="0">
              <a:latin typeface="+mj-lt"/>
            </a:endParaRPr>
          </a:p>
          <a:p>
            <a:pPr algn="ctr"/>
            <a:r>
              <a:rPr lang="en-US" dirty="0">
                <a:latin typeface="+mj-lt"/>
              </a:rPr>
              <a:t>Core </a:t>
            </a:r>
          </a:p>
          <a:p>
            <a:endParaRPr lang="en-US" dirty="0">
              <a:latin typeface="+mj-lt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D05AAEF-0C35-1643-AA43-EEE9CE3E89F7}"/>
              </a:ext>
            </a:extLst>
          </p:cNvPr>
          <p:cNvCxnSpPr/>
          <p:nvPr/>
        </p:nvCxnSpPr>
        <p:spPr>
          <a:xfrm flipH="1" flipV="1">
            <a:off x="3496419" y="2951000"/>
            <a:ext cx="2329030" cy="64632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BACD5F-12BD-DB4B-BAE2-B97F1204ECB3}"/>
              </a:ext>
            </a:extLst>
          </p:cNvPr>
          <p:cNvCxnSpPr>
            <a:cxnSpLocks/>
          </p:cNvCxnSpPr>
          <p:nvPr/>
        </p:nvCxnSpPr>
        <p:spPr>
          <a:xfrm flipH="1" flipV="1">
            <a:off x="4693931" y="3274160"/>
            <a:ext cx="1131518" cy="32316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DB5BD65-2036-1C42-93CC-488D998856DB}"/>
              </a:ext>
            </a:extLst>
          </p:cNvPr>
          <p:cNvCxnSpPr>
            <a:cxnSpLocks/>
          </p:cNvCxnSpPr>
          <p:nvPr/>
        </p:nvCxnSpPr>
        <p:spPr>
          <a:xfrm>
            <a:off x="4693930" y="3525086"/>
            <a:ext cx="1131519" cy="332339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7C94757-437B-6642-8CE5-824185DA7AA5}"/>
              </a:ext>
            </a:extLst>
          </p:cNvPr>
          <p:cNvCxnSpPr>
            <a:cxnSpLocks/>
          </p:cNvCxnSpPr>
          <p:nvPr/>
        </p:nvCxnSpPr>
        <p:spPr>
          <a:xfrm flipH="1">
            <a:off x="4693928" y="3983545"/>
            <a:ext cx="1131521" cy="3924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BE1992D-A3B5-7E4F-A0C2-E0752F08438D}"/>
              </a:ext>
            </a:extLst>
          </p:cNvPr>
          <p:cNvCxnSpPr>
            <a:cxnSpLocks/>
          </p:cNvCxnSpPr>
          <p:nvPr/>
        </p:nvCxnSpPr>
        <p:spPr>
          <a:xfrm flipH="1">
            <a:off x="4693929" y="4243639"/>
            <a:ext cx="1144802" cy="415495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CB440D64-CA0E-A74D-A22A-97AE44FCD7F8}"/>
              </a:ext>
            </a:extLst>
          </p:cNvPr>
          <p:cNvSpPr txBox="1"/>
          <p:nvPr/>
        </p:nvSpPr>
        <p:spPr>
          <a:xfrm>
            <a:off x="4780857" y="2674008"/>
            <a:ext cx="17381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literals/formula in </a:t>
            </a:r>
          </a:p>
          <a:p>
            <a:r>
              <a:rPr lang="en-US" sz="1600" dirty="0">
                <a:latin typeface="+mj-lt"/>
              </a:rPr>
              <a:t>real arithmetic</a:t>
            </a:r>
          </a:p>
          <a:p>
            <a:endParaRPr lang="en-US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87B267D-4BA0-F445-AFC2-ED4B0AE93384}"/>
              </a:ext>
            </a:extLst>
          </p:cNvPr>
          <p:cNvSpPr txBox="1"/>
          <p:nvPr/>
        </p:nvSpPr>
        <p:spPr>
          <a:xfrm>
            <a:off x="4697053" y="4659119"/>
            <a:ext cx="1515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+mj-lt"/>
              </a:rPr>
              <a:t>solution or </a:t>
            </a:r>
          </a:p>
          <a:p>
            <a:r>
              <a:rPr lang="en-US" sz="1600" dirty="0">
                <a:latin typeface="+mj-lt"/>
              </a:rPr>
              <a:t>counterexample</a:t>
            </a:r>
            <a:endParaRPr lang="en-US" sz="1600" dirty="0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5D153A6-717D-1448-B7FE-CDD7697FBC11}"/>
              </a:ext>
            </a:extLst>
          </p:cNvPr>
          <p:cNvCxnSpPr>
            <a:cxnSpLocks/>
          </p:cNvCxnSpPr>
          <p:nvPr/>
        </p:nvCxnSpPr>
        <p:spPr>
          <a:xfrm flipH="1">
            <a:off x="7627974" y="3658879"/>
            <a:ext cx="1131518" cy="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6FEAAD5-B25D-9B40-B748-E84660711D6A}"/>
              </a:ext>
            </a:extLst>
          </p:cNvPr>
          <p:cNvCxnSpPr>
            <a:cxnSpLocks/>
          </p:cNvCxnSpPr>
          <p:nvPr/>
        </p:nvCxnSpPr>
        <p:spPr>
          <a:xfrm>
            <a:off x="7627975" y="4151319"/>
            <a:ext cx="1131517" cy="2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7E3296A7-B8E9-9B4E-A3C1-1975DFE3F634}"/>
              </a:ext>
            </a:extLst>
          </p:cNvPr>
          <p:cNvSpPr txBox="1"/>
          <p:nvPr/>
        </p:nvSpPr>
        <p:spPr>
          <a:xfrm>
            <a:off x="7627974" y="2627823"/>
            <a:ext cx="1131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+mj-lt"/>
              </a:rPr>
              <a:t>boolean</a:t>
            </a:r>
            <a:r>
              <a:rPr lang="en-US" sz="1600" dirty="0">
                <a:latin typeface="+mj-lt"/>
              </a:rPr>
              <a:t> skeleton of problem</a:t>
            </a:r>
            <a:endParaRPr lang="en-US" sz="1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BD610B-5A7C-E143-B2C0-88EA4F707EA6}"/>
              </a:ext>
            </a:extLst>
          </p:cNvPr>
          <p:cNvSpPr txBox="1"/>
          <p:nvPr/>
        </p:nvSpPr>
        <p:spPr>
          <a:xfrm>
            <a:off x="7627973" y="4382150"/>
            <a:ext cx="1131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assertions</a:t>
            </a:r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7D5B5A-76D4-6140-A724-503C8637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to SMT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997BB6-6DA4-5B40-A695-5887DA07F6E9}"/>
                  </a:ext>
                </a:extLst>
              </p:cNvPr>
              <p:cNvSpPr txBox="1"/>
              <p:nvPr/>
            </p:nvSpPr>
            <p:spPr>
              <a:xfrm>
                <a:off x="4780857" y="440968"/>
                <a:ext cx="7024487" cy="5091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∨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2997BB6-6DA4-5B40-A695-5887DA07F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0857" y="440968"/>
                <a:ext cx="7024487" cy="509178"/>
              </a:xfrm>
              <a:prstGeom prst="rect">
                <a:avLst/>
              </a:prstGeom>
              <a:blipFill>
                <a:blip r:embed="rId2"/>
                <a:stretch>
                  <a:fillRect b="-97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596EA2A-EED6-E445-BC12-0670239147C6}"/>
                  </a:ext>
                </a:extLst>
              </p:cNvPr>
              <p:cNvSpPr txBox="1"/>
              <p:nvPr/>
            </p:nvSpPr>
            <p:spPr>
              <a:xfrm>
                <a:off x="4866925" y="1049381"/>
                <a:ext cx="7517314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Several approaches, lazy approach: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Abstract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</m:oMath>
                </a14:m>
                <a:r>
                  <a:rPr lang="en-US" dirty="0"/>
                  <a:t> to propositional form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≡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Feed to DPLL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Use theory decision procedure to refine propositional formula a guide SAT 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596EA2A-EED6-E445-BC12-067023914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6925" y="1049381"/>
                <a:ext cx="7517314" cy="1200329"/>
              </a:xfrm>
              <a:prstGeom prst="rect">
                <a:avLst/>
              </a:prstGeom>
              <a:blipFill>
                <a:blip r:embed="rId3"/>
                <a:stretch>
                  <a:fillRect l="-675" t="-2083" b="-7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6607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22C0A-DBB3-262D-CA58-7FC75CF6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DPLL for SMT</a:t>
            </a:r>
          </a:p>
        </p:txBody>
      </p:sp>
      <p:pic>
        <p:nvPicPr>
          <p:cNvPr id="4" name="Google Shape;99;p20">
            <a:extLst>
              <a:ext uri="{FF2B5EF4-FFF2-40B4-BE49-F238E27FC236}">
                <a16:creationId xmlns:a16="http://schemas.microsoft.com/office/drawing/2014/main" id="{7898F081-EF38-0E62-4DD4-86D59FC0B756}"/>
              </a:ext>
            </a:extLst>
          </p:cNvPr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838199" y="1947364"/>
            <a:ext cx="10856289" cy="42248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78684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1161DF-ECCE-9B40-B55D-462B3567882D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838200" y="1426759"/>
                <a:ext cx="9370102" cy="5515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	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	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</m:oMath>
                </a14:m>
                <a:r>
                  <a:rPr lang="en-US" sz="2400" dirty="0"/>
                  <a:t>	        	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	          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send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to DPLL	</a:t>
                </a:r>
              </a:p>
              <a:p>
                <a:r>
                  <a:rPr lang="en-US" sz="2400" dirty="0"/>
                  <a:t>returns model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</a:t>
                </a:r>
              </a:p>
              <a:p>
                <a:r>
                  <a:rPr lang="en-US" sz="2400" dirty="0"/>
                  <a:t>UF solver concretizes to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checks this as UNSAT</a:t>
                </a:r>
              </a:p>
              <a:p>
                <a:r>
                  <a:rPr lang="en-US" sz="2400" dirty="0"/>
                  <a:t>send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</a:rPr>
                      <m:t> 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3, 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∨2∨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to DPLL</a:t>
                </a:r>
              </a:p>
              <a:p>
                <a:r>
                  <a:rPr lang="en-US" sz="2400" dirty="0"/>
                  <a:t>returns model {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2,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} </a:t>
                </a:r>
              </a:p>
              <a:p>
                <a:r>
                  <a:rPr lang="en-US" sz="2400" dirty="0"/>
                  <a:t>UF solver concretizes and finds this to be UNSAT</a:t>
                </a:r>
              </a:p>
              <a:p>
                <a:r>
                  <a:rPr lang="en-US" sz="2400" dirty="0"/>
                  <a:t>send {</a:t>
                </a: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0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acc>
                    <m:r>
                      <a:rPr lang="en-US" sz="24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∨</m:t>
                    </m:r>
                    <m:acc>
                      <m:accPr>
                        <m:chr m:val="̅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acc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2400" dirty="0"/>
                  <a:t> } to DPLL</a:t>
                </a:r>
              </a:p>
              <a:p>
                <a:r>
                  <a:rPr lang="en-US" sz="2400" dirty="0"/>
                  <a:t>returns UNSAT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F91161DF-ECCE-9B40-B55D-462B3567882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26759"/>
                <a:ext cx="9370102" cy="5515484"/>
              </a:xfrm>
              <a:prstGeom prst="rect">
                <a:avLst/>
              </a:prstGeom>
              <a:blipFill>
                <a:blip r:embed="rId2"/>
                <a:stretch>
                  <a:fillRect l="-812" t="-229" b="-13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 4">
            <a:extLst>
              <a:ext uri="{FF2B5EF4-FFF2-40B4-BE49-F238E27FC236}">
                <a16:creationId xmlns:a16="http://schemas.microsoft.com/office/drawing/2014/main" id="{AFDFA509-F629-C64D-A7DE-93CE692C92D2}"/>
              </a:ext>
            </a:extLst>
          </p:cNvPr>
          <p:cNvSpPr/>
          <p:nvPr/>
        </p:nvSpPr>
        <p:spPr>
          <a:xfrm>
            <a:off x="1639550" y="1828800"/>
            <a:ext cx="853295" cy="194872"/>
          </a:xfrm>
          <a:custGeom>
            <a:avLst/>
            <a:gdLst>
              <a:gd name="connsiteX0" fmla="*/ 0 w 853295"/>
              <a:gd name="connsiteY0" fmla="*/ 16239 h 194872"/>
              <a:gd name="connsiteX1" fmla="*/ 48759 w 853295"/>
              <a:gd name="connsiteY1" fmla="*/ 162392 h 194872"/>
              <a:gd name="connsiteX2" fmla="*/ 182848 w 853295"/>
              <a:gd name="connsiteY2" fmla="*/ 113675 h 194872"/>
              <a:gd name="connsiteX3" fmla="*/ 219418 w 853295"/>
              <a:gd name="connsiteY3" fmla="*/ 97436 h 194872"/>
              <a:gd name="connsiteX4" fmla="*/ 268178 w 853295"/>
              <a:gd name="connsiteY4" fmla="*/ 113675 h 194872"/>
              <a:gd name="connsiteX5" fmla="*/ 292557 w 853295"/>
              <a:gd name="connsiteY5" fmla="*/ 162392 h 194872"/>
              <a:gd name="connsiteX6" fmla="*/ 316938 w 853295"/>
              <a:gd name="connsiteY6" fmla="*/ 194872 h 194872"/>
              <a:gd name="connsiteX7" fmla="*/ 377887 w 853295"/>
              <a:gd name="connsiteY7" fmla="*/ 113675 h 194872"/>
              <a:gd name="connsiteX8" fmla="*/ 451027 w 853295"/>
              <a:gd name="connsiteY8" fmla="*/ 81196 h 194872"/>
              <a:gd name="connsiteX9" fmla="*/ 609496 w 853295"/>
              <a:gd name="connsiteY9" fmla="*/ 97436 h 194872"/>
              <a:gd name="connsiteX10" fmla="*/ 646065 w 853295"/>
              <a:gd name="connsiteY10" fmla="*/ 113675 h 194872"/>
              <a:gd name="connsiteX11" fmla="*/ 792345 w 853295"/>
              <a:gd name="connsiteY11" fmla="*/ 97436 h 194872"/>
              <a:gd name="connsiteX12" fmla="*/ 853295 w 853295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3295" h="194872" extrusionOk="0">
                <a:moveTo>
                  <a:pt x="0" y="16239"/>
                </a:moveTo>
                <a:cubicBezTo>
                  <a:pt x="858" y="59590"/>
                  <a:pt x="-15199" y="156209"/>
                  <a:pt x="48759" y="162392"/>
                </a:cubicBezTo>
                <a:cubicBezTo>
                  <a:pt x="74307" y="166667"/>
                  <a:pt x="162294" y="121347"/>
                  <a:pt x="182848" y="113675"/>
                </a:cubicBezTo>
                <a:cubicBezTo>
                  <a:pt x="186992" y="110317"/>
                  <a:pt x="215148" y="103229"/>
                  <a:pt x="219418" y="97436"/>
                </a:cubicBezTo>
                <a:cubicBezTo>
                  <a:pt x="234356" y="102130"/>
                  <a:pt x="255360" y="101830"/>
                  <a:pt x="268178" y="113675"/>
                </a:cubicBezTo>
                <a:cubicBezTo>
                  <a:pt x="282515" y="124755"/>
                  <a:pt x="283581" y="146791"/>
                  <a:pt x="292557" y="162392"/>
                </a:cubicBezTo>
                <a:cubicBezTo>
                  <a:pt x="297383" y="173987"/>
                  <a:pt x="306943" y="185803"/>
                  <a:pt x="316938" y="194872"/>
                </a:cubicBezTo>
                <a:cubicBezTo>
                  <a:pt x="339141" y="150067"/>
                  <a:pt x="338747" y="137363"/>
                  <a:pt x="377887" y="113675"/>
                </a:cubicBezTo>
                <a:cubicBezTo>
                  <a:pt x="401371" y="99770"/>
                  <a:pt x="451027" y="81196"/>
                  <a:pt x="451027" y="81196"/>
                </a:cubicBezTo>
                <a:cubicBezTo>
                  <a:pt x="501974" y="86307"/>
                  <a:pt x="563122" y="93748"/>
                  <a:pt x="609496" y="97436"/>
                </a:cubicBezTo>
                <a:cubicBezTo>
                  <a:pt x="623471" y="101382"/>
                  <a:pt x="633452" y="116120"/>
                  <a:pt x="646065" y="113675"/>
                </a:cubicBezTo>
                <a:cubicBezTo>
                  <a:pt x="697657" y="117777"/>
                  <a:pt x="746681" y="106641"/>
                  <a:pt x="792345" y="97436"/>
                </a:cubicBezTo>
                <a:cubicBezTo>
                  <a:pt x="853265" y="18897"/>
                  <a:pt x="832189" y="53450"/>
                  <a:pt x="853295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9A07AE91-5EDF-D944-8556-B62FB41F73E9}"/>
              </a:ext>
            </a:extLst>
          </p:cNvPr>
          <p:cNvSpPr/>
          <p:nvPr/>
        </p:nvSpPr>
        <p:spPr>
          <a:xfrm>
            <a:off x="2869992" y="1828800"/>
            <a:ext cx="1620244" cy="194872"/>
          </a:xfrm>
          <a:custGeom>
            <a:avLst/>
            <a:gdLst>
              <a:gd name="connsiteX0" fmla="*/ 0 w 1620244"/>
              <a:gd name="connsiteY0" fmla="*/ 16239 h 194872"/>
              <a:gd name="connsiteX1" fmla="*/ 92584 w 1620244"/>
              <a:gd name="connsiteY1" fmla="*/ 162392 h 194872"/>
              <a:gd name="connsiteX2" fmla="*/ 347194 w 1620244"/>
              <a:gd name="connsiteY2" fmla="*/ 113675 h 194872"/>
              <a:gd name="connsiteX3" fmla="*/ 416632 w 1620244"/>
              <a:gd name="connsiteY3" fmla="*/ 97436 h 194872"/>
              <a:gd name="connsiteX4" fmla="*/ 509218 w 1620244"/>
              <a:gd name="connsiteY4" fmla="*/ 113675 h 194872"/>
              <a:gd name="connsiteX5" fmla="*/ 555511 w 1620244"/>
              <a:gd name="connsiteY5" fmla="*/ 162392 h 194872"/>
              <a:gd name="connsiteX6" fmla="*/ 601804 w 1620244"/>
              <a:gd name="connsiteY6" fmla="*/ 194872 h 194872"/>
              <a:gd name="connsiteX7" fmla="*/ 717536 w 1620244"/>
              <a:gd name="connsiteY7" fmla="*/ 113675 h 194872"/>
              <a:gd name="connsiteX8" fmla="*/ 856414 w 1620244"/>
              <a:gd name="connsiteY8" fmla="*/ 81196 h 194872"/>
              <a:gd name="connsiteX9" fmla="*/ 1157317 w 1620244"/>
              <a:gd name="connsiteY9" fmla="*/ 97436 h 194872"/>
              <a:gd name="connsiteX10" fmla="*/ 1226755 w 1620244"/>
              <a:gd name="connsiteY10" fmla="*/ 113675 h 194872"/>
              <a:gd name="connsiteX11" fmla="*/ 1504511 w 1620244"/>
              <a:gd name="connsiteY11" fmla="*/ 97436 h 194872"/>
              <a:gd name="connsiteX12" fmla="*/ 1620244 w 1620244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20244" h="194872" extrusionOk="0">
                <a:moveTo>
                  <a:pt x="0" y="16239"/>
                </a:moveTo>
                <a:cubicBezTo>
                  <a:pt x="7791" y="61140"/>
                  <a:pt x="-16053" y="154184"/>
                  <a:pt x="92584" y="162392"/>
                </a:cubicBezTo>
                <a:cubicBezTo>
                  <a:pt x="144207" y="167415"/>
                  <a:pt x="313944" y="121264"/>
                  <a:pt x="347194" y="113675"/>
                </a:cubicBezTo>
                <a:cubicBezTo>
                  <a:pt x="357866" y="117330"/>
                  <a:pt x="391251" y="97119"/>
                  <a:pt x="416632" y="97436"/>
                </a:cubicBezTo>
                <a:cubicBezTo>
                  <a:pt x="444748" y="101347"/>
                  <a:pt x="485124" y="102429"/>
                  <a:pt x="509218" y="113675"/>
                </a:cubicBezTo>
                <a:cubicBezTo>
                  <a:pt x="534404" y="124742"/>
                  <a:pt x="538625" y="146139"/>
                  <a:pt x="555511" y="162392"/>
                </a:cubicBezTo>
                <a:cubicBezTo>
                  <a:pt x="567864" y="174152"/>
                  <a:pt x="583744" y="186520"/>
                  <a:pt x="601804" y="194872"/>
                </a:cubicBezTo>
                <a:cubicBezTo>
                  <a:pt x="643966" y="149751"/>
                  <a:pt x="643142" y="138270"/>
                  <a:pt x="717536" y="113675"/>
                </a:cubicBezTo>
                <a:cubicBezTo>
                  <a:pt x="762127" y="99770"/>
                  <a:pt x="856414" y="81196"/>
                  <a:pt x="856414" y="81196"/>
                </a:cubicBezTo>
                <a:cubicBezTo>
                  <a:pt x="954081" y="86184"/>
                  <a:pt x="1070609" y="99404"/>
                  <a:pt x="1157317" y="97436"/>
                </a:cubicBezTo>
                <a:cubicBezTo>
                  <a:pt x="1183235" y="102101"/>
                  <a:pt x="1202467" y="114819"/>
                  <a:pt x="1226755" y="113675"/>
                </a:cubicBezTo>
                <a:cubicBezTo>
                  <a:pt x="1324085" y="120490"/>
                  <a:pt x="1418026" y="110321"/>
                  <a:pt x="1504511" y="97436"/>
                </a:cubicBezTo>
                <a:cubicBezTo>
                  <a:pt x="1613416" y="20311"/>
                  <a:pt x="1578368" y="56151"/>
                  <a:pt x="1620244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F122656-CECD-EB47-AA15-CA02BA41F87C}"/>
              </a:ext>
            </a:extLst>
          </p:cNvPr>
          <p:cNvSpPr/>
          <p:nvPr/>
        </p:nvSpPr>
        <p:spPr>
          <a:xfrm>
            <a:off x="4896086" y="1828800"/>
            <a:ext cx="853295" cy="194872"/>
          </a:xfrm>
          <a:custGeom>
            <a:avLst/>
            <a:gdLst>
              <a:gd name="connsiteX0" fmla="*/ 0 w 853295"/>
              <a:gd name="connsiteY0" fmla="*/ 16239 h 194872"/>
              <a:gd name="connsiteX1" fmla="*/ 48759 w 853295"/>
              <a:gd name="connsiteY1" fmla="*/ 162392 h 194872"/>
              <a:gd name="connsiteX2" fmla="*/ 182848 w 853295"/>
              <a:gd name="connsiteY2" fmla="*/ 113675 h 194872"/>
              <a:gd name="connsiteX3" fmla="*/ 219418 w 853295"/>
              <a:gd name="connsiteY3" fmla="*/ 97436 h 194872"/>
              <a:gd name="connsiteX4" fmla="*/ 268178 w 853295"/>
              <a:gd name="connsiteY4" fmla="*/ 113675 h 194872"/>
              <a:gd name="connsiteX5" fmla="*/ 292557 w 853295"/>
              <a:gd name="connsiteY5" fmla="*/ 162392 h 194872"/>
              <a:gd name="connsiteX6" fmla="*/ 316938 w 853295"/>
              <a:gd name="connsiteY6" fmla="*/ 194872 h 194872"/>
              <a:gd name="connsiteX7" fmla="*/ 377887 w 853295"/>
              <a:gd name="connsiteY7" fmla="*/ 113675 h 194872"/>
              <a:gd name="connsiteX8" fmla="*/ 451027 w 853295"/>
              <a:gd name="connsiteY8" fmla="*/ 81196 h 194872"/>
              <a:gd name="connsiteX9" fmla="*/ 609496 w 853295"/>
              <a:gd name="connsiteY9" fmla="*/ 97436 h 194872"/>
              <a:gd name="connsiteX10" fmla="*/ 646065 w 853295"/>
              <a:gd name="connsiteY10" fmla="*/ 113675 h 194872"/>
              <a:gd name="connsiteX11" fmla="*/ 792345 w 853295"/>
              <a:gd name="connsiteY11" fmla="*/ 97436 h 194872"/>
              <a:gd name="connsiteX12" fmla="*/ 853295 w 853295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53295" h="194872" extrusionOk="0">
                <a:moveTo>
                  <a:pt x="0" y="16239"/>
                </a:moveTo>
                <a:cubicBezTo>
                  <a:pt x="858" y="59590"/>
                  <a:pt x="-15199" y="156209"/>
                  <a:pt x="48759" y="162392"/>
                </a:cubicBezTo>
                <a:cubicBezTo>
                  <a:pt x="74307" y="166667"/>
                  <a:pt x="162294" y="121347"/>
                  <a:pt x="182848" y="113675"/>
                </a:cubicBezTo>
                <a:cubicBezTo>
                  <a:pt x="186992" y="110317"/>
                  <a:pt x="215148" y="103229"/>
                  <a:pt x="219418" y="97436"/>
                </a:cubicBezTo>
                <a:cubicBezTo>
                  <a:pt x="234356" y="102130"/>
                  <a:pt x="255360" y="101830"/>
                  <a:pt x="268178" y="113675"/>
                </a:cubicBezTo>
                <a:cubicBezTo>
                  <a:pt x="282515" y="124755"/>
                  <a:pt x="283581" y="146791"/>
                  <a:pt x="292557" y="162392"/>
                </a:cubicBezTo>
                <a:cubicBezTo>
                  <a:pt x="297383" y="173987"/>
                  <a:pt x="306943" y="185803"/>
                  <a:pt x="316938" y="194872"/>
                </a:cubicBezTo>
                <a:cubicBezTo>
                  <a:pt x="339141" y="150067"/>
                  <a:pt x="338747" y="137363"/>
                  <a:pt x="377887" y="113675"/>
                </a:cubicBezTo>
                <a:cubicBezTo>
                  <a:pt x="401371" y="99770"/>
                  <a:pt x="451027" y="81196"/>
                  <a:pt x="451027" y="81196"/>
                </a:cubicBezTo>
                <a:cubicBezTo>
                  <a:pt x="501974" y="86307"/>
                  <a:pt x="563122" y="93748"/>
                  <a:pt x="609496" y="97436"/>
                </a:cubicBezTo>
                <a:cubicBezTo>
                  <a:pt x="623471" y="101382"/>
                  <a:pt x="633452" y="116120"/>
                  <a:pt x="646065" y="113675"/>
                </a:cubicBezTo>
                <a:cubicBezTo>
                  <a:pt x="697657" y="117777"/>
                  <a:pt x="746681" y="106641"/>
                  <a:pt x="792345" y="97436"/>
                </a:cubicBezTo>
                <a:cubicBezTo>
                  <a:pt x="853265" y="18897"/>
                  <a:pt x="832189" y="53450"/>
                  <a:pt x="853295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AE152F9-D790-1042-BD9C-813643460115}"/>
              </a:ext>
            </a:extLst>
          </p:cNvPr>
          <p:cNvSpPr/>
          <p:nvPr/>
        </p:nvSpPr>
        <p:spPr>
          <a:xfrm>
            <a:off x="6169363" y="1791325"/>
            <a:ext cx="546516" cy="194872"/>
          </a:xfrm>
          <a:custGeom>
            <a:avLst/>
            <a:gdLst>
              <a:gd name="connsiteX0" fmla="*/ 0 w 546516"/>
              <a:gd name="connsiteY0" fmla="*/ 16239 h 194872"/>
              <a:gd name="connsiteX1" fmla="*/ 31229 w 546516"/>
              <a:gd name="connsiteY1" fmla="*/ 162392 h 194872"/>
              <a:gd name="connsiteX2" fmla="*/ 117110 w 546516"/>
              <a:gd name="connsiteY2" fmla="*/ 113675 h 194872"/>
              <a:gd name="connsiteX3" fmla="*/ 140532 w 546516"/>
              <a:gd name="connsiteY3" fmla="*/ 97436 h 194872"/>
              <a:gd name="connsiteX4" fmla="*/ 171761 w 546516"/>
              <a:gd name="connsiteY4" fmla="*/ 113675 h 194872"/>
              <a:gd name="connsiteX5" fmla="*/ 187376 w 546516"/>
              <a:gd name="connsiteY5" fmla="*/ 162392 h 194872"/>
              <a:gd name="connsiteX6" fmla="*/ 202991 w 546516"/>
              <a:gd name="connsiteY6" fmla="*/ 194872 h 194872"/>
              <a:gd name="connsiteX7" fmla="*/ 242028 w 546516"/>
              <a:gd name="connsiteY7" fmla="*/ 113675 h 194872"/>
              <a:gd name="connsiteX8" fmla="*/ 288872 w 546516"/>
              <a:gd name="connsiteY8" fmla="*/ 81196 h 194872"/>
              <a:gd name="connsiteX9" fmla="*/ 390368 w 546516"/>
              <a:gd name="connsiteY9" fmla="*/ 97436 h 194872"/>
              <a:gd name="connsiteX10" fmla="*/ 413790 w 546516"/>
              <a:gd name="connsiteY10" fmla="*/ 113675 h 194872"/>
              <a:gd name="connsiteX11" fmla="*/ 507479 w 546516"/>
              <a:gd name="connsiteY11" fmla="*/ 97436 h 194872"/>
              <a:gd name="connsiteX12" fmla="*/ 546516 w 546516"/>
              <a:gd name="connsiteY12" fmla="*/ 0 h 1948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6516" h="194872" extrusionOk="0">
                <a:moveTo>
                  <a:pt x="0" y="16239"/>
                </a:moveTo>
                <a:cubicBezTo>
                  <a:pt x="-1935" y="58958"/>
                  <a:pt x="-9730" y="155094"/>
                  <a:pt x="31229" y="162392"/>
                </a:cubicBezTo>
                <a:cubicBezTo>
                  <a:pt x="49567" y="167047"/>
                  <a:pt x="105498" y="121257"/>
                  <a:pt x="117110" y="113675"/>
                </a:cubicBezTo>
                <a:cubicBezTo>
                  <a:pt x="121057" y="112595"/>
                  <a:pt x="128696" y="102580"/>
                  <a:pt x="140532" y="97436"/>
                </a:cubicBezTo>
                <a:cubicBezTo>
                  <a:pt x="149784" y="102216"/>
                  <a:pt x="164449" y="102066"/>
                  <a:pt x="171761" y="113675"/>
                </a:cubicBezTo>
                <a:cubicBezTo>
                  <a:pt x="181047" y="124675"/>
                  <a:pt x="182427" y="145275"/>
                  <a:pt x="187376" y="162392"/>
                </a:cubicBezTo>
                <a:cubicBezTo>
                  <a:pt x="190956" y="174192"/>
                  <a:pt x="196622" y="185141"/>
                  <a:pt x="202991" y="194872"/>
                </a:cubicBezTo>
                <a:cubicBezTo>
                  <a:pt x="217087" y="149008"/>
                  <a:pt x="215882" y="138537"/>
                  <a:pt x="242028" y="113675"/>
                </a:cubicBezTo>
                <a:cubicBezTo>
                  <a:pt x="257069" y="99770"/>
                  <a:pt x="288872" y="81196"/>
                  <a:pt x="288872" y="81196"/>
                </a:cubicBezTo>
                <a:cubicBezTo>
                  <a:pt x="321095" y="86350"/>
                  <a:pt x="359797" y="91215"/>
                  <a:pt x="390368" y="97436"/>
                </a:cubicBezTo>
                <a:cubicBezTo>
                  <a:pt x="399001" y="100253"/>
                  <a:pt x="405706" y="115189"/>
                  <a:pt x="413790" y="113675"/>
                </a:cubicBezTo>
                <a:cubicBezTo>
                  <a:pt x="445505" y="114256"/>
                  <a:pt x="478122" y="105143"/>
                  <a:pt x="507479" y="97436"/>
                </a:cubicBezTo>
                <a:cubicBezTo>
                  <a:pt x="543766" y="23093"/>
                  <a:pt x="532579" y="57725"/>
                  <a:pt x="546516" y="0"/>
                </a:cubicBezTo>
              </a:path>
            </a:pathLst>
          </a:custGeom>
          <a:noFill/>
          <a:ln w="254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1049311"/>
                      <a:gd name="connsiteY0" fmla="*/ 14990 h 179882"/>
                      <a:gd name="connsiteX1" fmla="*/ 59960 w 1049311"/>
                      <a:gd name="connsiteY1" fmla="*/ 149901 h 179882"/>
                      <a:gd name="connsiteX2" fmla="*/ 224852 w 1049311"/>
                      <a:gd name="connsiteY2" fmla="*/ 104931 h 179882"/>
                      <a:gd name="connsiteX3" fmla="*/ 269822 w 1049311"/>
                      <a:gd name="connsiteY3" fmla="*/ 89941 h 179882"/>
                      <a:gd name="connsiteX4" fmla="*/ 329783 w 1049311"/>
                      <a:gd name="connsiteY4" fmla="*/ 104931 h 179882"/>
                      <a:gd name="connsiteX5" fmla="*/ 359763 w 1049311"/>
                      <a:gd name="connsiteY5" fmla="*/ 149901 h 179882"/>
                      <a:gd name="connsiteX6" fmla="*/ 389744 w 1049311"/>
                      <a:gd name="connsiteY6" fmla="*/ 179882 h 179882"/>
                      <a:gd name="connsiteX7" fmla="*/ 464695 w 1049311"/>
                      <a:gd name="connsiteY7" fmla="*/ 104931 h 179882"/>
                      <a:gd name="connsiteX8" fmla="*/ 554636 w 1049311"/>
                      <a:gd name="connsiteY8" fmla="*/ 74951 h 179882"/>
                      <a:gd name="connsiteX9" fmla="*/ 749508 w 1049311"/>
                      <a:gd name="connsiteY9" fmla="*/ 89941 h 179882"/>
                      <a:gd name="connsiteX10" fmla="*/ 794478 w 1049311"/>
                      <a:gd name="connsiteY10" fmla="*/ 104931 h 179882"/>
                      <a:gd name="connsiteX11" fmla="*/ 974360 w 1049311"/>
                      <a:gd name="connsiteY11" fmla="*/ 89941 h 179882"/>
                      <a:gd name="connsiteX12" fmla="*/ 1049311 w 1049311"/>
                      <a:gd name="connsiteY12" fmla="*/ 0 h 17988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</a:cxnLst>
                    <a:rect l="l" t="t" r="r" b="b"/>
                    <a:pathLst>
                      <a:path w="1049311" h="179882">
                        <a:moveTo>
                          <a:pt x="0" y="14990"/>
                        </a:moveTo>
                        <a:cubicBezTo>
                          <a:pt x="6047" y="57318"/>
                          <a:pt x="-8549" y="141337"/>
                          <a:pt x="59960" y="149901"/>
                        </a:cubicBezTo>
                        <a:cubicBezTo>
                          <a:pt x="90779" y="153753"/>
                          <a:pt x="203915" y="111910"/>
                          <a:pt x="224852" y="104931"/>
                        </a:cubicBezTo>
                        <a:lnTo>
                          <a:pt x="269822" y="89941"/>
                        </a:lnTo>
                        <a:cubicBezTo>
                          <a:pt x="289809" y="94938"/>
                          <a:pt x="312641" y="93503"/>
                          <a:pt x="329783" y="104931"/>
                        </a:cubicBezTo>
                        <a:cubicBezTo>
                          <a:pt x="344773" y="114924"/>
                          <a:pt x="348509" y="135833"/>
                          <a:pt x="359763" y="149901"/>
                        </a:cubicBezTo>
                        <a:cubicBezTo>
                          <a:pt x="368592" y="160937"/>
                          <a:pt x="379750" y="169888"/>
                          <a:pt x="389744" y="179882"/>
                        </a:cubicBezTo>
                        <a:cubicBezTo>
                          <a:pt x="417095" y="138855"/>
                          <a:pt x="417356" y="125970"/>
                          <a:pt x="464695" y="104931"/>
                        </a:cubicBezTo>
                        <a:cubicBezTo>
                          <a:pt x="493573" y="92096"/>
                          <a:pt x="554636" y="74951"/>
                          <a:pt x="554636" y="74951"/>
                        </a:cubicBezTo>
                        <a:cubicBezTo>
                          <a:pt x="619593" y="79948"/>
                          <a:pt x="684862" y="81860"/>
                          <a:pt x="749508" y="89941"/>
                        </a:cubicBezTo>
                        <a:cubicBezTo>
                          <a:pt x="765187" y="91901"/>
                          <a:pt x="778677" y="104931"/>
                          <a:pt x="794478" y="104931"/>
                        </a:cubicBezTo>
                        <a:cubicBezTo>
                          <a:pt x="854646" y="104931"/>
                          <a:pt x="914399" y="94938"/>
                          <a:pt x="974360" y="89941"/>
                        </a:cubicBezTo>
                        <a:cubicBezTo>
                          <a:pt x="1042221" y="22080"/>
                          <a:pt x="1021680" y="55262"/>
                          <a:pt x="1049311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B2B66F5-A14B-B148-A59C-856C61CDED39}"/>
              </a:ext>
            </a:extLst>
          </p:cNvPr>
          <p:cNvGrpSpPr/>
          <p:nvPr/>
        </p:nvGrpSpPr>
        <p:grpSpPr>
          <a:xfrm>
            <a:off x="7179671" y="147459"/>
            <a:ext cx="4867371" cy="2343351"/>
            <a:chOff x="1293586" y="1935326"/>
            <a:chExt cx="9268432" cy="333747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EAA46287-4808-E948-89F4-DD9510F6BA3B}"/>
                </a:ext>
              </a:extLst>
            </p:cNvPr>
            <p:cNvCxnSpPr>
              <a:cxnSpLocks/>
            </p:cNvCxnSpPr>
            <p:nvPr/>
          </p:nvCxnSpPr>
          <p:spPr>
            <a:xfrm>
              <a:off x="3238079" y="3118776"/>
              <a:ext cx="2587370" cy="738649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B148563-BAF3-0347-A753-3A9968E4AB3F}"/>
                </a:ext>
              </a:extLst>
            </p:cNvPr>
            <p:cNvSpPr txBox="1"/>
            <p:nvPr/>
          </p:nvSpPr>
          <p:spPr>
            <a:xfrm>
              <a:off x="1293586" y="1935326"/>
              <a:ext cx="3398781" cy="3265672"/>
            </a:xfrm>
            <a:prstGeom prst="rect">
              <a:avLst/>
            </a:prstGeom>
            <a:noFill/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Theory solvers/decision procedures</a:t>
              </a: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972C977-FAFA-6244-A6AE-4C297E8265B5}"/>
                </a:ext>
              </a:extLst>
            </p:cNvPr>
            <p:cNvSpPr txBox="1"/>
            <p:nvPr/>
          </p:nvSpPr>
          <p:spPr>
            <a:xfrm>
              <a:off x="1693893" y="2951000"/>
              <a:ext cx="1802525" cy="61368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Arithmetic </a:t>
              </a:r>
            </a:p>
            <a:p>
              <a:pPr algn="ctr"/>
              <a:endParaRPr lang="en-US" sz="1100" dirty="0">
                <a:latin typeface="+mj-lt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9F8EE8D-FB15-FC4A-B8AC-5713C4075885}"/>
                </a:ext>
              </a:extLst>
            </p:cNvPr>
            <p:cNvSpPr txBox="1"/>
            <p:nvPr/>
          </p:nvSpPr>
          <p:spPr>
            <a:xfrm>
              <a:off x="1877825" y="3274166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 err="1">
                  <a:latin typeface="+mj-lt"/>
                </a:rPr>
                <a:t>Bitvectors</a:t>
              </a:r>
              <a:r>
                <a:rPr lang="en-US" sz="1100" dirty="0">
                  <a:latin typeface="+mj-lt"/>
                </a:rPr>
                <a:t>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31CD58F-612B-EE47-9AF2-6F0345F86E73}"/>
                </a:ext>
              </a:extLst>
            </p:cNvPr>
            <p:cNvSpPr txBox="1"/>
            <p:nvPr/>
          </p:nvSpPr>
          <p:spPr>
            <a:xfrm>
              <a:off x="8759493" y="3458820"/>
              <a:ext cx="1802525" cy="85477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DPLL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03E7ED-CA18-0F42-BF7E-6A9C4FDFD777}"/>
                </a:ext>
              </a:extLst>
            </p:cNvPr>
            <p:cNvSpPr txBox="1"/>
            <p:nvPr/>
          </p:nvSpPr>
          <p:spPr>
            <a:xfrm>
              <a:off x="2093278" y="3597325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Difference logic </a:t>
              </a:r>
            </a:p>
            <a:p>
              <a:endParaRPr lang="en-US" sz="1100" dirty="0">
                <a:latin typeface="+mj-lt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318672-0404-9849-84CC-2AE4AD38C35A}"/>
                </a:ext>
              </a:extLst>
            </p:cNvPr>
            <p:cNvSpPr txBox="1"/>
            <p:nvPr/>
          </p:nvSpPr>
          <p:spPr>
            <a:xfrm>
              <a:off x="2308732" y="3920485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…</a:t>
              </a:r>
            </a:p>
            <a:p>
              <a:pPr algn="ctr"/>
              <a:endParaRPr lang="en-US" sz="1100" dirty="0">
                <a:latin typeface="+mj-lt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F4033CC-0B03-2348-8BD5-C3F3D4593DA1}"/>
                </a:ext>
              </a:extLst>
            </p:cNvPr>
            <p:cNvSpPr txBox="1"/>
            <p:nvPr/>
          </p:nvSpPr>
          <p:spPr>
            <a:xfrm>
              <a:off x="2524186" y="4243639"/>
              <a:ext cx="1802525" cy="6136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100" dirty="0">
                  <a:latin typeface="+mj-lt"/>
                </a:rPr>
                <a:t>Uninterpreted functions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78E58EC-F4D9-6047-B996-DF1D811856A5}"/>
                </a:ext>
              </a:extLst>
            </p:cNvPr>
            <p:cNvSpPr txBox="1"/>
            <p:nvPr/>
          </p:nvSpPr>
          <p:spPr>
            <a:xfrm>
              <a:off x="5825449" y="3458820"/>
              <a:ext cx="1802525" cy="854773"/>
            </a:xfrm>
            <a:prstGeom prst="rect">
              <a:avLst/>
            </a:prstGeom>
            <a:ln w="28575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endParaRPr lang="en-US" sz="1100" dirty="0">
                <a:latin typeface="+mj-lt"/>
              </a:endParaRPr>
            </a:p>
            <a:p>
              <a:pPr algn="ctr"/>
              <a:r>
                <a:rPr lang="en-US" sz="1100" dirty="0">
                  <a:latin typeface="+mj-lt"/>
                </a:rPr>
                <a:t>Core </a:t>
              </a:r>
            </a:p>
            <a:p>
              <a:endParaRPr lang="en-US" sz="1100" dirty="0">
                <a:latin typeface="+mj-lt"/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9B2570BB-9F16-BB4D-A822-AF6931DFFA10}"/>
                </a:ext>
              </a:extLst>
            </p:cNvPr>
            <p:cNvCxnSpPr/>
            <p:nvPr/>
          </p:nvCxnSpPr>
          <p:spPr>
            <a:xfrm flipH="1" flipV="1">
              <a:off x="3496419" y="2951000"/>
              <a:ext cx="2329030" cy="646325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DC854EB-1CCF-7943-9F55-269ECF69EA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93931" y="3274160"/>
              <a:ext cx="1131518" cy="323165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52CD124-F188-5B45-A38C-25F058EAF86B}"/>
                </a:ext>
              </a:extLst>
            </p:cNvPr>
            <p:cNvCxnSpPr>
              <a:cxnSpLocks/>
            </p:cNvCxnSpPr>
            <p:nvPr/>
          </p:nvCxnSpPr>
          <p:spPr>
            <a:xfrm>
              <a:off x="4693930" y="3525086"/>
              <a:ext cx="1131519" cy="332339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1874304-8E79-A144-85DE-87A8E1F06E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928" y="3983545"/>
              <a:ext cx="1131521" cy="39240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6A52B48-9509-CC44-8B67-1B84CFF496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93929" y="4243639"/>
              <a:ext cx="1144802" cy="415495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945CD6-46EB-D24B-A5F7-2D0DFF1292B8}"/>
                </a:ext>
              </a:extLst>
            </p:cNvPr>
            <p:cNvSpPr txBox="1"/>
            <p:nvPr/>
          </p:nvSpPr>
          <p:spPr>
            <a:xfrm>
              <a:off x="4780858" y="2674008"/>
              <a:ext cx="2320460" cy="8218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+mj-lt"/>
                </a:rPr>
                <a:t>literals/formula in </a:t>
              </a:r>
            </a:p>
            <a:p>
              <a:r>
                <a:rPr lang="en-US" sz="1050" dirty="0">
                  <a:latin typeface="+mj-lt"/>
                </a:rPr>
                <a:t>real arithmetic</a:t>
              </a:r>
            </a:p>
            <a:p>
              <a:endParaRPr lang="en-US" sz="105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8C666C7-105C-074C-AF7B-035EB6A3CE79}"/>
                </a:ext>
              </a:extLst>
            </p:cNvPr>
            <p:cNvSpPr txBox="1"/>
            <p:nvPr/>
          </p:nvSpPr>
          <p:spPr>
            <a:xfrm>
              <a:off x="4697053" y="4659119"/>
              <a:ext cx="1561587" cy="6136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>
                  <a:latin typeface="+mj-lt"/>
                </a:rPr>
                <a:t>solution or </a:t>
              </a:r>
            </a:p>
            <a:p>
              <a:r>
                <a:rPr lang="en-US" sz="1050" dirty="0">
                  <a:latin typeface="+mj-lt"/>
                </a:rPr>
                <a:t>counterexample</a:t>
              </a:r>
              <a:endParaRPr lang="en-US" sz="1050" dirty="0"/>
            </a:p>
          </p:txBody>
        </p: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211E7A2-8997-5749-9086-FA9F8295EE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27974" y="3658879"/>
              <a:ext cx="1131518" cy="0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D6E2BBAC-8D0A-744D-8944-12AB7E6612A4}"/>
                </a:ext>
              </a:extLst>
            </p:cNvPr>
            <p:cNvCxnSpPr>
              <a:cxnSpLocks/>
            </p:cNvCxnSpPr>
            <p:nvPr/>
          </p:nvCxnSpPr>
          <p:spPr>
            <a:xfrm>
              <a:off x="7627975" y="4151319"/>
              <a:ext cx="1131517" cy="2"/>
            </a:xfrm>
            <a:prstGeom prst="straightConnector1">
              <a:avLst/>
            </a:prstGeom>
            <a:ln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5B03CD-2103-4543-9945-57D3F2E45E6D}"/>
                </a:ext>
              </a:extLst>
            </p:cNvPr>
            <p:cNvSpPr txBox="1"/>
            <p:nvPr/>
          </p:nvSpPr>
          <p:spPr>
            <a:xfrm>
              <a:off x="7627975" y="2627823"/>
              <a:ext cx="1802524" cy="821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 err="1">
                  <a:latin typeface="+mj-lt"/>
                </a:rPr>
                <a:t>boolean</a:t>
              </a:r>
              <a:r>
                <a:rPr lang="en-US" sz="1050" dirty="0">
                  <a:latin typeface="+mj-lt"/>
                </a:rPr>
                <a:t> skeleton of problem</a:t>
              </a:r>
              <a:endParaRPr lang="en-US" sz="1050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2FC36D0-B056-644B-AEA7-FF21794AC91B}"/>
                </a:ext>
              </a:extLst>
            </p:cNvPr>
            <p:cNvSpPr txBox="1"/>
            <p:nvPr/>
          </p:nvSpPr>
          <p:spPr>
            <a:xfrm>
              <a:off x="7627973" y="4382150"/>
              <a:ext cx="1131518" cy="372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+mj-lt"/>
                </a:rPr>
                <a:t>assertions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3696330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DPLL</a:t>
            </a:r>
            <a:r>
              <a:rPr lang="en-US" baseline="30000" dirty="0"/>
              <a:t>T: </a:t>
            </a:r>
            <a:r>
              <a:rPr lang="en-US" dirty="0"/>
              <a:t>DPLL modulo theories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How can we extend DPLL to handle formulas over other theories like </a:t>
                </a:r>
              </a:p>
              <a:p>
                <a:r>
                  <a:rPr lang="en-US" dirty="0"/>
                  <a:t>Difference Logic (DL)</a:t>
                </a:r>
              </a:p>
              <a:p>
                <a:r>
                  <a:rPr lang="en-US" dirty="0"/>
                  <a:t>Uninterpreted functions (UFs)</a:t>
                </a:r>
              </a:p>
              <a:p>
                <a:r>
                  <a:rPr lang="en-US" b="1" dirty="0">
                    <a:sym typeface="+mn-ea"/>
                  </a:rPr>
                  <a:t>Linear Real Arithmetic (LRA)</a:t>
                </a:r>
                <a:endParaRPr lang="en-US" b="1" dirty="0"/>
              </a:p>
              <a:p>
                <a:pPr marL="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lvl="1" indent="0">
                  <a:buNone/>
                </a:pPr>
                <a:r>
                  <a:rPr lang="en-US" b="0" dirty="0">
                    <a:latin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smtClean="0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>
                    <a:sym typeface="+mn-ea"/>
                  </a:rPr>
                  <a:t>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>
                    <a:sym typeface="+mn-ea"/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)∧</m:t>
                    </m:r>
                    <m:r>
                      <a:rPr lang="en-US" dirty="0">
                        <a:latin typeface="Cambria Math" panose="02040503050406030204" pitchFamily="18" charset="0"/>
                        <a:sym typeface="+mn-ea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−10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  <a:cs typeface="Cambria Math" panose="02040503050406030204" pitchFamily="18" charset="0"/>
                      </a:rPr>
                      <m:t>≥−5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ym typeface="+mn-ea"/>
                  </a:rPr>
                  <a:t>  </a:t>
                </a:r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309" y="3326130"/>
            <a:ext cx="3884352" cy="30928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96827-FC01-33F2-81B5-AEEFC339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00" y="172453"/>
            <a:ext cx="11360800" cy="763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Linear Programming Setup</a:t>
            </a:r>
            <a:br>
              <a:rPr lang="en-US" b="1" dirty="0"/>
            </a:b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0FAE9EB-F1CD-E0DF-AD23-A022C5A00F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415600" y="936053"/>
                <a:ext cx="11360800" cy="5921947"/>
              </a:xfrm>
            </p:spPr>
            <p:txBody>
              <a:bodyPr>
                <a:normAutofit fontScale="62500" lnSpcReduction="20000"/>
              </a:bodyPr>
              <a:lstStyle/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b="0" dirty="0">
                    <a:cs typeface="Calibri Light" panose="020F0302020204030204" pitchFamily="34" charset="0"/>
                  </a:rPr>
                  <a:t>max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 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…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 </m:t>
                    </m:r>
                  </m:oMath>
                </a14:m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such that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 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…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≤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 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…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≤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endParaRPr lang="en-US" b="0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	…</a:t>
                </a: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	</a:t>
                </a:r>
                <a:r>
                  <a:rPr lang="en-US" b="0" dirty="0"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 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…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≤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𝑚</m:t>
                        </m:r>
                      </m:sub>
                    </m:sSub>
                  </m:oMath>
                </a14:m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152396" indent="0">
                  <a:lnSpc>
                    <a:spcPct val="120000"/>
                  </a:lnSpc>
                  <a:buNone/>
                </a:pPr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General LP problem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×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ℝ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𝑚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 Light" panose="020F0302020204030204" pitchFamily="34" charset="0"/>
                      </a:rPr>
                      <m:t>)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 </a:t>
                </a: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b="0" dirty="0">
                    <a:cs typeface="Calibri Light" panose="020F0302020204030204" pitchFamily="34" charset="0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𝑥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 Light" panose="020F03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 Light" panose="020F0302020204030204" pitchFamily="34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 Light" panose="020F0302020204030204" pitchFamily="34" charset="0"/>
                                  </a:rPr>
                                  <m:t>𝑛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 dirty="0" err="1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 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 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𝐴𝑥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,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∈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ℝ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 Light" panose="020F0302020204030204" pitchFamily="34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i="1" dirty="0">
                    <a:latin typeface="Cambria Math" panose="02040503050406030204" pitchFamily="18" charset="0"/>
                    <a:cs typeface="Calibri Light" panose="020F0302020204030204" pitchFamily="34" charset="0"/>
                  </a:rPr>
                  <a:t> </a:t>
                </a:r>
                <a:br>
                  <a:rPr lang="en-US" i="1" dirty="0">
                    <a:latin typeface="Cambria Math" panose="02040503050406030204" pitchFamily="18" charset="0"/>
                    <a:cs typeface="Calibri Light" panose="020F0302020204030204" pitchFamily="34" charset="0"/>
                  </a:rPr>
                </a:br>
                <a:endParaRPr lang="en-US" i="1" dirty="0">
                  <a:latin typeface="Cambria Math" panose="02040503050406030204" pitchFamily="18" charset="0"/>
                  <a:cs typeface="Calibri Light" panose="020F0302020204030204" pitchFamily="34" charset="0"/>
                </a:endParaRP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Feasible set: polyhedron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 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𝐴𝑥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≤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𝑏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}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.</a:t>
                </a:r>
              </a:p>
              <a:p>
                <a:pPr marL="152396" indent="0">
                  <a:lnSpc>
                    <a:spcPct val="120000"/>
                  </a:lnSpc>
                  <a:buNone/>
                </a:pPr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Fundamental fact: if an optimal solution exists, it occurs at a vertex of this polyhedron.</a:t>
                </a:r>
              </a:p>
              <a:p>
                <a:pPr marL="152396" indent="0">
                  <a:lnSpc>
                    <a:spcPct val="120000"/>
                  </a:lnSpc>
                  <a:buNone/>
                </a:pPr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Typically, 𝑚 &lt; 𝑛 (fewer constraints than variables).</a:t>
                </a: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If  𝑚 = 𝑛, the system has a unique solution (if nonsingular) — a single vertex.</a:t>
                </a: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If  𝑚 &gt; 𝑛, the system is usually overdetermined; feasible solutions may not exist unless rows are redundant.</a:t>
                </a:r>
              </a:p>
              <a:p>
                <a:pPr marL="152396" indent="0">
                  <a:lnSpc>
                    <a:spcPct val="120000"/>
                  </a:lnSpc>
                  <a:buNone/>
                </a:pPr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Standard Form (used by Simplex) obtained by introducing slack variables.</a:t>
                </a:r>
              </a:p>
              <a:p>
                <a:pPr marL="152396" indent="0">
                  <a:lnSpc>
                    <a:spcPct val="120000"/>
                  </a:lnSpc>
                  <a:buNone/>
                </a:pPr>
                <a:r>
                  <a:rPr lang="en-US" b="0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𝑥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∈</m:t>
                            </m:r>
                            <m:sSup>
                              <m:sSup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 Light" panose="020F0302020204030204" pitchFamily="34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 Light" panose="020F0302020204030204" pitchFamily="34" charset="0"/>
                                  </a:rPr>
                                  <m:t>ℝ</m:t>
                                </m:r>
                              </m:e>
                              <m:sup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 Light" panose="020F0302020204030204" pitchFamily="34" charset="0"/>
                                  </a:rPr>
                                  <m:t>𝑛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</m:ctrlPr>
                          </m:sSup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  <a:cs typeface="Calibri Light" panose="020F0302020204030204" pitchFamily="34" charset="0"/>
                              </a:rPr>
                              <m:t>⊤</m:t>
                            </m:r>
                          </m:sup>
                        </m:sSup>
                        <m:r>
                          <a:rPr lang="en-US" i="1" dirty="0" err="1">
                            <a:latin typeface="Cambria Math" panose="02040503050406030204" pitchFamily="18" charset="0"/>
                            <a:cs typeface="Calibri Light" panose="020F0302020204030204" pitchFamily="34" charset="0"/>
                          </a:rPr>
                          <m:t>𝑥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 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 </m:t>
                    </m:r>
                  </m:oMath>
                </a14:m>
                <a:r>
                  <a:rPr lang="en-US" dirty="0">
                    <a:latin typeface="Calibri Light" panose="020F0302020204030204" pitchFamily="34" charset="0"/>
                    <a:cs typeface="Calibri Light" panose="020F0302020204030204" pitchFamily="34" charset="0"/>
                  </a:rPr>
                  <a:t>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𝐴𝑥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,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  <a:cs typeface="Calibri Light" panose="020F03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  <a:cs typeface="Calibri Light" panose="020F0302020204030204" pitchFamily="34" charset="0"/>
                      </a:rPr>
                      <m:t>≥0</m:t>
                    </m:r>
                  </m:oMath>
                </a14:m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00FAE9EB-F1CD-E0DF-AD23-A022C5A00F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15600" y="936053"/>
                <a:ext cx="11360800" cy="5921947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93;p19">
            <a:extLst>
              <a:ext uri="{FF2B5EF4-FFF2-40B4-BE49-F238E27FC236}">
                <a16:creationId xmlns:a16="http://schemas.microsoft.com/office/drawing/2014/main" id="{096B4589-D587-6FFC-2D69-51AA523595CF}"/>
              </a:ext>
            </a:extLst>
          </p:cNvPr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8446922" y="1"/>
            <a:ext cx="3618668" cy="28807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92315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062335" cy="1325880"/>
          </a:xfrm>
        </p:spPr>
        <p:txBody>
          <a:bodyPr/>
          <a:lstStyle/>
          <a:p>
            <a:r>
              <a:rPr lang="en-US" dirty="0"/>
              <a:t>Decision Procedure for Linear Real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Input: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model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Solution based on Simplex Algorithm [Dantzig 1947]  </a:t>
                </a:r>
              </a:p>
              <a:p>
                <a:pPr marL="0" indent="0">
                  <a:buNone/>
                </a:pPr>
                <a:r>
                  <a:rPr lang="en-US" dirty="0"/>
                  <a:t>Simplex solves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1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subject to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Our focus will be on finding any solution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dirty="0"/>
                  <a:t> that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06880" y="479425"/>
            <a:ext cx="3777615" cy="56330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09325" cy="1325880"/>
          </a:xfrm>
        </p:spPr>
        <p:txBody>
          <a:bodyPr/>
          <a:lstStyle/>
          <a:p>
            <a:r>
              <a:rPr lang="en-US" dirty="0"/>
              <a:t>Decision Procedure for Linear Real Arithmetic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Input:</a:t>
                </a: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Output: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∃</m:t>
                    </m:r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model</m:t>
                    </m:r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Simplex expects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to be expressed in the Simplex form, which is a </a:t>
                </a:r>
                <a:r>
                  <a:rPr lang="en-US" b="1" dirty="0"/>
                  <a:t>conjunction </a:t>
                </a:r>
                <a:r>
                  <a:rPr lang="en-US" dirty="0"/>
                  <a:t>of</a:t>
                </a:r>
              </a:p>
              <a:p>
                <a:pPr>
                  <a:buFontTx/>
                  <a:buChar char="-"/>
                </a:pPr>
                <a:r>
                  <a:rPr lang="en-US" b="0" dirty="0"/>
                  <a:t>Linear equalities: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dirty="0"/>
              </a:p>
              <a:p>
                <a:pPr>
                  <a:buFontTx/>
                  <a:buChar char="-"/>
                </a:pPr>
                <a:r>
                  <a:rPr lang="en-US" dirty="0"/>
                  <a:t>Bounds: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>
                  <a:buFontTx/>
                  <a:buChar char="-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3"/>
                <a:stretch>
                  <a:fillRect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to Simplex Form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Consider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US" dirty="0"/>
                  <a:t> inequality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Rewrite this as: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slack variable</a:t>
                </a: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Putting together all the rewritten conjuncts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b="1" dirty="0"/>
                  <a:t>Proposition.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1.</a:t>
                </a:r>
                <a:r>
                  <a:rPr lang="en-US" b="1" dirty="0"/>
                  <a:t> </a:t>
                </a:r>
                <a:r>
                  <a:rPr lang="en-US" dirty="0"/>
                  <a:t>Any model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a model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, disregarding the assignments to the slack variables.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2.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UNSAT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is UNSAT.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-15053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decison procedure: simplex algorithm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8545195" cy="4351655"/>
              </a:xfrm>
            </p:spPr>
            <p:txBody>
              <a:bodyPr>
                <a:normAutofit fontScale="87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Idea: Simultaneously try to find a model or a proof of UNSAT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Start with some </a:t>
                </a:r>
                <a:r>
                  <a:rPr lang="en-US" i="1" dirty="0"/>
                  <a:t>model (or valuation)</a:t>
                </a:r>
                <a:r>
                  <a:rPr lang="en-US" dirty="0"/>
                  <a:t> that satisfies all linear equalities (say,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), but may violate bounds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In each iteration, pick a bound that is not satisfied and modify the model to satisfy the bound </a:t>
                </a:r>
                <a:br>
                  <a:rPr lang="en-US" dirty="0"/>
                </a:br>
                <a:r>
                  <a:rPr lang="en-US" dirty="0"/>
                  <a:t>OR </a:t>
                </a:r>
                <a:br>
                  <a:rPr lang="en-US" dirty="0"/>
                </a:br>
                <a:r>
                  <a:rPr lang="en-US" dirty="0"/>
                  <a:t>discover that the formula is UNSAT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8545195" cy="4351655"/>
              </a:xfrm>
              <a:blipFill>
                <a:blip r:embed="rId2"/>
                <a:stretch>
                  <a:fillRect l="-1189" t="-581" b="-34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naming and ordering for Simplex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0705"/>
                <a:ext cx="10515600" cy="1931670"/>
              </a:xfrm>
            </p:spPr>
            <p:txBody>
              <a:bodyPr>
                <a:normAutofit fontScale="90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The input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(after rewriting) has two types of variables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Basic variables </a:t>
                </a:r>
                <a:r>
                  <a:rPr lang="en-US" dirty="0"/>
                  <a:t>appear on the </a:t>
                </a:r>
                <a:r>
                  <a:rPr lang="en-US" b="1" dirty="0"/>
                  <a:t>LHS </a:t>
                </a:r>
                <a:r>
                  <a:rPr lang="en-US" dirty="0"/>
                  <a:t>of </a:t>
                </a:r>
                <a:r>
                  <a:rPr lang="en-US" b="1" dirty="0"/>
                  <a:t>one </a:t>
                </a:r>
                <a:r>
                  <a:rPr lang="en-US" dirty="0"/>
                  <a:t>equality; initially these are the </a:t>
                </a:r>
                <a:r>
                  <a:rPr lang="en-US" i="1" dirty="0"/>
                  <a:t>slack variables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Non-basic variables</a:t>
                </a:r>
                <a:r>
                  <a:rPr lang="en-US" dirty="0"/>
                  <a:t> all others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0705"/>
                <a:ext cx="10515600" cy="1931670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79252" y="4532243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−10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252" y="4532243"/>
                <a:ext cx="2102223" cy="2030095"/>
              </a:xfrm>
              <a:prstGeom prst="rect">
                <a:avLst/>
              </a:prstGeom>
              <a:blipFill rotWithShape="1">
                <a:blip r:embed="rId4"/>
                <a:stretch>
                  <a:fillRect l="-12" t="-12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712336" y="4532174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336" y="4532174"/>
                <a:ext cx="2102223" cy="2030095"/>
              </a:xfrm>
              <a:prstGeom prst="rect">
                <a:avLst/>
              </a:prstGeom>
              <a:blipFill rotWithShape="1">
                <a:blip r:embed="rId5"/>
                <a:stretch>
                  <a:fillRect l="-12" t="-9" r="30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naming and ordering for Simplex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774565"/>
              </a:xfrm>
            </p:spPr>
            <p:txBody>
              <a:bodyPr>
                <a:normAutofit fontScale="800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The input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(after rewriting) has two types of variables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Basic variables </a:t>
                </a:r>
                <a:r>
                  <a:rPr lang="en-US" dirty="0"/>
                  <a:t>appear on the </a:t>
                </a:r>
                <a:r>
                  <a:rPr lang="en-US" b="1" dirty="0">
                    <a:sym typeface="+mn-ea"/>
                  </a:rPr>
                  <a:t>LHS </a:t>
                </a:r>
                <a:r>
                  <a:rPr lang="en-US" dirty="0">
                    <a:sym typeface="+mn-ea"/>
                  </a:rPr>
                  <a:t>of </a:t>
                </a:r>
                <a:r>
                  <a:rPr lang="en-US" b="1" dirty="0">
                    <a:sym typeface="+mn-ea"/>
                  </a:rPr>
                  <a:t>one eq</a:t>
                </a:r>
                <a:r>
                  <a:rPr lang="en-US" b="1" dirty="0"/>
                  <a:t>uality</a:t>
                </a:r>
                <a:r>
                  <a:rPr lang="en-US" dirty="0"/>
                  <a:t>; initially these are the </a:t>
                </a:r>
                <a:r>
                  <a:rPr lang="en-US" i="1" dirty="0"/>
                  <a:t>slack variables</a:t>
                </a:r>
              </a:p>
              <a:p>
                <a:pPr>
                  <a:lnSpc>
                    <a:spcPct val="120000"/>
                  </a:lnSpc>
                </a:pPr>
                <a:r>
                  <a:rPr lang="en-US" b="1" dirty="0"/>
                  <a:t>Non-basic variables</a:t>
                </a:r>
                <a:r>
                  <a:rPr lang="en-US" dirty="0"/>
                  <a:t> all others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We fix an </a:t>
                </a:r>
                <a:r>
                  <a:rPr lang="en-US" i="1" dirty="0"/>
                  <a:t>arbitrary total ordering </a:t>
                </a:r>
                <a:r>
                  <a:rPr lang="en-US" dirty="0"/>
                  <a:t>on variables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i="1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For a basic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non-basic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we denote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n-US" dirty="0"/>
                  <a:t> the coefficient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in the definition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, i.e.,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…+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 …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Basic variables are given in terms of a linear equality on the non-basic variables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/>
                  <a:t>The upper and lower bounds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are called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(possibly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∞, −∞)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774565"/>
              </a:xfrm>
              <a:blipFill>
                <a:blip r:embed="rId3"/>
                <a:stretch>
                  <a:fillRect l="-724" t="-531" b="-21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Pivoting: switch basic and non-basic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456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 pivoting operation change one non-basic variable to a basic variable (we say this variable is “entering”), while one other basic variable is changed to non-basic (we say this variable is “leaving”)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2079252" y="4532243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−10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9252" y="4532243"/>
                <a:ext cx="2102223" cy="2030095"/>
              </a:xfrm>
              <a:prstGeom prst="rect">
                <a:avLst/>
              </a:prstGeom>
              <a:blipFill rotWithShape="1">
                <a:blip r:embed="rId3"/>
                <a:stretch>
                  <a:fillRect l="-12" t="-12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712336" y="4532174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336" y="4532174"/>
                <a:ext cx="2102223" cy="2030095"/>
              </a:xfrm>
              <a:prstGeom prst="rect">
                <a:avLst/>
              </a:prstGeom>
              <a:blipFill rotWithShape="1">
                <a:blip r:embed="rId4"/>
                <a:stretch>
                  <a:fillRect l="-12" t="-9" r="30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Pivoting: switch basic and non-basic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456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 pivoting operation change one non-basic variable to a basic variable (we say this variable is “entering”), while one other basic variable is changed to non-basic (we say this variable is “leaving”)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402342" y="4532243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−10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2342" y="4532243"/>
                <a:ext cx="2102223" cy="2030095"/>
              </a:xfrm>
              <a:prstGeom prst="rect">
                <a:avLst/>
              </a:prstGeom>
              <a:blipFill rotWithShape="1">
                <a:blip r:embed="rId3"/>
                <a:stretch>
                  <a:fillRect l="-12" t="-12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712336" y="4532174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2336" y="4532174"/>
                <a:ext cx="2102223" cy="2030095"/>
              </a:xfrm>
              <a:prstGeom prst="rect">
                <a:avLst/>
              </a:prstGeom>
              <a:blipFill rotWithShape="1">
                <a:blip r:embed="rId4"/>
                <a:stretch>
                  <a:fillRect l="-12" t="-9" r="30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3884930" y="4777740"/>
                <a:ext cx="198310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−0.5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4930" y="4777740"/>
                <a:ext cx="1983105" cy="3683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2912745" y="4911725"/>
            <a:ext cx="882650" cy="1943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 8"/>
          <p:cNvSpPr/>
          <p:nvPr/>
        </p:nvSpPr>
        <p:spPr>
          <a:xfrm>
            <a:off x="2626360" y="4293870"/>
            <a:ext cx="5156200" cy="678180"/>
          </a:xfrm>
          <a:custGeom>
            <a:avLst/>
            <a:gdLst>
              <a:gd name="connisteX0" fmla="*/ 0 w 5156200"/>
              <a:gd name="connsiteY0" fmla="*/ 379659 h 678109"/>
              <a:gd name="connisteX1" fmla="*/ 75565 w 5156200"/>
              <a:gd name="connsiteY1" fmla="*/ 320604 h 678109"/>
              <a:gd name="connisteX2" fmla="*/ 140970 w 5156200"/>
              <a:gd name="connsiteY2" fmla="*/ 299014 h 678109"/>
              <a:gd name="connisteX3" fmla="*/ 205740 w 5156200"/>
              <a:gd name="connsiteY3" fmla="*/ 287584 h 678109"/>
              <a:gd name="connisteX4" fmla="*/ 276225 w 5156200"/>
              <a:gd name="connsiteY4" fmla="*/ 260914 h 678109"/>
              <a:gd name="connisteX5" fmla="*/ 340995 w 5156200"/>
              <a:gd name="connsiteY5" fmla="*/ 233609 h 678109"/>
              <a:gd name="connisteX6" fmla="*/ 433070 w 5156200"/>
              <a:gd name="connsiteY6" fmla="*/ 212019 h 678109"/>
              <a:gd name="connisteX7" fmla="*/ 520065 w 5156200"/>
              <a:gd name="connsiteY7" fmla="*/ 179634 h 678109"/>
              <a:gd name="connisteX8" fmla="*/ 590550 w 5156200"/>
              <a:gd name="connsiteY8" fmla="*/ 158044 h 678109"/>
              <a:gd name="connisteX9" fmla="*/ 661035 w 5156200"/>
              <a:gd name="connsiteY9" fmla="*/ 141534 h 678109"/>
              <a:gd name="connisteX10" fmla="*/ 747395 w 5156200"/>
              <a:gd name="connsiteY10" fmla="*/ 119944 h 678109"/>
              <a:gd name="connisteX11" fmla="*/ 834390 w 5156200"/>
              <a:gd name="connsiteY11" fmla="*/ 109149 h 678109"/>
              <a:gd name="connisteX12" fmla="*/ 969645 w 5156200"/>
              <a:gd name="connsiteY12" fmla="*/ 81844 h 678109"/>
              <a:gd name="connisteX13" fmla="*/ 1072515 w 5156200"/>
              <a:gd name="connsiteY13" fmla="*/ 55174 h 678109"/>
              <a:gd name="connisteX14" fmla="*/ 1153795 w 5156200"/>
              <a:gd name="connsiteY14" fmla="*/ 55174 h 678109"/>
              <a:gd name="connisteX15" fmla="*/ 1261745 w 5156200"/>
              <a:gd name="connsiteY15" fmla="*/ 44379 h 678109"/>
              <a:gd name="connisteX16" fmla="*/ 1348740 w 5156200"/>
              <a:gd name="connsiteY16" fmla="*/ 33584 h 678109"/>
              <a:gd name="connisteX17" fmla="*/ 1413510 w 5156200"/>
              <a:gd name="connsiteY17" fmla="*/ 33584 h 678109"/>
              <a:gd name="connisteX18" fmla="*/ 1489710 w 5156200"/>
              <a:gd name="connsiteY18" fmla="*/ 22789 h 678109"/>
              <a:gd name="connisteX19" fmla="*/ 1586865 w 5156200"/>
              <a:gd name="connsiteY19" fmla="*/ 22789 h 678109"/>
              <a:gd name="connisteX20" fmla="*/ 1663065 w 5156200"/>
              <a:gd name="connsiteY20" fmla="*/ 22789 h 678109"/>
              <a:gd name="connisteX21" fmla="*/ 1749425 w 5156200"/>
              <a:gd name="connsiteY21" fmla="*/ 17074 h 678109"/>
              <a:gd name="connisteX22" fmla="*/ 1814195 w 5156200"/>
              <a:gd name="connsiteY22" fmla="*/ 6279 h 678109"/>
              <a:gd name="connisteX23" fmla="*/ 1884680 w 5156200"/>
              <a:gd name="connsiteY23" fmla="*/ 564 h 678109"/>
              <a:gd name="connisteX24" fmla="*/ 1960880 w 5156200"/>
              <a:gd name="connsiteY24" fmla="*/ 564 h 678109"/>
              <a:gd name="connisteX25" fmla="*/ 2042160 w 5156200"/>
              <a:gd name="connsiteY25" fmla="*/ 564 h 678109"/>
              <a:gd name="connisteX26" fmla="*/ 2166620 w 5156200"/>
              <a:gd name="connsiteY26" fmla="*/ 564 h 678109"/>
              <a:gd name="connisteX27" fmla="*/ 2269490 w 5156200"/>
              <a:gd name="connsiteY27" fmla="*/ 6279 h 678109"/>
              <a:gd name="connisteX28" fmla="*/ 2350770 w 5156200"/>
              <a:gd name="connsiteY28" fmla="*/ 22789 h 678109"/>
              <a:gd name="connisteX29" fmla="*/ 2437130 w 5156200"/>
              <a:gd name="connsiteY29" fmla="*/ 33584 h 678109"/>
              <a:gd name="connisteX30" fmla="*/ 2529205 w 5156200"/>
              <a:gd name="connsiteY30" fmla="*/ 38664 h 678109"/>
              <a:gd name="connisteX31" fmla="*/ 2594610 w 5156200"/>
              <a:gd name="connsiteY31" fmla="*/ 49459 h 678109"/>
              <a:gd name="connisteX32" fmla="*/ 2665095 w 5156200"/>
              <a:gd name="connsiteY32" fmla="*/ 71049 h 678109"/>
              <a:gd name="connisteX33" fmla="*/ 2751455 w 5156200"/>
              <a:gd name="connsiteY33" fmla="*/ 87559 h 678109"/>
              <a:gd name="connisteX34" fmla="*/ 2827020 w 5156200"/>
              <a:gd name="connsiteY34" fmla="*/ 109149 h 678109"/>
              <a:gd name="connisteX35" fmla="*/ 2892425 w 5156200"/>
              <a:gd name="connsiteY35" fmla="*/ 125659 h 678109"/>
              <a:gd name="connisteX36" fmla="*/ 2962910 w 5156200"/>
              <a:gd name="connsiteY36" fmla="*/ 136454 h 678109"/>
              <a:gd name="connisteX37" fmla="*/ 3054985 w 5156200"/>
              <a:gd name="connsiteY37" fmla="*/ 168839 h 678109"/>
              <a:gd name="connisteX38" fmla="*/ 3119755 w 5156200"/>
              <a:gd name="connsiteY38" fmla="*/ 184714 h 678109"/>
              <a:gd name="connisteX39" fmla="*/ 3211830 w 5156200"/>
              <a:gd name="connsiteY39" fmla="*/ 201224 h 678109"/>
              <a:gd name="connisteX40" fmla="*/ 3309620 w 5156200"/>
              <a:gd name="connsiteY40" fmla="*/ 233609 h 678109"/>
              <a:gd name="connisteX41" fmla="*/ 3379470 w 5156200"/>
              <a:gd name="connsiteY41" fmla="*/ 260914 h 678109"/>
              <a:gd name="connisteX42" fmla="*/ 3449955 w 5156200"/>
              <a:gd name="connsiteY42" fmla="*/ 282504 h 678109"/>
              <a:gd name="connisteX43" fmla="*/ 3515360 w 5156200"/>
              <a:gd name="connsiteY43" fmla="*/ 293299 h 678109"/>
              <a:gd name="connisteX44" fmla="*/ 3580130 w 5156200"/>
              <a:gd name="connsiteY44" fmla="*/ 309809 h 678109"/>
              <a:gd name="connisteX45" fmla="*/ 3661410 w 5156200"/>
              <a:gd name="connsiteY45" fmla="*/ 336479 h 678109"/>
              <a:gd name="connisteX46" fmla="*/ 3747770 w 5156200"/>
              <a:gd name="connsiteY46" fmla="*/ 347274 h 678109"/>
              <a:gd name="connisteX47" fmla="*/ 3818255 w 5156200"/>
              <a:gd name="connsiteY47" fmla="*/ 352989 h 678109"/>
              <a:gd name="connisteX48" fmla="*/ 3899535 w 5156200"/>
              <a:gd name="connsiteY48" fmla="*/ 363784 h 678109"/>
              <a:gd name="connisteX49" fmla="*/ 3975735 w 5156200"/>
              <a:gd name="connsiteY49" fmla="*/ 379659 h 678109"/>
              <a:gd name="connisteX50" fmla="*/ 4040505 w 5156200"/>
              <a:gd name="connsiteY50" fmla="*/ 385374 h 678109"/>
              <a:gd name="connisteX51" fmla="*/ 4105275 w 5156200"/>
              <a:gd name="connsiteY51" fmla="*/ 396169 h 678109"/>
              <a:gd name="connisteX52" fmla="*/ 4192270 w 5156200"/>
              <a:gd name="connsiteY52" fmla="*/ 412679 h 678109"/>
              <a:gd name="connisteX53" fmla="*/ 4289425 w 5156200"/>
              <a:gd name="connsiteY53" fmla="*/ 428554 h 678109"/>
              <a:gd name="connisteX54" fmla="*/ 4359910 w 5156200"/>
              <a:gd name="connsiteY54" fmla="*/ 439349 h 678109"/>
              <a:gd name="connisteX55" fmla="*/ 4441190 w 5156200"/>
              <a:gd name="connsiteY55" fmla="*/ 460939 h 678109"/>
              <a:gd name="connisteX56" fmla="*/ 4511675 w 5156200"/>
              <a:gd name="connsiteY56" fmla="*/ 483164 h 678109"/>
              <a:gd name="connisteX57" fmla="*/ 4603750 w 5156200"/>
              <a:gd name="connsiteY57" fmla="*/ 499039 h 678109"/>
              <a:gd name="connisteX58" fmla="*/ 4668520 w 5156200"/>
              <a:gd name="connsiteY58" fmla="*/ 509834 h 678109"/>
              <a:gd name="connisteX59" fmla="*/ 4739005 w 5156200"/>
              <a:gd name="connsiteY59" fmla="*/ 537139 h 678109"/>
              <a:gd name="connisteX60" fmla="*/ 4809490 w 5156200"/>
              <a:gd name="connsiteY60" fmla="*/ 537139 h 678109"/>
              <a:gd name="connisteX61" fmla="*/ 4874895 w 5156200"/>
              <a:gd name="connsiteY61" fmla="*/ 563809 h 678109"/>
              <a:gd name="connisteX62" fmla="*/ 4950460 w 5156200"/>
              <a:gd name="connsiteY62" fmla="*/ 580319 h 678109"/>
              <a:gd name="connisteX63" fmla="*/ 5015230 w 5156200"/>
              <a:gd name="connsiteY63" fmla="*/ 591114 h 678109"/>
              <a:gd name="connisteX64" fmla="*/ 5091430 w 5156200"/>
              <a:gd name="connsiteY64" fmla="*/ 629214 h 678109"/>
              <a:gd name="connisteX65" fmla="*/ 5156200 w 5156200"/>
              <a:gd name="connsiteY65" fmla="*/ 678109 h 67810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  <a:cxn ang="0">
                <a:pos x="connisteX12" y="connsiteY12"/>
              </a:cxn>
              <a:cxn ang="0">
                <a:pos x="connisteX13" y="connsiteY13"/>
              </a:cxn>
              <a:cxn ang="0">
                <a:pos x="connisteX14" y="connsiteY14"/>
              </a:cxn>
              <a:cxn ang="0">
                <a:pos x="connisteX15" y="connsiteY15"/>
              </a:cxn>
              <a:cxn ang="0">
                <a:pos x="connisteX16" y="connsiteY16"/>
              </a:cxn>
              <a:cxn ang="0">
                <a:pos x="connisteX17" y="connsiteY17"/>
              </a:cxn>
              <a:cxn ang="0">
                <a:pos x="connisteX18" y="connsiteY18"/>
              </a:cxn>
              <a:cxn ang="0">
                <a:pos x="connisteX19" y="connsiteY19"/>
              </a:cxn>
              <a:cxn ang="0">
                <a:pos x="connisteX20" y="connsiteY20"/>
              </a:cxn>
              <a:cxn ang="0">
                <a:pos x="connisteX21" y="connsiteY21"/>
              </a:cxn>
              <a:cxn ang="0">
                <a:pos x="connisteX22" y="connsiteY22"/>
              </a:cxn>
              <a:cxn ang="0">
                <a:pos x="connisteX23" y="connsiteY23"/>
              </a:cxn>
              <a:cxn ang="0">
                <a:pos x="connisteX24" y="connsiteY24"/>
              </a:cxn>
              <a:cxn ang="0">
                <a:pos x="connisteX25" y="connsiteY25"/>
              </a:cxn>
              <a:cxn ang="0">
                <a:pos x="connisteX26" y="connsiteY26"/>
              </a:cxn>
              <a:cxn ang="0">
                <a:pos x="connisteX27" y="connsiteY27"/>
              </a:cxn>
              <a:cxn ang="0">
                <a:pos x="connisteX28" y="connsiteY28"/>
              </a:cxn>
              <a:cxn ang="0">
                <a:pos x="connisteX29" y="connsiteY29"/>
              </a:cxn>
              <a:cxn ang="0">
                <a:pos x="connisteX30" y="connsiteY30"/>
              </a:cxn>
              <a:cxn ang="0">
                <a:pos x="connisteX31" y="connsiteY31"/>
              </a:cxn>
              <a:cxn ang="0">
                <a:pos x="connisteX32" y="connsiteY32"/>
              </a:cxn>
              <a:cxn ang="0">
                <a:pos x="connisteX33" y="connsiteY33"/>
              </a:cxn>
              <a:cxn ang="0">
                <a:pos x="connisteX34" y="connsiteY34"/>
              </a:cxn>
              <a:cxn ang="0">
                <a:pos x="connisteX35" y="connsiteY35"/>
              </a:cxn>
              <a:cxn ang="0">
                <a:pos x="connisteX36" y="connsiteY36"/>
              </a:cxn>
              <a:cxn ang="0">
                <a:pos x="connisteX37" y="connsiteY37"/>
              </a:cxn>
              <a:cxn ang="0">
                <a:pos x="connisteX38" y="connsiteY38"/>
              </a:cxn>
              <a:cxn ang="0">
                <a:pos x="connisteX39" y="connsiteY39"/>
              </a:cxn>
              <a:cxn ang="0">
                <a:pos x="connisteX40" y="connsiteY40"/>
              </a:cxn>
              <a:cxn ang="0">
                <a:pos x="connisteX41" y="connsiteY41"/>
              </a:cxn>
              <a:cxn ang="0">
                <a:pos x="connisteX42" y="connsiteY42"/>
              </a:cxn>
              <a:cxn ang="0">
                <a:pos x="connisteX43" y="connsiteY43"/>
              </a:cxn>
              <a:cxn ang="0">
                <a:pos x="connisteX44" y="connsiteY44"/>
              </a:cxn>
              <a:cxn ang="0">
                <a:pos x="connisteX45" y="connsiteY45"/>
              </a:cxn>
              <a:cxn ang="0">
                <a:pos x="connisteX46" y="connsiteY46"/>
              </a:cxn>
              <a:cxn ang="0">
                <a:pos x="connisteX47" y="connsiteY47"/>
              </a:cxn>
              <a:cxn ang="0">
                <a:pos x="connisteX48" y="connsiteY48"/>
              </a:cxn>
              <a:cxn ang="0">
                <a:pos x="connisteX49" y="connsiteY49"/>
              </a:cxn>
              <a:cxn ang="0">
                <a:pos x="connisteX50" y="connsiteY50"/>
              </a:cxn>
              <a:cxn ang="0">
                <a:pos x="connisteX51" y="connsiteY51"/>
              </a:cxn>
              <a:cxn ang="0">
                <a:pos x="connisteX52" y="connsiteY52"/>
              </a:cxn>
              <a:cxn ang="0">
                <a:pos x="connisteX53" y="connsiteY53"/>
              </a:cxn>
              <a:cxn ang="0">
                <a:pos x="connisteX54" y="connsiteY54"/>
              </a:cxn>
              <a:cxn ang="0">
                <a:pos x="connisteX55" y="connsiteY55"/>
              </a:cxn>
              <a:cxn ang="0">
                <a:pos x="connisteX56" y="connsiteY56"/>
              </a:cxn>
              <a:cxn ang="0">
                <a:pos x="connisteX57" y="connsiteY57"/>
              </a:cxn>
              <a:cxn ang="0">
                <a:pos x="connisteX58" y="connsiteY58"/>
              </a:cxn>
              <a:cxn ang="0">
                <a:pos x="connisteX59" y="connsiteY59"/>
              </a:cxn>
              <a:cxn ang="0">
                <a:pos x="connisteX60" y="connsiteY60"/>
              </a:cxn>
              <a:cxn ang="0">
                <a:pos x="connisteX61" y="connsiteY61"/>
              </a:cxn>
              <a:cxn ang="0">
                <a:pos x="connisteX62" y="connsiteY62"/>
              </a:cxn>
              <a:cxn ang="0">
                <a:pos x="connisteX63" y="connsiteY63"/>
              </a:cxn>
              <a:cxn ang="0">
                <a:pos x="connisteX64" y="connsiteY64"/>
              </a:cxn>
              <a:cxn ang="0">
                <a:pos x="connisteX65" y="connsiteY65"/>
              </a:cxn>
            </a:cxnLst>
            <a:rect l="l" t="t" r="r" b="b"/>
            <a:pathLst>
              <a:path w="5156200" h="678109">
                <a:moveTo>
                  <a:pt x="0" y="379659"/>
                </a:moveTo>
                <a:cubicBezTo>
                  <a:pt x="13970" y="368229"/>
                  <a:pt x="47625" y="336479"/>
                  <a:pt x="75565" y="320604"/>
                </a:cubicBezTo>
                <a:cubicBezTo>
                  <a:pt x="103505" y="304729"/>
                  <a:pt x="114935" y="305364"/>
                  <a:pt x="140970" y="299014"/>
                </a:cubicBezTo>
                <a:cubicBezTo>
                  <a:pt x="167005" y="292664"/>
                  <a:pt x="178435" y="295204"/>
                  <a:pt x="205740" y="287584"/>
                </a:cubicBezTo>
                <a:cubicBezTo>
                  <a:pt x="233045" y="279964"/>
                  <a:pt x="248920" y="271709"/>
                  <a:pt x="276225" y="260914"/>
                </a:cubicBezTo>
                <a:cubicBezTo>
                  <a:pt x="303530" y="250119"/>
                  <a:pt x="309880" y="243134"/>
                  <a:pt x="340995" y="233609"/>
                </a:cubicBezTo>
                <a:cubicBezTo>
                  <a:pt x="372110" y="224084"/>
                  <a:pt x="397510" y="222814"/>
                  <a:pt x="433070" y="212019"/>
                </a:cubicBezTo>
                <a:cubicBezTo>
                  <a:pt x="468630" y="201224"/>
                  <a:pt x="488315" y="190429"/>
                  <a:pt x="520065" y="179634"/>
                </a:cubicBezTo>
                <a:cubicBezTo>
                  <a:pt x="551815" y="168839"/>
                  <a:pt x="562610" y="165664"/>
                  <a:pt x="590550" y="158044"/>
                </a:cubicBezTo>
                <a:cubicBezTo>
                  <a:pt x="618490" y="150424"/>
                  <a:pt x="629920" y="149154"/>
                  <a:pt x="661035" y="141534"/>
                </a:cubicBezTo>
                <a:cubicBezTo>
                  <a:pt x="692150" y="133914"/>
                  <a:pt x="712470" y="126294"/>
                  <a:pt x="747395" y="119944"/>
                </a:cubicBezTo>
                <a:cubicBezTo>
                  <a:pt x="782320" y="113594"/>
                  <a:pt x="789940" y="116769"/>
                  <a:pt x="834390" y="109149"/>
                </a:cubicBezTo>
                <a:cubicBezTo>
                  <a:pt x="878840" y="101529"/>
                  <a:pt x="922020" y="92639"/>
                  <a:pt x="969645" y="81844"/>
                </a:cubicBezTo>
                <a:cubicBezTo>
                  <a:pt x="1017270" y="71049"/>
                  <a:pt x="1035685" y="60254"/>
                  <a:pt x="1072515" y="55174"/>
                </a:cubicBezTo>
                <a:cubicBezTo>
                  <a:pt x="1109345" y="50094"/>
                  <a:pt x="1115695" y="57079"/>
                  <a:pt x="1153795" y="55174"/>
                </a:cubicBezTo>
                <a:cubicBezTo>
                  <a:pt x="1191895" y="53269"/>
                  <a:pt x="1223010" y="48824"/>
                  <a:pt x="1261745" y="44379"/>
                </a:cubicBezTo>
                <a:cubicBezTo>
                  <a:pt x="1300480" y="39934"/>
                  <a:pt x="1318260" y="35489"/>
                  <a:pt x="1348740" y="33584"/>
                </a:cubicBezTo>
                <a:cubicBezTo>
                  <a:pt x="1379220" y="31679"/>
                  <a:pt x="1385570" y="35489"/>
                  <a:pt x="1413510" y="33584"/>
                </a:cubicBezTo>
                <a:cubicBezTo>
                  <a:pt x="1441450" y="31679"/>
                  <a:pt x="1454785" y="24694"/>
                  <a:pt x="1489710" y="22789"/>
                </a:cubicBezTo>
                <a:cubicBezTo>
                  <a:pt x="1524635" y="20884"/>
                  <a:pt x="1551940" y="22789"/>
                  <a:pt x="1586865" y="22789"/>
                </a:cubicBezTo>
                <a:cubicBezTo>
                  <a:pt x="1621790" y="22789"/>
                  <a:pt x="1630680" y="24059"/>
                  <a:pt x="1663065" y="22789"/>
                </a:cubicBezTo>
                <a:cubicBezTo>
                  <a:pt x="1695450" y="21519"/>
                  <a:pt x="1718945" y="20249"/>
                  <a:pt x="1749425" y="17074"/>
                </a:cubicBezTo>
                <a:cubicBezTo>
                  <a:pt x="1779905" y="13899"/>
                  <a:pt x="1786890" y="9454"/>
                  <a:pt x="1814195" y="6279"/>
                </a:cubicBezTo>
                <a:cubicBezTo>
                  <a:pt x="1841500" y="3104"/>
                  <a:pt x="1855470" y="1834"/>
                  <a:pt x="1884680" y="564"/>
                </a:cubicBezTo>
                <a:cubicBezTo>
                  <a:pt x="1913890" y="-706"/>
                  <a:pt x="1929130" y="564"/>
                  <a:pt x="1960880" y="564"/>
                </a:cubicBezTo>
                <a:cubicBezTo>
                  <a:pt x="1992630" y="564"/>
                  <a:pt x="2000885" y="564"/>
                  <a:pt x="2042160" y="564"/>
                </a:cubicBezTo>
                <a:cubicBezTo>
                  <a:pt x="2083435" y="564"/>
                  <a:pt x="2120900" y="-706"/>
                  <a:pt x="2166620" y="564"/>
                </a:cubicBezTo>
                <a:cubicBezTo>
                  <a:pt x="2212340" y="1834"/>
                  <a:pt x="2232660" y="1834"/>
                  <a:pt x="2269490" y="6279"/>
                </a:cubicBezTo>
                <a:cubicBezTo>
                  <a:pt x="2306320" y="10724"/>
                  <a:pt x="2317115" y="17074"/>
                  <a:pt x="2350770" y="22789"/>
                </a:cubicBezTo>
                <a:cubicBezTo>
                  <a:pt x="2384425" y="28504"/>
                  <a:pt x="2401570" y="30409"/>
                  <a:pt x="2437130" y="33584"/>
                </a:cubicBezTo>
                <a:cubicBezTo>
                  <a:pt x="2472690" y="36759"/>
                  <a:pt x="2497455" y="35489"/>
                  <a:pt x="2529205" y="38664"/>
                </a:cubicBezTo>
                <a:cubicBezTo>
                  <a:pt x="2560955" y="41839"/>
                  <a:pt x="2567305" y="43109"/>
                  <a:pt x="2594610" y="49459"/>
                </a:cubicBezTo>
                <a:cubicBezTo>
                  <a:pt x="2621915" y="55809"/>
                  <a:pt x="2633980" y="63429"/>
                  <a:pt x="2665095" y="71049"/>
                </a:cubicBezTo>
                <a:cubicBezTo>
                  <a:pt x="2696210" y="78669"/>
                  <a:pt x="2719070" y="79939"/>
                  <a:pt x="2751455" y="87559"/>
                </a:cubicBezTo>
                <a:cubicBezTo>
                  <a:pt x="2783840" y="95179"/>
                  <a:pt x="2799080" y="101529"/>
                  <a:pt x="2827020" y="109149"/>
                </a:cubicBezTo>
                <a:cubicBezTo>
                  <a:pt x="2854960" y="116769"/>
                  <a:pt x="2865120" y="119944"/>
                  <a:pt x="2892425" y="125659"/>
                </a:cubicBezTo>
                <a:cubicBezTo>
                  <a:pt x="2919730" y="131374"/>
                  <a:pt x="2930525" y="127564"/>
                  <a:pt x="2962910" y="136454"/>
                </a:cubicBezTo>
                <a:cubicBezTo>
                  <a:pt x="2995295" y="145344"/>
                  <a:pt x="3023870" y="159314"/>
                  <a:pt x="3054985" y="168839"/>
                </a:cubicBezTo>
                <a:cubicBezTo>
                  <a:pt x="3086100" y="178364"/>
                  <a:pt x="3088640" y="178364"/>
                  <a:pt x="3119755" y="184714"/>
                </a:cubicBezTo>
                <a:cubicBezTo>
                  <a:pt x="3150870" y="191064"/>
                  <a:pt x="3173730" y="191699"/>
                  <a:pt x="3211830" y="201224"/>
                </a:cubicBezTo>
                <a:cubicBezTo>
                  <a:pt x="3249930" y="210749"/>
                  <a:pt x="3275965" y="221544"/>
                  <a:pt x="3309620" y="233609"/>
                </a:cubicBezTo>
                <a:cubicBezTo>
                  <a:pt x="3343275" y="245674"/>
                  <a:pt x="3351530" y="251389"/>
                  <a:pt x="3379470" y="260914"/>
                </a:cubicBezTo>
                <a:cubicBezTo>
                  <a:pt x="3407410" y="270439"/>
                  <a:pt x="3422650" y="276154"/>
                  <a:pt x="3449955" y="282504"/>
                </a:cubicBezTo>
                <a:cubicBezTo>
                  <a:pt x="3477260" y="288854"/>
                  <a:pt x="3489325" y="287584"/>
                  <a:pt x="3515360" y="293299"/>
                </a:cubicBezTo>
                <a:cubicBezTo>
                  <a:pt x="3541395" y="299014"/>
                  <a:pt x="3550920" y="300919"/>
                  <a:pt x="3580130" y="309809"/>
                </a:cubicBezTo>
                <a:cubicBezTo>
                  <a:pt x="3609340" y="318699"/>
                  <a:pt x="3627755" y="328859"/>
                  <a:pt x="3661410" y="336479"/>
                </a:cubicBezTo>
                <a:cubicBezTo>
                  <a:pt x="3695065" y="344099"/>
                  <a:pt x="3716655" y="344099"/>
                  <a:pt x="3747770" y="347274"/>
                </a:cubicBezTo>
                <a:cubicBezTo>
                  <a:pt x="3778885" y="350449"/>
                  <a:pt x="3787775" y="349814"/>
                  <a:pt x="3818255" y="352989"/>
                </a:cubicBezTo>
                <a:cubicBezTo>
                  <a:pt x="3848735" y="356164"/>
                  <a:pt x="3867785" y="358704"/>
                  <a:pt x="3899535" y="363784"/>
                </a:cubicBezTo>
                <a:cubicBezTo>
                  <a:pt x="3931285" y="368864"/>
                  <a:pt x="3947795" y="375214"/>
                  <a:pt x="3975735" y="379659"/>
                </a:cubicBezTo>
                <a:cubicBezTo>
                  <a:pt x="4003675" y="384104"/>
                  <a:pt x="4014470" y="382199"/>
                  <a:pt x="4040505" y="385374"/>
                </a:cubicBezTo>
                <a:cubicBezTo>
                  <a:pt x="4066540" y="388549"/>
                  <a:pt x="4074795" y="390454"/>
                  <a:pt x="4105275" y="396169"/>
                </a:cubicBezTo>
                <a:cubicBezTo>
                  <a:pt x="4135755" y="401884"/>
                  <a:pt x="4155440" y="406329"/>
                  <a:pt x="4192270" y="412679"/>
                </a:cubicBezTo>
                <a:cubicBezTo>
                  <a:pt x="4229100" y="419029"/>
                  <a:pt x="4255770" y="423474"/>
                  <a:pt x="4289425" y="428554"/>
                </a:cubicBezTo>
                <a:cubicBezTo>
                  <a:pt x="4323080" y="433634"/>
                  <a:pt x="4329430" y="432999"/>
                  <a:pt x="4359910" y="439349"/>
                </a:cubicBezTo>
                <a:cubicBezTo>
                  <a:pt x="4390390" y="445699"/>
                  <a:pt x="4410710" y="452049"/>
                  <a:pt x="4441190" y="460939"/>
                </a:cubicBezTo>
                <a:cubicBezTo>
                  <a:pt x="4471670" y="469829"/>
                  <a:pt x="4479290" y="475544"/>
                  <a:pt x="4511675" y="483164"/>
                </a:cubicBezTo>
                <a:cubicBezTo>
                  <a:pt x="4544060" y="490784"/>
                  <a:pt x="4572635" y="493959"/>
                  <a:pt x="4603750" y="499039"/>
                </a:cubicBezTo>
                <a:cubicBezTo>
                  <a:pt x="4634865" y="504119"/>
                  <a:pt x="4641215" y="502214"/>
                  <a:pt x="4668520" y="509834"/>
                </a:cubicBezTo>
                <a:cubicBezTo>
                  <a:pt x="4695825" y="517454"/>
                  <a:pt x="4711065" y="531424"/>
                  <a:pt x="4739005" y="537139"/>
                </a:cubicBezTo>
                <a:cubicBezTo>
                  <a:pt x="4766945" y="542854"/>
                  <a:pt x="4782185" y="532059"/>
                  <a:pt x="4809490" y="537139"/>
                </a:cubicBezTo>
                <a:cubicBezTo>
                  <a:pt x="4836795" y="542219"/>
                  <a:pt x="4846955" y="554919"/>
                  <a:pt x="4874895" y="563809"/>
                </a:cubicBezTo>
                <a:cubicBezTo>
                  <a:pt x="4902835" y="572699"/>
                  <a:pt x="4922520" y="574604"/>
                  <a:pt x="4950460" y="580319"/>
                </a:cubicBezTo>
                <a:cubicBezTo>
                  <a:pt x="4978400" y="586034"/>
                  <a:pt x="4987290" y="581589"/>
                  <a:pt x="5015230" y="591114"/>
                </a:cubicBezTo>
                <a:cubicBezTo>
                  <a:pt x="5043170" y="600639"/>
                  <a:pt x="5063490" y="612069"/>
                  <a:pt x="5091430" y="629214"/>
                </a:cubicBezTo>
                <a:cubicBezTo>
                  <a:pt x="5119370" y="646359"/>
                  <a:pt x="5144770" y="669219"/>
                  <a:pt x="5156200" y="678109"/>
                </a:cubicBezTo>
              </a:path>
            </a:pathLst>
          </a:custGeom>
          <a:noFill/>
          <a:ln>
            <a:headEnd type="none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/>
          <p:nvPr/>
        </p:nvCxnSpPr>
        <p:spPr>
          <a:xfrm flipV="1">
            <a:off x="3298190" y="5257800"/>
            <a:ext cx="4474210" cy="17145"/>
          </a:xfrm>
          <a:prstGeom prst="straightConnector1">
            <a:avLst/>
          </a:prstGeom>
          <a:ln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Box 7"/>
          <p:cNvSpPr txBox="1"/>
          <p:nvPr/>
        </p:nvSpPr>
        <p:spPr>
          <a:xfrm>
            <a:off x="3215640" y="3981450"/>
            <a:ext cx="265239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/>
              <a:t>pluggin new definition of x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093845" y="5214620"/>
            <a:ext cx="265239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/>
              <a:t>pluggin new definition of 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Pivoting: switch basic and non-basic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7456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 pivoting operation change one non-basic variable to a basic variable (we say this variable is “entering”), while one other basic variable is changed to non-basic (we say this variable is “leaving”)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76512" y="4504938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−10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512" y="4504938"/>
                <a:ext cx="2102223" cy="2030095"/>
              </a:xfrm>
              <a:prstGeom prst="rect">
                <a:avLst/>
              </a:prstGeom>
              <a:blipFill rotWithShape="1">
                <a:blip r:embed="rId3"/>
                <a:stretch>
                  <a:fillRect l="-12" t="-12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131696" y="4445814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1696" y="4445814"/>
                <a:ext cx="2102223" cy="2030095"/>
              </a:xfrm>
              <a:prstGeom prst="rect">
                <a:avLst/>
              </a:prstGeom>
              <a:blipFill rotWithShape="1">
                <a:blip r:embed="rId4"/>
                <a:stretch>
                  <a:fillRect l="-12" t="-9" r="30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3148330" y="4750435"/>
                <a:ext cx="1983105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−0.5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8330" y="4750435"/>
                <a:ext cx="1983105" cy="36830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Arrow 6"/>
          <p:cNvSpPr/>
          <p:nvPr/>
        </p:nvSpPr>
        <p:spPr>
          <a:xfrm>
            <a:off x="2265680" y="4837430"/>
            <a:ext cx="882650" cy="19431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3"/>
              <p:cNvSpPr txBox="1"/>
              <p:nvPr/>
            </p:nvSpPr>
            <p:spPr>
              <a:xfrm>
                <a:off x="7773970" y="4252017"/>
                <a:ext cx="4316505" cy="2385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Pivoting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rewrites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as basic variable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lit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lit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0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3970" y="4252017"/>
                <a:ext cx="4316505" cy="2385695"/>
              </a:xfrm>
              <a:prstGeom prst="rect">
                <a:avLst/>
              </a:prstGeom>
              <a:blipFill rotWithShape="1">
                <a:blip r:embed="rId6"/>
                <a:stretch>
                  <a:fillRect l="-7" t="-2" r="2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s 11"/>
          <p:cNvSpPr/>
          <p:nvPr/>
        </p:nvSpPr>
        <p:spPr>
          <a:xfrm>
            <a:off x="3148330" y="4750435"/>
            <a:ext cx="1983105" cy="368300"/>
          </a:xfrm>
          <a:prstGeom prst="rect">
            <a:avLst/>
          </a:prstGeom>
          <a:noFill/>
          <a:ln w="381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s 12"/>
          <p:cNvSpPr/>
          <p:nvPr/>
        </p:nvSpPr>
        <p:spPr>
          <a:xfrm>
            <a:off x="7662545" y="5852160"/>
            <a:ext cx="3728720" cy="777875"/>
          </a:xfrm>
          <a:prstGeom prst="rect">
            <a:avLst/>
          </a:prstGeom>
          <a:noFill/>
          <a:ln w="38100"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Simplex (Formal)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98200" cy="435165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The algorithm maintains two invariants</a:t>
                </a:r>
              </a:p>
              <a:p>
                <a:pPr marL="0" indent="0">
                  <a:buNone/>
                </a:pPr>
                <a:r>
                  <a:rPr lang="en-US" dirty="0"/>
                  <a:t>(1) The (basic variables in the) model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always satisfy the </a:t>
                </a:r>
                <a:r>
                  <a:rPr lang="en-US" b="1" dirty="0"/>
                  <a:t>equalities</a:t>
                </a:r>
                <a:r>
                  <a:rPr lang="en-US" dirty="0"/>
                  <a:t>; bounds may be violated. </a:t>
                </a:r>
              </a:p>
              <a:p>
                <a:pPr marL="0" indent="0">
                  <a:buNone/>
                </a:pPr>
                <a:r>
                  <a:rPr lang="en-US" dirty="0"/>
                  <a:t>	Why is this invariant satisfied by our initialization of all 0s?</a:t>
                </a:r>
              </a:p>
              <a:p>
                <a:pPr marL="0" indent="0">
                  <a:buNone/>
                </a:pPr>
                <a:r>
                  <a:rPr lang="en-US" dirty="0"/>
                  <a:t>(2) The </a:t>
                </a:r>
                <a:r>
                  <a:rPr lang="en-US" b="1" dirty="0"/>
                  <a:t>bounds </a:t>
                </a:r>
                <a:r>
                  <a:rPr lang="en-US" dirty="0"/>
                  <a:t>of all </a:t>
                </a:r>
                <a:r>
                  <a:rPr lang="en-US" b="1" dirty="0"/>
                  <a:t>non-basic</a:t>
                </a:r>
                <a:r>
                  <a:rPr lang="en-US" dirty="0"/>
                  <a:t> variables are all satisfied.</a:t>
                </a:r>
              </a:p>
              <a:p>
                <a:pPr marL="0" indent="0">
                  <a:buNone/>
                </a:pPr>
                <a:r>
                  <a:rPr lang="en-US" dirty="0"/>
                  <a:t>	Why is this invariant satisfied by our initialization?</a:t>
                </a:r>
              </a:p>
              <a:p>
                <a:pPr marL="0" indent="0">
                  <a:buNone/>
                </a:pPr>
                <a:endParaRPr lang="en-US" b="1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98200" cy="4351655"/>
              </a:xfrm>
              <a:blipFill>
                <a:blip r:embed="rId2"/>
                <a:stretch>
                  <a:fillRect l="-1153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3"/>
              <p:cNvSpPr txBox="1"/>
              <p:nvPr/>
            </p:nvSpPr>
            <p:spPr>
              <a:xfrm>
                <a:off x="1382395" y="5796280"/>
                <a:ext cx="6633845" cy="83947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indent="0">
                  <a:buFontTx/>
                  <a:buNone/>
                </a:pPr>
                <a:r>
                  <a:rPr lang="en-US" sz="2400" dirty="0">
                    <a:sym typeface="+mn-ea"/>
                  </a:rPr>
                  <a:t>Linear equalities: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400" dirty="0"/>
              </a:p>
              <a:p>
                <a:pPr indent="0">
                  <a:buFontTx/>
                  <a:buNone/>
                </a:pPr>
                <a:r>
                  <a:rPr lang="en-US" sz="2400" dirty="0">
                    <a:sym typeface="+mn-ea"/>
                  </a:rPr>
                  <a:t>Bounds: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b="0" i="1">
                    <a:latin typeface="Cambria Math" panose="02040503050406030204" pitchFamily="18" charset="0"/>
                    <a:cs typeface="Cambria Math" panose="02040503050406030204" pitchFamily="18" charset="0"/>
                  </a:rPr>
                  <a:t>   </a:t>
                </a:r>
                <a:r>
                  <a:rPr lang="en-US" sz="2400" b="0">
                    <a:cs typeface="+mn-lt"/>
                  </a:rPr>
                  <a:t>(only for slack variables)</a:t>
                </a:r>
              </a:p>
            </p:txBody>
          </p:sp>
        </mc:Choice>
        <mc:Fallback xmlns="">
          <p:sp>
            <p:nvSpPr>
              <p:cNvPr id="4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2395" y="5796280"/>
                <a:ext cx="6633845" cy="83947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1436370" y="4730750"/>
                <a:ext cx="5391150" cy="52006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≡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ym typeface="+mn-ea"/>
                  </a:rPr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ℝ</m:t>
                    </m:r>
                  </m:oMath>
                </a14:m>
                <a:endParaRPr lang="en-US" sz="2400" b="0" i="1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6370" y="4730750"/>
                <a:ext cx="5391150" cy="5200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Down Arrow 5"/>
          <p:cNvSpPr/>
          <p:nvPr/>
        </p:nvSpPr>
        <p:spPr>
          <a:xfrm>
            <a:off x="3471545" y="5288915"/>
            <a:ext cx="389890" cy="5454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Transforming to Simplex Form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1008995" cy="4886960"/>
              </a:xfrm>
            </p:spPr>
            <p:txBody>
              <a:bodyPr>
                <a:normAutofit fontScale="875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>
                    <a:sym typeface="+mn-ea"/>
                  </a:rPr>
                  <a:t>The algorithm maintains two invariants (1) and (2). Given the intialization:</a:t>
                </a: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Rewrite this as: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called a </a:t>
                </a:r>
                <a:r>
                  <a:rPr lang="en-US" i="1" dirty="0"/>
                  <a:t>slack variable</a:t>
                </a:r>
                <a:br>
                  <a:rPr lang="en-US" i="1" dirty="0"/>
                </a:br>
                <a:endParaRPr lang="en-US" i="1" dirty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en-US" dirty="0">
                    <a:sym typeface="+mn-ea"/>
                  </a:rPr>
                  <a:t>(1) Setting 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ym typeface="+mn-ea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ym typeface="+mn-ea"/>
                  </a:rPr>
                  <a:t> to 0 satisfies all equality constraints (but may violating bounds on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(2) Initially, all slack variables are basic variables. Non-basic variables have no bounds.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1008995" cy="4886960"/>
              </a:xfrm>
              <a:blipFill>
                <a:blip r:embed="rId2"/>
                <a:stretch>
                  <a:fillRect l="-923" t="-1813" r="-923" b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5600" cy="562722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Simplex Algorithm: DP for LRA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968375"/>
                <a:ext cx="7467600" cy="588962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Input</a:t>
                </a:r>
                <a:r>
                  <a:rPr lang="en-US" dirty="0"/>
                  <a:t>: 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in Simplex form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Output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or UNSAT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⟨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↦0⟩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while</a:t>
                </a:r>
                <a:r>
                  <a:rPr lang="en-US" dirty="0"/>
                  <a:t> true </a:t>
                </a:r>
                <a:r>
                  <a:rPr lang="en-US" b="1" dirty="0"/>
                  <a:t>do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then return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 the first basic variable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then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be the first non-basic variable </a:t>
                </a:r>
                <a:r>
                  <a:rPr lang="en-US" dirty="0" err="1">
                    <a:solidFill>
                      <a:schemeClr val="tx1"/>
                    </a:solidFill>
                  </a:rPr>
                  <a:t>s.t.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&gt; 0)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∨(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&lt; 0)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:r>
                  <a:rPr lang="en-US" b="1" dirty="0"/>
                  <a:t>If</a:t>
                </a:r>
                <a:r>
                  <a:rPr lang="en-US" dirty="0"/>
                  <a:t> no such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exists </a:t>
                </a:r>
                <a:r>
                  <a:rPr lang="en-US" b="1" dirty="0"/>
                  <a:t>then</a:t>
                </a:r>
                <a:r>
                  <a:rPr lang="en-US" dirty="0"/>
                  <a:t> </a:t>
                </a:r>
                <a:r>
                  <a:rPr lang="en-US" b="1" dirty="0"/>
                  <a:t>return</a:t>
                </a:r>
                <a:r>
                  <a:rPr lang="en-US" dirty="0"/>
                  <a:t> UNSAT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else </a:t>
                </a:r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be the first non-basic variable </a:t>
                </a:r>
                <a:r>
                  <a:rPr lang="en-US" dirty="0" err="1">
                    <a:solidFill>
                      <a:schemeClr val="tx1"/>
                    </a:solidFill>
                  </a:rPr>
                  <a:t>s.t.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&gt; 0)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∨(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&lt; 0)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:r>
                  <a:rPr lang="en-US" b="1" dirty="0"/>
                  <a:t>If</a:t>
                </a:r>
                <a:r>
                  <a:rPr lang="en-US" dirty="0"/>
                  <a:t> no such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exists </a:t>
                </a:r>
                <a:r>
                  <a:rPr lang="en-US" b="1" dirty="0"/>
                  <a:t>then return </a:t>
                </a:r>
                <a:r>
                  <a:rPr lang="en-US" dirty="0"/>
                  <a:t>UNSAT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+mn-ea"/>
                  </a:rPr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>
                    <a:solidFill>
                      <a:schemeClr val="accent1"/>
                    </a:solidFill>
                  </a:rPr>
                  <a:t>Pivot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; </a:t>
                </a:r>
                <a:r>
                  <a:rPr lang="en-US" dirty="0">
                    <a:sym typeface="+mn-ea"/>
                  </a:rPr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ym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ym typeface="+mn-ea"/>
                  </a:rPr>
                  <a:t>, and all basic variables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68375"/>
                <a:ext cx="7467600" cy="5889625"/>
              </a:xfr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7723805" y="3877367"/>
                <a:ext cx="4316505" cy="30206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sz="2400" dirty="0">
                    <a:solidFill>
                      <a:schemeClr val="accent1"/>
                    </a:solidFill>
                    <a:sym typeface="+mn-ea"/>
                  </a:rPr>
                  <a:t>Pivoting </a:t>
                </a:r>
                <a:r>
                  <a:rPr lang="en-US" sz="2400" dirty="0">
                    <a:sym typeface="+mn-ea"/>
                  </a:rPr>
                  <a:t>procedure: given</a:t>
                </a:r>
                <a:endParaRPr lang="en-US" sz="24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sz="2400" dirty="0"/>
              </a:p>
              <a:p>
                <a:pPr>
                  <a:lnSpc>
                    <a:spcPct val="110000"/>
                  </a:lnSpc>
                </a:pPr>
                <a:r>
                  <a:rPr lang="en-US" sz="2400" dirty="0"/>
                  <a:t>Pivoting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rewrites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/>
                  <a:t> as basic variable</a:t>
                </a: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lit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𝑖𝑘</m:t>
                          </m:r>
                        </m:sub>
                      </m:sSub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\</m:t>
                          </m:r>
                          <m:r>
                            <m:rPr>
                              <m:lit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805" y="3877367"/>
                <a:ext cx="4316505" cy="3020695"/>
              </a:xfrm>
              <a:prstGeom prst="rect">
                <a:avLst/>
              </a:prstGeom>
              <a:blipFill rotWithShape="1">
                <a:blip r:embed="rId4"/>
                <a:stretch>
                  <a:fillRect l="-7" t="-2" r="2" b="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/>
              <p:cNvSpPr txBox="1"/>
              <p:nvPr/>
            </p:nvSpPr>
            <p:spPr>
              <a:xfrm>
                <a:off x="6445885" y="2726690"/>
                <a:ext cx="5446395" cy="82994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/>
                  <a:t>Finding a suitable variable we can “adjust” in order to satisfy the bound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sz="2400"/>
              </a:p>
            </p:txBody>
          </p:sp>
        </mc:Choice>
        <mc:Fallback xmlns="">
          <p:sp>
            <p:nvSpPr>
              <p:cNvPr id="5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5885" y="2726690"/>
                <a:ext cx="5446395" cy="829945"/>
              </a:xfrm>
              <a:prstGeom prst="rect">
                <a:avLst/>
              </a:prstGeom>
              <a:blipFill rotWithShape="1">
                <a:blip r:embed="rId5"/>
                <a:stretch>
                  <a:fillRect l="-93" t="-612" r="-82" b="-53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Arrow 5"/>
          <p:cNvSpPr/>
          <p:nvPr/>
        </p:nvSpPr>
        <p:spPr>
          <a:xfrm rot="18900000">
            <a:off x="5935345" y="3226435"/>
            <a:ext cx="457200" cy="252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Box 6"/>
              <p:cNvSpPr txBox="1"/>
              <p:nvPr/>
            </p:nvSpPr>
            <p:spPr>
              <a:xfrm>
                <a:off x="6378575" y="1750060"/>
                <a:ext cx="5446395" cy="460375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/>
                  <a:t> currently violates its bounds</a:t>
                </a:r>
              </a:p>
            </p:txBody>
          </p:sp>
        </mc:Choice>
        <mc:Fallback xmlns=""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8575" y="1750060"/>
                <a:ext cx="5446395" cy="460375"/>
              </a:xfrm>
              <a:prstGeom prst="rect">
                <a:avLst/>
              </a:prstGeom>
              <a:blipFill rotWithShape="1">
                <a:blip r:embed="rId6"/>
                <a:stretch>
                  <a:fillRect l="-93" t="-1103" r="-82" b="-966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Arrow 7"/>
          <p:cNvSpPr/>
          <p:nvPr/>
        </p:nvSpPr>
        <p:spPr>
          <a:xfrm rot="18900000">
            <a:off x="5846445" y="2281555"/>
            <a:ext cx="457200" cy="25209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Box 8"/>
          <p:cNvSpPr txBox="1"/>
          <p:nvPr/>
        </p:nvSpPr>
        <p:spPr>
          <a:xfrm>
            <a:off x="5420360" y="3804920"/>
            <a:ext cx="1851660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dirty="0">
                <a:solidFill>
                  <a:schemeClr val="accent1"/>
                </a:solidFill>
                <a:sym typeface="+mn-ea"/>
              </a:rPr>
              <a:t>“blue”</a:t>
            </a:r>
            <a:r>
              <a:rPr lang="en-US" dirty="0">
                <a:sym typeface="+mn-ea"/>
              </a:rPr>
              <a:t> conditions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 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Rewritten in Simplex 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−10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b="-384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8490"/>
          </a:xfrm>
        </p:spPr>
        <p:txBody>
          <a:bodyPr/>
          <a:lstStyle/>
          <a:p>
            <a:r>
              <a:rPr lang="en-US" dirty="0"/>
              <a:t>Example continued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43025"/>
                <a:ext cx="10515600" cy="540512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Variable ordering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Initialization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↦0,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↦0,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↦0⟩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satisfies equalities, bounds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are satisfied</a:t>
                </a:r>
              </a:p>
              <a:p>
                <a:pPr marL="0" indent="0">
                  <a:buNone/>
                </a:pPr>
                <a:r>
                  <a:rPr lang="en-US" dirty="0"/>
                  <a:t>Pick the first variable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fix the bound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Since upper and lower bounds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can easily satisfy the “</a:t>
                </a:r>
                <a:r>
                  <a:rPr lang="en-US" dirty="0">
                    <a:solidFill>
                      <a:schemeClr val="accent1"/>
                    </a:solidFill>
                  </a:rPr>
                  <a:t>blue</a:t>
                </a:r>
                <a:r>
                  <a:rPr lang="en-US" dirty="0"/>
                  <a:t>” conditions </a:t>
                </a:r>
              </a:p>
              <a:p>
                <a:pPr marL="0" indent="0">
                  <a:buNone/>
                </a:pPr>
                <a:r>
                  <a:rPr lang="en-US" dirty="0"/>
                  <a:t>To 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2 and satisfy its </a:t>
                </a:r>
                <a:r>
                  <a:rPr lang="en-US" dirty="0" err="1"/>
                  <a:t>lowerbound</a:t>
                </a:r>
                <a:r>
                  <a:rPr lang="en-US" dirty="0"/>
                  <a:t> we decrease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-1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↦0+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−2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=−1,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↦0,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↦−1,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↦10⟩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Pivot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sym typeface="+mn-ea"/>
                  </a:rPr>
                  <a:t>Now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>
                    <a:sym typeface="+mn-ea"/>
                  </a:rPr>
                  <a:t> becomes a basic variable,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>
                    <a:sym typeface="+mn-ea"/>
                  </a:rPr>
                  <a:t>non-basic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43025"/>
                <a:ext cx="10515600" cy="5405120"/>
              </a:xfrm>
              <a:blipFill>
                <a:blip r:embed="rId2"/>
                <a:stretch>
                  <a:fillRect l="-1086" t="-2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089777" y="150743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−10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777" y="150743"/>
                <a:ext cx="2102223" cy="2030095"/>
              </a:xfrm>
              <a:prstGeom prst="rect">
                <a:avLst/>
              </a:prstGeom>
              <a:blipFill rotWithShape="1">
                <a:blip r:embed="rId3"/>
                <a:stretch>
                  <a:fillRect l="-12" t="-12" b="1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0089776" y="4738549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89776" y="4738549"/>
                <a:ext cx="2102223" cy="2030095"/>
              </a:xfrm>
              <a:prstGeom prst="rect">
                <a:avLst/>
              </a:prstGeom>
              <a:blipFill rotWithShape="1">
                <a:blip r:embed="rId4"/>
                <a:stretch>
                  <a:fillRect l="-12" t="-9" r="30" b="9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98490"/>
          </a:xfrm>
        </p:spPr>
        <p:txBody>
          <a:bodyPr/>
          <a:lstStyle/>
          <a:p>
            <a:r>
              <a:rPr lang="en-US" dirty="0"/>
              <a:t>Example continued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61770"/>
                <a:ext cx="10515600" cy="5196205"/>
              </a:xfrm>
            </p:spPr>
            <p:txBody>
              <a:bodyPr>
                <a:normAutofit fontScale="90000" lnSpcReduction="200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↦−1,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↦0,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↦−1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↦2,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↦10⟩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All equalities are still satisfied (invariant)</a:t>
                </a:r>
              </a:p>
              <a:p>
                <a:pPr marL="0" indent="0">
                  <a:buNone/>
                </a:pPr>
                <a:r>
                  <a:rPr lang="en-US" dirty="0"/>
                  <a:t>The only basic variable not satisfying its bounds is now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The first non-basic variable we can tweak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Setting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r>
                  <a:rPr lang="en-US" dirty="0"/>
                  <a:t> to satisfy the </a:t>
                </a:r>
                <a:r>
                  <a:rPr lang="en-US" dirty="0" err="1"/>
                  <a:t>lowerbound</a:t>
                </a:r>
                <a:r>
                  <a:rPr lang="en-US" dirty="0"/>
                  <a:t> of s1 we get</a:t>
                </a:r>
                <a:br>
                  <a:rPr lang="en-US" b="0" i="1" dirty="0">
                    <a:latin typeface="Cambria Math" panose="02040503050406030204" pitchFamily="18" charset="0"/>
                  </a:rPr>
                </a:b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=⟨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↦−2/3,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↦0+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−(</m:t>
                          </m:r>
                          <m:r>
                            <a:rPr lang="en-US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1.5</m:t>
                          </m:r>
                        </m:den>
                      </m:f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=2/3,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↦0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↦2,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↦22/3⟩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/>
                  <a:t>Pivot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⊨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61770"/>
                <a:ext cx="10515600" cy="5196205"/>
              </a:xfrm>
              <a:blipFill rotWithShape="1">
                <a:blip r:embed="rId2"/>
                <a:stretch>
                  <a:fillRect t="-34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9834283" y="188258"/>
                <a:ext cx="2102223" cy="203009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+0.5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1.5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−4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4283" y="188258"/>
                <a:ext cx="2102223" cy="2030095"/>
              </a:xfrm>
              <a:prstGeom prst="rect">
                <a:avLst/>
              </a:prstGeom>
              <a:blipFill rotWithShape="1">
                <a:blip r:embed="rId3"/>
                <a:stretch>
                  <a:fillRect l="-2" t="-15" r="20" b="1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9439835" y="3929995"/>
                <a:ext cx="2496671" cy="2744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≥−5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−∞≤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≤∞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39835" y="3929995"/>
                <a:ext cx="2496671" cy="2744470"/>
              </a:xfrm>
              <a:prstGeom prst="rect">
                <a:avLst/>
              </a:prstGeom>
              <a:blipFill rotWithShape="1">
                <a:blip r:embed="rId4"/>
                <a:stretch>
                  <a:fillRect l="-22" t="-22" r="16" b="22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 Box 3"/>
              <p:cNvSpPr txBox="1"/>
              <p:nvPr/>
            </p:nvSpPr>
            <p:spPr>
              <a:xfrm>
                <a:off x="1551940" y="5496920"/>
                <a:ext cx="2058670" cy="36830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=−0.5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+1.5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" name="Text 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1940" y="5496920"/>
                <a:ext cx="2058670" cy="368300"/>
              </a:xfrm>
              <a:prstGeom prst="rect">
                <a:avLst/>
              </a:prstGeom>
              <a:blipFill>
                <a:blip r:embed="rId5"/>
                <a:stretch>
                  <a:fillRect r="-1227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Box 6"/>
              <p:cNvSpPr txBox="1"/>
              <p:nvPr/>
            </p:nvSpPr>
            <p:spPr>
              <a:xfrm>
                <a:off x="4803775" y="5378175"/>
                <a:ext cx="1717675" cy="60579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3775" y="5378175"/>
                <a:ext cx="1717675" cy="605790"/>
              </a:xfrm>
              <a:prstGeom prst="rect">
                <a:avLst/>
              </a:prstGeom>
              <a:blipFill>
                <a:blip r:embed="rId6"/>
                <a:stretch>
                  <a:fillRect b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3783965" y="5592170"/>
            <a:ext cx="981710" cy="177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simplex correct?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3907790"/>
              </a:xfrm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en-US" dirty="0"/>
                  <a:t>Why does it terminate?</a:t>
                </a:r>
              </a:p>
              <a:p>
                <a:pPr marL="457200" lvl="1" indent="0">
                  <a:lnSpc>
                    <a:spcPct val="100000"/>
                  </a:lnSpc>
                  <a:buNone/>
                </a:pPr>
                <a:r>
                  <a:rPr lang="en-US" dirty="0"/>
                  <a:t>Because we always looks for the first variable violating the bounds. There is a property (Bland’s rule) that ensures that we never revisit the same set of basic and non-basic variables.</a:t>
                </a:r>
              </a:p>
              <a:p>
                <a:pPr>
                  <a:lnSpc>
                    <a:spcPct val="100000"/>
                  </a:lnSpc>
                </a:pPr>
                <a:r>
                  <a:rPr lang="en-US" dirty="0"/>
                  <a:t>Why does it give the right answer (sound)?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If it returns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b="1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does it satisfy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? </a:t>
                </a:r>
              </a:p>
              <a:p>
                <a:pPr marL="914400" lvl="2" indent="0">
                  <a:lnSpc>
                    <a:spcPct val="100000"/>
                  </a:lnSpc>
                  <a:buNone/>
                </a:pPr>
                <a:r>
                  <a:rPr lang="en-US" dirty="0"/>
                  <a:t>This follows from the condition before </a:t>
                </a:r>
                <a:r>
                  <a:rPr lang="en-US" b="1" dirty="0"/>
                  <a:t>return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/>
              </a:p>
              <a:p>
                <a:pPr lvl="1">
                  <a:lnSpc>
                    <a:spcPct val="100000"/>
                  </a:lnSpc>
                </a:pPr>
                <a:r>
                  <a:rPr lang="en-US" dirty="0"/>
                  <a:t>If it returns UNSAT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r>
                  <a:rPr lang="en-US" dirty="0"/>
                  <a:t>really unsatisfiable? </a:t>
                </a:r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3907790"/>
              </a:xfrm>
              <a:blipFill>
                <a:blip r:embed="rId2"/>
                <a:stretch>
                  <a:fillRect l="-1086" t="-16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Box 3"/>
          <p:cNvSpPr txBox="1"/>
          <p:nvPr/>
        </p:nvSpPr>
        <p:spPr>
          <a:xfrm>
            <a:off x="838200" y="5868035"/>
            <a:ext cx="10904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/>
              <a:t>For proofs, check </a:t>
            </a:r>
            <a:r>
              <a:rPr lang="en-US">
                <a:hlinkClick r:id="rId3" action="ppaction://hlinkfile"/>
              </a:rPr>
              <a:t>Dutertre, B., de Moura, L.: Integrating Simplex with DPLL(T). Technical report, CSL-06-01, SRI International (2006)</a:t>
            </a:r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2703"/>
            <a:ext cx="10515600" cy="1325563"/>
          </a:xfrm>
        </p:spPr>
        <p:txBody>
          <a:bodyPr/>
          <a:lstStyle/>
          <a:p>
            <a:r>
              <a:rPr lang="en-US" dirty="0"/>
              <a:t>Unsatisfiable 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82607" y="1076362"/>
                <a:ext cx="4513580" cy="2359189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−2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−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≥2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≥1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80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607" y="1076362"/>
                <a:ext cx="4513580" cy="235918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2"/>
              <p:cNvSpPr txBox="1"/>
              <p:nvPr/>
            </p:nvSpPr>
            <p:spPr>
              <a:xfrm>
                <a:off x="5000353" y="977067"/>
                <a:ext cx="7191647" cy="435165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b="1" dirty="0"/>
                  <a:t>0) Initialize non-basics at bounds; compute basics</a:t>
                </a:r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⁣↦⁣0, 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⁣↦ 0, 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 ⁣↦ 0, 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↦ ⁣0, 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↦ ⁣0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		Violations: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&lt;2, 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b="1" dirty="0"/>
                  <a:t>1) Fix s2​ (enter x, leave s_2​)</a:t>
                </a:r>
                <a:br>
                  <a:rPr lang="en-US" sz="1800" dirty="0"/>
                </a:br>
                <a:r>
                  <a:rPr lang="en-US" sz="1800" dirty="0"/>
                  <a:t>Need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to reach 2 ⇒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←−2</m:t>
                    </m:r>
                  </m:oMath>
                </a14:m>
                <a:r>
                  <a:rPr lang="en-US" sz="1800" dirty="0"/>
                  <a:t>.</a:t>
                </a:r>
                <a:br>
                  <a:rPr lang="en-US" sz="1800" dirty="0"/>
                </a:br>
                <a:r>
                  <a:rPr lang="en-US" sz="1800" dirty="0"/>
                  <a:t>Pivot s2↔x: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​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en-US" sz="1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↦−2, 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↦0, 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​↦−2, 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​↦2, </m:t>
                          </m:r>
                          <m:sSub>
                            <m:sSubPr>
                              <m:ctrlP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800" b="0" i="1" dirty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​↦2</m:t>
                          </m:r>
                        </m:e>
                      </m:d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	Violation: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1800" dirty="0"/>
                  <a:t>. First eligible non-basic to raise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b="1" dirty="0"/>
                  <a:t>2) Fix s1​ (enter y, leave s1​) </a:t>
                </a:r>
                <a:r>
                  <a:rPr lang="en-US" sz="1800" dirty="0"/>
                  <a:t>Make s1​ hit 0: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←−2</m:t>
                    </m:r>
                  </m:oMath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Pivot s1​↔y: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=−3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800" b="1" i="1" dirty="0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⟨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↦2, 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↦−2, 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​↦0, 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​↦2, 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i="1" dirty="0">
                          <a:latin typeface="Cambria Math" panose="02040503050406030204" pitchFamily="18" charset="0"/>
                        </a:rPr>
                        <m:t>​↦−4⟩ </m:t>
                      </m:r>
                    </m:oMath>
                  </m:oMathPara>
                </a14:m>
                <a:endParaRPr lang="en-US" sz="18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dirty="0"/>
                  <a:t>	Violation: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US" sz="1800" dirty="0"/>
                  <a:t>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800" b="1" dirty="0"/>
                  <a:t>3) UNSAT test for s3​</a:t>
                </a:r>
                <a:br>
                  <a:rPr lang="en-US" sz="1800" dirty="0"/>
                </a:br>
                <a:r>
                  <a:rPr lang="en-US" sz="1800" dirty="0"/>
                  <a:t>With non-basics fixed at their bounds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​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≥0, 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latin typeface="Cambria Math" panose="02040503050406030204" pitchFamily="18" charset="0"/>
                      </a:rPr>
                      <m:t>​≥2</m:t>
                    </m:r>
                  </m:oMath>
                </a14:m>
                <a:r>
                  <a:rPr lang="en-US" sz="1800" dirty="0"/>
                  <a:t>, we have</a:t>
                </a:r>
                <a:br>
                  <a:rPr lang="en-US" sz="18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=−3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≤−2⋅2=−4&lt;1</m:t>
                    </m:r>
                  </m:oMath>
                </a14:m>
                <a:r>
                  <a:rPr lang="en-US" sz="1800" dirty="0"/>
                  <a:t>.</a:t>
                </a:r>
                <a:br>
                  <a:rPr lang="en-US" sz="1800" dirty="0"/>
                </a:br>
                <a:r>
                  <a:rPr lang="en-US" sz="1800" dirty="0"/>
                  <a:t>To increase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1800" dirty="0"/>
                  <a:t>, we’d need to </a:t>
                </a:r>
                <a:r>
                  <a:rPr lang="en-US" sz="1800" b="1" dirty="0"/>
                  <a:t>decrease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/>
                  <a:t>​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1800" dirty="0"/>
                  <a:t>​, but they are at their lower bounds. No eligible non-basic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/>
                    </m:sSub>
                    <m:r>
                      <a:rPr lang="en-US" sz="1800" b="0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sz="1800" dirty="0"/>
                  <a:t>​ satisfies the selection rule ⇒ </a:t>
                </a:r>
                <a:r>
                  <a:rPr lang="en-US" sz="1800" b="1" dirty="0"/>
                  <a:t>UNSAT</a:t>
                </a:r>
                <a:r>
                  <a:rPr lang="en-US" sz="1800" dirty="0"/>
                  <a:t>.</a:t>
                </a: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endParaRPr lang="en-US" sz="1800" dirty="0"/>
              </a:p>
            </p:txBody>
          </p:sp>
        </mc:Choice>
        <mc:Fallback>
          <p:sp>
            <p:nvSpPr>
              <p:cNvPr id="4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353" y="977067"/>
                <a:ext cx="7191647" cy="4351655"/>
              </a:xfrm>
              <a:prstGeom prst="rect">
                <a:avLst/>
              </a:prstGeom>
              <a:blipFill>
                <a:blip r:embed="rId4"/>
                <a:stretch>
                  <a:fillRect l="-704" t="-581" b="-377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B7E4D6D8-8B61-5A63-771A-E7606BBF0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4429" y="2186977"/>
            <a:ext cx="2569935" cy="23591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439BEF-0B26-E222-5A61-0EBDEF503B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647209"/>
            <a:ext cx="5009180" cy="71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098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8601"/>
            <a:ext cx="10515600" cy="562722"/>
          </a:xfrm>
        </p:spPr>
        <p:txBody>
          <a:bodyPr>
            <a:normAutofit fontScale="90000"/>
          </a:bodyPr>
          <a:lstStyle/>
          <a:p>
            <a:r>
              <a:rPr lang="en-US" dirty="0"/>
              <a:t>Simplex Algorithm: DP for LRA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968375"/>
                <a:ext cx="7467600" cy="588962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Input</a:t>
                </a:r>
                <a:r>
                  <a:rPr lang="en-US" dirty="0"/>
                  <a:t>: A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in Simplex form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Output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or UNSAT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⟨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↦0⟩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while</a:t>
                </a:r>
                <a:r>
                  <a:rPr lang="en-US" dirty="0"/>
                  <a:t> true </a:t>
                </a:r>
                <a:r>
                  <a:rPr lang="en-US" b="1" dirty="0"/>
                  <a:t>do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then return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be the first basic variable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if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b="1" dirty="0"/>
                  <a:t>then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be the first non-basic variable </a:t>
                </a:r>
                <a:r>
                  <a:rPr lang="en-US" dirty="0" err="1">
                    <a:solidFill>
                      <a:schemeClr val="tx1"/>
                    </a:solidFill>
                  </a:rPr>
                  <a:t>s.t.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&lt;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&gt; 0)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∨(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&gt;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&lt; 0)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 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:r>
                  <a:rPr lang="en-US" b="1" dirty="0"/>
                  <a:t>If</a:t>
                </a:r>
                <a:r>
                  <a:rPr lang="en-US" dirty="0"/>
                  <a:t> no such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exists </a:t>
                </a:r>
                <a:r>
                  <a:rPr lang="en-US" b="1" dirty="0"/>
                  <a:t>then</a:t>
                </a:r>
                <a:r>
                  <a:rPr lang="en-US" dirty="0"/>
                  <a:t> </a:t>
                </a:r>
                <a:r>
                  <a:rPr lang="en-US" b="1" dirty="0"/>
                  <a:t>return</a:t>
                </a:r>
                <a:r>
                  <a:rPr lang="en-US" dirty="0"/>
                  <a:t> UNSAT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b="1" dirty="0"/>
                  <a:t>else </a:t>
                </a:r>
                <a:r>
                  <a:rPr lang="en-US" dirty="0">
                    <a:solidFill>
                      <a:schemeClr val="tx1"/>
                    </a:solidFill>
                  </a:rPr>
                  <a:t>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be the first non-basic variable </a:t>
                </a:r>
                <a:r>
                  <a:rPr lang="en-US" dirty="0" err="1">
                    <a:solidFill>
                      <a:schemeClr val="tx1"/>
                    </a:solidFill>
                  </a:rPr>
                  <a:t>s.t.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&gt; 0)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∨(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&lt; 0)</m:t>
                    </m:r>
                  </m:oMath>
                </a14:m>
                <a:endParaRPr lang="en-US" dirty="0">
                  <a:solidFill>
                    <a:srgbClr val="0070C0"/>
                  </a:solidFill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:r>
                  <a:rPr lang="en-US" b="1" dirty="0"/>
                  <a:t>If</a:t>
                </a:r>
                <a:r>
                  <a:rPr lang="en-US" dirty="0"/>
                  <a:t> no such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exists </a:t>
                </a:r>
                <a:r>
                  <a:rPr lang="en-US" b="1" dirty="0"/>
                  <a:t>then return </a:t>
                </a:r>
                <a:r>
                  <a:rPr lang="en-US" dirty="0"/>
                  <a:t>UNSAT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+mn-ea"/>
                  </a:rPr>
                  <a:t>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≔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Pivot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; </a:t>
                </a:r>
                <a:r>
                  <a:rPr lang="en-US" dirty="0">
                    <a:sym typeface="+mn-ea"/>
                  </a:rPr>
                  <a:t>update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ym typeface="+mn-ea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>
                    <a:sym typeface="+mn-ea"/>
                  </a:rPr>
                  <a:t>, and all basic variables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68375"/>
                <a:ext cx="7467600" cy="5889625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Box 5"/>
              <p:cNvSpPr txBox="1"/>
              <p:nvPr/>
            </p:nvSpPr>
            <p:spPr>
              <a:xfrm>
                <a:off x="6537960" y="3251200"/>
                <a:ext cx="5102225" cy="677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i.e., find a non-basic variable that is </a:t>
                </a:r>
                <a:r>
                  <a:rPr lang="en-US" b="1"/>
                  <a:t>not </a:t>
                </a:r>
                <a:r>
                  <a:rPr lang="en-US"/>
                  <a:t>set to their extreme value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/>
                  <a:t> or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/>
                  <a:t> according to the sign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" name="Text 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960" y="3251200"/>
                <a:ext cx="5102225" cy="67754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s 6"/>
          <p:cNvSpPr/>
          <p:nvPr/>
        </p:nvSpPr>
        <p:spPr>
          <a:xfrm>
            <a:off x="6539230" y="3251200"/>
            <a:ext cx="5103495" cy="68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s 4"/>
          <p:cNvSpPr/>
          <p:nvPr/>
        </p:nvSpPr>
        <p:spPr>
          <a:xfrm>
            <a:off x="6536690" y="4108450"/>
            <a:ext cx="5103495" cy="682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Box 8"/>
              <p:cNvSpPr txBox="1"/>
              <p:nvPr/>
            </p:nvSpPr>
            <p:spPr>
              <a:xfrm>
                <a:off x="6536690" y="4108450"/>
                <a:ext cx="5099050" cy="677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/>
                  <a:t>If the non-basic 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/>
                  <a:t> has been set to its extreme, we cannot further change it to fix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9" name="Text 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6690" y="4108450"/>
                <a:ext cx="5099050" cy="67754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and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975271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Satisfiability modulo theory solvers use theory solvers and DPLL to check satisfiability of formulas in other theories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DPLL takes care of disjunctions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Theory solvers take care of conjunctions</a:t>
            </a:r>
          </a:p>
          <a:p>
            <a:pPr marL="457200" lvl="1" indent="0">
              <a:lnSpc>
                <a:spcPct val="110000"/>
              </a:lnSpc>
              <a:buNone/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Simplex or more generally Linear programming (LP) solvers is a theory solver for linear real arithmetic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Simplex algorithm solves LP by incrementally fixing the bounds of basic variables</a:t>
            </a:r>
          </a:p>
          <a:p>
            <a:pPr lvl="1">
              <a:lnSpc>
                <a:spcPct val="110000"/>
              </a:lnSpc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4173</Words>
  <Application>Microsoft Macintosh PowerPoint</Application>
  <PresentationFormat>Widescreen</PresentationFormat>
  <Paragraphs>503</Paragraphs>
  <Slides>35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Office Theme</vt:lpstr>
      <vt:lpstr>1_Office Theme</vt:lpstr>
      <vt:lpstr>Lecture 6: Satisfiability modulo theories  Part 2: DPLL(T) and Simplex Algorithm</vt:lpstr>
      <vt:lpstr>Today</vt:lpstr>
      <vt:lpstr>Review: theories in SMT</vt:lpstr>
      <vt:lpstr>Example decision procedure 1: Difference logic</vt:lpstr>
      <vt:lpstr>PowerPoint Presentation</vt:lpstr>
      <vt:lpstr>PowerPoint Presentation</vt:lpstr>
      <vt:lpstr>PowerPoint Presentation</vt:lpstr>
      <vt:lpstr>Decision Procedure for Difference Logic(DL)</vt:lpstr>
      <vt:lpstr>DPLLT:DPLL modulo theories</vt:lpstr>
      <vt:lpstr>DPLLT:DPLL modulo theories</vt:lpstr>
      <vt:lpstr>Return to SMT</vt:lpstr>
      <vt:lpstr>DPLL for SMT</vt:lpstr>
      <vt:lpstr>PowerPoint Presentation</vt:lpstr>
      <vt:lpstr>DPLLT: DPLL modulo theories</vt:lpstr>
      <vt:lpstr>Linear Programming Setup </vt:lpstr>
      <vt:lpstr>Decision Procedure for Linear Real Arithmetic</vt:lpstr>
      <vt:lpstr>PowerPoint Presentation</vt:lpstr>
      <vt:lpstr>Decision Procedure for Linear Real Arithmetic</vt:lpstr>
      <vt:lpstr>Transforming to Simplex Form</vt:lpstr>
      <vt:lpstr>The decison procedure: simplex algorithm</vt:lpstr>
      <vt:lpstr>Variable naming and ordering for Simplex</vt:lpstr>
      <vt:lpstr>Variable naming and ordering for Simplex</vt:lpstr>
      <vt:lpstr>Pivoting: switch basic and non-basic variables</vt:lpstr>
      <vt:lpstr>Pivoting: switch basic and non-basic variables</vt:lpstr>
      <vt:lpstr>Pivoting: switch basic and non-basic variables</vt:lpstr>
      <vt:lpstr>Simplex (Formal)</vt:lpstr>
      <vt:lpstr>Transforming to Simplex Form</vt:lpstr>
      <vt:lpstr>Simplex Algorithm: DP for LRA</vt:lpstr>
      <vt:lpstr>Example</vt:lpstr>
      <vt:lpstr>Example continued</vt:lpstr>
      <vt:lpstr>Example continued</vt:lpstr>
      <vt:lpstr>Why is simplex correct?</vt:lpstr>
      <vt:lpstr>Unsatisfiable example</vt:lpstr>
      <vt:lpstr>Simplex Algorithm: DP for LRA</vt:lpstr>
      <vt:lpstr>Summary and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Satisfiability modulo theories Part 2 Neural Theory Solvers</dc:title>
  <dc:creator>Mitra, Sayan</dc:creator>
  <cp:lastModifiedBy>Mitra, Sayan</cp:lastModifiedBy>
  <cp:revision>126</cp:revision>
  <dcterms:created xsi:type="dcterms:W3CDTF">2025-02-11T11:56:56Z</dcterms:created>
  <dcterms:modified xsi:type="dcterms:W3CDTF">2025-09-16T15:53:45Z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