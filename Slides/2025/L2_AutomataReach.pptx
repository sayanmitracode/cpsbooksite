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1261" r:id="rId2"/>
    <p:sldId id="1262" r:id="rId3"/>
    <p:sldId id="1263" r:id="rId4"/>
    <p:sldId id="311" r:id="rId5"/>
    <p:sldId id="303" r:id="rId6"/>
    <p:sldId id="327" r:id="rId7"/>
    <p:sldId id="328" r:id="rId8"/>
    <p:sldId id="343" r:id="rId9"/>
    <p:sldId id="312" r:id="rId10"/>
    <p:sldId id="342" r:id="rId11"/>
    <p:sldId id="1255" r:id="rId12"/>
    <p:sldId id="1257" r:id="rId13"/>
    <p:sldId id="1258" r:id="rId14"/>
    <p:sldId id="321" r:id="rId15"/>
    <p:sldId id="320" r:id="rId16"/>
    <p:sldId id="335" r:id="rId17"/>
    <p:sldId id="322" r:id="rId18"/>
    <p:sldId id="928" r:id="rId19"/>
    <p:sldId id="318" r:id="rId20"/>
    <p:sldId id="1259" r:id="rId21"/>
    <p:sldId id="307" r:id="rId22"/>
    <p:sldId id="338" r:id="rId23"/>
    <p:sldId id="337" r:id="rId24"/>
    <p:sldId id="339" r:id="rId25"/>
    <p:sldId id="1260" r:id="rId26"/>
    <p:sldId id="29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197"/>
  </p:normalViewPr>
  <p:slideViewPr>
    <p:cSldViewPr snapToGrid="0">
      <p:cViewPr varScale="1">
        <p:scale>
          <a:sx n="88" d="100"/>
          <a:sy n="88" d="100"/>
        </p:scale>
        <p:origin x="184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CDA28A-7AB8-3F44-BF60-0DDCA9531725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A10CE-F13C-DD4C-80CC-9755792EF5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3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B85884E2-29F1-4D86-84CC-3D2D0A090487}" type="slidenum">
              <a:rPr lang="en-US" sz="1200" smtClean="0"/>
              <a:pPr/>
              <a:t>5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6047657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hundred quintillion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1D770-1E3A-4068-8773-94408BE3849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951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Roshomon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B1D770-1E3A-4068-8773-94408BE3849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40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fld id="{478875BD-0904-456D-BF1F-B156B76088E4}" type="slidenum">
              <a:rPr lang="en-US" sz="1200" smtClean="0"/>
              <a:pPr/>
              <a:t>21</a:t>
            </a:fld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4171935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9011-8E97-CF21-A8FF-FE89FD9AE2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CD2BB-106A-D285-0B9B-2E50C1049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8C719D-C48E-CDE8-5962-241FF9C62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11ED8-5ED8-CF28-0A00-0571E656F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0F323A-2D0E-D9D0-33C9-BCB8F7E27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038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671C-0944-F42F-B152-D19ABCCD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B4431-812C-B83C-CEAD-5851C3EF6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4A7617-30BA-C1CC-977F-764AA64BF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E3F83-E2CB-7DAA-0912-69992A18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4F8CD-087D-FD68-E5EA-05B62F947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86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7D79-A5B5-A66E-FA6A-48020B249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69C553-D901-F415-6310-5AEF9E6FA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92616-D9A5-A370-CB52-E91274503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E8EFE-BF05-4FA0-F547-646E690A1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E8EDC1-2894-930D-D212-A01FB99C2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6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8CF8-2B36-92FE-4C74-161A82377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4F410-3428-92F1-5993-33E82BCE90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89C42-305B-922B-3BCA-6B121B5E9B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EE075-FC9E-22C2-A13B-233D1686A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EC88A6-F899-6C7B-D76C-460023E91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B176F1-A0EF-8F06-E0B4-B64ACB743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51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7C26-59FE-9281-C858-E12F28962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59185A-A237-AC1C-0E51-1DBDB9A54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4545D-8931-9A04-30B0-FFAC3A0A1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C1B2E-489F-773E-0859-AB5F115D00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1928B3-4EE9-CF12-FAF7-BC1A3B1EC4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7F6DDD-30F2-6ECE-889E-AB0E5AEE1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B1C34-5AAB-9F85-2F16-FDD3CC6EC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0732FD-E03D-E5A1-81F1-37267B1AD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08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3C7A-B725-9847-B049-71D7762BB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21A7CD-596D-7125-704A-AC47716FA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49617-DD79-05BA-9F3B-4EF9EF300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80EE2-061F-CFC6-99C2-F86B7557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86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053A4F-BD90-531C-BB91-E8D734FF6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C12647-355E-1902-4D7A-3925B60B7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C3FF32-BDC6-D647-5149-A657606E7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856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EE45-EFFF-C990-30B9-CE90F1201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01C62-88FF-7B4E-5260-E3E3AE4FB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F0902-FA38-DC33-347F-2A8116126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F91CC1-113C-10FF-0863-B0DADC9FE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1CCD1-302A-55D0-2F6A-968C43F0C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1281D-C60C-3DBD-87A0-109731ACA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51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9E3E-4C65-6708-4866-77703337C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9C209C-55F8-8E64-E735-54B4248728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6597E-7212-67AB-A48B-849255FFFD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48C82-2FD1-F521-E7DF-43FB6282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F226E-99F9-025E-C3EA-DA3F1DC28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0BAFC-0103-1F91-60B5-85D16481D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238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DBF8-07D0-E470-A887-3B1B9CD1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EAA4AC-FE78-6B99-5FEB-5D5A00D32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F6262-9417-279F-EBAE-F42001FB4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639A3-1E41-5940-F574-75A4E755D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ECD09-4435-BA77-D2D7-55874734C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6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E02079-A87F-E6DE-8FE4-3611578B6C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FE2FB-6E36-9AE3-A5A9-F60BF562D4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43763-8DC4-25F4-C00C-E75C2E7B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6F4B7-3EB7-B972-BA73-F51BCB2A3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B903F-1BD6-704B-6916-4C1832F14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4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F358DC-B0D4-A022-DB7C-EE073A62D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CDEDA2-EE28-A559-2DE9-AB78EEEFD8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FD69B-2F6A-A896-F8A9-6B218E2CE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AA41B-E8CC-054F-8764-08BE9388CE63}" type="datetimeFigureOut">
              <a:rPr lang="en-US" smtClean="0"/>
              <a:t>8/26/25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F5FF3F-089C-9079-96BB-608790A2CD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4E79D-BB6C-9778-EF58-C85F99D3E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FF4CD2-B52B-F84A-BE47-79AC748B7C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49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itras.ece.illinois.edu/ECE584/project.html" TargetMode="External"/><Relationship Id="rId2" Type="http://schemas.openxmlformats.org/officeDocument/2006/relationships/hyperlink" Target="https://campuswire.com/c/G0D38569B/fee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0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2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013178"/>
            <a:ext cx="10363200" cy="1470025"/>
          </a:xfrm>
        </p:spPr>
        <p:txBody>
          <a:bodyPr>
            <a:noAutofit/>
          </a:bodyPr>
          <a:lstStyle/>
          <a:p>
            <a:r>
              <a:rPr lang="en-US" sz="4400" dirty="0"/>
              <a:t>ECE584 L2</a:t>
            </a:r>
            <a:br>
              <a:rPr lang="en-US" dirty="0"/>
            </a:br>
            <a:r>
              <a:rPr lang="en-US" dirty="0"/>
              <a:t>Discrete models, reachability, and Invariance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71800"/>
            <a:ext cx="8534400" cy="3200400"/>
          </a:xfrm>
        </p:spPr>
        <p:txBody>
          <a:bodyPr>
            <a:normAutofit/>
          </a:bodyPr>
          <a:lstStyle/>
          <a:p>
            <a:r>
              <a:rPr lang="en-US" dirty="0"/>
              <a:t>August 28</a:t>
            </a:r>
            <a:r>
              <a:rPr lang="en-US" baseline="30000" dirty="0"/>
              <a:t>th</a:t>
            </a:r>
            <a:r>
              <a:rPr lang="en-US" dirty="0"/>
              <a:t> 2025, ECEB 3013</a:t>
            </a:r>
          </a:p>
          <a:p>
            <a:r>
              <a:rPr lang="en-US" dirty="0"/>
              <a:t>Sayan Mitra</a:t>
            </a:r>
          </a:p>
          <a:p>
            <a:r>
              <a:rPr lang="en-US" dirty="0"/>
              <a:t>CSL 266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  <a:p>
            <a:r>
              <a:rPr lang="en-US" dirty="0"/>
              <a:t>@</a:t>
            </a:r>
            <a:r>
              <a:rPr lang="en-US" dirty="0" err="1"/>
              <a:t>Mitrasayn</a:t>
            </a: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857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7F7C-F08C-4A44-BE99-5DFFD793C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0DC6D-60EB-9812-D32F-903F7833F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Class </a:t>
            </a:r>
            <a:r>
              <a:rPr lang="en-US" dirty="0" err="1"/>
              <a:t>Campuswire</a:t>
            </a:r>
            <a:r>
              <a:rPr lang="en-US" dirty="0"/>
              <a:t> created: </a:t>
            </a:r>
            <a:r>
              <a:rPr lang="en-US" dirty="0">
                <a:hlinkClick r:id="rId2"/>
              </a:rPr>
              <a:t>https://campuswire.com/c/G0D38569B/feed</a:t>
            </a:r>
            <a:r>
              <a:rPr lang="en-US" dirty="0"/>
              <a:t>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Use to create discuss projects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 may use it for announcements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Main source of information will be website</a:t>
            </a:r>
          </a:p>
          <a:p>
            <a:pPr>
              <a:lnSpc>
                <a:spcPct val="100000"/>
              </a:lnSpc>
            </a:pPr>
            <a:r>
              <a:rPr lang="en-US" dirty="0"/>
              <a:t>Links to notable past projects restored (mostly)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hlinkClick r:id="rId3"/>
              </a:rPr>
              <a:t>https://mitras.ece.illinois.edu/ECE584/project.html</a:t>
            </a:r>
            <a:r>
              <a:rPr lang="en-US" dirty="0"/>
              <a:t> </a:t>
            </a:r>
          </a:p>
          <a:p>
            <a:pPr>
              <a:lnSpc>
                <a:spcPct val="100000"/>
              </a:lnSpc>
            </a:pPr>
            <a:r>
              <a:rPr lang="en-US" dirty="0"/>
              <a:t>HW1 out tomorrow due in 2 weeks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295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44DB9-DC16-9CD5-4987-45B665F1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automata and requirements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44D01-B371-824C-204F-EFF9DE65F0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5922465" cy="4351338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>
                    <a:ea typeface="Cambria Math" panose="02040503050406030204" pitchFamily="18" charset="0"/>
                  </a:rPr>
                  <a:t>Automaton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800" dirty="0"/>
                  <a:t>Liveness/</a:t>
                </a:r>
                <a:r>
                  <a:rPr lang="en-US" dirty="0"/>
                  <a:t>Progress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800" dirty="0"/>
                  <a:t>All executions of </a:t>
                </a:r>
                <a:r>
                  <a:rPr lang="en-US" sz="2800" dirty="0" err="1"/>
                  <a:t>Collatz</a:t>
                </a:r>
                <a:r>
                  <a:rPr lang="en-US" sz="2800" dirty="0"/>
                  <a:t> (with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ℤ</m:t>
                        </m:r>
                      </m:e>
                      <m:sup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800" dirty="0"/>
                  <a:t>) eventually enter reaches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⟨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↦1⟩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800" dirty="0"/>
                  <a:t>Do all executions of Lorentz converge?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sz="2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800" dirty="0"/>
                  <a:t>Safety/Invariance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800" dirty="0"/>
                  <a:t>All executions of </a:t>
                </a:r>
                <a:r>
                  <a:rPr lang="en-US" sz="2800" dirty="0" err="1"/>
                  <a:t>Collatz</a:t>
                </a:r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∈[1,200]</m:t>
                    </m:r>
                  </m:oMath>
                </a14:m>
                <a:r>
                  <a:rPr lang="en-US" sz="2800" dirty="0"/>
                  <a:t> stays inside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≤10,000 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sz="2800" dirty="0"/>
                  <a:t>Safety/Invariance. Do they stay bounded?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44D01-B371-824C-204F-EFF9DE65F0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5922465" cy="4351338"/>
              </a:xfrm>
              <a:blipFill>
                <a:blip r:embed="rId2"/>
                <a:stretch>
                  <a:fillRect l="-1713" t="-2035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xkcd: Collatz Conjecture">
            <a:extLst>
              <a:ext uri="{FF2B5EF4-FFF2-40B4-BE49-F238E27FC236}">
                <a16:creationId xmlns:a16="http://schemas.microsoft.com/office/drawing/2014/main" id="{8922280A-F29E-1B6F-A9EF-AE382573066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93"/>
          <a:stretch/>
        </p:blipFill>
        <p:spPr bwMode="auto">
          <a:xfrm>
            <a:off x="6952343" y="1713876"/>
            <a:ext cx="2052406" cy="2264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9BD801-01C4-F817-8A70-3BF35266AD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6427" y="1603332"/>
            <a:ext cx="2821402" cy="239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00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487362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Example 3: Dijkstra’s Token Ring algorithm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64457" y="914400"/>
            <a:ext cx="7460343" cy="5668962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A mutual exclusion algorithm is a distributed algorithm that assures that a collection of participating processes can (1) always eventually access a shared resource (e.g., a printer) and (2) no two processes ever access the resource simultaneously.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A token-based mutual exclusion algorithm uses a ”token” to provide access to the shared resource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N processes with ids 0, 1, …, N-1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Unidirectional: each j&gt;0 process </a:t>
            </a:r>
            <a:r>
              <a:rPr lang="en-US" sz="2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P</a:t>
            </a:r>
            <a:r>
              <a:rPr lang="en-US" sz="2000" baseline="-25000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j</a:t>
            </a: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reads the state of only the predecessor P</a:t>
            </a:r>
            <a:r>
              <a:rPr lang="en-US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j-1</a:t>
            </a: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; P</a:t>
            </a:r>
            <a:r>
              <a:rPr lang="en-US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0</a:t>
            </a: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 reads only P</a:t>
            </a:r>
            <a:r>
              <a:rPr lang="en-US" sz="2000" baseline="-25000" dirty="0">
                <a:latin typeface="Calibri Light" panose="020F0302020204030204" pitchFamily="34" charset="0"/>
                <a:cs typeface="Calibri Light" panose="020F0302020204030204" pitchFamily="34" charset="0"/>
              </a:rPr>
              <a:t>N-1</a:t>
            </a:r>
            <a:endParaRPr lang="en-US" sz="20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Legal configuration = exactly one “token” in the ring and this token circulates in the ring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latin typeface="Calibri Light" panose="020F0302020204030204" pitchFamily="34" charset="0"/>
                <a:cs typeface="Calibri Light" panose="020F0302020204030204" pitchFamily="34" charset="0"/>
              </a:rPr>
              <a:t>Even if multiple tokens arise because of faults, if the algorithm continues to work correctly, then eventually there is a single token; this is the self stabilizing property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63A2C-7C55-4348-B850-0A3E101526A3}"/>
              </a:ext>
            </a:extLst>
          </p:cNvPr>
          <p:cNvSpPr txBox="1"/>
          <p:nvPr/>
        </p:nvSpPr>
        <p:spPr>
          <a:xfrm>
            <a:off x="5200905" y="6398696"/>
            <a:ext cx="69910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﻿Self-stabilizing Systems in Spite of Distributed Control, CACM, 1974.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14E3C4-E798-A3B8-EB2D-68BA9A3A54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" b="3493"/>
          <a:stretch/>
        </p:blipFill>
        <p:spPr>
          <a:xfrm>
            <a:off x="8198409" y="952500"/>
            <a:ext cx="3713782" cy="22630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F383BB-FC82-2BBF-0B0A-D5058CE32B89}"/>
              </a:ext>
            </a:extLst>
          </p:cNvPr>
          <p:cNvSpPr txBox="1"/>
          <p:nvPr/>
        </p:nvSpPr>
        <p:spPr>
          <a:xfrm>
            <a:off x="8813867" y="1999873"/>
            <a:ext cx="25499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Legal configuration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74883A1-6C37-45C4-F2E8-65D9666825A7}"/>
              </a:ext>
            </a:extLst>
          </p:cNvPr>
          <p:cNvGrpSpPr/>
          <p:nvPr/>
        </p:nvGrpSpPr>
        <p:grpSpPr>
          <a:xfrm>
            <a:off x="8198409" y="3791659"/>
            <a:ext cx="3643782" cy="2198058"/>
            <a:chOff x="4686300" y="1657662"/>
            <a:chExt cx="4215178" cy="254274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BF6FE3F-1F5A-A253-589C-5701BA078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86300" y="1657662"/>
              <a:ext cx="4215178" cy="2542744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13F68EB-E371-D450-DD59-52196D9B8809}"/>
                </a:ext>
              </a:extLst>
            </p:cNvPr>
            <p:cNvSpPr/>
            <p:nvPr/>
          </p:nvSpPr>
          <p:spPr>
            <a:xfrm>
              <a:off x="6500198" y="2706755"/>
              <a:ext cx="91313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400" dirty="0"/>
                <a:t>Illegal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47759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0700" y="116142"/>
            <a:ext cx="8610600" cy="1143000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3600" dirty="0" err="1"/>
              <a:t>Dijkstra’s</a:t>
            </a:r>
            <a:r>
              <a:rPr lang="en-US" sz="3600" dirty="0"/>
              <a:t> Algorithm [‘74]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77" name="Text Box 14"/>
              <p:cNvSpPr txBox="1">
                <a:spLocks noChangeArrowheads="1"/>
              </p:cNvSpPr>
              <p:nvPr/>
            </p:nvSpPr>
            <p:spPr bwMode="auto">
              <a:xfrm>
                <a:off x="685800" y="1066800"/>
                <a:ext cx="10997184" cy="47661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itchFamily="34" charset="0"/>
                  </a:defRPr>
                </a:lvl9pPr>
              </a:lstStyle>
              <a:p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State of each process j is a single integer 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𝑗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  <a:sym typeface="Symbol" pitchFamily="18" charset="2"/>
                      </a:rPr>
                      <m:t>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𝐾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]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where K &gt; N</a:t>
                </a:r>
              </a:p>
              <a:p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A process can update its state only when it has the token which is determined by its state and its neighbor’s state</a:t>
                </a:r>
                <a:endParaRPr lang="en-US" dirty="0">
                  <a:latin typeface="Cambria Math" panose="02040503050406030204" pitchFamily="18" charset="0"/>
                  <a:cs typeface="Calibri Light" panose="020F0302020204030204" pitchFamily="34" charset="0"/>
                </a:endParaRPr>
              </a:p>
              <a:p>
                <a:pPr algn="l">
                  <a:lnSpc>
                    <a:spcPct val="125000"/>
                  </a:lnSpc>
                </a:pPr>
                <a:endParaRPr lang="en-US" i="1" dirty="0">
                  <a:latin typeface="Cambria Math" panose="02040503050406030204" pitchFamily="18" charset="0"/>
                  <a:cs typeface="Calibri Light" panose="020F0302020204030204" pitchFamily="34" charset="0"/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h𝑎𝑠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𝑇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𝑜𝑘𝑒𝑛</m:t>
                      </m:r>
                      <m:d>
                        <m:dPr>
                          <m:ctrlPr>
                            <a:rPr lang="en-US" i="1" dirty="0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r>
                            <a:rPr lang="en-US" i="1" dirty="0" err="1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𝑥</m:t>
                          </m:r>
                          <m:r>
                            <a:rPr lang="en-US" i="1" dirty="0" err="1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  <m:t>,</m:t>
                          </m:r>
                          <m:r>
                            <a:rPr lang="en-US" i="1" dirty="0" err="1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𝑗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≡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  <m:t>=0∧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𝑗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  <m:t>=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𝑥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𝑁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  <a:cs typeface="Calibri Light" panose="020F0302020204030204" pitchFamily="34" charset="0"/>
                                </a:rPr>
                                <m:t>−1</m:t>
                              </m:r>
                            </m:e>
                          </m:d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∨(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≠0∧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dirty="0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  <a:cs typeface="Calibri Light" panose="020F0302020204030204" pitchFamily="34" charset="0"/>
                            </a:rPr>
                            <m:t>𝑗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[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𝑗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cs typeface="Calibri Light" panose="020F0302020204030204" pitchFamily="34" charset="0"/>
                        </a:rPr>
                        <m:t>−1])</m:t>
                      </m:r>
                    </m:oMath>
                  </m:oMathPara>
                </a14:m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algn="l">
                  <a:lnSpc>
                    <a:spcPct val="125000"/>
                  </a:lnSpc>
                </a:pPr>
                <a:endParaRPr lang="en-US" dirty="0">
                  <a:cs typeface="Calibri Light" panose="020F0302020204030204" pitchFamily="34" charset="0"/>
                </a:endParaRPr>
              </a:p>
              <a:p>
                <a:pPr algn="l">
                  <a:lnSpc>
                    <a:spcPct val="125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Update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i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:[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N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]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:</m:t>
                    </m:r>
                  </m:oMath>
                </a14:m>
                <a:r>
                  <a:rPr lang="en-US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	// transition rule</a:t>
                </a:r>
              </a:p>
              <a:p>
                <a:pPr algn="l">
                  <a:lnSpc>
                    <a:spcPct val="125000"/>
                  </a:lnSpc>
                </a:pPr>
                <a:r>
                  <a:rPr lang="en-US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	If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h𝑎𝑠𝑇𝑜𝑘𝑒𝑛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𝑖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</m:oMath>
                </a14:m>
                <a:endParaRPr lang="en-US" b="1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algn="l">
                  <a:lnSpc>
                    <a:spcPct val="125000"/>
                  </a:lnSpc>
                </a:pPr>
                <a:r>
                  <a:rPr lang="en-US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	   If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𝑖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=0 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𝐭𝐡𝐞𝐧</m:t>
                    </m:r>
                    <m:r>
                      <a:rPr lang="en-US" b="1" i="0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[0] :=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[0] + 1 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𝑚𝑜𝑑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𝐾</m:t>
                    </m:r>
                  </m:oMath>
                </a14:m>
                <a:endParaRPr lang="en-US" b="1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algn="l">
                  <a:lnSpc>
                    <a:spcPct val="125000"/>
                  </a:lnSpc>
                </a:pPr>
                <a:r>
                  <a:rPr lang="en-US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	       else</a:t>
                </a: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] := 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[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𝑗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−1] </m:t>
                    </m:r>
                  </m:oMath>
                </a14:m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 xmlns="">
          <p:sp>
            <p:nvSpPr>
              <p:cNvPr id="11277" name="Text 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800" y="1066800"/>
                <a:ext cx="10997184" cy="4766177"/>
              </a:xfrm>
              <a:prstGeom prst="rect">
                <a:avLst/>
              </a:prstGeom>
              <a:blipFill>
                <a:blip r:embed="rId3"/>
                <a:stretch>
                  <a:fillRect l="-923" t="-798" b="-186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569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ED9C9-21FD-B546-90A5-D4C2F7A20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Sample executions: from a legal state (single token)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5C3183-EE1D-A942-B019-BD9DC7E0D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66" y="1690689"/>
            <a:ext cx="2535767" cy="16000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ED13FBE-3602-D647-B840-FE1970E4E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3967" y="1690689"/>
            <a:ext cx="2535767" cy="16000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0FD092-8921-C741-9613-2D13DAB657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7968" y="1690688"/>
            <a:ext cx="2541305" cy="16000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3595B4-96FE-2B4C-8B81-8E07FFCDF0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3834" y="1690688"/>
            <a:ext cx="2535767" cy="15945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B672E4E-7A2D-2E45-8ADA-62B7772C6153}"/>
              </a:ext>
            </a:extLst>
          </p:cNvPr>
          <p:cNvSpPr txBox="1"/>
          <p:nvPr/>
        </p:nvSpPr>
        <p:spPr>
          <a:xfrm>
            <a:off x="8961969" y="2168186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CED51F-5934-6841-A750-C8C55173F082}"/>
              </a:ext>
            </a:extLst>
          </p:cNvPr>
          <p:cNvSpPr txBox="1"/>
          <p:nvPr/>
        </p:nvSpPr>
        <p:spPr>
          <a:xfrm>
            <a:off x="408284" y="4634271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B6B542-55F2-6D4D-ACBC-11C6BD71C229}"/>
              </a:ext>
            </a:extLst>
          </p:cNvPr>
          <p:cNvSpPr txBox="1"/>
          <p:nvPr/>
        </p:nvSpPr>
        <p:spPr>
          <a:xfrm>
            <a:off x="3794022" y="479797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0A9DBD-4CF2-E840-A71A-0B2A2B69F0D2}"/>
              </a:ext>
            </a:extLst>
          </p:cNvPr>
          <p:cNvSpPr txBox="1"/>
          <p:nvPr/>
        </p:nvSpPr>
        <p:spPr>
          <a:xfrm>
            <a:off x="7179763" y="483338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2185A9-B8D3-AC41-95D2-6571E93D2E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199" y="4036117"/>
            <a:ext cx="2544572" cy="160008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00AD284-651D-5A49-8AB3-8E3AB8B5D6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1919" y="4184348"/>
            <a:ext cx="2535767" cy="159106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ABB01A2-4AD9-6941-AB76-E9C1702671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9683" y="4202534"/>
            <a:ext cx="2544572" cy="160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07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1" grpId="0"/>
      <p:bldP spid="12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32670-9060-F443-8FD2-1659B23ED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from an illegal state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231629-FBC4-B842-90F1-A8156416D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83" y="2146278"/>
            <a:ext cx="2863851" cy="17969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466534-7A03-274B-B9A4-2C3C6EE4B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782" y="2146278"/>
            <a:ext cx="2863851" cy="180710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7024E5B-44FB-1040-8D95-A15F6E26D1CD}"/>
              </a:ext>
            </a:extLst>
          </p:cNvPr>
          <p:cNvCxnSpPr>
            <a:cxnSpLocks/>
          </p:cNvCxnSpPr>
          <p:nvPr/>
        </p:nvCxnSpPr>
        <p:spPr>
          <a:xfrm flipH="1">
            <a:off x="2709334" y="1862667"/>
            <a:ext cx="355599" cy="28361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A8F0D34-C692-0C45-BAD2-4F2BAAB1824A}"/>
              </a:ext>
            </a:extLst>
          </p:cNvPr>
          <p:cNvSpPr txBox="1"/>
          <p:nvPr/>
        </p:nvSpPr>
        <p:spPr>
          <a:xfrm>
            <a:off x="7416800" y="2184400"/>
            <a:ext cx="36354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Legal in single “step”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A70AAD-B780-E549-966F-AF4246B77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9781" y="4408970"/>
            <a:ext cx="2863851" cy="18071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B2DE080-4AA2-FF4E-BE31-BDAF218C4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83" y="4419146"/>
            <a:ext cx="2863851" cy="1796926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D5F3F94-7F34-D64B-A904-00CC9526E368}"/>
              </a:ext>
            </a:extLst>
          </p:cNvPr>
          <p:cNvCxnSpPr>
            <a:cxnSpLocks/>
          </p:cNvCxnSpPr>
          <p:nvPr/>
        </p:nvCxnSpPr>
        <p:spPr>
          <a:xfrm flipH="1">
            <a:off x="1633009" y="4108665"/>
            <a:ext cx="355599" cy="28361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A46F5C1-3497-2D4F-82B9-2A11BBE07A38}"/>
              </a:ext>
            </a:extLst>
          </p:cNvPr>
          <p:cNvCxnSpPr>
            <a:cxnSpLocks/>
          </p:cNvCxnSpPr>
          <p:nvPr/>
        </p:nvCxnSpPr>
        <p:spPr>
          <a:xfrm flipH="1">
            <a:off x="5918200" y="4108664"/>
            <a:ext cx="355599" cy="283611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57F659F-2C89-3545-BF3E-419BBEC1B2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879" y="4419146"/>
            <a:ext cx="2863851" cy="180710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CA361BA-5CCC-6A40-9772-D72C47844C6F}"/>
              </a:ext>
            </a:extLst>
          </p:cNvPr>
          <p:cNvSpPr txBox="1"/>
          <p:nvPr/>
        </p:nvSpPr>
        <p:spPr>
          <a:xfrm>
            <a:off x="8385650" y="3747102"/>
            <a:ext cx="3140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Legal in two steps</a:t>
            </a:r>
          </a:p>
        </p:txBody>
      </p:sp>
    </p:spTree>
    <p:extLst>
      <p:ext uri="{BB962C8B-B14F-4D97-AF65-F5344CB8AC3E}">
        <p14:creationId xmlns:p14="http://schemas.microsoft.com/office/powerpoint/2010/main" val="2414724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Synchronous model: All processes update simultaneously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17CDEB-59C2-494C-B916-ABA6EEECE1D0}"/>
              </a:ext>
            </a:extLst>
          </p:cNvPr>
          <p:cNvSpPr txBox="1"/>
          <p:nvPr/>
        </p:nvSpPr>
        <p:spPr>
          <a:xfrm>
            <a:off x="838200" y="1325563"/>
            <a:ext cx="5739072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has_token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(x,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N):</a:t>
            </a:r>
          </a:p>
          <a:p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"""Return True if process 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A31515"/>
                </a:solidFill>
                <a:effectLst/>
                <a:latin typeface="Menlo" panose="020B0609030804020204" pitchFamily="49" charset="0"/>
              </a:rPr>
              <a:t> has the token."""</a:t>
            </a:r>
            <a:endParaRPr lang="en-US" sz="1600" b="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  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x[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== x[N -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FF"/>
                </a:solidFill>
                <a:latin typeface="Menlo" panose="020B0609030804020204" pitchFamily="49" charset="0"/>
              </a:rPr>
              <a:t>  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!= x[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simulate(N, K, T,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delta_t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[0]*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N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t &lt;= T: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x_old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x.copy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 </a:t>
            </a:r>
            <a:r>
              <a:rPr lang="en-US" sz="1600" b="0" dirty="0">
                <a:solidFill>
                  <a:srgbClr val="00B050"/>
                </a:solidFill>
                <a:effectLst/>
                <a:latin typeface="Menlo" panose="020B0609030804020204" pitchFamily="49" charset="0"/>
              </a:rPr>
              <a:t>// Update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range(N):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has_token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x_old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N):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 if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x[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x_old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+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% K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Menlo" panose="020B0609030804020204" pitchFamily="49" charset="0"/>
              </a:rPr>
              <a:t>         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      x[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x_old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 </a:t>
            </a:r>
            <a:r>
              <a:rPr lang="en-US" sz="1600" b="0" dirty="0">
                <a:solidFill>
                  <a:srgbClr val="09865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b="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128575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4944" y="0"/>
            <a:ext cx="10984992" cy="1325563"/>
          </a:xfrm>
        </p:spPr>
        <p:txBody>
          <a:bodyPr>
            <a:normAutofit/>
          </a:bodyPr>
          <a:lstStyle/>
          <a:p>
            <a:r>
              <a:rPr lang="en-US" dirty="0"/>
              <a:t>Synchronous state machine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17CDEB-59C2-494C-B916-ABA6EEECE1D0}"/>
                  </a:ext>
                </a:extLst>
              </p:cNvPr>
              <p:cNvSpPr txBox="1"/>
              <p:nvPr/>
            </p:nvSpPr>
            <p:spPr>
              <a:xfrm>
                <a:off x="838200" y="1137634"/>
                <a:ext cx="10984992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i="1" dirty="0"/>
                  <a:t>state machine </a:t>
                </a:r>
                <a:r>
                  <a:rPr lang="en-US" sz="2400" dirty="0"/>
                  <a:t>or an </a:t>
                </a:r>
                <a:r>
                  <a:rPr lang="en-US" sz="2400" i="1" dirty="0"/>
                  <a:t>automaton</a:t>
                </a:r>
                <a:r>
                  <a:rPr lang="en-US" sz="2400" dirty="0"/>
                  <a:t> models the behavior of a system in terms of valuations of  </a:t>
                </a:r>
                <a:r>
                  <a:rPr lang="en-US" sz="2400" i="1" dirty="0"/>
                  <a:t>state variables </a:t>
                </a:r>
                <a:r>
                  <a:rPr lang="en-US" sz="2400" dirty="0"/>
                  <a:t>and </a:t>
                </a:r>
                <a:r>
                  <a:rPr lang="en-US" sz="2400" i="1" dirty="0"/>
                  <a:t>transitions</a:t>
                </a:r>
                <a:r>
                  <a:rPr lang="en-US" sz="2400" dirty="0"/>
                  <a:t> </a:t>
                </a:r>
              </a:p>
              <a:p>
                <a:endParaRPr lang="en-US" sz="2400" b="1" dirty="0"/>
              </a:p>
              <a:p>
                <a:r>
                  <a:rPr lang="en-US" sz="2400" b="1" dirty="0"/>
                  <a:t>automaton</a:t>
                </a:r>
                <a:r>
                  <a:rPr lang="en-US" sz="2400" dirty="0"/>
                  <a:t> </a:t>
                </a:r>
                <a:r>
                  <a:rPr lang="en-US" sz="2400" dirty="0" err="1">
                    <a:solidFill>
                      <a:srgbClr val="0119FF"/>
                    </a:solidFill>
                  </a:rPr>
                  <a:t>DijkstraTR</a:t>
                </a:r>
                <a:r>
                  <a:rPr lang="en-US" sz="2400" dirty="0"/>
                  <a:t>(</a:t>
                </a:r>
                <a:r>
                  <a:rPr lang="en-US" sz="2400" dirty="0" err="1"/>
                  <a:t>N:</a:t>
                </a:r>
                <a:r>
                  <a:rPr lang="en-US" sz="2400" dirty="0" err="1">
                    <a:solidFill>
                      <a:srgbClr val="00B050"/>
                    </a:solidFill>
                  </a:rPr>
                  <a:t>Nat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K:</a:t>
                </a:r>
                <a:r>
                  <a:rPr lang="en-US" sz="2400" dirty="0" err="1">
                    <a:solidFill>
                      <a:srgbClr val="00B050"/>
                    </a:solidFill>
                  </a:rPr>
                  <a:t>Nat</a:t>
                </a:r>
                <a:r>
                  <a:rPr lang="en-US" sz="2400" dirty="0"/>
                  <a:t>), </a:t>
                </a:r>
                <a:r>
                  <a:rPr lang="en-US" sz="2400" b="1" dirty="0"/>
                  <a:t>where</a:t>
                </a:r>
                <a:r>
                  <a:rPr lang="en-US" sz="2400" dirty="0"/>
                  <a:t> K &gt; N</a:t>
                </a:r>
                <a:endParaRPr lang="en-US" sz="2400" b="1" dirty="0"/>
              </a:p>
              <a:p>
                <a:r>
                  <a:rPr lang="en-US" sz="2400" b="1" dirty="0"/>
                  <a:t>   variables</a:t>
                </a:r>
              </a:p>
              <a:p>
                <a:r>
                  <a:rPr lang="en-US" sz="2400" dirty="0"/>
                  <a:t>      </a:t>
                </a:r>
                <a:r>
                  <a:rPr lang="en-US" sz="2400" dirty="0">
                    <a:solidFill>
                      <a:srgbClr val="0119FF"/>
                    </a:solidFill>
                  </a:rPr>
                  <a:t>x</a:t>
                </a:r>
                <a:r>
                  <a:rPr lang="en-US" sz="2400" dirty="0"/>
                  <a:t>:[[N] -&gt; K]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   </a:t>
                </a:r>
                <a:r>
                  <a:rPr lang="en-US" sz="2400" b="1" dirty="0"/>
                  <a:t>transitions</a:t>
                </a:r>
              </a:p>
              <a:p>
                <a:r>
                  <a:rPr lang="en-US" sz="2400" b="1" dirty="0"/>
                  <a:t>       </a:t>
                </a:r>
                <a:r>
                  <a:rPr lang="en-US" sz="2400" dirty="0">
                    <a:solidFill>
                      <a:srgbClr val="0119FF"/>
                    </a:solidFill>
                  </a:rPr>
                  <a:t>Update</a:t>
                </a:r>
              </a:p>
              <a:p>
                <a:r>
                  <a:rPr lang="en-US" sz="2400" b="1" dirty="0"/>
                  <a:t>        for each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∈ </m:t>
                    </m:r>
                  </m:oMath>
                </a14:m>
                <a:r>
                  <a:rPr lang="en-US" sz="2400" dirty="0"/>
                  <a:t>[N]</a:t>
                </a:r>
                <a:endParaRPr lang="en-US" sz="2400" b="1" dirty="0"/>
              </a:p>
              <a:p>
                <a:r>
                  <a:rPr lang="en-US" sz="2400" b="1" dirty="0"/>
                  <a:t>            if </a:t>
                </a:r>
                <a:r>
                  <a:rPr lang="en-US" sz="2400" dirty="0" err="1"/>
                  <a:t>has_token</a:t>
                </a:r>
                <a:r>
                  <a:rPr lang="en-US" sz="2400" dirty="0"/>
                  <a:t>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) and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== 0        </a:t>
                </a:r>
              </a:p>
              <a:p>
                <a:r>
                  <a:rPr lang="en-US" sz="2400" dirty="0"/>
                  <a:t>                   x[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= (x[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+ 1) %  K</a:t>
                </a:r>
              </a:p>
              <a:p>
                <a:r>
                  <a:rPr lang="en-US" sz="2400" dirty="0"/>
                  <a:t>            </a:t>
                </a:r>
                <a:r>
                  <a:rPr lang="en-US" sz="2400" b="1" dirty="0"/>
                  <a:t>if </a:t>
                </a:r>
                <a:r>
                  <a:rPr lang="en-US" sz="2400" dirty="0" err="1"/>
                  <a:t>has_token</a:t>
                </a:r>
                <a:r>
                  <a:rPr lang="en-US" sz="2400" dirty="0"/>
                  <a:t>(</a:t>
                </a:r>
                <a:r>
                  <a:rPr lang="en-US" sz="2400" dirty="0" err="1"/>
                  <a:t>i</a:t>
                </a:r>
                <a:r>
                  <a:rPr lang="en-US" sz="2400" dirty="0"/>
                  <a:t>) and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&gt; 0        </a:t>
                </a:r>
              </a:p>
              <a:p>
                <a:r>
                  <a:rPr lang="en-US" sz="2400" dirty="0"/>
                  <a:t>                   x[</a:t>
                </a:r>
                <a:r>
                  <a:rPr lang="en-US" sz="2400" dirty="0" err="1"/>
                  <a:t>i</a:t>
                </a:r>
                <a:r>
                  <a:rPr lang="en-US" sz="2400" dirty="0"/>
                  <a:t>] = x[i-1]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17CDEB-59C2-494C-B916-ABA6EEECE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137634"/>
                <a:ext cx="10984992" cy="5262979"/>
              </a:xfrm>
              <a:prstGeom prst="rect">
                <a:avLst/>
              </a:prstGeom>
              <a:blipFill>
                <a:blip r:embed="rId2"/>
                <a:stretch>
                  <a:fillRect l="-924" t="-962" b="-14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5801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1BB6-A486-375B-F43E-0D3D3860A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Synchronous Token Ring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B30172-78C2-41FC-0390-4C8A6B546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1539598"/>
            <a:ext cx="10210800" cy="504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151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13D854-4853-9465-E965-02CFAFB14BD7}"/>
              </a:ext>
            </a:extLst>
          </p:cNvPr>
          <p:cNvSpPr/>
          <p:nvPr/>
        </p:nvSpPr>
        <p:spPr>
          <a:xfrm>
            <a:off x="694944" y="1524000"/>
            <a:ext cx="5401056" cy="496466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4944" y="0"/>
            <a:ext cx="10984992" cy="1325563"/>
          </a:xfrm>
        </p:spPr>
        <p:txBody>
          <a:bodyPr>
            <a:normAutofit/>
          </a:bodyPr>
          <a:lstStyle/>
          <a:p>
            <a:r>
              <a:rPr lang="en-US" dirty="0"/>
              <a:t>Asynchronous Nondeterministic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17CDEB-59C2-494C-B916-ABA6EEECE1D0}"/>
                  </a:ext>
                </a:extLst>
              </p:cNvPr>
              <p:cNvSpPr txBox="1"/>
              <p:nvPr/>
            </p:nvSpPr>
            <p:spPr>
              <a:xfrm>
                <a:off x="838200" y="876955"/>
                <a:ext cx="6629400" cy="5447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We will write automata precisely using this style </a:t>
                </a:r>
              </a:p>
              <a:p>
                <a:endParaRPr lang="en-US" sz="2400" b="1" dirty="0"/>
              </a:p>
              <a:p>
                <a:r>
                  <a:rPr lang="en-US" sz="2000" b="1" dirty="0"/>
                  <a:t>automaton</a:t>
                </a:r>
                <a:r>
                  <a:rPr lang="en-US" sz="2000" dirty="0"/>
                  <a:t> </a:t>
                </a:r>
                <a:r>
                  <a:rPr lang="en-US" sz="2000" dirty="0" err="1">
                    <a:solidFill>
                      <a:srgbClr val="0119FF"/>
                    </a:solidFill>
                  </a:rPr>
                  <a:t>DijkstraTR</a:t>
                </a:r>
                <a:r>
                  <a:rPr lang="en-US" sz="2000" dirty="0"/>
                  <a:t>(</a:t>
                </a:r>
                <a:r>
                  <a:rPr lang="en-US" sz="2000" dirty="0" err="1"/>
                  <a:t>N: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/>
                  <a:t>, </a:t>
                </a:r>
                <a:r>
                  <a:rPr lang="en-US" sz="2000" dirty="0" err="1"/>
                  <a:t>K:</a:t>
                </a:r>
                <a:r>
                  <a:rPr lang="en-US" sz="2000" dirty="0">
                    <a:solidFill>
                      <a:srgbClr val="00B05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ℕ</m:t>
                    </m:r>
                  </m:oMath>
                </a14:m>
                <a:r>
                  <a:rPr lang="en-US" sz="2000" dirty="0"/>
                  <a:t>), </a:t>
                </a:r>
                <a:r>
                  <a:rPr lang="en-US" sz="2000" b="1" dirty="0"/>
                  <a:t>where</a:t>
                </a:r>
                <a:r>
                  <a:rPr lang="en-US" sz="2000" dirty="0"/>
                  <a:t> K &gt; N</a:t>
                </a:r>
                <a:endParaRPr lang="en-US" sz="2000" b="1" dirty="0"/>
              </a:p>
              <a:p>
                <a:endParaRPr lang="en-US" sz="2000" b="1" dirty="0"/>
              </a:p>
              <a:p>
                <a:r>
                  <a:rPr lang="en-US" sz="2000" b="1" dirty="0"/>
                  <a:t>   variables</a:t>
                </a:r>
              </a:p>
              <a:p>
                <a:r>
                  <a:rPr lang="en-US" sz="2000" dirty="0"/>
                  <a:t>      </a:t>
                </a:r>
                <a:r>
                  <a:rPr lang="en-US" sz="2000" dirty="0">
                    <a:solidFill>
                      <a:srgbClr val="0119FF"/>
                    </a:solidFill>
                  </a:rPr>
                  <a:t>x</a:t>
                </a:r>
                <a:r>
                  <a:rPr lang="en-US" sz="2000" dirty="0"/>
                  <a:t>:[[N] -&gt; [K]]</a:t>
                </a:r>
              </a:p>
              <a:p>
                <a:endParaRPr lang="en-US" sz="2000" b="1" dirty="0"/>
              </a:p>
              <a:p>
                <a:r>
                  <a:rPr lang="en-US" sz="2000" b="1" dirty="0"/>
                  <a:t>   actions</a:t>
                </a:r>
              </a:p>
              <a:p>
                <a:r>
                  <a:rPr lang="en-US" sz="2000" dirty="0"/>
                  <a:t>      </a:t>
                </a:r>
                <a:r>
                  <a:rPr lang="en-US" sz="2000" dirty="0">
                    <a:solidFill>
                      <a:srgbClr val="0119FF"/>
                    </a:solidFill>
                  </a:rPr>
                  <a:t>update</a:t>
                </a:r>
                <a:r>
                  <a:rPr lang="en-US" sz="2000" dirty="0"/>
                  <a:t>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:[N])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   </a:t>
                </a:r>
                <a:r>
                  <a:rPr lang="en-US" sz="2000" b="1" dirty="0"/>
                  <a:t>transitions</a:t>
                </a:r>
              </a:p>
              <a:p>
                <a:r>
                  <a:rPr lang="en-US" sz="2000" b="1" dirty="0"/>
                  <a:t>       </a:t>
                </a:r>
                <a:r>
                  <a:rPr lang="en-US" sz="2000" dirty="0">
                    <a:solidFill>
                      <a:srgbClr val="0119FF"/>
                    </a:solidFill>
                  </a:rPr>
                  <a:t>Update(p=0)</a:t>
                </a:r>
              </a:p>
              <a:p>
                <a:r>
                  <a:rPr lang="en-US" sz="2000" b="1" dirty="0"/>
                  <a:t>          Pre </a:t>
                </a:r>
                <a:r>
                  <a:rPr lang="en-US" sz="2000" dirty="0" err="1"/>
                  <a:t>has_token</a:t>
                </a:r>
                <a:r>
                  <a:rPr lang="en-US" sz="2000" dirty="0"/>
                  <a:t>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and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== p        </a:t>
                </a:r>
              </a:p>
              <a:p>
                <a:r>
                  <a:rPr lang="en-US" sz="2000" dirty="0"/>
                  <a:t>          </a:t>
                </a:r>
                <a:r>
                  <a:rPr lang="en-US" sz="2000" b="1" dirty="0"/>
                  <a:t>Eff</a:t>
                </a:r>
                <a:r>
                  <a:rPr lang="en-US" sz="2000" dirty="0"/>
                  <a:t> x[</a:t>
                </a:r>
                <a:r>
                  <a:rPr lang="en-US" sz="2000" dirty="0" err="1"/>
                  <a:t>i</a:t>
                </a:r>
                <a:r>
                  <a:rPr lang="en-US" sz="2000" dirty="0"/>
                  <a:t>] = (x[</a:t>
                </a:r>
                <a:r>
                  <a:rPr lang="en-US" sz="2000" dirty="0" err="1"/>
                  <a:t>i</a:t>
                </a:r>
                <a:r>
                  <a:rPr lang="en-US" sz="2000" dirty="0"/>
                  <a:t>] + 1) %  K</a:t>
                </a:r>
              </a:p>
              <a:p>
                <a:r>
                  <a:rPr lang="en-US" sz="2000" dirty="0"/>
                  <a:t>       </a:t>
                </a:r>
                <a:r>
                  <a:rPr lang="en-US" sz="2000" dirty="0">
                    <a:solidFill>
                      <a:srgbClr val="0119FF"/>
                    </a:solidFill>
                  </a:rPr>
                  <a:t>Update(p&gt;0)</a:t>
                </a:r>
                <a:endParaRPr lang="en-US" sz="2000" dirty="0"/>
              </a:p>
              <a:p>
                <a:r>
                  <a:rPr lang="en-US" sz="2000" dirty="0"/>
                  <a:t>          </a:t>
                </a:r>
                <a:r>
                  <a:rPr lang="en-US" sz="2000" b="1" dirty="0"/>
                  <a:t>Pre </a:t>
                </a:r>
                <a:r>
                  <a:rPr lang="en-US" sz="2000" dirty="0" err="1"/>
                  <a:t>has_token</a:t>
                </a:r>
                <a:r>
                  <a:rPr lang="en-US" sz="2000" dirty="0"/>
                  <a:t>(</a:t>
                </a:r>
                <a:r>
                  <a:rPr lang="en-US" sz="2000" dirty="0" err="1"/>
                  <a:t>i</a:t>
                </a:r>
                <a:r>
                  <a:rPr lang="en-US" sz="2000" dirty="0"/>
                  <a:t>) and </a:t>
                </a:r>
                <a:r>
                  <a:rPr lang="en-US" sz="2000" dirty="0" err="1"/>
                  <a:t>i</a:t>
                </a:r>
                <a:r>
                  <a:rPr lang="en-US" sz="2000" dirty="0"/>
                  <a:t> == p        </a:t>
                </a:r>
              </a:p>
              <a:p>
                <a:r>
                  <a:rPr lang="en-US" sz="2000" dirty="0"/>
                  <a:t>          </a:t>
                </a:r>
                <a:r>
                  <a:rPr lang="en-US" sz="2000" b="1" dirty="0"/>
                  <a:t>Eff </a:t>
                </a:r>
                <a:r>
                  <a:rPr lang="en-US" sz="2000" dirty="0"/>
                  <a:t>x[</a:t>
                </a:r>
                <a:r>
                  <a:rPr lang="en-US" sz="2000" dirty="0" err="1"/>
                  <a:t>i</a:t>
                </a:r>
                <a:r>
                  <a:rPr lang="en-US" sz="2000" dirty="0"/>
                  <a:t>] = x[i-1]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417CDEB-59C2-494C-B916-ABA6EEECE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876955"/>
                <a:ext cx="6629400" cy="5447645"/>
              </a:xfrm>
              <a:prstGeom prst="rect">
                <a:avLst/>
              </a:prstGeom>
              <a:blipFill>
                <a:blip r:embed="rId2"/>
                <a:stretch>
                  <a:fillRect l="-1533" t="-930" b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3687F32-24D9-3597-E902-F2C730820B4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98260" y="1539081"/>
                <a:ext cx="5806440" cy="45720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000" dirty="0"/>
                  <a:t>An </a:t>
                </a:r>
                <a:r>
                  <a:rPr lang="en-US" sz="2000" b="1" dirty="0"/>
                  <a:t>automaton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a 4-tuple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/>
                  <a:t> where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𝑡𝑦𝑝𝑒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→[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000" dirty="0"/>
              </a:p>
              <a:p>
                <a:r>
                  <a:rPr lang="en-US" sz="2000" b="1" dirty="0"/>
                  <a:t>State space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endParaRPr lang="en-US" sz="20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sz="2000" b="1" dirty="0"/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𝑢𝑝𝑑𝑎𝑡𝑒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𝑢𝑝𝑑𝑎𝑡𝑒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𝑢𝑝𝑑𝑎𝑡𝑒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−1)}</m:t>
                    </m:r>
                  </m:oMath>
                </a14:m>
                <a:r>
                  <a:rPr lang="en-US" sz="2000" dirty="0"/>
                  <a:t> </a:t>
                </a:r>
                <a:endParaRPr lang="en-US" sz="2000" b="1" dirty="0"/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𝑢𝑝𝑑𝑎𝑡𝑒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), 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h𝑎𝑠𝑇𝑜𝑘𝑒𝑛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lvl="1"/>
                <a:r>
                  <a:rPr lang="en-US" sz="1600" b="0" dirty="0"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16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%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lvl="1"/>
                <a:r>
                  <a:rPr lang="en-US" sz="1600" b="0" dirty="0">
                    <a:ea typeface="Cambria Math" panose="02040503050406030204" pitchFamily="18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sz="1600" dirty="0"/>
                  <a:t>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1600" dirty="0"/>
                  <a:t> </a:t>
                </a:r>
              </a:p>
              <a:p>
                <a:pPr lvl="1"/>
                <a:endParaRPr lang="en-US" sz="1600" dirty="0"/>
              </a:p>
              <a:p>
                <a:pPr marL="0" indent="0">
                  <a:buNone/>
                </a:pPr>
                <a:r>
                  <a:rPr lang="en-US" sz="2000" dirty="0"/>
                  <a:t>This is a nondeterministic automaton.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All processes with tokens </a:t>
                </a:r>
                <a:r>
                  <a:rPr lang="en-US" sz="2000" b="1" dirty="0"/>
                  <a:t>could </a:t>
                </a:r>
                <a:r>
                  <a:rPr lang="en-US" sz="2000" dirty="0"/>
                  <a:t>perform a transition</a:t>
                </a:r>
              </a:p>
              <a:p>
                <a:pPr lvl="1"/>
                <a:endParaRPr lang="en-US" sz="1600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endParaRPr lang="en-US" sz="2000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D3687F32-24D9-3597-E902-F2C730820B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8260" y="1539081"/>
                <a:ext cx="5806440" cy="4572000"/>
              </a:xfrm>
              <a:prstGeom prst="rect">
                <a:avLst/>
              </a:prstGeom>
              <a:blipFill>
                <a:blip r:embed="rId3"/>
                <a:stretch>
                  <a:fillRect l="-1313" t="-1108" b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30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6FBAF-DEF9-656A-D929-33A8BF21A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9CA566-A429-FB44-9587-73BE50C8BC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529" r="7011"/>
          <a:stretch/>
        </p:blipFill>
        <p:spPr>
          <a:xfrm>
            <a:off x="1981200" y="609600"/>
            <a:ext cx="8619399" cy="61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314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18788-645D-F8F7-F8AA-E963E9782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Nondeterministic execution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7E8EE-8846-640B-9ED3-FEDA1A80E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916" y="1293382"/>
            <a:ext cx="8972167" cy="556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727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84503"/>
          </a:xfrm>
        </p:spPr>
        <p:txBody>
          <a:bodyPr>
            <a:normAutofit fontScale="90000"/>
          </a:bodyPr>
          <a:lstStyle/>
          <a:p>
            <a:r>
              <a:rPr lang="en-US" dirty="0"/>
              <a:t>Internal and External Nondeterminism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143000"/>
                <a:ext cx="10515600" cy="4351338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is </a:t>
                </a:r>
                <a:r>
                  <a:rPr lang="en-US" sz="2000" b="1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deterministic</a:t>
                </a:r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sz="200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and there is at most one next state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from any state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endParaRPr lang="en-US" sz="2000" b="1" i="1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0" indent="0">
                  <a:buNone/>
                </a:pPr>
                <a:endParaRPr lang="en-US" sz="20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𝑒𝑛𝑎𝑏𝑙𝑒𝑑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∃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𝒗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′}</m:t>
                    </m:r>
                  </m:oMath>
                </a14:m>
                <a:r>
                  <a:rPr lang="en-US" sz="2000" dirty="0">
                    <a:latin typeface="+mj-lt"/>
                  </a:rPr>
                  <a:t> is the set of action that </a:t>
                </a:r>
                <a:r>
                  <a:rPr lang="en-US" sz="2000" b="1" dirty="0">
                    <a:latin typeface="+mj-lt"/>
                  </a:rPr>
                  <a:t>can</a:t>
                </a:r>
                <a:r>
                  <a:rPr lang="en-US" sz="2000" dirty="0">
                    <a:latin typeface="+mj-lt"/>
                  </a:rPr>
                  <a:t> occur at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000" dirty="0">
                    <a:latin typeface="+mj-lt"/>
                  </a:rPr>
                  <a:t>. </a:t>
                </a:r>
              </a:p>
              <a:p>
                <a:pPr marL="0" indent="0">
                  <a:buNone/>
                </a:pPr>
                <a:endParaRPr lang="en-US" sz="20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000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𝑒𝑛𝑎𝑏𝑙𝑒𝑑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&gt;1 </m:t>
                    </m:r>
                  </m:oMath>
                </a14:m>
                <a:r>
                  <a:rPr lang="en-US" sz="2000" dirty="0">
                    <a:latin typeface="+mj-lt"/>
                  </a:rPr>
                  <a:t>the automaton has </a:t>
                </a:r>
                <a:r>
                  <a:rPr lang="en-US" sz="2000" b="1" dirty="0">
                    <a:latin typeface="+mj-lt"/>
                  </a:rPr>
                  <a:t>external nondeterminism</a:t>
                </a:r>
                <a:r>
                  <a:rPr lang="en-US" sz="2000" dirty="0">
                    <a:latin typeface="+mj-lt"/>
                  </a:rPr>
                  <a:t>, i.e., there is a choice in which action </a:t>
                </a:r>
                <a:r>
                  <a:rPr lang="en-US" sz="2000" b="1" dirty="0">
                    <a:latin typeface="+mj-lt"/>
                  </a:rPr>
                  <a:t>should be </a:t>
                </a:r>
                <a:r>
                  <a:rPr lang="en-US" sz="2000" dirty="0">
                    <a:latin typeface="+mj-lt"/>
                  </a:rPr>
                  <a:t>performed at each state (e.g., which process updates)</a:t>
                </a:r>
              </a:p>
              <a:p>
                <a:pPr marL="0" indent="0">
                  <a:buNone/>
                </a:pPr>
                <a:endParaRPr lang="en-US" sz="2000" dirty="0">
                  <a:latin typeface="+mj-lt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𝑝𝑜𝑠𝑡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𝒗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000" dirty="0"/>
                          <m:t> </m:t>
                        </m:r>
                      </m:e>
                    </m:d>
                    <m:r>
                      <a:rPr lang="en-US" sz="2000" b="1" i="1">
                        <a:latin typeface="Cambria Math" panose="02040503050406030204" pitchFamily="18" charset="0"/>
                      </a:rPr>
                      <m:t>𝒗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latin typeface="+mj-lt"/>
                  </a:rPr>
                  <a:t> is the set of next states of </a:t>
                </a:r>
                <a14:m>
                  <m:oMath xmlns:m="http://schemas.openxmlformats.org/officeDocument/2006/math">
                    <m:r>
                      <a:rPr lang="en-US" sz="2000" b="1" i="1"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sz="2000" dirty="0">
                    <a:latin typeface="+mj-lt"/>
                  </a:rPr>
                  <a:t> after performing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endParaRPr lang="en-US" sz="2000" b="1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𝑝𝑜𝑠𝑡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𝒗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sz="2000" b="1" dirty="0">
                    <a:latin typeface="+mj-lt"/>
                  </a:rPr>
                  <a:t> </a:t>
                </a:r>
                <a:r>
                  <a:rPr lang="en-US" sz="2000" dirty="0"/>
                  <a:t>the automaton has </a:t>
                </a:r>
                <a:r>
                  <a:rPr lang="en-US" sz="2000" b="1" dirty="0"/>
                  <a:t>internal nondeterminism</a:t>
                </a:r>
                <a:r>
                  <a:rPr lang="en-US" sz="2000" dirty="0"/>
                  <a:t>, i.e., the choice of the action does not completely resolve uncertainty (e.g.,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𝑐𝑜𝑖𝑛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𝒄𝒉𝒐𝒐𝒔𝒆</m:t>
                    </m:r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{0,1}</m:t>
                    </m:r>
                  </m:oMath>
                </a14:m>
                <a:r>
                  <a:rPr lang="en-US" sz="2000" dirty="0"/>
                  <a:t>)</a:t>
                </a:r>
                <a:endParaRPr lang="en-US" sz="2000" b="1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latin typeface="+mj-lt"/>
                  </a:rPr>
                  <a:t>Nondeterminism</a:t>
                </a:r>
              </a:p>
              <a:p>
                <a:r>
                  <a:rPr lang="en-US" sz="2000" dirty="0">
                    <a:latin typeface="+mj-lt"/>
                  </a:rPr>
                  <a:t>Multiple initial states</a:t>
                </a:r>
              </a:p>
              <a:p>
                <a:r>
                  <a:rPr lang="en-US" sz="2000" dirty="0">
                    <a:latin typeface="+mj-lt"/>
                  </a:rPr>
                  <a:t>External nondeterminism: Multiple actions enabled from the same state</a:t>
                </a:r>
              </a:p>
              <a:p>
                <a:r>
                  <a:rPr lang="en-US" sz="2000" dirty="0">
                    <a:latin typeface="+mj-lt"/>
                  </a:rPr>
                  <a:t>Internal nondeterminism: Multiple post-states from the same state and action</a:t>
                </a:r>
              </a:p>
              <a:p>
                <a:pPr marL="285750" indent="-285750"/>
                <a:endParaRPr lang="en-US" sz="2000" dirty="0">
                  <a:latin typeface="+mj-lt"/>
                </a:endParaRPr>
              </a:p>
              <a:p>
                <a:endParaRPr lang="en-US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143000"/>
                <a:ext cx="10515600" cy="4351338"/>
              </a:xfrm>
              <a:blipFill>
                <a:blip r:embed="rId2"/>
                <a:stretch>
                  <a:fillRect l="-724" t="-875" b="-180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664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Executions, Reachability, and Invariants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90134"/>
                <a:ext cx="10515600" cy="536786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  <a:ea typeface="Cambria Math" panose="02040503050406030204" pitchFamily="18" charset="0"/>
                  </a:rPr>
                  <a:t>A</a:t>
                </a:r>
                <a:r>
                  <a:rPr lang="en-US" b="1" dirty="0">
                    <a:latin typeface="+mj-lt"/>
                    <a:ea typeface="Cambria Math" panose="02040503050406030204" pitchFamily="18" charset="0"/>
                  </a:rPr>
                  <a:t>utomaton</a:t>
                </a:r>
                <a:r>
                  <a:rPr lang="en-US" dirty="0">
                    <a:latin typeface="+mj-lt"/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An executions models a particular behavior of the automaton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An </a:t>
                </a:r>
                <a:r>
                  <a:rPr lang="en-US" b="1" i="1" dirty="0">
                    <a:solidFill>
                      <a:srgbClr val="0070C0"/>
                    </a:solidFill>
                    <a:latin typeface="+mj-lt"/>
                  </a:rPr>
                  <a:t>execution</a:t>
                </a:r>
                <a:r>
                  <a:rPr lang="en-US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>
                    <a:latin typeface="+mj-lt"/>
                  </a:rPr>
                  <a:t> is an alternating (possibly infinite) sequence of states and actions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dirty="0">
                    <a:latin typeface="+mj-lt"/>
                  </a:rPr>
                  <a:t>such that: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in the sequence,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b="0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For a </a:t>
                </a:r>
                <a:r>
                  <a:rPr lang="en-US" b="1" i="1" dirty="0">
                    <a:solidFill>
                      <a:srgbClr val="0070C0"/>
                    </a:solidFill>
                    <a:latin typeface="+mj-lt"/>
                  </a:rPr>
                  <a:t>finite</a:t>
                </a:r>
                <a:r>
                  <a:rPr lang="en-US" dirty="0">
                    <a:latin typeface="+mj-lt"/>
                  </a:rPr>
                  <a:t> execution,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the </a:t>
                </a:r>
                <a:r>
                  <a:rPr lang="en-US" b="1" i="1" dirty="0">
                    <a:solidFill>
                      <a:srgbClr val="0070C0"/>
                    </a:solidFill>
                    <a:latin typeface="+mj-lt"/>
                  </a:rPr>
                  <a:t>last state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 and the length of the execution is 3.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In general, how many executions does 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have?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90134"/>
                <a:ext cx="10515600" cy="5367866"/>
              </a:xfrm>
              <a:blipFill>
                <a:blip r:embed="rId2"/>
                <a:stretch>
                  <a:fillRect l="-1206" t="-236" r="-1568" b="-2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28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48988-E462-964B-8BD4-776BFB79C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Reachable states and invariants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5C8EB-1D1C-304E-86C5-55393B8F40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600201"/>
                <a:ext cx="10744200" cy="4525963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A state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r>
                  <a:rPr lang="en-US" dirty="0"/>
                  <a:t> is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reachable</a:t>
                </a:r>
                <a:r>
                  <a:rPr lang="en-US" b="1" dirty="0"/>
                  <a:t> </a:t>
                </a:r>
                <a:r>
                  <a:rPr lang="en-US" dirty="0"/>
                  <a:t>if there exists an execution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set of states reachable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by automaton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in at most K steps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set of states reachable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by automaton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/>
                  <a:t> (in any finite number of steps)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We write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dirty="0"/>
                  <a:t> if the initial state is clear from context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dirty="0"/>
                  <a:t> “Everything that </a:t>
                </a:r>
                <a:r>
                  <a:rPr lang="en-US" b="1" dirty="0"/>
                  <a:t>can </a:t>
                </a:r>
                <a:r>
                  <a:rPr lang="en-US" dirty="0"/>
                  <a:t>happen”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𝑅𝑒𝑎𝑐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US" i="1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𝒜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/>
                  <a:t> “Things that </a:t>
                </a:r>
                <a:r>
                  <a:rPr lang="en-US" b="1" dirty="0"/>
                  <a:t>never </a:t>
                </a:r>
                <a:r>
                  <a:rPr lang="en-US" dirty="0"/>
                  <a:t>happen”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5C8EB-1D1C-304E-86C5-55393B8F40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600201"/>
                <a:ext cx="10744200" cy="4525963"/>
              </a:xfrm>
              <a:blipFill>
                <a:blip r:embed="rId2"/>
                <a:stretch>
                  <a:fillRect l="-945" t="-560" r="-1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1644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4775"/>
            <a:ext cx="10515600" cy="1325563"/>
          </a:xfrm>
        </p:spPr>
        <p:txBody>
          <a:bodyPr/>
          <a:lstStyle/>
          <a:p>
            <a:r>
              <a:rPr lang="en-US" dirty="0"/>
              <a:t>Reachability as graph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41984" y="1477963"/>
                <a:ext cx="6858000" cy="522763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000" dirty="0"/>
                  <a:t>Q1. Given finite state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000" dirty="0"/>
                  <a:t>is a state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r>
                  <a:rPr lang="en-US" sz="2000" dirty="0"/>
                  <a:t> reachable?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Define a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𝑉𝑒𝑟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𝐸𝑑𝑔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2000" dirty="0"/>
                  <a:t> where </a:t>
                </a:r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𝑉𝑒𝑟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</m:oMath>
                </a14:m>
                <a:endParaRPr lang="en-US" sz="1800" b="0" dirty="0"/>
              </a:p>
              <a:p>
                <a:pPr lvl="1"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𝐸𝑑𝑔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∃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Q2. Does there exist a path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000" dirty="0"/>
                  <a:t> from any state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?</m:t>
                    </m:r>
                  </m:oMath>
                </a14:m>
                <a:endParaRPr lang="en-US" sz="2000" dirty="0"/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Perform DFS/BFS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This called </a:t>
                </a:r>
                <a:r>
                  <a:rPr lang="en-US" sz="2000" b="1" dirty="0"/>
                  <a:t>explicit state model checking </a:t>
                </a:r>
                <a:r>
                  <a:rPr lang="en-US" sz="2000" dirty="0"/>
                  <a:t>because each individual state is stored in memory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2000" dirty="0"/>
                  <a:t>Works only for finite state automata and does not scale to very large state spaces</a:t>
                </a:r>
                <a:endParaRPr lang="en-US" sz="1800" dirty="0"/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1984" y="1477963"/>
                <a:ext cx="6858000" cy="5227637"/>
              </a:xfrm>
              <a:blipFill>
                <a:blip r:embed="rId3"/>
                <a:stretch>
                  <a:fillRect l="-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881C91D-575B-7C77-BDAC-F51E1AE549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818" r="11818"/>
          <a:stretch/>
        </p:blipFill>
        <p:spPr>
          <a:xfrm>
            <a:off x="7158644" y="1430338"/>
            <a:ext cx="5033356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5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620DA-D887-914C-8A2C-594467E7C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Perspectives on scalability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7618C-A588-7F4F-BCBB-74D0627D4B0B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05000" y="2394890"/>
            <a:ext cx="1968946" cy="20682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5BFA50-A7C4-454E-94DA-E5D7D3E12F82}"/>
              </a:ext>
            </a:extLst>
          </p:cNvPr>
          <p:cNvSpPr txBox="1"/>
          <p:nvPr/>
        </p:nvSpPr>
        <p:spPr>
          <a:xfrm>
            <a:off x="2006816" y="4463110"/>
            <a:ext cx="1422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scientist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61DDB4-DB46-2040-8C9F-46A4D08DA7A8}"/>
              </a:ext>
            </a:extLst>
          </p:cNvPr>
          <p:cNvSpPr txBox="1"/>
          <p:nvPr/>
        </p:nvSpPr>
        <p:spPr>
          <a:xfrm>
            <a:off x="2159769" y="2690336"/>
            <a:ext cx="97723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Solution does not scale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52989CA-692C-C84D-A98E-FAB90F71606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3561" y="2397382"/>
            <a:ext cx="1968946" cy="20682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01CD5B1-F938-514F-8265-4C41DC0ECE94}"/>
              </a:ext>
            </a:extLst>
          </p:cNvPr>
          <p:cNvSpPr txBox="1"/>
          <p:nvPr/>
        </p:nvSpPr>
        <p:spPr>
          <a:xfrm>
            <a:off x="5525377" y="4465602"/>
            <a:ext cx="1310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algorithmist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2B509-CE30-BC41-AD69-B399CC14D87B}"/>
              </a:ext>
            </a:extLst>
          </p:cNvPr>
          <p:cNvSpPr txBox="1"/>
          <p:nvPr/>
        </p:nvSpPr>
        <p:spPr>
          <a:xfrm>
            <a:off x="5817369" y="2692828"/>
            <a:ext cx="83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is perfect!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3FFF88-B635-2C47-89BD-DEC16F42F29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3938" y="2386869"/>
            <a:ext cx="1968946" cy="20682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BCE2ABD-D139-E147-B17B-964E8CB0177E}"/>
              </a:ext>
            </a:extLst>
          </p:cNvPr>
          <p:cNvSpPr txBox="1"/>
          <p:nvPr/>
        </p:nvSpPr>
        <p:spPr>
          <a:xfrm>
            <a:off x="9145754" y="4455089"/>
            <a:ext cx="2121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verification engineer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56758-372A-8A4B-B353-285EF0459310}"/>
              </a:ext>
            </a:extLst>
          </p:cNvPr>
          <p:cNvSpPr txBox="1"/>
          <p:nvPr/>
        </p:nvSpPr>
        <p:spPr>
          <a:xfrm>
            <a:off x="9157914" y="2682315"/>
            <a:ext cx="1118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Yay, decidable!</a:t>
            </a:r>
          </a:p>
        </p:txBody>
      </p:sp>
      <p:sp>
        <p:nvSpPr>
          <p:cNvPr id="14" name="Can 13">
            <a:extLst>
              <a:ext uri="{FF2B5EF4-FFF2-40B4-BE49-F238E27FC236}">
                <a16:creationId xmlns:a16="http://schemas.microsoft.com/office/drawing/2014/main" id="{7AE06F9A-36ED-FD42-B872-B8019D534C80}"/>
              </a:ext>
            </a:extLst>
          </p:cNvPr>
          <p:cNvSpPr/>
          <p:nvPr/>
        </p:nvSpPr>
        <p:spPr>
          <a:xfrm>
            <a:off x="1518196" y="3570355"/>
            <a:ext cx="977239" cy="734879"/>
          </a:xfrm>
          <a:prstGeom prst="can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O(n)</a:t>
            </a:r>
          </a:p>
        </p:txBody>
      </p:sp>
      <p:sp>
        <p:nvSpPr>
          <p:cNvPr id="15" name="Can 14">
            <a:extLst>
              <a:ext uri="{FF2B5EF4-FFF2-40B4-BE49-F238E27FC236}">
                <a16:creationId xmlns:a16="http://schemas.microsoft.com/office/drawing/2014/main" id="{B0AFF10E-6DFA-1D40-9FDE-A1AA477A2CB8}"/>
              </a:ext>
            </a:extLst>
          </p:cNvPr>
          <p:cNvSpPr/>
          <p:nvPr/>
        </p:nvSpPr>
        <p:spPr>
          <a:xfrm>
            <a:off x="4993083" y="3606450"/>
            <a:ext cx="977239" cy="734879"/>
          </a:xfrm>
          <a:prstGeom prst="can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O(n)</a:t>
            </a:r>
          </a:p>
        </p:txBody>
      </p:sp>
      <p:sp>
        <p:nvSpPr>
          <p:cNvPr id="16" name="Can 15">
            <a:extLst>
              <a:ext uri="{FF2B5EF4-FFF2-40B4-BE49-F238E27FC236}">
                <a16:creationId xmlns:a16="http://schemas.microsoft.com/office/drawing/2014/main" id="{0DDA2C68-652B-B74D-897B-3A75F4783628}"/>
              </a:ext>
            </a:extLst>
          </p:cNvPr>
          <p:cNvSpPr/>
          <p:nvPr/>
        </p:nvSpPr>
        <p:spPr>
          <a:xfrm>
            <a:off x="8708936" y="3606449"/>
            <a:ext cx="977239" cy="734879"/>
          </a:xfrm>
          <a:prstGeom prst="can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O(2</a:t>
            </a:r>
            <a:r>
              <a:rPr lang="en-US" sz="1600" baseline="30000" dirty="0"/>
              <a:t>n</a:t>
            </a:r>
            <a:r>
              <a:rPr lang="en-US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69613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5" grpId="0" animBg="1"/>
      <p:bldP spid="1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5126"/>
            <a:ext cx="11616266" cy="769408"/>
          </a:xfrm>
        </p:spPr>
        <p:txBody>
          <a:bodyPr>
            <a:normAutofit fontScale="90000"/>
          </a:bodyPr>
          <a:lstStyle/>
          <a:p>
            <a:r>
              <a:rPr lang="en-US" dirty="0"/>
              <a:t>Sets of states are symbolic properties or </a:t>
            </a:r>
            <a:r>
              <a:rPr lang="en-US" b="1" dirty="0"/>
              <a:t>predicates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47133" y="1218140"/>
                <a:ext cx="11497733" cy="5274734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A set of states defines a </a:t>
                </a:r>
                <a:r>
                  <a:rPr lang="en-US" sz="2000" b="1" dirty="0">
                    <a:solidFill>
                      <a:srgbClr val="0070C0"/>
                    </a:solidFill>
                    <a:latin typeface="+mj-lt"/>
                  </a:rPr>
                  <a:t>property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or a </a:t>
                </a:r>
                <a:r>
                  <a:rPr lang="en-US" sz="2000" b="1" dirty="0">
                    <a:solidFill>
                      <a:srgbClr val="0070C0"/>
                    </a:solidFill>
                    <a:latin typeface="+mj-lt"/>
                  </a:rPr>
                  <a:t>predicate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and vice versa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latin typeface="+mj-lt"/>
                  </a:rPr>
                  <a:t>For example: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↦5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⟨"/>
                        <m:endChr m:val="⟩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↦6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defines the predicate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A </a:t>
                </a:r>
                <a:r>
                  <a:rPr lang="en-US" sz="2000" b="1" i="1" dirty="0">
                    <a:solidFill>
                      <a:srgbClr val="0070C0"/>
                    </a:solidFill>
                    <a:latin typeface="+mj-lt"/>
                  </a:rPr>
                  <a:t>predicate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over a set of variable X is a Boolean-valued formula involving the variables in X.</a:t>
                </a: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b="0" i="1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A valuation 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u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b="1" dirty="0">
                    <a:solidFill>
                      <a:srgbClr val="0070C0"/>
                    </a:solidFill>
                    <a:latin typeface="+mj-lt"/>
                  </a:rPr>
                  <a:t>satisfies a predicate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if substituting the values of the variables in 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u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makes it evaluate to 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True.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We this as write </a:t>
                </a:r>
                <a:r>
                  <a:rPr lang="en-US" sz="2000" b="1" dirty="0">
                    <a:solidFill>
                      <a:srgbClr val="0070C0"/>
                    </a:solidFill>
                    <a:latin typeface="+mj-lt"/>
                  </a:rPr>
                  <a:t>u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Examples: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↦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0↦0, 1↦0, … 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dirty="0">
                    <a:latin typeface="+mj-lt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〈"/>
                        <m:endChr m:val="〉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↦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0↦</m:t>
                            </m:r>
                            <m:r>
                              <a:rPr lang="en-US" sz="20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1↦0, 2↦0, …</m:t>
                            </m:r>
                          </m:e>
                        </m:d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⊭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and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⊭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𝝓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sz="2000" b="1" dirty="0">
                  <a:solidFill>
                    <a:schemeClr val="tx1"/>
                  </a:solidFill>
                  <a:latin typeface="+mj-lt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We will find it convenient to represent state sets (e.g.,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  <a:ea typeface="Cambria Math" panose="02040503050406030204" pitchFamily="18" charset="0"/>
                  </a:rPr>
                  <a:t>by predicates 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𝝓</m:t>
                            </m:r>
                          </m:e>
                        </m:d>
                      </m:e>
                    </m:d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|"/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</a:rPr>
                          <m:t>𝒖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</a:rPr>
                          <m:t>: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</a:rPr>
                          <m:t>Val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</a:rPr>
                          <m:t>(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</a:rPr>
                          <m:t>V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solidFill>
                              <a:schemeClr val="tx1"/>
                            </a:solidFill>
                          </a:rPr>
                          <m:t>)</m:t>
                        </m:r>
                        <m:r>
                          <a:rPr lang="en-US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𝒖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set of all states that satisfy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𝝓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〈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↦</m:t>
                    </m:r>
                    <m:d>
                      <m:dPr>
                        <m:begChr m:val="〈"/>
                        <m:endChr m:val="〉"/>
                        <m:ctrlP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0↦0, 1↦0, 2↦0, 3↦0, 4↦0, 5↦0 </m:t>
                        </m:r>
                      </m:e>
                    </m:d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〉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+mj-lt"/>
                </a:endParaRPr>
              </a:p>
              <a:p>
                <a:pPr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 is the set of initial states of the automaton; </a:t>
                </a:r>
                <a:r>
                  <a:rPr lang="en-US" sz="2000" dirty="0">
                    <a:latin typeface="+mj-lt"/>
                  </a:rPr>
                  <a:t> o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ften specified by a </a:t>
                </a:r>
                <a:r>
                  <a:rPr lang="en-US" sz="2000" b="1" dirty="0">
                    <a:solidFill>
                      <a:schemeClr val="tx1"/>
                    </a:solidFill>
                    <a:latin typeface="+mj-lt"/>
                  </a:rPr>
                  <a:t>predicate </a:t>
                </a:r>
                <a:r>
                  <a:rPr lang="en-US" sz="2000" dirty="0">
                    <a:solidFill>
                      <a:schemeClr val="tx1"/>
                    </a:solidFill>
                    <a:latin typeface="+mj-lt"/>
                  </a:rPr>
                  <a:t>over X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133" y="1218140"/>
                <a:ext cx="11497733" cy="5274734"/>
              </a:xfrm>
              <a:blipFill>
                <a:blip r:embed="rId2"/>
                <a:stretch>
                  <a:fillRect l="-552" t="-721" b="-69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5323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4D9BE3-D080-D7B9-9DE6-53699B247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Invariance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DFD01-D57C-FBC3-429F-4A46112908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An </a:t>
                </a:r>
                <a:r>
                  <a:rPr lang="en-US" b="1" i="1" dirty="0">
                    <a:solidFill>
                      <a:srgbClr val="0070C0"/>
                    </a:solidFill>
                  </a:rPr>
                  <a:t>invariant</a:t>
                </a:r>
                <a:r>
                  <a:rPr lang="en-US" b="1" dirty="0"/>
                  <a:t> </a:t>
                </a:r>
                <a:r>
                  <a:rPr lang="en-US" dirty="0"/>
                  <a:t>is a set of states (or a property)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, i.e., a property that </a:t>
                </a:r>
                <a:r>
                  <a:rPr lang="en-US" b="1" dirty="0"/>
                  <a:t>always holds</a:t>
                </a:r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Invariants capture conservation laws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0CDFD01-D57C-FBC3-429F-4A46112908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40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B0EB57-4041-F549-90AD-A17251693A14}"/>
                  </a:ext>
                </a:extLst>
              </p:cNvPr>
              <p:cNvSpPr/>
              <p:nvPr/>
            </p:nvSpPr>
            <p:spPr>
              <a:xfrm>
                <a:off x="8054853" y="1661966"/>
                <a:ext cx="3864864" cy="4179760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val(X): All states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2B0EB57-4041-F549-90AD-A17251693A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4853" y="1661966"/>
                <a:ext cx="3864864" cy="417976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363" name="Content Placeholder 3"/>
              <p:cNvSpPr>
                <a:spLocks noGrp="1"/>
              </p:cNvSpPr>
              <p:nvPr>
                <p:ph idx="1"/>
              </p:nvPr>
            </p:nvSpPr>
            <p:spPr>
              <a:xfrm>
                <a:off x="272283" y="702793"/>
                <a:ext cx="10540860" cy="412459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All executions of </a:t>
                </a:r>
                <a:r>
                  <a:rPr lang="en-US" sz="2400" dirty="0" err="1"/>
                  <a:t>Collatz</a:t>
                </a:r>
                <a:r>
                  <a:rPr lang="en-US" sz="2400" dirty="0"/>
                  <a:t>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∈[1,200]</m:t>
                    </m:r>
                  </m:oMath>
                </a14:m>
                <a:r>
                  <a:rPr lang="en-US" sz="2400" dirty="0"/>
                  <a:t> stays inside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≤10,000 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“Exactly one process has a token”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|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h𝑎𝑠𝑇𝑜𝑘𝑒𝑛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≥1</m:t>
                    </m:r>
                  </m:oMath>
                </a14:m>
                <a:endParaRPr lang="en-US" sz="24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2400" b="0" i="1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“At least one process has a token”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≥1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{"/>
                              <m:endChr m:val="|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</m:d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h𝑎𝑠𝑇𝑜𝑘𝑒𝑛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}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24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2800" b="0" i="1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“All processes have values at most  K-1”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400" dirty="0">
                  <a:latin typeface="+mj-lt"/>
                </a:endParaRPr>
              </a:p>
              <a:p>
                <a:pPr marL="0" indent="0">
                  <a:buNone/>
                </a:pPr>
                <a:endParaRPr lang="en-US" sz="2400" dirty="0">
                  <a:latin typeface="+mj-lt"/>
                </a:endParaRP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“Car always stops at stop sign”</a:t>
                </a:r>
              </a:p>
              <a:p>
                <a:pPr marL="0" indent="0">
                  <a:buNone/>
                </a:pPr>
                <a:r>
                  <a:rPr lang="en-US" sz="2400" dirty="0">
                    <a:latin typeface="+mj-lt"/>
                  </a:rPr>
                  <a:t>“Drone does not deviate more that 5m from ref path”</a:t>
                </a:r>
              </a:p>
              <a:p>
                <a:pPr marL="0" indent="0">
                  <a:buNone/>
                </a:pPr>
                <a:endParaRPr lang="en-US" sz="2400" dirty="0">
                  <a:latin typeface="+mj-lt"/>
                </a:endParaRPr>
              </a:p>
            </p:txBody>
          </p:sp>
        </mc:Choice>
        <mc:Fallback>
          <p:sp>
            <p:nvSpPr>
              <p:cNvPr id="15363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2283" y="702793"/>
                <a:ext cx="10540860" cy="4124599"/>
              </a:xfrm>
              <a:blipFill>
                <a:blip r:embed="rId4"/>
                <a:stretch>
                  <a:fillRect l="-963" t="-2147" b="-44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41D3715A-59A6-FB40-B0E7-1051C01D89C9}"/>
                  </a:ext>
                </a:extLst>
              </p:cNvPr>
              <p:cNvSpPr/>
              <p:nvPr/>
            </p:nvSpPr>
            <p:spPr>
              <a:xfrm>
                <a:off x="8232824" y="2828217"/>
                <a:ext cx="3508922" cy="280678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0" dirty="0"/>
                  <a:t>Invariant 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algn="ctr"/>
                <a:endParaRPr lang="en-US" sz="2400" dirty="0"/>
              </a:p>
              <a:p>
                <a:pPr algn="ctr"/>
                <a:endParaRPr lang="en-US" sz="2400" dirty="0"/>
              </a:p>
              <a:p>
                <a:pPr algn="ctr"/>
                <a:endParaRPr lang="en-US" sz="2400" dirty="0"/>
              </a:p>
              <a:p>
                <a:pPr algn="ctr"/>
                <a:endParaRPr lang="en-US" sz="2400" dirty="0"/>
              </a:p>
            </p:txBody>
          </p:sp>
        </mc:Choice>
        <mc:Fallback xmlns=""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41D3715A-59A6-FB40-B0E7-1051C01D89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2824" y="2828217"/>
                <a:ext cx="3508922" cy="2806788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65923C4-F7A6-EF45-B37D-E1317E0477F3}"/>
                  </a:ext>
                </a:extLst>
              </p:cNvPr>
              <p:cNvSpPr/>
              <p:nvPr/>
            </p:nvSpPr>
            <p:spPr>
              <a:xfrm>
                <a:off x="8472092" y="3719461"/>
                <a:ext cx="3030386" cy="1476573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𝑅𝑒𝑎𝑐h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:endParaRPr lang="en-US" sz="24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65923C4-F7A6-EF45-B37D-E1317E0477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2092" y="3719461"/>
                <a:ext cx="3030386" cy="147657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180DBC7-5ECA-B140-AABA-39584D6D7284}"/>
                  </a:ext>
                </a:extLst>
              </p:cNvPr>
              <p:cNvSpPr/>
              <p:nvPr/>
            </p:nvSpPr>
            <p:spPr>
              <a:xfrm>
                <a:off x="9031194" y="4613651"/>
                <a:ext cx="1082070" cy="415549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𝚯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0180DBC7-5ECA-B140-AABA-39584D6D728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1194" y="4613651"/>
                <a:ext cx="1082070" cy="415549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-7883"/>
            <a:ext cx="10972800" cy="912484"/>
          </a:xfrm>
        </p:spPr>
        <p:txBody>
          <a:bodyPr/>
          <a:lstStyle/>
          <a:p>
            <a:pPr eaLnBrk="1" hangingPunct="1"/>
            <a:r>
              <a:rPr lang="en-US" sz="3600" dirty="0"/>
              <a:t>Invariants</a:t>
            </a:r>
          </a:p>
        </p:txBody>
      </p:sp>
    </p:spTree>
    <p:extLst>
      <p:ext uri="{BB962C8B-B14F-4D97-AF65-F5344CB8AC3E}">
        <p14:creationId xmlns:p14="http://schemas.microsoft.com/office/powerpoint/2010/main" val="4075927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invariants by induction (Chapter 7)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A6352-FDCE-A345-A6E7-0FD07B8E9A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90600" y="4343400"/>
                <a:ext cx="10515600" cy="1831974"/>
              </a:xfr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latin typeface="+mj-lt"/>
                  </a:rPr>
                  <a:t>Theorem 7.1.</a:t>
                </a:r>
                <a:r>
                  <a:rPr lang="en-US" dirty="0">
                    <a:latin typeface="+mj-lt"/>
                  </a:rPr>
                  <a:t> Given an automaton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>
                    <a:latin typeface="+mj-lt"/>
                  </a:rPr>
                  <a:t> and a set of states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val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if: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+mj-lt"/>
                  </a:rPr>
                  <a:t>(Start condition) for any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, and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+mj-lt"/>
                  </a:rPr>
                  <a:t>(Transition closure) for any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latin typeface="+mj-lt"/>
                  </a:rPr>
                  <a:t>’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 is an (inductive) invariant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>
                    <a:latin typeface="+mj-lt"/>
                  </a:rPr>
                  <a:t>. That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A6352-FDCE-A345-A6E7-0FD07B8E9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4343400"/>
                <a:ext cx="10515600" cy="1831974"/>
              </a:xfrm>
              <a:blipFill>
                <a:blip r:embed="rId2"/>
                <a:stretch>
                  <a:fillRect l="-724" t="-2759" b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E8771A8-E8B1-2288-0E0B-B4B5519C1A7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4400" y="1600201"/>
                <a:ext cx="10668000" cy="27431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70000" lnSpcReduction="20000"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3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Given an automaton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>
                    <a:latin typeface="+mj-lt"/>
                  </a:rPr>
                  <a:t> and a candidate invariant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𝑉𝑎𝑙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we want to check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r>
                  <a:rPr lang="en-US" dirty="0"/>
                  <a:t>One approach for finite automata: Perform BFS (as in reachability analysis) and check if any state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/>
                  <a:t> is reached</a:t>
                </a:r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r>
                  <a:rPr lang="en-US" dirty="0"/>
                  <a:t>This may not scale. Alternatively: </a:t>
                </a:r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Font typeface="Arial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4E8771A8-E8B1-2288-0E0B-B4B5519C1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600201"/>
                <a:ext cx="10668000" cy="2743199"/>
              </a:xfrm>
              <a:prstGeom prst="rect">
                <a:avLst/>
              </a:prstGeom>
              <a:blipFill>
                <a:blip r:embed="rId3"/>
                <a:stretch>
                  <a:fillRect l="-832" t="-1843" b="-2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8517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invariants by induction (Chapter 7)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A6352-FDCE-A345-A6E7-0FD07B8E9A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428999"/>
                <a:ext cx="10515600" cy="306387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latin typeface="+mj-lt"/>
                  </a:rPr>
                  <a:t>Proof. </a:t>
                </a:r>
                <a:r>
                  <a:rPr lang="en-US" dirty="0">
                    <a:latin typeface="+mj-lt"/>
                  </a:rPr>
                  <a:t>Consider any reachable state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latin typeface="+mj-lt"/>
                  </a:rPr>
                  <a:t>.  By the definition of a reachable state, there exists an execution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latin typeface="+mj-lt"/>
                  </a:rPr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We proceed by induction on the length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For the base case,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consists of a single starting state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</a:rPr>
                  <a:t>, and by the Start condition,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For the inductive step,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dirty="0">
                    <a:latin typeface="+mj-lt"/>
                  </a:rPr>
                  <a:t> where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>
                    <a:latin typeface="+mj-lt"/>
                  </a:rPr>
                  <a:t>. By the induction hypothesis, we know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Invoking Transition closure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𝑙𝑠𝑡𝑎𝑡𝑒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we obtain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>
                    <a:latin typeface="+mj-lt"/>
                  </a:rPr>
                  <a:t>	QED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8A6352-FDCE-A345-A6E7-0FD07B8E9A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428999"/>
                <a:ext cx="10515600" cy="3063875"/>
              </a:xfrm>
              <a:blipFill>
                <a:blip r:embed="rId2"/>
                <a:stretch>
                  <a:fillRect l="-603" t="-8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238FEE1-78F8-C04C-959C-E1282FC471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462371"/>
                <a:ext cx="10515600" cy="183197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b="1" dirty="0">
                    <a:latin typeface="+mj-lt"/>
                  </a:rPr>
                  <a:t>Theorem 7.1.</a:t>
                </a:r>
                <a:r>
                  <a:rPr lang="en-US" dirty="0">
                    <a:latin typeface="+mj-lt"/>
                  </a:rPr>
                  <a:t> Given a automaton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>
                    <a:latin typeface="+mj-lt"/>
                  </a:rPr>
                  <a:t> and a set of states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i="1" dirty="0" err="1">
                        <a:latin typeface="Cambria Math" panose="02040503050406030204" pitchFamily="18" charset="0"/>
                      </a:rPr>
                      <m:t>val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if: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+mj-lt"/>
                  </a:rPr>
                  <a:t>(Start condition) for any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, and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dirty="0">
                    <a:latin typeface="+mj-lt"/>
                  </a:rPr>
                  <a:t>(Transition closure) for any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dirty="0">
                    <a:latin typeface="+mj-lt"/>
                  </a:rPr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 is an (inductive) invariant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dirty="0">
                    <a:latin typeface="+mj-lt"/>
                  </a:rPr>
                  <a:t>. That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>
                    <a:latin typeface="+mj-lt"/>
                  </a:rPr>
                  <a:t>.</a:t>
                </a: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7238FEE1-78F8-C04C-959C-E1282FC471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462371"/>
                <a:ext cx="10515600" cy="1831974"/>
              </a:xfrm>
              <a:prstGeom prst="rect">
                <a:avLst/>
              </a:prstGeom>
              <a:blipFill>
                <a:blip r:embed="rId3"/>
                <a:stretch>
                  <a:fillRect l="-603" t="-2069" b="-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4803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EA22-7141-D04F-BF3E-5840C64D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5144"/>
            <a:ext cx="10515600" cy="868683"/>
          </a:xfrm>
        </p:spPr>
        <p:txBody>
          <a:bodyPr/>
          <a:lstStyle/>
          <a:p>
            <a:r>
              <a:rPr lang="en-US" dirty="0"/>
              <a:t>Proving invariants by induction for Dijkstra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26C4B-D7C6-FD43-A760-6045ED4E2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74319" y="2462939"/>
                <a:ext cx="8187510" cy="4184604"/>
              </a:xfrm>
            </p:spPr>
            <p:txBody>
              <a:bodyPr>
                <a:normAutofit fontScale="55000" lnSpcReduction="2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sz="3300" dirty="0"/>
                  <a:t>“Exactly one process has the token”.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3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3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3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33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e>
                    </m:acc>
                    <m:r>
                      <a:rPr lang="en-US" sz="3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30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300" i="1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̅"/>
                        <m:ctrlPr>
                          <a:rPr lang="en-US" sz="33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e>
                    </m:acc>
                    <m:r>
                      <a:rPr lang="en-US" sz="3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3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…</m:t>
                    </m:r>
                    <m:acc>
                      <m:accPr>
                        <m:chr m:val="̅"/>
                        <m:ctrlPr>
                          <a:rPr lang="en-US" sz="33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∨</m:t>
                        </m:r>
                      </m:e>
                    </m:acc>
                    <m:r>
                      <a:rPr lang="en-US" sz="3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sz="3300" dirty="0"/>
              </a:p>
              <a:p>
                <a:pPr marL="0" indent="0">
                  <a:buNone/>
                </a:pPr>
                <a:r>
                  <a:rPr lang="en-US" sz="3300" dirty="0"/>
                  <a:t>(Start condition): Fix a </a:t>
                </a:r>
                <a14:m>
                  <m:oMath xmlns:m="http://schemas.openxmlformats.org/officeDocument/2006/math">
                    <m:r>
                      <a:rPr lang="en-US" sz="33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300" i="1" dirty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3300" dirty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3300" b="0" i="0" dirty="0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sz="33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300" b="0" i="1" dirty="0" smtClean="0">
                        <a:latin typeface="Cambria Math" panose="02040503050406030204" pitchFamily="18" charset="0"/>
                      </a:rPr>
                      <m:t>⊨∀</m:t>
                    </m:r>
                    <m:r>
                      <a:rPr lang="en-US" sz="3300" b="0" i="1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3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3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300" b="0" i="1" dirty="0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300" b="0" i="1" dirty="0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33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33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300" dirty="0"/>
                  <a:t> therefore </a:t>
                </a:r>
                <a14:m>
                  <m:oMath xmlns:m="http://schemas.openxmlformats.org/officeDocument/2006/math">
                    <m:r>
                      <a:rPr lang="en-US" sz="33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300" b="0" i="1" dirty="0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33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33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3300" b="0" dirty="0"/>
              </a:p>
              <a:p>
                <a:pPr marL="0" indent="0">
                  <a:buNone/>
                </a:pPr>
                <a:r>
                  <a:rPr lang="en-US" sz="3300" dirty="0"/>
                  <a:t>(Transition closure): Fix a </a:t>
                </a:r>
                <a14:m>
                  <m:oMath xmlns:m="http://schemas.openxmlformats.org/officeDocument/2006/math">
                    <m:r>
                      <a:rPr lang="en-US" sz="3300" b="1" i="1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3300" i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33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300" b="1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3300" dirty="0"/>
                  <a:t> such that </a:t>
                </a:r>
                <a14:m>
                  <m:oMath xmlns:m="http://schemas.openxmlformats.org/officeDocument/2006/math">
                    <m:r>
                      <a:rPr lang="en-US" sz="33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3300" dirty="0"/>
                  <a:t>. </a:t>
                </a:r>
              </a:p>
              <a:p>
                <a:pPr marL="0" indent="0">
                  <a:buNone/>
                </a:pPr>
                <a:r>
                  <a:rPr lang="en-US" sz="3300" dirty="0"/>
                  <a:t>Two cases to consider. </a:t>
                </a:r>
              </a:p>
              <a:p>
                <a:pPr marL="0" indent="0">
                  <a:buNone/>
                </a:pPr>
                <a:r>
                  <a:rPr lang="en-US" sz="3300" dirty="0"/>
                  <a:t>1. If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𝑢𝑝𝑑𝑎𝑡𝑒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sz="3300" dirty="0"/>
                  <a:t> then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sz="2900" dirty="0"/>
                  <a:t>since </a:t>
                </a:r>
                <a14:m>
                  <m:oMath xmlns:m="http://schemas.openxmlformats.org/officeDocument/2006/math">
                    <m:r>
                      <a:rPr lang="en-US" sz="29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𝑃𝑟𝑒</m:t>
                    </m:r>
                    <m:d>
                      <m:dPr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𝑢𝑝𝑑𝑎𝑡𝑒</m:t>
                        </m:r>
                        <m:d>
                          <m:dPr>
                            <m:ctrlPr>
                              <a:rPr lang="en-US" sz="2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900" dirty="0"/>
                  <a:t> it follows that </a:t>
                </a:r>
                <a14:m>
                  <m:oMath xmlns:m="http://schemas.openxmlformats.org/officeDocument/2006/math">
                    <m:r>
                      <a:rPr lang="en-US" sz="29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9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sz="2900" b="1" dirty="0"/>
              </a:p>
              <a:p>
                <a:pPr marL="914400" lvl="1" indent="-457200">
                  <a:buFont typeface="+mj-lt"/>
                  <a:buAutoNum type="alphaLcParenR"/>
                </a:pPr>
                <a:r>
                  <a:rPr lang="en-US" sz="2900" dirty="0"/>
                  <a:t>since </a:t>
                </a:r>
                <a14:m>
                  <m:oMath xmlns:m="http://schemas.openxmlformats.org/officeDocument/2006/math">
                    <m:r>
                      <a:rPr lang="en-US" sz="29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900" b="1" i="1" dirty="0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9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900" b="0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9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900" dirty="0"/>
                  <a:t> it follows that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sz="29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endParaRPr lang="en-US" sz="2900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9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9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9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2900" b="1" i="1" smtClean="0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29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9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9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2900" b="1" dirty="0"/>
                  <a:t> 		</a:t>
                </a:r>
                <a:r>
                  <a:rPr lang="en-US" sz="2900" dirty="0"/>
                  <a:t>by applying (a) and </a:t>
                </a:r>
                <a14:m>
                  <m:oMath xmlns:m="http://schemas.openxmlformats.org/officeDocument/2006/math"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𝐸𝑓𝑓</m:t>
                    </m:r>
                    <m:d>
                      <m:dPr>
                        <m:ctrlPr>
                          <a:rPr lang="en-US" sz="2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𝑢𝑝𝑑𝑎𝑡𝑒</m:t>
                        </m:r>
                        <m:d>
                          <m:dPr>
                            <m:ctrlPr>
                              <a:rPr lang="en-US" sz="29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900" b="1" dirty="0"/>
                  <a:t> </a:t>
                </a:r>
                <a:r>
                  <a:rPr lang="en-US" sz="2900" dirty="0"/>
                  <a:t>to </a:t>
                </a:r>
                <a14:m>
                  <m:oMath xmlns:m="http://schemas.openxmlformats.org/officeDocument/2006/math">
                    <m:r>
                      <a:rPr lang="en-US" sz="29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900" b="1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9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sz="2900" b="1" i="1">
                        <a:latin typeface="Cambria Math" panose="02040503050406030204" pitchFamily="18" charset="0"/>
                      </a:rPr>
                      <m:t>≠</m:t>
                    </m:r>
                    <m:sSup>
                      <m:sSupPr>
                        <m:ctrlPr>
                          <a:rPr lang="en-US" sz="29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900" b="1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[0]</m:t>
                    </m:r>
                  </m:oMath>
                </a14:m>
                <a:r>
                  <a:rPr lang="en-US" sz="2900" b="1" dirty="0"/>
                  <a:t> 		</a:t>
                </a:r>
                <a:r>
                  <a:rPr lang="en-US" sz="2900" dirty="0"/>
                  <a:t>by applying (b)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𝐸𝑓𝑓</m:t>
                    </m:r>
                    <m:d>
                      <m:d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𝑢𝑝𝑑𝑎𝑡𝑒</m:t>
                        </m:r>
                        <m:d>
                          <m:d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900" b="1" dirty="0"/>
                  <a:t> </a:t>
                </a:r>
                <a:r>
                  <a:rPr lang="en-US" sz="2900" dirty="0"/>
                  <a:t>to </a:t>
                </a:r>
                <a14:m>
                  <m:oMath xmlns:m="http://schemas.openxmlformats.org/officeDocument/2006/math">
                    <m:r>
                      <a:rPr lang="en-US" sz="29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900" b="1" dirty="0"/>
              </a:p>
              <a:p>
                <a:pPr marL="914400" lvl="1" indent="-457200">
                  <a:buFont typeface="+mj-lt"/>
                  <a:buAutoNum type="alphaLcParenR"/>
                </a:pPr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&gt;1 </m:t>
                    </m:r>
                    <m:sSup>
                      <m:sSupPr>
                        <m:ctrlPr>
                          <a:rPr lang="en-US" sz="29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9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9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9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9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9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−1]</m:t>
                    </m:r>
                  </m:oMath>
                </a14:m>
                <a:r>
                  <a:rPr lang="en-US" sz="2900" dirty="0"/>
                  <a:t>	by applying (b) </a:t>
                </a:r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𝐸𝑓𝑓</m:t>
                    </m:r>
                    <m:d>
                      <m:d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𝑢𝑝𝑑𝑎𝑡𝑒</m:t>
                        </m:r>
                        <m:d>
                          <m:dPr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900" b="1" dirty="0"/>
                  <a:t> </a:t>
                </a:r>
                <a:r>
                  <a:rPr lang="en-US" sz="2900" dirty="0"/>
                  <a:t>to </a:t>
                </a:r>
                <a14:m>
                  <m:oMath xmlns:m="http://schemas.openxmlformats.org/officeDocument/2006/math">
                    <m:r>
                      <a:rPr lang="en-US" sz="2900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900" b="1" dirty="0"/>
              </a:p>
              <a:p>
                <a:pPr marL="457200" lvl="1" indent="0">
                  <a:buNone/>
                </a:pPr>
                <a:r>
                  <a:rPr lang="en-US" sz="2900" dirty="0"/>
                  <a:t>Therefore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9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9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900" b="1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2900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9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900" dirty="0"/>
              </a:p>
              <a:p>
                <a:pPr marL="0" indent="0">
                  <a:buNone/>
                </a:pPr>
                <a:r>
                  <a:rPr lang="en-US" sz="3300" dirty="0"/>
                  <a:t>2. If </a:t>
                </a:r>
                <a14:m>
                  <m:oMath xmlns:m="http://schemas.openxmlformats.org/officeDocument/2006/math">
                    <m:r>
                      <a:rPr lang="en-US" sz="33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300" i="1">
                        <a:latin typeface="Cambria Math" panose="02040503050406030204" pitchFamily="18" charset="0"/>
                      </a:rPr>
                      <m:t>𝑢𝑝𝑑𝑎𝑡𝑒</m:t>
                    </m:r>
                    <m:d>
                      <m:dPr>
                        <m:ctrlPr>
                          <a:rPr lang="en-US" sz="33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3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sz="33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3300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a:rPr lang="en-US" sz="3300" b="0" i="0" smtClean="0">
                        <a:latin typeface="Cambria Math" panose="02040503050406030204" pitchFamily="18" charset="0"/>
                      </a:rPr>
                      <m:t>&gt;0 </m:t>
                    </m:r>
                  </m:oMath>
                </a14:m>
                <a:r>
                  <a:rPr lang="en-US" sz="3300" dirty="0"/>
                  <a:t>then fix arbitrary </a:t>
                </a:r>
                <a14:m>
                  <m:oMath xmlns:m="http://schemas.openxmlformats.org/officeDocument/2006/math"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33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3300" dirty="0"/>
                  <a:t> … (do it as an exercise) </a:t>
                </a:r>
              </a:p>
              <a:p>
                <a:pPr marL="914400" lvl="1" indent="-457200">
                  <a:buFont typeface="+mj-lt"/>
                  <a:buAutoNum type="alphaLcParenR"/>
                </a:pPr>
                <a:endParaRPr lang="en-US" dirty="0"/>
              </a:p>
              <a:p>
                <a:pPr marL="914400" lvl="1" indent="-457200">
                  <a:buFont typeface="+mj-lt"/>
                  <a:buAutoNum type="alphaLcParenR"/>
                </a:pPr>
                <a:endParaRPr lang="en-US" b="1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226C4B-D7C6-FD43-A760-6045ED4E2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4319" y="2462939"/>
                <a:ext cx="8187510" cy="4184604"/>
              </a:xfrm>
              <a:blipFill>
                <a:blip r:embed="rId2"/>
                <a:stretch>
                  <a:fillRect l="-619" t="-2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1763042-1426-EF4A-A930-DB43AD7F99DB}"/>
              </a:ext>
            </a:extLst>
          </p:cNvPr>
          <p:cNvSpPr txBox="1"/>
          <p:nvPr/>
        </p:nvSpPr>
        <p:spPr>
          <a:xfrm>
            <a:off x="7872362" y="753539"/>
            <a:ext cx="4280013" cy="3539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/>
              <a:t>automaton</a:t>
            </a:r>
            <a:r>
              <a:rPr lang="en-US" sz="1600" dirty="0"/>
              <a:t> </a:t>
            </a:r>
            <a:r>
              <a:rPr lang="en-US" sz="1600" dirty="0" err="1">
                <a:solidFill>
                  <a:srgbClr val="0119FF"/>
                </a:solidFill>
              </a:rPr>
              <a:t>DijkstraTR</a:t>
            </a:r>
            <a:r>
              <a:rPr lang="en-US" sz="1600" dirty="0"/>
              <a:t>(</a:t>
            </a:r>
            <a:r>
              <a:rPr lang="en-US" sz="1600" dirty="0" err="1"/>
              <a:t>N:</a:t>
            </a:r>
            <a:r>
              <a:rPr lang="en-US" sz="1600" dirty="0" err="1">
                <a:solidFill>
                  <a:srgbClr val="00B050"/>
                </a:solidFill>
              </a:rPr>
              <a:t>Nat</a:t>
            </a:r>
            <a:r>
              <a:rPr lang="en-US" sz="1600" dirty="0"/>
              <a:t>, </a:t>
            </a:r>
            <a:r>
              <a:rPr lang="en-US" sz="1600" dirty="0" err="1"/>
              <a:t>K:</a:t>
            </a:r>
            <a:r>
              <a:rPr lang="en-US" sz="1600" dirty="0" err="1">
                <a:solidFill>
                  <a:srgbClr val="00B050"/>
                </a:solidFill>
              </a:rPr>
              <a:t>Nat</a:t>
            </a:r>
            <a:r>
              <a:rPr lang="en-US" sz="1600" dirty="0"/>
              <a:t>), K &gt; N</a:t>
            </a:r>
          </a:p>
          <a:p>
            <a:r>
              <a:rPr lang="en-US" sz="1600" b="1" dirty="0"/>
              <a:t>actions</a:t>
            </a:r>
          </a:p>
          <a:p>
            <a:r>
              <a:rPr lang="en-US" sz="1600" dirty="0"/>
              <a:t>      </a:t>
            </a:r>
            <a:r>
              <a:rPr lang="en-US" sz="1600" dirty="0">
                <a:solidFill>
                  <a:srgbClr val="0119FF"/>
                </a:solidFill>
              </a:rPr>
              <a:t>update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:[N])</a:t>
            </a:r>
          </a:p>
          <a:p>
            <a:r>
              <a:rPr lang="en-US" sz="1600" dirty="0"/>
              <a:t>  </a:t>
            </a:r>
            <a:r>
              <a:rPr lang="en-US" sz="1600" b="1" dirty="0"/>
              <a:t>variables</a:t>
            </a:r>
          </a:p>
          <a:p>
            <a:r>
              <a:rPr lang="en-US" sz="1600" dirty="0"/>
              <a:t>      </a:t>
            </a:r>
            <a:r>
              <a:rPr lang="en-US" sz="1600" dirty="0">
                <a:solidFill>
                  <a:srgbClr val="0119FF"/>
                </a:solidFill>
              </a:rPr>
              <a:t>x</a:t>
            </a:r>
            <a:r>
              <a:rPr lang="en-US" sz="1600" dirty="0"/>
              <a:t>:[[N] -&gt; [K]] </a:t>
            </a:r>
            <a:r>
              <a:rPr lang="en-US" sz="1600" b="1" dirty="0">
                <a:solidFill>
                  <a:srgbClr val="C00000"/>
                </a:solidFill>
              </a:rPr>
              <a:t>initially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b="1" dirty="0" err="1">
                <a:solidFill>
                  <a:srgbClr val="C00000"/>
                </a:solidFill>
              </a:rPr>
              <a:t>forall</a:t>
            </a:r>
            <a:r>
              <a:rPr lang="en-US" sz="1600" dirty="0">
                <a:solidFill>
                  <a:srgbClr val="C00000"/>
                </a:solidFill>
              </a:rPr>
              <a:t> </a:t>
            </a:r>
            <a:r>
              <a:rPr lang="en-US" sz="1600" dirty="0" err="1">
                <a:solidFill>
                  <a:srgbClr val="C00000"/>
                </a:solidFill>
              </a:rPr>
              <a:t>i:ID</a:t>
            </a:r>
            <a:r>
              <a:rPr lang="en-US" sz="1600" dirty="0">
                <a:solidFill>
                  <a:srgbClr val="C00000"/>
                </a:solidFill>
              </a:rPr>
              <a:t> x[</a:t>
            </a:r>
            <a:r>
              <a:rPr lang="en-US" sz="1600" dirty="0" err="1">
                <a:solidFill>
                  <a:srgbClr val="C00000"/>
                </a:solidFill>
              </a:rPr>
              <a:t>i</a:t>
            </a:r>
            <a:r>
              <a:rPr lang="en-US" sz="1600" dirty="0">
                <a:solidFill>
                  <a:srgbClr val="C00000"/>
                </a:solidFill>
              </a:rPr>
              <a:t>] = 0</a:t>
            </a:r>
          </a:p>
          <a:p>
            <a:r>
              <a:rPr lang="en-US" sz="1600" dirty="0"/>
              <a:t>   </a:t>
            </a:r>
            <a:r>
              <a:rPr lang="en-US" sz="1600" b="1" dirty="0"/>
              <a:t>transitions</a:t>
            </a:r>
          </a:p>
          <a:p>
            <a:r>
              <a:rPr lang="en-US" sz="1600" dirty="0"/>
              <a:t>      </a:t>
            </a:r>
            <a:r>
              <a:rPr lang="en-US" sz="1600" dirty="0">
                <a:solidFill>
                  <a:srgbClr val="0119FF"/>
                </a:solidFill>
              </a:rPr>
              <a:t>update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=0) 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pre</a:t>
            </a:r>
            <a:r>
              <a:rPr lang="en-US" sz="1600" dirty="0"/>
              <a:t> x[</a:t>
            </a:r>
            <a:r>
              <a:rPr lang="en-US" sz="1600" dirty="0" err="1"/>
              <a:t>i</a:t>
            </a:r>
            <a:r>
              <a:rPr lang="en-US" sz="1600" dirty="0"/>
              <a:t>] = x[(N-1)]</a:t>
            </a:r>
          </a:p>
          <a:p>
            <a:r>
              <a:rPr lang="en-US" sz="1600" dirty="0"/>
              <a:t>        </a:t>
            </a:r>
            <a:r>
              <a:rPr lang="en-US" sz="1600" b="1" dirty="0"/>
              <a:t>eff</a:t>
            </a:r>
            <a:r>
              <a:rPr lang="en-US" sz="1600" dirty="0"/>
              <a:t> x[</a:t>
            </a:r>
            <a:r>
              <a:rPr lang="en-US" sz="1600" dirty="0" err="1"/>
              <a:t>i</a:t>
            </a:r>
            <a:r>
              <a:rPr lang="en-US" sz="1600" dirty="0"/>
              <a:t>] := (x[</a:t>
            </a:r>
            <a:r>
              <a:rPr lang="en-US" sz="1600" dirty="0" err="1"/>
              <a:t>i</a:t>
            </a:r>
            <a:r>
              <a:rPr lang="en-US" sz="1600" dirty="0"/>
              <a:t>] + 1) %  K</a:t>
            </a:r>
          </a:p>
          <a:p>
            <a:r>
              <a:rPr lang="en-US" sz="1600" dirty="0"/>
              <a:t>   </a:t>
            </a:r>
          </a:p>
          <a:p>
            <a:r>
              <a:rPr lang="en-US" sz="1600" dirty="0"/>
              <a:t>       </a:t>
            </a:r>
            <a:r>
              <a:rPr lang="en-US" sz="1600" dirty="0">
                <a:solidFill>
                  <a:srgbClr val="0119FF"/>
                </a:solidFill>
              </a:rPr>
              <a:t>update</a:t>
            </a:r>
            <a:r>
              <a:rPr lang="en-US" sz="1600" dirty="0"/>
              <a:t>(</a:t>
            </a:r>
            <a:r>
              <a:rPr lang="en-US" sz="1600" dirty="0" err="1"/>
              <a:t>i</a:t>
            </a:r>
            <a:r>
              <a:rPr lang="en-US" sz="1600" dirty="0"/>
              <a:t>&gt;0)</a:t>
            </a:r>
          </a:p>
          <a:p>
            <a:r>
              <a:rPr lang="en-US" sz="1600" dirty="0"/>
              <a:t>         </a:t>
            </a:r>
            <a:r>
              <a:rPr lang="en-US" sz="1600" b="1" dirty="0"/>
              <a:t>pre</a:t>
            </a:r>
            <a:r>
              <a:rPr lang="en-US" sz="1600" dirty="0"/>
              <a:t> x[</a:t>
            </a:r>
            <a:r>
              <a:rPr lang="en-US" sz="1600" dirty="0" err="1"/>
              <a:t>i</a:t>
            </a:r>
            <a:r>
              <a:rPr lang="en-US" sz="1600" dirty="0"/>
              <a:t>] ~= x[i-1]</a:t>
            </a:r>
          </a:p>
          <a:p>
            <a:r>
              <a:rPr lang="en-US" sz="1600" dirty="0"/>
              <a:t>         </a:t>
            </a:r>
            <a:r>
              <a:rPr lang="en-US" sz="1600" b="1" dirty="0"/>
              <a:t>eff</a:t>
            </a:r>
            <a:r>
              <a:rPr lang="en-US" sz="1600" dirty="0"/>
              <a:t> x[</a:t>
            </a:r>
            <a:r>
              <a:rPr lang="en-US" sz="1600" dirty="0" err="1"/>
              <a:t>i</a:t>
            </a:r>
            <a:r>
              <a:rPr lang="en-US" sz="1600" dirty="0"/>
              <a:t>] := x[i-1]</a:t>
            </a:r>
          </a:p>
          <a:p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9E9E936-0227-6742-A0A7-BDDE802C62C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74318" y="753539"/>
                <a:ext cx="7461504" cy="151857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vert="horz" lIns="91440" tIns="45720" rIns="91440" bIns="45720" rtlCol="0">
                <a:normAutofit fontScale="32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sz="4900" b="1" dirty="0">
                    <a:latin typeface="+mj-lt"/>
                  </a:rPr>
                  <a:t>Theorem 7.1.</a:t>
                </a:r>
                <a:r>
                  <a:rPr lang="en-US" sz="4900" dirty="0">
                    <a:latin typeface="+mj-lt"/>
                  </a:rPr>
                  <a:t> Given a automaton </a:t>
                </a:r>
                <a14:m>
                  <m:oMath xmlns:m="http://schemas.openxmlformats.org/officeDocument/2006/math">
                    <m:r>
                      <a:rPr lang="en-US" sz="4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490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4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4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sz="4900" dirty="0">
                    <a:latin typeface="+mj-lt"/>
                  </a:rPr>
                  <a:t> and a set of states </a:t>
                </a:r>
                <a14:m>
                  <m:oMath xmlns:m="http://schemas.openxmlformats.org/officeDocument/2006/math">
                    <m:r>
                      <a:rPr lang="en-US" sz="4900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490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m:rPr>
                        <m:sty m:val="p"/>
                      </m:rPr>
                      <a:rPr lang="en-US" sz="4900" i="1" dirty="0" err="1">
                        <a:latin typeface="Cambria Math" panose="02040503050406030204" pitchFamily="18" charset="0"/>
                      </a:rPr>
                      <m:t>val</m:t>
                    </m:r>
                    <m:d>
                      <m:dPr>
                        <m:ctrlPr>
                          <a:rPr lang="en-US" sz="49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49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49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4900" dirty="0">
                    <a:latin typeface="+mj-lt"/>
                  </a:rPr>
                  <a:t>if: 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900" dirty="0">
                    <a:latin typeface="+mj-lt"/>
                  </a:rPr>
                  <a:t>(Start condition) for any </a:t>
                </a:r>
                <a14:m>
                  <m:oMath xmlns:m="http://schemas.openxmlformats.org/officeDocument/2006/math">
                    <m:r>
                      <a:rPr lang="en-US" sz="4900" b="1" i="1" dirty="0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90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sz="4900" dirty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sz="4900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sz="4900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90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490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4900" dirty="0">
                    <a:latin typeface="+mj-lt"/>
                  </a:rPr>
                  <a:t>, and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sz="4900" dirty="0">
                    <a:latin typeface="+mj-lt"/>
                  </a:rPr>
                  <a:t>(Transition closure) for any </a:t>
                </a:r>
                <a14:m>
                  <m:oMath xmlns:m="http://schemas.openxmlformats.org/officeDocument/2006/math">
                    <m:r>
                      <a:rPr lang="en-US" sz="4900" b="1" i="1" smtClean="0">
                        <a:latin typeface="Cambria Math" panose="02040503050406030204" pitchFamily="18" charset="0"/>
                      </a:rPr>
                      <m:t>𝒙</m:t>
                    </m:r>
                    <m:sSub>
                      <m:sSubPr>
                        <m:ctrlPr>
                          <a:rPr lang="en-US" sz="49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90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490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4900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sz="4900" dirty="0">
                    <a:latin typeface="+mj-lt"/>
                  </a:rPr>
                  <a:t>’ and </a:t>
                </a:r>
                <a14:m>
                  <m:oMath xmlns:m="http://schemas.openxmlformats.org/officeDocument/2006/math">
                    <m:r>
                      <a:rPr lang="en-US" sz="49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4900" dirty="0">
                    <a:latin typeface="+mj-lt"/>
                  </a:rPr>
                  <a:t> implies </a:t>
                </a:r>
                <a14:m>
                  <m:oMath xmlns:m="http://schemas.openxmlformats.org/officeDocument/2006/math">
                    <m:r>
                      <a:rPr lang="en-US" sz="4900" b="1" i="1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4900" b="1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sz="4900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r>
                  <a:rPr lang="en-US" sz="4900" dirty="0">
                    <a:latin typeface="+mj-lt"/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49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4900" dirty="0">
                    <a:latin typeface="+mj-lt"/>
                  </a:rPr>
                  <a:t> is an (inductive) invariant of </a:t>
                </a:r>
                <a14:m>
                  <m:oMath xmlns:m="http://schemas.openxmlformats.org/officeDocument/2006/math">
                    <m:r>
                      <a:rPr lang="en-US" sz="49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</m:oMath>
                </a14:m>
                <a:r>
                  <a:rPr lang="en-US" sz="4900" dirty="0">
                    <a:latin typeface="+mj-lt"/>
                  </a:rPr>
                  <a:t>. That is </a:t>
                </a:r>
                <a14:m>
                  <m:oMath xmlns:m="http://schemas.openxmlformats.org/officeDocument/2006/math">
                    <m:r>
                      <a:rPr lang="en-US" sz="4900" i="1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sz="49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900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49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d>
                      <m:dPr>
                        <m:ctrlPr>
                          <a:rPr lang="en-US" sz="49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49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</m:d>
                    <m:r>
                      <a:rPr lang="en-US" sz="49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4900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sz="4900" dirty="0">
                    <a:latin typeface="+mj-lt"/>
                  </a:rPr>
                  <a:t>.</a:t>
                </a: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Font typeface="Arial" panose="020B0604020202020204" pitchFamily="34" charset="0"/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19E9E936-0227-6742-A0A7-BDDE802C6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18" y="753539"/>
                <a:ext cx="7461504" cy="1518573"/>
              </a:xfrm>
              <a:prstGeom prst="rect">
                <a:avLst/>
              </a:prstGeom>
              <a:blipFill>
                <a:blip r:embed="rId3"/>
                <a:stretch>
                  <a:fillRect l="-3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BA6C93-3E53-3E4E-82EC-781A17BEDF1D}"/>
                  </a:ext>
                </a:extLst>
              </p:cNvPr>
              <p:cNvSpPr txBox="1"/>
              <p:nvPr/>
            </p:nvSpPr>
            <p:spPr>
              <a:xfrm>
                <a:off x="4296229" y="6416710"/>
                <a:ext cx="7856146" cy="461665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From </a:t>
                </a:r>
                <a:r>
                  <a:rPr lang="en-US" sz="2400" b="1" dirty="0"/>
                  <a:t>Theorem</a:t>
                </a:r>
                <a:r>
                  <a:rPr lang="en-US" sz="2400" dirty="0"/>
                  <a:t> it follows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is an invariant of </a:t>
                </a:r>
                <a:r>
                  <a:rPr lang="en-US" sz="2400" dirty="0" err="1"/>
                  <a:t>DijkstraTR</a:t>
                </a:r>
                <a:endParaRPr lang="en-US" sz="2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BA6C93-3E53-3E4E-82EC-781A17BEDF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6229" y="6416710"/>
                <a:ext cx="7856146" cy="461665"/>
              </a:xfrm>
              <a:prstGeom prst="rect">
                <a:avLst/>
              </a:prstGeom>
              <a:blipFill>
                <a:blip r:embed="rId4"/>
                <a:stretch>
                  <a:fillRect l="-1292" t="-10811" r="-1131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8984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CC909-AF22-8B7E-E948-CBBB34297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92B35-CFC5-5C33-451D-85A39449FE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>
                    <a:ea typeface="Cambria Math" panose="02040503050406030204" pitchFamily="18" charset="0"/>
                  </a:rPr>
                  <a:t>Invariants over-approximate reachable states</a:t>
                </a: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Given an automaton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r>
                  <a:rPr lang="en-US" dirty="0">
                    <a:latin typeface="+mj-lt"/>
                  </a:rPr>
                  <a:t> and a candidate invariant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𝑉𝑎𝑙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to check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A sufficient condition is to check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dirty="0"/>
                  <a:t> satisfies start condition and transition condition of </a:t>
                </a:r>
                <a:r>
                  <a:rPr lang="en-US" b="1" dirty="0"/>
                  <a:t>Theorem 7.1 </a:t>
                </a:r>
                <a:endParaRPr lang="en-US" dirty="0"/>
              </a:p>
              <a:p>
                <a:pPr lvl="1"/>
                <a:r>
                  <a:rPr lang="en-US" dirty="0"/>
                  <a:t>Such an invariant is called an inductive invariant</a:t>
                </a:r>
              </a:p>
              <a:p>
                <a:pPr lvl="1"/>
                <a:r>
                  <a:rPr lang="en-US" dirty="0"/>
                  <a:t>Use proof failure to get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which may be a stronger invariant, i.e.,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All invariants are not necessarily inductive</a:t>
                </a:r>
              </a:p>
              <a:p>
                <a:pPr lvl="1"/>
                <a:r>
                  <a:rPr lang="en-US" dirty="0"/>
                  <a:t>Show that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𝑅𝑒𝑎𝑐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𝒜</m:t>
                        </m:r>
                      </m:sub>
                    </m:sSub>
                  </m:oMath>
                </a14:m>
                <a:r>
                  <a:rPr lang="en-US" dirty="0"/>
                  <a:t> is an inductive </a:t>
                </a:r>
                <a:r>
                  <a:rPr lang="en-US" dirty="0" err="1"/>
                  <a:t>anvariant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F92B35-CFC5-5C33-451D-85A39449FE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b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20783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1"/>
            <a:ext cx="7929608" cy="4952999"/>
          </a:xfrm>
        </p:spPr>
        <p:txBody>
          <a:bodyPr>
            <a:normAutofit/>
          </a:bodyPr>
          <a:lstStyle/>
          <a:p>
            <a:r>
              <a:rPr lang="en-US" dirty="0">
                <a:latin typeface="+mj-lt"/>
              </a:rPr>
              <a:t>Read. Modeling computation: Chapter 2 of </a:t>
            </a:r>
            <a:r>
              <a:rPr lang="en-US" dirty="0" err="1">
                <a:latin typeface="+mj-lt"/>
              </a:rPr>
              <a:t>CPSBook</a:t>
            </a:r>
            <a:r>
              <a:rPr lang="en-US" dirty="0">
                <a:latin typeface="+mj-lt"/>
              </a:rPr>
              <a:t>, first part of Chapter 7, and section on SAT/SMT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Form team (optional*) and go through Project Jumpstart exercise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Next: Satisfiability</a:t>
            </a:r>
          </a:p>
        </p:txBody>
      </p:sp>
    </p:spTree>
    <p:extLst>
      <p:ext uri="{BB962C8B-B14F-4D97-AF65-F5344CB8AC3E}">
        <p14:creationId xmlns:p14="http://schemas.microsoft.com/office/powerpoint/2010/main" val="27646801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1945</TotalTime>
  <Words>2720</Words>
  <Application>Microsoft Macintosh PowerPoint</Application>
  <PresentationFormat>Widescreen</PresentationFormat>
  <Paragraphs>298</Paragraphs>
  <Slides>26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4" baseType="lpstr">
      <vt:lpstr>Aptos</vt:lpstr>
      <vt:lpstr>Aptos Display</vt:lpstr>
      <vt:lpstr>Arial</vt:lpstr>
      <vt:lpstr>Arial Narrow</vt:lpstr>
      <vt:lpstr>Calibri Light</vt:lpstr>
      <vt:lpstr>Cambria Math</vt:lpstr>
      <vt:lpstr>Menlo</vt:lpstr>
      <vt:lpstr>Office Theme</vt:lpstr>
      <vt:lpstr>ECE584 L2 Discrete models, reachability, and Invariance</vt:lpstr>
      <vt:lpstr>Announcements</vt:lpstr>
      <vt:lpstr>Recall automata and requirements</vt:lpstr>
      <vt:lpstr>Example 3: Dijkstra’s Token Ring algorithm</vt:lpstr>
      <vt:lpstr>Dijkstra’s Algorithm [‘74]</vt:lpstr>
      <vt:lpstr>Sample executions: from a legal state (single token)</vt:lpstr>
      <vt:lpstr>Execution from an illegal state</vt:lpstr>
      <vt:lpstr>Synchronous model: All processes update simultaneously</vt:lpstr>
      <vt:lpstr>Synchronous state machine</vt:lpstr>
      <vt:lpstr>Synchronous Token Ring</vt:lpstr>
      <vt:lpstr>Asynchronous Nondeterministic Automaton</vt:lpstr>
      <vt:lpstr>PowerPoint Presentation</vt:lpstr>
      <vt:lpstr>Nondeterministic execution </vt:lpstr>
      <vt:lpstr>Internal and External Nondeterminism</vt:lpstr>
      <vt:lpstr>Executions, Reachability, and Invariants </vt:lpstr>
      <vt:lpstr>Reachable states and invariants</vt:lpstr>
      <vt:lpstr>Reachability as graph search</vt:lpstr>
      <vt:lpstr>Perspectives on scalability</vt:lpstr>
      <vt:lpstr>Sets of states are symbolic properties or predicates</vt:lpstr>
      <vt:lpstr>Invariance</vt:lpstr>
      <vt:lpstr>Invariants</vt:lpstr>
      <vt:lpstr>Proving invariants by induction (Chapter 7)</vt:lpstr>
      <vt:lpstr>Proving invariants by induction (Chapter 7)</vt:lpstr>
      <vt:lpstr>Proving invariants by induction for Dijkstra</vt:lpstr>
      <vt:lpstr>Summary</vt:lpstr>
      <vt:lpstr>Assignments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ECE584 L2: Discrete models reachability</dc:title>
  <dc:creator>Mitra, Sayan</dc:creator>
  <cp:lastModifiedBy>Mitra, Sayan</cp:lastModifiedBy>
  <cp:revision>10</cp:revision>
  <dcterms:created xsi:type="dcterms:W3CDTF">2025-08-26T19:18:41Z</dcterms:created>
  <dcterms:modified xsi:type="dcterms:W3CDTF">2025-08-28T03:44:25Z</dcterms:modified>
</cp:coreProperties>
</file>