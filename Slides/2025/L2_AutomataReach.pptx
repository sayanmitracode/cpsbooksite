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1261" r:id="rId2"/>
    <p:sldId id="311" r:id="rId3"/>
    <p:sldId id="303" r:id="rId4"/>
    <p:sldId id="327" r:id="rId5"/>
    <p:sldId id="328" r:id="rId6"/>
    <p:sldId id="343" r:id="rId7"/>
    <p:sldId id="312" r:id="rId8"/>
    <p:sldId id="342" r:id="rId9"/>
    <p:sldId id="1255" r:id="rId10"/>
    <p:sldId id="1257" r:id="rId11"/>
    <p:sldId id="1258" r:id="rId12"/>
    <p:sldId id="321" r:id="rId13"/>
    <p:sldId id="320" r:id="rId14"/>
    <p:sldId id="335" r:id="rId15"/>
    <p:sldId id="322" r:id="rId16"/>
    <p:sldId id="928" r:id="rId17"/>
    <p:sldId id="318" r:id="rId18"/>
    <p:sldId id="1259" r:id="rId19"/>
    <p:sldId id="307" r:id="rId20"/>
    <p:sldId id="338" r:id="rId21"/>
    <p:sldId id="337" r:id="rId22"/>
    <p:sldId id="339" r:id="rId23"/>
    <p:sldId id="1260" r:id="rId24"/>
    <p:sldId id="293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0"/>
    <p:restoredTop sz="96197"/>
  </p:normalViewPr>
  <p:slideViewPr>
    <p:cSldViewPr snapToGrid="0">
      <p:cViewPr varScale="1">
        <p:scale>
          <a:sx n="113" d="100"/>
          <a:sy n="113" d="100"/>
        </p:scale>
        <p:origin x="42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BCDA28A-7AB8-3F44-BF60-0DDCA9531725}" type="datetimeFigureOut">
              <a:rPr lang="en-US" smtClean="0"/>
              <a:t>8/26/25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8DA10CE-F13C-DD4C-80CC-9755792EF51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65536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5843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5844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 Narrow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 Narrow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 Narrow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 Narrow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 Narrow" pitchFamily="34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9pPr>
          </a:lstStyle>
          <a:p>
            <a:fld id="{B85884E2-29F1-4D86-84CC-3D2D0A090487}" type="slidenum">
              <a:rPr lang="en-US" sz="1200" smtClean="0"/>
              <a:pPr/>
              <a:t>3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6047657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hundred quintillion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B1D770-1E3A-4068-8773-94408BE3849F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895176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Roshomon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B1D770-1E3A-4068-8773-94408BE3849F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354002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993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9940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 Narrow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 Narrow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 Narrow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 Narrow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 Narrow" pitchFamily="34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9pPr>
          </a:lstStyle>
          <a:p>
            <a:fld id="{478875BD-0904-456D-BF1F-B156B76088E4}" type="slidenum">
              <a:rPr lang="en-US" sz="1200" smtClean="0"/>
              <a:pPr/>
              <a:t>19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41719358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C89011-8E97-CF21-A8FF-FE89FD9AE2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B8CD2BB-106A-D285-0B9B-2E50C10493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8C719D-C48E-CDE8-5962-241FF9C62B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1AA41B-E8CC-054F-8764-08BE9388CE63}" type="datetimeFigureOut">
              <a:rPr lang="en-US" smtClean="0"/>
              <a:t>8/26/25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C11ED8-5ED8-CF28-0A00-0571E656F0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0F323A-2D0E-D9D0-33C9-BCB8F7E277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FF4CD2-B52B-F84A-BE47-79AC748B7C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30387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BE671C-0944-F42F-B152-D19ABCCD4B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5B4431-812C-B83C-CEAD-5851C3EF60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4A7617-30BA-C1CC-977F-764AA64BF5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1AA41B-E8CC-054F-8764-08BE9388CE63}" type="datetimeFigureOut">
              <a:rPr lang="en-US" smtClean="0"/>
              <a:t>8/26/25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DE3F83-E2CB-7DAA-0912-69992A183B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B4F8CD-087D-FD68-E5EA-05B62F9474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FF4CD2-B52B-F84A-BE47-79AC748B7C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58615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F47D79-A5B5-A66E-FA6A-48020B2491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69C553-D901-F415-6310-5AEF9E6FA4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B92616-D9A5-A370-CB52-E91274503B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1AA41B-E8CC-054F-8764-08BE9388CE63}" type="datetimeFigureOut">
              <a:rPr lang="en-US" smtClean="0"/>
              <a:t>8/26/25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DE8EFE-BF05-4FA0-F547-646E690A11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E8EDC1-2894-930D-D212-A01FB99C2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FF4CD2-B52B-F84A-BE47-79AC748B7C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43619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C38CF8-2B36-92FE-4C74-161A823772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34F410-3428-92F1-5993-33E82BCE908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589C42-305B-922B-3BCA-6B121B5E9BE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5EE075-FC9E-22C2-A13B-233D1686AF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1AA41B-E8CC-054F-8764-08BE9388CE63}" type="datetimeFigureOut">
              <a:rPr lang="en-US" smtClean="0"/>
              <a:t>8/26/25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CEC88A6-F899-6C7B-D76C-460023E91B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B176F1-A0EF-8F06-E0B4-B64ACB743C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FF4CD2-B52B-F84A-BE47-79AC748B7C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25152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E07C26-59FE-9281-C858-E12F28962C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59185A-A237-AC1C-0E51-1DBDB9A540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4A4545D-8931-9A04-30B0-FFAC3A0A1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5C1B2E-489F-773E-0859-AB5F115D00C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11928B3-4EE9-CF12-FAF7-BC1A3B1EC40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17F6DDD-30F2-6ECE-889E-AB0E5AEE1C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1AA41B-E8CC-054F-8764-08BE9388CE63}" type="datetimeFigureOut">
              <a:rPr lang="en-US" smtClean="0"/>
              <a:t>8/26/25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8CB1C34-5AAB-9F85-2F16-FDD3CC6EC2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30732FD-E03D-E5A1-81F1-37267B1AD1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FF4CD2-B52B-F84A-BE47-79AC748B7C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80857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983C7A-B725-9847-B049-71D7762BBA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321A7CD-596D-7125-704A-AC47716FAC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1AA41B-E8CC-054F-8764-08BE9388CE63}" type="datetimeFigureOut">
              <a:rPr lang="en-US" smtClean="0"/>
              <a:t>8/26/25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749617-DD79-05BA-9F3B-4EF9EF3008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680EE2-061F-CFC6-99C2-F86B7557A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FF4CD2-B52B-F84A-BE47-79AC748B7C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2867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E053A4F-BD90-531C-BB91-E8D734FF61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1AA41B-E8CC-054F-8764-08BE9388CE63}" type="datetimeFigureOut">
              <a:rPr lang="en-US" smtClean="0"/>
              <a:t>8/26/25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DC12647-355E-1902-4D7A-3925B60B7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C3FF32-BDC6-D647-5149-A657606E70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FF4CD2-B52B-F84A-BE47-79AC748B7C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18564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56EE45-EFFF-C990-30B9-CE90F1201F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201C62-88FF-7B4E-5260-E3E3AE4FBE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2F0902-FA38-DC33-347F-2A8116126D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F91CC1-113C-10FF-0863-B0DADC9FE9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1AA41B-E8CC-054F-8764-08BE9388CE63}" type="datetimeFigureOut">
              <a:rPr lang="en-US" smtClean="0"/>
              <a:t>8/26/25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31CCD1-302A-55D0-2F6A-968C43F0C9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101281D-C60C-3DBD-87A0-109731ACAB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FF4CD2-B52B-F84A-BE47-79AC748B7C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07510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B29E3E-4C65-6708-4866-77703337C5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79C209C-55F8-8E64-E735-54B42487280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7B6597E-7212-67AB-A48B-849255FFFD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B48C82-2FD1-F521-E7DF-43FB6282E1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1AA41B-E8CC-054F-8764-08BE9388CE63}" type="datetimeFigureOut">
              <a:rPr lang="en-US" smtClean="0"/>
              <a:t>8/26/25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8F226E-99F9-025E-C3EA-DA3F1DC286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00BAFC-0103-1F91-60B5-85D16481D6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FF4CD2-B52B-F84A-BE47-79AC748B7C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92384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67DBF8-07D0-E470-A887-3B1B9CD129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EAA4AC-FE78-6B99-5FEB-5D5A00D326C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CF6262-9417-279F-EBAE-F42001FB49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1AA41B-E8CC-054F-8764-08BE9388CE63}" type="datetimeFigureOut">
              <a:rPr lang="en-US" smtClean="0"/>
              <a:t>8/26/25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E639A3-1E41-5940-F574-75A4E755D6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5ECD09-4435-BA77-D2D7-55874734CB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FF4CD2-B52B-F84A-BE47-79AC748B7C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2686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AE02079-A87F-E6DE-8FE4-3611578B6C3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C2FE2FB-6E36-9AE3-A5A9-F60BF562D4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B43763-8DC4-25F4-C00C-E75C2E7BEB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1AA41B-E8CC-054F-8764-08BE9388CE63}" type="datetimeFigureOut">
              <a:rPr lang="en-US" smtClean="0"/>
              <a:t>8/26/25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56F4B7-3EB7-B972-BA73-F51BCB2A36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1B903F-1BD6-704B-6916-4C1832F142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FF4CD2-B52B-F84A-BE47-79AC748B7C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6040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2F358DC-B0D4-A022-DB7C-EE073A62DF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CDEDA2-EE28-A559-2DE9-AB78EEEFD8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6FD69B-2F6A-A896-F8A9-6B218E2CEE0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61AA41B-E8CC-054F-8764-08BE9388CE63}" type="datetimeFigureOut">
              <a:rPr lang="en-US" smtClean="0"/>
              <a:t>8/26/25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F5FF3F-089C-9079-96BB-608790A2CDF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94E79D-BB6C-9778-EF58-C85F99D3E1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4FF4CD2-B52B-F84A-BE47-79AC748B7C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26498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mitras@illinois.edu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emf"/><Relationship Id="rId3" Type="http://schemas.openxmlformats.org/officeDocument/2006/relationships/image" Target="../media/image4.emf"/><Relationship Id="rId7" Type="http://schemas.openxmlformats.org/officeDocument/2006/relationships/image" Target="../media/image8.emf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7.emf"/><Relationship Id="rId5" Type="http://schemas.openxmlformats.org/officeDocument/2006/relationships/image" Target="../media/image6.emf"/><Relationship Id="rId4" Type="http://schemas.openxmlformats.org/officeDocument/2006/relationships/image" Target="../media/image5.em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3.emf"/><Relationship Id="rId4" Type="http://schemas.openxmlformats.org/officeDocument/2006/relationships/image" Target="../media/image12.emf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tif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0.png"/><Relationship Id="rId7" Type="http://schemas.openxmlformats.org/officeDocument/2006/relationships/image" Target="../media/image5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685800"/>
            <a:ext cx="10363200" cy="1470025"/>
          </a:xfrm>
        </p:spPr>
        <p:txBody>
          <a:bodyPr>
            <a:noAutofit/>
          </a:bodyPr>
          <a:lstStyle/>
          <a:p>
            <a:r>
              <a:rPr lang="en-US" dirty="0"/>
              <a:t>ECE584 L2: Discrete models reachability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2971800"/>
            <a:ext cx="8534400" cy="3200400"/>
          </a:xfrm>
        </p:spPr>
        <p:txBody>
          <a:bodyPr>
            <a:normAutofit/>
          </a:bodyPr>
          <a:lstStyle/>
          <a:p>
            <a:r>
              <a:rPr lang="en-US" dirty="0"/>
              <a:t>August 28</a:t>
            </a:r>
            <a:r>
              <a:rPr lang="en-US" baseline="30000" dirty="0"/>
              <a:t>th</a:t>
            </a:r>
            <a:r>
              <a:rPr lang="en-US" dirty="0"/>
              <a:t> 2025, ECEB 3013</a:t>
            </a:r>
          </a:p>
          <a:p>
            <a:r>
              <a:rPr lang="en-US" dirty="0"/>
              <a:t>Sayan Mitra</a:t>
            </a:r>
          </a:p>
          <a:p>
            <a:r>
              <a:rPr lang="en-US" dirty="0"/>
              <a:t>CSL 266</a:t>
            </a:r>
          </a:p>
          <a:p>
            <a:r>
              <a:rPr lang="en-US" dirty="0">
                <a:hlinkClick r:id="rId2"/>
              </a:rPr>
              <a:t>mitras@illinois.edu</a:t>
            </a:r>
            <a:endParaRPr lang="en-US" dirty="0"/>
          </a:p>
          <a:p>
            <a:r>
              <a:rPr lang="en-US" dirty="0"/>
              <a:t>@</a:t>
            </a:r>
            <a:r>
              <a:rPr lang="en-US" dirty="0" err="1"/>
              <a:t>Mitrasayn</a:t>
            </a:r>
            <a:r>
              <a:rPr lang="en-US" dirty="0"/>
              <a:t>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68579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487362"/>
          </a:xfrm>
        </p:spPr>
        <p:txBody>
          <a:bodyPr>
            <a:normAutofit fontScale="90000"/>
          </a:bodyPr>
          <a:lstStyle/>
          <a:p>
            <a:r>
              <a:rPr lang="en-US" sz="3600" dirty="0"/>
              <a:t>Example 3: Dijkstra’s Token Ring algorithm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838200" y="914400"/>
            <a:ext cx="7086600" cy="5668962"/>
          </a:xfrm>
        </p:spPr>
        <p:txBody>
          <a:bodyPr>
            <a:normAutofit fontScale="85000" lnSpcReduction="10000"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sz="1800" dirty="0">
                <a:latin typeface="Calibri Light" panose="020F0302020204030204" pitchFamily="34" charset="0"/>
                <a:cs typeface="Calibri Light" panose="020F0302020204030204" pitchFamily="34" charset="0"/>
              </a:rPr>
              <a:t>A mutual exclusion algorithm is a distributed algorithm that assures that a collection of participating processes can (1) always eventually access a shared resource (e.g., a printer) and (2) no two processes ever access the resource simultaneously. </a:t>
            </a:r>
          </a:p>
          <a:p>
            <a:pPr marL="0" indent="0">
              <a:lnSpc>
                <a:spcPct val="120000"/>
              </a:lnSpc>
              <a:buNone/>
            </a:pPr>
            <a:endParaRPr lang="en-US" sz="18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-US" sz="1800" dirty="0">
                <a:latin typeface="Calibri Light" panose="020F0302020204030204" pitchFamily="34" charset="0"/>
                <a:cs typeface="Calibri Light" panose="020F0302020204030204" pitchFamily="34" charset="0"/>
              </a:rPr>
              <a:t>A token-based mutual exclusion algorithm uses a ”token” to provide access to the shared resource</a:t>
            </a:r>
          </a:p>
          <a:p>
            <a:pPr marL="0" indent="0">
              <a:lnSpc>
                <a:spcPct val="120000"/>
              </a:lnSpc>
              <a:buNone/>
            </a:pPr>
            <a:endParaRPr lang="en-US" sz="18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-US" sz="1800" dirty="0">
                <a:latin typeface="Calibri Light" panose="020F0302020204030204" pitchFamily="34" charset="0"/>
                <a:cs typeface="Calibri Light" panose="020F0302020204030204" pitchFamily="34" charset="0"/>
              </a:rPr>
              <a:t>N processes with ids 0, 1, …, N-1</a:t>
            </a:r>
          </a:p>
          <a:p>
            <a:pPr marL="0" indent="0">
              <a:lnSpc>
                <a:spcPct val="120000"/>
              </a:lnSpc>
              <a:buNone/>
            </a:pPr>
            <a:endParaRPr lang="en-US" sz="18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-US" sz="1800" dirty="0">
                <a:latin typeface="Calibri Light" panose="020F0302020204030204" pitchFamily="34" charset="0"/>
                <a:cs typeface="Calibri Light" panose="020F0302020204030204" pitchFamily="34" charset="0"/>
              </a:rPr>
              <a:t>Unidirectional: each j&gt;0 process </a:t>
            </a:r>
            <a:r>
              <a:rPr lang="en-US" sz="1800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P</a:t>
            </a:r>
            <a:r>
              <a:rPr lang="en-US" sz="1800" baseline="-25000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j</a:t>
            </a:r>
            <a:r>
              <a:rPr lang="en-US" sz="1800" dirty="0">
                <a:latin typeface="Calibri Light" panose="020F0302020204030204" pitchFamily="34" charset="0"/>
                <a:cs typeface="Calibri Light" panose="020F0302020204030204" pitchFamily="34" charset="0"/>
              </a:rPr>
              <a:t> reads the state of only the predecessor P</a:t>
            </a:r>
            <a:r>
              <a:rPr lang="en-US" sz="1800" baseline="-25000" dirty="0">
                <a:latin typeface="Calibri Light" panose="020F0302020204030204" pitchFamily="34" charset="0"/>
                <a:cs typeface="Calibri Light" panose="020F0302020204030204" pitchFamily="34" charset="0"/>
              </a:rPr>
              <a:t>j-1</a:t>
            </a:r>
            <a:r>
              <a:rPr lang="en-US" sz="1800" dirty="0">
                <a:latin typeface="Calibri Light" panose="020F0302020204030204" pitchFamily="34" charset="0"/>
                <a:cs typeface="Calibri Light" panose="020F0302020204030204" pitchFamily="34" charset="0"/>
              </a:rPr>
              <a:t>; P</a:t>
            </a:r>
            <a:r>
              <a:rPr lang="en-US" sz="1800" baseline="-25000" dirty="0">
                <a:latin typeface="Calibri Light" panose="020F0302020204030204" pitchFamily="34" charset="0"/>
                <a:cs typeface="Calibri Light" panose="020F0302020204030204" pitchFamily="34" charset="0"/>
              </a:rPr>
              <a:t>0</a:t>
            </a:r>
            <a:r>
              <a:rPr lang="en-US" sz="1800" dirty="0">
                <a:latin typeface="Calibri Light" panose="020F0302020204030204" pitchFamily="34" charset="0"/>
                <a:cs typeface="Calibri Light" panose="020F0302020204030204" pitchFamily="34" charset="0"/>
              </a:rPr>
              <a:t> reads only P</a:t>
            </a:r>
            <a:r>
              <a:rPr lang="en-US" sz="1800" baseline="-25000" dirty="0">
                <a:latin typeface="Calibri Light" panose="020F0302020204030204" pitchFamily="34" charset="0"/>
                <a:cs typeface="Calibri Light" panose="020F0302020204030204" pitchFamily="34" charset="0"/>
              </a:rPr>
              <a:t>N-1</a:t>
            </a:r>
          </a:p>
          <a:p>
            <a:pPr marL="0" indent="0">
              <a:lnSpc>
                <a:spcPct val="120000"/>
              </a:lnSpc>
              <a:buNone/>
            </a:pPr>
            <a:endParaRPr lang="en-US" sz="18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-US" sz="1800" dirty="0">
                <a:latin typeface="Calibri Light" panose="020F0302020204030204" pitchFamily="34" charset="0"/>
                <a:cs typeface="Calibri Light" panose="020F0302020204030204" pitchFamily="34" charset="0"/>
              </a:rPr>
              <a:t>Legal configuration = exactly one “token” in the ring and this token circulates in the ring</a:t>
            </a:r>
          </a:p>
          <a:p>
            <a:pPr marL="0" indent="0">
              <a:lnSpc>
                <a:spcPct val="120000"/>
              </a:lnSpc>
              <a:buNone/>
            </a:pPr>
            <a:endParaRPr lang="en-US" sz="18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-US" sz="1800" dirty="0">
                <a:latin typeface="Calibri Light" panose="020F0302020204030204" pitchFamily="34" charset="0"/>
                <a:cs typeface="Calibri Light" panose="020F0302020204030204" pitchFamily="34" charset="0"/>
              </a:rPr>
              <a:t>Even if multiple tokens arise because of faults, if the algorithm continues to work correctly, then eventually there is a single token; this is the self stabilizing property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7263A2C-7C55-4348-B850-0A3E101526A3}"/>
              </a:ext>
            </a:extLst>
          </p:cNvPr>
          <p:cNvSpPr txBox="1"/>
          <p:nvPr/>
        </p:nvSpPr>
        <p:spPr>
          <a:xfrm>
            <a:off x="5200905" y="6398696"/>
            <a:ext cx="69910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﻿Self-stabilizing Systems in Spite of Distributed Control, CACM, 1974.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414E3C4-E798-A3B8-EB2D-68BA9A3A54B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-1" b="3493"/>
          <a:stretch/>
        </p:blipFill>
        <p:spPr>
          <a:xfrm>
            <a:off x="8198409" y="952500"/>
            <a:ext cx="3713782" cy="226308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DF383BB-FC82-2BBF-0B0A-D5058CE32B89}"/>
              </a:ext>
            </a:extLst>
          </p:cNvPr>
          <p:cNvSpPr txBox="1"/>
          <p:nvPr/>
        </p:nvSpPr>
        <p:spPr>
          <a:xfrm>
            <a:off x="8813867" y="1999873"/>
            <a:ext cx="25499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Legal configuration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E74883A1-6C37-45C4-F2E8-65D9666825A7}"/>
              </a:ext>
            </a:extLst>
          </p:cNvPr>
          <p:cNvGrpSpPr/>
          <p:nvPr/>
        </p:nvGrpSpPr>
        <p:grpSpPr>
          <a:xfrm>
            <a:off x="8198409" y="3791659"/>
            <a:ext cx="3643782" cy="2198058"/>
            <a:chOff x="4686300" y="1657662"/>
            <a:chExt cx="4215178" cy="2542744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6BF6FE3F-1F5A-A253-589C-5701BA078F0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686300" y="1657662"/>
              <a:ext cx="4215178" cy="2542744"/>
            </a:xfrm>
            <a:prstGeom prst="rect">
              <a:avLst/>
            </a:prstGeom>
          </p:spPr>
        </p:pic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13F68EB-E371-D450-DD59-52196D9B8809}"/>
                </a:ext>
              </a:extLst>
            </p:cNvPr>
            <p:cNvSpPr/>
            <p:nvPr/>
          </p:nvSpPr>
          <p:spPr>
            <a:xfrm>
              <a:off x="6500198" y="2706755"/>
              <a:ext cx="913135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2400" dirty="0"/>
                <a:t>Illegal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477591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>
          <a:xfrm>
            <a:off x="1790700" y="116142"/>
            <a:ext cx="8610600" cy="1143000"/>
          </a:xfrm>
        </p:spPr>
        <p:txBody>
          <a:bodyPr>
            <a:normAutofit/>
          </a:bodyPr>
          <a:lstStyle/>
          <a:p>
            <a:pPr algn="ctr" eaLnBrk="1" hangingPunct="1"/>
            <a:r>
              <a:rPr lang="en-US" sz="3600" dirty="0" err="1"/>
              <a:t>Dijkstra’s</a:t>
            </a:r>
            <a:r>
              <a:rPr lang="en-US" sz="3600" dirty="0"/>
              <a:t> Algorithm [‘74]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277" name="Text Box 14"/>
              <p:cNvSpPr txBox="1">
                <a:spLocks noChangeArrowheads="1"/>
              </p:cNvSpPr>
              <p:nvPr/>
            </p:nvSpPr>
            <p:spPr bwMode="auto">
              <a:xfrm>
                <a:off x="685800" y="1066800"/>
                <a:ext cx="10997184" cy="476617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 Narrow" pitchFamily="34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 Narrow" pitchFamily="34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 Narrow" pitchFamily="34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 Narrow" pitchFamily="34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 Narrow" pitchFamily="34" charset="0"/>
                  </a:defRPr>
                </a:lvl5pPr>
                <a:lvl6pPr marL="25146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 Narrow" pitchFamily="34" charset="0"/>
                  </a:defRPr>
                </a:lvl6pPr>
                <a:lvl7pPr marL="29718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 Narrow" pitchFamily="34" charset="0"/>
                  </a:defRPr>
                </a:lvl7pPr>
                <a:lvl8pPr marL="34290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 Narrow" pitchFamily="34" charset="0"/>
                  </a:defRPr>
                </a:lvl8pPr>
                <a:lvl9pPr marL="38862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 Narrow" pitchFamily="34" charset="0"/>
                  </a:defRPr>
                </a:lvl9pPr>
              </a:lstStyle>
              <a:p>
                <a:r>
                  <a:rPr lang="en-US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State of each process j is a single integer variable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cs typeface="Calibri Light" panose="020F0302020204030204" pitchFamily="34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i="1" dirty="0" smtClean="0">
                            <a:latin typeface="Cambria Math" panose="02040503050406030204" pitchFamily="18" charset="0"/>
                            <a:cs typeface="Calibri Light" panose="020F0302020204030204" pitchFamily="34" charset="0"/>
                          </a:rPr>
                        </m:ctrlPr>
                      </m:d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  <a:cs typeface="Calibri Light" panose="020F0302020204030204" pitchFamily="34" charset="0"/>
                          </a:rPr>
                          <m:t>𝑗</m:t>
                        </m:r>
                      </m:e>
                    </m:d>
                    <m:r>
                      <a:rPr lang="en-US" i="1" dirty="0">
                        <a:latin typeface="Cambria Math" panose="02040503050406030204" pitchFamily="18" charset="0"/>
                        <a:cs typeface="Calibri Light" panose="020F0302020204030204" pitchFamily="34" charset="0"/>
                        <a:sym typeface="Symbol" pitchFamily="18" charset="2"/>
                      </a:rPr>
                      <m:t></m:t>
                    </m:r>
                    <m:r>
                      <a:rPr lang="en-US" i="1" dirty="0">
                        <a:latin typeface="Cambria Math" panose="02040503050406030204" pitchFamily="18" charset="0"/>
                        <a:cs typeface="Calibri Light" panose="020F0302020204030204" pitchFamily="34" charset="0"/>
                      </a:rPr>
                      <m:t> 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cs typeface="Calibri Light" panose="020F0302020204030204" pitchFamily="34" charset="0"/>
                      </a:rPr>
                      <m:t>[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cs typeface="Calibri Light" panose="020F0302020204030204" pitchFamily="34" charset="0"/>
                      </a:rPr>
                      <m:t>𝐾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cs typeface="Calibri Light" panose="020F0302020204030204" pitchFamily="34" charset="0"/>
                      </a:rPr>
                      <m:t>]</m:t>
                    </m:r>
                  </m:oMath>
                </a14:m>
                <a:r>
                  <a:rPr lang="en-US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, where K &gt; N</a:t>
                </a:r>
              </a:p>
              <a:p>
                <a:endParaRPr lang="en-US" dirty="0">
                  <a:latin typeface="Calibri Light" panose="020F0302020204030204" pitchFamily="34" charset="0"/>
                  <a:cs typeface="Calibri Light" panose="020F0302020204030204" pitchFamily="34" charset="0"/>
                </a:endParaRPr>
              </a:p>
              <a:p>
                <a:r>
                  <a:rPr lang="en-US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A process can update its state only when it has the token which is determined by its state and its neighbor’s state</a:t>
                </a:r>
                <a:endParaRPr lang="en-US" dirty="0">
                  <a:latin typeface="Cambria Math" panose="02040503050406030204" pitchFamily="18" charset="0"/>
                  <a:cs typeface="Calibri Light" panose="020F0302020204030204" pitchFamily="34" charset="0"/>
                </a:endParaRPr>
              </a:p>
              <a:p>
                <a:pPr algn="l">
                  <a:lnSpc>
                    <a:spcPct val="125000"/>
                  </a:lnSpc>
                </a:pPr>
                <a:endParaRPr lang="en-US" i="1" dirty="0">
                  <a:latin typeface="Cambria Math" panose="02040503050406030204" pitchFamily="18" charset="0"/>
                  <a:cs typeface="Calibri Light" panose="020F0302020204030204" pitchFamily="34" charset="0"/>
                </a:endParaRPr>
              </a:p>
              <a:p>
                <a:pPr algn="l">
                  <a:lnSpc>
                    <a:spcPct val="125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  <a:cs typeface="Calibri Light" panose="020F0302020204030204" pitchFamily="34" charset="0"/>
                        </a:rPr>
                        <m:t>h𝑎𝑠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  <a:cs typeface="Calibri Light" panose="020F0302020204030204" pitchFamily="34" charset="0"/>
                        </a:rPr>
                        <m:t>𝑇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  <a:cs typeface="Calibri Light" panose="020F0302020204030204" pitchFamily="34" charset="0"/>
                        </a:rPr>
                        <m:t>𝑜𝑘𝑒𝑛</m:t>
                      </m:r>
                      <m:d>
                        <m:dPr>
                          <m:ctrlPr>
                            <a:rPr lang="en-US" i="1" dirty="0" smtClean="0">
                              <a:latin typeface="Cambria Math" panose="02040503050406030204" pitchFamily="18" charset="0"/>
                              <a:cs typeface="Calibri Light" panose="020F0302020204030204" pitchFamily="34" charset="0"/>
                            </a:rPr>
                          </m:ctrlPr>
                        </m:dPr>
                        <m:e>
                          <m:r>
                            <a:rPr lang="en-US" i="1" dirty="0" err="1" smtClean="0">
                              <a:latin typeface="Cambria Math" panose="02040503050406030204" pitchFamily="18" charset="0"/>
                              <a:cs typeface="Calibri Light" panose="020F0302020204030204" pitchFamily="34" charset="0"/>
                            </a:rPr>
                            <m:t>𝑥</m:t>
                          </m:r>
                          <m:r>
                            <a:rPr lang="en-US" i="1" dirty="0" err="1" smtClean="0">
                              <a:latin typeface="Cambria Math" panose="02040503050406030204" pitchFamily="18" charset="0"/>
                              <a:cs typeface="Calibri Light" panose="020F0302020204030204" pitchFamily="34" charset="0"/>
                            </a:rPr>
                            <m:t>,</m:t>
                          </m:r>
                          <m:r>
                            <a:rPr lang="en-US" i="1" dirty="0" err="1" smtClean="0">
                              <a:latin typeface="Cambria Math" panose="02040503050406030204" pitchFamily="18" charset="0"/>
                              <a:cs typeface="Calibri Light" panose="020F0302020204030204" pitchFamily="34" charset="0"/>
                            </a:rPr>
                            <m:t>𝑗</m:t>
                          </m:r>
                        </m:e>
                      </m:d>
                      <m:r>
                        <a:rPr lang="en-US" b="0" i="1" dirty="0" smtClean="0">
                          <a:latin typeface="Cambria Math" panose="02040503050406030204" pitchFamily="18" charset="0"/>
                          <a:cs typeface="Calibri Light" panose="020F0302020204030204" pitchFamily="34" charset="0"/>
                        </a:rPr>
                        <m:t>≡</m:t>
                      </m:r>
                      <m:d>
                        <m:dPr>
                          <m:ctrlPr>
                            <a:rPr lang="en-US" b="0" i="1" dirty="0" smtClean="0">
                              <a:latin typeface="Cambria Math" panose="02040503050406030204" pitchFamily="18" charset="0"/>
                              <a:cs typeface="Calibri Light" panose="020F0302020204030204" pitchFamily="34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  <a:cs typeface="Calibri Light" panose="020F0302020204030204" pitchFamily="34" charset="0"/>
                            </a:rPr>
                            <m:t>𝑗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  <a:cs typeface="Calibri Light" panose="020F0302020204030204" pitchFamily="34" charset="0"/>
                            </a:rPr>
                            <m:t>=0∧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  <a:cs typeface="Calibri Light" panose="020F0302020204030204" pitchFamily="34" charset="0"/>
                            </a:rPr>
                            <m:t>𝑥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  <a:cs typeface="Calibri Light" panose="020F0302020204030204" pitchFamily="34" charset="0"/>
                                </a:rPr>
                              </m:ctrlPr>
                            </m:d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  <a:cs typeface="Calibri Light" panose="020F0302020204030204" pitchFamily="34" charset="0"/>
                                </a:rPr>
                                <m:t>𝑗</m:t>
                              </m:r>
                            </m:e>
                          </m:d>
                          <m:r>
                            <a:rPr lang="en-US" b="0" i="1" dirty="0" smtClean="0">
                              <a:latin typeface="Cambria Math" panose="02040503050406030204" pitchFamily="18" charset="0"/>
                              <a:cs typeface="Calibri Light" panose="020F0302020204030204" pitchFamily="34" charset="0"/>
                            </a:rPr>
                            <m:t>=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  <a:cs typeface="Calibri Light" panose="020F0302020204030204" pitchFamily="34" charset="0"/>
                            </a:rPr>
                            <m:t>𝑥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  <a:cs typeface="Calibri Light" panose="020F0302020204030204" pitchFamily="34" charset="0"/>
                                </a:rPr>
                              </m:ctrlPr>
                            </m:d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  <a:cs typeface="Calibri Light" panose="020F0302020204030204" pitchFamily="34" charset="0"/>
                                </a:rPr>
                                <m:t>𝑁</m:t>
                              </m:r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  <a:cs typeface="Calibri Light" panose="020F0302020204030204" pitchFamily="34" charset="0"/>
                                </a:rPr>
                                <m:t>−1</m:t>
                              </m:r>
                            </m:e>
                          </m:d>
                        </m:e>
                      </m:d>
                      <m:r>
                        <a:rPr lang="en-US" b="0" i="1" dirty="0" smtClean="0">
                          <a:latin typeface="Cambria Math" panose="02040503050406030204" pitchFamily="18" charset="0"/>
                          <a:cs typeface="Calibri Light" panose="020F0302020204030204" pitchFamily="34" charset="0"/>
                        </a:rPr>
                        <m:t>∨(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  <a:cs typeface="Calibri Light" panose="020F0302020204030204" pitchFamily="34" charset="0"/>
                        </a:rPr>
                        <m:t>𝑗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  <a:cs typeface="Calibri Light" panose="020F0302020204030204" pitchFamily="34" charset="0"/>
                        </a:rPr>
                        <m:t>≠0∧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  <a:cs typeface="Calibri Light" panose="020F0302020204030204" pitchFamily="34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dirty="0" smtClean="0">
                              <a:latin typeface="Cambria Math" panose="02040503050406030204" pitchFamily="18" charset="0"/>
                              <a:cs typeface="Calibri Light" panose="020F0302020204030204" pitchFamily="34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  <a:cs typeface="Calibri Light" panose="020F0302020204030204" pitchFamily="34" charset="0"/>
                            </a:rPr>
                            <m:t>𝑗</m:t>
                          </m:r>
                        </m:e>
                      </m:d>
                      <m:r>
                        <a:rPr lang="en-US" b="0" i="1" dirty="0" smtClean="0">
                          <a:latin typeface="Cambria Math" panose="02040503050406030204" pitchFamily="18" charset="0"/>
                          <a:cs typeface="Calibri Light" panose="020F0302020204030204" pitchFamily="34" charset="0"/>
                        </a:rPr>
                        <m:t>≠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  <a:cs typeface="Calibri Light" panose="020F0302020204030204" pitchFamily="34" charset="0"/>
                        </a:rPr>
                        <m:t>𝑥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  <a:cs typeface="Calibri Light" panose="020F0302020204030204" pitchFamily="34" charset="0"/>
                        </a:rPr>
                        <m:t>[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  <a:cs typeface="Calibri Light" panose="020F0302020204030204" pitchFamily="34" charset="0"/>
                        </a:rPr>
                        <m:t>𝑗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  <a:cs typeface="Calibri Light" panose="020F0302020204030204" pitchFamily="34" charset="0"/>
                        </a:rPr>
                        <m:t>−1])</m:t>
                      </m:r>
                    </m:oMath>
                  </m:oMathPara>
                </a14:m>
                <a:endParaRPr lang="en-US" dirty="0">
                  <a:latin typeface="Calibri Light" panose="020F0302020204030204" pitchFamily="34" charset="0"/>
                  <a:cs typeface="Calibri Light" panose="020F0302020204030204" pitchFamily="34" charset="0"/>
                </a:endParaRPr>
              </a:p>
              <a:p>
                <a:pPr algn="l">
                  <a:lnSpc>
                    <a:spcPct val="125000"/>
                  </a:lnSpc>
                </a:pPr>
                <a:endParaRPr lang="en-US" dirty="0">
                  <a:cs typeface="Calibri Light" panose="020F0302020204030204" pitchFamily="34" charset="0"/>
                </a:endParaRPr>
              </a:p>
              <a:p>
                <a:pPr algn="l">
                  <a:lnSpc>
                    <a:spcPct val="125000"/>
                  </a:lnSpc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dirty="0" smtClean="0">
                        <a:latin typeface="Cambria Math" panose="02040503050406030204" pitchFamily="18" charset="0"/>
                        <a:cs typeface="Calibri Light" panose="020F0302020204030204" pitchFamily="34" charset="0"/>
                      </a:rPr>
                      <m:t>Update</m:t>
                    </m:r>
                    <m:d>
                      <m:dPr>
                        <m:ctrlPr>
                          <a:rPr lang="en-US" b="0" i="1" dirty="0" smtClean="0">
                            <a:latin typeface="Cambria Math" panose="02040503050406030204" pitchFamily="18" charset="0"/>
                            <a:cs typeface="Calibri Light" panose="020F0302020204030204" pitchFamily="34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dirty="0" smtClean="0">
                            <a:latin typeface="Cambria Math" panose="02040503050406030204" pitchFamily="18" charset="0"/>
                            <a:cs typeface="Calibri Light" panose="020F0302020204030204" pitchFamily="34" charset="0"/>
                          </a:rPr>
                          <m:t>i</m:t>
                        </m:r>
                        <m:r>
                          <a:rPr lang="en-US" b="0" i="0" dirty="0" smtClean="0">
                            <a:latin typeface="Cambria Math" panose="02040503050406030204" pitchFamily="18" charset="0"/>
                            <a:cs typeface="Calibri Light" panose="020F0302020204030204" pitchFamily="34" charset="0"/>
                          </a:rPr>
                          <m:t>:[</m:t>
                        </m:r>
                        <m:r>
                          <m:rPr>
                            <m:sty m:val="p"/>
                          </m:rPr>
                          <a:rPr lang="en-US" b="0" i="0" dirty="0" smtClean="0">
                            <a:latin typeface="Cambria Math" panose="02040503050406030204" pitchFamily="18" charset="0"/>
                            <a:cs typeface="Calibri Light" panose="020F0302020204030204" pitchFamily="34" charset="0"/>
                          </a:rPr>
                          <m:t>N</m:t>
                        </m:r>
                        <m:r>
                          <a:rPr lang="en-US" b="0" i="0" dirty="0" smtClean="0">
                            <a:latin typeface="Cambria Math" panose="02040503050406030204" pitchFamily="18" charset="0"/>
                            <a:cs typeface="Calibri Light" panose="020F0302020204030204" pitchFamily="34" charset="0"/>
                          </a:rPr>
                          <m:t>]</m:t>
                        </m:r>
                      </m:e>
                    </m:d>
                    <m:r>
                      <a:rPr lang="en-US" b="0" i="0" dirty="0" smtClean="0">
                        <a:latin typeface="Cambria Math" panose="02040503050406030204" pitchFamily="18" charset="0"/>
                        <a:cs typeface="Calibri Light" panose="020F0302020204030204" pitchFamily="34" charset="0"/>
                      </a:rPr>
                      <m:t>:</m:t>
                    </m:r>
                  </m:oMath>
                </a14:m>
                <a:r>
                  <a:rPr lang="en-US" b="1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	// transition rule</a:t>
                </a:r>
              </a:p>
              <a:p>
                <a:pPr algn="l">
                  <a:lnSpc>
                    <a:spcPct val="125000"/>
                  </a:lnSpc>
                </a:pPr>
                <a:r>
                  <a:rPr lang="en-US" b="1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	If</a:t>
                </a:r>
                <a:r>
                  <a:rPr lang="en-US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  <a:cs typeface="Calibri Light" panose="020F0302020204030204" pitchFamily="34" charset="0"/>
                      </a:rPr>
                      <m:t>h𝑎𝑠𝑇𝑜𝑘𝑒𝑛</m:t>
                    </m:r>
                    <m:d>
                      <m:dPr>
                        <m:ctrlPr>
                          <a:rPr lang="en-US" b="0" i="1" dirty="0" smtClean="0">
                            <a:latin typeface="Cambria Math" panose="02040503050406030204" pitchFamily="18" charset="0"/>
                            <a:cs typeface="Calibri Light" panose="020F0302020204030204" pitchFamily="34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Calibri Light" panose="020F0302020204030204" pitchFamily="34" charset="0"/>
                          </a:rPr>
                          <m:t>𝑥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Calibri Light" panose="020F0302020204030204" pitchFamily="34" charset="0"/>
                          </a:rPr>
                          <m:t>,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Calibri Light" panose="020F0302020204030204" pitchFamily="34" charset="0"/>
                          </a:rPr>
                          <m:t>𝑖</m:t>
                        </m:r>
                      </m:e>
                    </m:d>
                    <m:r>
                      <a:rPr lang="en-US" b="0" i="1" dirty="0" smtClean="0">
                        <a:latin typeface="Cambria Math" panose="02040503050406030204" pitchFamily="18" charset="0"/>
                        <a:cs typeface="Calibri Light" panose="020F0302020204030204" pitchFamily="34" charset="0"/>
                      </a:rPr>
                      <m:t> </m:t>
                    </m:r>
                  </m:oMath>
                </a14:m>
                <a:endParaRPr lang="en-US" b="1" dirty="0">
                  <a:latin typeface="Calibri Light" panose="020F0302020204030204" pitchFamily="34" charset="0"/>
                  <a:cs typeface="Calibri Light" panose="020F0302020204030204" pitchFamily="34" charset="0"/>
                </a:endParaRPr>
              </a:p>
              <a:p>
                <a:pPr algn="l">
                  <a:lnSpc>
                    <a:spcPct val="125000"/>
                  </a:lnSpc>
                </a:pPr>
                <a:r>
                  <a:rPr lang="en-US" b="1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	   If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  <a:cs typeface="Calibri Light" panose="020F0302020204030204" pitchFamily="34" charset="0"/>
                      </a:rPr>
                      <m:t>𝑖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cs typeface="Calibri Light" panose="020F0302020204030204" pitchFamily="34" charset="0"/>
                      </a:rPr>
                      <m:t>=0 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cs typeface="Calibri Light" panose="020F0302020204030204" pitchFamily="34" charset="0"/>
                      </a:rPr>
                      <m:t>𝐭𝐡𝐞𝐧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cs typeface="Calibri Light" panose="020F0302020204030204" pitchFamily="34" charset="0"/>
                      </a:rPr>
                      <m:t> </m:t>
                    </m:r>
                    <m:r>
                      <a:rPr lang="en-US" i="1" dirty="0">
                        <a:latin typeface="Cambria Math" panose="02040503050406030204" pitchFamily="18" charset="0"/>
                        <a:cs typeface="Calibri Light" panose="020F0302020204030204" pitchFamily="34" charset="0"/>
                      </a:rPr>
                      <m:t>𝑥</m:t>
                    </m:r>
                    <m:r>
                      <a:rPr lang="en-US" i="1" dirty="0">
                        <a:latin typeface="Cambria Math" panose="02040503050406030204" pitchFamily="18" charset="0"/>
                        <a:cs typeface="Calibri Light" panose="020F0302020204030204" pitchFamily="34" charset="0"/>
                      </a:rPr>
                      <m:t>[0] := </m:t>
                    </m:r>
                    <m:r>
                      <a:rPr lang="en-US" i="1" dirty="0">
                        <a:latin typeface="Cambria Math" panose="02040503050406030204" pitchFamily="18" charset="0"/>
                        <a:cs typeface="Calibri Light" panose="020F0302020204030204" pitchFamily="34" charset="0"/>
                      </a:rPr>
                      <m:t>𝑥</m:t>
                    </m:r>
                    <m:r>
                      <a:rPr lang="en-US" i="1" dirty="0">
                        <a:latin typeface="Cambria Math" panose="02040503050406030204" pitchFamily="18" charset="0"/>
                        <a:cs typeface="Calibri Light" panose="020F0302020204030204" pitchFamily="34" charset="0"/>
                      </a:rPr>
                      <m:t>[0] + 1 </m:t>
                    </m:r>
                    <m:r>
                      <a:rPr lang="en-US" i="1" dirty="0">
                        <a:latin typeface="Cambria Math" panose="02040503050406030204" pitchFamily="18" charset="0"/>
                        <a:cs typeface="Calibri Light" panose="020F0302020204030204" pitchFamily="34" charset="0"/>
                      </a:rPr>
                      <m:t>𝑚𝑜𝑑</m:t>
                    </m:r>
                    <m:r>
                      <a:rPr lang="en-US" i="1" dirty="0">
                        <a:latin typeface="Cambria Math" panose="02040503050406030204" pitchFamily="18" charset="0"/>
                        <a:cs typeface="Calibri Light" panose="020F0302020204030204" pitchFamily="34" charset="0"/>
                      </a:rPr>
                      <m:t> </m:t>
                    </m:r>
                    <m:r>
                      <a:rPr lang="en-US" i="1" dirty="0">
                        <a:latin typeface="Cambria Math" panose="02040503050406030204" pitchFamily="18" charset="0"/>
                        <a:cs typeface="Calibri Light" panose="020F0302020204030204" pitchFamily="34" charset="0"/>
                      </a:rPr>
                      <m:t>𝐾</m:t>
                    </m:r>
                  </m:oMath>
                </a14:m>
                <a:endParaRPr lang="en-US" b="1" dirty="0">
                  <a:latin typeface="Calibri Light" panose="020F0302020204030204" pitchFamily="34" charset="0"/>
                  <a:cs typeface="Calibri Light" panose="020F0302020204030204" pitchFamily="34" charset="0"/>
                </a:endParaRPr>
              </a:p>
              <a:p>
                <a:pPr algn="l">
                  <a:lnSpc>
                    <a:spcPct val="125000"/>
                  </a:lnSpc>
                </a:pPr>
                <a:r>
                  <a:rPr lang="en-US" b="1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	       else</a:t>
                </a:r>
                <a:r>
                  <a:rPr lang="en-US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cs typeface="Calibri Light" panose="020F0302020204030204" pitchFamily="34" charset="0"/>
                      </a:rPr>
                      <m:t>𝑥</m:t>
                    </m:r>
                    <m:r>
                      <a:rPr lang="en-US" i="1" dirty="0">
                        <a:latin typeface="Cambria Math" panose="02040503050406030204" pitchFamily="18" charset="0"/>
                        <a:cs typeface="Calibri Light" panose="020F0302020204030204" pitchFamily="34" charset="0"/>
                      </a:rPr>
                      <m:t>[</m:t>
                    </m:r>
                    <m:r>
                      <a:rPr lang="en-US" i="1" dirty="0">
                        <a:latin typeface="Cambria Math" panose="02040503050406030204" pitchFamily="18" charset="0"/>
                        <a:cs typeface="Calibri Light" panose="020F0302020204030204" pitchFamily="34" charset="0"/>
                      </a:rPr>
                      <m:t>𝑗</m:t>
                    </m:r>
                    <m:r>
                      <a:rPr lang="en-US" i="1" dirty="0">
                        <a:latin typeface="Cambria Math" panose="02040503050406030204" pitchFamily="18" charset="0"/>
                        <a:cs typeface="Calibri Light" panose="020F0302020204030204" pitchFamily="34" charset="0"/>
                      </a:rPr>
                      <m:t>] := </m:t>
                    </m:r>
                    <m:r>
                      <a:rPr lang="en-US" i="1" dirty="0">
                        <a:latin typeface="Cambria Math" panose="02040503050406030204" pitchFamily="18" charset="0"/>
                        <a:cs typeface="Calibri Light" panose="020F0302020204030204" pitchFamily="34" charset="0"/>
                      </a:rPr>
                      <m:t>𝑥</m:t>
                    </m:r>
                    <m:r>
                      <a:rPr lang="en-US" i="1" dirty="0">
                        <a:latin typeface="Cambria Math" panose="02040503050406030204" pitchFamily="18" charset="0"/>
                        <a:cs typeface="Calibri Light" panose="020F0302020204030204" pitchFamily="34" charset="0"/>
                      </a:rPr>
                      <m:t>[</m:t>
                    </m:r>
                    <m:r>
                      <a:rPr lang="en-US" i="1" dirty="0">
                        <a:latin typeface="Cambria Math" panose="02040503050406030204" pitchFamily="18" charset="0"/>
                        <a:cs typeface="Calibri Light" panose="020F0302020204030204" pitchFamily="34" charset="0"/>
                      </a:rPr>
                      <m:t>𝑗</m:t>
                    </m:r>
                    <m:r>
                      <a:rPr lang="en-US" i="1" dirty="0">
                        <a:latin typeface="Cambria Math" panose="02040503050406030204" pitchFamily="18" charset="0"/>
                        <a:cs typeface="Calibri Light" panose="020F0302020204030204" pitchFamily="34" charset="0"/>
                      </a:rPr>
                      <m:t>−1] </m:t>
                    </m:r>
                  </m:oMath>
                </a14:m>
                <a:endParaRPr lang="en-US" dirty="0">
                  <a:latin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</mc:Choice>
        <mc:Fallback xmlns="">
          <p:sp>
            <p:nvSpPr>
              <p:cNvPr id="11277" name="Text 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85800" y="1066800"/>
                <a:ext cx="10997184" cy="4766177"/>
              </a:xfrm>
              <a:prstGeom prst="rect">
                <a:avLst/>
              </a:prstGeom>
              <a:blipFill>
                <a:blip r:embed="rId3"/>
                <a:stretch>
                  <a:fillRect l="-923" t="-798" b="-1862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456967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ED9C9-21FD-B546-90A5-D4C2F7A205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Sample executions: from a legal state (single token)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95C3183-EE1D-A942-B019-BD9DC7E0D2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966" y="1690689"/>
            <a:ext cx="2535767" cy="160008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ED13FBE-3602-D647-B840-FE1970E4E7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3967" y="1690689"/>
            <a:ext cx="2535767" cy="160008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E0FD092-8921-C741-9613-2D13DAB657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67968" y="1690688"/>
            <a:ext cx="2541305" cy="160008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13595B4-96FE-2B4C-8B81-8E07FFCDF0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3834" y="1690688"/>
            <a:ext cx="2535767" cy="159454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B672E4E-7A2D-2E45-8ADA-62B7772C6153}"/>
              </a:ext>
            </a:extLst>
          </p:cNvPr>
          <p:cNvSpPr txBox="1"/>
          <p:nvPr/>
        </p:nvSpPr>
        <p:spPr>
          <a:xfrm>
            <a:off x="8961969" y="216818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CCED51F-5934-6841-A750-C8C55173F082}"/>
              </a:ext>
            </a:extLst>
          </p:cNvPr>
          <p:cNvSpPr txBox="1"/>
          <p:nvPr/>
        </p:nvSpPr>
        <p:spPr>
          <a:xfrm>
            <a:off x="408284" y="4634271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1B6B542-55F2-6D4D-ACBC-11C6BD71C229}"/>
              </a:ext>
            </a:extLst>
          </p:cNvPr>
          <p:cNvSpPr txBox="1"/>
          <p:nvPr/>
        </p:nvSpPr>
        <p:spPr>
          <a:xfrm>
            <a:off x="3794022" y="4797979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60A9DBD-4CF2-E840-A71A-0B2A2B69F0D2}"/>
              </a:ext>
            </a:extLst>
          </p:cNvPr>
          <p:cNvSpPr txBox="1"/>
          <p:nvPr/>
        </p:nvSpPr>
        <p:spPr>
          <a:xfrm>
            <a:off x="7179763" y="4833389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E72185A9-B8D3-AC41-95D2-6571E93D2E9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5199" y="4036117"/>
            <a:ext cx="2544572" cy="160008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00AD284-651D-5A49-8AB3-8E3AB8B5D6D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51919" y="4184348"/>
            <a:ext cx="2535767" cy="1591069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0ABB01A2-4AD9-6941-AB76-E9C17026714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89683" y="4202534"/>
            <a:ext cx="2544572" cy="1602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90755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1" grpId="0"/>
      <p:bldP spid="12" grpId="0"/>
      <p:bldP spid="1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32670-9060-F443-8FD2-1659B23ED1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Execution from an illegal state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5231629-FBC4-B842-90F1-A8156416DE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683" y="2146278"/>
            <a:ext cx="2863851" cy="179692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A466534-7A03-274B-B9A4-2C3C6EE4B7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9782" y="2146278"/>
            <a:ext cx="2863851" cy="1807102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C7024E5B-44FB-1040-8D95-A15F6E26D1CD}"/>
              </a:ext>
            </a:extLst>
          </p:cNvPr>
          <p:cNvCxnSpPr>
            <a:cxnSpLocks/>
          </p:cNvCxnSpPr>
          <p:nvPr/>
        </p:nvCxnSpPr>
        <p:spPr>
          <a:xfrm flipH="1">
            <a:off x="2709334" y="1862667"/>
            <a:ext cx="355599" cy="283611"/>
          </a:xfrm>
          <a:prstGeom prst="straightConnector1">
            <a:avLst/>
          </a:prstGeom>
          <a:ln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A8F0D34-C692-0C45-BAD2-4F2BAAB1824A}"/>
              </a:ext>
            </a:extLst>
          </p:cNvPr>
          <p:cNvSpPr txBox="1"/>
          <p:nvPr/>
        </p:nvSpPr>
        <p:spPr>
          <a:xfrm>
            <a:off x="7416800" y="2184400"/>
            <a:ext cx="36354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Legal in single “step”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3A70AAD-B780-E549-966F-AF4246B770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9781" y="4408970"/>
            <a:ext cx="2863851" cy="180710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B2DE080-4AA2-FF4E-BE31-BDAF218C49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683" y="4419146"/>
            <a:ext cx="2863851" cy="1796926"/>
          </a:xfrm>
          <a:prstGeom prst="rect">
            <a:avLst/>
          </a:prstGeo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D5F3F94-7F34-D64B-A904-00CC9526E368}"/>
              </a:ext>
            </a:extLst>
          </p:cNvPr>
          <p:cNvCxnSpPr>
            <a:cxnSpLocks/>
          </p:cNvCxnSpPr>
          <p:nvPr/>
        </p:nvCxnSpPr>
        <p:spPr>
          <a:xfrm flipH="1">
            <a:off x="1633009" y="4108665"/>
            <a:ext cx="355599" cy="283611"/>
          </a:xfrm>
          <a:prstGeom prst="straightConnector1">
            <a:avLst/>
          </a:prstGeom>
          <a:ln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A46F5C1-3497-2D4F-82B9-2A11BBE07A38}"/>
              </a:ext>
            </a:extLst>
          </p:cNvPr>
          <p:cNvCxnSpPr>
            <a:cxnSpLocks/>
          </p:cNvCxnSpPr>
          <p:nvPr/>
        </p:nvCxnSpPr>
        <p:spPr>
          <a:xfrm flipH="1">
            <a:off x="5918200" y="4108664"/>
            <a:ext cx="355599" cy="283611"/>
          </a:xfrm>
          <a:prstGeom prst="straightConnector1">
            <a:avLst/>
          </a:prstGeom>
          <a:ln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B57F659F-2C89-3545-BF3E-419BBEC1B2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2879" y="4419146"/>
            <a:ext cx="2863851" cy="1807102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8CA361BA-5CCC-6A40-9772-D72C47844C6F}"/>
              </a:ext>
            </a:extLst>
          </p:cNvPr>
          <p:cNvSpPr txBox="1"/>
          <p:nvPr/>
        </p:nvSpPr>
        <p:spPr>
          <a:xfrm>
            <a:off x="8385650" y="3747102"/>
            <a:ext cx="31406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Legal in two steps</a:t>
            </a:r>
          </a:p>
        </p:txBody>
      </p:sp>
    </p:spTree>
    <p:extLst>
      <p:ext uri="{BB962C8B-B14F-4D97-AF65-F5344CB8AC3E}">
        <p14:creationId xmlns:p14="http://schemas.microsoft.com/office/powerpoint/2010/main" val="24147247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sz="3600" dirty="0"/>
              <a:t>Synchronous model: All processes update simultaneously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417CDEB-59C2-494C-B916-ABA6EEECE1D0}"/>
              </a:ext>
            </a:extLst>
          </p:cNvPr>
          <p:cNvSpPr txBox="1"/>
          <p:nvPr/>
        </p:nvSpPr>
        <p:spPr>
          <a:xfrm>
            <a:off x="838200" y="1325563"/>
            <a:ext cx="5739072" cy="50167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has_token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(x,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, N):</a:t>
            </a:r>
          </a:p>
          <a:p>
            <a:r>
              <a:rPr lang="en-US" sz="16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"""Return True if process </a:t>
            </a:r>
            <a:r>
              <a:rPr lang="en-US" sz="1600" b="0" dirty="0" err="1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US" sz="16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 has the token."""</a:t>
            </a:r>
            <a:endParaRPr lang="en-US" sz="16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6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== </a:t>
            </a:r>
            <a:r>
              <a:rPr lang="en-US" sz="16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r>
              <a:rPr lang="en-US" sz="1600" dirty="0">
                <a:solidFill>
                  <a:srgbClr val="0000FF"/>
                </a:solidFill>
                <a:latin typeface="Menlo" panose="020B0609030804020204" pitchFamily="49" charset="0"/>
              </a:rPr>
              <a:t>   </a:t>
            </a:r>
            <a:r>
              <a:rPr lang="en-US" sz="16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x[</a:t>
            </a:r>
            <a:r>
              <a:rPr lang="en-US" sz="16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] == x[N - </a:t>
            </a:r>
            <a:r>
              <a:rPr lang="en-US" sz="16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]</a:t>
            </a:r>
          </a:p>
          <a:p>
            <a:r>
              <a:rPr lang="en-US" sz="16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else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r>
              <a:rPr lang="en-US" sz="1600" dirty="0">
                <a:solidFill>
                  <a:srgbClr val="0000FF"/>
                </a:solidFill>
                <a:latin typeface="Menlo" panose="020B0609030804020204" pitchFamily="49" charset="0"/>
              </a:rPr>
              <a:t>   </a:t>
            </a:r>
            <a:r>
              <a:rPr lang="en-US" sz="16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x[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] != x[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- </a:t>
            </a:r>
            <a:r>
              <a:rPr lang="en-US" sz="16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]</a:t>
            </a:r>
          </a:p>
          <a:p>
            <a:b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simulate(N, K, T,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delta_t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):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x = </a:t>
            </a:r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[0]*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N</a:t>
            </a:r>
          </a:p>
          <a:p>
            <a:b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while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t &lt;= T: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x_old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=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x.copy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() </a:t>
            </a:r>
            <a:r>
              <a:rPr lang="en-US" sz="1600" b="0" dirty="0">
                <a:solidFill>
                  <a:srgbClr val="00B050"/>
                </a:solidFill>
                <a:effectLst/>
                <a:latin typeface="Menlo" panose="020B0609030804020204" pitchFamily="49" charset="0"/>
              </a:rPr>
              <a:t>// Update</a:t>
            </a:r>
          </a:p>
          <a:p>
            <a:b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</a:b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 </a:t>
            </a:r>
            <a:r>
              <a:rPr lang="en-US" sz="16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for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in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range(N):</a:t>
            </a:r>
          </a:p>
          <a:p>
            <a:r>
              <a:rPr lang="en-US" sz="16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      if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has_token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x_old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, N):</a:t>
            </a:r>
          </a:p>
          <a:p>
            <a:r>
              <a:rPr lang="en-US" sz="16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         if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== </a:t>
            </a:r>
            <a:r>
              <a:rPr lang="en-US" sz="16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          x[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] = (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x_old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[</a:t>
            </a:r>
            <a:r>
              <a:rPr lang="en-US" sz="16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] + </a:t>
            </a:r>
            <a:r>
              <a:rPr lang="en-US" sz="16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 % K</a:t>
            </a:r>
          </a:p>
          <a:p>
            <a:r>
              <a:rPr lang="en-US" sz="16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         else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          x[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] =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x_old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[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- </a:t>
            </a:r>
            <a:r>
              <a:rPr lang="en-US" sz="16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]</a:t>
            </a:r>
          </a:p>
          <a:p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1285756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694944" y="0"/>
            <a:ext cx="10984992" cy="1325563"/>
          </a:xfrm>
        </p:spPr>
        <p:txBody>
          <a:bodyPr>
            <a:normAutofit/>
          </a:bodyPr>
          <a:lstStyle/>
          <a:p>
            <a:r>
              <a:rPr lang="en-US" dirty="0"/>
              <a:t>Synchronous state machine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417CDEB-59C2-494C-B916-ABA6EEECE1D0}"/>
                  </a:ext>
                </a:extLst>
              </p:cNvPr>
              <p:cNvSpPr txBox="1"/>
              <p:nvPr/>
            </p:nvSpPr>
            <p:spPr>
              <a:xfrm>
                <a:off x="838200" y="1137634"/>
                <a:ext cx="10984992" cy="52629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A </a:t>
                </a:r>
                <a:r>
                  <a:rPr lang="en-US" sz="2400" i="1" dirty="0"/>
                  <a:t>state machine </a:t>
                </a:r>
                <a:r>
                  <a:rPr lang="en-US" sz="2400" dirty="0"/>
                  <a:t>or an </a:t>
                </a:r>
                <a:r>
                  <a:rPr lang="en-US" sz="2400" i="1" dirty="0"/>
                  <a:t>automaton</a:t>
                </a:r>
                <a:r>
                  <a:rPr lang="en-US" sz="2400" dirty="0"/>
                  <a:t> models the behavior of a system in terms of valuations of  </a:t>
                </a:r>
                <a:r>
                  <a:rPr lang="en-US" sz="2400" i="1" dirty="0"/>
                  <a:t>state variables </a:t>
                </a:r>
                <a:r>
                  <a:rPr lang="en-US" sz="2400" dirty="0"/>
                  <a:t>and </a:t>
                </a:r>
                <a:r>
                  <a:rPr lang="en-US" sz="2400" i="1" dirty="0"/>
                  <a:t>transitions</a:t>
                </a:r>
                <a:r>
                  <a:rPr lang="en-US" sz="2400" dirty="0"/>
                  <a:t> </a:t>
                </a:r>
              </a:p>
              <a:p>
                <a:endParaRPr lang="en-US" sz="2400" b="1" dirty="0"/>
              </a:p>
              <a:p>
                <a:r>
                  <a:rPr lang="en-US" sz="2400" b="1" dirty="0"/>
                  <a:t>automaton</a:t>
                </a:r>
                <a:r>
                  <a:rPr lang="en-US" sz="2400" dirty="0"/>
                  <a:t> </a:t>
                </a:r>
                <a:r>
                  <a:rPr lang="en-US" sz="2400" dirty="0" err="1">
                    <a:solidFill>
                      <a:srgbClr val="0119FF"/>
                    </a:solidFill>
                  </a:rPr>
                  <a:t>DijkstraTR</a:t>
                </a:r>
                <a:r>
                  <a:rPr lang="en-US" sz="2400" dirty="0"/>
                  <a:t>(</a:t>
                </a:r>
                <a:r>
                  <a:rPr lang="en-US" sz="2400" dirty="0" err="1"/>
                  <a:t>N:</a:t>
                </a:r>
                <a:r>
                  <a:rPr lang="en-US" sz="2400" dirty="0" err="1">
                    <a:solidFill>
                      <a:srgbClr val="00B050"/>
                    </a:solidFill>
                  </a:rPr>
                  <a:t>Nat</a:t>
                </a:r>
                <a:r>
                  <a:rPr lang="en-US" sz="2400" dirty="0"/>
                  <a:t>, </a:t>
                </a:r>
                <a:r>
                  <a:rPr lang="en-US" sz="2400" dirty="0" err="1"/>
                  <a:t>K:</a:t>
                </a:r>
                <a:r>
                  <a:rPr lang="en-US" sz="2400" dirty="0" err="1">
                    <a:solidFill>
                      <a:srgbClr val="00B050"/>
                    </a:solidFill>
                  </a:rPr>
                  <a:t>Nat</a:t>
                </a:r>
                <a:r>
                  <a:rPr lang="en-US" sz="2400" dirty="0"/>
                  <a:t>), </a:t>
                </a:r>
                <a:r>
                  <a:rPr lang="en-US" sz="2400" b="1" dirty="0"/>
                  <a:t>where</a:t>
                </a:r>
                <a:r>
                  <a:rPr lang="en-US" sz="2400" dirty="0"/>
                  <a:t> K &gt; N</a:t>
                </a:r>
                <a:endParaRPr lang="en-US" sz="2400" b="1" dirty="0"/>
              </a:p>
              <a:p>
                <a:r>
                  <a:rPr lang="en-US" sz="2400" b="1" dirty="0"/>
                  <a:t>   variables</a:t>
                </a:r>
              </a:p>
              <a:p>
                <a:r>
                  <a:rPr lang="en-US" sz="2400" dirty="0"/>
                  <a:t>      </a:t>
                </a:r>
                <a:r>
                  <a:rPr lang="en-US" sz="2400" dirty="0">
                    <a:solidFill>
                      <a:srgbClr val="0119FF"/>
                    </a:solidFill>
                  </a:rPr>
                  <a:t>x</a:t>
                </a:r>
                <a:r>
                  <a:rPr lang="en-US" sz="2400" dirty="0"/>
                  <a:t>:[[N] -&gt; K]</a:t>
                </a:r>
              </a:p>
              <a:p>
                <a:endParaRPr lang="en-US" sz="2400" dirty="0"/>
              </a:p>
              <a:p>
                <a:r>
                  <a:rPr lang="en-US" sz="2400" dirty="0"/>
                  <a:t>   </a:t>
                </a:r>
                <a:r>
                  <a:rPr lang="en-US" sz="2400" b="1" dirty="0"/>
                  <a:t>transitions</a:t>
                </a:r>
              </a:p>
              <a:p>
                <a:r>
                  <a:rPr lang="en-US" sz="2400" b="1" dirty="0"/>
                  <a:t>       </a:t>
                </a:r>
                <a:r>
                  <a:rPr lang="en-US" sz="2400" dirty="0">
                    <a:solidFill>
                      <a:srgbClr val="0119FF"/>
                    </a:solidFill>
                  </a:rPr>
                  <a:t>Update</a:t>
                </a:r>
              </a:p>
              <a:p>
                <a:r>
                  <a:rPr lang="en-US" sz="2400" b="1" dirty="0"/>
                  <a:t>        for each </a:t>
                </a:r>
                <a:r>
                  <a:rPr lang="en-US" sz="2400" dirty="0" err="1"/>
                  <a:t>i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∈ </m:t>
                    </m:r>
                  </m:oMath>
                </a14:m>
                <a:r>
                  <a:rPr lang="en-US" sz="2400" dirty="0"/>
                  <a:t>[N]</a:t>
                </a:r>
                <a:endParaRPr lang="en-US" sz="2400" b="1" dirty="0"/>
              </a:p>
              <a:p>
                <a:r>
                  <a:rPr lang="en-US" sz="2400" b="1" dirty="0"/>
                  <a:t>            if </a:t>
                </a:r>
                <a:r>
                  <a:rPr lang="en-US" sz="2400" dirty="0" err="1"/>
                  <a:t>has_token</a:t>
                </a:r>
                <a:r>
                  <a:rPr lang="en-US" sz="2400" dirty="0"/>
                  <a:t>(</a:t>
                </a:r>
                <a:r>
                  <a:rPr lang="en-US" sz="2400" dirty="0" err="1"/>
                  <a:t>i</a:t>
                </a:r>
                <a:r>
                  <a:rPr lang="en-US" sz="2400" dirty="0"/>
                  <a:t>) and </a:t>
                </a:r>
                <a:r>
                  <a:rPr lang="en-US" sz="2400" dirty="0" err="1"/>
                  <a:t>i</a:t>
                </a:r>
                <a:r>
                  <a:rPr lang="en-US" sz="2400" dirty="0"/>
                  <a:t> == 0        </a:t>
                </a:r>
              </a:p>
              <a:p>
                <a:r>
                  <a:rPr lang="en-US" sz="2400" dirty="0"/>
                  <a:t>                   x[</a:t>
                </a:r>
                <a:r>
                  <a:rPr lang="en-US" sz="2400" dirty="0" err="1"/>
                  <a:t>i</a:t>
                </a:r>
                <a:r>
                  <a:rPr lang="en-US" sz="2400" dirty="0"/>
                  <a:t>] = (x[</a:t>
                </a:r>
                <a:r>
                  <a:rPr lang="en-US" sz="2400" dirty="0" err="1"/>
                  <a:t>i</a:t>
                </a:r>
                <a:r>
                  <a:rPr lang="en-US" sz="2400" dirty="0"/>
                  <a:t>] + 1) %  K</a:t>
                </a:r>
              </a:p>
              <a:p>
                <a:r>
                  <a:rPr lang="en-US" sz="2400" dirty="0"/>
                  <a:t>            </a:t>
                </a:r>
                <a:r>
                  <a:rPr lang="en-US" sz="2400" b="1" dirty="0"/>
                  <a:t>if </a:t>
                </a:r>
                <a:r>
                  <a:rPr lang="en-US" sz="2400" dirty="0" err="1"/>
                  <a:t>has_token</a:t>
                </a:r>
                <a:r>
                  <a:rPr lang="en-US" sz="2400" dirty="0"/>
                  <a:t>(</a:t>
                </a:r>
                <a:r>
                  <a:rPr lang="en-US" sz="2400" dirty="0" err="1"/>
                  <a:t>i</a:t>
                </a:r>
                <a:r>
                  <a:rPr lang="en-US" sz="2400" dirty="0"/>
                  <a:t>) and </a:t>
                </a:r>
                <a:r>
                  <a:rPr lang="en-US" sz="2400" dirty="0" err="1"/>
                  <a:t>i</a:t>
                </a:r>
                <a:r>
                  <a:rPr lang="en-US" sz="2400" dirty="0"/>
                  <a:t>&gt; 0        </a:t>
                </a:r>
              </a:p>
              <a:p>
                <a:r>
                  <a:rPr lang="en-US" sz="2400" dirty="0"/>
                  <a:t>                   x[</a:t>
                </a:r>
                <a:r>
                  <a:rPr lang="en-US" sz="2400" dirty="0" err="1"/>
                  <a:t>i</a:t>
                </a:r>
                <a:r>
                  <a:rPr lang="en-US" sz="2400" dirty="0"/>
                  <a:t>] = x[i-1]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417CDEB-59C2-494C-B916-ABA6EEECE1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137634"/>
                <a:ext cx="10984992" cy="5262979"/>
              </a:xfrm>
              <a:prstGeom prst="rect">
                <a:avLst/>
              </a:prstGeom>
              <a:blipFill>
                <a:blip r:embed="rId2"/>
                <a:stretch>
                  <a:fillRect l="-924" t="-962" b="-14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458011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511BB6-A486-375B-F43E-0D3D3860A8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Synchronous Token Ring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CB30172-78C2-41FC-0390-4C8A6B5469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600" y="1539598"/>
            <a:ext cx="10210800" cy="5043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41516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F413D854-4853-9465-E965-02CFAFB14BD7}"/>
              </a:ext>
            </a:extLst>
          </p:cNvPr>
          <p:cNvSpPr/>
          <p:nvPr/>
        </p:nvSpPr>
        <p:spPr>
          <a:xfrm>
            <a:off x="694944" y="1524000"/>
            <a:ext cx="5401056" cy="496466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694944" y="0"/>
            <a:ext cx="10984992" cy="1325563"/>
          </a:xfrm>
        </p:spPr>
        <p:txBody>
          <a:bodyPr>
            <a:normAutofit/>
          </a:bodyPr>
          <a:lstStyle/>
          <a:p>
            <a:r>
              <a:rPr lang="en-US" dirty="0"/>
              <a:t>Asynchronous Nondeterministic Automaton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417CDEB-59C2-494C-B916-ABA6EEECE1D0}"/>
                  </a:ext>
                </a:extLst>
              </p:cNvPr>
              <p:cNvSpPr txBox="1"/>
              <p:nvPr/>
            </p:nvSpPr>
            <p:spPr>
              <a:xfrm>
                <a:off x="838200" y="876955"/>
                <a:ext cx="6629400" cy="54476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We will write automata precisely using this style </a:t>
                </a:r>
              </a:p>
              <a:p>
                <a:endParaRPr lang="en-US" sz="2400" b="1" dirty="0"/>
              </a:p>
              <a:p>
                <a:r>
                  <a:rPr lang="en-US" sz="2000" b="1" dirty="0"/>
                  <a:t>automaton</a:t>
                </a:r>
                <a:r>
                  <a:rPr lang="en-US" sz="2000" dirty="0"/>
                  <a:t> </a:t>
                </a:r>
                <a:r>
                  <a:rPr lang="en-US" sz="2000" dirty="0" err="1">
                    <a:solidFill>
                      <a:srgbClr val="0119FF"/>
                    </a:solidFill>
                  </a:rPr>
                  <a:t>DijkstraTR</a:t>
                </a:r>
                <a:r>
                  <a:rPr lang="en-US" sz="2000" dirty="0"/>
                  <a:t>(</a:t>
                </a:r>
                <a:r>
                  <a:rPr lang="en-US" sz="2000" dirty="0" err="1"/>
                  <a:t>N: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ℕ</m:t>
                    </m:r>
                  </m:oMath>
                </a14:m>
                <a:r>
                  <a:rPr lang="en-US" sz="2000" dirty="0"/>
                  <a:t>, </a:t>
                </a:r>
                <a:r>
                  <a:rPr lang="en-US" sz="2000" dirty="0" err="1"/>
                  <a:t>K:</a:t>
                </a:r>
                <a:r>
                  <a:rPr lang="en-US" sz="2000" dirty="0">
                    <a:solidFill>
                      <a:srgbClr val="00B050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i="1" dirty="0">
                        <a:solidFill>
                          <a:srgbClr val="00B05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ℕ</m:t>
                    </m:r>
                  </m:oMath>
                </a14:m>
                <a:r>
                  <a:rPr lang="en-US" sz="2000" dirty="0"/>
                  <a:t>), </a:t>
                </a:r>
                <a:r>
                  <a:rPr lang="en-US" sz="2000" b="1" dirty="0"/>
                  <a:t>where</a:t>
                </a:r>
                <a:r>
                  <a:rPr lang="en-US" sz="2000" dirty="0"/>
                  <a:t> K &gt; N</a:t>
                </a:r>
                <a:endParaRPr lang="en-US" sz="2000" b="1" dirty="0"/>
              </a:p>
              <a:p>
                <a:endParaRPr lang="en-US" sz="2000" b="1" dirty="0"/>
              </a:p>
              <a:p>
                <a:r>
                  <a:rPr lang="en-US" sz="2000" b="1" dirty="0"/>
                  <a:t>   variables</a:t>
                </a:r>
              </a:p>
              <a:p>
                <a:r>
                  <a:rPr lang="en-US" sz="2000" dirty="0"/>
                  <a:t>      </a:t>
                </a:r>
                <a:r>
                  <a:rPr lang="en-US" sz="2000" dirty="0">
                    <a:solidFill>
                      <a:srgbClr val="0119FF"/>
                    </a:solidFill>
                  </a:rPr>
                  <a:t>x</a:t>
                </a:r>
                <a:r>
                  <a:rPr lang="en-US" sz="2000" dirty="0"/>
                  <a:t>:[[N] -&gt; [K]]</a:t>
                </a:r>
              </a:p>
              <a:p>
                <a:endParaRPr lang="en-US" sz="2000" b="1" dirty="0"/>
              </a:p>
              <a:p>
                <a:r>
                  <a:rPr lang="en-US" sz="2000" b="1" dirty="0"/>
                  <a:t>   actions</a:t>
                </a:r>
              </a:p>
              <a:p>
                <a:r>
                  <a:rPr lang="en-US" sz="2000" dirty="0"/>
                  <a:t>      </a:t>
                </a:r>
                <a:r>
                  <a:rPr lang="en-US" sz="2000" dirty="0">
                    <a:solidFill>
                      <a:srgbClr val="0119FF"/>
                    </a:solidFill>
                  </a:rPr>
                  <a:t>update</a:t>
                </a:r>
                <a:r>
                  <a:rPr lang="en-US" sz="2000" dirty="0"/>
                  <a:t>(</a:t>
                </a:r>
                <a:r>
                  <a:rPr lang="en-US" sz="2000" dirty="0" err="1"/>
                  <a:t>i</a:t>
                </a:r>
                <a:r>
                  <a:rPr lang="en-US" sz="2000" dirty="0"/>
                  <a:t>:[N])</a:t>
                </a:r>
              </a:p>
              <a:p>
                <a:endParaRPr lang="en-US" sz="2000" dirty="0"/>
              </a:p>
              <a:p>
                <a:r>
                  <a:rPr lang="en-US" sz="2000" dirty="0"/>
                  <a:t>   </a:t>
                </a:r>
                <a:r>
                  <a:rPr lang="en-US" sz="2000" b="1" dirty="0"/>
                  <a:t>transitions</a:t>
                </a:r>
              </a:p>
              <a:p>
                <a:r>
                  <a:rPr lang="en-US" sz="2000" b="1" dirty="0"/>
                  <a:t>       </a:t>
                </a:r>
                <a:r>
                  <a:rPr lang="en-US" sz="2000" dirty="0">
                    <a:solidFill>
                      <a:srgbClr val="0119FF"/>
                    </a:solidFill>
                  </a:rPr>
                  <a:t>Update(p=0)</a:t>
                </a:r>
              </a:p>
              <a:p>
                <a:r>
                  <a:rPr lang="en-US" sz="2000" b="1" dirty="0"/>
                  <a:t>          Pre </a:t>
                </a:r>
                <a:r>
                  <a:rPr lang="en-US" sz="2000" dirty="0" err="1"/>
                  <a:t>has_token</a:t>
                </a:r>
                <a:r>
                  <a:rPr lang="en-US" sz="2000" dirty="0"/>
                  <a:t>(</a:t>
                </a:r>
                <a:r>
                  <a:rPr lang="en-US" sz="2000" dirty="0" err="1"/>
                  <a:t>i</a:t>
                </a:r>
                <a:r>
                  <a:rPr lang="en-US" sz="2000" dirty="0"/>
                  <a:t>) and </a:t>
                </a:r>
                <a:r>
                  <a:rPr lang="en-US" sz="2000" dirty="0" err="1"/>
                  <a:t>i</a:t>
                </a:r>
                <a:r>
                  <a:rPr lang="en-US" sz="2000" dirty="0"/>
                  <a:t>== p        </a:t>
                </a:r>
              </a:p>
              <a:p>
                <a:r>
                  <a:rPr lang="en-US" sz="2000" dirty="0"/>
                  <a:t>          </a:t>
                </a:r>
                <a:r>
                  <a:rPr lang="en-US" sz="2000" b="1" dirty="0"/>
                  <a:t>Eff</a:t>
                </a:r>
                <a:r>
                  <a:rPr lang="en-US" sz="2000" dirty="0"/>
                  <a:t> x[</a:t>
                </a:r>
                <a:r>
                  <a:rPr lang="en-US" sz="2000" dirty="0" err="1"/>
                  <a:t>i</a:t>
                </a:r>
                <a:r>
                  <a:rPr lang="en-US" sz="2000" dirty="0"/>
                  <a:t>] = (x[</a:t>
                </a:r>
                <a:r>
                  <a:rPr lang="en-US" sz="2000" dirty="0" err="1"/>
                  <a:t>i</a:t>
                </a:r>
                <a:r>
                  <a:rPr lang="en-US" sz="2000" dirty="0"/>
                  <a:t>] + 1) %  K</a:t>
                </a:r>
              </a:p>
              <a:p>
                <a:r>
                  <a:rPr lang="en-US" sz="2000" dirty="0"/>
                  <a:t>       </a:t>
                </a:r>
                <a:r>
                  <a:rPr lang="en-US" sz="2000" dirty="0">
                    <a:solidFill>
                      <a:srgbClr val="0119FF"/>
                    </a:solidFill>
                  </a:rPr>
                  <a:t>Update(p&gt;0)</a:t>
                </a:r>
                <a:endParaRPr lang="en-US" sz="2000" dirty="0"/>
              </a:p>
              <a:p>
                <a:r>
                  <a:rPr lang="en-US" sz="2000" dirty="0"/>
                  <a:t>          </a:t>
                </a:r>
                <a:r>
                  <a:rPr lang="en-US" sz="2000" b="1" dirty="0"/>
                  <a:t>Pre </a:t>
                </a:r>
                <a:r>
                  <a:rPr lang="en-US" sz="2000" dirty="0" err="1"/>
                  <a:t>has_token</a:t>
                </a:r>
                <a:r>
                  <a:rPr lang="en-US" sz="2000" dirty="0"/>
                  <a:t>(</a:t>
                </a:r>
                <a:r>
                  <a:rPr lang="en-US" sz="2000" dirty="0" err="1"/>
                  <a:t>i</a:t>
                </a:r>
                <a:r>
                  <a:rPr lang="en-US" sz="2000" dirty="0"/>
                  <a:t>) and </a:t>
                </a:r>
                <a:r>
                  <a:rPr lang="en-US" sz="2000" dirty="0" err="1"/>
                  <a:t>i</a:t>
                </a:r>
                <a:r>
                  <a:rPr lang="en-US" sz="2000" dirty="0"/>
                  <a:t> == p        </a:t>
                </a:r>
              </a:p>
              <a:p>
                <a:r>
                  <a:rPr lang="en-US" sz="2000" dirty="0"/>
                  <a:t>          </a:t>
                </a:r>
                <a:r>
                  <a:rPr lang="en-US" sz="2000" b="1" dirty="0"/>
                  <a:t>Eff </a:t>
                </a:r>
                <a:r>
                  <a:rPr lang="en-US" sz="2000" dirty="0"/>
                  <a:t>x[</a:t>
                </a:r>
                <a:r>
                  <a:rPr lang="en-US" sz="2000" dirty="0" err="1"/>
                  <a:t>i</a:t>
                </a:r>
                <a:r>
                  <a:rPr lang="en-US" sz="2000" dirty="0"/>
                  <a:t>] = x[i-1]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417CDEB-59C2-494C-B916-ABA6EEECE1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876955"/>
                <a:ext cx="6629400" cy="5447645"/>
              </a:xfrm>
              <a:prstGeom prst="rect">
                <a:avLst/>
              </a:prstGeom>
              <a:blipFill>
                <a:blip r:embed="rId2"/>
                <a:stretch>
                  <a:fillRect l="-1533" t="-930" b="-9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D3687F32-24D9-3597-E902-F2C730820B4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398260" y="1539081"/>
                <a:ext cx="5806440" cy="457200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342900" indent="-342900" algn="l" defTabSz="914400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914400" rtl="0" eaLnBrk="1" latinLnBrk="0" hangingPunct="1">
                  <a:spcBef>
                    <a:spcPct val="20000"/>
                  </a:spcBef>
                  <a:buFont typeface="Arial" pitchFamily="34" charset="0"/>
                  <a:buChar char="–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spcBef>
                    <a:spcPct val="20000"/>
                  </a:spcBef>
                  <a:buFont typeface="Arial" pitchFamily="34" charset="0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spcBef>
                    <a:spcPct val="20000"/>
                  </a:spcBef>
                  <a:buFont typeface="Arial" pitchFamily="34" charset="0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2000" dirty="0"/>
                  <a:t>An </a:t>
                </a:r>
                <a:r>
                  <a:rPr lang="en-US" sz="2000" b="1" dirty="0"/>
                  <a:t>automaton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/>
                  <a:t>is a 4-tuple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〈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𝒟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〉</m:t>
                    </m:r>
                  </m:oMath>
                </a14:m>
                <a:r>
                  <a:rPr lang="en-US" sz="2000" dirty="0"/>
                  <a:t> where</a:t>
                </a:r>
              </a:p>
              <a:p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={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2000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𝑡𝑦𝑝𝑒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→[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sz="2000" dirty="0"/>
              </a:p>
              <a:p>
                <a:r>
                  <a:rPr lang="en-US" sz="2000" b="1" dirty="0"/>
                  <a:t>State space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≡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</m:d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</m:sSup>
                  </m:oMath>
                </a14:m>
                <a:endParaRPr lang="en-US" sz="2000" dirty="0"/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…</m:t>
                    </m:r>
                  </m:oMath>
                </a14:m>
                <a:endParaRPr lang="en-US" sz="2000" b="1" dirty="0"/>
              </a:p>
              <a:p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={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𝑢𝑝𝑑𝑎𝑡𝑒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𝑢𝑝𝑑𝑎𝑡𝑒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,…,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𝑢𝑝𝑑𝑎𝑡𝑒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−1)}</m:t>
                    </m:r>
                  </m:oMath>
                </a14:m>
                <a:r>
                  <a:rPr lang="en-US" sz="2000" dirty="0"/>
                  <a:t> </a:t>
                </a:r>
                <a:endParaRPr lang="en-US" sz="2000" b="1" dirty="0"/>
              </a:p>
              <a:p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𝒟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⟨"/>
                            <m:endChr m:val="⟩"/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𝑢𝑝𝑑𝑎𝑡𝑒</m:t>
                                </m:r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), </m:t>
                                </m:r>
                                <m:r>
                                  <a:rPr lang="en-US" sz="20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  <m:sup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20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en-US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e>
                    </m:d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 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h𝑎𝑠𝑇𝑜𝑘𝑒𝑛</m:t>
                    </m:r>
                    <m:r>
                      <a:rPr lang="en-US" sz="16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16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𝒙</m:t>
                    </m:r>
                    <m:r>
                      <a:rPr lang="en-US" sz="16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 dirty="0"/>
                  <a:t> </a:t>
                </a:r>
              </a:p>
              <a:p>
                <a:pPr lvl="1"/>
                <a:r>
                  <a:rPr lang="en-US" sz="1600" b="0" dirty="0">
                    <a:ea typeface="Cambria Math" panose="02040503050406030204" pitchFamily="18" charset="0"/>
                  </a:rPr>
                  <a:t>If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1600" dirty="0"/>
                  <a:t> then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6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𝒙</m:t>
                        </m:r>
                      </m:e>
                      <m:sup>
                        <m:r>
                          <a:rPr lang="en-US" sz="16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begChr m:val="["/>
                        <m:endChr m:val="]"/>
                        <m:ctrlPr>
                          <a:rPr lang="en-US" sz="16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sz="16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16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𝒙</m:t>
                    </m:r>
                    <m:d>
                      <m:dPr>
                        <m:begChr m:val="["/>
                        <m:endChr m:val="]"/>
                        <m:ctrlPr>
                          <a:rPr lang="en-US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% 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1600" dirty="0"/>
                  <a:t> </a:t>
                </a:r>
              </a:p>
              <a:p>
                <a:pPr lvl="1"/>
                <a:r>
                  <a:rPr lang="en-US" sz="1600" b="0" dirty="0">
                    <a:ea typeface="Cambria Math" panose="02040503050406030204" pitchFamily="18" charset="0"/>
                  </a:rPr>
                  <a:t>If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≠0</m:t>
                    </m:r>
                  </m:oMath>
                </a14:m>
                <a:r>
                  <a:rPr lang="en-US" sz="1600" dirty="0"/>
                  <a:t> then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6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𝒙</m:t>
                        </m:r>
                      </m:e>
                      <m:sup>
                        <m:r>
                          <a:rPr lang="en-US" sz="16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begChr m:val="["/>
                        <m:endChr m:val="]"/>
                        <m:ctrlPr>
                          <a:rPr lang="en-US" sz="16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sz="16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16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𝒙</m:t>
                    </m:r>
                    <m:d>
                      <m:dPr>
                        <m:begChr m:val="["/>
                        <m:endChr m:val="]"/>
                        <m:ctrlPr>
                          <a:rPr lang="en-US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e>
                    </m:d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600" dirty="0"/>
                  <a:t> </a:t>
                </a:r>
              </a:p>
              <a:p>
                <a:pPr lvl="1"/>
                <a:endParaRPr lang="en-US" sz="1600" dirty="0"/>
              </a:p>
              <a:p>
                <a:pPr marL="0" indent="0">
                  <a:buNone/>
                </a:pPr>
                <a:r>
                  <a:rPr lang="en-US" sz="2000" dirty="0"/>
                  <a:t>This is a nondeterministic automaton. </a:t>
                </a:r>
              </a:p>
              <a:p>
                <a:pPr marL="0" indent="0">
                  <a:buNone/>
                </a:pPr>
                <a:endParaRPr lang="en-US" sz="2000" dirty="0"/>
              </a:p>
              <a:p>
                <a:pPr marL="0" indent="0">
                  <a:buNone/>
                </a:pPr>
                <a:r>
                  <a:rPr lang="en-US" sz="2000" dirty="0"/>
                  <a:t>All processes with tokens </a:t>
                </a:r>
                <a:r>
                  <a:rPr lang="en-US" sz="2000" b="1" dirty="0"/>
                  <a:t>could </a:t>
                </a:r>
                <a:r>
                  <a:rPr lang="en-US" sz="2000" dirty="0"/>
                  <a:t>perform a transition</a:t>
                </a:r>
              </a:p>
              <a:p>
                <a:pPr lvl="1"/>
                <a:endParaRPr lang="en-US" sz="1600" dirty="0"/>
              </a:p>
              <a:p>
                <a:pPr marL="0" indent="0">
                  <a:lnSpc>
                    <a:spcPct val="120000"/>
                  </a:lnSpc>
                  <a:buFont typeface="Arial" pitchFamily="34" charset="0"/>
                  <a:buNone/>
                </a:pPr>
                <a:endParaRPr lang="en-US" sz="2000" dirty="0"/>
              </a:p>
              <a:p>
                <a:pPr marL="0" indent="0">
                  <a:lnSpc>
                    <a:spcPct val="120000"/>
                  </a:lnSpc>
                  <a:buFont typeface="Arial" pitchFamily="34" charset="0"/>
                  <a:buNone/>
                </a:pPr>
                <a:endParaRPr lang="en-US" sz="2000" dirty="0"/>
              </a:p>
            </p:txBody>
          </p:sp>
        </mc:Choice>
        <mc:Fallback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D3687F32-24D9-3597-E902-F2C730820B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8260" y="1539081"/>
                <a:ext cx="5806440" cy="4572000"/>
              </a:xfrm>
              <a:prstGeom prst="rect">
                <a:avLst/>
              </a:prstGeom>
              <a:blipFill>
                <a:blip r:embed="rId3"/>
                <a:stretch>
                  <a:fillRect l="-1313" t="-1108" b="-16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493045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36FBAF-DEF9-656A-D929-33A8BF21A2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E9CA566-A429-FB44-9587-73BE50C8BCE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7529" r="7011"/>
          <a:stretch/>
        </p:blipFill>
        <p:spPr>
          <a:xfrm>
            <a:off x="1981200" y="609600"/>
            <a:ext cx="8619399" cy="61112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43146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F18788-645D-F8F7-F8AA-E963E9782D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Nondeterministic execution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2C7E8EE-8846-640B-9ED3-FEDA1A80E9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9916" y="1293382"/>
            <a:ext cx="8972167" cy="5564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07272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684503"/>
          </a:xfrm>
        </p:spPr>
        <p:txBody>
          <a:bodyPr>
            <a:normAutofit fontScale="90000"/>
          </a:bodyPr>
          <a:lstStyle/>
          <a:p>
            <a:r>
              <a:rPr lang="en-US" dirty="0"/>
              <a:t>Internal and External Nondeterminism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43000"/>
                <a:ext cx="10515600" cy="4351338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00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is </a:t>
                </a:r>
                <a:r>
                  <a:rPr lang="en-US" sz="2000" b="1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deterministic</a:t>
                </a:r>
                <a:r>
                  <a:rPr lang="en-US" sz="20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 if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000">
                            <a:latin typeface="Cambria Math" panose="02040503050406030204" pitchFamily="18" charset="0"/>
                          </a:rPr>
                          <m:t>Θ</m:t>
                        </m:r>
                      </m:e>
                    </m:d>
                    <m:r>
                      <a:rPr lang="en-US" sz="200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20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 and there is at most one next state </a:t>
                </a:r>
                <a14:m>
                  <m:oMath xmlns:m="http://schemas.openxmlformats.org/officeDocument/2006/math">
                    <m:r>
                      <a:rPr lang="en-US" sz="2000" b="1" i="1">
                        <a:latin typeface="Cambria Math" panose="02040503050406030204" pitchFamily="18" charset="0"/>
                      </a:rPr>
                      <m:t>𝒗</m:t>
                    </m:r>
                    <m:r>
                      <a:rPr lang="en-US" sz="2000" b="1" i="1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20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 from any state </a:t>
                </a:r>
                <a14:m>
                  <m:oMath xmlns:m="http://schemas.openxmlformats.org/officeDocument/2006/math">
                    <m:r>
                      <a:rPr lang="en-US" sz="2000" b="1" i="1">
                        <a:latin typeface="Cambria Math" panose="02040503050406030204" pitchFamily="18" charset="0"/>
                      </a:rPr>
                      <m:t>𝒗</m:t>
                    </m:r>
                  </m:oMath>
                </a14:m>
                <a:endParaRPr lang="en-US" sz="2000" b="1" i="1" dirty="0">
                  <a:latin typeface="Calibri Light" panose="020F0302020204030204" pitchFamily="34" charset="0"/>
                  <a:cs typeface="Calibri Light" panose="020F0302020204030204" pitchFamily="34" charset="0"/>
                </a:endParaRPr>
              </a:p>
              <a:p>
                <a:pPr marL="0" indent="0">
                  <a:buNone/>
                </a:pPr>
                <a:endParaRPr lang="en-US" sz="2000" dirty="0">
                  <a:latin typeface="+mj-lt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𝑒𝑛𝑎𝑏𝑙𝑒𝑑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1" i="1" smtClean="0"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∃</m:t>
                    </m:r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𝒗</m:t>
                    </m:r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2000" dirty="0">
                    <a:latin typeface="+mj-lt"/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b="1" i="1">
                        <a:latin typeface="Cambria Math" panose="02040503050406030204" pitchFamily="18" charset="0"/>
                      </a:rPr>
                      <m:t>𝒗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→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𝒗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′}</m:t>
                    </m:r>
                  </m:oMath>
                </a14:m>
                <a:r>
                  <a:rPr lang="en-US" sz="2000" dirty="0">
                    <a:latin typeface="+mj-lt"/>
                  </a:rPr>
                  <a:t> is the set of action that </a:t>
                </a:r>
                <a:r>
                  <a:rPr lang="en-US" sz="2000" b="1" dirty="0">
                    <a:latin typeface="+mj-lt"/>
                  </a:rPr>
                  <a:t>can</a:t>
                </a:r>
                <a:r>
                  <a:rPr lang="en-US" sz="2000" dirty="0">
                    <a:latin typeface="+mj-lt"/>
                  </a:rPr>
                  <a:t> occur at </a:t>
                </a:r>
                <a14:m>
                  <m:oMath xmlns:m="http://schemas.openxmlformats.org/officeDocument/2006/math">
                    <m:r>
                      <a:rPr lang="en-US" sz="2000" b="1" i="1">
                        <a:latin typeface="Cambria Math" panose="02040503050406030204" pitchFamily="18" charset="0"/>
                      </a:rPr>
                      <m:t>𝒗</m:t>
                    </m:r>
                  </m:oMath>
                </a14:m>
                <a:r>
                  <a:rPr lang="en-US" sz="2000" dirty="0">
                    <a:latin typeface="+mj-lt"/>
                  </a:rPr>
                  <a:t>. </a:t>
                </a:r>
              </a:p>
              <a:p>
                <a:pPr marL="0" indent="0">
                  <a:buNone/>
                </a:pPr>
                <a:endParaRPr lang="en-US" sz="2000" dirty="0">
                  <a:latin typeface="+mj-lt"/>
                </a:endParaRPr>
              </a:p>
              <a:p>
                <a:pPr marL="0" indent="0">
                  <a:buNone/>
                </a:pPr>
                <a:r>
                  <a:rPr lang="en-US" sz="2000" dirty="0">
                    <a:latin typeface="+mj-lt"/>
                  </a:rPr>
                  <a:t>If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𝑒𝑛𝑎𝑏𝑙𝑒𝑑</m:t>
                        </m:r>
                        <m:d>
                          <m:d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1" i="1"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</m:d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&gt;1 </m:t>
                    </m:r>
                  </m:oMath>
                </a14:m>
                <a:r>
                  <a:rPr lang="en-US" sz="2000" dirty="0">
                    <a:latin typeface="+mj-lt"/>
                  </a:rPr>
                  <a:t>the automaton has </a:t>
                </a:r>
                <a:r>
                  <a:rPr lang="en-US" sz="2000" b="1" dirty="0">
                    <a:latin typeface="+mj-lt"/>
                  </a:rPr>
                  <a:t>external nondeterminism</a:t>
                </a:r>
                <a:r>
                  <a:rPr lang="en-US" sz="2000" dirty="0">
                    <a:latin typeface="+mj-lt"/>
                  </a:rPr>
                  <a:t>, i.e., there is a choice in which action </a:t>
                </a:r>
                <a:r>
                  <a:rPr lang="en-US" sz="2000" b="1" dirty="0">
                    <a:latin typeface="+mj-lt"/>
                  </a:rPr>
                  <a:t>should be </a:t>
                </a:r>
                <a:r>
                  <a:rPr lang="en-US" sz="2000" dirty="0">
                    <a:latin typeface="+mj-lt"/>
                  </a:rPr>
                  <a:t>performed at each state (e.g., which process updates)</a:t>
                </a:r>
              </a:p>
              <a:p>
                <a:pPr marL="0" indent="0">
                  <a:buNone/>
                </a:pPr>
                <a:endParaRPr lang="en-US" sz="2000" dirty="0">
                  <a:latin typeface="+mj-lt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𝑝𝑜𝑠𝑡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𝒗</m:t>
                        </m:r>
                        <m:r>
                          <a:rPr lang="en-US" sz="2000" b="1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1" i="1" smtClean="0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000" b="1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1" i="1"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p>
                            <m:r>
                              <a:rPr lang="en-US" sz="2000" b="1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m:rPr>
                            <m:nor/>
                          </m:rPr>
                          <a:rPr lang="en-US" sz="2000" dirty="0"/>
                          <m:t> </m:t>
                        </m:r>
                      </m:e>
                    </m:d>
                    <m:r>
                      <a:rPr lang="en-US" sz="2000" b="1" i="1">
                        <a:latin typeface="Cambria Math" panose="02040503050406030204" pitchFamily="18" charset="0"/>
                      </a:rPr>
                      <m:t>𝒗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→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en-US" sz="2000" b="1" i="1">
                        <a:latin typeface="Cambria Math" panose="02040503050406030204" pitchFamily="18" charset="0"/>
                      </a:rPr>
                      <m:t>𝒗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′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2000" dirty="0">
                    <a:latin typeface="+mj-lt"/>
                  </a:rPr>
                  <a:t> is the set of next states of </a:t>
                </a:r>
                <a14:m>
                  <m:oMath xmlns:m="http://schemas.openxmlformats.org/officeDocument/2006/math">
                    <m:r>
                      <a:rPr lang="en-US" sz="2000" b="1" i="1">
                        <a:latin typeface="Cambria Math" panose="02040503050406030204" pitchFamily="18" charset="0"/>
                      </a:rPr>
                      <m:t>𝒗</m:t>
                    </m:r>
                  </m:oMath>
                </a14:m>
                <a:r>
                  <a:rPr lang="en-US" sz="2000" dirty="0">
                    <a:latin typeface="+mj-lt"/>
                  </a:rPr>
                  <a:t> after performing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endParaRPr lang="en-US" sz="2000" b="1" dirty="0">
                  <a:latin typeface="+mj-lt"/>
                </a:endParaRPr>
              </a:p>
              <a:p>
                <a:pPr marL="0" indent="0">
                  <a:buNone/>
                </a:pPr>
                <a:r>
                  <a:rPr lang="en-US" sz="2000" dirty="0"/>
                  <a:t>If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𝑝𝑜𝑠𝑡</m:t>
                        </m:r>
                        <m:d>
                          <m:d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1" i="1">
                                <a:latin typeface="Cambria Math" panose="02040503050406030204" pitchFamily="18" charset="0"/>
                              </a:rPr>
                              <m:t>𝒗</m:t>
                            </m:r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</m:e>
                        </m:d>
                      </m:e>
                    </m:d>
                    <m:r>
                      <a:rPr lang="en-US" sz="2000" i="1">
                        <a:latin typeface="Cambria Math" panose="02040503050406030204" pitchFamily="18" charset="0"/>
                      </a:rPr>
                      <m:t>&gt;1</m:t>
                    </m:r>
                  </m:oMath>
                </a14:m>
                <a:r>
                  <a:rPr lang="en-US" sz="2000" b="1" dirty="0">
                    <a:latin typeface="+mj-lt"/>
                  </a:rPr>
                  <a:t> </a:t>
                </a:r>
                <a:r>
                  <a:rPr lang="en-US" sz="2000" dirty="0"/>
                  <a:t>the automaton has </a:t>
                </a:r>
                <a:r>
                  <a:rPr lang="en-US" sz="2000" b="1" dirty="0"/>
                  <a:t>internal nondeterminism</a:t>
                </a:r>
                <a:r>
                  <a:rPr lang="en-US" sz="2000" dirty="0"/>
                  <a:t>, i.e., the choice of the action does not completely resolve uncertainty (e.g.,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𝑐𝑜𝑖𝑛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 = </m:t>
                    </m:r>
                    <m:r>
                      <a:rPr lang="en-US" sz="2000" b="1" i="1" dirty="0" smtClean="0">
                        <a:latin typeface="Cambria Math" panose="02040503050406030204" pitchFamily="18" charset="0"/>
                      </a:rPr>
                      <m:t>𝒄𝒉𝒐𝒐𝒔𝒆</m:t>
                    </m:r>
                    <m:r>
                      <a:rPr lang="en-US" sz="2000" b="1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{0,1}</m:t>
                    </m:r>
                  </m:oMath>
                </a14:m>
                <a:r>
                  <a:rPr lang="en-US" sz="2000" dirty="0"/>
                  <a:t>)</a:t>
                </a:r>
                <a:endParaRPr lang="en-US" sz="2000" b="1" dirty="0">
                  <a:latin typeface="+mj-lt"/>
                </a:endParaRPr>
              </a:p>
              <a:p>
                <a:pPr marL="0" indent="0">
                  <a:buNone/>
                </a:pPr>
                <a:r>
                  <a:rPr lang="en-US" sz="2000" b="1" dirty="0">
                    <a:latin typeface="+mj-lt"/>
                  </a:rPr>
                  <a:t>Nondeterminism</a:t>
                </a:r>
              </a:p>
              <a:p>
                <a:r>
                  <a:rPr lang="en-US" sz="2000" dirty="0">
                    <a:latin typeface="+mj-lt"/>
                  </a:rPr>
                  <a:t>Multiple initial states</a:t>
                </a:r>
              </a:p>
              <a:p>
                <a:r>
                  <a:rPr lang="en-US" sz="2000" dirty="0">
                    <a:latin typeface="+mj-lt"/>
                  </a:rPr>
                  <a:t>External nondeterminism: Multiple actions enabled from the same state</a:t>
                </a:r>
              </a:p>
              <a:p>
                <a:r>
                  <a:rPr lang="en-US" sz="2000" dirty="0">
                    <a:latin typeface="+mj-lt"/>
                  </a:rPr>
                  <a:t>Internal nondeterminism: Multiple post-states from the same state and action</a:t>
                </a:r>
              </a:p>
              <a:p>
                <a:pPr marL="285750" indent="-285750"/>
                <a:endParaRPr lang="en-US" sz="2000" dirty="0">
                  <a:latin typeface="+mj-lt"/>
                </a:endParaRPr>
              </a:p>
              <a:p>
                <a:endParaRPr lang="en-US" sz="2000" dirty="0">
                  <a:latin typeface="+mj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43000"/>
                <a:ext cx="10515600" cy="4351338"/>
              </a:xfrm>
              <a:blipFill>
                <a:blip r:embed="rId2"/>
                <a:stretch>
                  <a:fillRect l="-724" t="-875" b="-180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866413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Executions, Reachability, and Invariants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90134"/>
                <a:ext cx="10515600" cy="5367866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>
                    <a:latin typeface="+mj-lt"/>
                    <a:ea typeface="Cambria Math" panose="02040503050406030204" pitchFamily="18" charset="0"/>
                  </a:rPr>
                  <a:t>A</a:t>
                </a:r>
                <a:r>
                  <a:rPr lang="en-US" b="1" dirty="0">
                    <a:latin typeface="+mj-lt"/>
                    <a:ea typeface="Cambria Math" panose="02040503050406030204" pitchFamily="18" charset="0"/>
                  </a:rPr>
                  <a:t>utomaton</a:t>
                </a:r>
                <a:r>
                  <a:rPr lang="en-US" dirty="0">
                    <a:latin typeface="+mj-lt"/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=〈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𝒟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〉</m:t>
                    </m:r>
                  </m:oMath>
                </a14:m>
                <a:endParaRPr lang="en-US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>
                    <a:latin typeface="+mj-lt"/>
                  </a:rPr>
                  <a:t>An executions models a particular behavior of the automaton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</m:oMath>
                </a14:m>
                <a:endParaRPr lang="en-US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>
                    <a:latin typeface="+mj-lt"/>
                  </a:rPr>
                  <a:t>An </a:t>
                </a:r>
                <a:r>
                  <a:rPr lang="en-US" b="1" i="1" dirty="0">
                    <a:solidFill>
                      <a:srgbClr val="0070C0"/>
                    </a:solidFill>
                    <a:latin typeface="+mj-lt"/>
                  </a:rPr>
                  <a:t>execution</a:t>
                </a:r>
                <a:r>
                  <a:rPr lang="en-US" dirty="0">
                    <a:latin typeface="+mj-lt"/>
                  </a:rPr>
                  <a:t> of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</m:oMath>
                </a14:m>
                <a:r>
                  <a:rPr lang="en-US" dirty="0">
                    <a:latin typeface="+mj-lt"/>
                  </a:rPr>
                  <a:t> is an alternating (possibly infinite) sequence of states and actions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…</m:t>
                    </m:r>
                  </m:oMath>
                </a14:m>
                <a:r>
                  <a:rPr lang="en-US" dirty="0">
                    <a:latin typeface="+mj-lt"/>
                  </a:rPr>
                  <a:t>such that:</a:t>
                </a:r>
              </a:p>
              <a:p>
                <a:pPr marL="971550" lvl="1" indent="-514350">
                  <a:lnSpc>
                    <a:spcPct val="120000"/>
                  </a:lnSpc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</m:oMath>
                </a14:m>
                <a:endParaRPr lang="en-US" dirty="0">
                  <a:latin typeface="+mj-lt"/>
                </a:endParaRPr>
              </a:p>
              <a:p>
                <a:pPr marL="971550" lvl="1" indent="-514350">
                  <a:lnSpc>
                    <a:spcPct val="120000"/>
                  </a:lnSpc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∀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latin typeface="+mj-lt"/>
                  </a:rPr>
                  <a:t>in the sequence,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→</m:t>
                        </m:r>
                      </m:e>
                      <m: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endParaRPr lang="en-US" b="0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>
                    <a:latin typeface="+mj-lt"/>
                  </a:rPr>
                  <a:t>For a </a:t>
                </a:r>
                <a:r>
                  <a:rPr lang="en-US" b="1" i="1" dirty="0">
                    <a:solidFill>
                      <a:srgbClr val="0070C0"/>
                    </a:solidFill>
                    <a:latin typeface="+mj-lt"/>
                  </a:rPr>
                  <a:t>finite</a:t>
                </a:r>
                <a:r>
                  <a:rPr lang="en-US" dirty="0">
                    <a:latin typeface="+mj-lt"/>
                  </a:rPr>
                  <a:t> execution,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dirty="0">
                    <a:latin typeface="+mj-lt"/>
                  </a:rPr>
                  <a:t> the </a:t>
                </a:r>
                <a:r>
                  <a:rPr lang="en-US" b="1" i="1" dirty="0">
                    <a:solidFill>
                      <a:srgbClr val="0070C0"/>
                    </a:solidFill>
                    <a:latin typeface="+mj-lt"/>
                  </a:rPr>
                  <a:t>last state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𝑙𝑠𝑡𝑎𝑡𝑒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dirty="0">
                    <a:latin typeface="+mj-lt"/>
                  </a:rPr>
                  <a:t> and the length of the execution is 3.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>
                    <a:latin typeface="+mj-lt"/>
                  </a:rPr>
                  <a:t>In general, how many executions does 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latin typeface="+mj-lt"/>
                  </a:rPr>
                  <a:t>have? 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90134"/>
                <a:ext cx="10515600" cy="5367866"/>
              </a:xfrm>
              <a:blipFill>
                <a:blip r:embed="rId2"/>
                <a:stretch>
                  <a:fillRect l="-1206" t="-236" r="-1568" b="-2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022856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848988-E462-964B-8BD4-776BFB79C9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Reachable states and invariants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FC5C8EB-1D1C-304E-86C5-55393B8F40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09600" y="1600201"/>
                <a:ext cx="9906000" cy="4525963"/>
              </a:xfrm>
            </p:spPr>
            <p:txBody>
              <a:bodyPr>
                <a:normAutofit fontScale="85000" lnSpcReduction="20000"/>
              </a:bodyPr>
              <a:lstStyle/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/>
                  <a:t>A state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𝒖</m:t>
                    </m:r>
                  </m:oMath>
                </a14:m>
                <a:r>
                  <a:rPr lang="en-US" dirty="0"/>
                  <a:t> is </a:t>
                </a:r>
                <a:r>
                  <a:rPr lang="en-US" b="1" i="1" dirty="0">
                    <a:solidFill>
                      <a:srgbClr val="0070C0"/>
                    </a:solidFill>
                  </a:rPr>
                  <a:t>reachable</a:t>
                </a:r>
                <a:r>
                  <a:rPr lang="en-US" b="1" dirty="0"/>
                  <a:t> </a:t>
                </a:r>
                <a:r>
                  <a:rPr lang="en-US" dirty="0"/>
                  <a:t>if there exists an execution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such that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𝑙𝑠𝑡𝑎𝑡𝑒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𝒖</m:t>
                    </m:r>
                  </m:oMath>
                </a14:m>
                <a:endParaRPr lang="en-US" dirty="0"/>
              </a:p>
              <a:p>
                <a:pPr marL="0" indent="0">
                  <a:lnSpc>
                    <a:spcPct val="120000"/>
                  </a:lnSpc>
                  <a:buNone/>
                </a:pPr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𝑅𝑒𝑎𝑐</m:t>
                    </m:r>
                    <m:sSub>
                      <m:sSubPr>
                        <m:ctrlPr>
                          <a:rPr lang="en-US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  <m:r>
                          <a:rPr lang="en-US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dirty="0"/>
                  <a:t> set of states reachable from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</m:oMath>
                </a14:m>
                <a:r>
                  <a:rPr lang="en-US" dirty="0"/>
                  <a:t> by automaton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</m:oMath>
                </a14:m>
                <a:r>
                  <a:rPr lang="en-US" dirty="0"/>
                  <a:t> in at most K steps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𝑅𝑒𝑎𝑐</m:t>
                    </m:r>
                    <m:sSub>
                      <m:sSubPr>
                        <m:ctrlPr>
                          <a:rPr lang="en-US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dirty="0"/>
                  <a:t> set of states reachable from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</m:oMath>
                </a14:m>
                <a:r>
                  <a:rPr lang="en-US" dirty="0"/>
                  <a:t> by automaton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</m:oMath>
                </a14:m>
                <a:r>
                  <a:rPr lang="en-US" dirty="0"/>
                  <a:t> (in any finite number of steps)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/>
                  <a:t>We write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𝑅𝑒𝑎𝑐</m:t>
                    </m:r>
                    <m:sSub>
                      <m:sSubPr>
                        <m:ctrlPr>
                          <a:rPr lang="en-US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</m:sub>
                    </m:sSub>
                  </m:oMath>
                </a14:m>
                <a:r>
                  <a:rPr lang="en-US" dirty="0"/>
                  <a:t> if the initial state is clear from context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𝑅𝑒𝑎𝑐</m:t>
                    </m:r>
                    <m:sSub>
                      <m:sSubPr>
                        <m:ctrlPr>
                          <a:rPr lang="en-US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</m:sub>
                    </m:sSub>
                  </m:oMath>
                </a14:m>
                <a:r>
                  <a:rPr lang="en-US" dirty="0"/>
                  <a:t> “Everything that </a:t>
                </a:r>
                <a:r>
                  <a:rPr lang="en-US" b="1" dirty="0"/>
                  <a:t>can </a:t>
                </a:r>
                <a:r>
                  <a:rPr lang="en-US" dirty="0"/>
                  <a:t>happen”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𝑅𝑒𝑎𝑐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solidFill>
                                      <a:srgbClr val="0070C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solidFill>
                                      <a:srgbClr val="0070C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i="1">
                                    <a:solidFill>
                                      <a:srgbClr val="0070C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𝒜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p>
                    </m:sSup>
                  </m:oMath>
                </a14:m>
                <a:r>
                  <a:rPr lang="en-US" dirty="0"/>
                  <a:t> “Things that </a:t>
                </a:r>
                <a:r>
                  <a:rPr lang="en-US" b="1" dirty="0"/>
                  <a:t>never </a:t>
                </a:r>
                <a:r>
                  <a:rPr lang="en-US" dirty="0"/>
                  <a:t>happen”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FC5C8EB-1D1C-304E-86C5-55393B8F40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9600" y="1600201"/>
                <a:ext cx="9906000" cy="4525963"/>
              </a:xfrm>
              <a:blipFill>
                <a:blip r:embed="rId2"/>
                <a:stretch>
                  <a:fillRect l="-1024" t="-1401" b="-30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216441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Reachability as graph search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41984" y="1477963"/>
                <a:ext cx="6858000" cy="5227637"/>
              </a:xfrm>
            </p:spPr>
            <p:txBody>
              <a:bodyPr>
                <a:no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sz="2000" dirty="0"/>
                  <a:t>Q1. Given finite state </a:t>
                </a: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</m:oMath>
                </a14:m>
                <a:r>
                  <a:rPr lang="en-US" sz="2000" dirty="0"/>
                  <a:t>is a state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𝒗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𝑣𝑎𝑙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</m:oMath>
                </a14:m>
                <a:r>
                  <a:rPr lang="en-US" sz="2000" dirty="0"/>
                  <a:t> reachable? </a:t>
                </a:r>
              </a:p>
              <a:p>
                <a:pPr>
                  <a:lnSpc>
                    <a:spcPct val="120000"/>
                  </a:lnSpc>
                </a:pPr>
                <a:endParaRPr lang="en-US" sz="2000" dirty="0"/>
              </a:p>
              <a:p>
                <a:pPr>
                  <a:lnSpc>
                    <a:spcPct val="120000"/>
                  </a:lnSpc>
                </a:pPr>
                <a:r>
                  <a:rPr lang="en-US" sz="2000" dirty="0"/>
                  <a:t>Define a graph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=〈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𝑉𝑒𝑟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𝐸𝑑𝑔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〉</m:t>
                    </m:r>
                  </m:oMath>
                </a14:m>
                <a:r>
                  <a:rPr lang="en-US" sz="2000" dirty="0"/>
                  <a:t> where </a:t>
                </a:r>
              </a:p>
              <a:p>
                <a:pPr lvl="1">
                  <a:lnSpc>
                    <a:spcPct val="120000"/>
                  </a:lnSpc>
                </a:pP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𝑉𝑒𝑟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𝑣𝑎𝑙</m:t>
                    </m:r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</m:oMath>
                </a14:m>
                <a:endParaRPr lang="en-US" sz="1800" b="0" dirty="0"/>
              </a:p>
              <a:p>
                <a:pPr lvl="1">
                  <a:lnSpc>
                    <a:spcPct val="120000"/>
                  </a:lnSpc>
                </a:pP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𝐸𝑑𝑔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p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∃ 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𝑢</m:t>
                    </m:r>
                    <m:sSub>
                      <m:sSub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→</m:t>
                        </m:r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sSup>
                      <m:sSup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p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800" dirty="0"/>
              </a:p>
              <a:p>
                <a:pPr>
                  <a:lnSpc>
                    <a:spcPct val="120000"/>
                  </a:lnSpc>
                </a:pPr>
                <a:endParaRPr lang="en-US" sz="2000" dirty="0"/>
              </a:p>
              <a:p>
                <a:pPr>
                  <a:lnSpc>
                    <a:spcPct val="120000"/>
                  </a:lnSpc>
                </a:pPr>
                <a:r>
                  <a:rPr lang="en-US" sz="2000" dirty="0"/>
                  <a:t>Q2. Does there exist a path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</m:sub>
                    </m:sSub>
                  </m:oMath>
                </a14:m>
                <a:r>
                  <a:rPr lang="en-US" sz="2000" dirty="0"/>
                  <a:t> from any state 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Θ</m:t>
                    </m:r>
                  </m:oMath>
                </a14:m>
                <a:r>
                  <a:rPr lang="en-US" sz="2000" dirty="0"/>
                  <a:t> to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?</m:t>
                    </m:r>
                  </m:oMath>
                </a14:m>
                <a:endParaRPr lang="en-US" sz="2000" dirty="0"/>
              </a:p>
              <a:p>
                <a:pPr>
                  <a:lnSpc>
                    <a:spcPct val="120000"/>
                  </a:lnSpc>
                </a:pPr>
                <a:r>
                  <a:rPr lang="en-US" sz="2000" dirty="0"/>
                  <a:t>Perform DFS/BFS 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</m:sub>
                    </m:sSub>
                  </m:oMath>
                </a14:m>
                <a:r>
                  <a:rPr lang="en-US" sz="2000" dirty="0"/>
                  <a:t> </a:t>
                </a:r>
              </a:p>
              <a:p>
                <a:pPr>
                  <a:lnSpc>
                    <a:spcPct val="120000"/>
                  </a:lnSpc>
                </a:pPr>
                <a:r>
                  <a:rPr lang="en-US" sz="2000" dirty="0"/>
                  <a:t>This called </a:t>
                </a:r>
                <a:r>
                  <a:rPr lang="en-US" sz="2000" b="1" dirty="0"/>
                  <a:t>explicit state model checking </a:t>
                </a:r>
                <a:r>
                  <a:rPr lang="en-US" sz="2000" dirty="0"/>
                  <a:t>because each individual state is stored in memory </a:t>
                </a:r>
              </a:p>
              <a:p>
                <a:pPr>
                  <a:lnSpc>
                    <a:spcPct val="120000"/>
                  </a:lnSpc>
                </a:pPr>
                <a:r>
                  <a:rPr lang="en-US" sz="2000" dirty="0"/>
                  <a:t>Works only for finite state automata and does not scale to very large state spaces</a:t>
                </a:r>
                <a:endParaRPr lang="en-US" sz="1800" dirty="0"/>
              </a:p>
              <a:p>
                <a:pPr marL="0" indent="0">
                  <a:lnSpc>
                    <a:spcPct val="120000"/>
                  </a:lnSpc>
                  <a:buNone/>
                </a:pPr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41984" y="1477963"/>
                <a:ext cx="6858000" cy="5227637"/>
              </a:xfrm>
              <a:blipFill>
                <a:blip r:embed="rId3"/>
                <a:stretch>
                  <a:fillRect l="-9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A881C91D-575B-7C77-BDAC-F51E1AE549DA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1818" r="11818"/>
          <a:stretch/>
        </p:blipFill>
        <p:spPr>
          <a:xfrm>
            <a:off x="7158644" y="1430338"/>
            <a:ext cx="5033356" cy="439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165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B620DA-D887-914C-8A2C-594467E7C0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Perspectives on scalability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C7618C-A588-7F4F-BCBB-74D0627D4B0B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905000" y="2394890"/>
            <a:ext cx="1968946" cy="206822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A5BFA50-A7C4-454E-94DA-E5D7D3E12F82}"/>
              </a:ext>
            </a:extLst>
          </p:cNvPr>
          <p:cNvSpPr txBox="1"/>
          <p:nvPr/>
        </p:nvSpPr>
        <p:spPr>
          <a:xfrm>
            <a:off x="2006816" y="4463110"/>
            <a:ext cx="14221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data scientist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361DDB4-DB46-2040-8C9F-46A4D08DA7A8}"/>
              </a:ext>
            </a:extLst>
          </p:cNvPr>
          <p:cNvSpPr txBox="1"/>
          <p:nvPr/>
        </p:nvSpPr>
        <p:spPr>
          <a:xfrm>
            <a:off x="2298808" y="2690336"/>
            <a:ext cx="8382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Solution does not scale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52989CA-692C-C84D-A98E-FAB90F71606D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423561" y="2397382"/>
            <a:ext cx="1968946" cy="206822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01CD5B1-F938-514F-8265-4C41DC0ECE94}"/>
              </a:ext>
            </a:extLst>
          </p:cNvPr>
          <p:cNvSpPr txBox="1"/>
          <p:nvPr/>
        </p:nvSpPr>
        <p:spPr>
          <a:xfrm>
            <a:off x="5525377" y="4465602"/>
            <a:ext cx="13106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algorithmist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612B509-CE30-BC41-AD69-B399CC14D87B}"/>
              </a:ext>
            </a:extLst>
          </p:cNvPr>
          <p:cNvSpPr txBox="1"/>
          <p:nvPr/>
        </p:nvSpPr>
        <p:spPr>
          <a:xfrm>
            <a:off x="5817369" y="2692828"/>
            <a:ext cx="8382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This is perfect!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03FFF88-B635-2C47-89BD-DEC16F42F293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043938" y="2386869"/>
            <a:ext cx="1968946" cy="206822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BCE2ABD-D139-E147-B17B-964E8CB0177E}"/>
              </a:ext>
            </a:extLst>
          </p:cNvPr>
          <p:cNvSpPr txBox="1"/>
          <p:nvPr/>
        </p:nvSpPr>
        <p:spPr>
          <a:xfrm>
            <a:off x="9145754" y="4455089"/>
            <a:ext cx="21212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verification engineer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3556758-372A-8A4B-B353-285EF0459310}"/>
              </a:ext>
            </a:extLst>
          </p:cNvPr>
          <p:cNvSpPr txBox="1"/>
          <p:nvPr/>
        </p:nvSpPr>
        <p:spPr>
          <a:xfrm>
            <a:off x="9157914" y="2682315"/>
            <a:ext cx="11180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Yay, decidable!</a:t>
            </a:r>
          </a:p>
        </p:txBody>
      </p:sp>
      <p:sp>
        <p:nvSpPr>
          <p:cNvPr id="14" name="Can 13">
            <a:extLst>
              <a:ext uri="{FF2B5EF4-FFF2-40B4-BE49-F238E27FC236}">
                <a16:creationId xmlns:a16="http://schemas.microsoft.com/office/drawing/2014/main" id="{7AE06F9A-36ED-FD42-B872-B8019D534C80}"/>
              </a:ext>
            </a:extLst>
          </p:cNvPr>
          <p:cNvSpPr/>
          <p:nvPr/>
        </p:nvSpPr>
        <p:spPr>
          <a:xfrm>
            <a:off x="1518196" y="3570355"/>
            <a:ext cx="977239" cy="734879"/>
          </a:xfrm>
          <a:prstGeom prst="can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O(n)</a:t>
            </a:r>
          </a:p>
        </p:txBody>
      </p:sp>
      <p:sp>
        <p:nvSpPr>
          <p:cNvPr id="15" name="Can 14">
            <a:extLst>
              <a:ext uri="{FF2B5EF4-FFF2-40B4-BE49-F238E27FC236}">
                <a16:creationId xmlns:a16="http://schemas.microsoft.com/office/drawing/2014/main" id="{B0AFF10E-6DFA-1D40-9FDE-A1AA477A2CB8}"/>
              </a:ext>
            </a:extLst>
          </p:cNvPr>
          <p:cNvSpPr/>
          <p:nvPr/>
        </p:nvSpPr>
        <p:spPr>
          <a:xfrm>
            <a:off x="4993083" y="3606450"/>
            <a:ext cx="977239" cy="734879"/>
          </a:xfrm>
          <a:prstGeom prst="can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O(n)</a:t>
            </a:r>
          </a:p>
        </p:txBody>
      </p:sp>
      <p:sp>
        <p:nvSpPr>
          <p:cNvPr id="16" name="Can 15">
            <a:extLst>
              <a:ext uri="{FF2B5EF4-FFF2-40B4-BE49-F238E27FC236}">
                <a16:creationId xmlns:a16="http://schemas.microsoft.com/office/drawing/2014/main" id="{0DDA2C68-652B-B74D-897B-3A75F4783628}"/>
              </a:ext>
            </a:extLst>
          </p:cNvPr>
          <p:cNvSpPr/>
          <p:nvPr/>
        </p:nvSpPr>
        <p:spPr>
          <a:xfrm>
            <a:off x="8708936" y="3606449"/>
            <a:ext cx="977239" cy="734879"/>
          </a:xfrm>
          <a:prstGeom prst="can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O(2</a:t>
            </a:r>
            <a:r>
              <a:rPr lang="en-US" sz="1600" baseline="30000" dirty="0"/>
              <a:t>n</a:t>
            </a:r>
            <a:r>
              <a:rPr lang="en-US" sz="16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9696139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2" grpId="0"/>
      <p:bldP spid="13" grpId="0"/>
      <p:bldP spid="15" grpId="0" animBg="1"/>
      <p:bldP spid="16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365126"/>
            <a:ext cx="11616266" cy="769408"/>
          </a:xfrm>
        </p:spPr>
        <p:txBody>
          <a:bodyPr>
            <a:normAutofit fontScale="90000"/>
          </a:bodyPr>
          <a:lstStyle/>
          <a:p>
            <a:r>
              <a:rPr lang="en-US" dirty="0"/>
              <a:t>Sets of states are symbolic properties or </a:t>
            </a:r>
            <a:r>
              <a:rPr lang="en-US" b="1" dirty="0"/>
              <a:t>predicates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347133" y="1447800"/>
                <a:ext cx="11497733" cy="5274734"/>
              </a:xfrm>
            </p:spPr>
            <p:txBody>
              <a:bodyPr>
                <a:noAutofit/>
              </a:bodyPr>
              <a:lstStyle/>
              <a:p>
                <a:pPr marL="0" indent="0">
                  <a:lnSpc>
                    <a:spcPct val="100000"/>
                  </a:lnSpc>
                  <a:buNone/>
                </a:pPr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A set of states defines a </a:t>
                </a:r>
                <a:r>
                  <a:rPr lang="en-US" sz="2000" b="1" dirty="0">
                    <a:solidFill>
                      <a:srgbClr val="0070C0"/>
                    </a:solidFill>
                    <a:latin typeface="+mj-lt"/>
                  </a:rPr>
                  <a:t>property</a:t>
                </a:r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 or a </a:t>
                </a:r>
                <a:r>
                  <a:rPr lang="en-US" sz="2000" b="1" dirty="0">
                    <a:solidFill>
                      <a:srgbClr val="0070C0"/>
                    </a:solidFill>
                    <a:latin typeface="+mj-lt"/>
                  </a:rPr>
                  <a:t>predicate </a:t>
                </a:r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and vice versa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en-US" sz="2000" dirty="0">
                    <a:latin typeface="+mj-lt"/>
                  </a:rPr>
                  <a:t>For example: </a:t>
                </a:r>
                <a14:m>
                  <m:oMath xmlns:m="http://schemas.openxmlformats.org/officeDocument/2006/math">
                    <m:d>
                      <m:dPr>
                        <m:begChr m:val="⟨"/>
                        <m:endChr m:val="⟩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↦5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</m:t>
                    </m:r>
                    <m:d>
                      <m:dPr>
                        <m:begChr m:val="⟨"/>
                        <m:endChr m:val="⟩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↦6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,… 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defines the predicate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≥5</m:t>
                    </m:r>
                  </m:oMath>
                </a14:m>
                <a:endParaRPr lang="en-US" sz="2000" dirty="0">
                  <a:solidFill>
                    <a:schemeClr val="tx1"/>
                  </a:solidFill>
                  <a:latin typeface="+mj-lt"/>
                </a:endParaRPr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A </a:t>
                </a:r>
                <a:r>
                  <a:rPr lang="en-US" sz="2000" b="1" i="1" dirty="0">
                    <a:solidFill>
                      <a:srgbClr val="0070C0"/>
                    </a:solidFill>
                    <a:latin typeface="+mj-lt"/>
                  </a:rPr>
                  <a:t>predicate</a:t>
                </a:r>
                <a:r>
                  <a:rPr lang="en-US" sz="2000" b="1" dirty="0">
                    <a:solidFill>
                      <a:schemeClr val="tx1"/>
                    </a:solidFill>
                    <a:latin typeface="+mj-lt"/>
                  </a:rPr>
                  <a:t> </a:t>
                </a:r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over a set of variable X is a Boolean-valued formula involving the variables in X.</a:t>
                </a:r>
              </a:p>
              <a:p>
                <a:pPr>
                  <a:lnSpc>
                    <a:spcPct val="10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: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sz="2000" b="0" i="1" dirty="0">
                  <a:solidFill>
                    <a:schemeClr val="tx1"/>
                  </a:solidFill>
                  <a:latin typeface="+mj-lt"/>
                </a:endParaRPr>
              </a:p>
              <a:p>
                <a:pPr>
                  <a:lnSpc>
                    <a:spcPct val="10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∈[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], 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2000" dirty="0">
                  <a:solidFill>
                    <a:schemeClr val="tx1"/>
                  </a:solidFill>
                  <a:latin typeface="+mj-lt"/>
                </a:endParaRPr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A valuation </a:t>
                </a:r>
                <a:r>
                  <a:rPr lang="en-US" sz="2000" b="1" dirty="0">
                    <a:solidFill>
                      <a:schemeClr val="tx1"/>
                    </a:solidFill>
                    <a:latin typeface="+mj-lt"/>
                  </a:rPr>
                  <a:t>u</a:t>
                </a:r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 </a:t>
                </a:r>
                <a:r>
                  <a:rPr lang="en-US" sz="2000" b="1" dirty="0">
                    <a:solidFill>
                      <a:srgbClr val="0070C0"/>
                    </a:solidFill>
                    <a:latin typeface="+mj-lt"/>
                  </a:rPr>
                  <a:t>satisfies a predicate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𝝓</m:t>
                    </m:r>
                  </m:oMath>
                </a14:m>
                <a:r>
                  <a:rPr lang="en-US" sz="2000" b="1" dirty="0">
                    <a:solidFill>
                      <a:schemeClr val="tx1"/>
                    </a:solidFill>
                    <a:latin typeface="+mj-lt"/>
                  </a:rPr>
                  <a:t> </a:t>
                </a:r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if substituting the values of the variables in </a:t>
                </a:r>
                <a:r>
                  <a:rPr lang="en-US" sz="2000" b="1" dirty="0">
                    <a:solidFill>
                      <a:schemeClr val="tx1"/>
                    </a:solidFill>
                    <a:latin typeface="+mj-lt"/>
                  </a:rPr>
                  <a:t>u </a:t>
                </a:r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in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𝜙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 makes it evaluate to </a:t>
                </a:r>
                <a:r>
                  <a:rPr lang="en-US" sz="2000" b="1" dirty="0">
                    <a:solidFill>
                      <a:schemeClr val="tx1"/>
                    </a:solidFill>
                    <a:latin typeface="+mj-lt"/>
                  </a:rPr>
                  <a:t>True. </a:t>
                </a:r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We this as write </a:t>
                </a:r>
                <a:r>
                  <a:rPr lang="en-US" sz="2000" b="1" dirty="0">
                    <a:solidFill>
                      <a:srgbClr val="0070C0"/>
                    </a:solidFill>
                    <a:latin typeface="+mj-lt"/>
                  </a:rPr>
                  <a:t>u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⊨</m:t>
                    </m:r>
                    <m:r>
                      <a:rPr lang="en-US" sz="2000" b="1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𝝓</m:t>
                    </m:r>
                  </m:oMath>
                </a14:m>
                <a:endParaRPr lang="en-US" sz="2000" dirty="0">
                  <a:solidFill>
                    <a:schemeClr val="tx1"/>
                  </a:solidFill>
                  <a:latin typeface="+mj-lt"/>
                </a:endParaRPr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Examples: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〈"/>
                        <m:endChr m:val="〉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↦</m:t>
                        </m:r>
                        <m:d>
                          <m:dPr>
                            <m:begChr m:val="〈"/>
                            <m:endChr m:val="〉"/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0↦0, 1↦0, … </m:t>
                            </m:r>
                          </m:e>
                        </m:d>
                      </m:e>
                    </m:d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 </a:t>
                </a:r>
                <a:r>
                  <a:rPr lang="en-US" sz="2000" dirty="0">
                    <a:latin typeface="+mj-lt"/>
                  </a:rPr>
                  <a:t>;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𝒗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〈"/>
                        <m:endChr m:val="〉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↦</m:t>
                        </m:r>
                        <m:d>
                          <m:dPr>
                            <m:begChr m:val="〈"/>
                            <m:endChr m:val="〉"/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0↦</m:t>
                            </m:r>
                            <m:r>
                              <a:rPr lang="en-US" sz="20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, 1↦0, 2↦0, …</m:t>
                            </m:r>
                          </m:e>
                        </m:d>
                      </m:e>
                    </m:d>
                  </m:oMath>
                </a14:m>
                <a:endParaRPr lang="en-US" sz="2000" dirty="0">
                  <a:solidFill>
                    <a:schemeClr val="tx1"/>
                  </a:solidFill>
                  <a:latin typeface="+mj-lt"/>
                </a:endParaRPr>
              </a:p>
              <a:p>
                <a:pPr>
                  <a:lnSpc>
                    <a:spcPct val="100000"/>
                  </a:lnSpc>
                </a:pP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⊨</m:t>
                    </m:r>
                    <m:sSub>
                      <m:sSubPr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0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(</m:t>
                    </m:r>
                    <m:r>
                      <a:rPr lang="en-US" sz="20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sz="20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⊭</m:t>
                    </m:r>
                    <m:sSub>
                      <m:sSubPr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sz="2000" b="1" dirty="0">
                    <a:solidFill>
                      <a:schemeClr val="tx1"/>
                    </a:solidFill>
                    <a:latin typeface="+mj-lt"/>
                  </a:rPr>
                  <a:t>,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𝒗</m:t>
                    </m:r>
                    <m:r>
                      <a:rPr lang="en-US" sz="20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⊨</m:t>
                    </m:r>
                    <m:sSub>
                      <m:sSubPr>
                        <m:ctrlPr>
                          <a:rPr lang="en-US" sz="20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𝝓</m:t>
                        </m:r>
                      </m:e>
                      <m:sub>
                        <m:r>
                          <a:rPr lang="en-US" sz="20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</m:oMath>
                </a14:m>
                <a:r>
                  <a:rPr lang="en-US" sz="2000" b="1" dirty="0">
                    <a:solidFill>
                      <a:schemeClr val="tx1"/>
                    </a:solidFill>
                    <a:latin typeface="+mj-lt"/>
                  </a:rPr>
                  <a:t> </a:t>
                </a:r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and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𝒗</m:t>
                    </m:r>
                    <m:r>
                      <a:rPr lang="en-US" sz="20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⊭</m:t>
                    </m:r>
                    <m:sSub>
                      <m:sSubPr>
                        <m:ctrlPr>
                          <a:rPr lang="en-US" sz="20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𝝓</m:t>
                        </m:r>
                      </m:e>
                      <m:sub>
                        <m:r>
                          <a:rPr lang="en-US" sz="20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𝟐</m:t>
                        </m:r>
                      </m:sub>
                    </m:sSub>
                  </m:oMath>
                </a14:m>
                <a:endParaRPr lang="en-US" sz="2000" b="1" dirty="0">
                  <a:solidFill>
                    <a:schemeClr val="tx1"/>
                  </a:solidFill>
                  <a:latin typeface="+mj-lt"/>
                  <a:ea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en-US" sz="2000" dirty="0">
                    <a:solidFill>
                      <a:schemeClr val="tx1"/>
                    </a:solidFill>
                    <a:latin typeface="+mj-lt"/>
                    <a:ea typeface="Cambria Math" panose="02040503050406030204" pitchFamily="18" charset="0"/>
                  </a:rPr>
                  <a:t>We will find it convenient to represent state sets (e.g.,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𝑅𝑒𝑎𝑐</m:t>
                    </m:r>
                    <m:sSub>
                      <m:sSubPr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</m:sub>
                    </m:sSub>
                  </m:oMath>
                </a14:m>
                <a:r>
                  <a:rPr lang="en-US" sz="2000" dirty="0"/>
                  <a:t>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+mj-lt"/>
                    <a:ea typeface="Cambria Math" panose="02040503050406030204" pitchFamily="18" charset="0"/>
                  </a:rPr>
                  <a:t>by predicates 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sz="20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0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𝝓</m:t>
                            </m:r>
                          </m:e>
                        </m:d>
                      </m:e>
                    </m:d>
                    <m:r>
                      <a:rPr lang="en-US" sz="20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sz="20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1" i="1" dirty="0">
                            <a:latin typeface="Cambria Math" panose="02040503050406030204" pitchFamily="18" charset="0"/>
                          </a:rPr>
                          <m:t>𝒖</m:t>
                        </m:r>
                        <m:r>
                          <m:rPr>
                            <m:nor/>
                          </m:rPr>
                          <a:rPr lang="en-US" sz="2000" b="0" i="0" dirty="0" smtClean="0">
                            <a:solidFill>
                              <a:schemeClr val="tx1"/>
                            </a:solidFill>
                          </a:rPr>
                          <m:t>:</m:t>
                        </m:r>
                        <m:r>
                          <m:rPr>
                            <m:nor/>
                          </m:rPr>
                          <a:rPr lang="en-US" sz="2000" b="0" i="0" dirty="0" smtClean="0">
                            <a:solidFill>
                              <a:schemeClr val="tx1"/>
                            </a:solidFill>
                          </a:rPr>
                          <m:t>Val</m:t>
                        </m:r>
                        <m:r>
                          <m:rPr>
                            <m:nor/>
                          </m:rPr>
                          <a:rPr lang="en-US" sz="2000" b="0" i="0" dirty="0" smtClean="0">
                            <a:solidFill>
                              <a:schemeClr val="tx1"/>
                            </a:solidFill>
                          </a:rPr>
                          <m:t>(</m:t>
                        </m:r>
                        <m:r>
                          <m:rPr>
                            <m:nor/>
                          </m:rPr>
                          <a:rPr lang="en-US" sz="2000" b="0" i="0" dirty="0" smtClean="0">
                            <a:solidFill>
                              <a:schemeClr val="tx1"/>
                            </a:solidFill>
                          </a:rPr>
                          <m:t>V</m:t>
                        </m:r>
                        <m:r>
                          <m:rPr>
                            <m:nor/>
                          </m:rPr>
                          <a:rPr lang="en-US" sz="2000" b="0" i="0" dirty="0" smtClean="0">
                            <a:solidFill>
                              <a:schemeClr val="tx1"/>
                            </a:solidFill>
                          </a:rPr>
                          <m:t>)</m:t>
                        </m:r>
                        <m:r>
                          <a:rPr lang="en-US" sz="20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2000" b="1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b="1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sz="2000" b="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⊨</m:t>
                    </m:r>
                    <m:r>
                      <a:rPr lang="en-US" sz="2000" b="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𝜙</m:t>
                    </m:r>
                    <m:r>
                      <a:rPr lang="en-US" sz="20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 set of all states that satisfy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𝝓</m:t>
                    </m:r>
                  </m:oMath>
                </a14:m>
                <a:endParaRPr lang="en-US" sz="2000" dirty="0">
                  <a:solidFill>
                    <a:schemeClr val="tx1"/>
                  </a:solidFill>
                  <a:latin typeface="+mj-lt"/>
                </a:endParaRPr>
              </a:p>
              <a:p>
                <a:pPr>
                  <a:lnSpc>
                    <a:spcPct val="100000"/>
                  </a:lnSpc>
                </a:pP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𝜙</m:t>
                                </m:r>
                              </m:e>
                              <m:sub>
                                <m: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={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〈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↦</m:t>
                    </m:r>
                    <m:d>
                      <m:dPr>
                        <m:begChr m:val="〈"/>
                        <m:endChr m:val="〉"/>
                        <m:ctrlP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0↦0, 1↦0, 2↦0, 3↦0, 4↦0, 5↦0 </m:t>
                        </m:r>
                      </m:e>
                    </m:d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〉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2000" dirty="0">
                  <a:solidFill>
                    <a:schemeClr val="tx1"/>
                  </a:solidFill>
                  <a:latin typeface="+mj-lt"/>
                </a:endParaRPr>
              </a:p>
              <a:p>
                <a:pPr>
                  <a:lnSpc>
                    <a:spcPct val="100000"/>
                  </a:lnSpc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⊆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𝑣𝑎𝑙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 is the set of initial states of the automaton; </a:t>
                </a:r>
                <a:r>
                  <a:rPr lang="en-US" sz="2000" dirty="0">
                    <a:latin typeface="+mj-lt"/>
                  </a:rPr>
                  <a:t> o</a:t>
                </a:r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ften specified by a </a:t>
                </a:r>
                <a:r>
                  <a:rPr lang="en-US" sz="2000" b="1" dirty="0">
                    <a:solidFill>
                      <a:schemeClr val="tx1"/>
                    </a:solidFill>
                    <a:latin typeface="+mj-lt"/>
                  </a:rPr>
                  <a:t>predicate </a:t>
                </a:r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over X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47133" y="1447800"/>
                <a:ext cx="11497733" cy="5274734"/>
              </a:xfrm>
              <a:blipFill>
                <a:blip r:embed="rId2"/>
                <a:stretch>
                  <a:fillRect l="-552" t="-7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95323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4D9BE3-D080-D7B9-9DE6-53699B247E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CDFD01-D57C-FBC3-429F-4A461129089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An </a:t>
                </a:r>
                <a:r>
                  <a:rPr lang="en-US" b="1" i="1" dirty="0">
                    <a:solidFill>
                      <a:srgbClr val="0070C0"/>
                    </a:solidFill>
                  </a:rPr>
                  <a:t>invariant</a:t>
                </a:r>
                <a:r>
                  <a:rPr lang="en-US" b="1" dirty="0"/>
                  <a:t> </a:t>
                </a:r>
                <a:r>
                  <a:rPr lang="en-US" dirty="0"/>
                  <a:t>is a set of states (or a property)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dirty="0"/>
                  <a:t> such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𝑅𝑒𝑎𝑐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dirty="0"/>
                  <a:t>, i.e., a property that </a:t>
                </a:r>
                <a:r>
                  <a:rPr lang="en-US" b="1" dirty="0"/>
                  <a:t>always holds</a:t>
                </a:r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Invariants capture conservation laws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 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CDFD01-D57C-FBC3-429F-4A461129089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194076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42B0EB57-4041-F549-90AD-A17251693A14}"/>
                  </a:ext>
                </a:extLst>
              </p:cNvPr>
              <p:cNvSpPr/>
              <p:nvPr/>
            </p:nvSpPr>
            <p:spPr>
              <a:xfrm>
                <a:off x="8054853" y="1661966"/>
                <a:ext cx="3864864" cy="4179760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val(X): All states e.g.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</a:p>
              <a:p>
                <a:pPr algn="ctr"/>
                <a:endParaRPr lang="en-US" dirty="0"/>
              </a:p>
              <a:p>
                <a:pPr algn="ctr"/>
                <a:endParaRPr lang="en-US" dirty="0"/>
              </a:p>
              <a:p>
                <a:pPr algn="ctr"/>
                <a:endParaRPr lang="en-US" dirty="0"/>
              </a:p>
              <a:p>
                <a:pPr algn="ctr"/>
                <a:endParaRPr lang="en-US" dirty="0"/>
              </a:p>
              <a:p>
                <a:pPr algn="ctr"/>
                <a:endParaRPr lang="en-US" dirty="0"/>
              </a:p>
              <a:p>
                <a:pPr algn="ctr"/>
                <a:endParaRPr lang="en-US" dirty="0"/>
              </a:p>
              <a:p>
                <a:pPr algn="ctr"/>
                <a:endParaRPr lang="en-US" dirty="0"/>
              </a:p>
              <a:p>
                <a:pPr algn="ctr"/>
                <a:endParaRPr lang="en-US" dirty="0"/>
              </a:p>
              <a:p>
                <a:pPr algn="ctr"/>
                <a:endParaRPr lang="en-US" dirty="0"/>
              </a:p>
              <a:p>
                <a:pPr algn="ctr"/>
                <a:endParaRPr lang="en-US" dirty="0"/>
              </a:p>
            </p:txBody>
          </p:sp>
        </mc:Choice>
        <mc:Fallback xmlns="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42B0EB57-4041-F549-90AD-A17251693A1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54853" y="1661966"/>
                <a:ext cx="3864864" cy="417976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363" name="Content Placeholder 3"/>
              <p:cNvSpPr>
                <a:spLocks noGrp="1"/>
              </p:cNvSpPr>
              <p:nvPr>
                <p:ph idx="1"/>
              </p:nvPr>
            </p:nvSpPr>
            <p:spPr>
              <a:xfrm>
                <a:off x="272283" y="702793"/>
                <a:ext cx="8871717" cy="4124599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All executions of </a:t>
                </a:r>
                <a:r>
                  <a:rPr lang="en-US" sz="2400" dirty="0" err="1"/>
                  <a:t>Collatz</a:t>
                </a:r>
                <a:r>
                  <a:rPr lang="en-US" sz="2400" dirty="0"/>
                  <a:t>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∈[1,200]</m:t>
                    </m:r>
                  </m:oMath>
                </a14:m>
                <a:r>
                  <a:rPr lang="en-US" sz="2400" dirty="0"/>
                  <a:t> stays inside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≤10,000 </m:t>
                    </m:r>
                  </m:oMath>
                </a14:m>
                <a:endParaRPr lang="en-US" sz="2400" dirty="0"/>
              </a:p>
              <a:p>
                <a:pPr marL="0" indent="0">
                  <a:buNone/>
                </a:pPr>
                <a:endParaRPr lang="en-US" sz="2400" dirty="0">
                  <a:latin typeface="+mj-lt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latin typeface="+mj-lt"/>
                  </a:rPr>
                  <a:t>“Exactly one process has a token”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sz="2400" dirty="0">
                    <a:latin typeface="+mj-lt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{"/>
                            <m:endChr m:val="|"/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∈</m:t>
                            </m:r>
                            <m:d>
                              <m:dPr>
                                <m:begChr m:val="["/>
                                <m:endChr m:val="]"/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e>
                            </m:d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d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h𝑎𝑠𝑇𝑜𝑘𝑒𝑛</m:t>
                        </m:r>
                        <m:d>
                          <m:d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}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≥1</m:t>
                    </m:r>
                  </m:oMath>
                </a14:m>
                <a:endParaRPr lang="en-US" sz="2400" dirty="0">
                  <a:latin typeface="+mj-lt"/>
                </a:endParaRPr>
              </a:p>
              <a:p>
                <a:pPr marL="0" indent="0">
                  <a:buNone/>
                </a:pPr>
                <a:endParaRPr lang="en-US" sz="2400" b="0" i="1" dirty="0">
                  <a:latin typeface="+mj-lt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latin typeface="+mj-lt"/>
                  </a:rPr>
                  <a:t>“At least one process has a token”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:</m:t>
                      </m:r>
                      <m:d>
                        <m:dPr>
                          <m:begChr m:val="|"/>
                          <m:endChr m:val="|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{"/>
                              <m:endChr m:val="|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</m:d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h𝑎𝑠𝑇𝑜𝑘𝑒𝑛</m:t>
                          </m:r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en-US" sz="2400" b="1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}</m:t>
                          </m:r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≥1</m:t>
                      </m:r>
                    </m:oMath>
                  </m:oMathPara>
                </a14:m>
                <a:endParaRPr lang="en-US" sz="2400" dirty="0">
                  <a:latin typeface="+mj-lt"/>
                </a:endParaRPr>
              </a:p>
              <a:p>
                <a:pPr marL="0" indent="0">
                  <a:buNone/>
                </a:pPr>
                <a:endParaRPr lang="en-US" sz="2800" b="0" i="1" dirty="0">
                  <a:latin typeface="+mj-lt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latin typeface="+mj-lt"/>
                  </a:rPr>
                  <a:t>“All processes have values at most  K-1”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sz="2400" dirty="0">
                    <a:latin typeface="+mj-lt"/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endParaRPr lang="en-US" sz="2400" dirty="0">
                  <a:latin typeface="+mj-lt"/>
                </a:endParaRPr>
              </a:p>
              <a:p>
                <a:pPr marL="0" indent="0">
                  <a:buNone/>
                </a:pPr>
                <a:endParaRPr lang="en-US" sz="2400" dirty="0">
                  <a:latin typeface="+mj-lt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latin typeface="+mj-lt"/>
                  </a:rPr>
                  <a:t>“Car always stops at stop sign”</a:t>
                </a:r>
              </a:p>
              <a:p>
                <a:pPr marL="0" indent="0">
                  <a:buNone/>
                </a:pPr>
                <a:endParaRPr lang="en-US" sz="2400" dirty="0">
                  <a:latin typeface="+mj-lt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latin typeface="+mj-lt"/>
                  </a:rPr>
                  <a:t>“Drone does not deviate more that 5m from ref path”</a:t>
                </a:r>
              </a:p>
              <a:p>
                <a:pPr marL="0" indent="0">
                  <a:buNone/>
                </a:pPr>
                <a:endParaRPr lang="en-US" sz="2400" dirty="0">
                  <a:latin typeface="+mj-lt"/>
                </a:endParaRPr>
              </a:p>
            </p:txBody>
          </p:sp>
        </mc:Choice>
        <mc:Fallback xmlns="">
          <p:sp>
            <p:nvSpPr>
              <p:cNvPr id="15363" name="Conten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72283" y="702793"/>
                <a:ext cx="8871717" cy="4124599"/>
              </a:xfrm>
              <a:blipFill>
                <a:blip r:embed="rId4"/>
                <a:stretch>
                  <a:fillRect l="-1144" t="-920" b="-524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41D3715A-59A6-FB40-B0E7-1051C01D89C9}"/>
                  </a:ext>
                </a:extLst>
              </p:cNvPr>
              <p:cNvSpPr/>
              <p:nvPr/>
            </p:nvSpPr>
            <p:spPr>
              <a:xfrm>
                <a:off x="8232824" y="2828217"/>
                <a:ext cx="3508922" cy="2806788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b="0" dirty="0"/>
                  <a:t>Invariant e.g.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≥1</m:t>
                        </m:r>
                      </m:sub>
                    </m:sSub>
                  </m:oMath>
                </a14:m>
                <a:endParaRPr lang="en-US" sz="2400" dirty="0"/>
              </a:p>
              <a:p>
                <a:pPr algn="ctr"/>
                <a:endParaRPr lang="en-US" sz="2400" dirty="0"/>
              </a:p>
              <a:p>
                <a:pPr algn="ctr"/>
                <a:endParaRPr lang="en-US" sz="2400" dirty="0"/>
              </a:p>
              <a:p>
                <a:pPr algn="ctr"/>
                <a:endParaRPr lang="en-US" sz="2400" dirty="0"/>
              </a:p>
              <a:p>
                <a:pPr algn="ctr"/>
                <a:endParaRPr lang="en-US" sz="2400" dirty="0"/>
              </a:p>
            </p:txBody>
          </p:sp>
        </mc:Choice>
        <mc:Fallback xmlns=""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41D3715A-59A6-FB40-B0E7-1051C01D89C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32824" y="2828217"/>
                <a:ext cx="3508922" cy="2806788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E65923C4-F7A6-EF45-B37D-E1317E0477F3}"/>
                  </a:ext>
                </a:extLst>
              </p:cNvPr>
              <p:cNvSpPr/>
              <p:nvPr/>
            </p:nvSpPr>
            <p:spPr>
              <a:xfrm>
                <a:off x="8472092" y="3719461"/>
                <a:ext cx="3030386" cy="1476573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𝑅𝑒𝑎𝑐h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𝒜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Θ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  <a:p>
                <a:pPr algn="ctr"/>
                <a:endParaRPr lang="en-US" sz="2400" dirty="0"/>
              </a:p>
            </p:txBody>
          </p:sp>
        </mc:Choice>
        <mc:Fallback xmlns="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E65923C4-F7A6-EF45-B37D-E1317E0477F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72092" y="3719461"/>
                <a:ext cx="3030386" cy="1476573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0180DBC7-5ECA-B140-AABA-39584D6D7284}"/>
                  </a:ext>
                </a:extLst>
              </p:cNvPr>
              <p:cNvSpPr/>
              <p:nvPr/>
            </p:nvSpPr>
            <p:spPr>
              <a:xfrm>
                <a:off x="9031194" y="4613651"/>
                <a:ext cx="1082070" cy="415549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0" smtClean="0">
                          <a:latin typeface="Cambria Math" panose="02040503050406030204" pitchFamily="18" charset="0"/>
                        </a:rPr>
                        <m:t>𝚯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0180DBC7-5ECA-B140-AABA-39584D6D728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1194" y="4613651"/>
                <a:ext cx="1082070" cy="415549"/>
              </a:xfrm>
              <a:prstGeom prst="ellipse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>
          <a:xfrm>
            <a:off x="609600" y="-7883"/>
            <a:ext cx="10972800" cy="912484"/>
          </a:xfrm>
        </p:spPr>
        <p:txBody>
          <a:bodyPr/>
          <a:lstStyle/>
          <a:p>
            <a:pPr eaLnBrk="1" hangingPunct="1"/>
            <a:r>
              <a:rPr lang="en-US" sz="3600" dirty="0"/>
              <a:t>Invariants</a:t>
            </a:r>
          </a:p>
        </p:txBody>
      </p:sp>
    </p:spTree>
    <p:extLst>
      <p:ext uri="{BB962C8B-B14F-4D97-AF65-F5344CB8AC3E}">
        <p14:creationId xmlns:p14="http://schemas.microsoft.com/office/powerpoint/2010/main" val="40759278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Proving invariants by induction (Chapter 7)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F8A6352-FDCE-A345-A6E7-0FD07B8E9A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90600" y="4343400"/>
                <a:ext cx="10515600" cy="1831974"/>
              </a:xfrm>
              <a:solidFill>
                <a:schemeClr val="accent1">
                  <a:lumMod val="20000"/>
                  <a:lumOff val="80000"/>
                </a:schemeClr>
              </a:solidFill>
            </p:spPr>
            <p:txBody>
              <a:bodyPr>
                <a:normAutofit fontScale="77500" lnSpcReduction="20000"/>
              </a:bodyPr>
              <a:lstStyle/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b="1" dirty="0">
                    <a:latin typeface="+mj-lt"/>
                  </a:rPr>
                  <a:t>Theorem 7.1.</a:t>
                </a:r>
                <a:r>
                  <a:rPr lang="en-US" dirty="0">
                    <a:latin typeface="+mj-lt"/>
                  </a:rPr>
                  <a:t> Given an automaton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=〈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𝒟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〉</m:t>
                    </m:r>
                  </m:oMath>
                </a14:m>
                <a:r>
                  <a:rPr lang="en-US" dirty="0">
                    <a:latin typeface="+mj-lt"/>
                  </a:rPr>
                  <a:t> and a set of states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⊆</m:t>
                    </m:r>
                    <m:r>
                      <m:rPr>
                        <m:sty m:val="p"/>
                      </m:rPr>
                      <a:rPr lang="en-US" i="1" dirty="0" err="1">
                        <a:latin typeface="Cambria Math" panose="02040503050406030204" pitchFamily="18" charset="0"/>
                      </a:rPr>
                      <m:t>val</m:t>
                    </m:r>
                    <m:d>
                      <m:d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latin typeface="+mj-lt"/>
                  </a:rPr>
                  <a:t>if: </a:t>
                </a:r>
              </a:p>
              <a:p>
                <a:pPr>
                  <a:lnSpc>
                    <a:spcPct val="120000"/>
                  </a:lnSpc>
                </a:pPr>
                <a:r>
                  <a:rPr lang="en-US" dirty="0">
                    <a:latin typeface="+mj-lt"/>
                  </a:rPr>
                  <a:t>(Start condition) for any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Θ</m:t>
                    </m:r>
                  </m:oMath>
                </a14:m>
                <a:r>
                  <a:rPr lang="en-US" dirty="0">
                    <a:latin typeface="+mj-lt"/>
                  </a:rPr>
                  <a:t> implies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dirty="0">
                    <a:latin typeface="+mj-lt"/>
                  </a:rPr>
                  <a:t>, and</a:t>
                </a:r>
              </a:p>
              <a:p>
                <a:pPr>
                  <a:lnSpc>
                    <a:spcPct val="120000"/>
                  </a:lnSpc>
                </a:pPr>
                <a:r>
                  <a:rPr lang="en-US" dirty="0">
                    <a:latin typeface="+mj-lt"/>
                  </a:rPr>
                  <a:t>(Transition closure) for any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dirty="0">
                    <a:latin typeface="+mj-lt"/>
                  </a:rPr>
                  <a:t>’ and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dirty="0">
                    <a:latin typeface="+mj-lt"/>
                  </a:rPr>
                  <a:t> implies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′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endParaRPr lang="en-US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>
                    <a:latin typeface="+mj-lt"/>
                  </a:rPr>
                  <a:t>then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dirty="0">
                    <a:latin typeface="+mj-lt"/>
                  </a:rPr>
                  <a:t> is an (inductive) invariant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</m:oMath>
                </a14:m>
                <a:r>
                  <a:rPr lang="en-US" dirty="0">
                    <a:latin typeface="+mj-lt"/>
                  </a:rPr>
                  <a:t>. That is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𝑅𝑒𝑎𝑐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Θ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⊆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dirty="0">
                    <a:latin typeface="+mj-lt"/>
                  </a:rPr>
                  <a:t>.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endParaRPr lang="en-US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:endParaRPr lang="en-US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:endParaRPr lang="en-US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:endParaRPr lang="en-US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:endParaRPr lang="en-US" dirty="0">
                  <a:latin typeface="+mj-lt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F8A6352-FDCE-A345-A6E7-0FD07B8E9A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90600" y="4343400"/>
                <a:ext cx="10515600" cy="1831974"/>
              </a:xfrm>
              <a:blipFill>
                <a:blip r:embed="rId2"/>
                <a:stretch>
                  <a:fillRect l="-724" t="-2759" b="-55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4E8771A8-E8B1-2288-0E0B-B4B5519C1A7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914400" y="1600201"/>
                <a:ext cx="10668000" cy="2743199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70000" lnSpcReduction="20000"/>
              </a:bodyPr>
              <a:lstStyle>
                <a:lvl1pPr marL="342900" indent="-342900" algn="l" defTabSz="914400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914400" rtl="0" eaLnBrk="1" latinLnBrk="0" hangingPunct="1">
                  <a:spcBef>
                    <a:spcPct val="20000"/>
                  </a:spcBef>
                  <a:buFont typeface="Arial" pitchFamily="34" charset="0"/>
                  <a:buChar char="–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spcBef>
                    <a:spcPct val="20000"/>
                  </a:spcBef>
                  <a:buFont typeface="Arial" pitchFamily="34" charset="0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spcBef>
                    <a:spcPct val="20000"/>
                  </a:spcBef>
                  <a:buFont typeface="Arial" pitchFamily="34" charset="0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>
                    <a:ea typeface="Cambria Math" panose="02040503050406030204" pitchFamily="18" charset="0"/>
                  </a:rPr>
                  <a:t>Given an automaton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=〈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𝒟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〉</m:t>
                    </m:r>
                  </m:oMath>
                </a14:m>
                <a:r>
                  <a:rPr lang="en-US" dirty="0">
                    <a:latin typeface="+mj-lt"/>
                  </a:rPr>
                  <a:t> and a candidate invariant 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⊆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𝑉𝑎𝑙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we want to check that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𝑅𝑒𝑎𝑐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⊆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endParaRPr lang="en-US" dirty="0"/>
              </a:p>
              <a:p>
                <a:pPr marL="0" indent="0">
                  <a:lnSpc>
                    <a:spcPct val="120000"/>
                  </a:lnSpc>
                  <a:buFont typeface="Arial" pitchFamily="34" charset="0"/>
                  <a:buNone/>
                </a:pPr>
                <a:r>
                  <a:rPr lang="en-US" dirty="0"/>
                  <a:t>One approach for finite automata: Perform BFS (as in reachability analysis) and check if any state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𝑐</m:t>
                        </m:r>
                      </m:sup>
                    </m:sSup>
                  </m:oMath>
                </a14:m>
                <a:r>
                  <a:rPr lang="en-US" dirty="0"/>
                  <a:t> is reached</a:t>
                </a:r>
              </a:p>
              <a:p>
                <a:pPr marL="0" indent="0">
                  <a:lnSpc>
                    <a:spcPct val="120000"/>
                  </a:lnSpc>
                  <a:buFont typeface="Arial" pitchFamily="34" charset="0"/>
                  <a:buNone/>
                </a:pPr>
                <a:endParaRPr lang="en-US" dirty="0"/>
              </a:p>
              <a:p>
                <a:pPr marL="0" indent="0">
                  <a:lnSpc>
                    <a:spcPct val="120000"/>
                  </a:lnSpc>
                  <a:buFont typeface="Arial" pitchFamily="34" charset="0"/>
                  <a:buNone/>
                </a:pPr>
                <a:r>
                  <a:rPr lang="en-US" dirty="0"/>
                  <a:t>This may not scale. Alternatively: </a:t>
                </a:r>
              </a:p>
              <a:p>
                <a:pPr marL="0" indent="0">
                  <a:lnSpc>
                    <a:spcPct val="120000"/>
                  </a:lnSpc>
                  <a:buFont typeface="Arial" pitchFamily="34" charset="0"/>
                  <a:buNone/>
                </a:pPr>
                <a:endParaRPr lang="en-US" dirty="0"/>
              </a:p>
              <a:p>
                <a:pPr marL="0" indent="0">
                  <a:lnSpc>
                    <a:spcPct val="120000"/>
                  </a:lnSpc>
                  <a:buFont typeface="Arial" pitchFamily="34" charset="0"/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4E8771A8-E8B1-2288-0E0B-B4B5519C1A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400" y="1600201"/>
                <a:ext cx="10668000" cy="2743199"/>
              </a:xfrm>
              <a:prstGeom prst="rect">
                <a:avLst/>
              </a:prstGeom>
              <a:blipFill>
                <a:blip r:embed="rId3"/>
                <a:stretch>
                  <a:fillRect l="-832" t="-1843" b="-27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285173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Proving invariants by induction (Chapter 7)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F8A6352-FDCE-A345-A6E7-0FD07B8E9A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3428999"/>
                <a:ext cx="10515600" cy="3063875"/>
              </a:xfrm>
            </p:spPr>
            <p:txBody>
              <a:bodyPr>
                <a:normAutofit fontScale="70000" lnSpcReduction="20000"/>
              </a:bodyPr>
              <a:lstStyle/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b="1" dirty="0">
                    <a:latin typeface="+mj-lt"/>
                  </a:rPr>
                  <a:t>Proof. </a:t>
                </a:r>
                <a:r>
                  <a:rPr lang="en-US" dirty="0">
                    <a:latin typeface="+mj-lt"/>
                  </a:rPr>
                  <a:t>Consider any reachable state </a:t>
                </a:r>
                <a14:m>
                  <m:oMath xmlns:m="http://schemas.openxmlformats.org/officeDocument/2006/math">
                    <m:r>
                      <a:rPr lang="en-US" b="1" i="1" dirty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dirty="0">
                    <a:latin typeface="+mj-lt"/>
                  </a:rPr>
                  <a:t>.  By the definition of a reachable state, there exists an execution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latin typeface="+mj-lt"/>
                  </a:rPr>
                  <a:t>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latin typeface="+mj-lt"/>
                  </a:rPr>
                  <a:t>such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𝑙𝑠𝑡𝑎𝑡𝑒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 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dirty="0">
                    <a:latin typeface="+mj-lt"/>
                  </a:rPr>
                  <a:t>. 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>
                    <a:latin typeface="+mj-lt"/>
                  </a:rPr>
                  <a:t>We proceed by induction on the length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endParaRPr lang="en-US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>
                    <a:latin typeface="+mj-lt"/>
                  </a:rPr>
                  <a:t>For the base case,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latin typeface="+mj-lt"/>
                  </a:rPr>
                  <a:t>consists of a single starting state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Θ</m:t>
                    </m:r>
                  </m:oMath>
                </a14:m>
                <a:r>
                  <a:rPr lang="en-US" dirty="0">
                    <a:latin typeface="+mj-lt"/>
                  </a:rPr>
                  <a:t>, and by the Start condition,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dirty="0">
                    <a:latin typeface="+mj-lt"/>
                  </a:rPr>
                  <a:t>. 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>
                    <a:latin typeface="+mj-lt"/>
                  </a:rPr>
                  <a:t>For the inductive step,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dirty="0">
                    <a:latin typeface="+mj-lt"/>
                  </a:rPr>
                  <a:t> where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>
                    <a:latin typeface="+mj-lt"/>
                  </a:rPr>
                  <a:t>. By the induction hypothesis, we know that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𝑙𝑠𝑡𝑎𝑡𝑒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dirty="0">
                    <a:latin typeface="+mj-lt"/>
                  </a:rPr>
                  <a:t>. 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>
                    <a:latin typeface="+mj-lt"/>
                  </a:rPr>
                  <a:t>Invoking Transition closure 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𝑙𝑠𝑡𝑎𝑡𝑒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→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latin typeface="+mj-lt"/>
                  </a:rPr>
                  <a:t>we obtain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dirty="0">
                    <a:latin typeface="+mj-lt"/>
                  </a:rPr>
                  <a:t>	QED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F8A6352-FDCE-A345-A6E7-0FD07B8E9A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3428999"/>
                <a:ext cx="10515600" cy="3063875"/>
              </a:xfrm>
              <a:blipFill>
                <a:blip r:embed="rId2"/>
                <a:stretch>
                  <a:fillRect l="-603" t="-8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7238FEE1-78F8-C04C-959C-E1282FC4719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462371"/>
                <a:ext cx="10515600" cy="1831974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txBody>
              <a:bodyPr vert="horz" lIns="91440" tIns="45720" rIns="91440" bIns="45720" rtlCol="0">
                <a:normAutofit fontScale="77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20000"/>
                  </a:lnSpc>
                  <a:buFont typeface="Arial" panose="020B0604020202020204" pitchFamily="34" charset="0"/>
                  <a:buNone/>
                </a:pPr>
                <a:r>
                  <a:rPr lang="en-US" b="1" dirty="0">
                    <a:latin typeface="+mj-lt"/>
                  </a:rPr>
                  <a:t>Theorem 7.1.</a:t>
                </a:r>
                <a:r>
                  <a:rPr lang="en-US" dirty="0">
                    <a:latin typeface="+mj-lt"/>
                  </a:rPr>
                  <a:t> Given a automaton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=〈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𝒟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〉</m:t>
                    </m:r>
                  </m:oMath>
                </a14:m>
                <a:r>
                  <a:rPr lang="en-US" dirty="0">
                    <a:latin typeface="+mj-lt"/>
                  </a:rPr>
                  <a:t> and a set of states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⊆</m:t>
                    </m:r>
                    <m:r>
                      <m:rPr>
                        <m:sty m:val="p"/>
                      </m:rPr>
                      <a:rPr lang="en-US" i="1" dirty="0" err="1">
                        <a:latin typeface="Cambria Math" panose="02040503050406030204" pitchFamily="18" charset="0"/>
                      </a:rPr>
                      <m:t>val</m:t>
                    </m:r>
                    <m:d>
                      <m:d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latin typeface="+mj-lt"/>
                  </a:rPr>
                  <a:t>if: </a:t>
                </a:r>
              </a:p>
              <a:p>
                <a:pPr>
                  <a:lnSpc>
                    <a:spcPct val="120000"/>
                  </a:lnSpc>
                </a:pPr>
                <a:r>
                  <a:rPr lang="en-US" dirty="0">
                    <a:latin typeface="+mj-lt"/>
                  </a:rPr>
                  <a:t>(Start condition) for any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dirty="0" smtClean="0">
                        <a:latin typeface="Cambria Math" panose="02040503050406030204" pitchFamily="18" charset="0"/>
                      </a:rPr>
                      <m:t>Θ</m:t>
                    </m:r>
                  </m:oMath>
                </a14:m>
                <a:r>
                  <a:rPr lang="en-US" dirty="0">
                    <a:latin typeface="+mj-lt"/>
                  </a:rPr>
                  <a:t> implies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dirty="0">
                    <a:latin typeface="+mj-lt"/>
                  </a:rPr>
                  <a:t>, and</a:t>
                </a:r>
              </a:p>
              <a:p>
                <a:pPr>
                  <a:lnSpc>
                    <a:spcPct val="120000"/>
                  </a:lnSpc>
                </a:pPr>
                <a:r>
                  <a:rPr lang="en-US" dirty="0">
                    <a:latin typeface="+mj-lt"/>
                  </a:rPr>
                  <a:t>(Transition closure) for any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→</m:t>
                        </m:r>
                      </m:e>
                      <m:sub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>
                    <a:latin typeface="+mj-lt"/>
                  </a:rPr>
                  <a:t> and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dirty="0">
                    <a:latin typeface="+mj-lt"/>
                  </a:rPr>
                  <a:t> implies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′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endParaRPr lang="en-US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Font typeface="Arial" panose="020B0604020202020204" pitchFamily="34" charset="0"/>
                  <a:buNone/>
                </a:pPr>
                <a:r>
                  <a:rPr lang="en-US" dirty="0">
                    <a:latin typeface="+mj-lt"/>
                  </a:rPr>
                  <a:t>then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dirty="0">
                    <a:latin typeface="+mj-lt"/>
                  </a:rPr>
                  <a:t> is an (inductive) invariant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</m:oMath>
                </a14:m>
                <a:r>
                  <a:rPr lang="en-US" dirty="0">
                    <a:latin typeface="+mj-lt"/>
                  </a:rPr>
                  <a:t>. That is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𝑅𝑒𝑎𝑐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</m:sub>
                    </m:sSub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Θ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⊆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dirty="0">
                    <a:latin typeface="+mj-lt"/>
                  </a:rPr>
                  <a:t>.</a:t>
                </a:r>
              </a:p>
              <a:p>
                <a:pPr marL="0" indent="0">
                  <a:lnSpc>
                    <a:spcPct val="120000"/>
                  </a:lnSpc>
                  <a:buFont typeface="Arial" panose="020B0604020202020204" pitchFamily="34" charset="0"/>
                  <a:buNone/>
                </a:pPr>
                <a:endParaRPr lang="en-US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Font typeface="Arial" panose="020B0604020202020204" pitchFamily="34" charset="0"/>
                  <a:buNone/>
                </a:pPr>
                <a:endParaRPr lang="en-US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Font typeface="Arial" panose="020B0604020202020204" pitchFamily="34" charset="0"/>
                  <a:buNone/>
                </a:pPr>
                <a:endParaRPr lang="en-US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Font typeface="Arial" panose="020B0604020202020204" pitchFamily="34" charset="0"/>
                  <a:buNone/>
                </a:pPr>
                <a:endParaRPr lang="en-US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Font typeface="Arial" panose="020B0604020202020204" pitchFamily="34" charset="0"/>
                  <a:buNone/>
                </a:pPr>
                <a:endParaRPr lang="en-US" dirty="0">
                  <a:latin typeface="+mj-lt"/>
                </a:endParaRP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7238FEE1-78F8-C04C-959C-E1282FC471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462371"/>
                <a:ext cx="10515600" cy="1831974"/>
              </a:xfrm>
              <a:prstGeom prst="rect">
                <a:avLst/>
              </a:prstGeom>
              <a:blipFill>
                <a:blip r:embed="rId3"/>
                <a:stretch>
                  <a:fillRect l="-603" t="-2069" b="-55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648031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8DEA22-7141-D04F-BF3E-5840C64D7F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15144"/>
            <a:ext cx="10515600" cy="868683"/>
          </a:xfrm>
        </p:spPr>
        <p:txBody>
          <a:bodyPr/>
          <a:lstStyle/>
          <a:p>
            <a:r>
              <a:rPr lang="en-US" dirty="0"/>
              <a:t>Proving invariants by induction for Dijkstra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C226C4B-D7C6-FD43-A760-6045ED4E275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74319" y="2462939"/>
                <a:ext cx="7598043" cy="3847206"/>
              </a:xfrm>
            </p:spPr>
            <p:txBody>
              <a:bodyPr>
                <a:normAutofit fontScale="55000" lnSpcReduction="20000"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: </m:t>
                    </m:r>
                  </m:oMath>
                </a14:m>
                <a:r>
                  <a:rPr lang="en-US" dirty="0"/>
                  <a:t>“Exactly one process has the token”.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≡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∨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∨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…</m:t>
                    </m:r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∨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−2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</m:d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(Start condition): Fix a </a:t>
                </a:r>
                <a14:m>
                  <m:oMath xmlns:m="http://schemas.openxmlformats.org/officeDocument/2006/math">
                    <m:r>
                      <a:rPr lang="en-US" b="1" i="1" dirty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0" dirty="0" smtClean="0">
                        <a:latin typeface="Cambria Math" panose="02040503050406030204" pitchFamily="18" charset="0"/>
                      </a:rPr>
                      <m:t>. 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⊨∀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⌈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 therefore </a:t>
                </a:r>
                <a14:m>
                  <m:oMath xmlns:m="http://schemas.openxmlformats.org/officeDocument/2006/math">
                    <m:r>
                      <a:rPr lang="en-US" b="1" i="1" dirty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⊨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b="0" dirty="0"/>
              </a:p>
              <a:p>
                <a:pPr marL="0" indent="0">
                  <a:buNone/>
                </a:pPr>
                <a:r>
                  <a:rPr lang="en-US" dirty="0"/>
                  <a:t>(Transition closure): Fix a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→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/>
                  <a:t> such that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dirty="0"/>
                  <a:t>. </a:t>
                </a:r>
              </a:p>
              <a:p>
                <a:pPr marL="0" indent="0">
                  <a:buNone/>
                </a:pPr>
                <a:r>
                  <a:rPr lang="en-US" dirty="0"/>
                  <a:t>Two cases to consider. </a:t>
                </a:r>
              </a:p>
              <a:p>
                <a:pPr marL="0" indent="0">
                  <a:buNone/>
                </a:pPr>
                <a:r>
                  <a:rPr lang="en-US" dirty="0"/>
                  <a:t>1.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𝑢𝑝𝑑𝑎𝑡𝑒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(0)</m:t>
                    </m:r>
                  </m:oMath>
                </a14:m>
                <a:r>
                  <a:rPr lang="en-US" dirty="0"/>
                  <a:t> then</a:t>
                </a:r>
              </a:p>
              <a:p>
                <a:pPr marL="914400" lvl="1" indent="-457200">
                  <a:buFont typeface="+mj-lt"/>
                  <a:buAutoNum type="alphaLcParenR"/>
                </a:pPr>
                <a:r>
                  <a:rPr lang="en-US" dirty="0"/>
                  <a:t>since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⊨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𝑃𝑟𝑒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𝑢𝑝𝑑𝑎𝑡𝑒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d>
                  </m:oMath>
                </a14:m>
                <a:r>
                  <a:rPr lang="en-US" dirty="0"/>
                  <a:t> it follows that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−1]</m:t>
                    </m:r>
                  </m:oMath>
                </a14:m>
                <a:endParaRPr lang="en-US" b="1" dirty="0"/>
              </a:p>
              <a:p>
                <a:pPr marL="914400" lvl="1" indent="-457200">
                  <a:buFont typeface="+mj-lt"/>
                  <a:buAutoNum type="alphaLcParenR"/>
                </a:pPr>
                <a:r>
                  <a:rPr lang="en-US" dirty="0"/>
                  <a:t>since </a:t>
                </a:r>
                <a14:m>
                  <m:oMath xmlns:m="http://schemas.openxmlformats.org/officeDocument/2006/math">
                    <m:r>
                      <a:rPr lang="en-US" b="1" i="1" dirty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⊨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it follows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&gt;0 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−1]</m:t>
                    </m:r>
                  </m:oMath>
                </a14:m>
                <a:endParaRPr lang="en-US" dirty="0"/>
              </a:p>
              <a:p>
                <a:pPr marL="914400" lvl="1" indent="-457200">
                  <a:buFont typeface="+mj-lt"/>
                  <a:buAutoNum type="alphaLcParenR"/>
                </a:pP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′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b="1" i="1" smtClean="0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′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−1]</m:t>
                    </m:r>
                  </m:oMath>
                </a14:m>
                <a:r>
                  <a:rPr lang="en-US" b="1" dirty="0"/>
                  <a:t> 		</a:t>
                </a:r>
                <a:r>
                  <a:rPr lang="en-US" dirty="0"/>
                  <a:t>by applying (a)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𝐸𝑓𝑓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𝑢𝑝𝑑𝑎𝑡𝑒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d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to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endParaRPr lang="en-US" b="1" dirty="0"/>
              </a:p>
              <a:p>
                <a:pPr marL="914400" lvl="1" indent="-457200">
                  <a:buFont typeface="+mj-lt"/>
                  <a:buAutoNum type="alphaLcParenR"/>
                </a:pP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′⌈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b="1" i="1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′⌈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[0]</m:t>
                    </m:r>
                  </m:oMath>
                </a14:m>
                <a:r>
                  <a:rPr lang="en-US" b="1" dirty="0"/>
                  <a:t> 		</a:t>
                </a:r>
                <a:r>
                  <a:rPr lang="en-US" dirty="0"/>
                  <a:t>by applying (b)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𝐸𝑓𝑓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𝑢𝑝𝑑𝑎𝑡𝑒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d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to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endParaRPr lang="en-US" b="1" dirty="0"/>
              </a:p>
              <a:p>
                <a:pPr marL="914400" lvl="1" indent="-457200">
                  <a:buFont typeface="+mj-lt"/>
                  <a:buAutoNum type="alphaLcParenR"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&gt;1 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′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′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−1]</m:t>
                    </m:r>
                  </m:oMath>
                </a14:m>
                <a:r>
                  <a:rPr lang="en-US" dirty="0"/>
                  <a:t>	by applying (b)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𝐸𝑓𝑓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𝑢𝑝𝑑𝑎𝑡𝑒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d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to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endParaRPr lang="en-US" b="1" dirty="0"/>
              </a:p>
              <a:p>
                <a:pPr marL="457200" lvl="1" indent="0">
                  <a:buNone/>
                </a:pPr>
                <a:r>
                  <a:rPr lang="en-US" dirty="0"/>
                  <a:t>Therefore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p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⊨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2. If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𝑢𝑝𝑑𝑎𝑡𝑒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i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&gt;0 </m:t>
                    </m:r>
                  </m:oMath>
                </a14:m>
                <a:r>
                  <a:rPr lang="en-US" dirty="0"/>
                  <a:t>then fix arbitrary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dirty="0"/>
                  <a:t> … (do it as an exercise) </a:t>
                </a:r>
              </a:p>
              <a:p>
                <a:pPr marL="914400" lvl="1" indent="-457200">
                  <a:buFont typeface="+mj-lt"/>
                  <a:buAutoNum type="alphaLcParenR"/>
                </a:pPr>
                <a:endParaRPr lang="en-US" dirty="0"/>
              </a:p>
              <a:p>
                <a:pPr marL="914400" lvl="1" indent="-457200">
                  <a:buFont typeface="+mj-lt"/>
                  <a:buAutoNum type="alphaLcParenR"/>
                </a:pPr>
                <a:endParaRPr lang="en-US" b="1" dirty="0"/>
              </a:p>
              <a:p>
                <a:pPr marL="457200" lvl="1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b="0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C226C4B-D7C6-FD43-A760-6045ED4E275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74319" y="2462939"/>
                <a:ext cx="7598043" cy="3847206"/>
              </a:xfrm>
              <a:blipFill>
                <a:blip r:embed="rId2"/>
                <a:stretch>
                  <a:fillRect l="-334" t="-19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C1763042-1426-EF4A-A930-DB43AD7F99DB}"/>
              </a:ext>
            </a:extLst>
          </p:cNvPr>
          <p:cNvSpPr txBox="1"/>
          <p:nvPr/>
        </p:nvSpPr>
        <p:spPr>
          <a:xfrm>
            <a:off x="7872362" y="753539"/>
            <a:ext cx="4280013" cy="384720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/>
              <a:t>automaton</a:t>
            </a:r>
            <a:r>
              <a:rPr lang="en-US" sz="1600" dirty="0"/>
              <a:t> </a:t>
            </a:r>
            <a:r>
              <a:rPr lang="en-US" sz="1600" dirty="0" err="1">
                <a:solidFill>
                  <a:srgbClr val="0119FF"/>
                </a:solidFill>
              </a:rPr>
              <a:t>DijkstraTR</a:t>
            </a:r>
            <a:r>
              <a:rPr lang="en-US" sz="1600" dirty="0"/>
              <a:t>(</a:t>
            </a:r>
            <a:r>
              <a:rPr lang="en-US" sz="1600" dirty="0" err="1"/>
              <a:t>N:</a:t>
            </a:r>
            <a:r>
              <a:rPr lang="en-US" sz="1600" dirty="0" err="1">
                <a:solidFill>
                  <a:srgbClr val="00B050"/>
                </a:solidFill>
              </a:rPr>
              <a:t>Nat</a:t>
            </a:r>
            <a:r>
              <a:rPr lang="en-US" sz="1600" dirty="0"/>
              <a:t>, </a:t>
            </a:r>
            <a:r>
              <a:rPr lang="en-US" sz="1600" dirty="0" err="1"/>
              <a:t>K:</a:t>
            </a:r>
            <a:r>
              <a:rPr lang="en-US" sz="1600" dirty="0" err="1">
                <a:solidFill>
                  <a:srgbClr val="00B050"/>
                </a:solidFill>
              </a:rPr>
              <a:t>Nat</a:t>
            </a:r>
            <a:r>
              <a:rPr lang="en-US" sz="1600" dirty="0"/>
              <a:t>), </a:t>
            </a:r>
            <a:r>
              <a:rPr lang="en-US" sz="1600" b="1" dirty="0"/>
              <a:t>where</a:t>
            </a:r>
            <a:r>
              <a:rPr lang="en-US" sz="1600" dirty="0"/>
              <a:t> K &gt; N</a:t>
            </a:r>
          </a:p>
          <a:p>
            <a:r>
              <a:rPr lang="en-US" sz="1600" dirty="0"/>
              <a:t>  </a:t>
            </a:r>
            <a:r>
              <a:rPr lang="en-US" sz="1600" b="1" dirty="0"/>
              <a:t>type</a:t>
            </a:r>
            <a:r>
              <a:rPr lang="en-US" sz="1600" dirty="0"/>
              <a:t> </a:t>
            </a:r>
            <a:r>
              <a:rPr lang="en-US" sz="1600" dirty="0">
                <a:solidFill>
                  <a:srgbClr val="0119FF"/>
                </a:solidFill>
              </a:rPr>
              <a:t>ID</a:t>
            </a:r>
            <a:r>
              <a:rPr lang="en-US" sz="1600" dirty="0"/>
              <a:t>: </a:t>
            </a:r>
            <a:r>
              <a:rPr lang="en-US" sz="1600" b="1" dirty="0"/>
              <a:t>enumeration</a:t>
            </a:r>
            <a:r>
              <a:rPr lang="en-US" sz="1600" dirty="0"/>
              <a:t> [0,...,N-1]</a:t>
            </a:r>
          </a:p>
          <a:p>
            <a:r>
              <a:rPr lang="en-US" sz="1600" dirty="0"/>
              <a:t>  </a:t>
            </a:r>
            <a:r>
              <a:rPr lang="en-US" sz="1600" b="1" dirty="0"/>
              <a:t>type</a:t>
            </a:r>
            <a:r>
              <a:rPr lang="en-US" sz="1600" dirty="0"/>
              <a:t> </a:t>
            </a:r>
            <a:r>
              <a:rPr lang="en-US" sz="1600" dirty="0">
                <a:solidFill>
                  <a:srgbClr val="0119FF"/>
                </a:solidFill>
              </a:rPr>
              <a:t>Val</a:t>
            </a:r>
            <a:r>
              <a:rPr lang="en-US" sz="1600" dirty="0"/>
              <a:t>: </a:t>
            </a:r>
            <a:r>
              <a:rPr lang="en-US" sz="1600" b="1" dirty="0"/>
              <a:t>enumeration</a:t>
            </a:r>
            <a:r>
              <a:rPr lang="en-US" sz="1600" dirty="0"/>
              <a:t> [0,...,K]</a:t>
            </a:r>
          </a:p>
          <a:p>
            <a:r>
              <a:rPr lang="en-US" sz="1600" dirty="0"/>
              <a:t>  </a:t>
            </a:r>
            <a:r>
              <a:rPr lang="en-US" sz="1600" b="1" dirty="0"/>
              <a:t>actions</a:t>
            </a:r>
          </a:p>
          <a:p>
            <a:r>
              <a:rPr lang="en-US" sz="1600" dirty="0"/>
              <a:t>      </a:t>
            </a:r>
            <a:r>
              <a:rPr lang="en-US" sz="1600" dirty="0">
                <a:solidFill>
                  <a:srgbClr val="0119FF"/>
                </a:solidFill>
              </a:rPr>
              <a:t>update</a:t>
            </a:r>
            <a:r>
              <a:rPr lang="en-US" sz="1600" dirty="0"/>
              <a:t>(</a:t>
            </a:r>
            <a:r>
              <a:rPr lang="en-US" sz="1600" dirty="0" err="1"/>
              <a:t>i:ID</a:t>
            </a:r>
            <a:r>
              <a:rPr lang="en-US" sz="1600" dirty="0"/>
              <a:t>)</a:t>
            </a:r>
          </a:p>
          <a:p>
            <a:r>
              <a:rPr lang="en-US" sz="1600" dirty="0"/>
              <a:t>  </a:t>
            </a:r>
            <a:r>
              <a:rPr lang="en-US" sz="1600" b="1" dirty="0"/>
              <a:t>variables</a:t>
            </a:r>
          </a:p>
          <a:p>
            <a:r>
              <a:rPr lang="en-US" sz="1600" dirty="0"/>
              <a:t>      </a:t>
            </a:r>
            <a:r>
              <a:rPr lang="en-US" sz="1600" dirty="0">
                <a:solidFill>
                  <a:srgbClr val="0119FF"/>
                </a:solidFill>
              </a:rPr>
              <a:t>x</a:t>
            </a:r>
            <a:r>
              <a:rPr lang="en-US" sz="1600" dirty="0"/>
              <a:t>:[ID -&gt; Val] </a:t>
            </a:r>
            <a:r>
              <a:rPr lang="en-US" sz="1600" b="1" dirty="0">
                <a:solidFill>
                  <a:srgbClr val="C00000"/>
                </a:solidFill>
              </a:rPr>
              <a:t>initially</a:t>
            </a:r>
            <a:r>
              <a:rPr lang="en-US" sz="1600" dirty="0">
                <a:solidFill>
                  <a:srgbClr val="C00000"/>
                </a:solidFill>
              </a:rPr>
              <a:t> </a:t>
            </a:r>
            <a:r>
              <a:rPr lang="en-US" sz="1600" b="1" dirty="0" err="1">
                <a:solidFill>
                  <a:srgbClr val="C00000"/>
                </a:solidFill>
              </a:rPr>
              <a:t>forall</a:t>
            </a:r>
            <a:r>
              <a:rPr lang="en-US" sz="1600" dirty="0">
                <a:solidFill>
                  <a:srgbClr val="C00000"/>
                </a:solidFill>
              </a:rPr>
              <a:t> </a:t>
            </a:r>
            <a:r>
              <a:rPr lang="en-US" sz="1600" dirty="0" err="1">
                <a:solidFill>
                  <a:srgbClr val="C00000"/>
                </a:solidFill>
              </a:rPr>
              <a:t>i:ID</a:t>
            </a:r>
            <a:r>
              <a:rPr lang="en-US" sz="1600" dirty="0">
                <a:solidFill>
                  <a:srgbClr val="C00000"/>
                </a:solidFill>
              </a:rPr>
              <a:t> x[</a:t>
            </a:r>
            <a:r>
              <a:rPr lang="en-US" sz="1600" dirty="0" err="1">
                <a:solidFill>
                  <a:srgbClr val="C00000"/>
                </a:solidFill>
              </a:rPr>
              <a:t>i</a:t>
            </a:r>
            <a:r>
              <a:rPr lang="en-US" sz="1600" dirty="0">
                <a:solidFill>
                  <a:srgbClr val="C00000"/>
                </a:solidFill>
              </a:rPr>
              <a:t>] = 0</a:t>
            </a:r>
          </a:p>
          <a:p>
            <a:r>
              <a:rPr lang="en-US" sz="1600" dirty="0"/>
              <a:t>   </a:t>
            </a:r>
            <a:r>
              <a:rPr lang="en-US" sz="1600" b="1" dirty="0"/>
              <a:t>transitions</a:t>
            </a:r>
          </a:p>
          <a:p>
            <a:r>
              <a:rPr lang="en-US" sz="1600" dirty="0"/>
              <a:t>      </a:t>
            </a:r>
            <a:r>
              <a:rPr lang="en-US" sz="1600" dirty="0">
                <a:solidFill>
                  <a:srgbClr val="0119FF"/>
                </a:solidFill>
              </a:rPr>
              <a:t>update</a:t>
            </a:r>
            <a:r>
              <a:rPr lang="en-US" sz="1600" dirty="0"/>
              <a:t>(</a:t>
            </a:r>
            <a:r>
              <a:rPr lang="en-US" sz="1600" dirty="0" err="1"/>
              <a:t>i:ID</a:t>
            </a:r>
            <a:r>
              <a:rPr lang="en-US" sz="1600" dirty="0"/>
              <a:t>) </a:t>
            </a:r>
          </a:p>
          <a:p>
            <a:r>
              <a:rPr lang="en-US" sz="1600" dirty="0"/>
              <a:t>        </a:t>
            </a:r>
            <a:r>
              <a:rPr lang="en-US" sz="1600" b="1" dirty="0"/>
              <a:t>pre</a:t>
            </a:r>
            <a:r>
              <a:rPr lang="en-US" sz="1600" dirty="0"/>
              <a:t> </a:t>
            </a:r>
            <a:r>
              <a:rPr lang="en-US" sz="1600" dirty="0" err="1"/>
              <a:t>i</a:t>
            </a:r>
            <a:r>
              <a:rPr lang="en-US" sz="1600" dirty="0"/>
              <a:t> = 0 /\ x[</a:t>
            </a:r>
            <a:r>
              <a:rPr lang="en-US" sz="1600" dirty="0" err="1"/>
              <a:t>i</a:t>
            </a:r>
            <a:r>
              <a:rPr lang="en-US" sz="1600" dirty="0"/>
              <a:t>] = x[(N-1)]</a:t>
            </a:r>
          </a:p>
          <a:p>
            <a:r>
              <a:rPr lang="en-US" sz="1600" dirty="0"/>
              <a:t>        </a:t>
            </a:r>
            <a:r>
              <a:rPr lang="en-US" sz="1600" b="1" dirty="0"/>
              <a:t>eff</a:t>
            </a:r>
            <a:r>
              <a:rPr lang="en-US" sz="1600" dirty="0"/>
              <a:t> x[</a:t>
            </a:r>
            <a:r>
              <a:rPr lang="en-US" sz="1600" dirty="0" err="1"/>
              <a:t>i</a:t>
            </a:r>
            <a:r>
              <a:rPr lang="en-US" sz="1600" dirty="0"/>
              <a:t>] := (x[</a:t>
            </a:r>
            <a:r>
              <a:rPr lang="en-US" sz="1600" dirty="0" err="1"/>
              <a:t>i</a:t>
            </a:r>
            <a:r>
              <a:rPr lang="en-US" sz="1600" dirty="0"/>
              <a:t>] + 1) %  K</a:t>
            </a:r>
          </a:p>
          <a:p>
            <a:r>
              <a:rPr lang="en-US" sz="1600" dirty="0"/>
              <a:t>   </a:t>
            </a:r>
          </a:p>
          <a:p>
            <a:r>
              <a:rPr lang="en-US" sz="1600" dirty="0"/>
              <a:t>       </a:t>
            </a:r>
            <a:r>
              <a:rPr lang="en-US" sz="1600" dirty="0">
                <a:solidFill>
                  <a:srgbClr val="0119FF"/>
                </a:solidFill>
              </a:rPr>
              <a:t>update</a:t>
            </a:r>
            <a:r>
              <a:rPr lang="en-US" sz="1600" dirty="0"/>
              <a:t>(</a:t>
            </a:r>
            <a:r>
              <a:rPr lang="en-US" sz="1600" dirty="0" err="1"/>
              <a:t>i:ID</a:t>
            </a:r>
            <a:r>
              <a:rPr lang="en-US" sz="1600" dirty="0"/>
              <a:t>)</a:t>
            </a:r>
          </a:p>
          <a:p>
            <a:r>
              <a:rPr lang="en-US" sz="1600" dirty="0"/>
              <a:t>         </a:t>
            </a:r>
            <a:r>
              <a:rPr lang="en-US" sz="1600" b="1" dirty="0"/>
              <a:t>pre</a:t>
            </a:r>
            <a:r>
              <a:rPr lang="en-US" sz="1600" dirty="0"/>
              <a:t> </a:t>
            </a:r>
            <a:r>
              <a:rPr lang="en-US" sz="1600" dirty="0" err="1"/>
              <a:t>i</a:t>
            </a:r>
            <a:r>
              <a:rPr lang="en-US" sz="1600" dirty="0"/>
              <a:t> &gt;0  /\ x[</a:t>
            </a:r>
            <a:r>
              <a:rPr lang="en-US" sz="1600" dirty="0" err="1"/>
              <a:t>i</a:t>
            </a:r>
            <a:r>
              <a:rPr lang="en-US" sz="1600" dirty="0"/>
              <a:t>] ~= x[i-1]</a:t>
            </a:r>
          </a:p>
          <a:p>
            <a:r>
              <a:rPr lang="en-US" sz="1600" dirty="0"/>
              <a:t>         </a:t>
            </a:r>
            <a:r>
              <a:rPr lang="en-US" sz="1600" b="1" dirty="0"/>
              <a:t>eff</a:t>
            </a:r>
            <a:r>
              <a:rPr lang="en-US" sz="1600" dirty="0"/>
              <a:t> x[</a:t>
            </a:r>
            <a:r>
              <a:rPr lang="en-US" sz="1600" dirty="0" err="1"/>
              <a:t>i</a:t>
            </a:r>
            <a:r>
              <a:rPr lang="en-US" sz="1600" dirty="0"/>
              <a:t>] := x[i-1]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19E9E936-0227-6742-A0A7-BDDE802C62C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74318" y="753539"/>
                <a:ext cx="7461504" cy="1518573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txBody>
              <a:bodyPr vert="horz" lIns="91440" tIns="45720" rIns="91440" bIns="45720" rtlCol="0">
                <a:normAutofit fontScale="32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20000"/>
                  </a:lnSpc>
                  <a:buFont typeface="Arial" panose="020B0604020202020204" pitchFamily="34" charset="0"/>
                  <a:buNone/>
                </a:pPr>
                <a:r>
                  <a:rPr lang="en-US" sz="4900" b="1" dirty="0">
                    <a:latin typeface="+mj-lt"/>
                  </a:rPr>
                  <a:t>Theorem 7.1.</a:t>
                </a:r>
                <a:r>
                  <a:rPr lang="en-US" sz="4900" dirty="0">
                    <a:latin typeface="+mj-lt"/>
                  </a:rPr>
                  <a:t> Given a automaton </a:t>
                </a:r>
                <a14:m>
                  <m:oMath xmlns:m="http://schemas.openxmlformats.org/officeDocument/2006/math">
                    <m:r>
                      <a:rPr lang="en-US" sz="49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4900" i="1">
                        <a:latin typeface="Cambria Math" panose="02040503050406030204" pitchFamily="18" charset="0"/>
                      </a:rPr>
                      <m:t>=〈</m:t>
                    </m:r>
                    <m:r>
                      <a:rPr lang="en-US" sz="49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4900" i="1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sz="490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4900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49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4900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49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𝒟</m:t>
                    </m:r>
                    <m:r>
                      <a:rPr lang="en-US" sz="49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〉</m:t>
                    </m:r>
                  </m:oMath>
                </a14:m>
                <a:r>
                  <a:rPr lang="en-US" sz="4900" dirty="0">
                    <a:latin typeface="+mj-lt"/>
                  </a:rPr>
                  <a:t> and a set of states </a:t>
                </a:r>
                <a14:m>
                  <m:oMath xmlns:m="http://schemas.openxmlformats.org/officeDocument/2006/math">
                    <m:r>
                      <a:rPr lang="en-US" sz="4900" i="1" dirty="0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sz="4900" i="1" dirty="0" smtClean="0">
                        <a:latin typeface="Cambria Math" panose="02040503050406030204" pitchFamily="18" charset="0"/>
                      </a:rPr>
                      <m:t>⊆</m:t>
                    </m:r>
                    <m:r>
                      <m:rPr>
                        <m:sty m:val="p"/>
                      </m:rPr>
                      <a:rPr lang="en-US" sz="4900" i="1" dirty="0" err="1">
                        <a:latin typeface="Cambria Math" panose="02040503050406030204" pitchFamily="18" charset="0"/>
                      </a:rPr>
                      <m:t>val</m:t>
                    </m:r>
                    <m:d>
                      <m:dPr>
                        <m:ctrlPr>
                          <a:rPr lang="en-US" sz="49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4900" i="1" dirty="0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490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4900" dirty="0">
                    <a:latin typeface="+mj-lt"/>
                  </a:rPr>
                  <a:t>if: </a:t>
                </a:r>
              </a:p>
              <a:p>
                <a:pPr>
                  <a:lnSpc>
                    <a:spcPct val="120000"/>
                  </a:lnSpc>
                </a:pPr>
                <a:r>
                  <a:rPr lang="en-US" sz="4900" dirty="0">
                    <a:latin typeface="+mj-lt"/>
                  </a:rPr>
                  <a:t>(Start condition) for any </a:t>
                </a:r>
                <a14:m>
                  <m:oMath xmlns:m="http://schemas.openxmlformats.org/officeDocument/2006/math">
                    <m:r>
                      <a:rPr lang="en-US" sz="4900" b="1" i="1" dirty="0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4900" i="1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sz="4900" dirty="0" smtClean="0">
                        <a:latin typeface="Cambria Math" panose="02040503050406030204" pitchFamily="18" charset="0"/>
                      </a:rPr>
                      <m:t>Θ</m:t>
                    </m:r>
                  </m:oMath>
                </a14:m>
                <a:r>
                  <a:rPr lang="en-US" sz="4900" dirty="0">
                    <a:latin typeface="+mj-lt"/>
                  </a:rPr>
                  <a:t> implies </a:t>
                </a:r>
                <a14:m>
                  <m:oMath xmlns:m="http://schemas.openxmlformats.org/officeDocument/2006/math">
                    <m:r>
                      <a:rPr lang="en-US" sz="4900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490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4900" i="1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sz="4900" dirty="0">
                    <a:latin typeface="+mj-lt"/>
                  </a:rPr>
                  <a:t>, and</a:t>
                </a:r>
              </a:p>
              <a:p>
                <a:pPr>
                  <a:lnSpc>
                    <a:spcPct val="120000"/>
                  </a:lnSpc>
                </a:pPr>
                <a:r>
                  <a:rPr lang="en-US" sz="4900" dirty="0">
                    <a:latin typeface="+mj-lt"/>
                  </a:rPr>
                  <a:t>(Transition closure) for any </a:t>
                </a:r>
                <a14:m>
                  <m:oMath xmlns:m="http://schemas.openxmlformats.org/officeDocument/2006/math">
                    <m:r>
                      <a:rPr lang="en-US" sz="4900" b="1" i="1" smtClean="0">
                        <a:latin typeface="Cambria Math" panose="02040503050406030204" pitchFamily="18" charset="0"/>
                      </a:rPr>
                      <m:t>𝒙</m:t>
                    </m:r>
                    <m:sSub>
                      <m:sSubPr>
                        <m:ctrlPr>
                          <a:rPr lang="en-US" sz="49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4900" i="1" smtClean="0">
                            <a:latin typeface="Cambria Math" panose="02040503050406030204" pitchFamily="18" charset="0"/>
                          </a:rPr>
                          <m:t>→</m:t>
                        </m:r>
                      </m:e>
                      <m:sub>
                        <m:r>
                          <a:rPr lang="en-US" sz="4900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en-US" sz="4900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sz="4900" dirty="0">
                    <a:latin typeface="+mj-lt"/>
                  </a:rPr>
                  <a:t>’ and </a:t>
                </a:r>
                <a14:m>
                  <m:oMath xmlns:m="http://schemas.openxmlformats.org/officeDocument/2006/math">
                    <m:r>
                      <a:rPr lang="en-US" sz="4900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4900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4900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sz="4900" dirty="0">
                    <a:latin typeface="+mj-lt"/>
                  </a:rPr>
                  <a:t> implies </a:t>
                </a:r>
                <a14:m>
                  <m:oMath xmlns:m="http://schemas.openxmlformats.org/officeDocument/2006/math">
                    <m:r>
                      <a:rPr lang="en-US" sz="4900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4900" b="1" i="1" smtClean="0">
                        <a:latin typeface="Cambria Math" panose="02040503050406030204" pitchFamily="18" charset="0"/>
                      </a:rPr>
                      <m:t>′</m:t>
                    </m:r>
                    <m:r>
                      <a:rPr lang="en-US" sz="4900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4900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endParaRPr lang="en-US" sz="4900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Font typeface="Arial" panose="020B0604020202020204" pitchFamily="34" charset="0"/>
                  <a:buNone/>
                </a:pPr>
                <a:r>
                  <a:rPr lang="en-US" sz="4900" dirty="0">
                    <a:latin typeface="+mj-lt"/>
                  </a:rPr>
                  <a:t>then </a:t>
                </a:r>
                <a14:m>
                  <m:oMath xmlns:m="http://schemas.openxmlformats.org/officeDocument/2006/math">
                    <m:r>
                      <a:rPr lang="en-US" sz="4900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sz="4900" dirty="0">
                    <a:latin typeface="+mj-lt"/>
                  </a:rPr>
                  <a:t> is an (inductive) invariant of </a:t>
                </a:r>
                <a14:m>
                  <m:oMath xmlns:m="http://schemas.openxmlformats.org/officeDocument/2006/math">
                    <m:r>
                      <a:rPr lang="en-US" sz="49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</m:oMath>
                </a14:m>
                <a:r>
                  <a:rPr lang="en-US" sz="4900" dirty="0">
                    <a:latin typeface="+mj-lt"/>
                  </a:rPr>
                  <a:t>. That is </a:t>
                </a:r>
                <a14:m>
                  <m:oMath xmlns:m="http://schemas.openxmlformats.org/officeDocument/2006/math">
                    <m:r>
                      <a:rPr lang="en-US" sz="4900" i="1">
                        <a:latin typeface="Cambria Math" panose="02040503050406030204" pitchFamily="18" charset="0"/>
                      </a:rPr>
                      <m:t>𝑅𝑒𝑎𝑐</m:t>
                    </m:r>
                    <m:sSub>
                      <m:sSubPr>
                        <m:ctrlPr>
                          <a:rPr lang="en-US" sz="49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49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49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</m:sub>
                    </m:sSub>
                    <m:d>
                      <m:dPr>
                        <m:ctrlPr>
                          <a:rPr lang="en-US" sz="49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49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Θ</m:t>
                        </m:r>
                      </m:e>
                    </m:d>
                    <m:r>
                      <a:rPr lang="en-US" sz="4900" i="1">
                        <a:latin typeface="Cambria Math" panose="02040503050406030204" pitchFamily="18" charset="0"/>
                      </a:rPr>
                      <m:t>⊆</m:t>
                    </m:r>
                    <m:r>
                      <a:rPr lang="en-US" sz="4900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sz="4900" dirty="0">
                    <a:latin typeface="+mj-lt"/>
                  </a:rPr>
                  <a:t>.</a:t>
                </a:r>
                <a:endParaRPr lang="en-US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Font typeface="Arial" panose="020B0604020202020204" pitchFamily="34" charset="0"/>
                  <a:buNone/>
                </a:pPr>
                <a:endParaRPr lang="en-US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Font typeface="Arial" panose="020B0604020202020204" pitchFamily="34" charset="0"/>
                  <a:buNone/>
                </a:pPr>
                <a:endParaRPr lang="en-US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Font typeface="Arial" panose="020B0604020202020204" pitchFamily="34" charset="0"/>
                  <a:buNone/>
                </a:pPr>
                <a:endParaRPr lang="en-US" dirty="0">
                  <a:latin typeface="+mj-lt"/>
                </a:endParaRPr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19E9E936-0227-6742-A0A7-BDDE802C62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318" y="753539"/>
                <a:ext cx="7461504" cy="1518573"/>
              </a:xfrm>
              <a:prstGeom prst="rect">
                <a:avLst/>
              </a:prstGeom>
              <a:blipFill>
                <a:blip r:embed="rId3"/>
                <a:stretch>
                  <a:fillRect l="-3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3BA6C93-3E53-3E4E-82EC-781A17BEDF1D}"/>
                  </a:ext>
                </a:extLst>
              </p:cNvPr>
              <p:cNvSpPr txBox="1"/>
              <p:nvPr/>
            </p:nvSpPr>
            <p:spPr>
              <a:xfrm>
                <a:off x="274320" y="6310144"/>
                <a:ext cx="11301984" cy="52322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From above  </a:t>
                </a:r>
                <a:r>
                  <a:rPr lang="en-US" sz="2800" b="1" dirty="0"/>
                  <a:t>Theorem</a:t>
                </a:r>
                <a:r>
                  <a:rPr lang="en-US" sz="2800" dirty="0"/>
                  <a:t> it follows that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800" dirty="0"/>
                  <a:t> is an invariant of </a:t>
                </a:r>
                <a:r>
                  <a:rPr lang="en-US" sz="2800" dirty="0" err="1"/>
                  <a:t>DijkstraTR</a:t>
                </a:r>
                <a:endParaRPr lang="en-US" sz="28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3BA6C93-3E53-3E4E-82EC-781A17BEDF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320" y="6310144"/>
                <a:ext cx="11301984" cy="523220"/>
              </a:xfrm>
              <a:prstGeom prst="rect">
                <a:avLst/>
              </a:prstGeom>
              <a:blipFill>
                <a:blip r:embed="rId4"/>
                <a:stretch>
                  <a:fillRect l="-1122" t="-11905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58984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DCC909-AF22-8B7E-E948-CBBB34297B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Summary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4F92B35-CFC5-5C33-451D-85A39449FE3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>
                    <a:ea typeface="Cambria Math" panose="02040503050406030204" pitchFamily="18" charset="0"/>
                  </a:rPr>
                  <a:t>Invariants over-approximate reachable states</a:t>
                </a:r>
              </a:p>
              <a:p>
                <a:endParaRPr lang="en-US" dirty="0">
                  <a:ea typeface="Cambria Math" panose="02040503050406030204" pitchFamily="18" charset="0"/>
                </a:endParaRPr>
              </a:p>
              <a:p>
                <a:r>
                  <a:rPr lang="en-US" dirty="0">
                    <a:ea typeface="Cambria Math" panose="02040503050406030204" pitchFamily="18" charset="0"/>
                  </a:rPr>
                  <a:t>Given an automaton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=〈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𝒟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〉</m:t>
                    </m:r>
                  </m:oMath>
                </a14:m>
                <a:r>
                  <a:rPr lang="en-US" dirty="0">
                    <a:latin typeface="+mj-lt"/>
                  </a:rPr>
                  <a:t> and a candidate invariant 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⊆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𝑉𝑎𝑙</m:t>
                    </m:r>
                    <m:d>
                      <m:d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b="0" i="0" dirty="0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dirty="0"/>
                  <a:t> to check that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𝑅𝑒𝑎𝑐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⊆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1"/>
                <a:r>
                  <a:rPr lang="en-US" dirty="0"/>
                  <a:t>A sufficient condition is to check that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dirty="0"/>
                  <a:t> satisfies start condition and transition condition of </a:t>
                </a:r>
                <a:r>
                  <a:rPr lang="en-US" b="1" dirty="0"/>
                  <a:t>Theorem 7.1 </a:t>
                </a:r>
                <a:endParaRPr lang="en-US" dirty="0"/>
              </a:p>
              <a:p>
                <a:pPr lvl="1"/>
                <a:r>
                  <a:rPr lang="en-US" dirty="0"/>
                  <a:t>Such an invariant is called an inductive invariant</a:t>
                </a:r>
              </a:p>
              <a:p>
                <a:pPr lvl="1"/>
                <a:r>
                  <a:rPr lang="en-US" dirty="0"/>
                  <a:t>Use proof failure to get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/>
                  <a:t> which may be a stronger invariant, i.e.,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endParaRPr lang="en-US" dirty="0"/>
              </a:p>
              <a:p>
                <a:r>
                  <a:rPr lang="en-US" dirty="0"/>
                  <a:t>All invariants are not necessarily inductive</a:t>
                </a:r>
              </a:p>
              <a:p>
                <a:pPr lvl="1"/>
                <a:r>
                  <a:rPr lang="en-US" dirty="0"/>
                  <a:t>Show that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𝑅𝑒𝑎𝑐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</m:sub>
                    </m:sSub>
                  </m:oMath>
                </a14:m>
                <a:r>
                  <a:rPr lang="en-US" dirty="0"/>
                  <a:t> is an inductive </a:t>
                </a:r>
                <a:r>
                  <a:rPr lang="en-US" dirty="0" err="1"/>
                  <a:t>anvariant</a:t>
                </a: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4F92B35-CFC5-5C33-451D-85A39449FE3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326" b="-17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6207837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600201"/>
            <a:ext cx="7929608" cy="4952999"/>
          </a:xfrm>
        </p:spPr>
        <p:txBody>
          <a:bodyPr>
            <a:normAutofit/>
          </a:bodyPr>
          <a:lstStyle/>
          <a:p>
            <a:r>
              <a:rPr lang="en-US" dirty="0">
                <a:latin typeface="+mj-lt"/>
              </a:rPr>
              <a:t>Read. Modeling computation: Chapter 2 of </a:t>
            </a:r>
            <a:r>
              <a:rPr lang="en-US" dirty="0" err="1">
                <a:latin typeface="+mj-lt"/>
              </a:rPr>
              <a:t>CPSBook</a:t>
            </a:r>
            <a:r>
              <a:rPr lang="en-US" dirty="0">
                <a:latin typeface="+mj-lt"/>
              </a:rPr>
              <a:t>, first part of Chapter 7, and section on SAT/SMT</a:t>
            </a:r>
          </a:p>
          <a:p>
            <a:endParaRPr lang="en-US" dirty="0">
              <a:latin typeface="+mj-lt"/>
            </a:endParaRPr>
          </a:p>
          <a:p>
            <a:r>
              <a:rPr lang="en-US" dirty="0">
                <a:latin typeface="+mj-lt"/>
              </a:rPr>
              <a:t>Form team (optional*) and go through Project Jumpstart exercise</a:t>
            </a:r>
          </a:p>
          <a:p>
            <a:endParaRPr lang="en-US" dirty="0">
              <a:latin typeface="+mj-lt"/>
            </a:endParaRPr>
          </a:p>
          <a:p>
            <a:r>
              <a:rPr lang="en-US" dirty="0">
                <a:latin typeface="+mj-lt"/>
              </a:rPr>
              <a:t>Next: Satisfiability</a:t>
            </a:r>
          </a:p>
        </p:txBody>
      </p:sp>
    </p:spTree>
    <p:extLst>
      <p:ext uri="{BB962C8B-B14F-4D97-AF65-F5344CB8AC3E}">
        <p14:creationId xmlns:p14="http://schemas.microsoft.com/office/powerpoint/2010/main" val="27646801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2616</Words>
  <Application>Microsoft Macintosh PowerPoint</Application>
  <PresentationFormat>Widescreen</PresentationFormat>
  <Paragraphs>291</Paragraphs>
  <Slides>24</Slides>
  <Notes>4</Notes>
  <HiddenSlides>1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2" baseType="lpstr">
      <vt:lpstr>Aptos</vt:lpstr>
      <vt:lpstr>Aptos Display</vt:lpstr>
      <vt:lpstr>Arial</vt:lpstr>
      <vt:lpstr>Arial Narrow</vt:lpstr>
      <vt:lpstr>Calibri Light</vt:lpstr>
      <vt:lpstr>Cambria Math</vt:lpstr>
      <vt:lpstr>Menlo</vt:lpstr>
      <vt:lpstr>Office Theme</vt:lpstr>
      <vt:lpstr>ECE584 L2: Discrete models reachability</vt:lpstr>
      <vt:lpstr>Example 3: Dijkstra’s Token Ring algorithm</vt:lpstr>
      <vt:lpstr>Dijkstra’s Algorithm [‘74]</vt:lpstr>
      <vt:lpstr>Sample executions: from a legal state (single token)</vt:lpstr>
      <vt:lpstr>Execution from an illegal state</vt:lpstr>
      <vt:lpstr>Synchronous model: All processes update simultaneously</vt:lpstr>
      <vt:lpstr>Synchronous state machine</vt:lpstr>
      <vt:lpstr>Synchronous Token Ring</vt:lpstr>
      <vt:lpstr>Asynchronous Nondeterministic Automaton</vt:lpstr>
      <vt:lpstr>PowerPoint Presentation</vt:lpstr>
      <vt:lpstr>Nondeterministic execution </vt:lpstr>
      <vt:lpstr>Internal and External Nondeterminism</vt:lpstr>
      <vt:lpstr>Executions, Reachability, and Invariants </vt:lpstr>
      <vt:lpstr>Reachable states and invariants</vt:lpstr>
      <vt:lpstr>Reachability as graph search</vt:lpstr>
      <vt:lpstr>Perspectives on scalability</vt:lpstr>
      <vt:lpstr>Sets of states are symbolic properties or predicates</vt:lpstr>
      <vt:lpstr>Invariance</vt:lpstr>
      <vt:lpstr>Invariants</vt:lpstr>
      <vt:lpstr>Proving invariants by induction (Chapter 7)</vt:lpstr>
      <vt:lpstr>Proving invariants by induction (Chapter 7)</vt:lpstr>
      <vt:lpstr>Proving invariants by induction for Dijkstra</vt:lpstr>
      <vt:lpstr>Summary</vt:lpstr>
      <vt:lpstr>Assignments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ECE584 L2: Discrete models reachability</dc:title>
  <dc:creator>Mitra, Sayan</dc:creator>
  <cp:lastModifiedBy>Mitra, Sayan</cp:lastModifiedBy>
  <cp:revision>1</cp:revision>
  <dcterms:created xsi:type="dcterms:W3CDTF">2025-08-26T19:18:41Z</dcterms:created>
  <dcterms:modified xsi:type="dcterms:W3CDTF">2025-08-26T19:20:17Z</dcterms:modified>
</cp:coreProperties>
</file>