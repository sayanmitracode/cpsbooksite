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24" r:id="rId2"/>
    <p:sldId id="389" r:id="rId3"/>
    <p:sldId id="399" r:id="rId4"/>
    <p:sldId id="400" r:id="rId5"/>
    <p:sldId id="945" r:id="rId6"/>
    <p:sldId id="401" r:id="rId7"/>
    <p:sldId id="402" r:id="rId8"/>
    <p:sldId id="571" r:id="rId9"/>
    <p:sldId id="289" r:id="rId10"/>
    <p:sldId id="279" r:id="rId11"/>
    <p:sldId id="282" r:id="rId12"/>
    <p:sldId id="292" r:id="rId13"/>
    <p:sldId id="948" r:id="rId14"/>
    <p:sldId id="298" r:id="rId15"/>
    <p:sldId id="280" r:id="rId16"/>
    <p:sldId id="947" r:id="rId17"/>
    <p:sldId id="293" r:id="rId18"/>
    <p:sldId id="300" r:id="rId19"/>
    <p:sldId id="297" r:id="rId20"/>
    <p:sldId id="299" r:id="rId21"/>
    <p:sldId id="294" r:id="rId22"/>
    <p:sldId id="301" r:id="rId23"/>
    <p:sldId id="302" r:id="rId24"/>
    <p:sldId id="303" r:id="rId25"/>
    <p:sldId id="94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24"/>
    <p:restoredTop sz="89866"/>
  </p:normalViewPr>
  <p:slideViewPr>
    <p:cSldViewPr snapToGrid="0" showGuides="1">
      <p:cViewPr varScale="1">
        <p:scale>
          <a:sx n="82" d="100"/>
          <a:sy n="82" d="100"/>
        </p:scale>
        <p:origin x="168" y="2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BD878-CB87-AC49-9AD4-B55B9A9C8C11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177EA-5FA2-FC4D-B806-DB3ED58BC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25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left to right angle of the pendulum: line : hanging right at the bottom</a:t>
            </a:r>
          </a:p>
          <a:p>
            <a:endParaRPr lang="en-US" dirty="0"/>
          </a:p>
          <a:p>
            <a:r>
              <a:rPr lang="en-US" dirty="0"/>
              <a:t>up : higher speed CW, down higher speed CCW, on this line speed 0</a:t>
            </a:r>
          </a:p>
          <a:p>
            <a:endParaRPr lang="en-US" dirty="0"/>
          </a:p>
          <a:p>
            <a:r>
              <a:rPr lang="en-US" b="1" dirty="0"/>
              <a:t>Now as its hanging at the bottom I give the pen a slight tap.. give it some speed… and plot all the angles and the corresponding speeds… what would this look like?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2075C-BB6B-1242-B0E9-C1B429E7B4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6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81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26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883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00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9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5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82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0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91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76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24793" y="144818"/>
            <a:ext cx="10058400" cy="1051561"/>
          </a:xfrm>
        </p:spPr>
        <p:txBody>
          <a:bodyPr>
            <a:normAutofit/>
          </a:bodyPr>
          <a:lstStyle>
            <a:lvl1pPr marL="0">
              <a:defRPr sz="4000">
                <a:latin typeface="+mj-lt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108355" y="1600200"/>
            <a:ext cx="10058400" cy="3720059"/>
          </a:xfrm>
        </p:spPr>
        <p:txBody>
          <a:bodyPr/>
          <a:lstStyle>
            <a:lvl1pPr marL="0" indent="0">
              <a:buSzPct val="100000"/>
              <a:buNone/>
              <a:defRPr>
                <a:latin typeface="+mj-lt"/>
              </a:defRPr>
            </a:lvl1pPr>
            <a:lvl2pPr marL="461422" indent="-260344">
              <a:buSzPct val="100000"/>
              <a:buFont typeface="Wingdings" charset="2"/>
              <a:buChar char="§"/>
              <a:tabLst/>
              <a:defRPr>
                <a:latin typeface="+mj-lt"/>
              </a:defRPr>
            </a:lvl2pPr>
            <a:lvl3pPr marL="613818" indent="-230712">
              <a:buSzPct val="100000"/>
              <a:buFont typeface="Wingdings" charset="2"/>
              <a:buChar char="§"/>
              <a:tabLst/>
              <a:defRPr>
                <a:latin typeface="+mj-lt"/>
              </a:defRPr>
            </a:lvl3pPr>
            <a:lvl4pPr marL="846646" indent="-232828">
              <a:buSzPct val="100000"/>
              <a:buFont typeface="Wingdings" charset="2"/>
              <a:buChar char="§"/>
              <a:tabLst/>
              <a:defRPr>
                <a:latin typeface="+mj-lt"/>
              </a:defRPr>
            </a:lvl4pPr>
            <a:lvl5pPr marL="1068891" indent="-222245">
              <a:buSzPct val="100000"/>
              <a:buFont typeface="Wingdings" charset="2"/>
              <a:buChar char="§"/>
              <a:tabLst/>
              <a:defRPr>
                <a:latin typeface="+mj-lt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8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60" y="6459786"/>
            <a:ext cx="1312025" cy="365125"/>
          </a:xfrm>
        </p:spPr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319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2EBB2-AC81-40FB-9B0E-818D0BA8F2EB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5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gif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29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39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94304"/>
          </a:xfrm>
        </p:spPr>
        <p:txBody>
          <a:bodyPr>
            <a:normAutofit/>
          </a:bodyPr>
          <a:lstStyle/>
          <a:p>
            <a:r>
              <a:rPr lang="en-US" sz="3600" dirty="0"/>
              <a:t>Verifying Dynamical Systems: Stability Part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Sayan Mitra</a:t>
            </a:r>
          </a:p>
          <a:p>
            <a:r>
              <a:rPr lang="en-US" dirty="0"/>
              <a:t>Verifying </a:t>
            </a:r>
            <a:r>
              <a:rPr lang="en-US"/>
              <a:t>cyberphysical</a:t>
            </a:r>
            <a:r>
              <a:rPr lang="en-US" dirty="0"/>
              <a:t> systems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01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Dynamical system models</a:t>
            </a:r>
          </a:p>
          <a:p>
            <a:pPr lvl="1"/>
            <a:r>
              <a:rPr lang="en-US" dirty="0"/>
              <a:t>Lyapunov method</a:t>
            </a:r>
          </a:p>
          <a:p>
            <a:pPr lvl="1"/>
            <a:r>
              <a:rPr lang="en-US" dirty="0"/>
              <a:t>Proofs</a:t>
            </a:r>
          </a:p>
          <a:p>
            <a:pPr lvl="1"/>
            <a:r>
              <a:rPr lang="en-US" dirty="0"/>
              <a:t>Examples</a:t>
            </a:r>
          </a:p>
          <a:p>
            <a:pPr lvl="1"/>
            <a:r>
              <a:rPr lang="en-US" dirty="0"/>
              <a:t>Stability of linear systems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892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Requirements: Stability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We will focus on time invariant autonomous systems (closed systems, systems without inputs)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charset="0"/>
                      </a:rPr>
                      <m:t>=</m:t>
                    </m:r>
                    <m:r>
                      <a:rPr lang="en-US" b="0" i="1" dirty="0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=0</m:t>
                    </m:r>
                  </m:oMath>
                </a14:m>
                <a:r>
                  <a:rPr lang="en-US" b="0" i="1" dirty="0">
                    <a:latin typeface="Cambria Math" charset="0"/>
                  </a:rPr>
                  <a:t> </a:t>
                </a:r>
                <a:r>
                  <a:rPr lang="mr-IN" b="0" i="1" dirty="0">
                    <a:latin typeface="Cambria Math" charset="0"/>
                  </a:rPr>
                  <a:t>–</a:t>
                </a:r>
                <a:r>
                  <a:rPr lang="en-US" b="0" i="1" dirty="0">
                    <a:latin typeface="Cambria Math" charset="0"/>
                  </a:rPr>
                  <a:t>(1)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the solution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|</m:t>
                    </m:r>
                  </m:oMath>
                </a14:m>
                <a:r>
                  <a:rPr lang="en-US" dirty="0"/>
                  <a:t> norm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an </a:t>
                </a:r>
                <a:r>
                  <a:rPr lang="en-US" b="1" dirty="0"/>
                  <a:t>equilibrium point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latin typeface="Cambria Math" charset="0"/>
                      </a:rPr>
                      <m:t>=0.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For analysis we will 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be an equilibrium point of (1) with out loss of generality</a:t>
                </a:r>
                <a:endParaRPr lang="en-US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7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67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Pendulum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spcBef>
                    <a:spcPts val="0"/>
                  </a:spcBef>
                  <a:buNone/>
                  <a:defRPr/>
                </a:pPr>
                <a:r>
                  <a:rPr lang="en-US" dirty="0"/>
                  <a:t>Pendulum equation</a:t>
                </a:r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:endParaRPr lang="en-US" sz="2400" i="1" dirty="0">
                  <a:latin typeface="Cambria Math" charset="0"/>
                </a:endParaRPr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charset="0"/>
                        </a:rPr>
                        <m:t>=</m:t>
                      </m:r>
                      <m:r>
                        <a:rPr lang="en-US" sz="1800" i="1">
                          <a:latin typeface="Cambria Math" charset="0"/>
                        </a:rPr>
                        <m:t>𝜃</m:t>
                      </m:r>
                      <m:r>
                        <a:rPr lang="en-US" sz="1800" i="1">
                          <a:latin typeface="Cambria Math" charset="0"/>
                        </a:rPr>
                        <m:t> 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latin typeface="Cambria Math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 sz="1800" dirty="0"/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:endParaRPr lang="en-US" sz="1800" i="1" dirty="0">
                  <a:latin typeface="Cambria Math" charset="0"/>
                </a:endParaRPr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8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:endParaRPr lang="en-US" sz="1800" dirty="0"/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8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latin typeface="Cambria Math" charset="0"/>
                        </a:rPr>
                        <m:t>=−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charset="0"/>
                            </a:rPr>
                            <m:t>𝑔</m:t>
                          </m:r>
                        </m:num>
                        <m:den>
                          <m:r>
                            <a:rPr lang="en-US" sz="1800" i="1">
                              <a:latin typeface="Cambria Math" charset="0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latin typeface="Cambria Math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1800" i="1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charset="0"/>
                            </a:rPr>
                            <m:t>𝑘</m:t>
                          </m:r>
                        </m:num>
                        <m:den>
                          <m:r>
                            <a:rPr lang="en-US" sz="1800" i="1">
                              <a:latin typeface="Cambria Math" charset="0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1800" i="1" dirty="0">
                  <a:latin typeface="Cambria Math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i="1">
                                  <a:latin typeface="Cambria Math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sz="1800" i="1">
                                      <a:latin typeface="Cambria Math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sz="1800" i="1">
                                      <a:latin typeface="Cambria Math" charset="0"/>
                                    </a:rPr>
                                    <m:t>𝑙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sz="1800">
                                      <a:latin typeface="Cambria Math" charset="0"/>
                                    </a:rP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charset="0"/>
                                    </a:rPr>
                                    <m:t>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800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800" i="1">
                                              <a:latin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sz="1800" i="1">
                                  <a:latin typeface="Cambria Math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𝑚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𝑘</m:t>
                    </m:r>
                    <m:r>
                      <a:rPr lang="en-US" b="0" i="1" smtClean="0">
                        <a:latin typeface="Cambria Math" charset="0"/>
                      </a:rPr>
                      <m:t>:</m:t>
                    </m:r>
                  </m:oMath>
                </a14:m>
                <a:r>
                  <a:rPr lang="en-US" dirty="0"/>
                  <a:t> friction coefficient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Two equilibrium points: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0,0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, (</m:t>
                    </m:r>
                    <m:r>
                      <a:rPr lang="en-US" b="0" i="1" smtClean="0">
                        <a:latin typeface="Cambria Math" charset="0"/>
                      </a:rPr>
                      <m:t>𝜋</m:t>
                    </m:r>
                    <m:r>
                      <a:rPr lang="en-US" b="0" i="1" smtClean="0">
                        <a:latin typeface="Cambria Math" charset="0"/>
                      </a:rPr>
                      <m:t>,0)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3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401598-0AA3-E748-87BE-893572C28C5B}"/>
              </a:ext>
            </a:extLst>
          </p:cNvPr>
          <p:cNvSpPr txBox="1"/>
          <p:nvPr/>
        </p:nvSpPr>
        <p:spPr>
          <a:xfrm rot="16200000">
            <a:off x="9149802" y="1748685"/>
            <a:ext cx="1243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upright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A267A3-06F0-D141-9457-195D6D471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229" y="2671421"/>
            <a:ext cx="3154309" cy="29687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226A1FD-A89C-D74C-88C4-C5307C1C98C1}"/>
              </a:ext>
            </a:extLst>
          </p:cNvPr>
          <p:cNvSpPr txBox="1"/>
          <p:nvPr/>
        </p:nvSpPr>
        <p:spPr>
          <a:xfrm rot="16200000">
            <a:off x="9249474" y="3270851"/>
            <a:ext cx="9924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down</a:t>
            </a:r>
          </a:p>
        </p:txBody>
      </p:sp>
      <p:pic>
        <p:nvPicPr>
          <p:cNvPr id="6" name="Picture 5" descr="A graph of a graph showing a number of waves&#10;&#10;Description automatically generated with medium confidence">
            <a:extLst>
              <a:ext uri="{FF2B5EF4-FFF2-40B4-BE49-F238E27FC236}">
                <a16:creationId xmlns:a16="http://schemas.microsoft.com/office/drawing/2014/main" id="{E662779F-1BBE-565B-A668-7835653E0F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236" y="2605882"/>
            <a:ext cx="386715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23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F9918-18DF-8B4E-A8D2-A09BA21D1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AD149-68A8-BD4B-8BEE-E74FB8735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08103-4F00-1D46-B1C4-F27B524F8A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9091" t="6095" r="4022" b="10096"/>
          <a:stretch/>
        </p:blipFill>
        <p:spPr>
          <a:xfrm>
            <a:off x="0" y="0"/>
            <a:ext cx="12208999" cy="6865106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6E92D910-6B61-894F-9DBE-16983B473DD6}"/>
              </a:ext>
            </a:extLst>
          </p:cNvPr>
          <p:cNvSpPr/>
          <p:nvPr/>
        </p:nvSpPr>
        <p:spPr>
          <a:xfrm>
            <a:off x="9616796" y="3406729"/>
            <a:ext cx="445887" cy="451556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545862D-DE32-4748-888D-8130B65D115E}"/>
              </a:ext>
            </a:extLst>
          </p:cNvPr>
          <p:cNvSpPr/>
          <p:nvPr/>
        </p:nvSpPr>
        <p:spPr>
          <a:xfrm>
            <a:off x="6164867" y="3409244"/>
            <a:ext cx="445887" cy="451556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79674BFA-5C63-0240-BCBE-4E62180CCA5B}"/>
              </a:ext>
            </a:extLst>
          </p:cNvPr>
          <p:cNvSpPr/>
          <p:nvPr/>
        </p:nvSpPr>
        <p:spPr>
          <a:xfrm rot="1641923">
            <a:off x="5574826" y="2751946"/>
            <a:ext cx="1604030" cy="1653264"/>
          </a:xfrm>
          <a:prstGeom prst="arc">
            <a:avLst>
              <a:gd name="adj1" fmla="val 16248761"/>
              <a:gd name="adj2" fmla="val 16168665"/>
            </a:avLst>
          </a:prstGeom>
          <a:ln w="28575">
            <a:solidFill>
              <a:srgbClr val="7070FF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41FFB8-9A01-CE43-A2F4-F9D95A7A22D8}"/>
              </a:ext>
            </a:extLst>
          </p:cNvPr>
          <p:cNvCxnSpPr/>
          <p:nvPr/>
        </p:nvCxnSpPr>
        <p:spPr>
          <a:xfrm>
            <a:off x="-543339" y="3632507"/>
            <a:ext cx="13649739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256FB7-D893-024F-961E-7380AB8790C3}"/>
              </a:ext>
            </a:extLst>
          </p:cNvPr>
          <p:cNvCxnSpPr>
            <a:cxnSpLocks/>
          </p:cNvCxnSpPr>
          <p:nvPr/>
        </p:nvCxnSpPr>
        <p:spPr>
          <a:xfrm>
            <a:off x="6387548" y="7106"/>
            <a:ext cx="0" cy="685800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4E2815-7A3C-F644-9624-80C695C5E0CB}"/>
              </a:ext>
            </a:extLst>
          </p:cNvPr>
          <p:cNvCxnSpPr>
            <a:cxnSpLocks/>
          </p:cNvCxnSpPr>
          <p:nvPr/>
        </p:nvCxnSpPr>
        <p:spPr>
          <a:xfrm>
            <a:off x="9839740" y="31229"/>
            <a:ext cx="0" cy="685800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D369BFC-6CC8-3248-8E39-214A0CB22A3E}"/>
              </a:ext>
            </a:extLst>
          </p:cNvPr>
          <p:cNvSpPr txBox="1"/>
          <p:nvPr/>
        </p:nvSpPr>
        <p:spPr>
          <a:xfrm>
            <a:off x="0" y="2717014"/>
            <a:ext cx="25218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speed=0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D0568A-0F53-9646-AEAB-F2D4C8EB9990}"/>
              </a:ext>
            </a:extLst>
          </p:cNvPr>
          <p:cNvSpPr txBox="1"/>
          <p:nvPr/>
        </p:nvSpPr>
        <p:spPr>
          <a:xfrm>
            <a:off x="0" y="-7836"/>
            <a:ext cx="11641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CW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74A6CF-1EC5-FB4D-876B-44EF585F18C7}"/>
              </a:ext>
            </a:extLst>
          </p:cNvPr>
          <p:cNvSpPr txBox="1"/>
          <p:nvPr/>
        </p:nvSpPr>
        <p:spPr>
          <a:xfrm>
            <a:off x="0" y="5887856"/>
            <a:ext cx="1526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CCW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9D02C6-C78B-6944-AB75-DE602B168712}"/>
              </a:ext>
            </a:extLst>
          </p:cNvPr>
          <p:cNvSpPr txBox="1"/>
          <p:nvPr/>
        </p:nvSpPr>
        <p:spPr>
          <a:xfrm rot="16200000">
            <a:off x="8335785" y="5319781"/>
            <a:ext cx="22297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upright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48151B-C5D3-C344-A5D9-9D65ADF79AB1}"/>
              </a:ext>
            </a:extLst>
          </p:cNvPr>
          <p:cNvSpPr txBox="1"/>
          <p:nvPr/>
        </p:nvSpPr>
        <p:spPr>
          <a:xfrm rot="16200000">
            <a:off x="5232402" y="5521306"/>
            <a:ext cx="17441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down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64037D-8ED4-AA4E-894E-66DCB88AF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355" y="3927752"/>
            <a:ext cx="1564705" cy="147266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88A0909-7A30-7E4D-B1F0-9F689EB7E7A7}"/>
              </a:ext>
            </a:extLst>
          </p:cNvPr>
          <p:cNvSpPr txBox="1"/>
          <p:nvPr/>
        </p:nvSpPr>
        <p:spPr>
          <a:xfrm rot="2208569">
            <a:off x="4520227" y="2266514"/>
            <a:ext cx="18698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stable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378AB6-10FA-0349-9681-BA244E3D9DA3}"/>
              </a:ext>
            </a:extLst>
          </p:cNvPr>
          <p:cNvSpPr txBox="1"/>
          <p:nvPr/>
        </p:nvSpPr>
        <p:spPr>
          <a:xfrm rot="1973859">
            <a:off x="9865103" y="4196768"/>
            <a:ext cx="25815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unstable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0BEA17-AF50-D245-B7F8-A8846171B7D9}"/>
              </a:ext>
            </a:extLst>
          </p:cNvPr>
          <p:cNvSpPr/>
          <p:nvPr/>
        </p:nvSpPr>
        <p:spPr>
          <a:xfrm>
            <a:off x="6313185" y="2648660"/>
            <a:ext cx="168737" cy="170882"/>
          </a:xfrm>
          <a:prstGeom prst="ellipse">
            <a:avLst/>
          </a:prstGeom>
          <a:solidFill>
            <a:srgbClr val="707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3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81481E-6 L 0.77265 -0.573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90" y="-28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 animBg="1"/>
      <p:bldP spid="19" grpId="0" animBg="1"/>
      <p:bldP spid="19" grpId="1" animBg="1"/>
      <p:bldP spid="12" grpId="0"/>
      <p:bldP spid="13" grpId="0"/>
      <p:bldP spid="14" grpId="0"/>
      <p:bldP spid="15" grpId="0"/>
      <p:bldP spid="16" grpId="0"/>
      <p:bldP spid="22" grpId="0"/>
      <p:bldP spid="23" grpId="0"/>
      <p:bldP spid="24" grpId="0" animBg="1"/>
      <p:bldP spid="24" grpId="1" animBg="1"/>
      <p:bldP spid="24" grpId="2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Lyapunov</a:t>
            </a:r>
            <a:r>
              <a:rPr lang="en-US" dirty="0"/>
              <a:t> stability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Lyapunov stability: The system (1) is said to be </a:t>
                </a:r>
                <a:r>
                  <a:rPr lang="en-US" b="1" i="1" dirty="0"/>
                  <a:t>Lyapunov stable </a:t>
                </a:r>
                <a:r>
                  <a:rPr lang="en-US" dirty="0"/>
                  <a:t>(at the origin) if 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charset="0"/>
                      </a:rPr>
                      <m:t>𝜀</m:t>
                    </m:r>
                    <m:r>
                      <a:rPr lang="en-US" i="1">
                        <a:latin typeface="Cambria Math" charset="0"/>
                      </a:rPr>
                      <m:t>&gt;0 ∃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𝜀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&gt;0 </m:t>
                    </m:r>
                  </m:oMath>
                </a14:m>
                <a:r>
                  <a:rPr lang="en-US" dirty="0"/>
                  <a:t>such that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</a:rPr>
                      <m:t>t</m:t>
                    </m:r>
                    <m:r>
                      <a:rPr lang="en-US" b="0" i="1" smtClean="0">
                        <a:latin typeface="Cambria Math" charset="0"/>
                      </a:rPr>
                      <m:t>≥0,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𝜉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charset="0"/>
                      </a:rPr>
                      <m:t>≤</m:t>
                    </m:r>
                    <m:r>
                      <a:rPr lang="en-US" b="0" i="1" smtClean="0">
                        <a:latin typeface="Cambria Math" charset="0"/>
                      </a:rPr>
                      <m:t>𝜀</m:t>
                    </m:r>
                    <m:r>
                      <a:rPr lang="en-US" b="0" i="1" smtClean="0">
                        <a:latin typeface="Cambria Math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 is this related to </a:t>
                </a:r>
              </a:p>
              <a:p>
                <a:pPr marL="0" indent="0">
                  <a:buNone/>
                </a:pPr>
                <a:r>
                  <a:rPr lang="en-US" dirty="0"/>
                  <a:t>invariants and </a:t>
                </a:r>
              </a:p>
              <a:p>
                <a:pPr marL="0" indent="0">
                  <a:buNone/>
                </a:pPr>
                <a:r>
                  <a:rPr lang="en-US" dirty="0"/>
                  <a:t>reachable states ?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7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7353300" y="4430807"/>
            <a:ext cx="1866900" cy="1921808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010400" y="4038600"/>
            <a:ext cx="2590800" cy="2667000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cxnSpLocks/>
            <a:stCxn id="4" idx="1"/>
          </p:cNvCxnSpPr>
          <p:nvPr/>
        </p:nvCxnSpPr>
        <p:spPr>
          <a:xfrm>
            <a:off x="7626701" y="4712249"/>
            <a:ext cx="679100" cy="659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5" idx="2"/>
          </p:cNvCxnSpPr>
          <p:nvPr/>
        </p:nvCxnSpPr>
        <p:spPr>
          <a:xfrm flipV="1">
            <a:off x="7010400" y="5372100"/>
            <a:ext cx="12954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851702" y="4670282"/>
                <a:ext cx="4540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𝜀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702" y="4670282"/>
                <a:ext cx="45409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 rot="426576">
                <a:off x="6254298" y="5100194"/>
                <a:ext cx="115402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26576">
                <a:off x="6254298" y="5100194"/>
                <a:ext cx="115402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 15"/>
          <p:cNvSpPr/>
          <p:nvPr/>
        </p:nvSpPr>
        <p:spPr>
          <a:xfrm>
            <a:off x="7201707" y="4461418"/>
            <a:ext cx="1692849" cy="2080608"/>
          </a:xfrm>
          <a:custGeom>
            <a:avLst/>
            <a:gdLst>
              <a:gd name="connsiteX0" fmla="*/ 1440270 w 1692849"/>
              <a:gd name="connsiteY0" fmla="*/ 401935 h 2080608"/>
              <a:gd name="connsiteX1" fmla="*/ 1682318 w 1692849"/>
              <a:gd name="connsiteY1" fmla="*/ 1235653 h 2080608"/>
              <a:gd name="connsiteX2" fmla="*/ 1130988 w 1692849"/>
              <a:gd name="connsiteY2" fmla="*/ 1639064 h 2080608"/>
              <a:gd name="connsiteX3" fmla="*/ 324165 w 1692849"/>
              <a:gd name="connsiteY3" fmla="*/ 1706300 h 2080608"/>
              <a:gd name="connsiteX4" fmla="*/ 1435 w 1692849"/>
              <a:gd name="connsiteY4" fmla="*/ 1007053 h 2080608"/>
              <a:gd name="connsiteX5" fmla="*/ 431741 w 1692849"/>
              <a:gd name="connsiteY5" fmla="*/ 11970 h 2080608"/>
              <a:gd name="connsiteX6" fmla="*/ 1332694 w 1692849"/>
              <a:gd name="connsiteY6" fmla="*/ 509511 h 2080608"/>
              <a:gd name="connsiteX7" fmla="*/ 1547847 w 1692849"/>
              <a:gd name="connsiteY7" fmla="*/ 1289441 h 2080608"/>
              <a:gd name="connsiteX8" fmla="*/ 1252012 w 1692849"/>
              <a:gd name="connsiteY8" fmla="*/ 2042476 h 2080608"/>
              <a:gd name="connsiteX9" fmla="*/ 646894 w 1692849"/>
              <a:gd name="connsiteY9" fmla="*/ 1894558 h 2080608"/>
              <a:gd name="connsiteX10" fmla="*/ 445188 w 1692849"/>
              <a:gd name="connsiteY10" fmla="*/ 1249100 h 2080608"/>
              <a:gd name="connsiteX11" fmla="*/ 1036859 w 1692849"/>
              <a:gd name="connsiteY11" fmla="*/ 670876 h 208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2849" h="2080608">
                <a:moveTo>
                  <a:pt x="1440270" y="401935"/>
                </a:moveTo>
                <a:cubicBezTo>
                  <a:pt x="1587067" y="715700"/>
                  <a:pt x="1733865" y="1029465"/>
                  <a:pt x="1682318" y="1235653"/>
                </a:cubicBezTo>
                <a:cubicBezTo>
                  <a:pt x="1630771" y="1441841"/>
                  <a:pt x="1357347" y="1560623"/>
                  <a:pt x="1130988" y="1639064"/>
                </a:cubicBezTo>
                <a:cubicBezTo>
                  <a:pt x="904629" y="1717505"/>
                  <a:pt x="512424" y="1811635"/>
                  <a:pt x="324165" y="1706300"/>
                </a:cubicBezTo>
                <a:cubicBezTo>
                  <a:pt x="135906" y="1600965"/>
                  <a:pt x="-16494" y="1289441"/>
                  <a:pt x="1435" y="1007053"/>
                </a:cubicBezTo>
                <a:cubicBezTo>
                  <a:pt x="19364" y="724665"/>
                  <a:pt x="209865" y="94894"/>
                  <a:pt x="431741" y="11970"/>
                </a:cubicBezTo>
                <a:cubicBezTo>
                  <a:pt x="653617" y="-70954"/>
                  <a:pt x="1146676" y="296599"/>
                  <a:pt x="1332694" y="509511"/>
                </a:cubicBezTo>
                <a:cubicBezTo>
                  <a:pt x="1518712" y="722423"/>
                  <a:pt x="1561294" y="1033947"/>
                  <a:pt x="1547847" y="1289441"/>
                </a:cubicBezTo>
                <a:cubicBezTo>
                  <a:pt x="1534400" y="1544935"/>
                  <a:pt x="1402171" y="1941623"/>
                  <a:pt x="1252012" y="2042476"/>
                </a:cubicBezTo>
                <a:cubicBezTo>
                  <a:pt x="1101853" y="2143329"/>
                  <a:pt x="781365" y="2026787"/>
                  <a:pt x="646894" y="1894558"/>
                </a:cubicBezTo>
                <a:cubicBezTo>
                  <a:pt x="512423" y="1762329"/>
                  <a:pt x="380194" y="1453047"/>
                  <a:pt x="445188" y="1249100"/>
                </a:cubicBezTo>
                <a:cubicBezTo>
                  <a:pt x="510182" y="1045153"/>
                  <a:pt x="1036859" y="670876"/>
                  <a:pt x="1036859" y="670876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A9E8EFB-D983-0346-9569-815152934283}"/>
                  </a:ext>
                </a:extLst>
              </p:cNvPr>
              <p:cNvSpPr/>
              <p:nvPr/>
            </p:nvSpPr>
            <p:spPr>
              <a:xfrm>
                <a:off x="8229600" y="5117068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A9E8EFB-D983-0346-9569-8151529342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0" y="5117068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718CB4F7-46BF-175E-BCDC-C2EFFAC53447}"/>
              </a:ext>
            </a:extLst>
          </p:cNvPr>
          <p:cNvSpPr/>
          <p:nvPr/>
        </p:nvSpPr>
        <p:spPr>
          <a:xfrm>
            <a:off x="8153400" y="5029200"/>
            <a:ext cx="228600" cy="2286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5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/>
      <p:bldP spid="12" grpId="0"/>
      <p:bldP spid="16" grpId="0" animBg="1"/>
      <p:bldP spid="9" grpId="0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Asymptotically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744200" cy="279138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The system (1) is said to be </a:t>
                </a:r>
                <a:r>
                  <a:rPr lang="en-US" b="1" i="1" dirty="0"/>
                  <a:t>Asymptotically stable </a:t>
                </a:r>
                <a:r>
                  <a:rPr lang="en-US" i="1" dirty="0"/>
                  <a:t>(at the origin) </a:t>
                </a:r>
                <a:r>
                  <a:rPr lang="en-US" dirty="0"/>
                  <a:t>if it is Lyapunov stable and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&gt;0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</a:rPr>
                      <m:t>t</m:t>
                    </m:r>
                    <m:r>
                      <a:rPr lang="en-US" b="0" i="1" smtClean="0">
                        <a:latin typeface="Cambria Math" charset="0"/>
                      </a:rPr>
                      <m:t>→∞,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𝜉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→</m:t>
                    </m:r>
                    <m:r>
                      <a:rPr lang="en-US" b="1" i="1" smtClean="0">
                        <a:latin typeface="Cambria Math" charset="0"/>
                      </a:rPr>
                      <m:t>𝟎</m:t>
                    </m:r>
                    <m:r>
                      <a:rPr lang="en-US" b="0" i="1" smtClean="0">
                        <a:latin typeface="Cambria Math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If the property holds for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:r>
                  <a:rPr lang="en-US" b="1" dirty="0"/>
                  <a:t>Globally Asymptotically Stable</a:t>
                </a:r>
                <a:endParaRPr lang="en-US" dirty="0"/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744200" cy="2791384"/>
              </a:xfrm>
              <a:blipFill>
                <a:blip r:embed="rId2"/>
                <a:stretch>
                  <a:fillRect l="-1418" t="-2262" r="-1655" b="-4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7353300" y="4391586"/>
            <a:ext cx="1905000" cy="1961029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7520548" y="4754880"/>
            <a:ext cx="1594110" cy="1397540"/>
          </a:xfrm>
          <a:custGeom>
            <a:avLst/>
            <a:gdLst>
              <a:gd name="connsiteX0" fmla="*/ 371001 w 1594110"/>
              <a:gd name="connsiteY0" fmla="*/ 0 h 1397540"/>
              <a:gd name="connsiteX1" fmla="*/ 1584659 w 1594110"/>
              <a:gd name="connsiteY1" fmla="*/ 249382 h 1397540"/>
              <a:gd name="connsiteX2" fmla="*/ 886390 w 1594110"/>
              <a:gd name="connsiteY2" fmla="*/ 1396538 h 1397540"/>
              <a:gd name="connsiteX3" fmla="*/ 5241 w 1594110"/>
              <a:gd name="connsiteY3" fmla="*/ 448887 h 1397540"/>
              <a:gd name="connsiteX4" fmla="*/ 1318652 w 1594110"/>
              <a:gd name="connsiteY4" fmla="*/ 332509 h 1397540"/>
              <a:gd name="connsiteX5" fmla="*/ 1002768 w 1594110"/>
              <a:gd name="connsiteY5" fmla="*/ 1180407 h 1397540"/>
              <a:gd name="connsiteX6" fmla="*/ 271248 w 1594110"/>
              <a:gd name="connsiteY6" fmla="*/ 714895 h 1397540"/>
              <a:gd name="connsiteX7" fmla="*/ 1185648 w 1594110"/>
              <a:gd name="connsiteY7" fmla="*/ 448887 h 1397540"/>
              <a:gd name="connsiteX8" fmla="*/ 969517 w 1594110"/>
              <a:gd name="connsiteY8" fmla="*/ 1097280 h 1397540"/>
              <a:gd name="connsiteX9" fmla="*/ 470754 w 1594110"/>
              <a:gd name="connsiteY9" fmla="*/ 831273 h 1397540"/>
              <a:gd name="connsiteX10" fmla="*/ 936267 w 1594110"/>
              <a:gd name="connsiteY10" fmla="*/ 598516 h 1397540"/>
              <a:gd name="connsiteX11" fmla="*/ 919641 w 1594110"/>
              <a:gd name="connsiteY11" fmla="*/ 980902 h 1397540"/>
              <a:gd name="connsiteX12" fmla="*/ 670259 w 1594110"/>
              <a:gd name="connsiteY12" fmla="*/ 864524 h 1397540"/>
              <a:gd name="connsiteX13" fmla="*/ 803263 w 1594110"/>
              <a:gd name="connsiteY13" fmla="*/ 764771 h 139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94110" h="1397540">
                <a:moveTo>
                  <a:pt x="371001" y="0"/>
                </a:moveTo>
                <a:cubicBezTo>
                  <a:pt x="934881" y="8313"/>
                  <a:pt x="1498761" y="16626"/>
                  <a:pt x="1584659" y="249382"/>
                </a:cubicBezTo>
                <a:cubicBezTo>
                  <a:pt x="1670557" y="482138"/>
                  <a:pt x="1149626" y="1363287"/>
                  <a:pt x="886390" y="1396538"/>
                </a:cubicBezTo>
                <a:cubicBezTo>
                  <a:pt x="623154" y="1429789"/>
                  <a:pt x="-66803" y="626225"/>
                  <a:pt x="5241" y="448887"/>
                </a:cubicBezTo>
                <a:cubicBezTo>
                  <a:pt x="77285" y="271549"/>
                  <a:pt x="1152398" y="210589"/>
                  <a:pt x="1318652" y="332509"/>
                </a:cubicBezTo>
                <a:cubicBezTo>
                  <a:pt x="1484906" y="454429"/>
                  <a:pt x="1177335" y="1116676"/>
                  <a:pt x="1002768" y="1180407"/>
                </a:cubicBezTo>
                <a:cubicBezTo>
                  <a:pt x="828201" y="1244138"/>
                  <a:pt x="240768" y="836815"/>
                  <a:pt x="271248" y="714895"/>
                </a:cubicBezTo>
                <a:cubicBezTo>
                  <a:pt x="301728" y="592975"/>
                  <a:pt x="1069270" y="385156"/>
                  <a:pt x="1185648" y="448887"/>
                </a:cubicBezTo>
                <a:cubicBezTo>
                  <a:pt x="1302026" y="512618"/>
                  <a:pt x="1088666" y="1033549"/>
                  <a:pt x="969517" y="1097280"/>
                </a:cubicBezTo>
                <a:cubicBezTo>
                  <a:pt x="850368" y="1161011"/>
                  <a:pt x="476296" y="914400"/>
                  <a:pt x="470754" y="831273"/>
                </a:cubicBezTo>
                <a:cubicBezTo>
                  <a:pt x="465212" y="748146"/>
                  <a:pt x="861453" y="573578"/>
                  <a:pt x="936267" y="598516"/>
                </a:cubicBezTo>
                <a:cubicBezTo>
                  <a:pt x="1011081" y="623454"/>
                  <a:pt x="963976" y="936567"/>
                  <a:pt x="919641" y="980902"/>
                </a:cubicBezTo>
                <a:cubicBezTo>
                  <a:pt x="875306" y="1025237"/>
                  <a:pt x="689655" y="900546"/>
                  <a:pt x="670259" y="864524"/>
                </a:cubicBezTo>
                <a:cubicBezTo>
                  <a:pt x="650863" y="828502"/>
                  <a:pt x="803263" y="764771"/>
                  <a:pt x="803263" y="764771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047745-2E70-584F-94BC-F24B675999B1}"/>
              </a:ext>
            </a:extLst>
          </p:cNvPr>
          <p:cNvCxnSpPr>
            <a:cxnSpLocks/>
            <a:stCxn id="4" idx="7"/>
          </p:cNvCxnSpPr>
          <p:nvPr/>
        </p:nvCxnSpPr>
        <p:spPr>
          <a:xfrm flipH="1">
            <a:off x="8305801" y="4678772"/>
            <a:ext cx="673518" cy="693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15C13C6-786F-F548-82C7-75F28224D9C6}"/>
                  </a:ext>
                </a:extLst>
              </p:cNvPr>
              <p:cNvSpPr/>
              <p:nvPr/>
            </p:nvSpPr>
            <p:spPr>
              <a:xfrm>
                <a:off x="9166991" y="4389482"/>
                <a:ext cx="4616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15C13C6-786F-F548-82C7-75F28224D9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991" y="4389482"/>
                <a:ext cx="461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1AAA8D1-5FB4-6040-8723-8DA80537AA69}"/>
                  </a:ext>
                </a:extLst>
              </p:cNvPr>
              <p:cNvSpPr/>
              <p:nvPr/>
            </p:nvSpPr>
            <p:spPr>
              <a:xfrm>
                <a:off x="7599242" y="4697822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1AAA8D1-5FB4-6040-8723-8DA80537AA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9242" y="4697822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519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472F-08EE-5B4A-BB2A-C9D2AD71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portrait of pendulum with friction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989C11-649C-354F-AB5A-ED1FFAA0A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85268"/>
            <a:ext cx="7264400" cy="547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9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nonlinear systems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For any </a:t>
                </a:r>
                <a:r>
                  <a:rPr lang="en-US" b="1" i="1" dirty="0">
                    <a:solidFill>
                      <a:srgbClr val="00B0F0"/>
                    </a:solidFill>
                  </a:rPr>
                  <a:t>positive definite </a:t>
                </a:r>
                <a:r>
                  <a:rPr lang="en-US" dirty="0"/>
                  <a:t>function of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𝑉</m:t>
                    </m:r>
                    <m:r>
                      <a:rPr lang="en-US" i="1">
                        <a:latin typeface="Cambria Math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≥0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=0 </m:t>
                    </m:r>
                  </m:oMath>
                </a14:m>
                <a:r>
                  <a:rPr lang="en-US" dirty="0"/>
                  <a:t>iff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sz="3000" b="1" i="1" dirty="0">
                    <a:solidFill>
                      <a:srgbClr val="00B0F0"/>
                    </a:solidFill>
                  </a:rPr>
                  <a:t>Sublevel sets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={</m:t>
                    </m:r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i="1" dirty="0">
                    <a:latin typeface="Cambria Math" charset="0"/>
                  </a:rPr>
                  <a:t> </a:t>
                </a:r>
                <a:r>
                  <a:rPr lang="en-US" dirty="0">
                    <a:latin typeface="Cambria Math" charset="0"/>
                  </a:rPr>
                  <a:t>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≤</m:t>
                    </m:r>
                    <m:r>
                      <a:rPr lang="en-US" b="0" i="1" smtClean="0">
                        <a:latin typeface="Cambria Math" charset="0"/>
                      </a:rPr>
                      <m:t>𝑝</m:t>
                    </m:r>
                    <m:r>
                      <a:rPr lang="en-US" b="0" i="1" smtClean="0">
                        <a:latin typeface="Cambria Math" charset="0"/>
                      </a:rPr>
                      <m:t>}</m:t>
                    </m:r>
                  </m:oMath>
                </a14:m>
                <a:endParaRPr lang="en-US" i="1" dirty="0">
                  <a:latin typeface="Cambria Math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𝑉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V </a:t>
                </a:r>
                <a:r>
                  <a:rPr lang="en-US" dirty="0"/>
                  <a:t>differentiable with continuous first derivative</a:t>
                </a:r>
                <a:endParaRPr lang="en-US" b="0" i="1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</a:rPr>
                          <m:t>𝑉</m:t>
                        </m:r>
                      </m:e>
                    </m:acc>
                    <m:r>
                      <a:rPr lang="en-US" b="0" i="1" dirty="0" smtClean="0">
                        <a:latin typeface="Cambria Math" charset="0"/>
                      </a:rPr>
                      <m:t>= </m:t>
                    </m:r>
                    <m:r>
                      <a:rPr lang="en-US" b="0" i="1" smtClean="0">
                        <a:latin typeface="Cambria Math" charset="0"/>
                      </a:rPr>
                      <m:t>𝑑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𝑉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charset="0"/>
                      </a:rPr>
                      <m:t>= ?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charset="0"/>
                      </a:rPr>
                      <m:t>.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charset="0"/>
                      </a:rPr>
                      <m:t>.</m:t>
                    </m:r>
                    <m:r>
                      <a:rPr lang="en-US" b="0" i="1" smtClean="0">
                        <a:latin typeface="Cambria Math" charset="0"/>
                      </a:rPr>
                      <m:t>𝑓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b="0" dirty="0"/>
                  <a:t> is also </a:t>
                </a:r>
                <a:r>
                  <a:rPr lang="en-US" dirty="0"/>
                  <a:t>c</a:t>
                </a:r>
                <a:r>
                  <a:rPr lang="en-US" b="0" dirty="0"/>
                  <a:t>ontinuous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𝑉</m:t>
                    </m:r>
                  </m:oMath>
                </a14:m>
                <a:r>
                  <a:rPr lang="en-US" b="0" dirty="0"/>
                  <a:t> is </a:t>
                </a:r>
                <a:r>
                  <a:rPr lang="en-US" b="1" dirty="0">
                    <a:solidFill>
                      <a:srgbClr val="00B0F0"/>
                    </a:solidFill>
                  </a:rPr>
                  <a:t>radially unbounded </a:t>
                </a: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→∞⇒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→∞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  <a:blipFill>
                <a:blip r:embed="rId2"/>
                <a:stretch>
                  <a:fillRect l="-1387" t="-2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>
            <a:extLst>
              <a:ext uri="{FF2B5EF4-FFF2-40B4-BE49-F238E27FC236}">
                <a16:creationId xmlns:a16="http://schemas.microsoft.com/office/drawing/2014/main" id="{C16DB104-4E76-F370-6D04-FD79D8880980}"/>
              </a:ext>
            </a:extLst>
          </p:cNvPr>
          <p:cNvSpPr/>
          <p:nvPr/>
        </p:nvSpPr>
        <p:spPr>
          <a:xfrm>
            <a:off x="9144000" y="2243373"/>
            <a:ext cx="2718201" cy="1848408"/>
          </a:xfrm>
          <a:custGeom>
            <a:avLst/>
            <a:gdLst>
              <a:gd name="connsiteX0" fmla="*/ 0 w 2718201"/>
              <a:gd name="connsiteY0" fmla="*/ 307260 h 1848408"/>
              <a:gd name="connsiteX1" fmla="*/ 712922 w 2718201"/>
              <a:gd name="connsiteY1" fmla="*/ 1826094 h 1848408"/>
              <a:gd name="connsiteX2" fmla="*/ 1441343 w 2718201"/>
              <a:gd name="connsiteY2" fmla="*/ 1252656 h 1848408"/>
              <a:gd name="connsiteX3" fmla="*/ 1906292 w 2718201"/>
              <a:gd name="connsiteY3" fmla="*/ 1810595 h 1848408"/>
              <a:gd name="connsiteX4" fmla="*/ 2619214 w 2718201"/>
              <a:gd name="connsiteY4" fmla="*/ 152277 h 1848408"/>
              <a:gd name="connsiteX5" fmla="*/ 2712204 w 2718201"/>
              <a:gd name="connsiteY5" fmla="*/ 74785 h 1848408"/>
              <a:gd name="connsiteX6" fmla="*/ 2712204 w 2718201"/>
              <a:gd name="connsiteY6" fmla="*/ 74785 h 1848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18201" h="1848408">
                <a:moveTo>
                  <a:pt x="0" y="307260"/>
                </a:moveTo>
                <a:cubicBezTo>
                  <a:pt x="236349" y="987894"/>
                  <a:pt x="472698" y="1668528"/>
                  <a:pt x="712922" y="1826094"/>
                </a:cubicBezTo>
                <a:cubicBezTo>
                  <a:pt x="953146" y="1983660"/>
                  <a:pt x="1242448" y="1255239"/>
                  <a:pt x="1441343" y="1252656"/>
                </a:cubicBezTo>
                <a:cubicBezTo>
                  <a:pt x="1640238" y="1250073"/>
                  <a:pt x="1709980" y="1993991"/>
                  <a:pt x="1906292" y="1810595"/>
                </a:cubicBezTo>
                <a:cubicBezTo>
                  <a:pt x="2102604" y="1627199"/>
                  <a:pt x="2484895" y="441579"/>
                  <a:pt x="2619214" y="152277"/>
                </a:cubicBezTo>
                <a:cubicBezTo>
                  <a:pt x="2753533" y="-137025"/>
                  <a:pt x="2712204" y="74785"/>
                  <a:pt x="2712204" y="74785"/>
                </a:cubicBezTo>
                <a:lnTo>
                  <a:pt x="2712204" y="74785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D999E6-68EC-A73E-27FB-3D03F4994AE3}"/>
              </a:ext>
            </a:extLst>
          </p:cNvPr>
          <p:cNvCxnSpPr>
            <a:cxnSpLocks/>
          </p:cNvCxnSpPr>
          <p:nvPr/>
        </p:nvCxnSpPr>
        <p:spPr>
          <a:xfrm>
            <a:off x="8839200" y="3733800"/>
            <a:ext cx="3023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F7A7DC-EB1C-3562-C332-9D4A0FB00DF8}"/>
              </a:ext>
            </a:extLst>
          </p:cNvPr>
          <p:cNvCxnSpPr/>
          <p:nvPr/>
        </p:nvCxnSpPr>
        <p:spPr>
          <a:xfrm>
            <a:off x="9601200" y="3733800"/>
            <a:ext cx="0" cy="762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0C581B-82E4-111C-E9BE-37AB10CFE63F}"/>
              </a:ext>
            </a:extLst>
          </p:cNvPr>
          <p:cNvCxnSpPr/>
          <p:nvPr/>
        </p:nvCxnSpPr>
        <p:spPr>
          <a:xfrm>
            <a:off x="10333494" y="3719592"/>
            <a:ext cx="0" cy="762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9DA82E-E071-F024-F69A-7D59705D5278}"/>
              </a:ext>
            </a:extLst>
          </p:cNvPr>
          <p:cNvCxnSpPr/>
          <p:nvPr/>
        </p:nvCxnSpPr>
        <p:spPr>
          <a:xfrm>
            <a:off x="10744200" y="3733800"/>
            <a:ext cx="0" cy="762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F527FA-46BA-5C7D-74C6-7FB6D518A90B}"/>
              </a:ext>
            </a:extLst>
          </p:cNvPr>
          <p:cNvCxnSpPr/>
          <p:nvPr/>
        </p:nvCxnSpPr>
        <p:spPr>
          <a:xfrm>
            <a:off x="11253061" y="3733800"/>
            <a:ext cx="0" cy="762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2AE715-D58F-1691-DF7D-19BD441EEE56}"/>
              </a:ext>
            </a:extLst>
          </p:cNvPr>
          <p:cNvCxnSpPr/>
          <p:nvPr/>
        </p:nvCxnSpPr>
        <p:spPr>
          <a:xfrm>
            <a:off x="9601200" y="4495800"/>
            <a:ext cx="73229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B16669-2DF8-29D1-990A-DC26AF88AC45}"/>
              </a:ext>
            </a:extLst>
          </p:cNvPr>
          <p:cNvCxnSpPr>
            <a:cxnSpLocks/>
          </p:cNvCxnSpPr>
          <p:nvPr/>
        </p:nvCxnSpPr>
        <p:spPr>
          <a:xfrm>
            <a:off x="10744200" y="4495800"/>
            <a:ext cx="5088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0912D5-13CF-C20D-6BD0-69A531D6C651}"/>
                  </a:ext>
                </a:extLst>
              </p:cNvPr>
              <p:cNvSpPr txBox="1"/>
              <p:nvPr/>
            </p:nvSpPr>
            <p:spPr>
              <a:xfrm>
                <a:off x="9935061" y="4201207"/>
                <a:ext cx="122824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30912D5-13CF-C20D-6BD0-69A531D6C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5061" y="4201207"/>
                <a:ext cx="1228240" cy="390748"/>
              </a:xfrm>
              <a:prstGeom prst="rect">
                <a:avLst/>
              </a:prstGeom>
              <a:blipFill>
                <a:blip r:embed="rId3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630C668-2134-930C-7C44-47B91351D4E7}"/>
                  </a:ext>
                </a:extLst>
              </p:cNvPr>
              <p:cNvSpPr txBox="1"/>
              <p:nvPr/>
            </p:nvSpPr>
            <p:spPr>
              <a:xfrm>
                <a:off x="7964839" y="3429000"/>
                <a:ext cx="15072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630C668-2134-930C-7C44-47B91351D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4839" y="3429000"/>
                <a:ext cx="150721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3B98C6-2F89-2168-1477-6E8DC41F0A36}"/>
              </a:ext>
            </a:extLst>
          </p:cNvPr>
          <p:cNvCxnSpPr>
            <a:cxnSpLocks/>
          </p:cNvCxnSpPr>
          <p:nvPr/>
        </p:nvCxnSpPr>
        <p:spPr>
          <a:xfrm>
            <a:off x="8991599" y="2909807"/>
            <a:ext cx="30230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61E195D-3325-A0C0-86F3-B44C099B82F5}"/>
              </a:ext>
            </a:extLst>
          </p:cNvPr>
          <p:cNvCxnSpPr>
            <a:cxnSpLocks/>
          </p:cNvCxnSpPr>
          <p:nvPr/>
        </p:nvCxnSpPr>
        <p:spPr>
          <a:xfrm>
            <a:off x="9273152" y="2909807"/>
            <a:ext cx="0" cy="195666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CC08CC5-35BE-6BA4-11A2-8E5590A980CE}"/>
              </a:ext>
            </a:extLst>
          </p:cNvPr>
          <p:cNvCxnSpPr>
            <a:cxnSpLocks/>
          </p:cNvCxnSpPr>
          <p:nvPr/>
        </p:nvCxnSpPr>
        <p:spPr>
          <a:xfrm>
            <a:off x="11582400" y="2909807"/>
            <a:ext cx="0" cy="195666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2616DAF-59AC-550B-E050-61FF2966B1AA}"/>
              </a:ext>
            </a:extLst>
          </p:cNvPr>
          <p:cNvCxnSpPr>
            <a:cxnSpLocks/>
          </p:cNvCxnSpPr>
          <p:nvPr/>
        </p:nvCxnSpPr>
        <p:spPr>
          <a:xfrm>
            <a:off x="9273152" y="4866468"/>
            <a:ext cx="2309248" cy="3335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399593E-7FC0-29FA-1EFA-7D3639E8F98F}"/>
                  </a:ext>
                </a:extLst>
              </p:cNvPr>
              <p:cNvSpPr txBox="1"/>
              <p:nvPr/>
            </p:nvSpPr>
            <p:spPr>
              <a:xfrm>
                <a:off x="10051066" y="4879738"/>
                <a:ext cx="1228240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399593E-7FC0-29FA-1EFA-7D3639E8F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1066" y="4879738"/>
                <a:ext cx="1228240" cy="390748"/>
              </a:xfrm>
              <a:prstGeom prst="rect">
                <a:avLst/>
              </a:prstGeom>
              <a:blipFill>
                <a:blip r:embed="rId5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EC073BD-E8FF-2A92-B387-A4631E099FF1}"/>
                  </a:ext>
                </a:extLst>
              </p:cNvPr>
              <p:cNvSpPr txBox="1"/>
              <p:nvPr/>
            </p:nvSpPr>
            <p:spPr>
              <a:xfrm>
                <a:off x="8108197" y="2553416"/>
                <a:ext cx="15072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EC073BD-E8FF-2A92-B387-A4631E099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8197" y="2553416"/>
                <a:ext cx="1507210" cy="369332"/>
              </a:xfrm>
              <a:prstGeom prst="rect">
                <a:avLst/>
              </a:prstGeom>
              <a:blipFill>
                <a:blip r:embed="rId6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874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Verifying Stability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1478" y="1600201"/>
                <a:ext cx="7206712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b="1" dirty="0"/>
                  <a:t>Theorem. </a:t>
                </a:r>
                <a:r>
                  <a:rPr lang="en-US" sz="2400" dirty="0"/>
                  <a:t>(</a:t>
                </a:r>
                <a:r>
                  <a:rPr lang="en-US" sz="2400" dirty="0" err="1"/>
                  <a:t>Lyapunov</a:t>
                </a:r>
                <a:r>
                  <a:rPr lang="en-US" sz="2400" dirty="0"/>
                  <a:t>) Consider the system (1) with state space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 and suppose there exists a </a:t>
                </a:r>
                <a:r>
                  <a:rPr lang="en-US" sz="2400" b="1" dirty="0"/>
                  <a:t>positive definite, continuously differentiable </a:t>
                </a:r>
                <a:r>
                  <a:rPr lang="en-US" sz="2400" dirty="0"/>
                  <a:t>function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charset="0"/>
                      </a:rPr>
                      <m:t>𝑉</m:t>
                    </m:r>
                    <m:r>
                      <a:rPr lang="en-US" sz="2400" b="0" i="1" smtClean="0">
                        <a:latin typeface="Cambria Math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</m:oMath>
                </a14:m>
                <a:r>
                  <a:rPr lang="en-US" sz="2400" dirty="0"/>
                  <a:t>. The system is: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dirty="0"/>
                  <a:t>1. </a:t>
                </a:r>
                <a:r>
                  <a:rPr lang="en-US" sz="2400" dirty="0" err="1"/>
                  <a:t>Lyapunov</a:t>
                </a:r>
                <a:r>
                  <a:rPr lang="en-US" sz="2400" dirty="0"/>
                  <a:t> stable if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𝑉</m:t>
                        </m:r>
                      </m:num>
                      <m:den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≤0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,</m:t>
                    </m:r>
                  </m:oMath>
                </a14:m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≠0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dirty="0"/>
                  <a:t>2. Asymptotically stable if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&lt;0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,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≠0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dirty="0"/>
                  <a:t>3. It is globally AS if </a:t>
                </a:r>
                <a:r>
                  <a:rPr lang="en-US" sz="2400" i="1" dirty="0"/>
                  <a:t>V </a:t>
                </a:r>
                <a:r>
                  <a:rPr lang="en-US" sz="2400" dirty="0"/>
                  <a:t>is also radially unbounded.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478" y="1600201"/>
                <a:ext cx="7206712" cy="4525963"/>
              </a:xfrm>
              <a:blipFill>
                <a:blip r:embed="rId2"/>
                <a:stretch>
                  <a:fillRect l="-1230" r="-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01DBE10A-0F04-74B4-879C-2116909E7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100" y="1417638"/>
            <a:ext cx="5168900" cy="5410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15D8D5-3DA2-EFB3-82AC-46A4CCF04E2B}"/>
                  </a:ext>
                </a:extLst>
              </p:cNvPr>
              <p:cNvSpPr txBox="1"/>
              <p:nvPr/>
            </p:nvSpPr>
            <p:spPr>
              <a:xfrm>
                <a:off x="9607550" y="2405658"/>
                <a:ext cx="2182905" cy="3730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𝑉</m:t>
                      </m:r>
                      <m:d>
                        <m:d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15D8D5-3DA2-EFB3-82AC-46A4CCF04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550" y="2405658"/>
                <a:ext cx="2182905" cy="3730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097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800" dirty="0"/>
                  <a:t>Proof : Lyapunov stable if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𝑉</m:t>
                        </m:r>
                      </m:e>
                    </m:acc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≤0</m:t>
                    </m:r>
                  </m:oMath>
                </a14:m>
                <a:br>
                  <a:rPr lang="en-US" sz="2800" dirty="0"/>
                </a:br>
                <a:endParaRPr lang="en-US" sz="2800" dirty="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3" y="1219205"/>
                <a:ext cx="7516907" cy="5638794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Assume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charset="0"/>
                          </a:rPr>
                          <m:t>𝑉</m:t>
                        </m:r>
                      </m:e>
                    </m:acc>
                    <m:r>
                      <a:rPr lang="en-US" sz="2800" i="1">
                        <a:latin typeface="Cambria Math" charset="0"/>
                      </a:rPr>
                      <m:t>≤0 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Fix a ball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charset="0"/>
                          </a:rPr>
                          <m:t>B</m:t>
                        </m:r>
                      </m:e>
                      <m:sub>
                        <m:r>
                          <a:rPr lang="en-US" sz="2800" i="1">
                            <a:latin typeface="Cambria Math" charset="0"/>
                          </a:rPr>
                          <m:t>𝜀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800" dirty="0"/>
                  <a:t>around the origin of radius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𝜀</m:t>
                    </m:r>
                    <m:r>
                      <a:rPr lang="en-US" sz="2800" i="1">
                        <a:latin typeface="Cambria Math" charset="0"/>
                      </a:rPr>
                      <m:t>&gt;0. 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Pick a positive number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charset="0"/>
                      </a:rPr>
                      <m:t>𝑏</m:t>
                    </m:r>
                    <m:r>
                      <a:rPr lang="en-US" sz="2800" i="1">
                        <a:latin typeface="Cambria Math" charset="0"/>
                      </a:rPr>
                      <m:t>&lt;</m:t>
                    </m:r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charset="0"/>
                              </a:rPr>
                              <m:t>min</m:t>
                            </m:r>
                          </m:e>
                          <m:li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2800" i="1">
                                <a:latin typeface="Cambria Math" charset="0"/>
                              </a:rPr>
                              <m:t>=</m:t>
                            </m:r>
                            <m:r>
                              <a:rPr lang="en-US" sz="2800" i="1">
                                <a:latin typeface="Cambria Math" charset="0"/>
                              </a:rPr>
                              <m:t>𝜀</m:t>
                            </m:r>
                          </m:lim>
                        </m:limLow>
                      </m:fName>
                      <m:e>
                        <m:r>
                          <a:rPr lang="en-US" sz="2800" i="1">
                            <a:latin typeface="Cambria Math" charset="0"/>
                          </a:rPr>
                          <m:t>𝑉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800" i="1">
                            <a:latin typeface="Cambria Math" charset="0"/>
                          </a:rPr>
                          <m:t>.</m:t>
                        </m:r>
                      </m:e>
                    </m:func>
                  </m:oMath>
                </a14:m>
                <a:endParaRPr lang="en-US" sz="2800" dirty="0"/>
              </a:p>
              <a:p>
                <a:r>
                  <a:rPr lang="en-US" sz="2800" dirty="0"/>
                  <a:t>Sublevel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800" i="1">
                        <a:latin typeface="Cambria Math" charset="0"/>
                      </a:rPr>
                      <m:t>= </m:t>
                    </m:r>
                    <m:d>
                      <m:dPr>
                        <m:begChr m:val="{"/>
                        <m:endChr m:val="|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</a:rPr>
                          <m:t>𝑥</m:t>
                        </m:r>
                        <m:r>
                          <a:rPr lang="en-US" sz="2800" i="1">
                            <a:latin typeface="Cambria Math" charset="0"/>
                          </a:rPr>
                          <m:t> </m:t>
                        </m:r>
                      </m:e>
                    </m:d>
                    <m:r>
                      <a:rPr lang="en-US" sz="2800" i="1">
                        <a:latin typeface="Cambria Math" charset="0"/>
                      </a:rPr>
                      <m:t>𝑉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800" i="1">
                        <a:latin typeface="Cambria Math" charset="0"/>
                      </a:rPr>
                      <m:t>≤</m:t>
                    </m:r>
                    <m:r>
                      <a:rPr lang="en-US" sz="2800" i="1">
                        <a:latin typeface="Cambria Math" charset="0"/>
                      </a:rPr>
                      <m:t>𝑏</m:t>
                    </m:r>
                    <m:r>
                      <a:rPr lang="en-US" sz="2800" i="1">
                        <a:latin typeface="Cambria Math" charset="0"/>
                      </a:rPr>
                      <m:t>}⊆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>
                        <a:latin typeface="Cambria Math" charset="0"/>
                      </a:rPr>
                      <m:t>𝜀</m:t>
                    </m:r>
                  </m:oMath>
                </a14:m>
                <a:endParaRPr lang="en-US" sz="2800" baseline="-25000" dirty="0"/>
              </a:p>
              <a:p>
                <a:r>
                  <a:rPr lang="en-US" sz="2800" dirty="0"/>
                  <a:t>Claim.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800" dirty="0"/>
                  <a:t>is an invariant</a:t>
                </a:r>
              </a:p>
              <a:p>
                <a:pPr lvl="1"/>
                <a:r>
                  <a:rPr lang="en-US" sz="2400" dirty="0"/>
                  <a:t>For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b="0" dirty="0"/>
              </a:p>
              <a:p>
                <a:pPr lvl="1"/>
                <a:r>
                  <a:rPr lang="en-US" sz="2400" dirty="0"/>
                  <a:t>Therefore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800" dirty="0"/>
                  <a:t>Choose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⊆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800" b="0" i="0" dirty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n-US" sz="2800" dirty="0"/>
                  <a:t>For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sz="280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⊆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800" dirty="0">
                    <a:latin typeface="Cambria Math" panose="02040503050406030204" pitchFamily="18" charset="0"/>
                  </a:rPr>
                  <a:t> we have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</m:sSub>
                  </m:oMath>
                </a14:m>
                <a:endParaRPr lang="en-US" sz="2800" b="0" i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3" y="1219205"/>
                <a:ext cx="7516907" cy="5638794"/>
              </a:xfrm>
              <a:blipFill>
                <a:blip r:embed="rId3"/>
                <a:stretch>
                  <a:fillRect l="-1520" t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8910879" y="3824207"/>
            <a:ext cx="2057400" cy="1981200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9939579" y="3443207"/>
            <a:ext cx="0" cy="274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8491779" y="4814807"/>
            <a:ext cx="289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 flipH="1">
                <a:off x="10568228" y="3765509"/>
                <a:ext cx="6096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charset="0"/>
                            </a:rPr>
                            <m:t>B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𝜀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568228" y="3765509"/>
                <a:ext cx="609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/>
          <p:cNvSpPr/>
          <p:nvPr/>
        </p:nvSpPr>
        <p:spPr>
          <a:xfrm rot="19516098">
            <a:off x="9024056" y="4315556"/>
            <a:ext cx="1861712" cy="956496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 flipH="1">
                <a:off x="9153765" y="4064475"/>
                <a:ext cx="6096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153765" y="4064475"/>
                <a:ext cx="6096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9545004" y="4413065"/>
            <a:ext cx="791307" cy="761999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 flipH="1">
                <a:off x="10080293" y="4260808"/>
                <a:ext cx="6096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080293" y="4260808"/>
                <a:ext cx="6096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964E058C-0CFC-27F1-23E4-A290EEB25D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220" y="137280"/>
            <a:ext cx="2925746" cy="306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4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1" grpId="0" animBg="1"/>
      <p:bldP spid="12" grpId="0"/>
      <p:bldP spid="13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800" dirty="0"/>
                  <a:t>Proof sketch: Asymptotically stable if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800" i="1">
                        <a:latin typeface="Cambria Math" charset="0"/>
                        <a:ea typeface="Cambria Math" charset="0"/>
                        <a:cs typeface="Cambria Math" charset="0"/>
                      </a:rPr>
                      <m:t>&lt;0</m:t>
                    </m:r>
                  </m:oMath>
                </a14:m>
                <a:br>
                  <a:rPr lang="en-US" sz="2800" dirty="0"/>
                </a:br>
                <a:endParaRPr lang="en-US" sz="2800" dirty="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2" y="990603"/>
                <a:ext cx="9296397" cy="647699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Assume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charset="0"/>
                          </a:rPr>
                          <m:t>𝑉</m:t>
                        </m:r>
                      </m:e>
                    </m:acc>
                    <m:r>
                      <a:rPr lang="en-US" sz="2400" i="1">
                        <a:latin typeface="Cambria Math" charset="0"/>
                      </a:rPr>
                      <m:t>&lt;0 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Take arbitrary initial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charset="0"/>
                      </a:rPr>
                      <m:t>≤</m:t>
                    </m:r>
                    <m:r>
                      <a:rPr lang="en-US" sz="2400" i="1">
                        <a:latin typeface="Cambria Math" charset="0"/>
                      </a:rPr>
                      <m:t>𝛿</m:t>
                    </m:r>
                    <m:r>
                      <a:rPr lang="en-US" sz="2400" i="1">
                        <a:latin typeface="Cambria Math" charset="0"/>
                      </a:rPr>
                      <m:t>, </m:t>
                    </m:r>
                  </m:oMath>
                </a14:m>
                <a:r>
                  <a:rPr lang="en-US" sz="2400" dirty="0"/>
                  <a:t>where this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𝛿</m:t>
                    </m:r>
                  </m:oMath>
                </a14:m>
                <a:r>
                  <a:rPr lang="en-US" sz="2400" dirty="0"/>
                  <a:t> comes from some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𝜀</m:t>
                    </m:r>
                  </m:oMath>
                </a14:m>
                <a:r>
                  <a:rPr lang="en-US" sz="2400" dirty="0"/>
                  <a:t> for </a:t>
                </a:r>
                <a:r>
                  <a:rPr lang="en-US" sz="2400" dirty="0" err="1"/>
                  <a:t>Lyapunov</a:t>
                </a:r>
                <a:r>
                  <a:rPr lang="en-US" sz="2400" dirty="0"/>
                  <a:t> stability</a:t>
                </a:r>
              </a:p>
              <a:p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𝑉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.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charset="0"/>
                      </a:rPr>
                      <m:t>&gt;0</m:t>
                    </m:r>
                  </m:oMath>
                </a14:m>
                <a:r>
                  <a:rPr lang="en-US" sz="2400" dirty="0"/>
                  <a:t> and decreasing along x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/>
                  <a:t>it has a limit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𝑐</m:t>
                    </m:r>
                    <m:r>
                      <a:rPr lang="en-US" sz="2400" i="1">
                        <a:latin typeface="Cambria Math" charset="0"/>
                      </a:rPr>
                      <m:t>≥0 </m:t>
                    </m:r>
                  </m:oMath>
                </a14:m>
                <a:r>
                  <a:rPr lang="en-US" sz="2400" dirty="0"/>
                  <a:t>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𝑡</m:t>
                    </m:r>
                    <m:r>
                      <a:rPr lang="en-US" sz="2400" i="1">
                        <a:latin typeface="Cambria Math" charset="0"/>
                      </a:rPr>
                      <m:t>→∞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It suffices to show that this limit is actually 0</a:t>
                </a:r>
              </a:p>
              <a:p>
                <a:r>
                  <a:rPr lang="en-US" sz="2400" dirty="0"/>
                  <a:t>Suppose not, c &gt; 0 then the solution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0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evolves in the </a:t>
                </a:r>
                <a:r>
                  <a:rPr lang="en-US" sz="2400" b="1" dirty="0"/>
                  <a:t>compact 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𝑆</m:t>
                    </m:r>
                    <m:r>
                      <a:rPr lang="en-US" sz="2400" i="1">
                        <a:latin typeface="Cambria Math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  <m:r>
                          <a:rPr lang="en-US" sz="2400" i="1">
                            <a:latin typeface="Cambria Math" charset="0"/>
                          </a:rPr>
                          <m:t> 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 </m:t>
                    </m:r>
                    <m:r>
                      <a:rPr lang="en-US" sz="2400" i="1">
                        <a:latin typeface="Cambria Math" charset="0"/>
                      </a:rPr>
                      <m:t>𝑟</m:t>
                    </m:r>
                    <m:r>
                      <a:rPr lang="en-US" sz="2400" i="1">
                        <a:latin typeface="Cambria Math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≤</m:t>
                    </m:r>
                    <m:r>
                      <a:rPr lang="en-US" sz="2400" i="1">
                        <a:latin typeface="Cambria Math" charset="0"/>
                      </a:rPr>
                      <m:t>𝜀</m:t>
                    </m:r>
                    <m:r>
                      <a:rPr lang="en-US" sz="2400" i="1">
                        <a:latin typeface="Cambria Math" charset="0"/>
                      </a:rPr>
                      <m:t>}</m:t>
                    </m:r>
                  </m:oMath>
                </a14:m>
                <a:r>
                  <a:rPr lang="en-US" sz="2400" dirty="0"/>
                  <a:t> for some sufficiently small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𝑟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𝑑</m:t>
                    </m:r>
                    <m:r>
                      <a:rPr lang="en-US" sz="2400" i="1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sz="2400" i="1">
                                <a:latin typeface="Cambria Math" charset="0"/>
                              </a:rPr>
                              <m:t>S</m:t>
                            </m:r>
                          </m:lim>
                        </m:limLow>
                      </m:fName>
                      <m:e>
                        <m:acc>
                          <m:accPr>
                            <m:chr m:val="̇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charset="0"/>
                              </a:rPr>
                              <m:t>𝑉</m:t>
                            </m:r>
                          </m:e>
                        </m:acc>
                        <m:r>
                          <a:rPr lang="en-US" sz="2400" i="1" dirty="0">
                            <a:latin typeface="Cambria Math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400" dirty="0"/>
                  <a:t> [smallest neg value, slowest rate]</a:t>
                </a:r>
              </a:p>
              <a:p>
                <a:r>
                  <a:rPr lang="en-US" sz="2400" dirty="0"/>
                  <a:t>This number is well-defined and negative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400" i="1" dirty="0">
                        <a:latin typeface="Cambria Math" charset="0"/>
                      </a:rPr>
                      <m:t>≤</m:t>
                    </m:r>
                    <m:r>
                      <a:rPr lang="en-US" sz="2400" i="1" dirty="0">
                        <a:latin typeface="Cambria Math" charset="0"/>
                      </a:rPr>
                      <m:t>𝑑</m:t>
                    </m:r>
                    <m:r>
                      <a:rPr lang="en-US" sz="2400" i="1" dirty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/>
                  <a:t>for all t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𝑉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≤</m:t>
                    </m:r>
                    <m:r>
                      <a:rPr lang="en-US" sz="2400" i="1">
                        <a:latin typeface="Cambria Math" charset="0"/>
                      </a:rPr>
                      <m:t>𝑉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0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+</m:t>
                    </m:r>
                    <m:r>
                      <a:rPr lang="en-US" sz="2400" i="1">
                        <a:latin typeface="Cambria Math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latin typeface="Cambria Math" charset="0"/>
                      </a:rPr>
                      <m:t>𝑡</m:t>
                    </m:r>
                    <m:r>
                      <a:rPr lang="en-US" sz="2400" i="1">
                        <a:latin typeface="Cambria Math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But then eventually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𝑉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&lt;</m:t>
                    </m:r>
                    <m:r>
                      <a:rPr lang="en-US" sz="2400" i="1">
                        <a:latin typeface="Cambria Math" charset="0"/>
                      </a:rPr>
                      <m:t>𝑐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2" y="990603"/>
                <a:ext cx="9296397" cy="6476997"/>
              </a:xfrm>
              <a:blipFill>
                <a:blip r:embed="rId3"/>
                <a:stretch>
                  <a:fillRect l="-956" t="-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9144000" y="3897920"/>
            <a:ext cx="2057400" cy="1981200"/>
          </a:xfrm>
          <a:prstGeom prst="ellipse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flipH="1">
                <a:off x="10896600" y="3636310"/>
                <a:ext cx="6096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charset="0"/>
                            </a:rPr>
                            <m:t>B</m:t>
                          </m:r>
                        </m:e>
                        <m:sub>
                          <m:r>
                            <a:rPr lang="en-US" sz="2800" i="1">
                              <a:latin typeface="Cambria Math" charset="0"/>
                            </a:rPr>
                            <m:t>𝜀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896600" y="3636310"/>
                <a:ext cx="6096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/>
          <p:cNvSpPr/>
          <p:nvPr/>
        </p:nvSpPr>
        <p:spPr>
          <a:xfrm>
            <a:off x="9990518" y="4699238"/>
            <a:ext cx="417195" cy="40174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 flipH="1">
                <a:off x="10172700" y="4988016"/>
                <a:ext cx="6096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charset="0"/>
                        </a:rPr>
                        <m:t>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172700" y="4988016"/>
                <a:ext cx="6096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10172700" y="3516920"/>
            <a:ext cx="0" cy="274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8724900" y="4888520"/>
            <a:ext cx="2895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58D0E75-3F0B-2A45-8AE0-2C6307693A23}"/>
                  </a:ext>
                </a:extLst>
              </p:cNvPr>
              <p:cNvSpPr/>
              <p:nvPr/>
            </p:nvSpPr>
            <p:spPr>
              <a:xfrm flipH="1">
                <a:off x="9437115" y="5226948"/>
                <a:ext cx="6096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58D0E75-3F0B-2A45-8AE0-2C6307693A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437115" y="5226948"/>
                <a:ext cx="60960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71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3" grpId="0" animBg="1"/>
      <p:bldP spid="14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B80A1-85F3-9A0A-80E0-774C0266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Pendulum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E9682F-C6A8-1939-C4DD-F976B110BB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effectLst/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dirty="0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effectLst/>
                        <a:latin typeface="Cambria Math" panose="02040503050406030204" pitchFamily="18" charset="0"/>
                      </a:rPr>
                      <m:t>​​=−</m:t>
                    </m:r>
                    <m:r>
                      <m:rPr>
                        <m:sty m:val="p"/>
                      </m:rPr>
                      <a:rPr lang="en-US" i="1" dirty="0" err="1" smtClean="0">
                        <a:effectLst/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dirty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i="1" dirty="0" err="1" smtClean="0">
                        <a:effectLst/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i="1" dirty="0" smtClean="0">
                        <a:effectLst/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effectLst/>
                        <a:latin typeface="Cambria Math" panose="02040503050406030204" pitchFamily="18" charset="0"/>
                      </a:rPr>
                      <m:t>​)−</m:t>
                    </m:r>
                    <m:r>
                      <a:rPr lang="en-US" i="1" dirty="0" smtClean="0">
                        <a:effectLst/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effectLst/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r>
                  <a:rPr lang="en-US" dirty="0"/>
                  <a:t> 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dirty="0"/>
                  <a:t> equilibrium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(0,0)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Consider the Lyapunov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𝑚𝑔𝐿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Observe that this is positive definite</a:t>
                </a:r>
              </a:p>
              <a:p>
                <a:pPr lvl="1"/>
                <a:r>
                  <a:rPr lang="en-US" b="0" dirty="0"/>
                  <a:t>Continuously differentiable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=∑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𝑚𝑔𝐿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func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	</a:t>
                </a:r>
                <a:r>
                  <a:rPr lang="en-US" b="1" dirty="0"/>
                  <a:t>Stable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only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The largest invariant subset of this set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LaSalle’s invariance principle enables us to conclude </a:t>
                </a:r>
                <a:r>
                  <a:rPr lang="en-US" b="1" dirty="0"/>
                  <a:t>Asymptotic Stability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E9682F-C6A8-1939-C4DD-F976B110BB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  <a:blipFill>
                <a:blip r:embed="rId2"/>
                <a:stretch>
                  <a:fillRect l="-1040" t="-1018" b="-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2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12192000" cy="1143000"/>
          </a:xfrm>
        </p:spPr>
        <p:txBody>
          <a:bodyPr>
            <a:noAutofit/>
          </a:bodyPr>
          <a:lstStyle/>
          <a:p>
            <a:r>
              <a:rPr lang="en-US" sz="3200" dirty="0"/>
              <a:t>Example 2: Reasoning about stability without solving 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14400" y="1295400"/>
                <a:ext cx="9220200" cy="55626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r>
                        <a:rPr lang="en-US" b="0" i="1" smtClean="0">
                          <a:latin typeface="Cambria Math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r>
                        <a:rPr lang="en-US" b="0" i="1" smtClean="0">
                          <a:latin typeface="Cambria Math" charset="0"/>
                        </a:rPr>
                        <m:t>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0" dirty="0"/>
                  <a:t>Given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h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𝑉</m:t>
                    </m:r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</a:rPr>
                          <m:t>𝑉</m:t>
                        </m:r>
                      </m:e>
                    </m:acc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	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charset="0"/>
                          </a:rPr>
                          <m:t>−</m:t>
                        </m:r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charset="0"/>
                          </a:rPr>
                          <m:t>−</m:t>
                        </m:r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≤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charset="0"/>
                          </a:rPr>
                          <m:t>−</m:t>
                        </m:r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charset="0"/>
                          </a:rPr>
                          <m:t>−</m:t>
                        </m:r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|</m:t>
                        </m:r>
                        <m:r>
                          <a:rPr lang="en-US" i="1">
                            <a:latin typeface="Cambria Math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|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≤−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charset="0"/>
                          </a:rPr>
                          <m:t>(</m:t>
                        </m:r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charset="0"/>
                      </a:rPr>
                      <m:t>)=−</m:t>
                    </m:r>
                    <m:r>
                      <a:rPr lang="en-US" b="0" i="1" smtClean="0">
                        <a:latin typeface="Cambria Math" charset="0"/>
                      </a:rPr>
                      <m:t>𝑉</m:t>
                    </m:r>
                  </m:oMath>
                </a14:m>
                <a:r>
                  <a:rPr lang="en-US" b="0" i="1" dirty="0">
                    <a:latin typeface="Cambria Math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We conclude global asymptotic stability (in fact global exponential stability) without knowing solutions</a:t>
                </a:r>
                <a:endParaRPr lang="en-US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295400"/>
                <a:ext cx="9220200" cy="5562600"/>
              </a:xfrm>
              <a:blipFill>
                <a:blip r:embed="rId2"/>
                <a:stretch>
                  <a:fillRect l="-1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220200" y="4373562"/>
                <a:ext cx="2514600" cy="22098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tlCol="0" anchor="ctr"/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chemeClr val="tx1"/>
                          </a:solidFill>
                          <a:latin typeface="Cambria Math" charset="0"/>
                        </a:rPr>
                        <m:t>≥0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charset="0"/>
                        </a:rPr>
                        <m:t>≥2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charset="0"/>
                        </a:rPr>
                        <m:t>(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0200" y="4373562"/>
                <a:ext cx="2514600" cy="2209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B824440-25EA-264F-B6C2-BE9D87F50D25}"/>
                  </a:ext>
                </a:extLst>
              </p:cNvPr>
              <p:cNvSpPr/>
              <p:nvPr/>
            </p:nvSpPr>
            <p:spPr>
              <a:xfrm>
                <a:off x="8534400" y="1266093"/>
                <a:ext cx="2857500" cy="100232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tlCol="0" anchor="ctr"/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B824440-25EA-264F-B6C2-BE9D87F50D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400" y="1266093"/>
                <a:ext cx="2857500" cy="10023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1AD2EC3-D669-EC44-BFC0-186720904BF7}"/>
                  </a:ext>
                </a:extLst>
              </p:cNvPr>
              <p:cNvSpPr/>
              <p:nvPr/>
            </p:nvSpPr>
            <p:spPr>
              <a:xfrm>
                <a:off x="8551985" y="2525468"/>
                <a:ext cx="2857500" cy="100232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tlCol="0" anchor="ctr"/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1AD2EC3-D669-EC44-BFC0-186720904B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985" y="2525468"/>
                <a:ext cx="2857500" cy="10023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CFC67FC7-A63B-B146-8FD6-4B9F58BBA36A}"/>
              </a:ext>
            </a:extLst>
          </p:cNvPr>
          <p:cNvCxnSpPr>
            <a:stCxn id="6" idx="1"/>
            <a:endCxn id="5" idx="1"/>
          </p:cNvCxnSpPr>
          <p:nvPr/>
        </p:nvCxnSpPr>
        <p:spPr>
          <a:xfrm rot="10800000">
            <a:off x="8534401" y="1767256"/>
            <a:ext cx="17585" cy="1259375"/>
          </a:xfrm>
          <a:prstGeom prst="bentConnector3">
            <a:avLst>
              <a:gd name="adj1" fmla="val 139997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BBED517F-F2F4-A349-B852-DDD1C7B470B0}"/>
              </a:ext>
            </a:extLst>
          </p:cNvPr>
          <p:cNvCxnSpPr>
            <a:cxnSpLocks/>
            <a:stCxn id="5" idx="3"/>
            <a:endCxn id="6" idx="3"/>
          </p:cNvCxnSpPr>
          <p:nvPr/>
        </p:nvCxnSpPr>
        <p:spPr>
          <a:xfrm>
            <a:off x="11391900" y="1767255"/>
            <a:ext cx="17585" cy="1259375"/>
          </a:xfrm>
          <a:prstGeom prst="bentConnector3">
            <a:avLst>
              <a:gd name="adj1" fmla="val 139997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61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Verifying Stability for Linear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Consider the linear 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charset="0"/>
                      </a:rPr>
                      <m:t>=</m:t>
                    </m:r>
                    <m:r>
                      <a:rPr lang="en-US" b="0" i="1" dirty="0" smtClean="0">
                        <a:latin typeface="Cambria Math" charset="0"/>
                      </a:rPr>
                      <m:t>𝐴𝑥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1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/>
                  <a:t>Theorem.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1. It is asymptotically stable </a:t>
                </a:r>
                <a:r>
                  <a:rPr lang="en-US" dirty="0" err="1"/>
                  <a:t>iff</a:t>
                </a:r>
                <a:r>
                  <a:rPr lang="en-US" dirty="0"/>
                  <a:t> all the eigenvalues of </a:t>
                </a:r>
                <a:r>
                  <a:rPr lang="en-US" i="1" dirty="0"/>
                  <a:t>A </a:t>
                </a:r>
                <a:r>
                  <a:rPr lang="en-US" dirty="0"/>
                  <a:t>have </a:t>
                </a:r>
                <a:r>
                  <a:rPr lang="en-US" b="1" dirty="0"/>
                  <a:t>strictly</a:t>
                </a:r>
                <a:r>
                  <a:rPr lang="en-US" dirty="0"/>
                  <a:t> negative real parts (</a:t>
                </a:r>
                <a:r>
                  <a:rPr lang="en-US" i="1" dirty="0"/>
                  <a:t>Hurwitz</a:t>
                </a:r>
                <a:r>
                  <a:rPr lang="en-US" dirty="0"/>
                  <a:t>).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2. It is Lyapunov stable </a:t>
                </a:r>
                <a:r>
                  <a:rPr lang="en-US" dirty="0" err="1"/>
                  <a:t>iff</a:t>
                </a:r>
                <a:r>
                  <a:rPr lang="en-US" dirty="0"/>
                  <a:t> all the eigenvalues of </a:t>
                </a:r>
                <a:r>
                  <a:rPr lang="en-US" i="1" dirty="0"/>
                  <a:t>A </a:t>
                </a:r>
                <a:r>
                  <a:rPr lang="en-US" dirty="0"/>
                  <a:t>have real parts that are either zero or negative and the </a:t>
                </a:r>
                <a:r>
                  <a:rPr lang="en-US" i="1" dirty="0"/>
                  <a:t>Jordan blocks </a:t>
                </a:r>
                <a:r>
                  <a:rPr lang="en-US" dirty="0"/>
                  <a:t>corresponding to the eigenvalues with zero real parts are of size 1.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7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191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C6D5C-417C-B845-B3FA-E46268900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Jordan decomposition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3E1402-22A4-CA4C-9ABE-3ECB4997E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1900"/>
            <a:ext cx="5561556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5F8229-59D2-B543-9C3B-0574D8623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50" y="2590800"/>
            <a:ext cx="4248150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A4C10E-6549-A54C-AD01-B652FC4058E1}"/>
              </a:ext>
            </a:extLst>
          </p:cNvPr>
          <p:cNvSpPr txBox="1"/>
          <p:nvPr/>
        </p:nvSpPr>
        <p:spPr>
          <a:xfrm>
            <a:off x="853553" y="1667470"/>
            <a:ext cx="998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every </a:t>
            </a:r>
            <a:r>
              <a:rPr lang="en-US" i="1" dirty="0"/>
              <a:t>n x n</a:t>
            </a:r>
            <a:r>
              <a:rPr lang="en-US" dirty="0"/>
              <a:t> matrix </a:t>
            </a:r>
            <a:r>
              <a:rPr lang="en-US" i="1" dirty="0"/>
              <a:t>A</a:t>
            </a:r>
            <a:r>
              <a:rPr lang="en-US" dirty="0"/>
              <a:t>, there exists a nonsingular </a:t>
            </a:r>
            <a:r>
              <a:rPr lang="en-US" i="1" dirty="0"/>
              <a:t>n x n </a:t>
            </a:r>
            <a:r>
              <a:rPr lang="en-US" dirty="0"/>
              <a:t>matrix </a:t>
            </a:r>
            <a:r>
              <a:rPr lang="en-US" i="1" dirty="0"/>
              <a:t>P</a:t>
            </a:r>
            <a:r>
              <a:rPr lang="en-US" dirty="0"/>
              <a:t> such that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5AF864-5417-444F-B977-C1DF6468EBC2}"/>
                  </a:ext>
                </a:extLst>
              </p:cNvPr>
              <p:cNvSpPr txBox="1"/>
              <p:nvPr/>
            </p:nvSpPr>
            <p:spPr>
              <a:xfrm>
                <a:off x="5561937" y="5518666"/>
                <a:ext cx="60753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 upper triangular matrix called a Jordan block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5AF864-5417-444F-B977-C1DF6468E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937" y="5518666"/>
                <a:ext cx="6075317" cy="369332"/>
              </a:xfrm>
              <a:prstGeom prst="rect">
                <a:avLst/>
              </a:prstGeom>
              <a:blipFill>
                <a:blip r:embed="rId4"/>
                <a:stretch>
                  <a:fillRect l="-835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396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Example 1: Simple model of an economy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dirty="0"/>
                  <a:t>: national income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𝑦</m:t>
                    </m:r>
                    <m:r>
                      <a:rPr lang="en-US" b="0" i="1" smtClean="0">
                        <a:latin typeface="Cambria Math" charset="0"/>
                      </a:rPr>
                      <m:t>:</m:t>
                    </m:r>
                  </m:oMath>
                </a14:m>
                <a:r>
                  <a:rPr lang="en-US" dirty="0"/>
                  <a:t> rate of consumer spending;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𝑔</m:t>
                    </m:r>
                  </m:oMath>
                </a14:m>
                <a:r>
                  <a:rPr lang="en-US" dirty="0"/>
                  <a:t>: rate government expenditure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charset="0"/>
                      </a:rPr>
                      <m:t>=</m:t>
                    </m:r>
                    <m:r>
                      <a:rPr lang="en-US" b="0" i="1" dirty="0" smtClean="0">
                        <a:latin typeface="Cambria Math" charset="0"/>
                      </a:rPr>
                      <m:t>𝑥</m:t>
                    </m:r>
                    <m:r>
                      <a:rPr lang="en-US" b="0" i="1" dirty="0" smtClean="0">
                        <a:latin typeface="Cambria Math" charset="0"/>
                      </a:rPr>
                      <m:t> −</m:t>
                    </m:r>
                    <m:r>
                      <a:rPr lang="en-US" b="0" i="1" dirty="0" smtClean="0">
                        <a:latin typeface="Cambria Math" charset="0"/>
                      </a:rPr>
                      <m:t>𝛼</m:t>
                    </m:r>
                    <m:r>
                      <a:rPr lang="en-US" b="0" i="1" dirty="0" smtClean="0">
                        <a:latin typeface="Cambria Math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charset="0"/>
                      </a:rPr>
                      <m:t>=</m:t>
                    </m:r>
                    <m:r>
                      <a:rPr lang="en-US" b="0" i="1" dirty="0" smtClean="0">
                        <a:latin typeface="Cambria Math" charset="0"/>
                      </a:rPr>
                      <m:t>𝛽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𝑔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𝑔</m:t>
                    </m:r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latin typeface="Cambria Math" charset="0"/>
                      </a:rPr>
                      <m:t>𝑘𝑥</m:t>
                    </m:r>
                  </m:oMath>
                </a14:m>
                <a:r>
                  <a:rPr lang="en-US" dirty="0"/>
                  <a:t> 	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charset="0"/>
                      </a:rPr>
                      <m:t>𝛼</m:t>
                    </m:r>
                    <m:r>
                      <a:rPr lang="en-US" b="0" i="1" dirty="0" smtClean="0">
                        <a:latin typeface="Cambria Math" charset="0"/>
                      </a:rPr>
                      <m:t>, </m:t>
                    </m:r>
                    <m:r>
                      <a:rPr lang="en-US" b="0" i="1" dirty="0" smtClean="0">
                        <a:latin typeface="Cambria Math" charset="0"/>
                      </a:rPr>
                      <m:t>𝛽</m:t>
                    </m:r>
                    <m:r>
                      <a:rPr lang="en-US" b="0" i="1" dirty="0" smtClean="0">
                        <a:latin typeface="Cambria Math" charset="0"/>
                      </a:rPr>
                      <m:t>, </m:t>
                    </m:r>
                    <m:r>
                      <a:rPr lang="en-US" b="0" i="1" dirty="0" smtClean="0">
                        <a:latin typeface="Cambria Math" charset="0"/>
                      </a:rPr>
                      <m:t>𝑘</m:t>
                    </m:r>
                  </m:oMath>
                </a14:m>
                <a:r>
                  <a:rPr lang="en-US" dirty="0"/>
                  <a:t> are positive constants</a:t>
                </a:r>
              </a:p>
              <a:p>
                <a:r>
                  <a:rPr lang="en-US" dirty="0"/>
                  <a:t>What is the equilibrium?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𝛼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−1−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𝛼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charset="0"/>
                          </a:rPr>
                          <m:t>𝛼</m:t>
                        </m:r>
                      </m:num>
                      <m:den>
                        <m:r>
                          <a:rPr lang="en-US" i="1">
                            <a:latin typeface="Cambria Math" charset="0"/>
                          </a:rPr>
                          <m:t>𝛼</m:t>
                        </m:r>
                        <m:r>
                          <a:rPr lang="en-US" i="1">
                            <a:latin typeface="Cambria Math" charset="0"/>
                          </a:rPr>
                          <m:t>−1−</m:t>
                        </m:r>
                        <m:r>
                          <a:rPr lang="en-US" i="1">
                            <a:latin typeface="Cambria Math" charset="0"/>
                          </a:rPr>
                          <m:t>𝑘</m:t>
                        </m:r>
                        <m:r>
                          <a:rPr lang="en-US" i="1">
                            <a:latin typeface="Cambria Math" charset="0"/>
                          </a:rPr>
                          <m:t>𝛼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Dynamics: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mr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𝛼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(1−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charset="0"/>
                                </a:rPr>
                                <m:t>𝛽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mr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59" t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581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1447800"/>
            <a:ext cx="4876800" cy="52995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10643"/>
            <a:ext cx="10439400" cy="167660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Example: Simple linear model of an economy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828801"/>
                <a:ext cx="6019801" cy="53340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</a:rPr>
                      <m:t>𝛼</m:t>
                    </m:r>
                    <m:r>
                      <a:rPr lang="en-US" i="1" dirty="0">
                        <a:latin typeface="Cambria Math" charset="0"/>
                      </a:rPr>
                      <m:t>=3, </m:t>
                    </m:r>
                    <m:r>
                      <a:rPr lang="en-US" i="1" dirty="0">
                        <a:latin typeface="Cambria Math" charset="0"/>
                      </a:rPr>
                      <m:t>𝛽</m:t>
                    </m:r>
                    <m:r>
                      <a:rPr lang="en-US" i="1" dirty="0">
                        <a:latin typeface="Cambria Math" charset="0"/>
                      </a:rPr>
                      <m:t>=1, </m:t>
                    </m:r>
                    <m:r>
                      <a:rPr lang="en-US" i="1" dirty="0">
                        <a:latin typeface="Cambria Math" charset="0"/>
                      </a:rPr>
                      <m:t>𝑘</m:t>
                    </m:r>
                    <m:r>
                      <a:rPr lang="en-US" i="1" dirty="0">
                        <a:latin typeface="Cambria Math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>
                  <a:lnSpc>
                    <a:spcPct val="90000"/>
                  </a:lnSpc>
                </a:pPr>
                <a:endParaRPr lang="en-US" i="1" dirty="0">
                  <a:latin typeface="Cambria Math" charset="0"/>
                </a:endParaRP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charset="0"/>
                      </a:rPr>
                      <m:t>=(−.25±</m:t>
                    </m:r>
                    <m:r>
                      <a:rPr lang="en-US" i="1">
                        <a:latin typeface="Cambria Math" charset="0"/>
                      </a:rPr>
                      <m:t>𝑖</m:t>
                    </m:r>
                    <m:r>
                      <a:rPr lang="en-US" i="1">
                        <a:latin typeface="Cambria Math" charset="0"/>
                      </a:rPr>
                      <m:t> 1.714)</m:t>
                    </m:r>
                  </m:oMath>
                </a14:m>
                <a:endParaRPr lang="en-US" dirty="0"/>
              </a:p>
              <a:p>
                <a:pPr>
                  <a:lnSpc>
                    <a:spcPct val="90000"/>
                  </a:lnSpc>
                </a:pPr>
                <a:endParaRPr lang="en-US" dirty="0"/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Negative real parts, therefore, asymptotically stable and the national income and consumer spending rate converge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𝑥</m:t>
                    </m:r>
                    <m:r>
                      <a:rPr lang="en-US" i="1">
                        <a:latin typeface="Cambria Math" charset="0"/>
                      </a:rPr>
                      <m:t>=1.764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</a:rPr>
                      <m:t>𝑦</m:t>
                    </m:r>
                    <m:r>
                      <a:rPr lang="en-US" i="1" dirty="0">
                        <a:latin typeface="Cambria Math" charset="0"/>
                      </a:rPr>
                      <m:t>=5.294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828801"/>
                <a:ext cx="6019801" cy="5334000"/>
              </a:xfrm>
              <a:blipFill>
                <a:blip r:embed="rId3"/>
                <a:stretch>
                  <a:fillRect l="-2105" t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887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Bef>
                    <a:spcPts val="0"/>
                  </a:spcBef>
                  <a:buNone/>
                  <a:defRPr/>
                </a:pPr>
                <a:r>
                  <a:rPr lang="en-US" b="1" dirty="0"/>
                  <a:t>Proposition.</a:t>
                </a:r>
                <a:r>
                  <a:rPr lang="en-US" dirty="0"/>
                  <a:t> If V is a Lyapunov function then every sublevel set of V is an invariant</a:t>
                </a:r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Proof. </a:t>
                </a:r>
                <a14:m>
                  <m:oMath xmlns:m="http://schemas.openxmlformats.org/officeDocument/2006/math">
                    <m:r>
                      <a:rPr lang="mr-IN" i="1" dirty="0" smtClean="0">
                        <a:latin typeface="Cambria Math" charset="0"/>
                      </a:rPr>
                      <m:t>𝑉</m:t>
                    </m:r>
                    <m:d>
                      <m:dPr>
                        <m:ctrlPr>
                          <a:rPr lang="mr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mr-I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mr-IN" i="1" dirty="0" err="1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mr-IN" i="1" dirty="0">
                        <a:latin typeface="Cambria Math" charset="0"/>
                      </a:rPr>
                      <m:t>= </m:t>
                    </m:r>
                  </m:oMath>
                </a14:m>
                <a:endParaRPr lang="en-US" i="1" dirty="0">
                  <a:latin typeface="Cambria Math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b="0" dirty="0"/>
                  <a:t>		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charset="0"/>
                      </a:rPr>
                      <m:t>=</m:t>
                    </m:r>
                    <m:r>
                      <a:rPr lang="mr-IN" i="1" dirty="0">
                        <a:latin typeface="Cambria Math" charset="0"/>
                      </a:rPr>
                      <m:t>𝑉</m:t>
                    </m:r>
                    <m:d>
                      <m:dPr>
                        <m:ctrlPr>
                          <a:rPr lang="mr-I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mr-I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mr-IN" i="1" dirty="0">
                                <a:latin typeface="Cambria Math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latin typeface="Cambria Math" charset="0"/>
                      </a:rPr>
                      <m:t>+</m:t>
                    </m:r>
                    <m:nary>
                      <m:nary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en-US" b="0" i="1" dirty="0" smtClean="0">
                            <a:latin typeface="Cambria Math" charset="0"/>
                          </a:rPr>
                          <m:t>𝑡</m:t>
                        </m:r>
                      </m:sup>
                      <m:e>
                        <m:acc>
                          <m:accPr>
                            <m:chr m:val="̇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charset="0"/>
                              </a:rPr>
                              <m:t>𝑉</m:t>
                            </m:r>
                          </m:e>
                        </m:acc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charset="0"/>
                                  </a:rPr>
                                  <m:t>𝜏</m:t>
                                </m:r>
                              </m:e>
                            </m:d>
                          </m:e>
                        </m:d>
                        <m:r>
                          <a:rPr lang="en-US" b="0" i="1" dirty="0" smtClean="0">
                            <a:latin typeface="Cambria Math" charset="0"/>
                          </a:rPr>
                          <m:t>𝑑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𝜏</m:t>
                        </m:r>
                      </m:e>
                    </m:nary>
                  </m:oMath>
                </a14:m>
                <a:endParaRPr lang="en-US" b="0" i="1" dirty="0">
                  <a:latin typeface="Cambria Math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b="0" dirty="0"/>
                  <a:t>		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charset="0"/>
                      </a:rPr>
                      <m:t>≤</m:t>
                    </m:r>
                    <m:r>
                      <a:rPr lang="mr-IN" i="1" dirty="0">
                        <a:latin typeface="Cambria Math" charset="0"/>
                      </a:rPr>
                      <m:t>𝑉</m:t>
                    </m:r>
                    <m:r>
                      <a:rPr lang="mr-IN" i="1" dirty="0">
                        <a:latin typeface="Cambria Math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mr-IN" i="1" dirty="0">
                        <a:latin typeface="Cambria Math" charset="0"/>
                      </a:rPr>
                      <m:t>(0))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7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855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aside: Checking inductive invariants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charset="0"/>
                      </a:rPr>
                      <m:t>𝑨</m:t>
                    </m:r>
                    <m:r>
                      <a:rPr lang="en-US" b="1" i="1" smtClean="0">
                        <a:latin typeface="Cambria Math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𝑇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𝑋</m:t>
                    </m:r>
                    <m:r>
                      <a:rPr lang="en-US" b="0" i="1" smtClean="0">
                        <a:latin typeface="Cambria Math" charset="0"/>
                      </a:rPr>
                      <m:t>: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set of variables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⊆</m:t>
                    </m:r>
                    <m:r>
                      <a:rPr lang="en-US" b="0" i="1" smtClean="0">
                        <a:latin typeface="Cambria Math" charset="0"/>
                      </a:rPr>
                      <m:t>𝑣𝑎𝑙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𝑋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𝑇</m:t>
                    </m:r>
                    <m:r>
                      <a:rPr lang="en-US" b="0" i="1" smtClean="0">
                        <a:latin typeface="Cambria Math" charset="0"/>
                      </a:rPr>
                      <m:t>⊆</m:t>
                    </m:r>
                    <m:r>
                      <a:rPr lang="en-US" b="0" i="1" smtClean="0">
                        <a:latin typeface="Cambria Math" charset="0"/>
                      </a:rPr>
                      <m:t>𝑣𝑎𝑙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×</m:t>
                    </m:r>
                    <m:r>
                      <a:rPr lang="en-US" b="0" i="1" smtClean="0">
                        <a:latin typeface="Cambria Math" charset="0"/>
                      </a:rPr>
                      <m:t>𝑣𝑎𝑙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written as a program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</a:rPr>
                      <m:t>′⊆</m:t>
                    </m:r>
                    <m:r>
                      <a:rPr lang="en-US" b="0" i="1" smtClean="0">
                        <a:latin typeface="Cambria Math" charset="0"/>
                      </a:rPr>
                      <m:t>𝑇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How do we check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𝐼</m:t>
                    </m:r>
                    <m:r>
                      <a:rPr lang="en-US" b="0" i="1" smtClean="0">
                        <a:latin typeface="Cambria Math" charset="0"/>
                      </a:rPr>
                      <m:t>⊆</m:t>
                    </m:r>
                    <m:r>
                      <a:rPr lang="en-US" b="0" i="1" smtClean="0">
                        <a:latin typeface="Cambria Math" charset="0"/>
                      </a:rPr>
                      <m:t>𝑣𝑎𝑙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</a:rPr>
                      <m:t>𝑋</m:t>
                    </m:r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is an inductive invariant?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⇒</m:t>
                    </m:r>
                    <m:r>
                      <a:rPr lang="en-US" b="0" i="1" smtClean="0">
                        <a:latin typeface="Cambria Math" charset="0"/>
                      </a:rPr>
                      <m:t>𝐼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</a:rPr>
                      <m:t>𝑋</m:t>
                    </m:r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⇒</m:t>
                    </m:r>
                    <m:r>
                      <a:rPr lang="en-US" b="0" i="1" smtClean="0">
                        <a:latin typeface="Cambria Math" charset="0"/>
                      </a:rPr>
                      <m:t>𝐼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Implies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𝑅𝑒𝑎𝑐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h</m:t>
                        </m:r>
                      </m:e>
                      <m:sub>
                        <m:r>
                          <a:rPr lang="en-US" b="1" i="1" smtClean="0">
                            <a:latin typeface="Cambria Math" charset="0"/>
                          </a:rPr>
                          <m:t>𝑨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⊆</m:t>
                    </m:r>
                    <m:r>
                      <a:rPr lang="en-US" b="0" i="1" smtClean="0">
                        <a:latin typeface="Cambria Math" charset="0"/>
                      </a:rPr>
                      <m:t>𝐼</m:t>
                    </m:r>
                    <m:r>
                      <a:rPr lang="en-US" b="0" i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/>
                  <a:t>without computing the executions or reachable states of </a:t>
                </a:r>
                <a:r>
                  <a:rPr lang="en-US" b="1" i="1" dirty="0"/>
                  <a:t>A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key is to find such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𝐼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37" r="-741" b="-2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30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</a:t>
            </a:r>
            <a:r>
              <a:rPr lang="en-US" dirty="0" err="1"/>
              <a:t>Lyapunov</a:t>
            </a:r>
            <a:r>
              <a:rPr lang="en-US" dirty="0"/>
              <a:t>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744200" cy="48768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dirty="0"/>
                  <a:t>The key to using </a:t>
                </a:r>
                <a:r>
                  <a:rPr lang="en-US" dirty="0" err="1"/>
                  <a:t>Lyapunov</a:t>
                </a:r>
                <a:r>
                  <a:rPr lang="en-US" dirty="0"/>
                  <a:t> theory is to </a:t>
                </a:r>
                <a:r>
                  <a:rPr lang="en-US" i="1" dirty="0"/>
                  <a:t>find </a:t>
                </a:r>
                <a:r>
                  <a:rPr lang="en-US" dirty="0"/>
                  <a:t>a </a:t>
                </a:r>
                <a:r>
                  <a:rPr lang="en-US" dirty="0" err="1"/>
                  <a:t>Lyapunov</a:t>
                </a:r>
                <a:r>
                  <a:rPr lang="en-US" dirty="0"/>
                  <a:t> function and verify that it has the properties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In general, for nonlinear systems this is hard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There are several approaches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dirty="0"/>
                  <a:t>Quadratic Lyapunov functions for linear systems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dirty="0"/>
                  <a:t>Decide the form/template of the function (e.g., quadratic, polynomial), parameterized by some parameters and find values of the parameters so that the conditions hold (Chapter 3 last section)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can be represented by a neural network; compute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using symbolic or automatic differentiation tools, and check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&lt;0, 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𝐷</m:t>
                    </m:r>
                  </m:oMath>
                </a14:m>
                <a:r>
                  <a:rPr lang="en-US" dirty="0"/>
                  <a:t> for some bounded domain D</a:t>
                </a:r>
              </a:p>
              <a:p>
                <a:pPr lvl="1">
                  <a:lnSpc>
                    <a:spcPct val="110000"/>
                  </a:lnSpc>
                </a:pPr>
                <a:endParaRPr lang="en-US" dirty="0"/>
              </a:p>
              <a:p>
                <a:pPr lvl="1"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744200" cy="4876800"/>
              </a:xfrm>
              <a:blipFill>
                <a:blip r:embed="rId2"/>
                <a:stretch>
                  <a:fillRect l="-1299" t="-2597" r="-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00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autonomous systems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19200" y="1600200"/>
                <a:ext cx="9829800" cy="4953000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charset="0"/>
                      </a:rPr>
                      <m:t>=</m:t>
                    </m:r>
                    <m:r>
                      <a:rPr lang="en-US" i="1">
                        <a:latin typeface="Cambria Math" charset="0"/>
                      </a:rPr>
                      <m:t>𝐴𝑥</m:t>
                    </m:r>
                    <m:r>
                      <a:rPr lang="en-US" b="0" i="1" smtClean="0">
                        <a:latin typeface="Cambria Math" charset="0"/>
                      </a:rPr>
                      <m:t>, </m:t>
                    </m:r>
                    <m:r>
                      <a:rPr lang="en-US" b="0" i="1" smtClean="0">
                        <a:latin typeface="Cambria Math" charset="0"/>
                      </a:rPr>
                      <m:t>𝐴</m:t>
                    </m:r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The </a:t>
                </a:r>
                <a:r>
                  <a:rPr lang="en-US" dirty="0" err="1"/>
                  <a:t>Lyapunov</a:t>
                </a:r>
                <a:r>
                  <a:rPr lang="en-US" dirty="0"/>
                  <a:t> equation: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𝑃</m:t>
                    </m:r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latin typeface="Cambria Math" charset="0"/>
                      </a:rPr>
                      <m:t>𝑃𝐴</m:t>
                    </m:r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latin typeface="Cambria Math" charset="0"/>
                      </a:rPr>
                      <m:t>𝑄</m:t>
                    </m:r>
                    <m:r>
                      <a:rPr lang="en-US" b="0" i="1" smtClean="0">
                        <a:latin typeface="Cambria Math" charset="0"/>
                      </a:rPr>
                      <m:t>=0</m:t>
                    </m:r>
                    <m:r>
                      <a:rPr lang="en-US" b="0" i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	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𝑃</m:t>
                    </m:r>
                    <m:r>
                      <a:rPr lang="en-US" b="0" i="1" smtClean="0">
                        <a:latin typeface="Cambria Math" charset="0"/>
                      </a:rPr>
                      <m:t>,</m:t>
                    </m:r>
                    <m:r>
                      <a:rPr lang="en-US" b="0" i="1" smtClean="0">
                        <a:latin typeface="Cambria Math" charset="0"/>
                      </a:rPr>
                      <m:t>𝑄</m:t>
                    </m:r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</m:t>
                        </m:r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are symmetric</a:t>
                </a:r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Interpretation: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𝑃𝑥</m:t>
                    </m:r>
                  </m:oMath>
                </a14:m>
                <a:r>
                  <a:rPr lang="en-US" dirty="0"/>
                  <a:t> then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0" dirty="0">
                    <a:ea typeface="Cambria Math" charset="0"/>
                    <a:cs typeface="Cambria Math" charset="0"/>
                  </a:rPr>
                  <a:t>	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𝐴𝑥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𝑃𝑥</m:t>
                    </m:r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𝑃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</a:rPr>
                      <m:t>𝐴𝑥</m:t>
                    </m:r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		[using chain rule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charset="0"/>
                          </a:rPr>
                          <m:t>𝑃𝑣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𝑢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charset="0"/>
                      </a:rPr>
                      <m:t>𝑃𝑣</m:t>
                    </m:r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𝑣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𝑢</m:t>
                    </m:r>
                    <m:r>
                      <a:rPr lang="en-US" b="0" i="1" smtClean="0">
                        <a:latin typeface="Cambria Math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			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𝑃𝐴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</a:rPr>
                      <m:t>=−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𝑄𝑥</m:t>
                    </m:r>
                  </m:oMath>
                </a14:m>
                <a:endParaRPr lang="en-US" b="0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𝑃𝑥</m:t>
                    </m:r>
                  </m:oMath>
                </a14:m>
                <a:r>
                  <a:rPr lang="en-US" dirty="0"/>
                  <a:t> is the generalized energy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charset="0"/>
                      </a:rPr>
                      <m:t>𝑄𝑥</m:t>
                    </m:r>
                  </m:oMath>
                </a14:m>
                <a:r>
                  <a:rPr lang="en-US" dirty="0"/>
                  <a:t> is the associated dissipation</a:t>
                </a:r>
              </a:p>
              <a:p>
                <a:r>
                  <a:rPr lang="en-US" dirty="0"/>
                  <a:t>Choose Q (often an identity matrix) and find P by solving Linear Matrix Inequality(LMI)  feasibility problem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9200" y="1600200"/>
                <a:ext cx="9829800" cy="4953000"/>
              </a:xfrm>
              <a:blipFill>
                <a:blip r:embed="rId2"/>
                <a:stretch>
                  <a:fillRect l="-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8821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</a:t>
            </a:r>
            <a:r>
              <a:rPr lang="en-US" dirty="0" err="1"/>
              <a:t>Lyapunov</a:t>
            </a:r>
            <a:r>
              <a:rPr lang="en-US" dirty="0"/>
              <a:t>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+mj-lt"/>
                    <a:ea typeface="Cambria Math" charset="0"/>
                    <a:cs typeface="Cambria Math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𝑃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&gt;0</m:t>
                    </m:r>
                  </m:oMath>
                </a14:m>
                <a:r>
                  <a:rPr lang="en-US" dirty="0">
                    <a:latin typeface="+mj-lt"/>
                    <a:ea typeface="Cambria Math" charset="0"/>
                    <a:cs typeface="Cambria Math" charset="0"/>
                  </a:rPr>
                  <a:t> (positive definite)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𝑃𝑥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=0⇔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=0</m:t>
                    </m:r>
                  </m:oMath>
                </a14:m>
                <a:endParaRPr lang="en-US" b="0" dirty="0">
                  <a:ea typeface="Cambria Math" charset="0"/>
                  <a:cs typeface="Cambria Math" charset="0"/>
                </a:endParaRPr>
              </a:p>
              <a:p>
                <a:r>
                  <a:rPr lang="en-US" dirty="0"/>
                  <a:t>The sub-level sets are ellipsoids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𝑄</m:t>
                    </m:r>
                    <m:r>
                      <a:rPr lang="en-US" b="0" i="1" smtClean="0">
                        <a:latin typeface="Cambria Math" charset="0"/>
                      </a:rPr>
                      <m:t>&gt;0</m:t>
                    </m:r>
                  </m:oMath>
                </a14:m>
                <a:r>
                  <a:rPr lang="en-US" dirty="0"/>
                  <a:t> then the system is globally asymptotically stable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492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737" y="1729581"/>
            <a:ext cx="4254500" cy="4267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6019800" cy="52577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Lyapunov equations are solved as a set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equations 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𝑛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𝑛</m:t>
                        </m:r>
                        <m:r>
                          <a:rPr lang="en-US" sz="2400" i="1">
                            <a:latin typeface="Cambria Math" charset="0"/>
                          </a:rPr>
                          <m:t>+1</m:t>
                        </m:r>
                      </m:e>
                    </m:d>
                    <m:r>
                      <a:rPr lang="en-US" sz="2400" i="1">
                        <a:latin typeface="Cambria Math" charset="0"/>
                      </a:rPr>
                      <m:t>/2</m:t>
                    </m:r>
                  </m:oMath>
                </a14:m>
                <a:r>
                  <a:rPr lang="en-US" sz="2400" dirty="0"/>
                  <a:t> variables. Cost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6</m:t>
                        </m:r>
                      </m:sup>
                    </m:sSup>
                    <m:r>
                      <a:rPr lang="en-US" sz="2400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Choose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𝑄</m:t>
                    </m:r>
                    <m:r>
                      <a:rPr lang="en-US" sz="2400" i="1">
                        <a:latin typeface="Cambria Math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solving </a:t>
                </a:r>
                <a:r>
                  <a:rPr lang="en-US" sz="2400" dirty="0" err="1"/>
                  <a:t>Lyapunov</a:t>
                </a:r>
                <a:r>
                  <a:rPr lang="en-US" sz="2400" dirty="0"/>
                  <a:t> equations we get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𝑃</m:t>
                    </m:r>
                    <m:r>
                      <a:rPr lang="en-US" sz="2400" i="1">
                        <a:latin typeface="Cambria Math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charset="0"/>
                                </a:rPr>
                                <m:t>.59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−2.29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−2.29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4.92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 and we get the quadratic </a:t>
                </a:r>
                <a:r>
                  <a:rPr lang="en-US" sz="2400" dirty="0" err="1"/>
                  <a:t>Lyapunov</a:t>
                </a:r>
                <a:r>
                  <a:rPr lang="en-US" sz="2400" dirty="0"/>
                  <a:t> function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  <m:r>
                          <a:rPr lang="en-US" sz="2400" i="1">
                            <a:latin typeface="Cambria Math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latin typeface="Cambria Math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charset="0"/>
                      </a:rPr>
                      <m:t>𝑃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400" dirty="0"/>
                  <a:t> an a sequence of invariants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6019800" cy="5257799"/>
              </a:xfrm>
              <a:blipFill>
                <a:blip r:embed="rId3"/>
                <a:stretch>
                  <a:fillRect l="-1688" t="-964" r="-1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865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B9F2-20DE-63CB-F662-2F6244D7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9B3FA-B4CD-F901-2C97-201C9A348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Key requirements for dynamical systems: stability, asymptotic stability</a:t>
            </a:r>
          </a:p>
          <a:p>
            <a:r>
              <a:rPr lang="en-US" dirty="0"/>
              <a:t>For linear systems, Hurwitz conditions or LMIs for verifying stability</a:t>
            </a:r>
          </a:p>
          <a:p>
            <a:r>
              <a:rPr lang="en-US" dirty="0"/>
              <a:t>For nonlinear systems, Lyapunov functions provide a general method and certificate for proving stability</a:t>
            </a:r>
          </a:p>
          <a:p>
            <a:r>
              <a:rPr lang="en-US" dirty="0"/>
              <a:t>Checking Lyapunov conditions does not involve finding solutions of the system </a:t>
            </a:r>
          </a:p>
          <a:p>
            <a:r>
              <a:rPr lang="en-US" dirty="0"/>
              <a:t>Finding Lyapunov functions involves solving optimization problems</a:t>
            </a:r>
          </a:p>
        </p:txBody>
      </p:sp>
    </p:spTree>
    <p:extLst>
      <p:ext uri="{BB962C8B-B14F-4D97-AF65-F5344CB8AC3E}">
        <p14:creationId xmlns:p14="http://schemas.microsoft.com/office/powerpoint/2010/main" val="853401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36698</TotalTime>
  <Words>1769</Words>
  <Application>Microsoft Macintosh PowerPoint</Application>
  <PresentationFormat>Widescreen</PresentationFormat>
  <Paragraphs>215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 Math</vt:lpstr>
      <vt:lpstr>Wingdings</vt:lpstr>
      <vt:lpstr>Office Theme</vt:lpstr>
      <vt:lpstr>Verifying Dynamical Systems: Stability Part 2</vt:lpstr>
      <vt:lpstr>Plan</vt:lpstr>
      <vt:lpstr>Requirements: Stability</vt:lpstr>
      <vt:lpstr>Example: Pendulum</vt:lpstr>
      <vt:lpstr>PowerPoint Presentation</vt:lpstr>
      <vt:lpstr>Lyapunov stability</vt:lpstr>
      <vt:lpstr>Asymptotically stability</vt:lpstr>
      <vt:lpstr>Phase portrait of pendulum with friction</vt:lpstr>
      <vt:lpstr>Stability of nonlinear systems</vt:lpstr>
      <vt:lpstr>Verifying Stability</vt:lpstr>
      <vt:lpstr>Proof : Lyapunov stable if V ̇≤0 </vt:lpstr>
      <vt:lpstr>Proof sketch: Asymptotically stable if V ̇(x(t))&lt;0 </vt:lpstr>
      <vt:lpstr>Example: Pendulum</vt:lpstr>
      <vt:lpstr>Example 2: Reasoning about stability without solving ODEs</vt:lpstr>
      <vt:lpstr>Verifying Stability for Linear Systems</vt:lpstr>
      <vt:lpstr>Jordan decomposition</vt:lpstr>
      <vt:lpstr>Example 1: Simple model of an economy</vt:lpstr>
      <vt:lpstr>Example: Simple linear model of an economy</vt:lpstr>
      <vt:lpstr>PowerPoint Presentation</vt:lpstr>
      <vt:lpstr>An aside: Checking inductive invariants</vt:lpstr>
      <vt:lpstr>Finding Lyapunov Functions</vt:lpstr>
      <vt:lpstr>Linear autonomous systems</vt:lpstr>
      <vt:lpstr>Quadratic Lyapunov Functions</vt:lpstr>
      <vt:lpstr>Same example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 584/CS 584: Embedded System Verification SpaceEx and Linear Hybrid Syatems</dc:title>
  <dc:creator>Sayan Mitras</dc:creator>
  <cp:lastModifiedBy>Mitra, Sayan</cp:lastModifiedBy>
  <cp:revision>167</cp:revision>
  <cp:lastPrinted>2017-10-12T04:42:23Z</cp:lastPrinted>
  <dcterms:created xsi:type="dcterms:W3CDTF">2012-10-11T16:05:22Z</dcterms:created>
  <dcterms:modified xsi:type="dcterms:W3CDTF">2025-10-07T19:15:47Z</dcterms:modified>
</cp:coreProperties>
</file>