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1.xml" ContentType="application/inkml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5"/>
  </p:notesMasterIdLst>
  <p:sldIdLst>
    <p:sldId id="256" r:id="rId2"/>
    <p:sldId id="294" r:id="rId3"/>
    <p:sldId id="382" r:id="rId4"/>
    <p:sldId id="314" r:id="rId5"/>
    <p:sldId id="315" r:id="rId6"/>
    <p:sldId id="283" r:id="rId7"/>
    <p:sldId id="284" r:id="rId8"/>
    <p:sldId id="28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257" r:id="rId34"/>
    <p:sldId id="258" r:id="rId35"/>
    <p:sldId id="259" r:id="rId36"/>
    <p:sldId id="340" r:id="rId37"/>
    <p:sldId id="288" r:id="rId38"/>
    <p:sldId id="289" r:id="rId39"/>
    <p:sldId id="290" r:id="rId40"/>
    <p:sldId id="341" r:id="rId41"/>
    <p:sldId id="292" r:id="rId42"/>
    <p:sldId id="342" r:id="rId43"/>
    <p:sldId id="343" r:id="rId44"/>
    <p:sldId id="295" r:id="rId45"/>
    <p:sldId id="296" r:id="rId46"/>
    <p:sldId id="297" r:id="rId47"/>
    <p:sldId id="298" r:id="rId48"/>
    <p:sldId id="299" r:id="rId49"/>
    <p:sldId id="300" r:id="rId50"/>
    <p:sldId id="374" r:id="rId51"/>
    <p:sldId id="302" r:id="rId52"/>
    <p:sldId id="373" r:id="rId53"/>
    <p:sldId id="301" r:id="rId5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6338"/>
  </p:normalViewPr>
  <p:slideViewPr>
    <p:cSldViewPr snapToGrid="0">
      <p:cViewPr varScale="1">
        <p:scale>
          <a:sx n="117" d="100"/>
          <a:sy n="117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8:46:43.6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10226 5371 24575,'0'27'0,"0"-1"0,0 0 0,0-11 0,0 9 0,0-21 0,0 20 0,0 4 0,0-5 0,0 3 0,0 1 0,0 2 0,0 2 0,0-1 0,0 0 0,0 6 0,0-43 0,12 16 0,-9-31 0,9-4 0,-12-8 0,0 10 0,0-1 0,-1-4 0,2 1 0,4 1 0,1 0 0,-4-5 0,-1 1 0,5 11 0,0 1 0,-6-12 0,0 19 0,0 7 0,0-6 0,0 9 0,0-9 0,0 1 0,0 8 0,0-21 0,0 21 0,0-9 0,0 12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775fbbc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8775fbbc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30c363d770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30c363d770_0_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30c363d770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30c363d770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751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b8905ab013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b8905ab013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b8905ab0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b8905ab0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b77f6ca0a8_1_1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b77f6ca0a8_1_1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b77f6ca0a8_1_1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b77f6ca0a8_1_1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77f6ca0a8_1_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77f6ca0a8_1_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b8905ab013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b8905ab013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x_1 \in [-1, 2], \ x_2 \in [-2,1]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b8905ab013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b8905ab013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z_1 = x_1 - x_2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z_2 = 2x_1 - x_2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b8905ab013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b8905ab013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\underline{z}_1 = -1 - 1 = -2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\overline{z}_1 = 2 - (-2) = 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\overline{z}_2 = 2 \times 2 - (-2) = 6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b8905ab013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b8905ab013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\displaystyle \sum_{i \in \{i| w_i \geq 0\}} w_i l_i + \sum_{i \in \{i| w_i &lt; 0\}} w_i u_i \leq \sum_{i} w_i x_i \leq \sum_{i \in \{i| w_i \geq 0\}} w_i u_i + \sum_{i \in \{i| w_i &lt; 0\}} w_i l_i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b8905ab013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b8905ab013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z_1 \in [ -2, 4 ]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z_2 \in [ -3, 6 ]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b8905ab013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b8905ab013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b8905ab013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b8905ab013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b8905ab013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b8905ab013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b8905ab013_0_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b8905ab013_0_6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x_1 - x_2 - (2x_1 - x_2)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b8905ab013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b8905ab013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x_1 - x_2 - (2x_1 - x_2)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b8905ab013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b8905ab013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x_1 - x_2 - (2x_1 - x_2)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b8905ab013_0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b8905ab013_0_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\leq \text{ReLU}(z_1) \leq \frac{2}{3} z_1 + \frac{4}{3}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b8905ab013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b8905ab013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\frac{2}{3}z_2 \leq \text{ReLU}(z_2) \leq \frac{2}{3} z_2 + 2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b8905ab013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b8905ab013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\frac{2}{3}z_1 - \frac{2}{3} z_2 - 2 \leq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= \text{ReLU}(z_1) - \text{ReLU}(z_2)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\leq (\frac{2}{3}z_1</a:t>
            </a:r>
            <a:r>
              <a:rPr lang="en-GB">
                <a:solidFill>
                  <a:schemeClr val="dk1"/>
                </a:solidFill>
              </a:rPr>
              <a:t>+ \frac{4}{3})</a:t>
            </a:r>
            <a:r>
              <a:rPr lang="en-GB"/>
              <a:t> - \frac{2}{3} z_2  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b8905ab013_0_8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b8905ab013_0_8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\frac{2}{3}z_1 - (\frac{2}{3} z_2 + 2) \leq y \leq \frac{2}{3}z_1+ \frac{4}{3}) - \frac{2}{3} z_2  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b8905ab013_0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b8905ab013_0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\frac{2}{3}z_1 - (\frac{2}{3} z_2 + 2) \leq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= \text{ReLU}(z_1) - \text{ReLU}(z_2)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\leq \frac{2}{3}z_1 - (\frac{2}{3} z_2 + \frac{4}{3})  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b8905ab013_0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b8905ab013_0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\frac{2}{3}z_1 - (\frac{2}{3} z_2 + 2) \leq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= \text{ReLU}(z_1) - \text{ReLU}(z_2)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\leq \frac{2}{3}z_1 - (\frac{2}{3} z_2 + \frac{4}{3}) 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8905ab013_0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8905ab013_0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z_1 \leq \text{ReLU}(z_1) \leq \frac{2}{3} z_1 + \frac{4}{3}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b8905ab013_0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b8905ab013_0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-\frac{1}{3} x_1 -\frac{1}{3} x_2 - 2\leq y \leq -\frac{4}{3} x_1 + \frac{1}{3} x_2 + \frac{4}{3}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b8905ab013_0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b8905ab013_0_1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-\frac{1}{3} x_1 -\frac{1}{3} x_2 - 2\leq y \leq -\frac{4}{3} x_1 + \frac{1}{3} x_2 + \frac{4}{3}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b8905ab013_0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b8905ab013_0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\frac{2}{3}z_2 \leq \text{ReLU}(z_2) \leq \frac{2}{3} z_2 + 2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b8905ab013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b8905ab013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b8905ab013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b8905ab013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\alpha_2 z_2 \leq \text{ReLU}(z_2) \leq \frac{2}{3} z_2 + 2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\alpha_1 z_2 \leq \text{ReLU}(z_2) \leq \frac{2}{3} z_2 + \frac{4}{3}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b8905ab013_0_1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b8905ab013_0_1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As you propagate an inequality backwards through the network (from output toward input), you keep it in a </a:t>
            </a:r>
            <a:r>
              <a:rPr lang="en-US" b="1" dirty="0"/>
              <a:t>symbolic linear form</a:t>
            </a:r>
            <a:r>
              <a:rPr lang="en-US" dirty="0"/>
              <a:t> like:</a:t>
            </a:r>
          </a:p>
          <a:p>
            <a:r>
              <a:rPr lang="en-US" dirty="0"/>
              <a:t>y  ≤  </a:t>
            </a:r>
            <a:r>
              <a:rPr lang="en-US" dirty="0" err="1"/>
              <a:t>a⊤x+by</a:t>
            </a:r>
            <a:r>
              <a:rPr lang="en-US" dirty="0"/>
              <a:t> \;\le\; a^\top x + </a:t>
            </a:r>
            <a:r>
              <a:rPr lang="en-US" dirty="0" err="1"/>
              <a:t>by≤a⊤x+b</a:t>
            </a:r>
            <a:r>
              <a:rPr lang="en-US" dirty="0"/>
              <a:t> where </a:t>
            </a:r>
            <a:r>
              <a:rPr lang="en-US" dirty="0" err="1"/>
              <a:t>a,ba</a:t>
            </a:r>
            <a:r>
              <a:rPr lang="en-US" dirty="0"/>
              <a:t>, </a:t>
            </a:r>
            <a:r>
              <a:rPr lang="en-US" dirty="0" err="1"/>
              <a:t>ba,b</a:t>
            </a:r>
            <a:r>
              <a:rPr lang="en-US" dirty="0"/>
              <a:t> are coefficients updated layer by layer.</a:t>
            </a:r>
            <a:br>
              <a:rPr lang="en-US" dirty="0"/>
            </a:br>
            <a:r>
              <a:rPr lang="en-US" dirty="0"/>
              <a:t>At this point, the inequality is still abstract — it depends on the input vector xxx, which can vary within its allowed range (say, a box or polytope).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b8905ab013_0_1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b8905ab013_0_1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b8905ab013_0_1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b8905ab013_0_1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b8905ab013_0_1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b8905ab013_0_1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b8905ab013_0_1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b8905ab013_0_1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b8905ab013_0_1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b8905ab013_0_1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b8905ab013_0_1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b8905ab013_0_1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b8905ab013_0_1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b8905ab013_0_1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b8905ab013_0_1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b8905ab013_0_1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2b8905ab013_0_1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2b8905ab013_0_1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2b8905ab013_0_1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2b8905ab013_0_19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2b8905ab013_0_1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b8905ab013_0_1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f(x) \geq a^\top W_2 z_2 + 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\displaystyle f(x) \geq \sum_{j} \left [ (a^\top W_2)_j \cdot z_{2,j} \right ] + 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(a^\top W_2)_j &lt; 0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2b8905ab013_0_20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b8905ab013_0_20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b8905ab013_0_2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b8905ab013_0_2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2b8905ab013_0_2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b8905ab013_0_2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6942b4bc3c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6942b4bc3c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2b77f6ca0a8_1_1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2b77f6ca0a8_1_1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694518d9d8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694518d9d8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g2b8905ab013_0_2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2b8905ab013_0_2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5">
  <p:cSld name="Title and body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2574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7">
  <p:cSld name="Title and body 7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60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 and body 6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71003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8">
  <p:cSld name="Title and body 8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33572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3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tras@Illinoi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2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67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1.png"/><Relationship Id="rId9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67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8.png"/><Relationship Id="rId10" Type="http://schemas.openxmlformats.org/officeDocument/2006/relationships/image" Target="../media/image61.png"/><Relationship Id="rId4" Type="http://schemas.openxmlformats.org/officeDocument/2006/relationships/image" Target="../media/image1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67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8.png"/><Relationship Id="rId10" Type="http://schemas.openxmlformats.org/officeDocument/2006/relationships/image" Target="../media/image61.png"/><Relationship Id="rId4" Type="http://schemas.openxmlformats.org/officeDocument/2006/relationships/image" Target="../media/image1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70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4.png"/><Relationship Id="rId3" Type="http://schemas.openxmlformats.org/officeDocument/2006/relationships/image" Target="../media/image67.png"/><Relationship Id="rId7" Type="http://schemas.openxmlformats.org/officeDocument/2006/relationships/image" Target="../media/image56.png"/><Relationship Id="rId12" Type="http://schemas.openxmlformats.org/officeDocument/2006/relationships/image" Target="../media/image63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png"/><Relationship Id="rId11" Type="http://schemas.openxmlformats.org/officeDocument/2006/relationships/image" Target="../media/image60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59.png"/><Relationship Id="rId4" Type="http://schemas.openxmlformats.org/officeDocument/2006/relationships/image" Target="../media/image61.png"/><Relationship Id="rId9" Type="http://schemas.openxmlformats.org/officeDocument/2006/relationships/image" Target="../media/image58.png"/><Relationship Id="rId14" Type="http://schemas.openxmlformats.org/officeDocument/2006/relationships/image" Target="../media/image7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2.png"/><Relationship Id="rId9" Type="http://schemas.openxmlformats.org/officeDocument/2006/relationships/image" Target="../media/image7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1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0.png"/><Relationship Id="rId11" Type="http://schemas.openxmlformats.org/officeDocument/2006/relationships/image" Target="../media/image80.png"/><Relationship Id="rId5" Type="http://schemas.openxmlformats.org/officeDocument/2006/relationships/image" Target="../media/image69.png"/><Relationship Id="rId10" Type="http://schemas.openxmlformats.org/officeDocument/2006/relationships/image" Target="../media/image79.png"/><Relationship Id="rId4" Type="http://schemas.openxmlformats.org/officeDocument/2006/relationships/image" Target="../media/image72.png"/><Relationship Id="rId9" Type="http://schemas.openxmlformats.org/officeDocument/2006/relationships/image" Target="../media/image7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58.png"/><Relationship Id="rId18" Type="http://schemas.openxmlformats.org/officeDocument/2006/relationships/image" Target="../media/image88.png"/><Relationship Id="rId3" Type="http://schemas.openxmlformats.org/officeDocument/2006/relationships/image" Target="../media/image82.png"/><Relationship Id="rId7" Type="http://schemas.openxmlformats.org/officeDocument/2006/relationships/image" Target="../media/image5.png"/><Relationship Id="rId12" Type="http://schemas.openxmlformats.org/officeDocument/2006/relationships/image" Target="../media/image57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3.png"/><Relationship Id="rId11" Type="http://schemas.openxmlformats.org/officeDocument/2006/relationships/image" Target="../media/image56.png"/><Relationship Id="rId5" Type="http://schemas.openxmlformats.org/officeDocument/2006/relationships/image" Target="../media/image67.png"/><Relationship Id="rId15" Type="http://schemas.openxmlformats.org/officeDocument/2006/relationships/image" Target="../media/image85.png"/><Relationship Id="rId10" Type="http://schemas.openxmlformats.org/officeDocument/2006/relationships/image" Target="../media/image59.png"/><Relationship Id="rId4" Type="http://schemas.openxmlformats.org/officeDocument/2006/relationships/image" Target="../media/image70.png"/><Relationship Id="rId9" Type="http://schemas.openxmlformats.org/officeDocument/2006/relationships/image" Target="../media/image84.png"/><Relationship Id="rId1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89.png"/><Relationship Id="rId3" Type="http://schemas.openxmlformats.org/officeDocument/2006/relationships/image" Target="../media/image82.png"/><Relationship Id="rId7" Type="http://schemas.openxmlformats.org/officeDocument/2006/relationships/image" Target="../media/image5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3.png"/><Relationship Id="rId11" Type="http://schemas.openxmlformats.org/officeDocument/2006/relationships/image" Target="../media/image58.png"/><Relationship Id="rId5" Type="http://schemas.openxmlformats.org/officeDocument/2006/relationships/image" Target="../media/image67.png"/><Relationship Id="rId15" Type="http://schemas.openxmlformats.org/officeDocument/2006/relationships/image" Target="../media/image91.png"/><Relationship Id="rId10" Type="http://schemas.openxmlformats.org/officeDocument/2006/relationships/image" Target="../media/image57.png"/><Relationship Id="rId4" Type="http://schemas.openxmlformats.org/officeDocument/2006/relationships/image" Target="../media/image70.png"/><Relationship Id="rId9" Type="http://schemas.openxmlformats.org/officeDocument/2006/relationships/image" Target="../media/image56.png"/><Relationship Id="rId14" Type="http://schemas.openxmlformats.org/officeDocument/2006/relationships/image" Target="../media/image9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67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2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83.png"/><Relationship Id="rId9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papercode.cc/AutoLiRPA-Demo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1.png"/><Relationship Id="rId5" Type="http://schemas.openxmlformats.org/officeDocument/2006/relationships/hyperlink" Target="http://papercode.cc/AutoLiRPA" TargetMode="External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00" dirty="0"/>
              <a:t>Neural Network Verification</a:t>
            </a:r>
            <a:br>
              <a:rPr lang="en-GB" sz="3000" dirty="0"/>
            </a:br>
            <a:r>
              <a:rPr lang="en-GB" sz="3000" dirty="0"/>
              <a:t>Integer and Linear Programming Formulations</a:t>
            </a:r>
            <a:endParaRPr sz="3000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6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Prof. Sayan Mitra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hlinkClick r:id="rId3"/>
              </a:rPr>
              <a:t>mitras@Illinois.edu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F108F8-C383-5CC4-C175-F16442438621}"/>
              </a:ext>
            </a:extLst>
          </p:cNvPr>
          <p:cNvSpPr txBox="1"/>
          <p:nvPr/>
        </p:nvSpPr>
        <p:spPr>
          <a:xfrm>
            <a:off x="1088571" y="4833257"/>
            <a:ext cx="5109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adapted from Prof. Huan Zhang’s lectures, Spring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1"/>
          <p:cNvSpPr txBox="1">
            <a:spLocks noGrp="1"/>
          </p:cNvSpPr>
          <p:nvPr>
            <p:ph type="title"/>
          </p:nvPr>
        </p:nvSpPr>
        <p:spPr>
          <a:xfrm>
            <a:off x="65350" y="224420"/>
            <a:ext cx="8748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Review: Neural network verification as a satisfiability problem</a:t>
            </a:r>
          </a:p>
        </p:txBody>
      </p:sp>
      <p:sp>
        <p:nvSpPr>
          <p:cNvPr id="961" name="Google Shape;961;p51"/>
          <p:cNvSpPr txBox="1"/>
          <p:nvPr/>
        </p:nvSpPr>
        <p:spPr>
          <a:xfrm>
            <a:off x="4348375" y="1509425"/>
            <a:ext cx="6534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z</a:t>
            </a:r>
            <a:r>
              <a:rPr lang="en-GB" sz="1800" baseline="30000">
                <a:solidFill>
                  <a:schemeClr val="dk2"/>
                </a:solidFill>
              </a:rPr>
              <a:t>(2)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62" name="Google Shape;962;p51"/>
          <p:cNvGrpSpPr/>
          <p:nvPr/>
        </p:nvGrpSpPr>
        <p:grpSpPr>
          <a:xfrm>
            <a:off x="1251850" y="1852138"/>
            <a:ext cx="1691250" cy="1518400"/>
            <a:chOff x="949900" y="2149850"/>
            <a:chExt cx="1691250" cy="1518400"/>
          </a:xfrm>
        </p:grpSpPr>
        <p:grpSp>
          <p:nvGrpSpPr>
            <p:cNvPr id="963" name="Google Shape;963;p51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964" name="Google Shape;964;p51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51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51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51"/>
              <p:cNvSpPr/>
              <p:nvPr/>
            </p:nvSpPr>
            <p:spPr>
              <a:xfrm>
                <a:off x="2294125" y="23127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51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69" name="Google Shape;969;p51"/>
              <p:cNvCxnSpPr>
                <a:stCxn id="964" idx="6"/>
                <a:endCxn id="966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51"/>
              <p:cNvCxnSpPr>
                <a:stCxn id="964" idx="6"/>
                <a:endCxn id="967" idx="2"/>
              </p:cNvCxnSpPr>
              <p:nvPr/>
            </p:nvCxnSpPr>
            <p:spPr>
              <a:xfrm>
                <a:off x="1498800" y="2080600"/>
                <a:ext cx="795300" cy="34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51"/>
              <p:cNvCxnSpPr>
                <a:stCxn id="965" idx="6"/>
                <a:endCxn id="966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51"/>
              <p:cNvCxnSpPr>
                <a:stCxn id="965" idx="6"/>
                <a:endCxn id="967" idx="2"/>
              </p:cNvCxnSpPr>
              <p:nvPr/>
            </p:nvCxnSpPr>
            <p:spPr>
              <a:xfrm rot="10800000" flipH="1">
                <a:off x="1498800" y="2428800"/>
                <a:ext cx="795300" cy="25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3" name="Google Shape;973;p51"/>
              <p:cNvCxnSpPr>
                <a:stCxn id="965" idx="6"/>
                <a:endCxn id="968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4" name="Google Shape;974;p51"/>
              <p:cNvCxnSpPr>
                <a:stCxn id="964" idx="6"/>
                <a:endCxn id="968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75" name="Google Shape;975;p51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976" name="Google Shape;976;p51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</p:grpSp>
      <p:grpSp>
        <p:nvGrpSpPr>
          <p:cNvPr id="977" name="Google Shape;977;p51"/>
          <p:cNvGrpSpPr/>
          <p:nvPr/>
        </p:nvGrpSpPr>
        <p:grpSpPr>
          <a:xfrm>
            <a:off x="5150088" y="1904825"/>
            <a:ext cx="1113500" cy="1465725"/>
            <a:chOff x="3458500" y="1732750"/>
            <a:chExt cx="1113500" cy="1465725"/>
          </a:xfrm>
        </p:grpSpPr>
        <p:sp>
          <p:nvSpPr>
            <p:cNvPr id="978" name="Google Shape;978;p51"/>
            <p:cNvSpPr/>
            <p:nvPr/>
          </p:nvSpPr>
          <p:spPr>
            <a:xfrm>
              <a:off x="3458500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51"/>
            <p:cNvSpPr/>
            <p:nvPr/>
          </p:nvSpPr>
          <p:spPr>
            <a:xfrm>
              <a:off x="3458500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1"/>
            <p:cNvSpPr/>
            <p:nvPr/>
          </p:nvSpPr>
          <p:spPr>
            <a:xfrm>
              <a:off x="3458500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51"/>
            <p:cNvSpPr/>
            <p:nvPr/>
          </p:nvSpPr>
          <p:spPr>
            <a:xfrm>
              <a:off x="4340100" y="229960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82" name="Google Shape;982;p51"/>
            <p:cNvCxnSpPr>
              <a:stCxn id="978" idx="6"/>
              <a:endCxn id="981" idx="2"/>
            </p:cNvCxnSpPr>
            <p:nvPr/>
          </p:nvCxnSpPr>
          <p:spPr>
            <a:xfrm>
              <a:off x="3690400" y="1848700"/>
              <a:ext cx="649800" cy="56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3" name="Google Shape;983;p51"/>
            <p:cNvCxnSpPr>
              <a:stCxn id="979" idx="6"/>
              <a:endCxn id="981" idx="2"/>
            </p:cNvCxnSpPr>
            <p:nvPr/>
          </p:nvCxnSpPr>
          <p:spPr>
            <a:xfrm rot="10800000" flipH="1">
              <a:off x="3690400" y="2415525"/>
              <a:ext cx="649800" cy="1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4" name="Google Shape;984;p51"/>
            <p:cNvCxnSpPr>
              <a:stCxn id="980" idx="6"/>
              <a:endCxn id="981" idx="2"/>
            </p:cNvCxnSpPr>
            <p:nvPr/>
          </p:nvCxnSpPr>
          <p:spPr>
            <a:xfrm rot="10800000" flipH="1">
              <a:off x="3690400" y="2415625"/>
              <a:ext cx="649800" cy="66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85" name="Google Shape;985;p51"/>
          <p:cNvGrpSpPr/>
          <p:nvPr/>
        </p:nvGrpSpPr>
        <p:grpSpPr>
          <a:xfrm>
            <a:off x="3559075" y="2020700"/>
            <a:ext cx="932400" cy="1233975"/>
            <a:chOff x="2526100" y="1848625"/>
            <a:chExt cx="932400" cy="1233975"/>
          </a:xfrm>
        </p:grpSpPr>
        <p:cxnSp>
          <p:nvCxnSpPr>
            <p:cNvPr id="986" name="Google Shape;986;p51"/>
            <p:cNvCxnSpPr/>
            <p:nvPr/>
          </p:nvCxnSpPr>
          <p:spPr>
            <a:xfrm>
              <a:off x="2526100" y="184870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7" name="Google Shape;987;p51"/>
            <p:cNvCxnSpPr/>
            <p:nvPr/>
          </p:nvCxnSpPr>
          <p:spPr>
            <a:xfrm>
              <a:off x="2526100" y="241555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8" name="Google Shape;988;p51"/>
            <p:cNvCxnSpPr/>
            <p:nvPr/>
          </p:nvCxnSpPr>
          <p:spPr>
            <a:xfrm>
              <a:off x="2526100" y="3082525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9" name="Google Shape;989;p51"/>
            <p:cNvCxnSpPr/>
            <p:nvPr/>
          </p:nvCxnSpPr>
          <p:spPr>
            <a:xfrm>
              <a:off x="2526100" y="1848825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0" name="Google Shape;990;p51"/>
            <p:cNvCxnSpPr/>
            <p:nvPr/>
          </p:nvCxnSpPr>
          <p:spPr>
            <a:xfrm>
              <a:off x="2526100" y="1848625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1" name="Google Shape;991;p51"/>
            <p:cNvCxnSpPr/>
            <p:nvPr/>
          </p:nvCxnSpPr>
          <p:spPr>
            <a:xfrm rot="10800000" flipH="1">
              <a:off x="2526100" y="1848700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2" name="Google Shape;992;p51"/>
            <p:cNvCxnSpPr/>
            <p:nvPr/>
          </p:nvCxnSpPr>
          <p:spPr>
            <a:xfrm rot="10800000" flipH="1">
              <a:off x="2526100" y="1848700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3" name="Google Shape;993;p51"/>
            <p:cNvCxnSpPr/>
            <p:nvPr/>
          </p:nvCxnSpPr>
          <p:spPr>
            <a:xfrm>
              <a:off x="2526100" y="24288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4" name="Google Shape;994;p51"/>
            <p:cNvCxnSpPr/>
            <p:nvPr/>
          </p:nvCxnSpPr>
          <p:spPr>
            <a:xfrm rot="10800000" flipH="1">
              <a:off x="2526100" y="24287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5" name="Google Shape;995;p51"/>
          <p:cNvGrpSpPr/>
          <p:nvPr/>
        </p:nvGrpSpPr>
        <p:grpSpPr>
          <a:xfrm>
            <a:off x="2608575" y="1502100"/>
            <a:ext cx="1306800" cy="1766950"/>
            <a:chOff x="2460350" y="1264125"/>
            <a:chExt cx="1306800" cy="1766950"/>
          </a:xfrm>
        </p:grpSpPr>
        <p:sp>
          <p:nvSpPr>
            <p:cNvPr id="996" name="Google Shape;996;p51"/>
            <p:cNvSpPr txBox="1"/>
            <p:nvPr/>
          </p:nvSpPr>
          <p:spPr>
            <a:xfrm>
              <a:off x="3113750" y="13022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1</a:t>
              </a:r>
              <a:r>
                <a:rPr lang="en-GB" sz="1800" baseline="30000">
                  <a:solidFill>
                    <a:srgbClr val="0000FF"/>
                  </a:solidFill>
                </a:rPr>
                <a:t>(1)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97" name="Google Shape;997;p51"/>
            <p:cNvSpPr txBox="1"/>
            <p:nvPr/>
          </p:nvSpPr>
          <p:spPr>
            <a:xfrm>
              <a:off x="3113750" y="18269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2</a:t>
              </a:r>
              <a:r>
                <a:rPr lang="en-GB" sz="1800" baseline="30000">
                  <a:solidFill>
                    <a:srgbClr val="0000FF"/>
                  </a:solidFill>
                </a:rPr>
                <a:t>(1)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98" name="Google Shape;998;p51"/>
            <p:cNvSpPr txBox="1"/>
            <p:nvPr/>
          </p:nvSpPr>
          <p:spPr>
            <a:xfrm>
              <a:off x="3113750" y="25039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rgbClr val="0000FF"/>
                  </a:solidFill>
                </a:rPr>
                <a:t>ẑ</a:t>
              </a:r>
              <a:r>
                <a:rPr lang="en-GB" sz="1800" baseline="-25000" dirty="0">
                  <a:solidFill>
                    <a:srgbClr val="0000FF"/>
                  </a:solidFill>
                </a:rPr>
                <a:t>3</a:t>
              </a:r>
              <a:r>
                <a:rPr lang="en-GB" sz="1800" baseline="30000" dirty="0">
                  <a:solidFill>
                    <a:srgbClr val="0000FF"/>
                  </a:solidFill>
                </a:rPr>
                <a:t>(1)</a:t>
              </a:r>
              <a:endParaRPr sz="1800" dirty="0">
                <a:solidFill>
                  <a:srgbClr val="0000FF"/>
                </a:solidFill>
              </a:endParaRPr>
            </a:p>
          </p:txBody>
        </p:sp>
        <p:sp>
          <p:nvSpPr>
            <p:cNvPr id="999" name="Google Shape;999;p51"/>
            <p:cNvSpPr txBox="1"/>
            <p:nvPr/>
          </p:nvSpPr>
          <p:spPr>
            <a:xfrm>
              <a:off x="2460350" y="24658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rgbClr val="FF0000"/>
                  </a:solidFill>
                </a:rPr>
                <a:t>z</a:t>
              </a:r>
              <a:r>
                <a:rPr lang="en-GB" sz="1800" baseline="-25000" dirty="0">
                  <a:solidFill>
                    <a:srgbClr val="FF0000"/>
                  </a:solidFill>
                </a:rPr>
                <a:t>3</a:t>
              </a:r>
              <a:r>
                <a:rPr lang="en-GB" sz="1800" baseline="30000" dirty="0">
                  <a:solidFill>
                    <a:srgbClr val="FF0000"/>
                  </a:solidFill>
                </a:rPr>
                <a:t>(1)</a:t>
              </a:r>
              <a:endParaRPr sz="1800" dirty="0">
                <a:solidFill>
                  <a:srgbClr val="FF0000"/>
                </a:solidFill>
              </a:endParaRPr>
            </a:p>
          </p:txBody>
        </p:sp>
        <p:sp>
          <p:nvSpPr>
            <p:cNvPr id="1000" name="Google Shape;1000;p51"/>
            <p:cNvSpPr txBox="1"/>
            <p:nvPr/>
          </p:nvSpPr>
          <p:spPr>
            <a:xfrm>
              <a:off x="2460350" y="17888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1001" name="Google Shape;1001;p51"/>
            <p:cNvSpPr txBox="1"/>
            <p:nvPr/>
          </p:nvSpPr>
          <p:spPr>
            <a:xfrm>
              <a:off x="2460350" y="12641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1002" name="Google Shape;1002;p51"/>
          <p:cNvGrpSpPr/>
          <p:nvPr/>
        </p:nvGrpSpPr>
        <p:grpSpPr>
          <a:xfrm>
            <a:off x="3327163" y="1904813"/>
            <a:ext cx="231900" cy="1465725"/>
            <a:chOff x="2294125" y="1732750"/>
            <a:chExt cx="231900" cy="1465725"/>
          </a:xfrm>
        </p:grpSpPr>
        <p:sp>
          <p:nvSpPr>
            <p:cNvPr id="1003" name="Google Shape;1003;p51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51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1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" name="Google Shape;1006;p51"/>
          <p:cNvGrpSpPr/>
          <p:nvPr/>
        </p:nvGrpSpPr>
        <p:grpSpPr>
          <a:xfrm>
            <a:off x="4466063" y="1904825"/>
            <a:ext cx="231900" cy="1465725"/>
            <a:chOff x="2294125" y="1732750"/>
            <a:chExt cx="231900" cy="1465725"/>
          </a:xfrm>
        </p:grpSpPr>
        <p:sp>
          <p:nvSpPr>
            <p:cNvPr id="1007" name="Google Shape;1007;p51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51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51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10" name="Google Shape;1010;p51"/>
          <p:cNvCxnSpPr>
            <a:stCxn id="966" idx="6"/>
            <a:endCxn id="1003" idx="2"/>
          </p:cNvCxnSpPr>
          <p:nvPr/>
        </p:nvCxnSpPr>
        <p:spPr>
          <a:xfrm>
            <a:off x="2943100" y="2020763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1" name="Google Shape;1011;p51"/>
          <p:cNvCxnSpPr>
            <a:stCxn id="967" idx="6"/>
            <a:endCxn id="1004" idx="2"/>
          </p:cNvCxnSpPr>
          <p:nvPr/>
        </p:nvCxnSpPr>
        <p:spPr>
          <a:xfrm>
            <a:off x="2943100" y="2600788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2" name="Google Shape;1012;p51"/>
          <p:cNvCxnSpPr>
            <a:stCxn id="968" idx="6"/>
            <a:endCxn id="1005" idx="2"/>
          </p:cNvCxnSpPr>
          <p:nvPr/>
        </p:nvCxnSpPr>
        <p:spPr>
          <a:xfrm>
            <a:off x="2943100" y="3254588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3" name="Google Shape;1013;p51"/>
          <p:cNvCxnSpPr>
            <a:stCxn id="1007" idx="6"/>
            <a:endCxn id="978" idx="2"/>
          </p:cNvCxnSpPr>
          <p:nvPr/>
        </p:nvCxnSpPr>
        <p:spPr>
          <a:xfrm>
            <a:off x="4697963" y="2020775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4" name="Google Shape;1014;p51"/>
          <p:cNvCxnSpPr>
            <a:stCxn id="1008" idx="6"/>
            <a:endCxn id="979" idx="2"/>
          </p:cNvCxnSpPr>
          <p:nvPr/>
        </p:nvCxnSpPr>
        <p:spPr>
          <a:xfrm>
            <a:off x="4697963" y="2600800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5" name="Google Shape;1015;p51"/>
          <p:cNvCxnSpPr>
            <a:stCxn id="1009" idx="6"/>
            <a:endCxn id="980" idx="2"/>
          </p:cNvCxnSpPr>
          <p:nvPr/>
        </p:nvCxnSpPr>
        <p:spPr>
          <a:xfrm>
            <a:off x="4697963" y="3254600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6" name="Google Shape;1016;p51"/>
          <p:cNvSpPr txBox="1"/>
          <p:nvPr/>
        </p:nvSpPr>
        <p:spPr>
          <a:xfrm>
            <a:off x="5096225" y="1509413"/>
            <a:ext cx="6534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ẑ</a:t>
            </a:r>
            <a:r>
              <a:rPr lang="en-GB" sz="1800" baseline="30000">
                <a:solidFill>
                  <a:schemeClr val="dk1"/>
                </a:solidFill>
              </a:rPr>
              <a:t>(2)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17" name="Google Shape;1017;p51"/>
          <p:cNvSpPr txBox="1"/>
          <p:nvPr/>
        </p:nvSpPr>
        <p:spPr>
          <a:xfrm>
            <a:off x="6263625" y="2292725"/>
            <a:ext cx="85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y=f(x)</a:t>
            </a:r>
          </a:p>
        </p:txBody>
      </p:sp>
      <p:sp>
        <p:nvSpPr>
          <p:cNvPr id="1018" name="Google Shape;1018;p51"/>
          <p:cNvSpPr txBox="1"/>
          <p:nvPr/>
        </p:nvSpPr>
        <p:spPr>
          <a:xfrm>
            <a:off x="197625" y="3542599"/>
            <a:ext cx="6128700" cy="109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595959"/>
                </a:solidFill>
              </a:rPr>
              <a:t>To verify for all x ∈ S,    y &gt; 0  ∧  y = f(x) we solve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595959"/>
                </a:solidFill>
              </a:rPr>
              <a:t>Does there exist x, </a:t>
            </a:r>
            <a:r>
              <a:rPr lang="en-GB" sz="2000" dirty="0" err="1">
                <a:solidFill>
                  <a:srgbClr val="595959"/>
                </a:solidFill>
              </a:rPr>
              <a:t>s.t.</a:t>
            </a:r>
            <a:r>
              <a:rPr lang="en-GB" sz="2000" dirty="0">
                <a:solidFill>
                  <a:srgbClr val="595959"/>
                </a:solidFill>
              </a:rPr>
              <a:t>  x ∈ S  ∧  y ≤ 0  ∧  y = f(x) </a:t>
            </a:r>
            <a:endParaRPr sz="2000" dirty="0">
              <a:solidFill>
                <a:srgbClr val="595959"/>
              </a:solidFill>
            </a:endParaRPr>
          </a:p>
        </p:txBody>
      </p:sp>
      <p:sp>
        <p:nvSpPr>
          <p:cNvPr id="1019" name="Google Shape;1019;p51"/>
          <p:cNvSpPr txBox="1"/>
          <p:nvPr/>
        </p:nvSpPr>
        <p:spPr>
          <a:xfrm>
            <a:off x="3717113" y="4466659"/>
            <a:ext cx="241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Negation of the desired property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020" name="Google Shape;1020;p51"/>
          <p:cNvSpPr txBox="1"/>
          <p:nvPr/>
        </p:nvSpPr>
        <p:spPr>
          <a:xfrm>
            <a:off x="5934764" y="4147280"/>
            <a:ext cx="180171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Defines the neural network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021" name="Google Shape;1021;p51"/>
          <p:cNvSpPr txBox="1"/>
          <p:nvPr/>
        </p:nvSpPr>
        <p:spPr>
          <a:xfrm>
            <a:off x="911579" y="4485122"/>
            <a:ext cx="241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Input domain under consideration</a:t>
            </a: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022" name="Google Shape;1022;p51"/>
          <p:cNvCxnSpPr>
            <a:cxnSpLocks/>
            <a:stCxn id="1021" idx="0"/>
          </p:cNvCxnSpPr>
          <p:nvPr/>
        </p:nvCxnSpPr>
        <p:spPr>
          <a:xfrm flipV="1">
            <a:off x="2118479" y="4265637"/>
            <a:ext cx="1090758" cy="21948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3" name="Google Shape;1023;p51"/>
          <p:cNvCxnSpPr>
            <a:cxnSpLocks/>
          </p:cNvCxnSpPr>
          <p:nvPr/>
        </p:nvCxnSpPr>
        <p:spPr>
          <a:xfrm flipH="1" flipV="1">
            <a:off x="4229939" y="4319556"/>
            <a:ext cx="177861" cy="20629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4" name="Google Shape;1024;p51"/>
          <p:cNvCxnSpPr/>
          <p:nvPr/>
        </p:nvCxnSpPr>
        <p:spPr>
          <a:xfrm rot="10800000">
            <a:off x="5819639" y="4146155"/>
            <a:ext cx="1132500" cy="17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25" name="Google Shape;1025;p51"/>
          <p:cNvPicPr preferRelativeResize="0"/>
          <p:nvPr/>
        </p:nvPicPr>
        <p:blipFill rotWithShape="1">
          <a:blip r:embed="rId3"/>
          <a:srcRect l="14039" t="9153" r="55651" b="45213"/>
          <a:stretch>
            <a:fillRect/>
          </a:stretch>
        </p:blipFill>
        <p:spPr>
          <a:xfrm>
            <a:off x="65350" y="2149108"/>
            <a:ext cx="653399" cy="6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51"/>
          <p:cNvSpPr/>
          <p:nvPr/>
        </p:nvSpPr>
        <p:spPr>
          <a:xfrm>
            <a:off x="326074" y="2577622"/>
            <a:ext cx="184200" cy="90900"/>
          </a:xfrm>
          <a:prstGeom prst="rect">
            <a:avLst/>
          </a:prstGeom>
          <a:gradFill>
            <a:gsLst>
              <a:gs pos="0">
                <a:srgbClr val="FFFF00"/>
              </a:gs>
              <a:gs pos="100000">
                <a:srgbClr val="4A86E8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FF00"/>
              </a:solidFill>
            </a:endParaRPr>
          </a:p>
        </p:txBody>
      </p:sp>
      <p:grpSp>
        <p:nvGrpSpPr>
          <p:cNvPr id="1027" name="Google Shape;1027;p51"/>
          <p:cNvGrpSpPr/>
          <p:nvPr/>
        </p:nvGrpSpPr>
        <p:grpSpPr>
          <a:xfrm>
            <a:off x="7118059" y="1335925"/>
            <a:ext cx="1427550" cy="1873725"/>
            <a:chOff x="5659759" y="914325"/>
            <a:chExt cx="1427550" cy="1873725"/>
          </a:xfrm>
        </p:grpSpPr>
        <p:grpSp>
          <p:nvGrpSpPr>
            <p:cNvPr id="1028" name="Google Shape;1028;p51"/>
            <p:cNvGrpSpPr/>
            <p:nvPr/>
          </p:nvGrpSpPr>
          <p:grpSpPr>
            <a:xfrm>
              <a:off x="6177300" y="1265650"/>
              <a:ext cx="791100" cy="776775"/>
              <a:chOff x="5901775" y="3443650"/>
              <a:chExt cx="791100" cy="776775"/>
            </a:xfrm>
          </p:grpSpPr>
          <p:cxnSp>
            <p:nvCxnSpPr>
              <p:cNvPr id="1029" name="Google Shape;1029;p51"/>
              <p:cNvCxnSpPr/>
              <p:nvPr/>
            </p:nvCxnSpPr>
            <p:spPr>
              <a:xfrm>
                <a:off x="5901775" y="3443650"/>
                <a:ext cx="7911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51"/>
              <p:cNvCxnSpPr/>
              <p:nvPr/>
            </p:nvCxnSpPr>
            <p:spPr>
              <a:xfrm>
                <a:off x="5921600" y="4220425"/>
                <a:ext cx="771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51"/>
              <p:cNvCxnSpPr/>
              <p:nvPr/>
            </p:nvCxnSpPr>
            <p:spPr>
              <a:xfrm>
                <a:off x="6097825" y="3451325"/>
                <a:ext cx="0" cy="76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1032" name="Google Shape;1032;p51"/>
            <p:cNvSpPr txBox="1"/>
            <p:nvPr/>
          </p:nvSpPr>
          <p:spPr>
            <a:xfrm>
              <a:off x="6265609" y="2203050"/>
              <a:ext cx="821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000000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Speed Limit</a:t>
              </a:r>
              <a:endParaRPr sz="13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grpSp>
          <p:nvGrpSpPr>
            <p:cNvPr id="1033" name="Google Shape;1033;p51"/>
            <p:cNvGrpSpPr/>
            <p:nvPr/>
          </p:nvGrpSpPr>
          <p:grpSpPr>
            <a:xfrm>
              <a:off x="5719109" y="1258075"/>
              <a:ext cx="1005412" cy="1346825"/>
              <a:chOff x="551310" y="2116700"/>
              <a:chExt cx="897850" cy="1346825"/>
            </a:xfrm>
          </p:grpSpPr>
          <p:sp>
            <p:nvSpPr>
              <p:cNvPr id="1034" name="Google Shape;1034;p51"/>
              <p:cNvSpPr/>
              <p:nvPr/>
            </p:nvSpPr>
            <p:spPr>
              <a:xfrm>
                <a:off x="1263460" y="2906705"/>
                <a:ext cx="185700" cy="165000"/>
              </a:xfrm>
              <a:prstGeom prst="rect">
                <a:avLst/>
              </a:pr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5" name="Google Shape;1035;p51"/>
              <p:cNvGrpSpPr/>
              <p:nvPr/>
            </p:nvGrpSpPr>
            <p:grpSpPr>
              <a:xfrm>
                <a:off x="551310" y="2116700"/>
                <a:ext cx="644100" cy="1346825"/>
                <a:chOff x="551310" y="2116700"/>
                <a:chExt cx="644100" cy="1346825"/>
              </a:xfrm>
            </p:grpSpPr>
            <p:sp>
              <p:nvSpPr>
                <p:cNvPr id="1036" name="Google Shape;1036;p51"/>
                <p:cNvSpPr/>
                <p:nvPr/>
              </p:nvSpPr>
              <p:spPr>
                <a:xfrm>
                  <a:off x="780510" y="2116700"/>
                  <a:ext cx="185700" cy="961800"/>
                </a:xfrm>
                <a:prstGeom prst="rect">
                  <a:avLst/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51"/>
                <p:cNvSpPr txBox="1"/>
                <p:nvPr/>
              </p:nvSpPr>
              <p:spPr>
                <a:xfrm>
                  <a:off x="551310" y="3078625"/>
                  <a:ext cx="644100" cy="384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300" b="1">
                      <a:solidFill>
                        <a:srgbClr val="000000"/>
                      </a:solidFill>
                      <a:latin typeface="Georgia" panose="02040502050405020303"/>
                      <a:ea typeface="Georgia" panose="02040502050405020303"/>
                      <a:cs typeface="Georgia" panose="02040502050405020303"/>
                      <a:sym typeface="Georgia" panose="02040502050405020303"/>
                    </a:rPr>
                    <a:t>Stop</a:t>
                  </a:r>
                  <a:endParaRPr sz="1300">
                    <a:latin typeface="Georgia" panose="02040502050405020303"/>
                    <a:ea typeface="Georgia" panose="02040502050405020303"/>
                    <a:cs typeface="Georgia" panose="02040502050405020303"/>
                    <a:sym typeface="Georgia" panose="02040502050405020303"/>
                  </a:endParaRPr>
                </a:p>
              </p:txBody>
            </p:sp>
          </p:grpSp>
        </p:grpSp>
        <p:sp>
          <p:nvSpPr>
            <p:cNvPr id="1038" name="Google Shape;1038;p51"/>
            <p:cNvSpPr txBox="1"/>
            <p:nvPr/>
          </p:nvSpPr>
          <p:spPr>
            <a:xfrm>
              <a:off x="5659759" y="914325"/>
              <a:ext cx="78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0.9</a:t>
              </a:r>
              <a:endParaRPr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1039" name="Google Shape;1039;p51"/>
            <p:cNvSpPr txBox="1"/>
            <p:nvPr/>
          </p:nvSpPr>
          <p:spPr>
            <a:xfrm>
              <a:off x="6278174" y="1706363"/>
              <a:ext cx="72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0.1</a:t>
              </a:r>
              <a:endParaRPr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pic>
        <p:nvPicPr>
          <p:cNvPr id="2" name="Google Shape;943;p49">
            <a:extLst>
              <a:ext uri="{FF2B5EF4-FFF2-40B4-BE49-F238E27FC236}">
                <a16:creationId xmlns:a16="http://schemas.microsoft.com/office/drawing/2014/main" id="{1E99D9BC-FFFF-22D9-3342-44B6B7F4B62B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31150" y="3191926"/>
            <a:ext cx="1002725" cy="7838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6F5C47-B9DC-5EF6-9D74-ED5562BF51EE}"/>
                  </a:ext>
                </a:extLst>
              </p:cNvPr>
              <p:cNvSpPr txBox="1"/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6F5C47-B9DC-5EF6-9D74-ED5562BF5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998;p51">
                <a:extLst>
                  <a:ext uri="{FF2B5EF4-FFF2-40B4-BE49-F238E27FC236}">
                    <a16:creationId xmlns:a16="http://schemas.microsoft.com/office/drawing/2014/main" id="{2EA269C8-BE8E-9D54-40FC-95FB6EFF61D8}"/>
                  </a:ext>
                </a:extLst>
              </p:cNvPr>
              <p:cNvSpPr txBox="1"/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sz="12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5" name="Google Shape;998;p51">
                <a:extLst>
                  <a:ext uri="{FF2B5EF4-FFF2-40B4-BE49-F238E27FC236}">
                    <a16:creationId xmlns:a16="http://schemas.microsoft.com/office/drawing/2014/main" id="{2EA269C8-BE8E-9D54-40FC-95FB6EFF6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8" grpId="0"/>
      <p:bldP spid="1019" grpId="0"/>
      <p:bldP spid="1020" grpId="0"/>
      <p:bldP spid="10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0"/>
          <p:cNvSpPr/>
          <p:nvPr/>
        </p:nvSpPr>
        <p:spPr>
          <a:xfrm>
            <a:off x="912725" y="1637050"/>
            <a:ext cx="6741300" cy="15174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49" name="Google Shape;949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Verification of neural networks</a:t>
            </a:r>
          </a:p>
        </p:txBody>
      </p:sp>
      <p:sp>
        <p:nvSpPr>
          <p:cNvPr id="950" name="Google Shape;950;p50"/>
          <p:cNvSpPr txBox="1"/>
          <p:nvPr/>
        </p:nvSpPr>
        <p:spPr>
          <a:xfrm>
            <a:off x="939525" y="1017713"/>
            <a:ext cx="653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Satisfiability problem: ∃ x ∈ S  ∧  y ≤ 0  ∧  y = f(x) </a:t>
            </a: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1" name="Google Shape;951;p50"/>
          <p:cNvSpPr txBox="1"/>
          <p:nvPr/>
        </p:nvSpPr>
        <p:spPr>
          <a:xfrm>
            <a:off x="939525" y="2042425"/>
            <a:ext cx="754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((z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 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≥ 0 ∧ ẑ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lang="en-GB" sz="1800">
                <a:solidFill>
                  <a:srgbClr val="BD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∨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0 ∧ ẑ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0))  for each ReLU neuron</a:t>
            </a:r>
            <a:endParaRPr sz="180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2" name="Google Shape;952;p50"/>
          <p:cNvSpPr txBox="1"/>
          <p:nvPr/>
        </p:nvSpPr>
        <p:spPr>
          <a:xfrm>
            <a:off x="939525" y="2646500"/>
            <a:ext cx="716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x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     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ẑ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(1)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y=w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(3)T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ẑ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 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   y ≤ 0 </a:t>
            </a:r>
            <a:endParaRPr sz="2100" baseline="30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3" name="Google Shape;953;p50"/>
          <p:cNvSpPr txBox="1"/>
          <p:nvPr/>
        </p:nvSpPr>
        <p:spPr>
          <a:xfrm>
            <a:off x="939525" y="3254913"/>
            <a:ext cx="653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Add all clauses to the formula and solve using DPLL(T) with Linear Real Arithmetic.</a:t>
            </a: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4" name="Google Shape;954;p50"/>
          <p:cNvSpPr txBox="1"/>
          <p:nvPr/>
        </p:nvSpPr>
        <p:spPr>
          <a:xfrm>
            <a:off x="939525" y="3998063"/>
            <a:ext cx="6531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 general this is very slow! </a:t>
            </a:r>
            <a:endParaRPr sz="20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5" name="Google Shape;955;p50"/>
          <p:cNvSpPr txBox="1"/>
          <p:nvPr/>
        </p:nvSpPr>
        <p:spPr>
          <a:xfrm>
            <a:off x="957125" y="1565450"/>
            <a:ext cx="54135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≤ u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 x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18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≥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 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each dimension of x</a:t>
            </a:r>
            <a:endParaRPr sz="180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aseline="-25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Google Shape;943;p49">
            <a:extLst>
              <a:ext uri="{FF2B5EF4-FFF2-40B4-BE49-F238E27FC236}">
                <a16:creationId xmlns:a16="http://schemas.microsoft.com/office/drawing/2014/main" id="{3DA676A5-91F2-44ED-39C0-AB1DFDDA06CE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31150" y="3191926"/>
            <a:ext cx="1002725" cy="7838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EF5B0C-588F-E8DD-5C0C-A7EA29447A28}"/>
                  </a:ext>
                </a:extLst>
              </p:cNvPr>
              <p:cNvSpPr txBox="1"/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EF5B0C-588F-E8DD-5C0C-A7EA29447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998;p51">
                <a:extLst>
                  <a:ext uri="{FF2B5EF4-FFF2-40B4-BE49-F238E27FC236}">
                    <a16:creationId xmlns:a16="http://schemas.microsoft.com/office/drawing/2014/main" id="{90289886-8EAD-4ACB-60C3-40D5D1584001}"/>
                  </a:ext>
                </a:extLst>
              </p:cNvPr>
              <p:cNvSpPr txBox="1"/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sz="12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4" name="Google Shape;998;p51">
                <a:extLst>
                  <a:ext uri="{FF2B5EF4-FFF2-40B4-BE49-F238E27FC236}">
                    <a16:creationId xmlns:a16="http://schemas.microsoft.com/office/drawing/2014/main" id="{90289886-8EAD-4ACB-60C3-40D5D1584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139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Today: More efficient algorithms for NN verification</a:t>
            </a:r>
          </a:p>
        </p:txBody>
      </p:sp>
      <p:sp>
        <p:nvSpPr>
          <p:cNvPr id="352" name="Google Shape;35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0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Solving neural network verification using SMT solvers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Solving neural network verification using optimization (MIP/LP)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070C0"/>
                </a:solidFill>
              </a:rPr>
              <a:t>Solving neural network verification using </a:t>
            </a:r>
            <a:r>
              <a:rPr lang="en-GB" b="1" dirty="0">
                <a:solidFill>
                  <a:srgbClr val="0070C0"/>
                </a:solidFill>
              </a:rPr>
              <a:t>bound propagation</a:t>
            </a:r>
            <a:endParaRPr b="1" dirty="0">
              <a:solidFill>
                <a:srgbClr val="0070C0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solidFill>
                  <a:srgbClr val="0070C0"/>
                </a:solidFill>
              </a:rPr>
              <a:t>Interval bound propagation (IBP)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solidFill>
                  <a:srgbClr val="0070C0"/>
                </a:solidFill>
              </a:rPr>
              <a:t>Linear (symbolic) bound propagation (CROWN)</a:t>
            </a:r>
          </a:p>
        </p:txBody>
      </p:sp>
      <p:sp>
        <p:nvSpPr>
          <p:cNvPr id="353" name="Google Shape;353;p25"/>
          <p:cNvSpPr txBox="1"/>
          <p:nvPr/>
        </p:nvSpPr>
        <p:spPr>
          <a:xfrm>
            <a:off x="141517" y="3417500"/>
            <a:ext cx="292317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Efficient methods are typically incomplete (solving a lower bound, as tight as possible)</a:t>
            </a:r>
            <a:endParaRPr sz="1800" dirty="0">
              <a:solidFill>
                <a:schemeClr val="dk2"/>
              </a:solidFill>
            </a:endParaRPr>
          </a:p>
        </p:txBody>
      </p:sp>
      <p:grpSp>
        <p:nvGrpSpPr>
          <p:cNvPr id="354" name="Google Shape;354;p25"/>
          <p:cNvGrpSpPr/>
          <p:nvPr/>
        </p:nvGrpSpPr>
        <p:grpSpPr>
          <a:xfrm>
            <a:off x="3194325" y="3240963"/>
            <a:ext cx="2664050" cy="1823063"/>
            <a:chOff x="3194325" y="3012363"/>
            <a:chExt cx="2664050" cy="1823063"/>
          </a:xfrm>
        </p:grpSpPr>
        <p:cxnSp>
          <p:nvCxnSpPr>
            <p:cNvPr id="355" name="Google Shape;355;p25"/>
            <p:cNvCxnSpPr/>
            <p:nvPr/>
          </p:nvCxnSpPr>
          <p:spPr>
            <a:xfrm>
              <a:off x="3438919" y="3012363"/>
              <a:ext cx="0" cy="1755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356" name="Google Shape;356;p25"/>
            <p:cNvCxnSpPr/>
            <p:nvPr/>
          </p:nvCxnSpPr>
          <p:spPr>
            <a:xfrm>
              <a:off x="3194325" y="4374463"/>
              <a:ext cx="266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57" name="Google Shape;357;p25"/>
            <p:cNvSpPr/>
            <p:nvPr/>
          </p:nvSpPr>
          <p:spPr>
            <a:xfrm>
              <a:off x="3438007" y="3334642"/>
              <a:ext cx="2319243" cy="1062076"/>
            </a:xfrm>
            <a:custGeom>
              <a:avLst/>
              <a:gdLst/>
              <a:ahLst/>
              <a:cxnLst/>
              <a:rect l="l" t="t" r="r" b="b"/>
              <a:pathLst>
                <a:path w="134644" h="61659" extrusionOk="0">
                  <a:moveTo>
                    <a:pt x="0" y="61659"/>
                  </a:moveTo>
                  <a:cubicBezTo>
                    <a:pt x="3006" y="56696"/>
                    <a:pt x="9788" y="35443"/>
                    <a:pt x="18037" y="31878"/>
                  </a:cubicBezTo>
                  <a:cubicBezTo>
                    <a:pt x="26286" y="28313"/>
                    <a:pt x="41735" y="40826"/>
                    <a:pt x="49495" y="40267"/>
                  </a:cubicBezTo>
                  <a:cubicBezTo>
                    <a:pt x="57255" y="39708"/>
                    <a:pt x="59003" y="29502"/>
                    <a:pt x="64596" y="28523"/>
                  </a:cubicBezTo>
                  <a:cubicBezTo>
                    <a:pt x="70189" y="27544"/>
                    <a:pt x="76829" y="37471"/>
                    <a:pt x="83051" y="34395"/>
                  </a:cubicBezTo>
                  <a:cubicBezTo>
                    <a:pt x="89273" y="31319"/>
                    <a:pt x="93328" y="15800"/>
                    <a:pt x="101927" y="10067"/>
                  </a:cubicBezTo>
                  <a:cubicBezTo>
                    <a:pt x="110526" y="4335"/>
                    <a:pt x="129191" y="1678"/>
                    <a:pt x="134644" y="0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58" name="Google Shape;358;p25"/>
            <p:cNvCxnSpPr/>
            <p:nvPr/>
          </p:nvCxnSpPr>
          <p:spPr>
            <a:xfrm rot="10800000">
              <a:off x="3841987" y="3417511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Google Shape;359;p25"/>
            <p:cNvCxnSpPr/>
            <p:nvPr/>
          </p:nvCxnSpPr>
          <p:spPr>
            <a:xfrm>
              <a:off x="3831375" y="4374458"/>
              <a:ext cx="1141800" cy="0"/>
            </a:xfrm>
            <a:prstGeom prst="straightConnector1">
              <a:avLst/>
            </a:prstGeom>
            <a:noFill/>
            <a:ln w="38100" cap="flat" cmpd="sng">
              <a:solidFill>
                <a:srgbClr val="A4C2F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0" name="Google Shape;360;p25"/>
            <p:cNvSpPr/>
            <p:nvPr/>
          </p:nvSpPr>
          <p:spPr>
            <a:xfrm>
              <a:off x="3844025" y="3799813"/>
              <a:ext cx="1139300" cy="234175"/>
            </a:xfrm>
            <a:custGeom>
              <a:avLst/>
              <a:gdLst/>
              <a:ahLst/>
              <a:cxnLst/>
              <a:rect l="l" t="t" r="r" b="b"/>
              <a:pathLst>
                <a:path w="45572" h="9367" extrusionOk="0">
                  <a:moveTo>
                    <a:pt x="0" y="3198"/>
                  </a:moveTo>
                  <a:cubicBezTo>
                    <a:pt x="644" y="3354"/>
                    <a:pt x="822" y="3109"/>
                    <a:pt x="3864" y="4131"/>
                  </a:cubicBezTo>
                  <a:cubicBezTo>
                    <a:pt x="6907" y="5153"/>
                    <a:pt x="14188" y="9842"/>
                    <a:pt x="18255" y="9328"/>
                  </a:cubicBezTo>
                  <a:cubicBezTo>
                    <a:pt x="22322" y="8814"/>
                    <a:pt x="24846" y="1667"/>
                    <a:pt x="28266" y="1045"/>
                  </a:cubicBezTo>
                  <a:cubicBezTo>
                    <a:pt x="31686" y="423"/>
                    <a:pt x="36292" y="5283"/>
                    <a:pt x="38776" y="5597"/>
                  </a:cubicBezTo>
                  <a:cubicBezTo>
                    <a:pt x="41261" y="5912"/>
                    <a:pt x="42040" y="3865"/>
                    <a:pt x="43173" y="2932"/>
                  </a:cubicBezTo>
                  <a:cubicBezTo>
                    <a:pt x="44306" y="1999"/>
                    <a:pt x="45172" y="489"/>
                    <a:pt x="45572" y="0"/>
                  </a:cubicBezTo>
                </a:path>
              </a:pathLst>
            </a:cu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61" name="Google Shape;361;p25"/>
            <p:cNvCxnSpPr/>
            <p:nvPr/>
          </p:nvCxnSpPr>
          <p:spPr>
            <a:xfrm rot="10800000">
              <a:off x="4983337" y="3431198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362" name="Google Shape;362;p25" descr="f(x) &gt; 0, \forall x \in \mathcal{S}" title="MathEquation,#000000"/>
            <p:cNvPicPr preferRelativeResize="0"/>
            <p:nvPr/>
          </p:nvPicPr>
          <p:blipFill rotWithShape="1">
            <a:blip r:embed="rId3"/>
            <a:srcRect l="88467" r="-4" b="9057"/>
            <a:stretch>
              <a:fillRect/>
            </a:stretch>
          </p:blipFill>
          <p:spPr>
            <a:xfrm>
              <a:off x="4318759" y="4612250"/>
              <a:ext cx="172900" cy="22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" name="Google Shape;363;p25"/>
            <p:cNvSpPr/>
            <p:nvPr/>
          </p:nvSpPr>
          <p:spPr>
            <a:xfrm rot="-5400000">
              <a:off x="4324300" y="3943025"/>
              <a:ext cx="168300" cy="11397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4" name="Google Shape;364;p25"/>
            <p:cNvCxnSpPr/>
            <p:nvPr/>
          </p:nvCxnSpPr>
          <p:spPr>
            <a:xfrm>
              <a:off x="3438000" y="4198988"/>
              <a:ext cx="1608600" cy="105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365" name="Google Shape;365;p25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5109300" y="4017288"/>
              <a:ext cx="299850" cy="31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5"/>
            <p:cNvSpPr txBox="1"/>
            <p:nvPr/>
          </p:nvSpPr>
          <p:spPr>
            <a:xfrm>
              <a:off x="5285375" y="3012375"/>
              <a:ext cx="57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2"/>
                  </a:solidFill>
                </a:rPr>
                <a:t>f(x)</a:t>
              </a:r>
            </a:p>
          </p:txBody>
        </p:sp>
      </p:grpSp>
      <p:pic>
        <p:nvPicPr>
          <p:cNvPr id="367" name="Google Shape;367;p25" descr=" \displaystyle y^* = \min_{x \in \mathcal{S}} f(x)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727925" y="3527853"/>
            <a:ext cx="1817680" cy="5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faster ways to calculate the bounds on f(x)?</a:t>
            </a:r>
          </a:p>
        </p:txBody>
      </p:sp>
      <p:grpSp>
        <p:nvGrpSpPr>
          <p:cNvPr id="373" name="Google Shape;373;p26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grpSp>
          <p:nvGrpSpPr>
            <p:cNvPr id="374" name="Google Shape;374;p26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375" name="Google Shape;375;p26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6"/>
              <p:cNvSpPr/>
              <p:nvPr/>
            </p:nvSpPr>
            <p:spPr>
              <a:xfrm>
                <a:off x="2294125" y="23127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6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0" name="Google Shape;380;p26"/>
              <p:cNvCxnSpPr>
                <a:stCxn id="375" idx="6"/>
                <a:endCxn id="377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1" name="Google Shape;381;p26"/>
              <p:cNvCxnSpPr>
                <a:stCxn id="375" idx="6"/>
                <a:endCxn id="378" idx="2"/>
              </p:cNvCxnSpPr>
              <p:nvPr/>
            </p:nvCxnSpPr>
            <p:spPr>
              <a:xfrm>
                <a:off x="1498800" y="2080600"/>
                <a:ext cx="795300" cy="34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26"/>
              <p:cNvCxnSpPr>
                <a:stCxn id="376" idx="6"/>
                <a:endCxn id="377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26"/>
              <p:cNvCxnSpPr>
                <a:stCxn id="376" idx="6"/>
                <a:endCxn id="378" idx="2"/>
              </p:cNvCxnSpPr>
              <p:nvPr/>
            </p:nvCxnSpPr>
            <p:spPr>
              <a:xfrm rot="10800000" flipH="1">
                <a:off x="1498800" y="2428800"/>
                <a:ext cx="795300" cy="25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26"/>
              <p:cNvCxnSpPr>
                <a:stCxn id="376" idx="6"/>
                <a:endCxn id="379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26"/>
              <p:cNvCxnSpPr>
                <a:stCxn id="375" idx="6"/>
                <a:endCxn id="379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86" name="Google Shape;386;p26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387" name="Google Shape;387;p26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</p:grpSp>
      <p:grpSp>
        <p:nvGrpSpPr>
          <p:cNvPr id="388" name="Google Shape;388;p26"/>
          <p:cNvGrpSpPr/>
          <p:nvPr/>
        </p:nvGrpSpPr>
        <p:grpSpPr>
          <a:xfrm>
            <a:off x="5283838" y="1420450"/>
            <a:ext cx="1113500" cy="1465725"/>
            <a:chOff x="3458500" y="1732750"/>
            <a:chExt cx="1113500" cy="1465725"/>
          </a:xfrm>
        </p:grpSpPr>
        <p:sp>
          <p:nvSpPr>
            <p:cNvPr id="389" name="Google Shape;389;p26"/>
            <p:cNvSpPr/>
            <p:nvPr/>
          </p:nvSpPr>
          <p:spPr>
            <a:xfrm>
              <a:off x="3458500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3458500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3458500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4340100" y="229960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3" name="Google Shape;393;p26"/>
            <p:cNvCxnSpPr>
              <a:stCxn id="389" idx="6"/>
              <a:endCxn id="392" idx="2"/>
            </p:cNvCxnSpPr>
            <p:nvPr/>
          </p:nvCxnSpPr>
          <p:spPr>
            <a:xfrm>
              <a:off x="3690400" y="1848700"/>
              <a:ext cx="649800" cy="56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26"/>
            <p:cNvCxnSpPr>
              <a:stCxn id="390" idx="6"/>
              <a:endCxn id="392" idx="2"/>
            </p:cNvCxnSpPr>
            <p:nvPr/>
          </p:nvCxnSpPr>
          <p:spPr>
            <a:xfrm rot="10800000" flipH="1">
              <a:off x="3690400" y="2415525"/>
              <a:ext cx="649800" cy="1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26"/>
            <p:cNvCxnSpPr>
              <a:stCxn id="391" idx="6"/>
              <a:endCxn id="392" idx="2"/>
            </p:cNvCxnSpPr>
            <p:nvPr/>
          </p:nvCxnSpPr>
          <p:spPr>
            <a:xfrm rot="10800000" flipH="1">
              <a:off x="3690400" y="2415625"/>
              <a:ext cx="649800" cy="66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96" name="Google Shape;396;p26"/>
          <p:cNvGrpSpPr/>
          <p:nvPr/>
        </p:nvGrpSpPr>
        <p:grpSpPr>
          <a:xfrm>
            <a:off x="3692825" y="1536325"/>
            <a:ext cx="932400" cy="1233975"/>
            <a:chOff x="2526100" y="1848625"/>
            <a:chExt cx="932400" cy="1233975"/>
          </a:xfrm>
        </p:grpSpPr>
        <p:cxnSp>
          <p:nvCxnSpPr>
            <p:cNvPr id="397" name="Google Shape;397;p26"/>
            <p:cNvCxnSpPr/>
            <p:nvPr/>
          </p:nvCxnSpPr>
          <p:spPr>
            <a:xfrm>
              <a:off x="2526100" y="184870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26"/>
            <p:cNvCxnSpPr/>
            <p:nvPr/>
          </p:nvCxnSpPr>
          <p:spPr>
            <a:xfrm>
              <a:off x="2526100" y="241555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26"/>
            <p:cNvCxnSpPr/>
            <p:nvPr/>
          </p:nvCxnSpPr>
          <p:spPr>
            <a:xfrm>
              <a:off x="2526100" y="3082525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26"/>
            <p:cNvCxnSpPr/>
            <p:nvPr/>
          </p:nvCxnSpPr>
          <p:spPr>
            <a:xfrm>
              <a:off x="2526100" y="1848825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26"/>
            <p:cNvCxnSpPr/>
            <p:nvPr/>
          </p:nvCxnSpPr>
          <p:spPr>
            <a:xfrm>
              <a:off x="2526100" y="1848625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26"/>
            <p:cNvCxnSpPr/>
            <p:nvPr/>
          </p:nvCxnSpPr>
          <p:spPr>
            <a:xfrm rot="10800000" flipH="1">
              <a:off x="2526100" y="1848700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26"/>
            <p:cNvCxnSpPr/>
            <p:nvPr/>
          </p:nvCxnSpPr>
          <p:spPr>
            <a:xfrm rot="10800000" flipH="1">
              <a:off x="2526100" y="1848700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26"/>
            <p:cNvCxnSpPr/>
            <p:nvPr/>
          </p:nvCxnSpPr>
          <p:spPr>
            <a:xfrm>
              <a:off x="2526100" y="24288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26"/>
            <p:cNvCxnSpPr/>
            <p:nvPr/>
          </p:nvCxnSpPr>
          <p:spPr>
            <a:xfrm rot="10800000" flipH="1">
              <a:off x="2526100" y="24287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6" name="Google Shape;406;p26"/>
          <p:cNvGrpSpPr/>
          <p:nvPr/>
        </p:nvGrpSpPr>
        <p:grpSpPr>
          <a:xfrm>
            <a:off x="3460913" y="1420438"/>
            <a:ext cx="231900" cy="1465725"/>
            <a:chOff x="2294125" y="1732750"/>
            <a:chExt cx="231900" cy="1465725"/>
          </a:xfrm>
        </p:grpSpPr>
        <p:sp>
          <p:nvSpPr>
            <p:cNvPr id="407" name="Google Shape;407;p26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0" name="Google Shape;410;p26"/>
          <p:cNvGrpSpPr/>
          <p:nvPr/>
        </p:nvGrpSpPr>
        <p:grpSpPr>
          <a:xfrm>
            <a:off x="4599813" y="1420450"/>
            <a:ext cx="231900" cy="1465725"/>
            <a:chOff x="2294125" y="1732750"/>
            <a:chExt cx="231900" cy="1465725"/>
          </a:xfrm>
        </p:grpSpPr>
        <p:sp>
          <p:nvSpPr>
            <p:cNvPr id="411" name="Google Shape;411;p26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4" name="Google Shape;414;p26"/>
          <p:cNvCxnSpPr>
            <a:stCxn id="377" idx="6"/>
            <a:endCxn id="407" idx="2"/>
          </p:cNvCxnSpPr>
          <p:nvPr/>
        </p:nvCxnSpPr>
        <p:spPr>
          <a:xfrm>
            <a:off x="3076850" y="1536388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26"/>
          <p:cNvCxnSpPr>
            <a:stCxn id="378" idx="6"/>
            <a:endCxn id="408" idx="2"/>
          </p:cNvCxnSpPr>
          <p:nvPr/>
        </p:nvCxnSpPr>
        <p:spPr>
          <a:xfrm>
            <a:off x="3076850" y="2116413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26"/>
          <p:cNvCxnSpPr>
            <a:stCxn id="379" idx="6"/>
            <a:endCxn id="409" idx="2"/>
          </p:cNvCxnSpPr>
          <p:nvPr/>
        </p:nvCxnSpPr>
        <p:spPr>
          <a:xfrm>
            <a:off x="3076850" y="2770213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26"/>
          <p:cNvCxnSpPr>
            <a:stCxn id="411" idx="6"/>
            <a:endCxn id="389" idx="2"/>
          </p:cNvCxnSpPr>
          <p:nvPr/>
        </p:nvCxnSpPr>
        <p:spPr>
          <a:xfrm>
            <a:off x="4831713" y="1536400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8" name="Google Shape;418;p26"/>
          <p:cNvCxnSpPr>
            <a:stCxn id="412" idx="6"/>
            <a:endCxn id="390" idx="2"/>
          </p:cNvCxnSpPr>
          <p:nvPr/>
        </p:nvCxnSpPr>
        <p:spPr>
          <a:xfrm>
            <a:off x="4831713" y="2116425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26"/>
          <p:cNvCxnSpPr>
            <a:stCxn id="413" idx="6"/>
            <a:endCxn id="391" idx="2"/>
          </p:cNvCxnSpPr>
          <p:nvPr/>
        </p:nvCxnSpPr>
        <p:spPr>
          <a:xfrm>
            <a:off x="4831713" y="2770225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0" name="Google Shape;420;p26"/>
          <p:cNvSpPr txBox="1"/>
          <p:nvPr/>
        </p:nvSpPr>
        <p:spPr>
          <a:xfrm>
            <a:off x="6397375" y="1808350"/>
            <a:ext cx="85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y=f(x)</a:t>
            </a:r>
          </a:p>
        </p:txBody>
      </p:sp>
      <p:grpSp>
        <p:nvGrpSpPr>
          <p:cNvPr id="421" name="Google Shape;421;p26"/>
          <p:cNvGrpSpPr/>
          <p:nvPr/>
        </p:nvGrpSpPr>
        <p:grpSpPr>
          <a:xfrm>
            <a:off x="3194325" y="3240963"/>
            <a:ext cx="2664050" cy="1823063"/>
            <a:chOff x="3194325" y="3012363"/>
            <a:chExt cx="2664050" cy="1823063"/>
          </a:xfrm>
        </p:grpSpPr>
        <p:cxnSp>
          <p:nvCxnSpPr>
            <p:cNvPr id="422" name="Google Shape;422;p26"/>
            <p:cNvCxnSpPr/>
            <p:nvPr/>
          </p:nvCxnSpPr>
          <p:spPr>
            <a:xfrm>
              <a:off x="3438919" y="3012363"/>
              <a:ext cx="0" cy="1755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423" name="Google Shape;423;p26"/>
            <p:cNvCxnSpPr/>
            <p:nvPr/>
          </p:nvCxnSpPr>
          <p:spPr>
            <a:xfrm>
              <a:off x="3194325" y="4374463"/>
              <a:ext cx="266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4" name="Google Shape;424;p26"/>
            <p:cNvSpPr/>
            <p:nvPr/>
          </p:nvSpPr>
          <p:spPr>
            <a:xfrm>
              <a:off x="3438007" y="3334642"/>
              <a:ext cx="2319243" cy="1062076"/>
            </a:xfrm>
            <a:custGeom>
              <a:avLst/>
              <a:gdLst/>
              <a:ahLst/>
              <a:cxnLst/>
              <a:rect l="l" t="t" r="r" b="b"/>
              <a:pathLst>
                <a:path w="134644" h="61659" extrusionOk="0">
                  <a:moveTo>
                    <a:pt x="0" y="61659"/>
                  </a:moveTo>
                  <a:cubicBezTo>
                    <a:pt x="3006" y="56696"/>
                    <a:pt x="9788" y="35443"/>
                    <a:pt x="18037" y="31878"/>
                  </a:cubicBezTo>
                  <a:cubicBezTo>
                    <a:pt x="26286" y="28313"/>
                    <a:pt x="41735" y="40826"/>
                    <a:pt x="49495" y="40267"/>
                  </a:cubicBezTo>
                  <a:cubicBezTo>
                    <a:pt x="57255" y="39708"/>
                    <a:pt x="59003" y="29502"/>
                    <a:pt x="64596" y="28523"/>
                  </a:cubicBezTo>
                  <a:cubicBezTo>
                    <a:pt x="70189" y="27544"/>
                    <a:pt x="76829" y="37471"/>
                    <a:pt x="83051" y="34395"/>
                  </a:cubicBezTo>
                  <a:cubicBezTo>
                    <a:pt x="89273" y="31319"/>
                    <a:pt x="93328" y="15800"/>
                    <a:pt x="101927" y="10067"/>
                  </a:cubicBezTo>
                  <a:cubicBezTo>
                    <a:pt x="110526" y="4335"/>
                    <a:pt x="129191" y="1678"/>
                    <a:pt x="134644" y="0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25" name="Google Shape;425;p26"/>
            <p:cNvCxnSpPr/>
            <p:nvPr/>
          </p:nvCxnSpPr>
          <p:spPr>
            <a:xfrm rot="10800000">
              <a:off x="3841987" y="3417511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6"/>
            <p:cNvCxnSpPr/>
            <p:nvPr/>
          </p:nvCxnSpPr>
          <p:spPr>
            <a:xfrm>
              <a:off x="3831375" y="4374458"/>
              <a:ext cx="1141800" cy="0"/>
            </a:xfrm>
            <a:prstGeom prst="straightConnector1">
              <a:avLst/>
            </a:prstGeom>
            <a:noFill/>
            <a:ln w="38100" cap="flat" cmpd="sng">
              <a:solidFill>
                <a:srgbClr val="A4C2F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7" name="Google Shape;427;p26"/>
            <p:cNvSpPr/>
            <p:nvPr/>
          </p:nvSpPr>
          <p:spPr>
            <a:xfrm>
              <a:off x="3844025" y="3799813"/>
              <a:ext cx="1139300" cy="234175"/>
            </a:xfrm>
            <a:custGeom>
              <a:avLst/>
              <a:gdLst/>
              <a:ahLst/>
              <a:cxnLst/>
              <a:rect l="l" t="t" r="r" b="b"/>
              <a:pathLst>
                <a:path w="45572" h="9367" extrusionOk="0">
                  <a:moveTo>
                    <a:pt x="0" y="3198"/>
                  </a:moveTo>
                  <a:cubicBezTo>
                    <a:pt x="644" y="3354"/>
                    <a:pt x="822" y="3109"/>
                    <a:pt x="3864" y="4131"/>
                  </a:cubicBezTo>
                  <a:cubicBezTo>
                    <a:pt x="6907" y="5153"/>
                    <a:pt x="14188" y="9842"/>
                    <a:pt x="18255" y="9328"/>
                  </a:cubicBezTo>
                  <a:cubicBezTo>
                    <a:pt x="22322" y="8814"/>
                    <a:pt x="24846" y="1667"/>
                    <a:pt x="28266" y="1045"/>
                  </a:cubicBezTo>
                  <a:cubicBezTo>
                    <a:pt x="31686" y="423"/>
                    <a:pt x="36292" y="5283"/>
                    <a:pt x="38776" y="5597"/>
                  </a:cubicBezTo>
                  <a:cubicBezTo>
                    <a:pt x="41261" y="5912"/>
                    <a:pt x="42040" y="3865"/>
                    <a:pt x="43173" y="2932"/>
                  </a:cubicBezTo>
                  <a:cubicBezTo>
                    <a:pt x="44306" y="1999"/>
                    <a:pt x="45172" y="489"/>
                    <a:pt x="45572" y="0"/>
                  </a:cubicBezTo>
                </a:path>
              </a:pathLst>
            </a:cu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28" name="Google Shape;428;p26"/>
            <p:cNvCxnSpPr/>
            <p:nvPr/>
          </p:nvCxnSpPr>
          <p:spPr>
            <a:xfrm rot="10800000">
              <a:off x="4983337" y="3431198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429" name="Google Shape;429;p26" descr="f(x) &gt; 0, \forall x \in \mathcal{S}" title="MathEquation,#000000"/>
            <p:cNvPicPr preferRelativeResize="0"/>
            <p:nvPr/>
          </p:nvPicPr>
          <p:blipFill rotWithShape="1">
            <a:blip r:embed="rId3"/>
            <a:srcRect l="88467" r="-4" b="9057"/>
            <a:stretch>
              <a:fillRect/>
            </a:stretch>
          </p:blipFill>
          <p:spPr>
            <a:xfrm>
              <a:off x="4318759" y="4612250"/>
              <a:ext cx="172900" cy="22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26"/>
            <p:cNvSpPr/>
            <p:nvPr/>
          </p:nvSpPr>
          <p:spPr>
            <a:xfrm rot="-5400000">
              <a:off x="4324300" y="3943025"/>
              <a:ext cx="168300" cy="11397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1" name="Google Shape;431;p26"/>
            <p:cNvCxnSpPr/>
            <p:nvPr/>
          </p:nvCxnSpPr>
          <p:spPr>
            <a:xfrm>
              <a:off x="3438000" y="4198988"/>
              <a:ext cx="1608600" cy="105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432" name="Google Shape;432;p26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5109300" y="4017288"/>
              <a:ext cx="299850" cy="31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26"/>
            <p:cNvSpPr txBox="1"/>
            <p:nvPr/>
          </p:nvSpPr>
          <p:spPr>
            <a:xfrm>
              <a:off x="5285375" y="3012375"/>
              <a:ext cx="57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2"/>
                  </a:solidFill>
                </a:rPr>
                <a:t>f(x)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closer look at the linear programming relaxation</a:t>
            </a:r>
          </a:p>
        </p:txBody>
      </p:sp>
      <p:grpSp>
        <p:nvGrpSpPr>
          <p:cNvPr id="687" name="Google Shape;687;p43"/>
          <p:cNvGrpSpPr/>
          <p:nvPr/>
        </p:nvGrpSpPr>
        <p:grpSpPr>
          <a:xfrm>
            <a:off x="708225" y="2905400"/>
            <a:ext cx="2604000" cy="1721575"/>
            <a:chOff x="1988800" y="2213825"/>
            <a:chExt cx="2604000" cy="1721575"/>
          </a:xfrm>
        </p:grpSpPr>
        <p:grpSp>
          <p:nvGrpSpPr>
            <p:cNvPr id="688" name="Google Shape;688;p43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689" name="Google Shape;689;p43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690" name="Google Shape;690;p43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91" name="Google Shape;691;p43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692" name="Google Shape;692;p43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43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94" name="Google Shape;694;p43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95" name="Google Shape;695;p43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696" name="Google Shape;696;p43"/>
            <p:cNvCxnSpPr/>
            <p:nvPr/>
          </p:nvCxnSpPr>
          <p:spPr>
            <a:xfrm rot="10800000">
              <a:off x="2229850" y="25123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43"/>
            <p:cNvCxnSpPr/>
            <p:nvPr/>
          </p:nvCxnSpPr>
          <p:spPr>
            <a:xfrm rot="10800000">
              <a:off x="4001500" y="24391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8" name="Google Shape;698;p43"/>
            <p:cNvSpPr txBox="1"/>
            <p:nvPr/>
          </p:nvSpPr>
          <p:spPr>
            <a:xfrm>
              <a:off x="1988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699" name="Google Shape;699;p43"/>
            <p:cNvSpPr txBox="1"/>
            <p:nvPr/>
          </p:nvSpPr>
          <p:spPr>
            <a:xfrm>
              <a:off x="37604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00" name="Google Shape;700;p43"/>
          <p:cNvCxnSpPr/>
          <p:nvPr/>
        </p:nvCxnSpPr>
        <p:spPr>
          <a:xfrm>
            <a:off x="266725" y="3983575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43"/>
          <p:cNvCxnSpPr/>
          <p:nvPr/>
        </p:nvCxnSpPr>
        <p:spPr>
          <a:xfrm rot="10800000" flipH="1">
            <a:off x="1011975" y="2861850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2" name="Google Shape;702;p43"/>
          <p:cNvCxnSpPr/>
          <p:nvPr/>
        </p:nvCxnSpPr>
        <p:spPr>
          <a:xfrm rot="10800000" flipH="1">
            <a:off x="404300" y="2999300"/>
            <a:ext cx="2624700" cy="12171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43"/>
          <p:cNvSpPr txBox="1"/>
          <p:nvPr/>
        </p:nvSpPr>
        <p:spPr>
          <a:xfrm>
            <a:off x="393700" y="1136650"/>
            <a:ext cx="76518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MILP: solutions are constrained on </a:t>
            </a:r>
            <a:r>
              <a:rPr lang="en-GB" sz="1800">
                <a:solidFill>
                  <a:srgbClr val="980000"/>
                </a:solidFill>
              </a:rPr>
              <a:t>ReLU function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programming: solutions are constrained on the </a:t>
            </a:r>
            <a:r>
              <a:rPr lang="en-GB" sz="1800">
                <a:solidFill>
                  <a:srgbClr val="4A86E8"/>
                </a:solidFill>
              </a:rPr>
              <a:t>triangle</a:t>
            </a:r>
            <a:endParaRPr sz="1800">
              <a:solidFill>
                <a:srgbClr val="4A86E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A86E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We want the triangle to be as small as possible! So tight pre-activation bounds are necessary.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04" name="Google Shape;704;p43"/>
          <p:cNvGrpSpPr/>
          <p:nvPr/>
        </p:nvGrpSpPr>
        <p:grpSpPr>
          <a:xfrm>
            <a:off x="5615525" y="3029175"/>
            <a:ext cx="2601025" cy="1721575"/>
            <a:chOff x="1991775" y="2213825"/>
            <a:chExt cx="2601025" cy="1721575"/>
          </a:xfrm>
        </p:grpSpPr>
        <p:grpSp>
          <p:nvGrpSpPr>
            <p:cNvPr id="705" name="Google Shape;705;p43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06" name="Google Shape;706;p43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07" name="Google Shape;707;p43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08" name="Google Shape;708;p43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09" name="Google Shape;709;p43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0" name="Google Shape;710;p43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11" name="Google Shape;711;p43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12" name="Google Shape;712;p43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13" name="Google Shape;713;p43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4" name="Google Shape;714;p43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5" name="Google Shape;715;p43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16" name="Google Shape;716;p43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17" name="Google Shape;717;p43"/>
          <p:cNvCxnSpPr/>
          <p:nvPr/>
        </p:nvCxnSpPr>
        <p:spPr>
          <a:xfrm>
            <a:off x="5171050" y="41073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" name="Google Shape;718;p43"/>
          <p:cNvCxnSpPr/>
          <p:nvPr/>
        </p:nvCxnSpPr>
        <p:spPr>
          <a:xfrm rot="10800000" flipH="1">
            <a:off x="5916300" y="2985625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9" name="Google Shape;719;p43"/>
          <p:cNvCxnSpPr/>
          <p:nvPr/>
        </p:nvCxnSpPr>
        <p:spPr>
          <a:xfrm rot="10800000" flipH="1">
            <a:off x="5420775" y="3281475"/>
            <a:ext cx="2644800" cy="11868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Stable vs. unstable neurons</a:t>
            </a:r>
          </a:p>
        </p:txBody>
      </p:sp>
      <p:sp>
        <p:nvSpPr>
          <p:cNvPr id="725" name="Google Shape;725;p44"/>
          <p:cNvSpPr txBox="1"/>
          <p:nvPr/>
        </p:nvSpPr>
        <p:spPr>
          <a:xfrm>
            <a:off x="393700" y="1136650"/>
            <a:ext cx="76518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If bounds are tight enough so l</a:t>
            </a:r>
            <a:r>
              <a:rPr lang="en-GB" sz="1800" baseline="-25000">
                <a:solidFill>
                  <a:schemeClr val="dk2"/>
                </a:solidFill>
              </a:rPr>
              <a:t>j</a:t>
            </a:r>
            <a:r>
              <a:rPr lang="en-GB" sz="1800" baseline="30000">
                <a:solidFill>
                  <a:schemeClr val="dk2"/>
                </a:solidFill>
              </a:rPr>
              <a:t>(i)</a:t>
            </a:r>
            <a:r>
              <a:rPr lang="en-GB" sz="1800">
                <a:solidFill>
                  <a:schemeClr val="dk2"/>
                </a:solidFill>
              </a:rPr>
              <a:t> ≥</a:t>
            </a:r>
            <a:r>
              <a:rPr lang="en-GB" sz="2000">
                <a:solidFill>
                  <a:schemeClr val="dk2"/>
                </a:solidFill>
              </a:rPr>
              <a:t> 0 or </a:t>
            </a:r>
            <a:r>
              <a:rPr lang="en-GB" sz="1800">
                <a:solidFill>
                  <a:schemeClr val="dk2"/>
                </a:solidFill>
              </a:rPr>
              <a:t>u</a:t>
            </a:r>
            <a:r>
              <a:rPr lang="en-GB" sz="1800" baseline="-25000">
                <a:solidFill>
                  <a:schemeClr val="dk2"/>
                </a:solidFill>
              </a:rPr>
              <a:t>j</a:t>
            </a:r>
            <a:r>
              <a:rPr lang="en-GB" sz="1800" baseline="30000">
                <a:solidFill>
                  <a:schemeClr val="dk2"/>
                </a:solidFill>
              </a:rPr>
              <a:t>(i)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2000">
                <a:solidFill>
                  <a:schemeClr val="dk2"/>
                </a:solidFill>
              </a:rPr>
              <a:t>≤</a:t>
            </a:r>
            <a:r>
              <a:rPr lang="en-GB" sz="1800">
                <a:solidFill>
                  <a:schemeClr val="dk2"/>
                </a:solidFill>
              </a:rPr>
              <a:t> 0, it is called stable neurons (active or inactive); otherwise it is a unstable neuron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stable neuron cases, a binary variable in MILP or relaxation in LP is not needed - ReLU becomes a linear function.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726" name="Google Shape;726;p44"/>
          <p:cNvGrpSpPr/>
          <p:nvPr/>
        </p:nvGrpSpPr>
        <p:grpSpPr>
          <a:xfrm>
            <a:off x="-52925" y="3082075"/>
            <a:ext cx="2601025" cy="1721575"/>
            <a:chOff x="1991775" y="2213825"/>
            <a:chExt cx="2601025" cy="1721575"/>
          </a:xfrm>
        </p:grpSpPr>
        <p:grpSp>
          <p:nvGrpSpPr>
            <p:cNvPr id="727" name="Google Shape;727;p44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28" name="Google Shape;728;p44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29" name="Google Shape;729;p44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30" name="Google Shape;730;p44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31" name="Google Shape;731;p44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2" name="Google Shape;732;p44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33" name="Google Shape;733;p44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34" name="Google Shape;734;p44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35" name="Google Shape;735;p44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6" name="Google Shape;736;p44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37" name="Google Shape;737;p44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38" name="Google Shape;738;p44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39" name="Google Shape;739;p44"/>
          <p:cNvCxnSpPr/>
          <p:nvPr/>
        </p:nvCxnSpPr>
        <p:spPr>
          <a:xfrm>
            <a:off x="-497400" y="41602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4"/>
          <p:cNvCxnSpPr/>
          <p:nvPr/>
        </p:nvCxnSpPr>
        <p:spPr>
          <a:xfrm rot="10800000" flipH="1">
            <a:off x="247850" y="3038525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1" name="Google Shape;741;p44"/>
          <p:cNvCxnSpPr/>
          <p:nvPr/>
        </p:nvCxnSpPr>
        <p:spPr>
          <a:xfrm rot="10800000" flipH="1">
            <a:off x="-247675" y="3334375"/>
            <a:ext cx="2644800" cy="11868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42" name="Google Shape;742;p44"/>
          <p:cNvGrpSpPr/>
          <p:nvPr/>
        </p:nvGrpSpPr>
        <p:grpSpPr>
          <a:xfrm>
            <a:off x="3168650" y="3082075"/>
            <a:ext cx="2601025" cy="1721575"/>
            <a:chOff x="1991775" y="2213825"/>
            <a:chExt cx="2601025" cy="1721575"/>
          </a:xfrm>
        </p:grpSpPr>
        <p:grpSp>
          <p:nvGrpSpPr>
            <p:cNvPr id="743" name="Google Shape;743;p44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44" name="Google Shape;744;p44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45" name="Google Shape;745;p44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46" name="Google Shape;746;p44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47" name="Google Shape;747;p44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" name="Google Shape;748;p44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49" name="Google Shape;749;p44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50" name="Google Shape;750;p44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51" name="Google Shape;751;p44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2" name="Google Shape;752;p44"/>
            <p:cNvCxnSpPr/>
            <p:nvPr/>
          </p:nvCxnSpPr>
          <p:spPr>
            <a:xfrm rot="10800000">
              <a:off x="30191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3" name="Google Shape;753;p44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54" name="Google Shape;754;p44"/>
            <p:cNvSpPr txBox="1"/>
            <p:nvPr/>
          </p:nvSpPr>
          <p:spPr>
            <a:xfrm>
              <a:off x="286108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55" name="Google Shape;755;p44"/>
          <p:cNvCxnSpPr/>
          <p:nvPr/>
        </p:nvCxnSpPr>
        <p:spPr>
          <a:xfrm>
            <a:off x="2724175" y="41602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6" name="Google Shape;756;p44"/>
          <p:cNvCxnSpPr/>
          <p:nvPr/>
        </p:nvCxnSpPr>
        <p:spPr>
          <a:xfrm>
            <a:off x="3011938" y="4160250"/>
            <a:ext cx="2381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57" name="Google Shape;757;p44"/>
          <p:cNvGrpSpPr/>
          <p:nvPr/>
        </p:nvGrpSpPr>
        <p:grpSpPr>
          <a:xfrm>
            <a:off x="6355675" y="3205850"/>
            <a:ext cx="2601025" cy="1721575"/>
            <a:chOff x="1991775" y="2213825"/>
            <a:chExt cx="2601025" cy="1721575"/>
          </a:xfrm>
        </p:grpSpPr>
        <p:grpSp>
          <p:nvGrpSpPr>
            <p:cNvPr id="758" name="Google Shape;758;p44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59" name="Google Shape;759;p44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60" name="Google Shape;760;p44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61" name="Google Shape;761;p44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62" name="Google Shape;762;p44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3" name="Google Shape;763;p44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64" name="Google Shape;764;p44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65" name="Google Shape;765;p44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66" name="Google Shape;766;p44"/>
            <p:cNvCxnSpPr/>
            <p:nvPr/>
          </p:nvCxnSpPr>
          <p:spPr>
            <a:xfrm rot="10800000">
              <a:off x="32908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7" name="Google Shape;767;p44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68" name="Google Shape;768;p44"/>
            <p:cNvSpPr txBox="1"/>
            <p:nvPr/>
          </p:nvSpPr>
          <p:spPr>
            <a:xfrm>
              <a:off x="3108575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69" name="Google Shape;769;p44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70" name="Google Shape;770;p44"/>
          <p:cNvCxnSpPr/>
          <p:nvPr/>
        </p:nvCxnSpPr>
        <p:spPr>
          <a:xfrm rot="10800000" flipH="1">
            <a:off x="6656450" y="3162300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1" name="Google Shape;771;p44"/>
          <p:cNvSpPr txBox="1"/>
          <p:nvPr/>
        </p:nvSpPr>
        <p:spPr>
          <a:xfrm>
            <a:off x="6948325" y="4696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active</a:t>
            </a:r>
          </a:p>
        </p:txBody>
      </p:sp>
      <p:sp>
        <p:nvSpPr>
          <p:cNvPr id="772" name="Google Shape;772;p44"/>
          <p:cNvSpPr txBox="1"/>
          <p:nvPr/>
        </p:nvSpPr>
        <p:spPr>
          <a:xfrm>
            <a:off x="3555413" y="4624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inactive</a:t>
            </a:r>
          </a:p>
        </p:txBody>
      </p:sp>
      <p:sp>
        <p:nvSpPr>
          <p:cNvPr id="773" name="Google Shape;773;p44"/>
          <p:cNvSpPr txBox="1"/>
          <p:nvPr/>
        </p:nvSpPr>
        <p:spPr>
          <a:xfrm>
            <a:off x="454400" y="4572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unstable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Stable vs. unstable neurons</a:t>
            </a:r>
          </a:p>
        </p:txBody>
      </p:sp>
      <p:grpSp>
        <p:nvGrpSpPr>
          <p:cNvPr id="779" name="Google Shape;779;p45"/>
          <p:cNvGrpSpPr/>
          <p:nvPr/>
        </p:nvGrpSpPr>
        <p:grpSpPr>
          <a:xfrm>
            <a:off x="-52925" y="3082075"/>
            <a:ext cx="2601025" cy="1721575"/>
            <a:chOff x="1991775" y="2213825"/>
            <a:chExt cx="2601025" cy="1721575"/>
          </a:xfrm>
        </p:grpSpPr>
        <p:grpSp>
          <p:nvGrpSpPr>
            <p:cNvPr id="780" name="Google Shape;780;p45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81" name="Google Shape;781;p45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82" name="Google Shape;782;p45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83" name="Google Shape;783;p45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84" name="Google Shape;784;p45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5" name="Google Shape;785;p45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86" name="Google Shape;786;p45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87" name="Google Shape;787;p45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88" name="Google Shape;788;p45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9" name="Google Shape;789;p45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90" name="Google Shape;790;p45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91" name="Google Shape;791;p45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92" name="Google Shape;792;p45"/>
          <p:cNvCxnSpPr/>
          <p:nvPr/>
        </p:nvCxnSpPr>
        <p:spPr>
          <a:xfrm>
            <a:off x="-497400" y="41602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45"/>
          <p:cNvCxnSpPr/>
          <p:nvPr/>
        </p:nvCxnSpPr>
        <p:spPr>
          <a:xfrm rot="10800000" flipH="1">
            <a:off x="247850" y="3038525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45"/>
          <p:cNvCxnSpPr/>
          <p:nvPr/>
        </p:nvCxnSpPr>
        <p:spPr>
          <a:xfrm rot="10800000" flipH="1">
            <a:off x="-247675" y="3334375"/>
            <a:ext cx="2644800" cy="11868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5" name="Google Shape;795;p45"/>
          <p:cNvGrpSpPr/>
          <p:nvPr/>
        </p:nvGrpSpPr>
        <p:grpSpPr>
          <a:xfrm>
            <a:off x="3168650" y="3082075"/>
            <a:ext cx="2601025" cy="1721575"/>
            <a:chOff x="1991775" y="2213825"/>
            <a:chExt cx="2601025" cy="1721575"/>
          </a:xfrm>
        </p:grpSpPr>
        <p:grpSp>
          <p:nvGrpSpPr>
            <p:cNvPr id="796" name="Google Shape;796;p45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97" name="Google Shape;797;p45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98" name="Google Shape;798;p45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99" name="Google Shape;799;p45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800" name="Google Shape;800;p45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1" name="Google Shape;801;p45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02" name="Google Shape;802;p45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03" name="Google Shape;803;p45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804" name="Google Shape;804;p45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5" name="Google Shape;805;p45"/>
            <p:cNvCxnSpPr/>
            <p:nvPr/>
          </p:nvCxnSpPr>
          <p:spPr>
            <a:xfrm rot="10800000">
              <a:off x="30191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6" name="Google Shape;806;p45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807" name="Google Shape;807;p45"/>
            <p:cNvSpPr txBox="1"/>
            <p:nvPr/>
          </p:nvSpPr>
          <p:spPr>
            <a:xfrm>
              <a:off x="286108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808" name="Google Shape;808;p45"/>
          <p:cNvCxnSpPr/>
          <p:nvPr/>
        </p:nvCxnSpPr>
        <p:spPr>
          <a:xfrm>
            <a:off x="2724175" y="41602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9" name="Google Shape;809;p45"/>
          <p:cNvCxnSpPr/>
          <p:nvPr/>
        </p:nvCxnSpPr>
        <p:spPr>
          <a:xfrm>
            <a:off x="3011938" y="4160250"/>
            <a:ext cx="2381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10" name="Google Shape;810;p45"/>
          <p:cNvGrpSpPr/>
          <p:nvPr/>
        </p:nvGrpSpPr>
        <p:grpSpPr>
          <a:xfrm>
            <a:off x="6355675" y="3205850"/>
            <a:ext cx="2601025" cy="1721575"/>
            <a:chOff x="1991775" y="2213825"/>
            <a:chExt cx="2601025" cy="1721575"/>
          </a:xfrm>
        </p:grpSpPr>
        <p:grpSp>
          <p:nvGrpSpPr>
            <p:cNvPr id="811" name="Google Shape;811;p45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812" name="Google Shape;812;p45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813" name="Google Shape;813;p45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814" name="Google Shape;814;p45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815" name="Google Shape;815;p45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6" name="Google Shape;816;p45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17" name="Google Shape;817;p45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18" name="Google Shape;818;p45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819" name="Google Shape;819;p45"/>
            <p:cNvCxnSpPr/>
            <p:nvPr/>
          </p:nvCxnSpPr>
          <p:spPr>
            <a:xfrm rot="10800000">
              <a:off x="32908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45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21" name="Google Shape;821;p45"/>
            <p:cNvSpPr txBox="1"/>
            <p:nvPr/>
          </p:nvSpPr>
          <p:spPr>
            <a:xfrm>
              <a:off x="3108575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822" name="Google Shape;822;p45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823" name="Google Shape;823;p45"/>
          <p:cNvCxnSpPr/>
          <p:nvPr/>
        </p:nvCxnSpPr>
        <p:spPr>
          <a:xfrm rot="10800000" flipH="1">
            <a:off x="6656450" y="3162300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4" name="Google Shape;824;p45"/>
          <p:cNvSpPr txBox="1"/>
          <p:nvPr/>
        </p:nvSpPr>
        <p:spPr>
          <a:xfrm>
            <a:off x="6948325" y="4696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active</a:t>
            </a:r>
          </a:p>
        </p:txBody>
      </p:sp>
      <p:sp>
        <p:nvSpPr>
          <p:cNvPr id="825" name="Google Shape;825;p45"/>
          <p:cNvSpPr txBox="1"/>
          <p:nvPr/>
        </p:nvSpPr>
        <p:spPr>
          <a:xfrm>
            <a:off x="3555413" y="4624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inactive</a:t>
            </a:r>
          </a:p>
        </p:txBody>
      </p:sp>
      <p:sp>
        <p:nvSpPr>
          <p:cNvPr id="826" name="Google Shape;826;p45"/>
          <p:cNvSpPr txBox="1"/>
          <p:nvPr/>
        </p:nvSpPr>
        <p:spPr>
          <a:xfrm>
            <a:off x="454400" y="4572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unstable</a:t>
            </a:r>
          </a:p>
        </p:txBody>
      </p:sp>
      <p:pic>
        <p:nvPicPr>
          <p:cNvPr id="827" name="Google Shape;827;p45" descr="\hat{z}^{(i)}_j = z_j^{(i)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96650" y="1972451"/>
            <a:ext cx="1133028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45" descr="\hat{z}^{(i)}_j = 0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060300" y="2066975"/>
            <a:ext cx="898680" cy="461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9" name="Google Shape;829;p45"/>
          <p:cNvGrpSpPr/>
          <p:nvPr/>
        </p:nvGrpSpPr>
        <p:grpSpPr>
          <a:xfrm>
            <a:off x="630700" y="2040238"/>
            <a:ext cx="1023396" cy="849900"/>
            <a:chOff x="1112825" y="3768750"/>
            <a:chExt cx="1023396" cy="849900"/>
          </a:xfrm>
        </p:grpSpPr>
        <p:pic>
          <p:nvPicPr>
            <p:cNvPr id="830" name="Google Shape;830;p45" descr="\hat{z}^{(i)}_j \geq z_j^{(i)}" title="MathEquation,#00000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1112825" y="3768750"/>
              <a:ext cx="1023396" cy="41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1" name="Google Shape;831;p45" descr="\hat{z}^{(i)}_j \geq 0" title="MathEquation,#000000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1112825" y="4201625"/>
              <a:ext cx="811722" cy="417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2" name="Google Shape;832;p45" descr="\hat{z}^{(i)}_j \leq z_j^{(i)} - l_j^{(i)} (1 - p^{(i)}_j)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630687" y="1130438"/>
            <a:ext cx="2376070" cy="3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45" descr="\hat{z}^{(i)}_j \leq u^{(i)}_j p^{(i)}_j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630700" y="1585350"/>
            <a:ext cx="1282518" cy="3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>
            <a:spLocks noGrp="1"/>
          </p:cNvSpPr>
          <p:nvPr>
            <p:ph type="title"/>
          </p:nvPr>
        </p:nvSpPr>
        <p:spPr>
          <a:xfrm>
            <a:off x="311700" y="325925"/>
            <a:ext cx="8520600" cy="5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Let’s look at one layer first and interval bounds on input</a:t>
            </a:r>
          </a:p>
        </p:txBody>
      </p:sp>
      <p:grpSp>
        <p:nvGrpSpPr>
          <p:cNvPr id="439" name="Google Shape;439;p27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grpSp>
          <p:nvGrpSpPr>
            <p:cNvPr id="440" name="Google Shape;440;p27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441" name="Google Shape;441;p27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7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2294125" y="23127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7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6" name="Google Shape;446;p27"/>
              <p:cNvCxnSpPr>
                <a:stCxn id="441" idx="6"/>
                <a:endCxn id="443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27"/>
              <p:cNvCxnSpPr>
                <a:stCxn id="441" idx="6"/>
                <a:endCxn id="444" idx="2"/>
              </p:cNvCxnSpPr>
              <p:nvPr/>
            </p:nvCxnSpPr>
            <p:spPr>
              <a:xfrm>
                <a:off x="1498800" y="2080600"/>
                <a:ext cx="795300" cy="34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27"/>
              <p:cNvCxnSpPr>
                <a:stCxn id="442" idx="6"/>
                <a:endCxn id="443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9" name="Google Shape;449;p27"/>
              <p:cNvCxnSpPr>
                <a:stCxn id="442" idx="6"/>
                <a:endCxn id="444" idx="2"/>
              </p:cNvCxnSpPr>
              <p:nvPr/>
            </p:nvCxnSpPr>
            <p:spPr>
              <a:xfrm rot="10800000" flipH="1">
                <a:off x="1498800" y="2428800"/>
                <a:ext cx="795300" cy="25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" name="Google Shape;450;p27"/>
              <p:cNvCxnSpPr>
                <a:stCxn id="442" idx="6"/>
                <a:endCxn id="445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27"/>
              <p:cNvCxnSpPr>
                <a:stCxn id="441" idx="6"/>
                <a:endCxn id="445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52" name="Google Shape;452;p27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453" name="Google Shape;453;p27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</p:grpSp>
      <p:grpSp>
        <p:nvGrpSpPr>
          <p:cNvPr id="454" name="Google Shape;454;p27"/>
          <p:cNvGrpSpPr/>
          <p:nvPr/>
        </p:nvGrpSpPr>
        <p:grpSpPr>
          <a:xfrm>
            <a:off x="2721250" y="1066525"/>
            <a:ext cx="653400" cy="1728850"/>
            <a:chOff x="2460350" y="1264125"/>
            <a:chExt cx="653400" cy="1728850"/>
          </a:xfrm>
        </p:grpSpPr>
        <p:sp>
          <p:nvSpPr>
            <p:cNvPr id="455" name="Google Shape;455;p27"/>
            <p:cNvSpPr txBox="1"/>
            <p:nvPr/>
          </p:nvSpPr>
          <p:spPr>
            <a:xfrm>
              <a:off x="2460350" y="24658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3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456" name="Google Shape;456;p27"/>
            <p:cNvSpPr txBox="1"/>
            <p:nvPr/>
          </p:nvSpPr>
          <p:spPr>
            <a:xfrm>
              <a:off x="2460350" y="17888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457" name="Google Shape;457;p27"/>
            <p:cNvSpPr txBox="1"/>
            <p:nvPr/>
          </p:nvSpPr>
          <p:spPr>
            <a:xfrm>
              <a:off x="2460350" y="12641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458" name="Google Shape;458;p27"/>
          <p:cNvSpPr txBox="1"/>
          <p:nvPr/>
        </p:nvSpPr>
        <p:spPr>
          <a:xfrm>
            <a:off x="4572000" y="1131975"/>
            <a:ext cx="37629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Given bounds on x, can we calculate the bounds on z?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59" name="Google Shape;459;p27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53463" y="1967288"/>
            <a:ext cx="2933576" cy="36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look at one layer first</a:t>
            </a:r>
          </a:p>
        </p:txBody>
      </p:sp>
      <p:sp>
        <p:nvSpPr>
          <p:cNvPr id="465" name="Google Shape;465;p28"/>
          <p:cNvSpPr txBox="1"/>
          <p:nvPr/>
        </p:nvSpPr>
        <p:spPr>
          <a:xfrm>
            <a:off x="4572000" y="1131975"/>
            <a:ext cx="37629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Given bounds on x, can we calculate the bounds on z?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66" name="Google Shape;466;p28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53463" y="1967288"/>
            <a:ext cx="2933576" cy="36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28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sp>
          <p:nvSpPr>
            <p:cNvPr id="468" name="Google Shape;468;p28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469" name="Google Shape;469;p28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470" name="Google Shape;470;p28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471" name="Google Shape;471;p28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74" name="Google Shape;474;p28"/>
              <p:cNvCxnSpPr>
                <a:stCxn id="471" idx="6"/>
                <a:endCxn id="473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5" name="Google Shape;475;p28"/>
              <p:cNvCxnSpPr>
                <a:stCxn id="472" idx="6"/>
                <a:endCxn id="473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6" name="Google Shape;476;p28"/>
              <p:cNvCxnSpPr>
                <a:stCxn id="472" idx="6"/>
                <a:endCxn id="477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8" name="Google Shape;478;p28"/>
              <p:cNvCxnSpPr>
                <a:stCxn id="471" idx="6"/>
                <a:endCxn id="477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7" name="Google Shape;477;p28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9" name="Google Shape;479;p28"/>
          <p:cNvGrpSpPr/>
          <p:nvPr/>
        </p:nvGrpSpPr>
        <p:grpSpPr>
          <a:xfrm>
            <a:off x="2721250" y="1066525"/>
            <a:ext cx="653400" cy="1728850"/>
            <a:chOff x="2460350" y="1264125"/>
            <a:chExt cx="653400" cy="1728850"/>
          </a:xfrm>
        </p:grpSpPr>
        <p:sp>
          <p:nvSpPr>
            <p:cNvPr id="480" name="Google Shape;480;p28"/>
            <p:cNvSpPr txBox="1"/>
            <p:nvPr/>
          </p:nvSpPr>
          <p:spPr>
            <a:xfrm>
              <a:off x="2460350" y="12641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481" name="Google Shape;481;p28"/>
            <p:cNvSpPr txBox="1"/>
            <p:nvPr/>
          </p:nvSpPr>
          <p:spPr>
            <a:xfrm>
              <a:off x="2460350" y="24658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482" name="Google Shape;482;p28"/>
          <p:cNvSpPr txBox="1"/>
          <p:nvPr/>
        </p:nvSpPr>
        <p:spPr>
          <a:xfrm>
            <a:off x="4155750" y="2571750"/>
            <a:ext cx="459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As an illustration, suppose we have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83" name="Google Shape;483;p28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57800" y="3177150"/>
            <a:ext cx="2146774" cy="3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8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157788" y="3613900"/>
            <a:ext cx="2252076" cy="3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8"/>
          <p:cNvSpPr txBox="1"/>
          <p:nvPr/>
        </p:nvSpPr>
        <p:spPr>
          <a:xfrm>
            <a:off x="4021075" y="4081950"/>
            <a:ext cx="502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Can you infer bounds on z given bounds on x?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Interval Bound Propagation (IBP)</a:t>
            </a:r>
          </a:p>
        </p:txBody>
      </p:sp>
      <p:pic>
        <p:nvPicPr>
          <p:cNvPr id="491" name="Google Shape;491;p29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971738" y="1111988"/>
            <a:ext cx="2933576" cy="3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9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365175" y="1654025"/>
            <a:ext cx="2146774" cy="3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9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365163" y="2090775"/>
            <a:ext cx="2252076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9" descr="\underline{z}_1 = -1 - 1 = -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834500" y="3282059"/>
            <a:ext cx="2645526" cy="44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9" descr="\overline{z}_1 = 2 - (-2) = 4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5242475" y="3312175"/>
            <a:ext cx="2510500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9" descr="\overline{z}_2 = 2 \times 2 - (-2) = 6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5242475" y="3867850"/>
            <a:ext cx="3116276" cy="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 descr="\underline{z}_2 = -1 \times 2 - 1 = -3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834500" y="3914775"/>
            <a:ext cx="3087450" cy="4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9"/>
          <p:cNvSpPr txBox="1"/>
          <p:nvPr/>
        </p:nvSpPr>
        <p:spPr>
          <a:xfrm>
            <a:off x="1003400" y="2660275"/>
            <a:ext cx="25104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Lower bounds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5545413" y="2717088"/>
            <a:ext cx="25104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Upper bounds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Interval Bound Propagation (IBP)</a:t>
            </a:r>
          </a:p>
        </p:txBody>
      </p:sp>
      <p:pic>
        <p:nvPicPr>
          <p:cNvPr id="505" name="Google Shape;505;p30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46438" y="1154363"/>
            <a:ext cx="2933576" cy="3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50825" y="1160113"/>
            <a:ext cx="2146774" cy="3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0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739488" y="1144463"/>
            <a:ext cx="2252076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0" descr="\underline{z}_1 = -1 - 1 = -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385175" y="1817522"/>
            <a:ext cx="2645526" cy="44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0" descr="\overline{z}_1 = 2 - (-2) = 4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972975" y="1847638"/>
            <a:ext cx="2510500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0" descr="\overline{z}_2 = 2 \times 2 - (-2) = 6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972975" y="2376988"/>
            <a:ext cx="3116276" cy="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0" descr="\underline{z}_2 = -1 \times 2 - 1 = -3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1385175" y="2387838"/>
            <a:ext cx="3087450" cy="42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0" descr="\displaystyle \sum_{i \in \{i| w_i \geq 0\}} w_i l_i + \sum_{i \in \{i| w_i &lt; 0\}} w_i u_i \leq \sum_{i} w_i x_i \leq \sum_{i \in \{i| w_i \geq 0\}} w_i u_i + \sum_{i \in \{i| w_i &lt; 0\}} w_i l_i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1218500" y="3688550"/>
            <a:ext cx="6941914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0"/>
          <p:cNvSpPr txBox="1"/>
          <p:nvPr/>
        </p:nvSpPr>
        <p:spPr>
          <a:xfrm>
            <a:off x="564725" y="3039225"/>
            <a:ext cx="338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general: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4" name="Google Shape;514;p30"/>
          <p:cNvSpPr txBox="1"/>
          <p:nvPr/>
        </p:nvSpPr>
        <p:spPr>
          <a:xfrm>
            <a:off x="758138" y="4585800"/>
            <a:ext cx="4839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Elements lower and upper bounds of 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15" name="Google Shape;515;p30"/>
          <p:cNvCxnSpPr/>
          <p:nvPr/>
        </p:nvCxnSpPr>
        <p:spPr>
          <a:xfrm rot="10800000">
            <a:off x="2310550" y="3953025"/>
            <a:ext cx="46800" cy="57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30"/>
          <p:cNvCxnSpPr/>
          <p:nvPr/>
        </p:nvCxnSpPr>
        <p:spPr>
          <a:xfrm rot="10800000" flipH="1">
            <a:off x="3693000" y="3953100"/>
            <a:ext cx="129000" cy="63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Interval Bound Propagation: continue to the next layer</a:t>
            </a:r>
          </a:p>
        </p:txBody>
      </p:sp>
      <p:grpSp>
        <p:nvGrpSpPr>
          <p:cNvPr id="522" name="Google Shape;522;p31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sp>
          <p:nvSpPr>
            <p:cNvPr id="523" name="Google Shape;523;p31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524" name="Google Shape;524;p31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525" name="Google Shape;525;p31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526" name="Google Shape;526;p31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1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1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9" name="Google Shape;529;p31"/>
              <p:cNvCxnSpPr>
                <a:stCxn id="526" idx="6"/>
                <a:endCxn id="528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31"/>
              <p:cNvCxnSpPr>
                <a:stCxn id="527" idx="6"/>
                <a:endCxn id="528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31"/>
              <p:cNvCxnSpPr>
                <a:stCxn id="527" idx="6"/>
                <a:endCxn id="532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31"/>
              <p:cNvCxnSpPr>
                <a:stCxn id="526" idx="6"/>
                <a:endCxn id="532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32" name="Google Shape;532;p31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4" name="Google Shape;534;p31"/>
          <p:cNvGrpSpPr/>
          <p:nvPr/>
        </p:nvGrpSpPr>
        <p:grpSpPr>
          <a:xfrm>
            <a:off x="2721250" y="949375"/>
            <a:ext cx="653400" cy="1627350"/>
            <a:chOff x="2460350" y="1146975"/>
            <a:chExt cx="653400" cy="1627350"/>
          </a:xfrm>
        </p:grpSpPr>
        <p:sp>
          <p:nvSpPr>
            <p:cNvPr id="535" name="Google Shape;535;p31"/>
            <p:cNvSpPr txBox="1"/>
            <p:nvPr/>
          </p:nvSpPr>
          <p:spPr>
            <a:xfrm>
              <a:off x="2460350" y="11469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536" name="Google Shape;536;p31"/>
            <p:cNvSpPr txBox="1"/>
            <p:nvPr/>
          </p:nvSpPr>
          <p:spPr>
            <a:xfrm>
              <a:off x="2460350" y="22472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537" name="Google Shape;537;p31"/>
          <p:cNvSpPr/>
          <p:nvPr/>
        </p:nvSpPr>
        <p:spPr>
          <a:xfrm>
            <a:off x="3762600" y="2011013"/>
            <a:ext cx="231900" cy="231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8" name="Google Shape;538;p31"/>
          <p:cNvCxnSpPr>
            <a:stCxn id="528" idx="6"/>
            <a:endCxn id="537" idx="2"/>
          </p:cNvCxnSpPr>
          <p:nvPr/>
        </p:nvCxnSpPr>
        <p:spPr>
          <a:xfrm>
            <a:off x="3076850" y="1536388"/>
            <a:ext cx="685800" cy="5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9" name="Google Shape;539;p31"/>
          <p:cNvCxnSpPr>
            <a:stCxn id="532" idx="5"/>
            <a:endCxn id="537" idx="2"/>
          </p:cNvCxnSpPr>
          <p:nvPr/>
        </p:nvCxnSpPr>
        <p:spPr>
          <a:xfrm rot="10800000" flipH="1">
            <a:off x="3042889" y="2127102"/>
            <a:ext cx="719700" cy="72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0" name="Google Shape;540;p31"/>
          <p:cNvSpPr txBox="1"/>
          <p:nvPr/>
        </p:nvSpPr>
        <p:spPr>
          <a:xfrm>
            <a:off x="3974200" y="1703575"/>
            <a:ext cx="3750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4548300" y="1252350"/>
            <a:ext cx="4007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Let’s say   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also know that: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542" name="Google Shape;542;p31" descr="z_1 \in [ -2, 4 ]&#10;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48301" y="2457400"/>
            <a:ext cx="1611400" cy="39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1" descr="z_2 \in [ -3, 6 ]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666625" y="2457400"/>
            <a:ext cx="1611402" cy="3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1"/>
          <p:cNvSpPr txBox="1"/>
          <p:nvPr/>
        </p:nvSpPr>
        <p:spPr>
          <a:xfrm>
            <a:off x="1385600" y="3466850"/>
            <a:ext cx="6518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Then what can we conclude about y?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545" name="Google Shape;545;p31" descr="y \in [-8, 7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974199" y="4113050"/>
            <a:ext cx="1828476" cy="49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1" descr="y = z_1 - z_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802675" y="1338128"/>
            <a:ext cx="1691250" cy="334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Interval Bound Propagation: limitations</a:t>
            </a:r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Apply IBP we obtain</a:t>
            </a:r>
            <a:br>
              <a:rPr lang="en-GB"/>
            </a:br>
            <a:r>
              <a:rPr lang="en-GB"/>
              <a:t>for this simple linear network.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However observe that</a:t>
            </a:r>
          </a:p>
        </p:txBody>
      </p:sp>
      <p:grpSp>
        <p:nvGrpSpPr>
          <p:cNvPr id="553" name="Google Shape;553;p32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sp>
          <p:nvSpPr>
            <p:cNvPr id="554" name="Google Shape;554;p32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555" name="Google Shape;555;p32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556" name="Google Shape;556;p32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557" name="Google Shape;557;p32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2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2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0" name="Google Shape;560;p32"/>
              <p:cNvCxnSpPr>
                <a:stCxn id="557" idx="6"/>
                <a:endCxn id="559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32"/>
              <p:cNvCxnSpPr>
                <a:stCxn id="558" idx="6"/>
                <a:endCxn id="559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32"/>
              <p:cNvCxnSpPr>
                <a:stCxn id="558" idx="6"/>
                <a:endCxn id="563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4" name="Google Shape;564;p32"/>
              <p:cNvCxnSpPr>
                <a:stCxn id="557" idx="6"/>
                <a:endCxn id="563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3" name="Google Shape;563;p32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5" name="Google Shape;565;p32"/>
          <p:cNvGrpSpPr/>
          <p:nvPr/>
        </p:nvGrpSpPr>
        <p:grpSpPr>
          <a:xfrm>
            <a:off x="2721250" y="949375"/>
            <a:ext cx="653400" cy="1627350"/>
            <a:chOff x="2460350" y="1146975"/>
            <a:chExt cx="653400" cy="1627350"/>
          </a:xfrm>
        </p:grpSpPr>
        <p:sp>
          <p:nvSpPr>
            <p:cNvPr id="566" name="Google Shape;566;p32"/>
            <p:cNvSpPr txBox="1"/>
            <p:nvPr/>
          </p:nvSpPr>
          <p:spPr>
            <a:xfrm>
              <a:off x="2460350" y="11469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567" name="Google Shape;567;p32"/>
            <p:cNvSpPr txBox="1"/>
            <p:nvPr/>
          </p:nvSpPr>
          <p:spPr>
            <a:xfrm>
              <a:off x="2460350" y="22472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568" name="Google Shape;568;p32"/>
          <p:cNvSpPr/>
          <p:nvPr/>
        </p:nvSpPr>
        <p:spPr>
          <a:xfrm>
            <a:off x="3762600" y="2011013"/>
            <a:ext cx="231900" cy="231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9" name="Google Shape;569;p32"/>
          <p:cNvCxnSpPr>
            <a:stCxn id="559" idx="6"/>
            <a:endCxn id="568" idx="2"/>
          </p:cNvCxnSpPr>
          <p:nvPr/>
        </p:nvCxnSpPr>
        <p:spPr>
          <a:xfrm>
            <a:off x="3076850" y="1536388"/>
            <a:ext cx="685800" cy="5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0" name="Google Shape;570;p32"/>
          <p:cNvCxnSpPr>
            <a:stCxn id="563" idx="5"/>
            <a:endCxn id="568" idx="2"/>
          </p:cNvCxnSpPr>
          <p:nvPr/>
        </p:nvCxnSpPr>
        <p:spPr>
          <a:xfrm rot="10800000" flipH="1">
            <a:off x="3042889" y="2127102"/>
            <a:ext cx="719700" cy="72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1" name="Google Shape;571;p32"/>
          <p:cNvSpPr txBox="1"/>
          <p:nvPr/>
        </p:nvSpPr>
        <p:spPr>
          <a:xfrm>
            <a:off x="3974200" y="1703575"/>
            <a:ext cx="3750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72" name="Google Shape;572;p32" descr="y \in [-8, 7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786125" y="1153625"/>
            <a:ext cx="1469018" cy="39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2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274982" y="275535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2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274972" y="3100178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2" descr="y = z_1 - z_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276825" y="3469728"/>
            <a:ext cx="1691250" cy="334022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2"/>
          <p:cNvSpPr txBox="1"/>
          <p:nvPr/>
        </p:nvSpPr>
        <p:spPr>
          <a:xfrm>
            <a:off x="2964350" y="4240575"/>
            <a:ext cx="57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actual bounds is [-2, 1], much tighter than [-8, 7]</a:t>
            </a:r>
          </a:p>
        </p:txBody>
      </p:sp>
      <p:pic>
        <p:nvPicPr>
          <p:cNvPr id="577" name="Google Shape;577;p32" descr="y = x_1 - x_2 - (2x_1 - x_2) = -x_1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227525" y="3855152"/>
            <a:ext cx="3872972" cy="3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2" descr="x_1 \in [-1, 2], \ x_2 \in [-2,1]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04445" y="2784111"/>
            <a:ext cx="1778074" cy="220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Better Idea: Keep the correlations between x and z</a:t>
            </a:r>
          </a:p>
        </p:txBody>
      </p:sp>
      <p:pic>
        <p:nvPicPr>
          <p:cNvPr id="584" name="Google Shape;584;p33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22132" y="1173625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3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822122" y="1518453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3" descr="y = z_1 - z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823975" y="1888003"/>
            <a:ext cx="1691250" cy="334022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3"/>
          <p:cNvSpPr txBox="1"/>
          <p:nvPr/>
        </p:nvSpPr>
        <p:spPr>
          <a:xfrm>
            <a:off x="1511500" y="2658850"/>
            <a:ext cx="57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actual bounds is [-2, 1], much tighter than [-8, 7]</a:t>
            </a:r>
          </a:p>
        </p:txBody>
      </p:sp>
      <p:sp>
        <p:nvSpPr>
          <p:cNvPr id="588" name="Google Shape;588;p33"/>
          <p:cNvSpPr txBox="1"/>
          <p:nvPr/>
        </p:nvSpPr>
        <p:spPr>
          <a:xfrm>
            <a:off x="740700" y="3273550"/>
            <a:ext cx="7662600" cy="11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70C0"/>
                </a:solidFill>
              </a:rPr>
              <a:t>It is important to keep the correlations between z and x to obtain this tighter result!</a:t>
            </a:r>
            <a:endParaRPr sz="1800" dirty="0">
              <a:solidFill>
                <a:srgbClr val="0070C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70C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70C0"/>
                </a:solidFill>
              </a:rPr>
              <a:t>We treat z as a </a:t>
            </a:r>
            <a:r>
              <a:rPr lang="en-GB" sz="1800" b="1" dirty="0">
                <a:solidFill>
                  <a:srgbClr val="0070C0"/>
                </a:solidFill>
              </a:rPr>
              <a:t>symbolic function of x</a:t>
            </a:r>
            <a:r>
              <a:rPr lang="en-GB" sz="1800" dirty="0">
                <a:solidFill>
                  <a:srgbClr val="0070C0"/>
                </a:solidFill>
              </a:rPr>
              <a:t>, rather than intervals</a:t>
            </a:r>
            <a:endParaRPr sz="1800" dirty="0">
              <a:solidFill>
                <a:srgbClr val="0070C0"/>
              </a:solidFill>
            </a:endParaRPr>
          </a:p>
        </p:txBody>
      </p:sp>
      <p:pic>
        <p:nvPicPr>
          <p:cNvPr id="589" name="Google Shape;589;p33" descr="y = x_1 - x_2 - (2x_1 - x_2) = -x_1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774675" y="2273427"/>
            <a:ext cx="3872972" cy="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Better Idea: linear bound propagation</a:t>
            </a:r>
          </a:p>
        </p:txBody>
      </p:sp>
      <p:pic>
        <p:nvPicPr>
          <p:cNvPr id="595" name="Google Shape;595;p34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22132" y="1173625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4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822122" y="1518453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4" descr="y = z_1 - z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823975" y="1888003"/>
            <a:ext cx="1691250" cy="33402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4"/>
          <p:cNvSpPr txBox="1"/>
          <p:nvPr/>
        </p:nvSpPr>
        <p:spPr>
          <a:xfrm>
            <a:off x="1511500" y="2658850"/>
            <a:ext cx="57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actual bounds is [-2, 1], much tighter than [-8, 7]</a:t>
            </a:r>
          </a:p>
        </p:txBody>
      </p:sp>
      <p:sp>
        <p:nvSpPr>
          <p:cNvPr id="599" name="Google Shape;599;p34"/>
          <p:cNvSpPr txBox="1"/>
          <p:nvPr/>
        </p:nvSpPr>
        <p:spPr>
          <a:xfrm>
            <a:off x="740700" y="3273550"/>
            <a:ext cx="7662600" cy="11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 is important to keep the correlations between z and x to obtain this tighter result!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treat z as a </a:t>
            </a:r>
            <a:r>
              <a:rPr lang="en-GB" sz="1800" b="1">
                <a:solidFill>
                  <a:srgbClr val="0000FF"/>
                </a:solidFill>
              </a:rPr>
              <a:t>linear</a:t>
            </a:r>
            <a:r>
              <a:rPr lang="en-GB" sz="1800" b="1">
                <a:solidFill>
                  <a:schemeClr val="dk2"/>
                </a:solidFill>
              </a:rPr>
              <a:t> function of x</a:t>
            </a:r>
            <a:r>
              <a:rPr lang="en-GB" sz="1800">
                <a:solidFill>
                  <a:schemeClr val="dk2"/>
                </a:solidFill>
              </a:rPr>
              <a:t>, rather than intervals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00" name="Google Shape;600;p34" descr="y = x_1 - x_2 - (2x_1 - x_2) = -x_1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774675" y="2273427"/>
            <a:ext cx="3872972" cy="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Better Idea: linear bound propagation</a:t>
            </a:r>
          </a:p>
        </p:txBody>
      </p:sp>
      <p:pic>
        <p:nvPicPr>
          <p:cNvPr id="606" name="Google Shape;606;p35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086832" y="203730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5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086822" y="2382128"/>
            <a:ext cx="1778074" cy="302272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5"/>
          <p:cNvSpPr txBox="1"/>
          <p:nvPr/>
        </p:nvSpPr>
        <p:spPr>
          <a:xfrm>
            <a:off x="740700" y="3273550"/>
            <a:ext cx="76626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treat z as a </a:t>
            </a:r>
            <a:r>
              <a:rPr lang="en-GB" sz="1800" b="1">
                <a:solidFill>
                  <a:srgbClr val="0000FF"/>
                </a:solidFill>
              </a:rPr>
              <a:t>linear</a:t>
            </a:r>
            <a:r>
              <a:rPr lang="en-GB" sz="1800" b="1">
                <a:solidFill>
                  <a:schemeClr val="dk2"/>
                </a:solidFill>
              </a:rPr>
              <a:t> function of x</a:t>
            </a:r>
            <a:r>
              <a:rPr lang="en-GB" sz="1800">
                <a:solidFill>
                  <a:schemeClr val="dk2"/>
                </a:solidFill>
              </a:rPr>
              <a:t>, rather than concrete intervals.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After we plug in linear functions (z w.r.t. x), we still get a linear function (y w.r.t. x)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9" name="Google Shape;609;p35"/>
          <p:cNvSpPr/>
          <p:nvPr/>
        </p:nvSpPr>
        <p:spPr>
          <a:xfrm>
            <a:off x="3083750" y="1398950"/>
            <a:ext cx="1640400" cy="210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35"/>
          <p:cNvSpPr txBox="1"/>
          <p:nvPr/>
        </p:nvSpPr>
        <p:spPr>
          <a:xfrm>
            <a:off x="3400575" y="1667625"/>
            <a:ext cx="17781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Plug in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1" name="Google Shape;611;p35" descr="y = z_1 - z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316650" y="1322628"/>
            <a:ext cx="1691250" cy="33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5" descr="y = x_1 - x_2 - (2x_1 - x_2) = -x_1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864900" y="1355852"/>
            <a:ext cx="3872972" cy="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Bound propagation: how about nonlinear functions?</a:t>
            </a:r>
          </a:p>
        </p:txBody>
      </p:sp>
      <p:grpSp>
        <p:nvGrpSpPr>
          <p:cNvPr id="618" name="Google Shape;618;p36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sp>
          <p:nvSpPr>
            <p:cNvPr id="619" name="Google Shape;619;p36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620" name="Google Shape;620;p36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621" name="Google Shape;621;p36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622" name="Google Shape;622;p36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6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6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25" name="Google Shape;625;p36"/>
              <p:cNvCxnSpPr>
                <a:stCxn id="622" idx="6"/>
                <a:endCxn id="624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6" name="Google Shape;626;p36"/>
              <p:cNvCxnSpPr>
                <a:stCxn id="623" idx="6"/>
                <a:endCxn id="624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7" name="Google Shape;627;p36"/>
              <p:cNvCxnSpPr>
                <a:stCxn id="623" idx="6"/>
                <a:endCxn id="628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9" name="Google Shape;629;p36"/>
              <p:cNvCxnSpPr>
                <a:stCxn id="622" idx="6"/>
                <a:endCxn id="628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28" name="Google Shape;628;p36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0" name="Google Shape;630;p36"/>
          <p:cNvGrpSpPr/>
          <p:nvPr/>
        </p:nvGrpSpPr>
        <p:grpSpPr>
          <a:xfrm>
            <a:off x="2492650" y="949375"/>
            <a:ext cx="415500" cy="1762800"/>
            <a:chOff x="2307950" y="1146975"/>
            <a:chExt cx="415500" cy="1762800"/>
          </a:xfrm>
        </p:grpSpPr>
        <p:sp>
          <p:nvSpPr>
            <p:cNvPr id="631" name="Google Shape;631;p36"/>
            <p:cNvSpPr txBox="1"/>
            <p:nvPr/>
          </p:nvSpPr>
          <p:spPr>
            <a:xfrm>
              <a:off x="2307950" y="1146975"/>
              <a:ext cx="4155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632" name="Google Shape;632;p36"/>
            <p:cNvSpPr txBox="1"/>
            <p:nvPr/>
          </p:nvSpPr>
          <p:spPr>
            <a:xfrm>
              <a:off x="2307950" y="2382675"/>
              <a:ext cx="4155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633" name="Google Shape;633;p36"/>
          <p:cNvGrpSpPr/>
          <p:nvPr/>
        </p:nvGrpSpPr>
        <p:grpSpPr>
          <a:xfrm>
            <a:off x="3076750" y="949375"/>
            <a:ext cx="1822975" cy="1936788"/>
            <a:chOff x="3076750" y="949375"/>
            <a:chExt cx="1822975" cy="1936788"/>
          </a:xfrm>
        </p:grpSpPr>
        <p:sp>
          <p:nvSpPr>
            <p:cNvPr id="634" name="Google Shape;634;p36"/>
            <p:cNvSpPr/>
            <p:nvPr/>
          </p:nvSpPr>
          <p:spPr>
            <a:xfrm>
              <a:off x="4340100" y="2011013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5" name="Google Shape;635;p36"/>
            <p:cNvGrpSpPr/>
            <p:nvPr/>
          </p:nvGrpSpPr>
          <p:grpSpPr>
            <a:xfrm>
              <a:off x="3374650" y="1420438"/>
              <a:ext cx="231900" cy="1465725"/>
              <a:chOff x="2294125" y="1732750"/>
              <a:chExt cx="231900" cy="1465725"/>
            </a:xfrm>
          </p:grpSpPr>
          <p:sp>
            <p:nvSpPr>
              <p:cNvPr id="636" name="Google Shape;636;p36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6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8" name="Google Shape;638;p36"/>
            <p:cNvCxnSpPr>
              <a:stCxn id="636" idx="6"/>
              <a:endCxn id="634" idx="2"/>
            </p:cNvCxnSpPr>
            <p:nvPr/>
          </p:nvCxnSpPr>
          <p:spPr>
            <a:xfrm>
              <a:off x="3606550" y="1536388"/>
              <a:ext cx="733500" cy="590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36"/>
            <p:cNvCxnSpPr>
              <a:stCxn id="637" idx="6"/>
              <a:endCxn id="634" idx="2"/>
            </p:cNvCxnSpPr>
            <p:nvPr/>
          </p:nvCxnSpPr>
          <p:spPr>
            <a:xfrm rot="10800000" flipH="1">
              <a:off x="3606550" y="2127013"/>
              <a:ext cx="733500" cy="64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36"/>
            <p:cNvCxnSpPr>
              <a:stCxn id="636" idx="2"/>
              <a:endCxn id="624" idx="6"/>
            </p:cNvCxnSpPr>
            <p:nvPr/>
          </p:nvCxnSpPr>
          <p:spPr>
            <a:xfrm rot="10800000">
              <a:off x="3076750" y="1536388"/>
              <a:ext cx="29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36"/>
            <p:cNvCxnSpPr>
              <a:stCxn id="637" idx="2"/>
              <a:endCxn id="628" idx="6"/>
            </p:cNvCxnSpPr>
            <p:nvPr/>
          </p:nvCxnSpPr>
          <p:spPr>
            <a:xfrm rot="10800000">
              <a:off x="3076750" y="2770213"/>
              <a:ext cx="29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2" name="Google Shape;642;p36"/>
            <p:cNvSpPr txBox="1"/>
            <p:nvPr/>
          </p:nvSpPr>
          <p:spPr>
            <a:xfrm>
              <a:off x="3163900" y="9493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1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643" name="Google Shape;643;p36"/>
            <p:cNvSpPr txBox="1"/>
            <p:nvPr/>
          </p:nvSpPr>
          <p:spPr>
            <a:xfrm>
              <a:off x="3163900" y="21851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2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644" name="Google Shape;644;p36"/>
            <p:cNvSpPr txBox="1"/>
            <p:nvPr/>
          </p:nvSpPr>
          <p:spPr>
            <a:xfrm>
              <a:off x="4407725" y="1657225"/>
              <a:ext cx="4920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y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645" name="Google Shape;645;p36"/>
          <p:cNvSpPr txBox="1"/>
          <p:nvPr/>
        </p:nvSpPr>
        <p:spPr>
          <a:xfrm>
            <a:off x="4841225" y="1398950"/>
            <a:ext cx="4253100" cy="21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Instead of y = 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-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we have y = 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-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From IBP we already know that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∈[-2, 4], 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∈[-3, 6],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6" name="Google Shape;646;p36"/>
          <p:cNvSpPr txBox="1"/>
          <p:nvPr/>
        </p:nvSpPr>
        <p:spPr>
          <a:xfrm>
            <a:off x="236675" y="3449300"/>
            <a:ext cx="4042200" cy="9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Can we improve IBP using symbolic linear bounds?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7" name="Google Shape;647;p36"/>
          <p:cNvSpPr txBox="1"/>
          <p:nvPr/>
        </p:nvSpPr>
        <p:spPr>
          <a:xfrm>
            <a:off x="4991175" y="4386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 ∈ [-6, 4]</a:t>
            </a:r>
          </a:p>
        </p:txBody>
      </p:sp>
      <p:sp>
        <p:nvSpPr>
          <p:cNvPr id="648" name="Google Shape;648;p36"/>
          <p:cNvSpPr txBox="1"/>
          <p:nvPr/>
        </p:nvSpPr>
        <p:spPr>
          <a:xfrm>
            <a:off x="4899725" y="3663350"/>
            <a:ext cx="380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∈[0, 4], 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 ∈[0, 6]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sp>
        <p:nvSpPr>
          <p:cNvPr id="654" name="Google Shape;654;p37"/>
          <p:cNvSpPr txBox="1"/>
          <p:nvPr/>
        </p:nvSpPr>
        <p:spPr>
          <a:xfrm>
            <a:off x="4841225" y="1398950"/>
            <a:ext cx="4253100" cy="21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Instead of y = 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-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we have y = 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-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already know that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z</a:t>
            </a:r>
            <a:r>
              <a:rPr lang="en-GB" sz="1800" baseline="-25000">
                <a:solidFill>
                  <a:srgbClr val="0000FF"/>
                </a:solidFill>
              </a:rPr>
              <a:t>1</a:t>
            </a:r>
            <a:r>
              <a:rPr lang="en-GB" sz="1800">
                <a:solidFill>
                  <a:srgbClr val="0000FF"/>
                </a:solidFill>
              </a:rPr>
              <a:t>∈[-2, 4]</a:t>
            </a:r>
            <a:r>
              <a:rPr lang="en-GB" sz="1800">
                <a:solidFill>
                  <a:schemeClr val="dk2"/>
                </a:solidFill>
              </a:rPr>
              <a:t>, 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∈[-3, 6],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55" name="Google Shape;655;p37"/>
          <p:cNvGrpSpPr/>
          <p:nvPr/>
        </p:nvGrpSpPr>
        <p:grpSpPr>
          <a:xfrm>
            <a:off x="1001425" y="1608925"/>
            <a:ext cx="2601025" cy="1941075"/>
            <a:chOff x="1991775" y="1994325"/>
            <a:chExt cx="2601025" cy="1941075"/>
          </a:xfrm>
        </p:grpSpPr>
        <p:grpSp>
          <p:nvGrpSpPr>
            <p:cNvPr id="656" name="Google Shape;656;p37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657" name="Google Shape;657;p37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658" name="Google Shape;658;p37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59" name="Google Shape;659;p37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660" name="Google Shape;660;p37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37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62" name="Google Shape;662;p37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63" name="Google Shape;663;p37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664" name="Google Shape;664;p37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5" name="Google Shape;665;p37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6" name="Google Shape;666;p37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-2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667" name="Google Shape;667;p37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4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sp>
        <p:nvSpPr>
          <p:cNvPr id="668" name="Google Shape;668;p37"/>
          <p:cNvSpPr txBox="1"/>
          <p:nvPr/>
        </p:nvSpPr>
        <p:spPr>
          <a:xfrm>
            <a:off x="4946675" y="3566475"/>
            <a:ext cx="290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(Preactivation bounds)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grpSp>
        <p:nvGrpSpPr>
          <p:cNvPr id="674" name="Google Shape;674;p38"/>
          <p:cNvGrpSpPr/>
          <p:nvPr/>
        </p:nvGrpSpPr>
        <p:grpSpPr>
          <a:xfrm>
            <a:off x="1001425" y="1608925"/>
            <a:ext cx="2601025" cy="1941075"/>
            <a:chOff x="1991775" y="1994325"/>
            <a:chExt cx="2601025" cy="1941075"/>
          </a:xfrm>
        </p:grpSpPr>
        <p:grpSp>
          <p:nvGrpSpPr>
            <p:cNvPr id="675" name="Google Shape;675;p38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676" name="Google Shape;676;p38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677" name="Google Shape;677;p38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78" name="Google Shape;678;p38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679" name="Google Shape;679;p38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38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81" name="Google Shape;681;p38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82" name="Google Shape;682;p38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683" name="Google Shape;683;p38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38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5" name="Google Shape;685;p38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-2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686" name="Google Shape;686;p38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4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cxnSp>
        <p:nvCxnSpPr>
          <p:cNvPr id="687" name="Google Shape;687;p38"/>
          <p:cNvCxnSpPr/>
          <p:nvPr/>
        </p:nvCxnSpPr>
        <p:spPr>
          <a:xfrm rot="10800000" flipH="1">
            <a:off x="1001425" y="2160650"/>
            <a:ext cx="2367300" cy="15264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38"/>
          <p:cNvCxnSpPr/>
          <p:nvPr/>
        </p:nvCxnSpPr>
        <p:spPr>
          <a:xfrm rot="10800000" flipH="1">
            <a:off x="892800" y="1891050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9" name="Google Shape;689;p38"/>
          <p:cNvSpPr txBox="1"/>
          <p:nvPr/>
        </p:nvSpPr>
        <p:spPr>
          <a:xfrm>
            <a:off x="3728150" y="1176325"/>
            <a:ext cx="47919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</a:t>
            </a:r>
            <a:r>
              <a:rPr lang="en-GB" sz="1800">
                <a:solidFill>
                  <a:srgbClr val="0000FF"/>
                </a:solidFill>
              </a:rPr>
              <a:t>upper bound</a:t>
            </a:r>
            <a:r>
              <a:rPr lang="en-GB" sz="1800">
                <a:solidFill>
                  <a:schemeClr val="dk2"/>
                </a:solidFill>
              </a:rPr>
              <a:t> (same as the one of triangle relaxation in LP)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chemeClr val="dk2"/>
                </a:solidFill>
              </a:rPr>
              <a:t>Linear </a:t>
            </a:r>
            <a:r>
              <a:rPr lang="en-GB" sz="1800">
                <a:solidFill>
                  <a:srgbClr val="38761D"/>
                </a:solidFill>
              </a:rPr>
              <a:t>lower bound</a:t>
            </a:r>
            <a:r>
              <a:rPr lang="en-GB" sz="1800">
                <a:solidFill>
                  <a:schemeClr val="dk2"/>
                </a:solidFill>
              </a:rPr>
              <a:t> (actually not unique)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0" name="Google Shape;690;p38"/>
          <p:cNvSpPr/>
          <p:nvPr/>
        </p:nvSpPr>
        <p:spPr>
          <a:xfrm>
            <a:off x="6176900" y="2846325"/>
            <a:ext cx="961200" cy="5577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8"/>
          <p:cNvSpPr/>
          <p:nvPr/>
        </p:nvSpPr>
        <p:spPr>
          <a:xfrm>
            <a:off x="4009350" y="2846325"/>
            <a:ext cx="492600" cy="557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2" name="Google Shape;692;p38" descr="\frac{2}{3}z_1 \leq \text{ReLU}(z_1) \leq \frac{2}{3} z_1 +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88425" y="2940275"/>
            <a:ext cx="3049810" cy="3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grpSp>
        <p:nvGrpSpPr>
          <p:cNvPr id="698" name="Google Shape;698;p39"/>
          <p:cNvGrpSpPr/>
          <p:nvPr/>
        </p:nvGrpSpPr>
        <p:grpSpPr>
          <a:xfrm>
            <a:off x="1001425" y="1608925"/>
            <a:ext cx="2601025" cy="1941075"/>
            <a:chOff x="1991775" y="1994325"/>
            <a:chExt cx="2601025" cy="1941075"/>
          </a:xfrm>
        </p:grpSpPr>
        <p:grpSp>
          <p:nvGrpSpPr>
            <p:cNvPr id="699" name="Google Shape;699;p39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700" name="Google Shape;700;p39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01" name="Google Shape;701;p39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02" name="Google Shape;702;p39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03" name="Google Shape;703;p39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4" name="Google Shape;704;p39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05" name="Google Shape;705;p39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06" name="Google Shape;706;p39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07" name="Google Shape;707;p39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39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9" name="Google Shape;709;p39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-3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710" name="Google Shape;710;p39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6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cxnSp>
        <p:nvCxnSpPr>
          <p:cNvPr id="711" name="Google Shape;711;p39"/>
          <p:cNvCxnSpPr/>
          <p:nvPr/>
        </p:nvCxnSpPr>
        <p:spPr>
          <a:xfrm rot="10800000" flipH="1">
            <a:off x="1001425" y="2160650"/>
            <a:ext cx="2367300" cy="15264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2" name="Google Shape;712;p39"/>
          <p:cNvCxnSpPr/>
          <p:nvPr/>
        </p:nvCxnSpPr>
        <p:spPr>
          <a:xfrm rot="10800000" flipH="1">
            <a:off x="892800" y="1891050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39"/>
          <p:cNvSpPr txBox="1"/>
          <p:nvPr/>
        </p:nvSpPr>
        <p:spPr>
          <a:xfrm>
            <a:off x="3602450" y="1176325"/>
            <a:ext cx="53589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 can be bounded using linear functions similarly.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let’s consider y = 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-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). How to bound it using linear functions of 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and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pSp>
        <p:nvGrpSpPr>
          <p:cNvPr id="714" name="Google Shape;714;p39"/>
          <p:cNvGrpSpPr/>
          <p:nvPr/>
        </p:nvGrpSpPr>
        <p:grpSpPr>
          <a:xfrm>
            <a:off x="807825" y="3926475"/>
            <a:ext cx="3049810" cy="979025"/>
            <a:chOff x="807825" y="3926475"/>
            <a:chExt cx="3049810" cy="979025"/>
          </a:xfrm>
        </p:grpSpPr>
        <p:pic>
          <p:nvPicPr>
            <p:cNvPr id="715" name="Google Shape;715;p39" descr="\frac{2}{3}z_2 \leq \text{ReLU}(z_2) \leq \frac{2}{3} z_2 + 2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807825" y="4535708"/>
              <a:ext cx="2988226" cy="369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6" name="Google Shape;716;p39" descr="\frac{2}{3}z_1 \leq \text{ReLU}(z_1) \leq \frac{2}{3} z_1 + \frac{4}{3}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807825" y="3926475"/>
              <a:ext cx="3049810" cy="369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pic>
        <p:nvPicPr>
          <p:cNvPr id="722" name="Google Shape;722;p40" descr="\frac{2}{3}z_2 \leq \text{ReLU}(z_2) \leq \frac{2}{3} z_2 + 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967175" y="1531558"/>
            <a:ext cx="2988226" cy="369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0" descr="\frac{2}{3}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63450" y="1531550"/>
            <a:ext cx="3049810" cy="36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0" descr="y = \text{ReLU}(z_1) - \text{ReLU}(z_2)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374325" y="3220075"/>
            <a:ext cx="3114144" cy="36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0" descr="\frac{2}{3}z_1 - (\frac{2}{3} z_2 + 2) \leq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380150" y="2672950"/>
            <a:ext cx="2533100" cy="4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0"/>
          <p:cNvSpPr txBox="1"/>
          <p:nvPr/>
        </p:nvSpPr>
        <p:spPr>
          <a:xfrm>
            <a:off x="1654500" y="2031625"/>
            <a:ext cx="29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Negative coefficient, take upper bound 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727" name="Google Shape;727;p40"/>
          <p:cNvSpPr txBox="1"/>
          <p:nvPr/>
        </p:nvSpPr>
        <p:spPr>
          <a:xfrm>
            <a:off x="-149725" y="3220025"/>
            <a:ext cx="29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</a:rPr>
              <a:t>positive coefficient, take lower bound 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728" name="Google Shape;728;p40"/>
          <p:cNvSpPr/>
          <p:nvPr/>
        </p:nvSpPr>
        <p:spPr>
          <a:xfrm>
            <a:off x="7067325" y="1457525"/>
            <a:ext cx="1066200" cy="5727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0"/>
          <p:cNvSpPr/>
          <p:nvPr/>
        </p:nvSpPr>
        <p:spPr>
          <a:xfrm>
            <a:off x="740475" y="1430100"/>
            <a:ext cx="562500" cy="572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0"/>
          <p:cNvSpPr/>
          <p:nvPr/>
        </p:nvSpPr>
        <p:spPr>
          <a:xfrm>
            <a:off x="2226100" y="2672950"/>
            <a:ext cx="1361400" cy="5472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0"/>
          <p:cNvSpPr/>
          <p:nvPr/>
        </p:nvSpPr>
        <p:spPr>
          <a:xfrm>
            <a:off x="1302975" y="2660200"/>
            <a:ext cx="562500" cy="572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2" name="Google Shape;732;p40" descr="\leq (\frac{2}{3}z_1+ \frac{4}{3}) - \frac{2}{3} z_2  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825013" y="3735375"/>
            <a:ext cx="327254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sp>
        <p:nvSpPr>
          <p:cNvPr id="738" name="Google Shape;738;p41"/>
          <p:cNvSpPr txBox="1"/>
          <p:nvPr/>
        </p:nvSpPr>
        <p:spPr>
          <a:xfrm>
            <a:off x="787350" y="2066775"/>
            <a:ext cx="82014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we have linear inequalities for y w.r.t. z!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Next step we can simply plug in, as in the linear (y=z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-z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 case.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9" name="Google Shape;739;p41" descr="\frac{2}{3}z_1 - (\frac{2}{3} z_2 + 2) \leq y \leq (\frac{2}{3}z_1+ \frac{4}{3}) - \frac{2}{3} z_2  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26800" y="1275350"/>
            <a:ext cx="6373722" cy="5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pic>
        <p:nvPicPr>
          <p:cNvPr id="745" name="Google Shape;745;p42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05782" y="192465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2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505772" y="2269478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2" descr="-\frac{2}{3} x_1 -  2 \leq y \leq -\frac{2}{3} x_1 +  \frac{4}{3}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661050" y="3278275"/>
            <a:ext cx="3390056" cy="4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2"/>
          <p:cNvSpPr/>
          <p:nvPr/>
        </p:nvSpPr>
        <p:spPr>
          <a:xfrm>
            <a:off x="4138225" y="2734600"/>
            <a:ext cx="328200" cy="49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/>
          <p:cNvSpPr txBox="1"/>
          <p:nvPr/>
        </p:nvSpPr>
        <p:spPr>
          <a:xfrm>
            <a:off x="4618600" y="2793200"/>
            <a:ext cx="26010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Plug in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50" name="Google Shape;750;p42" descr="\frac{2}{3}z_1 - (\frac{2}{3} z_2 + 2) \leq y \leq (\frac{2}{3}z_1+ \frac{4}{3}) - \frac{2}{3} z_2  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915562" y="1263550"/>
            <a:ext cx="4958502" cy="4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pic>
        <p:nvPicPr>
          <p:cNvPr id="756" name="Google Shape;756;p43" descr="-\frac{2}{3} x_1 -  2 \leq y \leq -\frac{2}{3} x_1 + 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567325" y="1930875"/>
            <a:ext cx="3390056" cy="41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43" descr="x_1 \in [-1, 2], \ x_2 \in [-2,1]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141125" y="2433000"/>
            <a:ext cx="2437224" cy="3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3"/>
          <p:cNvSpPr/>
          <p:nvPr/>
        </p:nvSpPr>
        <p:spPr>
          <a:xfrm>
            <a:off x="4098250" y="2926900"/>
            <a:ext cx="328200" cy="49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3"/>
          <p:cNvSpPr txBox="1"/>
          <p:nvPr/>
        </p:nvSpPr>
        <p:spPr>
          <a:xfrm>
            <a:off x="1080250" y="1258350"/>
            <a:ext cx="72057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now have symbolic linear bounds for y w.r.t. 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0" name="Google Shape;760;p43"/>
          <p:cNvSpPr txBox="1"/>
          <p:nvPr/>
        </p:nvSpPr>
        <p:spPr>
          <a:xfrm>
            <a:off x="2829138" y="4168650"/>
            <a:ext cx="30612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Concrete interval bounds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1" name="Google Shape;761;p43"/>
          <p:cNvSpPr/>
          <p:nvPr/>
        </p:nvSpPr>
        <p:spPr>
          <a:xfrm>
            <a:off x="2567325" y="1852175"/>
            <a:ext cx="1231200" cy="572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43"/>
          <p:cNvSpPr/>
          <p:nvPr/>
        </p:nvSpPr>
        <p:spPr>
          <a:xfrm>
            <a:off x="4698275" y="1864913"/>
            <a:ext cx="1361400" cy="5472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3"/>
          <p:cNvSpPr txBox="1"/>
          <p:nvPr/>
        </p:nvSpPr>
        <p:spPr>
          <a:xfrm>
            <a:off x="822750" y="2911950"/>
            <a:ext cx="29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</a:rPr>
              <a:t>Take lower bound given x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764" name="Google Shape;764;p43"/>
          <p:cNvSpPr txBox="1"/>
          <p:nvPr/>
        </p:nvSpPr>
        <p:spPr>
          <a:xfrm>
            <a:off x="4784450" y="2987950"/>
            <a:ext cx="29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Take upper bound given x</a:t>
            </a:r>
            <a:endParaRPr sz="1800">
              <a:solidFill>
                <a:srgbClr val="0000FF"/>
              </a:solidFill>
            </a:endParaRPr>
          </a:p>
        </p:txBody>
      </p:sp>
      <p:cxnSp>
        <p:nvCxnSpPr>
          <p:cNvPr id="765" name="Google Shape;765;p43"/>
          <p:cNvCxnSpPr/>
          <p:nvPr/>
        </p:nvCxnSpPr>
        <p:spPr>
          <a:xfrm flipH="1">
            <a:off x="2638425" y="2512000"/>
            <a:ext cx="129000" cy="4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6" name="Google Shape;766;p43"/>
          <p:cNvCxnSpPr/>
          <p:nvPr/>
        </p:nvCxnSpPr>
        <p:spPr>
          <a:xfrm>
            <a:off x="2626825" y="3285275"/>
            <a:ext cx="1417800" cy="51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7" name="Google Shape;767;p43"/>
          <p:cNvCxnSpPr/>
          <p:nvPr/>
        </p:nvCxnSpPr>
        <p:spPr>
          <a:xfrm>
            <a:off x="5921950" y="2477438"/>
            <a:ext cx="290100" cy="58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8" name="Google Shape;768;p43"/>
          <p:cNvCxnSpPr/>
          <p:nvPr/>
        </p:nvCxnSpPr>
        <p:spPr>
          <a:xfrm flipH="1">
            <a:off x="4794300" y="3418888"/>
            <a:ext cx="136200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69" name="Google Shape;769;p43" descr="y \in [-\frac{10}{3}, 2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224588" y="3768925"/>
            <a:ext cx="1653786" cy="4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43"/>
          <p:cNvSpPr txBox="1"/>
          <p:nvPr/>
        </p:nvSpPr>
        <p:spPr>
          <a:xfrm>
            <a:off x="2193300" y="4522475"/>
            <a:ext cx="508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 lot more tighter than IBP bounds y ∈ [-6, 4]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do even better?</a:t>
            </a:r>
          </a:p>
        </p:txBody>
      </p:sp>
      <p:sp>
        <p:nvSpPr>
          <p:cNvPr id="776" name="Google Shape;776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Let’s recall that when we linearly bound the ReLU function, there are some flexibilities</a:t>
            </a:r>
          </a:p>
        </p:txBody>
      </p:sp>
      <p:grpSp>
        <p:nvGrpSpPr>
          <p:cNvPr id="777" name="Google Shape;777;p44"/>
          <p:cNvGrpSpPr/>
          <p:nvPr/>
        </p:nvGrpSpPr>
        <p:grpSpPr>
          <a:xfrm>
            <a:off x="1060000" y="2429075"/>
            <a:ext cx="2601025" cy="1941075"/>
            <a:chOff x="1991775" y="1994325"/>
            <a:chExt cx="2601025" cy="1941075"/>
          </a:xfrm>
        </p:grpSpPr>
        <p:grpSp>
          <p:nvGrpSpPr>
            <p:cNvPr id="778" name="Google Shape;778;p44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779" name="Google Shape;779;p44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80" name="Google Shape;780;p44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81" name="Google Shape;781;p44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82" name="Google Shape;782;p44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3" name="Google Shape;783;p44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84" name="Google Shape;784;p44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85" name="Google Shape;785;p44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86" name="Google Shape;786;p44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7" name="Google Shape;787;p44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8" name="Google Shape;788;p44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-2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789" name="Google Shape;789;p44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4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cxnSp>
        <p:nvCxnSpPr>
          <p:cNvPr id="790" name="Google Shape;790;p44"/>
          <p:cNvCxnSpPr/>
          <p:nvPr/>
        </p:nvCxnSpPr>
        <p:spPr>
          <a:xfrm rot="10800000" flipH="1">
            <a:off x="1060000" y="2980800"/>
            <a:ext cx="2367300" cy="15264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1" name="Google Shape;791;p44"/>
          <p:cNvCxnSpPr/>
          <p:nvPr/>
        </p:nvCxnSpPr>
        <p:spPr>
          <a:xfrm rot="10800000" flipH="1">
            <a:off x="951375" y="2711200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2" name="Google Shape;792;p44"/>
          <p:cNvSpPr txBox="1"/>
          <p:nvPr/>
        </p:nvSpPr>
        <p:spPr>
          <a:xfrm>
            <a:off x="3786725" y="1996475"/>
            <a:ext cx="47919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</a:t>
            </a:r>
            <a:r>
              <a:rPr lang="en-GB" sz="1800">
                <a:solidFill>
                  <a:srgbClr val="0000FF"/>
                </a:solidFill>
              </a:rPr>
              <a:t>upper bound</a:t>
            </a:r>
            <a:r>
              <a:rPr lang="en-GB" sz="1800">
                <a:solidFill>
                  <a:schemeClr val="dk2"/>
                </a:solidFill>
              </a:rPr>
              <a:t> (same as the one of triangle relaxation in LP)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</a:t>
            </a:r>
            <a:r>
              <a:rPr lang="en-GB" sz="1800">
                <a:solidFill>
                  <a:srgbClr val="38761D"/>
                </a:solidFill>
              </a:rPr>
              <a:t>lower bound</a:t>
            </a:r>
            <a:r>
              <a:rPr lang="en-GB" sz="1800">
                <a:solidFill>
                  <a:schemeClr val="dk2"/>
                </a:solidFill>
              </a:rPr>
              <a:t> (actually </a:t>
            </a:r>
            <a:r>
              <a:rPr lang="en-GB" sz="1800">
                <a:solidFill>
                  <a:srgbClr val="FF0000"/>
                </a:solidFill>
              </a:rPr>
              <a:t>not unique</a:t>
            </a:r>
            <a:r>
              <a:rPr lang="en-GB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3" name="Google Shape;793;p44" descr="\frac{2}{3}z_1 \leq \text{ReLU}(z_1) \leq \frac{2}{3} z_1 +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47000" y="3760425"/>
            <a:ext cx="3049810" cy="36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4" name="Google Shape;794;p44"/>
          <p:cNvCxnSpPr/>
          <p:nvPr/>
        </p:nvCxnSpPr>
        <p:spPr>
          <a:xfrm rot="10800000" flipH="1">
            <a:off x="1291150" y="2711200"/>
            <a:ext cx="1956600" cy="1944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5" name="Google Shape;795;p44"/>
          <p:cNvSpPr txBox="1"/>
          <p:nvPr/>
        </p:nvSpPr>
        <p:spPr>
          <a:xfrm>
            <a:off x="3503300" y="4382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Also valid:</a:t>
            </a:r>
          </a:p>
        </p:txBody>
      </p:sp>
      <p:sp>
        <p:nvSpPr>
          <p:cNvPr id="796" name="Google Shape;796;p44"/>
          <p:cNvSpPr/>
          <p:nvPr/>
        </p:nvSpPr>
        <p:spPr>
          <a:xfrm>
            <a:off x="4674850" y="4305775"/>
            <a:ext cx="389100" cy="547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7" name="Google Shape;797;p44" descr="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746550" y="4382775"/>
            <a:ext cx="2872238" cy="3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different linear bounds (α-CROWN)</a:t>
            </a:r>
          </a:p>
        </p:txBody>
      </p:sp>
      <p:grpSp>
        <p:nvGrpSpPr>
          <p:cNvPr id="803" name="Google Shape;803;p45"/>
          <p:cNvGrpSpPr/>
          <p:nvPr/>
        </p:nvGrpSpPr>
        <p:grpSpPr>
          <a:xfrm>
            <a:off x="1001425" y="1608925"/>
            <a:ext cx="2601025" cy="1941075"/>
            <a:chOff x="1991775" y="1994325"/>
            <a:chExt cx="2601025" cy="1941075"/>
          </a:xfrm>
        </p:grpSpPr>
        <p:grpSp>
          <p:nvGrpSpPr>
            <p:cNvPr id="804" name="Google Shape;804;p45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805" name="Google Shape;805;p45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806" name="Google Shape;806;p45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807" name="Google Shape;807;p45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808" name="Google Shape;808;p45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9" name="Google Shape;809;p45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10" name="Google Shape;810;p45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11" name="Google Shape;811;p45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812" name="Google Shape;812;p45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45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4" name="Google Shape;814;p45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-3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815" name="Google Shape;815;p45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6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cxnSp>
        <p:nvCxnSpPr>
          <p:cNvPr id="816" name="Google Shape;816;p45"/>
          <p:cNvCxnSpPr/>
          <p:nvPr/>
        </p:nvCxnSpPr>
        <p:spPr>
          <a:xfrm rot="10800000" flipH="1">
            <a:off x="1256000" y="1867625"/>
            <a:ext cx="2003400" cy="1944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7" name="Google Shape;817;p45"/>
          <p:cNvCxnSpPr/>
          <p:nvPr/>
        </p:nvCxnSpPr>
        <p:spPr>
          <a:xfrm rot="10800000" flipH="1">
            <a:off x="892800" y="1891050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8" name="Google Shape;818;p45"/>
          <p:cNvSpPr txBox="1"/>
          <p:nvPr/>
        </p:nvSpPr>
        <p:spPr>
          <a:xfrm>
            <a:off x="3919825" y="1211475"/>
            <a:ext cx="49125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what are the linear bounds of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 = 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-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9" name="Google Shape;819;p45" descr="z_2 \leq \text{ReLU}(z_2) \leq \frac{2}{3} z_2 + 2&#10;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94913" y="4532275"/>
            <a:ext cx="2995812" cy="3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5" descr="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65825" y="3975800"/>
            <a:ext cx="3053998" cy="3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45" descr="z_1 - (\frac{2}{3} z_2 + 2) \leq y \leq (\frac{2}{3}z_1+ \frac{4}{3}) - z_2  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711149" y="2045494"/>
            <a:ext cx="5121150" cy="467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different linear bounds (α-CROWN)</a:t>
            </a:r>
          </a:p>
        </p:txBody>
      </p:sp>
      <p:pic>
        <p:nvPicPr>
          <p:cNvPr id="827" name="Google Shape;827;p46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730720" y="1912938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46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730722" y="2320066"/>
            <a:ext cx="1778074" cy="302272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46"/>
          <p:cNvSpPr/>
          <p:nvPr/>
        </p:nvSpPr>
        <p:spPr>
          <a:xfrm>
            <a:off x="4063100" y="1813550"/>
            <a:ext cx="316500" cy="902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0" name="Google Shape;830;p46" descr="z_1 - (\frac{2}{3} z_2 + 2) \leq y \leq (\frac{2}{3}z_1+ \frac{4}{3}) - z_2  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613899" y="1186894"/>
            <a:ext cx="5121150" cy="46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46" descr="-\frac{1}{3} x_1 -\frac{1}{3} x_2 - 2\leq y \leq -\frac{4}{3} x_1 + \frac{1}{3} x_2 + \frac{4}{3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895659" y="2875000"/>
            <a:ext cx="4839392" cy="3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46"/>
          <p:cNvSpPr txBox="1"/>
          <p:nvPr/>
        </p:nvSpPr>
        <p:spPr>
          <a:xfrm>
            <a:off x="6727550" y="2113475"/>
            <a:ext cx="13356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Plug 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3" name="Google Shape;833;p46"/>
          <p:cNvSpPr/>
          <p:nvPr/>
        </p:nvSpPr>
        <p:spPr>
          <a:xfrm>
            <a:off x="4063100" y="3348475"/>
            <a:ext cx="316500" cy="902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46"/>
          <p:cNvSpPr txBox="1"/>
          <p:nvPr/>
        </p:nvSpPr>
        <p:spPr>
          <a:xfrm>
            <a:off x="5203750" y="3717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Concretize</a:t>
            </a:r>
          </a:p>
        </p:txBody>
      </p:sp>
      <p:pic>
        <p:nvPicPr>
          <p:cNvPr id="835" name="Google Shape;835;p46" descr="x_1 \in [-1, 2], \ x_2 \in [-2,1]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730725" y="3415925"/>
            <a:ext cx="2437224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46" descr="y \in [-3, 3]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3600450" y="4384850"/>
            <a:ext cx="1335600" cy="35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lower bounds for ReLU function matters!</a:t>
            </a:r>
          </a:p>
        </p:txBody>
      </p:sp>
      <p:grpSp>
        <p:nvGrpSpPr>
          <p:cNvPr id="842" name="Google Shape;842;p47"/>
          <p:cNvGrpSpPr/>
          <p:nvPr/>
        </p:nvGrpSpPr>
        <p:grpSpPr>
          <a:xfrm>
            <a:off x="822500" y="1223125"/>
            <a:ext cx="2489699" cy="1796000"/>
            <a:chOff x="822500" y="1223125"/>
            <a:chExt cx="2489699" cy="1796000"/>
          </a:xfrm>
        </p:grpSpPr>
        <p:grpSp>
          <p:nvGrpSpPr>
            <p:cNvPr id="843" name="Google Shape;843;p47"/>
            <p:cNvGrpSpPr/>
            <p:nvPr/>
          </p:nvGrpSpPr>
          <p:grpSpPr>
            <a:xfrm>
              <a:off x="931125" y="1346322"/>
              <a:ext cx="2381074" cy="1280700"/>
              <a:chOff x="1991775" y="2399647"/>
              <a:chExt cx="2381074" cy="1280700"/>
            </a:xfrm>
          </p:grpSpPr>
          <p:grpSp>
            <p:nvGrpSpPr>
              <p:cNvPr id="844" name="Google Shape;844;p47"/>
              <p:cNvGrpSpPr/>
              <p:nvPr/>
            </p:nvGrpSpPr>
            <p:grpSpPr>
              <a:xfrm>
                <a:off x="1991775" y="239964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845" name="Google Shape;845;p47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846" name="Google Shape;846;p47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847" name="Google Shape;847;p47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8" name="Google Shape;848;p47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849" name="Google Shape;849;p47"/>
              <p:cNvCxnSpPr/>
              <p:nvPr/>
            </p:nvCxnSpPr>
            <p:spPr>
              <a:xfrm rot="10800000">
                <a:off x="2694000" y="2551475"/>
                <a:ext cx="0" cy="101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0" name="Google Shape;850;p47"/>
              <p:cNvCxnSpPr/>
              <p:nvPr/>
            </p:nvCxnSpPr>
            <p:spPr>
              <a:xfrm rot="10800000">
                <a:off x="3977325" y="2456025"/>
                <a:ext cx="0" cy="1121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51" name="Google Shape;851;p47"/>
            <p:cNvCxnSpPr/>
            <p:nvPr/>
          </p:nvCxnSpPr>
          <p:spPr>
            <a:xfrm rot="10800000" flipH="1">
              <a:off x="931125" y="1492725"/>
              <a:ext cx="2367300" cy="1526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2" name="Google Shape;852;p47"/>
            <p:cNvCxnSpPr/>
            <p:nvPr/>
          </p:nvCxnSpPr>
          <p:spPr>
            <a:xfrm rot="10800000" flipH="1">
              <a:off x="822500" y="1223125"/>
              <a:ext cx="2436900" cy="15114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853" name="Google Shape;853;p47" descr="\frac{2}{3}z_2 \leq \text{ReLU}(z_2) \leq \frac{2}{3} z_2 + 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56588" y="3700908"/>
            <a:ext cx="2988226" cy="369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47" descr="\frac{2}{3}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25800" y="3255700"/>
            <a:ext cx="3049810" cy="36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5" name="Google Shape;855;p47"/>
          <p:cNvGrpSpPr/>
          <p:nvPr/>
        </p:nvGrpSpPr>
        <p:grpSpPr>
          <a:xfrm>
            <a:off x="5295625" y="1323647"/>
            <a:ext cx="2381074" cy="1280700"/>
            <a:chOff x="1991775" y="2399647"/>
            <a:chExt cx="2381074" cy="1280700"/>
          </a:xfrm>
        </p:grpSpPr>
        <p:grpSp>
          <p:nvGrpSpPr>
            <p:cNvPr id="856" name="Google Shape;856;p47"/>
            <p:cNvGrpSpPr/>
            <p:nvPr/>
          </p:nvGrpSpPr>
          <p:grpSpPr>
            <a:xfrm>
              <a:off x="1991775" y="2399647"/>
              <a:ext cx="2381074" cy="1280700"/>
              <a:chOff x="3670606" y="691950"/>
              <a:chExt cx="2796000" cy="1707600"/>
            </a:xfrm>
          </p:grpSpPr>
          <p:cxnSp>
            <p:nvCxnSpPr>
              <p:cNvPr id="857" name="Google Shape;857;p47"/>
              <p:cNvCxnSpPr/>
              <p:nvPr/>
            </p:nvCxnSpPr>
            <p:spPr>
              <a:xfrm>
                <a:off x="3670606" y="1882654"/>
                <a:ext cx="279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58" name="Google Shape;858;p47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859" name="Google Shape;859;p47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0" name="Google Shape;860;p47"/>
              <p:cNvCxnSpPr/>
              <p:nvPr/>
            </p:nvCxnSpPr>
            <p:spPr>
              <a:xfrm rot="10800000" flipH="1">
                <a:off x="5060625" y="775350"/>
                <a:ext cx="975000" cy="1107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61" name="Google Shape;861;p47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2" name="Google Shape;862;p47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863" name="Google Shape;863;p47" descr="z_2 \leq \text{ReLU}(z_2) \leq \frac{2}{3} z_2 + 2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988250" y="3677475"/>
            <a:ext cx="2946100" cy="38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47" descr="z_1 \leq \text{ReLU}(z_1) \leq \frac{2}{3} z_1 + \frac{4}{3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959163" y="3121012"/>
            <a:ext cx="3053998" cy="39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5" name="Google Shape;865;p47"/>
          <p:cNvCxnSpPr/>
          <p:nvPr/>
        </p:nvCxnSpPr>
        <p:spPr>
          <a:xfrm rot="10800000" flipH="1">
            <a:off x="5160025" y="1195425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6" name="Google Shape;866;p47"/>
          <p:cNvCxnSpPr/>
          <p:nvPr/>
        </p:nvCxnSpPr>
        <p:spPr>
          <a:xfrm rot="10800000" flipH="1">
            <a:off x="5796225" y="1129250"/>
            <a:ext cx="1780800" cy="17574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67" name="Google Shape;867;p47" descr="y \in [-3, 3]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6110050" y="4664425"/>
            <a:ext cx="1335600" cy="358943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47"/>
          <p:cNvSpPr/>
          <p:nvPr/>
        </p:nvSpPr>
        <p:spPr>
          <a:xfrm>
            <a:off x="6652450" y="4077950"/>
            <a:ext cx="250800" cy="572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9" name="Google Shape;869;p47" descr="y \in [-\frac{10}{3}, 2]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1525713" y="4579875"/>
            <a:ext cx="1653786" cy="4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47"/>
          <p:cNvSpPr/>
          <p:nvPr/>
        </p:nvSpPr>
        <p:spPr>
          <a:xfrm>
            <a:off x="2227213" y="4077950"/>
            <a:ext cx="250800" cy="572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47"/>
          <p:cNvSpPr txBox="1"/>
          <p:nvPr/>
        </p:nvSpPr>
        <p:spPr>
          <a:xfrm>
            <a:off x="3474550" y="45950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Which one is correct?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lower bounds for ReLU function matters!</a:t>
            </a:r>
          </a:p>
        </p:txBody>
      </p:sp>
      <p:sp>
        <p:nvSpPr>
          <p:cNvPr id="877" name="Google Shape;877;p48"/>
          <p:cNvSpPr txBox="1"/>
          <p:nvPr/>
        </p:nvSpPr>
        <p:spPr>
          <a:xfrm>
            <a:off x="864750" y="1233350"/>
            <a:ext cx="7148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Both results are correct! But we want the bounds to be as tight as possible! So best result is </a:t>
            </a:r>
            <a:r>
              <a:rPr lang="en-GB" sz="1800" b="1">
                <a:solidFill>
                  <a:schemeClr val="dk2"/>
                </a:solidFill>
              </a:rPr>
              <a:t>y ∈ [-3, 2]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general, the slope of the linear lower bound for every ReLU neuron can be optimized to find the best result.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lower bounds for ReLU function matters!</a:t>
            </a:r>
          </a:p>
        </p:txBody>
      </p:sp>
      <p:sp>
        <p:nvSpPr>
          <p:cNvPr id="883" name="Google Shape;883;p49"/>
          <p:cNvSpPr txBox="1"/>
          <p:nvPr/>
        </p:nvSpPr>
        <p:spPr>
          <a:xfrm>
            <a:off x="864750" y="1233350"/>
            <a:ext cx="714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general, the slope of the linear lower bound for every ReLU neuron can be optimized to find the best result.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84" name="Google Shape;884;p49" descr="\alpha_1 z_2 \leq \text{ReLU}(z_2) \leq \frac{2}{3} z_2 +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144075" y="2084711"/>
            <a:ext cx="3708994" cy="43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49" descr="\alpha_2 z_2 \leq \text{ReLU}(z_2) \leq \frac{2}{3} z_2 + 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144067" y="2632975"/>
            <a:ext cx="3631826" cy="4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49"/>
          <p:cNvSpPr txBox="1"/>
          <p:nvPr/>
        </p:nvSpPr>
        <p:spPr>
          <a:xfrm>
            <a:off x="864750" y="3181250"/>
            <a:ext cx="7678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optimal lower bound of y, set α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=1, α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=1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optimal upper bound of y, set α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=⅔, α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=⅔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(note that the optimal α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and α</a:t>
            </a:r>
            <a:r>
              <a:rPr lang="en-GB" sz="1800" baseline="-25000">
                <a:solidFill>
                  <a:schemeClr val="dk2"/>
                </a:solidFill>
              </a:rPr>
              <a:t>2 </a:t>
            </a:r>
            <a:r>
              <a:rPr lang="en-GB" sz="1800">
                <a:solidFill>
                  <a:schemeClr val="dk2"/>
                </a:solidFill>
              </a:rPr>
              <a:t> do not equal in general)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method (CROWN)</a:t>
            </a:r>
          </a:p>
        </p:txBody>
      </p:sp>
      <p:sp>
        <p:nvSpPr>
          <p:cNvPr id="892" name="Google Shape;892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Obtain all pre-activation bounds (can be done via CROWN recursively)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Start from the output layer, form the initial linear (in)equality y = y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Recursively propagate linear inequality y &lt;= </a:t>
            </a:r>
            <a:r>
              <a:rPr lang="en-GB" dirty="0" err="1"/>
              <a:t>a</a:t>
            </a:r>
            <a:r>
              <a:rPr lang="en-GB" baseline="30000" dirty="0" err="1"/>
              <a:t>T</a:t>
            </a:r>
            <a:r>
              <a:rPr lang="en-GB" dirty="0" err="1"/>
              <a:t>z</a:t>
            </a:r>
            <a:r>
              <a:rPr lang="en-GB" dirty="0"/>
              <a:t> + b through each layer: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dirty="0"/>
              <a:t>For a linear layer, z=</a:t>
            </a:r>
            <a:r>
              <a:rPr lang="en-GB" dirty="0" err="1"/>
              <a:t>Wz</a:t>
            </a:r>
            <a:r>
              <a:rPr lang="en-GB" dirty="0"/>
              <a:t>’, directly plug in </a:t>
            </a:r>
            <a:r>
              <a:rPr lang="en-GB" dirty="0" err="1"/>
              <a:t>a</a:t>
            </a:r>
            <a:r>
              <a:rPr lang="en-GB" baseline="30000" dirty="0" err="1"/>
              <a:t>T</a:t>
            </a:r>
            <a:r>
              <a:rPr lang="en-GB" dirty="0" err="1"/>
              <a:t>z</a:t>
            </a:r>
            <a:r>
              <a:rPr lang="en-GB" dirty="0"/>
              <a:t> + b to get a linear bound of z’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dirty="0"/>
              <a:t>For a non-linear layer (e.g., z=</a:t>
            </a:r>
            <a:r>
              <a:rPr lang="en-GB" dirty="0" err="1"/>
              <a:t>ReLU</a:t>
            </a:r>
            <a:r>
              <a:rPr lang="en-GB" dirty="0"/>
              <a:t>(z’)), we first form the linear inequalities to bound the nonlinear layer itself. Then multiply either the lower or upper bound based on the sign of element in 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When the linear inequality propagates to the input layer, we can concretize the linear bound using bounds on input layer.</a:t>
            </a:r>
          </a:p>
        </p:txBody>
      </p:sp>
      <p:grpSp>
        <p:nvGrpSpPr>
          <p:cNvPr id="893" name="Google Shape;893;p50"/>
          <p:cNvGrpSpPr/>
          <p:nvPr/>
        </p:nvGrpSpPr>
        <p:grpSpPr>
          <a:xfrm>
            <a:off x="5075501" y="3928775"/>
            <a:ext cx="1740451" cy="1214727"/>
            <a:chOff x="465587" y="2149842"/>
            <a:chExt cx="2175563" cy="1518408"/>
          </a:xfrm>
        </p:grpSpPr>
        <p:sp>
          <p:nvSpPr>
            <p:cNvPr id="894" name="Google Shape;894;p50"/>
            <p:cNvSpPr txBox="1"/>
            <p:nvPr/>
          </p:nvSpPr>
          <p:spPr>
            <a:xfrm>
              <a:off x="465645" y="2149842"/>
              <a:ext cx="9162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895" name="Google Shape;895;p50"/>
            <p:cNvSpPr txBox="1"/>
            <p:nvPr/>
          </p:nvSpPr>
          <p:spPr>
            <a:xfrm>
              <a:off x="465587" y="3041529"/>
              <a:ext cx="9162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896" name="Google Shape;896;p50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897" name="Google Shape;897;p50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50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50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00" name="Google Shape;900;p50"/>
              <p:cNvCxnSpPr>
                <a:stCxn id="897" idx="6"/>
                <a:endCxn id="899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1" name="Google Shape;901;p50"/>
              <p:cNvCxnSpPr>
                <a:stCxn id="898" idx="6"/>
                <a:endCxn id="899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2" name="Google Shape;902;p50"/>
              <p:cNvCxnSpPr>
                <a:stCxn id="898" idx="6"/>
                <a:endCxn id="903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4" name="Google Shape;904;p50"/>
              <p:cNvCxnSpPr>
                <a:stCxn id="897" idx="6"/>
                <a:endCxn id="903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3" name="Google Shape;903;p50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5" name="Google Shape;905;p50"/>
          <p:cNvGrpSpPr/>
          <p:nvPr/>
        </p:nvGrpSpPr>
        <p:grpSpPr>
          <a:xfrm>
            <a:off x="6815884" y="3594049"/>
            <a:ext cx="1516955" cy="1549430"/>
            <a:chOff x="3076750" y="949375"/>
            <a:chExt cx="1896194" cy="1936788"/>
          </a:xfrm>
        </p:grpSpPr>
        <p:sp>
          <p:nvSpPr>
            <p:cNvPr id="906" name="Google Shape;906;p50"/>
            <p:cNvSpPr/>
            <p:nvPr/>
          </p:nvSpPr>
          <p:spPr>
            <a:xfrm>
              <a:off x="4340100" y="2011013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7" name="Google Shape;907;p50"/>
            <p:cNvGrpSpPr/>
            <p:nvPr/>
          </p:nvGrpSpPr>
          <p:grpSpPr>
            <a:xfrm>
              <a:off x="3374650" y="1420438"/>
              <a:ext cx="231900" cy="1465725"/>
              <a:chOff x="2294125" y="1732750"/>
              <a:chExt cx="231900" cy="1465725"/>
            </a:xfrm>
          </p:grpSpPr>
          <p:sp>
            <p:nvSpPr>
              <p:cNvPr id="908" name="Google Shape;908;p50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50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910" name="Google Shape;910;p50"/>
            <p:cNvCxnSpPr>
              <a:stCxn id="908" idx="6"/>
              <a:endCxn id="906" idx="2"/>
            </p:cNvCxnSpPr>
            <p:nvPr/>
          </p:nvCxnSpPr>
          <p:spPr>
            <a:xfrm>
              <a:off x="3606550" y="1536388"/>
              <a:ext cx="733500" cy="590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1" name="Google Shape;911;p50"/>
            <p:cNvCxnSpPr>
              <a:stCxn id="909" idx="6"/>
              <a:endCxn id="906" idx="2"/>
            </p:cNvCxnSpPr>
            <p:nvPr/>
          </p:nvCxnSpPr>
          <p:spPr>
            <a:xfrm rot="10800000" flipH="1">
              <a:off x="3606550" y="2127013"/>
              <a:ext cx="733500" cy="64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2" name="Google Shape;912;p50"/>
            <p:cNvCxnSpPr>
              <a:stCxn id="908" idx="2"/>
              <a:endCxn id="899" idx="6"/>
            </p:cNvCxnSpPr>
            <p:nvPr/>
          </p:nvCxnSpPr>
          <p:spPr>
            <a:xfrm rot="10800000">
              <a:off x="3076750" y="1536388"/>
              <a:ext cx="29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3" name="Google Shape;913;p50"/>
            <p:cNvCxnSpPr>
              <a:stCxn id="909" idx="2"/>
              <a:endCxn id="903" idx="6"/>
            </p:cNvCxnSpPr>
            <p:nvPr/>
          </p:nvCxnSpPr>
          <p:spPr>
            <a:xfrm rot="10800000">
              <a:off x="3076750" y="2770213"/>
              <a:ext cx="29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4" name="Google Shape;914;p50"/>
            <p:cNvSpPr txBox="1"/>
            <p:nvPr/>
          </p:nvSpPr>
          <p:spPr>
            <a:xfrm>
              <a:off x="3163900" y="9493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1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15" name="Google Shape;915;p50"/>
            <p:cNvSpPr txBox="1"/>
            <p:nvPr/>
          </p:nvSpPr>
          <p:spPr>
            <a:xfrm>
              <a:off x="3163900" y="21851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2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16" name="Google Shape;916;p50"/>
            <p:cNvSpPr txBox="1"/>
            <p:nvPr/>
          </p:nvSpPr>
          <p:spPr>
            <a:xfrm>
              <a:off x="4480944" y="1682866"/>
              <a:ext cx="4920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y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MLP with 1 Layer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5483543" cy="33944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US" dirty="0"/>
                  <a:t> with bounds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₁,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₂ ∈ [0,1]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Layer 1: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₁ =</m:t>
                    </m:r>
                    <m:d>
                      <m:dPr>
                        <m:begChr m:val="["/>
                        <m:endChr m:val="]"/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ar-AE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ar-AE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₁ = </m:t>
                    </m:r>
                    <m:d>
                      <m:dPr>
                        <m:begChr m:val="["/>
                        <m:endChr m:val="]"/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−0.2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 err="1"/>
                  <a:t>ReLU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₂ᵀ 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₂ =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e>
                          </m:mr>
                          <m:m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−0.7</m:t>
                              </m:r>
                            </m:e>
                          </m:mr>
                        </m:m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₂ = 0.3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5483543" cy="3394472"/>
              </a:xfrm>
              <a:blipFill>
                <a:blip r:embed="rId2"/>
                <a:stretch>
                  <a:fillRect l="-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0B68DC1-9032-EC60-8426-28F89639B4EF}"/>
                  </a:ext>
                </a:extLst>
              </p:cNvPr>
              <p:cNvSpPr/>
              <p:nvPr/>
            </p:nvSpPr>
            <p:spPr>
              <a:xfrm>
                <a:off x="6232208" y="2297430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0B68DC1-9032-EC60-8426-28F89639B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208" y="2297430"/>
                <a:ext cx="377190" cy="37719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03974F2-226E-F46F-9392-467574A85143}"/>
                  </a:ext>
                </a:extLst>
              </p:cNvPr>
              <p:cNvSpPr/>
              <p:nvPr/>
            </p:nvSpPr>
            <p:spPr>
              <a:xfrm>
                <a:off x="6232208" y="2943107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03974F2-226E-F46F-9392-467574A851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208" y="2943107"/>
                <a:ext cx="377190" cy="37719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A7523E5-8490-F59E-BA5A-A6E6F8E8EC3E}"/>
                  </a:ext>
                </a:extLst>
              </p:cNvPr>
              <p:cNvSpPr/>
              <p:nvPr/>
            </p:nvSpPr>
            <p:spPr>
              <a:xfrm>
                <a:off x="6900863" y="2297430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A7523E5-8490-F59E-BA5A-A6E6F8E8EC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63" y="2297430"/>
                <a:ext cx="377190" cy="37719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BBEFE9-A333-49A4-951E-7F702E8B899D}"/>
                  </a:ext>
                </a:extLst>
              </p:cNvPr>
              <p:cNvSpPr/>
              <p:nvPr/>
            </p:nvSpPr>
            <p:spPr>
              <a:xfrm>
                <a:off x="6900863" y="2943107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BBEFE9-A333-49A4-951E-7F702E8B89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63" y="2943107"/>
                <a:ext cx="377190" cy="37719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3F5BAEA-927C-0F73-0F36-20FF37343EA8}"/>
                  </a:ext>
                </a:extLst>
              </p:cNvPr>
              <p:cNvSpPr/>
              <p:nvPr/>
            </p:nvSpPr>
            <p:spPr>
              <a:xfrm>
                <a:off x="7569518" y="2297430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3F5BAEA-927C-0F73-0F36-20FF37343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18" y="2297430"/>
                <a:ext cx="377190" cy="37719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BC10598-F77D-4E69-D486-D650C77F16C1}"/>
                  </a:ext>
                </a:extLst>
              </p:cNvPr>
              <p:cNvSpPr/>
              <p:nvPr/>
            </p:nvSpPr>
            <p:spPr>
              <a:xfrm>
                <a:off x="7569518" y="2943107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BC10598-F77D-4E69-D486-D650C77F1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18" y="2943107"/>
                <a:ext cx="377190" cy="37719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540AB9E-32D6-125C-DF6C-92D7F19534ED}"/>
                  </a:ext>
                </a:extLst>
              </p:cNvPr>
              <p:cNvSpPr/>
              <p:nvPr/>
            </p:nvSpPr>
            <p:spPr>
              <a:xfrm>
                <a:off x="8309610" y="2674620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540AB9E-32D6-125C-DF6C-92D7F19534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9610" y="2674620"/>
                <a:ext cx="377190" cy="37719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754756-8BE7-70CB-24E5-D85BC0630203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6609398" y="2486025"/>
            <a:ext cx="2914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42CEFC-468D-6FE6-78F7-2E09064F747D}"/>
              </a:ext>
            </a:extLst>
          </p:cNvPr>
          <p:cNvCxnSpPr>
            <a:cxnSpLocks/>
            <a:stCxn id="4" idx="5"/>
            <a:endCxn id="7" idx="1"/>
          </p:cNvCxnSpPr>
          <p:nvPr/>
        </p:nvCxnSpPr>
        <p:spPr>
          <a:xfrm>
            <a:off x="6554159" y="2619382"/>
            <a:ext cx="401942" cy="378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AA618F-8B23-26D1-3E31-0883CD06741F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6609398" y="3131702"/>
            <a:ext cx="2914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3D46A1-9870-3E86-D772-9DCFB42E5BE4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6554159" y="2619382"/>
            <a:ext cx="401942" cy="378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2FFA94-A4CF-D3A1-7DB8-2E8B37275696}"/>
              </a:ext>
            </a:extLst>
          </p:cNvPr>
          <p:cNvCxnSpPr/>
          <p:nvPr/>
        </p:nvCxnSpPr>
        <p:spPr>
          <a:xfrm>
            <a:off x="7278053" y="2486025"/>
            <a:ext cx="2914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705EE9-CD03-D23B-5C97-B7BBC7FD04AF}"/>
              </a:ext>
            </a:extLst>
          </p:cNvPr>
          <p:cNvCxnSpPr>
            <a:cxnSpLocks/>
          </p:cNvCxnSpPr>
          <p:nvPr/>
        </p:nvCxnSpPr>
        <p:spPr>
          <a:xfrm>
            <a:off x="7278053" y="3131702"/>
            <a:ext cx="2914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80F1DA-4163-87B7-3931-9B6343374DE4}"/>
              </a:ext>
            </a:extLst>
          </p:cNvPr>
          <p:cNvCxnSpPr>
            <a:cxnSpLocks/>
            <a:stCxn id="10" idx="3"/>
            <a:endCxn id="9" idx="6"/>
          </p:cNvCxnSpPr>
          <p:nvPr/>
        </p:nvCxnSpPr>
        <p:spPr>
          <a:xfrm flipH="1">
            <a:off x="7946708" y="2996572"/>
            <a:ext cx="418141" cy="1351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2801AD8-C575-C8CA-3269-3EA2CAF1F320}"/>
              </a:ext>
            </a:extLst>
          </p:cNvPr>
          <p:cNvCxnSpPr>
            <a:cxnSpLocks/>
            <a:stCxn id="10" idx="1"/>
            <a:endCxn id="8" idx="6"/>
          </p:cNvCxnSpPr>
          <p:nvPr/>
        </p:nvCxnSpPr>
        <p:spPr>
          <a:xfrm flipH="1" flipV="1">
            <a:off x="7946708" y="2486026"/>
            <a:ext cx="418141" cy="2438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Forward Propagation of Interval</a:t>
            </a:r>
            <a:r>
              <a:rPr dirty="0"/>
              <a:t> Bounds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5453056" cy="339447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Neuron 1: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 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 + 0.1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−0.9, 1.1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1.1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Neuron 2: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 = 0.5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 − 0.2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−0.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1.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0, 1.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1.2 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₁−0.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+0.3</m:t>
                    </m:r>
                  </m:oMath>
                </a14:m>
                <a:endParaRPr lang="en-US" dirty="0"/>
              </a:p>
              <a:p>
                <a:pPr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−0.61, 1.62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5453056" cy="3394472"/>
              </a:xfrm>
              <a:blipFill>
                <a:blip r:embed="rId2"/>
                <a:stretch>
                  <a:fillRect l="-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9C89DD-FFD0-ED33-8F73-1497A28094C2}"/>
                  </a:ext>
                </a:extLst>
              </p:cNvPr>
              <p:cNvSpPr txBox="1"/>
              <p:nvPr/>
            </p:nvSpPr>
            <p:spPr>
              <a:xfrm>
                <a:off x="5970151" y="1946039"/>
                <a:ext cx="594202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[0,1]</m:t>
                      </m:r>
                    </m:oMath>
                  </m:oMathPara>
                </a14:m>
                <a:endParaRPr lang="en-US" sz="1050" dirty="0"/>
              </a:p>
              <a:p>
                <a:endParaRPr lang="en-US" sz="105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9C89DD-FFD0-ED33-8F73-1497A2809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151" y="1946039"/>
                <a:ext cx="594202" cy="415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B2FDEEA-FA3A-6C04-097C-AC0B88C2EF79}"/>
                  </a:ext>
                </a:extLst>
              </p:cNvPr>
              <p:cNvSpPr/>
              <p:nvPr/>
            </p:nvSpPr>
            <p:spPr>
              <a:xfrm>
                <a:off x="6232208" y="2297430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B2FDEEA-FA3A-6C04-097C-AC0B88C2E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208" y="2297430"/>
                <a:ext cx="377190" cy="37719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6CB2543-DC21-742F-C4D4-D6D0AFD349BC}"/>
                  </a:ext>
                </a:extLst>
              </p:cNvPr>
              <p:cNvSpPr/>
              <p:nvPr/>
            </p:nvSpPr>
            <p:spPr>
              <a:xfrm>
                <a:off x="6232208" y="2943107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6CB2543-DC21-742F-C4D4-D6D0AFD34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208" y="2943107"/>
                <a:ext cx="377190" cy="37719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6BDA7AB-48C0-E4D2-CC98-61149FE3650C}"/>
                  </a:ext>
                </a:extLst>
              </p:cNvPr>
              <p:cNvSpPr/>
              <p:nvPr/>
            </p:nvSpPr>
            <p:spPr>
              <a:xfrm>
                <a:off x="6900863" y="2297430"/>
                <a:ext cx="377190" cy="37719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6BDA7AB-48C0-E4D2-CC98-61149FE36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63" y="2297430"/>
                <a:ext cx="377190" cy="37719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07ED21E-5A0E-90F4-6DC2-693E11A826CB}"/>
                  </a:ext>
                </a:extLst>
              </p:cNvPr>
              <p:cNvSpPr/>
              <p:nvPr/>
            </p:nvSpPr>
            <p:spPr>
              <a:xfrm>
                <a:off x="6900863" y="2943107"/>
                <a:ext cx="377190" cy="37719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07ED21E-5A0E-90F4-6DC2-693E11A82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863" y="2943107"/>
                <a:ext cx="377190" cy="37719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0BC591-9BFE-4A3D-A240-939D27AA379C}"/>
                  </a:ext>
                </a:extLst>
              </p:cNvPr>
              <p:cNvSpPr/>
              <p:nvPr/>
            </p:nvSpPr>
            <p:spPr>
              <a:xfrm>
                <a:off x="7569518" y="2297430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0BC591-9BFE-4A3D-A240-939D27AA3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18" y="2297430"/>
                <a:ext cx="377190" cy="37719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06F9BD1-B550-6861-7920-6386DFCD132A}"/>
                  </a:ext>
                </a:extLst>
              </p:cNvPr>
              <p:cNvSpPr/>
              <p:nvPr/>
            </p:nvSpPr>
            <p:spPr>
              <a:xfrm>
                <a:off x="7569518" y="2943107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06F9BD1-B550-6861-7920-6386DFCD13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518" y="2943107"/>
                <a:ext cx="377190" cy="37719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8AD2567-A5B3-5529-A707-EF88B3ECE68E}"/>
                  </a:ext>
                </a:extLst>
              </p:cNvPr>
              <p:cNvSpPr/>
              <p:nvPr/>
            </p:nvSpPr>
            <p:spPr>
              <a:xfrm>
                <a:off x="8309610" y="2674620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8AD2567-A5B3-5529-A707-EF88B3ECE6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9610" y="2674620"/>
                <a:ext cx="377190" cy="37719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4E7AFE-B7C1-045F-F955-023546CE3AB7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6609398" y="2486025"/>
            <a:ext cx="2914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EC08BB-B506-DCF2-5B92-0042A0BF98BD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6554159" y="2619382"/>
            <a:ext cx="401942" cy="378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DAD644-3755-7235-FB01-CA7661D6D49B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6609398" y="3131702"/>
            <a:ext cx="2914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B8557F-BFDA-F9A8-E4B1-5EA40DA86850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6554159" y="2619382"/>
            <a:ext cx="401942" cy="378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96D0F9-B315-CEE6-E328-0AC60A3A3940}"/>
              </a:ext>
            </a:extLst>
          </p:cNvPr>
          <p:cNvCxnSpPr/>
          <p:nvPr/>
        </p:nvCxnSpPr>
        <p:spPr>
          <a:xfrm>
            <a:off x="7278053" y="2486025"/>
            <a:ext cx="2914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D3D3A4-2708-7352-3267-AE8E50597DE1}"/>
              </a:ext>
            </a:extLst>
          </p:cNvPr>
          <p:cNvCxnSpPr>
            <a:cxnSpLocks/>
          </p:cNvCxnSpPr>
          <p:nvPr/>
        </p:nvCxnSpPr>
        <p:spPr>
          <a:xfrm>
            <a:off x="7278053" y="3131702"/>
            <a:ext cx="2914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23736E-3823-8A68-503B-3137436F1034}"/>
              </a:ext>
            </a:extLst>
          </p:cNvPr>
          <p:cNvCxnSpPr>
            <a:cxnSpLocks/>
            <a:stCxn id="11" idx="3"/>
            <a:endCxn id="10" idx="6"/>
          </p:cNvCxnSpPr>
          <p:nvPr/>
        </p:nvCxnSpPr>
        <p:spPr>
          <a:xfrm flipH="1">
            <a:off x="7946708" y="2996572"/>
            <a:ext cx="418141" cy="1351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27199A-95AB-82EE-DEE7-80D3B50B418E}"/>
              </a:ext>
            </a:extLst>
          </p:cNvPr>
          <p:cNvCxnSpPr>
            <a:cxnSpLocks/>
            <a:stCxn id="11" idx="1"/>
            <a:endCxn id="9" idx="6"/>
          </p:cNvCxnSpPr>
          <p:nvPr/>
        </p:nvCxnSpPr>
        <p:spPr>
          <a:xfrm flipH="1" flipV="1">
            <a:off x="7946708" y="2486026"/>
            <a:ext cx="418141" cy="2438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30855"/>
            <a:ext cx="8520600" cy="572700"/>
          </a:xfrm>
        </p:spPr>
        <p:txBody>
          <a:bodyPr>
            <a:normAutofit fontScale="90000"/>
          </a:bodyPr>
          <a:lstStyle/>
          <a:p>
            <a:r>
              <a:rPr dirty="0"/>
              <a:t>3. </a:t>
            </a:r>
            <a:r>
              <a:rPr lang="en-US" dirty="0"/>
              <a:t>Backward Propagation of Linear bounds (Crown)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90343"/>
                <a:ext cx="6464141" cy="410622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−0.9, 1.1</m:t>
                          </m:r>
                        </m:e>
                      </m:d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1.1</m:t>
                          </m:r>
                        </m:num>
                        <m:den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+0.9</m:t>
                          </m:r>
                        </m:e>
                      </m:d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=0.55</m:t>
                      </m:r>
                      <m:d>
                        <m:d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+0.9</m:t>
                          </m:r>
                        </m:e>
                      </m:d>
                    </m:oMath>
                  </m:oMathPara>
                </a14:m>
                <a:endParaRPr lang="en-US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−0.2, 1.3</m:t>
                          </m:r>
                        </m:e>
                      </m:d>
                    </m:oMath>
                  </m:oMathPara>
                </a14:m>
                <a:endParaRPr lang="en-US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≤−</m:t>
                      </m:r>
                      <m:f>
                        <m:f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1.3</m:t>
                          </m:r>
                        </m:num>
                        <m:den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1.5</m:t>
                          </m:r>
                        </m:den>
                      </m:f>
                      <m:d>
                        <m:d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+0.2</m:t>
                          </m:r>
                        </m:e>
                      </m:d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=0.866</m:t>
                      </m:r>
                      <m:d>
                        <m:d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+0.2</m:t>
                          </m:r>
                        </m:e>
                      </m:d>
                    </m:oMath>
                  </m:oMathPara>
                </a14:m>
                <a:endParaRPr lang="en-US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 = 1.2 </m:t>
                      </m:r>
                      <m:acc>
                        <m:accPr>
                          <m:chr m:val="̂"/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₁−0.7 </m:t>
                      </m:r>
                      <m:sSub>
                        <m:sSub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5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+0.3</m:t>
                      </m:r>
                    </m:oMath>
                  </m:oMathPara>
                </a14:m>
                <a:endParaRPr lang="en-US" sz="1500" dirty="0"/>
              </a:p>
              <a:p>
                <a:pPr marL="0" indent="0">
                  <a:buNone/>
                </a:pPr>
                <a:r>
                  <a:rPr lang="en-US" sz="1500" dirty="0"/>
                  <a:t>For each </a:t>
                </a:r>
                <a:r>
                  <a:rPr lang="en-US" sz="1500" dirty="0" err="1"/>
                  <a:t>ReLU</a:t>
                </a:r>
                <a:r>
                  <a:rPr lang="en-US" sz="1500" dirty="0"/>
                  <a:t> relaxation, depending on the sign of the coefficient, choose either the </a:t>
                </a:r>
                <a:r>
                  <a:rPr lang="en-US" sz="1500" b="1" dirty="0"/>
                  <a:t>upper</a:t>
                </a:r>
                <a:r>
                  <a:rPr lang="en-US" sz="1500" dirty="0"/>
                  <a:t> or </a:t>
                </a:r>
                <a:r>
                  <a:rPr lang="en-US" sz="1500" b="1" dirty="0"/>
                  <a:t>lower</a:t>
                </a:r>
                <a:r>
                  <a:rPr lang="en-US" sz="1500" dirty="0"/>
                  <a:t> bounding inequality:</a:t>
                </a:r>
              </a:p>
              <a:p>
                <a:pPr marL="0" indent="0">
                  <a:buNone/>
                </a:pPr>
                <a:r>
                  <a:rPr lang="en-US" sz="1500" dirty="0"/>
                  <a:t>For positive coefficient (1.2), use the </a:t>
                </a:r>
                <a:r>
                  <a:rPr lang="en-US" sz="1500" b="1" dirty="0"/>
                  <a:t>upper bound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i="1" dirty="0">
                        <a:latin typeface="Cambria Math" panose="02040503050406030204" pitchFamily="18" charset="0"/>
                      </a:rPr>
                      <m:t>≤ 0.55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+0.9</m:t>
                        </m:r>
                      </m:e>
                    </m:d>
                  </m:oMath>
                </a14:m>
                <a:endParaRPr lang="en-US" sz="1500" dirty="0"/>
              </a:p>
              <a:p>
                <a:pPr marL="0" indent="0">
                  <a:buNone/>
                </a:pPr>
                <a:r>
                  <a:rPr lang="en-US" sz="1500" dirty="0"/>
                  <a:t>For negative coefficient (-0.7), to minimize y, use the </a:t>
                </a:r>
                <a:r>
                  <a:rPr lang="en-US" sz="1500" b="1" dirty="0"/>
                  <a:t>lower bound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1" dirty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500" dirty="0"/>
                  <a:t>​.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≤ 1.2×0.55 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+0.9</m:t>
                        </m:r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0" indent="0">
                  <a:buNone/>
                </a:pPr>
                <a:r>
                  <a:rPr lang="en-US" sz="1500" dirty="0"/>
                  <a:t>Then substitute </a:t>
                </a:r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𝑊𝑥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500" dirty="0"/>
                  <a:t> to get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≤0.66</m:t>
                      </m:r>
                      <m:sSub>
                        <m:sSub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−0.66</m:t>
                      </m:r>
                      <m:sSub>
                        <m:sSubPr>
                          <m:ctrlPr>
                            <a:rPr lang="en-US" sz="1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500" i="1" dirty="0">
                          <a:latin typeface="Cambria Math" panose="02040503050406030204" pitchFamily="18" charset="0"/>
                        </a:rPr>
                        <m:t>+0.6</m:t>
                      </m:r>
                    </m:oMath>
                  </m:oMathPara>
                </a14:m>
                <a:endParaRPr lang="en-US" sz="1500" dirty="0"/>
              </a:p>
              <a:p>
                <a:pPr marL="0" indent="0">
                  <a:buNone/>
                </a:pPr>
                <a:r>
                  <a:rPr lang="en-US" sz="150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1" dirty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sz="1500" dirty="0"/>
                  <a:t> by maximizing over this the bound it concretized to </a:t>
                </a:r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≤1.26</m:t>
                    </m:r>
                  </m:oMath>
                </a14:m>
                <a:endParaRPr lang="en-US" sz="1500" dirty="0"/>
              </a:p>
              <a:p>
                <a:pPr marL="0" indent="0">
                  <a:buNone/>
                </a:pPr>
                <a:endParaRPr lang="en-US" sz="1500" dirty="0"/>
              </a:p>
              <a:p>
                <a:pPr marL="0" indent="0">
                  <a:buNone/>
                </a:pPr>
                <a:endParaRPr lang="en-US" sz="15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90343"/>
                <a:ext cx="6464141" cy="4106225"/>
              </a:xfrm>
              <a:blipFill>
                <a:blip r:embed="rId2"/>
                <a:stretch>
                  <a:fillRect l="-393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88B89B-7FC4-6837-9F06-3FA2ED058C86}"/>
                  </a:ext>
                </a:extLst>
              </p:cNvPr>
              <p:cNvSpPr txBox="1"/>
              <p:nvPr/>
            </p:nvSpPr>
            <p:spPr>
              <a:xfrm>
                <a:off x="6849428" y="1063229"/>
                <a:ext cx="2132409" cy="719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0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88B89B-7FC4-6837-9F06-3FA2ED058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28" y="1063229"/>
                <a:ext cx="2132409" cy="7196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oogle Shape;704;p43">
            <a:extLst>
              <a:ext uri="{FF2B5EF4-FFF2-40B4-BE49-F238E27FC236}">
                <a16:creationId xmlns:a16="http://schemas.microsoft.com/office/drawing/2014/main" id="{7A86FE51-9653-98B6-081E-1A3CCECD5F55}"/>
              </a:ext>
            </a:extLst>
          </p:cNvPr>
          <p:cNvGrpSpPr/>
          <p:nvPr/>
        </p:nvGrpSpPr>
        <p:grpSpPr>
          <a:xfrm>
            <a:off x="6995490" y="2150560"/>
            <a:ext cx="1950769" cy="1437712"/>
            <a:chOff x="1991775" y="2213825"/>
            <a:chExt cx="2601025" cy="1916949"/>
          </a:xfrm>
        </p:grpSpPr>
        <p:grpSp>
          <p:nvGrpSpPr>
            <p:cNvPr id="7" name="Google Shape;705;p43">
              <a:extLst>
                <a:ext uri="{FF2B5EF4-FFF2-40B4-BE49-F238E27FC236}">
                  <a16:creationId xmlns:a16="http://schemas.microsoft.com/office/drawing/2014/main" id="{19FFE812-32A0-0EA8-14AE-48EF5761B5A7}"/>
                </a:ext>
              </a:extLst>
            </p:cNvPr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12" name="Google Shape;706;p43">
                <a:extLst>
                  <a:ext uri="{FF2B5EF4-FFF2-40B4-BE49-F238E27FC236}">
                    <a16:creationId xmlns:a16="http://schemas.microsoft.com/office/drawing/2014/main" id="{361B3F50-2B3A-903D-4FAF-C31C0263DC14}"/>
                  </a:ext>
                </a:extLst>
              </p:cNvPr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15" name="Google Shape;707;p43">
                  <a:extLst>
                    <a:ext uri="{FF2B5EF4-FFF2-40B4-BE49-F238E27FC236}">
                      <a16:creationId xmlns:a16="http://schemas.microsoft.com/office/drawing/2014/main" id="{349B4EFC-B164-058F-16A5-1C216BDA3376}"/>
                    </a:ext>
                  </a:extLst>
                </p:cNvPr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6" name="Google Shape;708;p43">
                  <a:extLst>
                    <a:ext uri="{FF2B5EF4-FFF2-40B4-BE49-F238E27FC236}">
                      <a16:creationId xmlns:a16="http://schemas.microsoft.com/office/drawing/2014/main" id="{D3760BD5-D6F5-866D-1F63-49F2A841DB67}"/>
                    </a:ext>
                  </a:extLst>
                </p:cNvPr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17" name="Google Shape;709;p43">
                  <a:extLst>
                    <a:ext uri="{FF2B5EF4-FFF2-40B4-BE49-F238E27FC236}">
                      <a16:creationId xmlns:a16="http://schemas.microsoft.com/office/drawing/2014/main" id="{065F17EF-D511-7B3B-D5BB-3AEA0C567C52}"/>
                    </a:ext>
                  </a:extLst>
                </p:cNvPr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710;p43">
                  <a:extLst>
                    <a:ext uri="{FF2B5EF4-FFF2-40B4-BE49-F238E27FC236}">
                      <a16:creationId xmlns:a16="http://schemas.microsoft.com/office/drawing/2014/main" id="{78D19292-83C1-ABE0-272E-A1218666DF23}"/>
                    </a:ext>
                  </a:extLst>
                </p:cNvPr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3" name="Google Shape;711;p43">
                <a:extLst>
                  <a:ext uri="{FF2B5EF4-FFF2-40B4-BE49-F238E27FC236}">
                    <a16:creationId xmlns:a16="http://schemas.microsoft.com/office/drawing/2014/main" id="{82FE5365-3E70-5E4E-F67C-35BA5D087910}"/>
                  </a:ext>
                </a:extLst>
              </p:cNvPr>
              <p:cNvSpPr txBox="1"/>
              <p:nvPr/>
            </p:nvSpPr>
            <p:spPr>
              <a:xfrm>
                <a:off x="6950676" y="3167975"/>
                <a:ext cx="471600" cy="657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900"/>
                  </a:spcAft>
                </a:pPr>
                <a:r>
                  <a:rPr lang="en-GB" sz="1350" dirty="0" err="1">
                    <a:solidFill>
                      <a:schemeClr val="dk1"/>
                    </a:solidFill>
                  </a:rPr>
                  <a:t>ẑ</a:t>
                </a:r>
                <a:r>
                  <a:rPr lang="en-GB" sz="1050" baseline="-25000" dirty="0" err="1">
                    <a:solidFill>
                      <a:schemeClr val="dk1"/>
                    </a:solidFill>
                  </a:rPr>
                  <a:t>i</a:t>
                </a:r>
                <a:endParaRPr sz="1050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4" name="Google Shape;712;p43">
                <a:extLst>
                  <a:ext uri="{FF2B5EF4-FFF2-40B4-BE49-F238E27FC236}">
                    <a16:creationId xmlns:a16="http://schemas.microsoft.com/office/drawing/2014/main" id="{961B53D0-14AF-799A-AF90-894B511FF406}"/>
                  </a:ext>
                </a:extLst>
              </p:cNvPr>
              <p:cNvSpPr txBox="1"/>
              <p:nvPr/>
            </p:nvSpPr>
            <p:spPr>
              <a:xfrm>
                <a:off x="8336150" y="3763300"/>
                <a:ext cx="471600" cy="657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900"/>
                  </a:spcAft>
                </a:pPr>
                <a:r>
                  <a:rPr lang="en-GB" sz="1350" dirty="0">
                    <a:solidFill>
                      <a:schemeClr val="dk1"/>
                    </a:solidFill>
                  </a:rPr>
                  <a:t>z</a:t>
                </a:r>
                <a:r>
                  <a:rPr lang="en-GB" sz="1350" baseline="-25000" dirty="0">
                    <a:solidFill>
                      <a:schemeClr val="dk1"/>
                    </a:solidFill>
                  </a:rPr>
                  <a:t>i</a:t>
                </a:r>
                <a:endParaRPr sz="1050" dirty="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8" name="Google Shape;713;p43">
              <a:extLst>
                <a:ext uri="{FF2B5EF4-FFF2-40B4-BE49-F238E27FC236}">
                  <a16:creationId xmlns:a16="http://schemas.microsoft.com/office/drawing/2014/main" id="{DB7AECEA-0938-4210-024A-27B441A8D177}"/>
                </a:ext>
              </a:extLst>
            </p:cNvPr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714;p43">
              <a:extLst>
                <a:ext uri="{FF2B5EF4-FFF2-40B4-BE49-F238E27FC236}">
                  <a16:creationId xmlns:a16="http://schemas.microsoft.com/office/drawing/2014/main" id="{4B230FD9-D987-7EE2-4ABC-B455A51204DC}"/>
                </a:ext>
              </a:extLst>
            </p:cNvPr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Google Shape;715;p43">
              <a:extLst>
                <a:ext uri="{FF2B5EF4-FFF2-40B4-BE49-F238E27FC236}">
                  <a16:creationId xmlns:a16="http://schemas.microsoft.com/office/drawing/2014/main" id="{6D28A6C5-EA7E-D250-F328-DAF43917057B}"/>
                </a:ext>
              </a:extLst>
            </p:cNvPr>
            <p:cNvSpPr txBox="1"/>
            <p:nvPr/>
          </p:nvSpPr>
          <p:spPr>
            <a:xfrm>
              <a:off x="2369800" y="3473701"/>
              <a:ext cx="482100" cy="6570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900"/>
                </a:spcAft>
              </a:pPr>
              <a:r>
                <a:rPr lang="en-GB" sz="1350" dirty="0">
                  <a:solidFill>
                    <a:schemeClr val="dk1"/>
                  </a:solidFill>
                </a:rPr>
                <a:t>l</a:t>
              </a:r>
              <a:r>
                <a:rPr lang="en-GB" sz="1350" baseline="-25000" dirty="0">
                  <a:solidFill>
                    <a:schemeClr val="dk1"/>
                  </a:solidFill>
                </a:rPr>
                <a:t>i</a:t>
              </a:r>
              <a:endParaRPr sz="675" baseline="-25000" dirty="0"/>
            </a:p>
          </p:txBody>
        </p:sp>
        <p:sp>
          <p:nvSpPr>
            <p:cNvPr id="11" name="Google Shape;716;p43">
              <a:extLst>
                <a:ext uri="{FF2B5EF4-FFF2-40B4-BE49-F238E27FC236}">
                  <a16:creationId xmlns:a16="http://schemas.microsoft.com/office/drawing/2014/main" id="{853BF9CE-6B3B-27C3-9A7E-F367EC05F78B}"/>
                </a:ext>
              </a:extLst>
            </p:cNvPr>
            <p:cNvSpPr txBox="1"/>
            <p:nvPr/>
          </p:nvSpPr>
          <p:spPr>
            <a:xfrm>
              <a:off x="3455637" y="3473699"/>
              <a:ext cx="482100" cy="6570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900"/>
                </a:spcAft>
              </a:pPr>
              <a:r>
                <a:rPr lang="en-GB" sz="1350" dirty="0" err="1">
                  <a:solidFill>
                    <a:schemeClr val="dk1"/>
                  </a:solidFill>
                </a:rPr>
                <a:t>u</a:t>
              </a:r>
              <a:r>
                <a:rPr lang="en-GB" sz="1350" baseline="-25000" dirty="0" err="1">
                  <a:solidFill>
                    <a:schemeClr val="dk1"/>
                  </a:solidFill>
                </a:rPr>
                <a:t>i</a:t>
              </a:r>
              <a:endParaRPr sz="675" baseline="-25000" dirty="0"/>
            </a:p>
          </p:txBody>
        </p:sp>
      </p:grpSp>
      <p:cxnSp>
        <p:nvCxnSpPr>
          <p:cNvPr id="19" name="Google Shape;717;p43">
            <a:extLst>
              <a:ext uri="{FF2B5EF4-FFF2-40B4-BE49-F238E27FC236}">
                <a16:creationId xmlns:a16="http://schemas.microsoft.com/office/drawing/2014/main" id="{E002FC35-DEB5-A160-70B8-7330ACA82E4F}"/>
              </a:ext>
            </a:extLst>
          </p:cNvPr>
          <p:cNvCxnSpPr/>
          <p:nvPr/>
        </p:nvCxnSpPr>
        <p:spPr>
          <a:xfrm>
            <a:off x="6662134" y="2959192"/>
            <a:ext cx="23733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718;p43">
            <a:extLst>
              <a:ext uri="{FF2B5EF4-FFF2-40B4-BE49-F238E27FC236}">
                <a16:creationId xmlns:a16="http://schemas.microsoft.com/office/drawing/2014/main" id="{9B5AF2C8-3660-6D2C-EA94-0CD31875C2C0}"/>
              </a:ext>
            </a:extLst>
          </p:cNvPr>
          <p:cNvCxnSpPr/>
          <p:nvPr/>
        </p:nvCxnSpPr>
        <p:spPr>
          <a:xfrm rot="10800000" flipH="1">
            <a:off x="7221071" y="2117898"/>
            <a:ext cx="1497375" cy="1496925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719;p43">
            <a:extLst>
              <a:ext uri="{FF2B5EF4-FFF2-40B4-BE49-F238E27FC236}">
                <a16:creationId xmlns:a16="http://schemas.microsoft.com/office/drawing/2014/main" id="{482ACE44-A382-DCC4-44CE-48072BC2934F}"/>
              </a:ext>
            </a:extLst>
          </p:cNvPr>
          <p:cNvCxnSpPr/>
          <p:nvPr/>
        </p:nvCxnSpPr>
        <p:spPr>
          <a:xfrm rot="10800000" flipH="1">
            <a:off x="6849428" y="2339786"/>
            <a:ext cx="1983600" cy="8901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22" name="Google Shape;922;p51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923" name="Google Shape;923;p51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 lang="en-GB"/>
          </a:p>
        </p:txBody>
      </p:sp>
      <p:grpSp>
        <p:nvGrpSpPr>
          <p:cNvPr id="924" name="Google Shape;924;p51"/>
          <p:cNvGrpSpPr/>
          <p:nvPr/>
        </p:nvGrpSpPr>
        <p:grpSpPr>
          <a:xfrm>
            <a:off x="1029508" y="2275914"/>
            <a:ext cx="508753" cy="510491"/>
            <a:chOff x="2708099" y="2963363"/>
            <a:chExt cx="1021798" cy="1025289"/>
          </a:xfrm>
        </p:grpSpPr>
        <p:pic>
          <p:nvPicPr>
            <p:cNvPr id="925" name="Google Shape;925;p51"/>
            <p:cNvPicPr preferRelativeResize="0"/>
            <p:nvPr/>
          </p:nvPicPr>
          <p:blipFill rotWithShape="1">
            <a:blip r:embed="rId3"/>
            <a:srcRect l="14039" t="9153" r="55651" b="45213"/>
            <a:stretch>
              <a:fillRect/>
            </a:stretch>
          </p:blipFill>
          <p:spPr>
            <a:xfrm>
              <a:off x="2708099" y="2963363"/>
              <a:ext cx="1021798" cy="1025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51"/>
            <p:cNvSpPr/>
            <p:nvPr/>
          </p:nvSpPr>
          <p:spPr>
            <a:xfrm>
              <a:off x="3130675" y="3637138"/>
              <a:ext cx="288000" cy="1422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4A86E8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FF00"/>
                </a:solidFill>
              </a:endParaRPr>
            </a:p>
          </p:txBody>
        </p:sp>
      </p:grpSp>
      <p:grpSp>
        <p:nvGrpSpPr>
          <p:cNvPr id="927" name="Google Shape;927;p51"/>
          <p:cNvGrpSpPr/>
          <p:nvPr/>
        </p:nvGrpSpPr>
        <p:grpSpPr>
          <a:xfrm>
            <a:off x="2470425" y="1121288"/>
            <a:ext cx="2667850" cy="975375"/>
            <a:chOff x="2470425" y="1121288"/>
            <a:chExt cx="2667850" cy="975375"/>
          </a:xfrm>
        </p:grpSpPr>
        <p:sp>
          <p:nvSpPr>
            <p:cNvPr id="928" name="Google Shape;928;p51"/>
            <p:cNvSpPr txBox="1"/>
            <p:nvPr/>
          </p:nvSpPr>
          <p:spPr>
            <a:xfrm>
              <a:off x="3797275" y="1696463"/>
              <a:ext cx="134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highlight>
                    <a:srgbClr val="D9EAD3"/>
                  </a:highlight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Linear layer</a:t>
              </a:r>
              <a:endParaRPr>
                <a:highlight>
                  <a:srgbClr val="D9EAD3"/>
                </a:highlight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929" name="Google Shape;929;p51"/>
            <p:cNvSpPr txBox="1"/>
            <p:nvPr/>
          </p:nvSpPr>
          <p:spPr>
            <a:xfrm>
              <a:off x="2470425" y="1121288"/>
              <a:ext cx="172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highlight>
                    <a:srgbClr val="F9E2CB"/>
                  </a:highlight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Non-linear (activation) layer</a:t>
              </a:r>
              <a:endParaRPr>
                <a:highlight>
                  <a:srgbClr val="F9E2CB"/>
                </a:highlight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grpSp>
        <p:nvGrpSpPr>
          <p:cNvPr id="930" name="Google Shape;930;p51"/>
          <p:cNvGrpSpPr/>
          <p:nvPr/>
        </p:nvGrpSpPr>
        <p:grpSpPr>
          <a:xfrm>
            <a:off x="1634649" y="1944214"/>
            <a:ext cx="6311950" cy="1173443"/>
            <a:chOff x="673858" y="1657897"/>
            <a:chExt cx="8272542" cy="1537933"/>
          </a:xfrm>
        </p:grpSpPr>
        <p:grpSp>
          <p:nvGrpSpPr>
            <p:cNvPr id="931" name="Google Shape;931;p51"/>
            <p:cNvGrpSpPr/>
            <p:nvPr/>
          </p:nvGrpSpPr>
          <p:grpSpPr>
            <a:xfrm>
              <a:off x="2743321" y="1657897"/>
              <a:ext cx="497753" cy="1526841"/>
              <a:chOff x="2935225" y="1755650"/>
              <a:chExt cx="617100" cy="1892700"/>
            </a:xfrm>
          </p:grpSpPr>
          <p:sp>
            <p:nvSpPr>
              <p:cNvPr id="932" name="Google Shape;932;p51"/>
              <p:cNvSpPr/>
              <p:nvPr/>
            </p:nvSpPr>
            <p:spPr>
              <a:xfrm>
                <a:off x="2935225" y="1755650"/>
                <a:ext cx="617100" cy="1892700"/>
              </a:xfrm>
              <a:prstGeom prst="roundRect">
                <a:avLst>
                  <a:gd name="adj" fmla="val 16667"/>
                </a:avLst>
              </a:pr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33" name="Google Shape;933;p51"/>
              <p:cNvGrpSpPr/>
              <p:nvPr/>
            </p:nvGrpSpPr>
            <p:grpSpPr>
              <a:xfrm>
                <a:off x="3051944" y="1865291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34" name="Google Shape;934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35" name="Google Shape;935;p51"/>
                <p:cNvCxnSpPr>
                  <a:stCxn id="934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37" name="Google Shape;937;p51"/>
              <p:cNvGrpSpPr/>
              <p:nvPr/>
            </p:nvGrpSpPr>
            <p:grpSpPr>
              <a:xfrm>
                <a:off x="3051944" y="2470316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38" name="Google Shape;938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39" name="Google Shape;939;p51"/>
                <p:cNvCxnSpPr>
                  <a:stCxn id="93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0" name="Google Shape;940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41" name="Google Shape;941;p51"/>
              <p:cNvGrpSpPr/>
              <p:nvPr/>
            </p:nvGrpSpPr>
            <p:grpSpPr>
              <a:xfrm>
                <a:off x="3051944" y="3075341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42" name="Google Shape;942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43" name="Google Shape;943;p51"/>
                <p:cNvCxnSpPr>
                  <a:stCxn id="942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45" name="Google Shape;945;p51"/>
            <p:cNvGrpSpPr/>
            <p:nvPr/>
          </p:nvGrpSpPr>
          <p:grpSpPr>
            <a:xfrm>
              <a:off x="5500094" y="1668989"/>
              <a:ext cx="497753" cy="1526841"/>
              <a:chOff x="2935225" y="1755650"/>
              <a:chExt cx="617100" cy="1892700"/>
            </a:xfrm>
          </p:grpSpPr>
          <p:sp>
            <p:nvSpPr>
              <p:cNvPr id="946" name="Google Shape;946;p51"/>
              <p:cNvSpPr/>
              <p:nvPr/>
            </p:nvSpPr>
            <p:spPr>
              <a:xfrm>
                <a:off x="2935225" y="1755650"/>
                <a:ext cx="617100" cy="1892700"/>
              </a:xfrm>
              <a:prstGeom prst="roundRect">
                <a:avLst>
                  <a:gd name="adj" fmla="val 16667"/>
                </a:avLst>
              </a:pr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7" name="Google Shape;947;p51"/>
              <p:cNvGrpSpPr/>
              <p:nvPr/>
            </p:nvGrpSpPr>
            <p:grpSpPr>
              <a:xfrm>
                <a:off x="3051944" y="1865291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48" name="Google Shape;948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49" name="Google Shape;949;p51"/>
                <p:cNvCxnSpPr>
                  <a:stCxn id="94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0" name="Google Shape;950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1" name="Google Shape;951;p51"/>
              <p:cNvGrpSpPr/>
              <p:nvPr/>
            </p:nvGrpSpPr>
            <p:grpSpPr>
              <a:xfrm>
                <a:off x="3051944" y="2470316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52" name="Google Shape;952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53" name="Google Shape;953;p51"/>
                <p:cNvCxnSpPr>
                  <a:stCxn id="952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5" name="Google Shape;955;p51"/>
              <p:cNvGrpSpPr/>
              <p:nvPr/>
            </p:nvGrpSpPr>
            <p:grpSpPr>
              <a:xfrm>
                <a:off x="3051944" y="3075341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56" name="Google Shape;956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57" name="Google Shape;957;p51"/>
                <p:cNvCxnSpPr>
                  <a:stCxn id="956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8" name="Google Shape;958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959" name="Google Shape;959;p51"/>
            <p:cNvSpPr/>
            <p:nvPr/>
          </p:nvSpPr>
          <p:spPr>
            <a:xfrm>
              <a:off x="7639270" y="21724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0" name="Google Shape;960;p51"/>
            <p:cNvGrpSpPr/>
            <p:nvPr/>
          </p:nvGrpSpPr>
          <p:grpSpPr>
            <a:xfrm>
              <a:off x="1220447" y="2078349"/>
              <a:ext cx="885163" cy="708121"/>
              <a:chOff x="1591075" y="1810500"/>
              <a:chExt cx="1097400" cy="877800"/>
            </a:xfrm>
          </p:grpSpPr>
          <p:sp>
            <p:nvSpPr>
              <p:cNvPr id="961" name="Google Shape;961;p51"/>
              <p:cNvSpPr/>
              <p:nvPr/>
            </p:nvSpPr>
            <p:spPr>
              <a:xfrm>
                <a:off x="1591075" y="1810500"/>
                <a:ext cx="1097400" cy="8778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962" name="Google Shape;962;p51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9750" y="2073000"/>
                <a:ext cx="480050" cy="3528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3" name="Google Shape;963;p51"/>
            <p:cNvGrpSpPr/>
            <p:nvPr/>
          </p:nvGrpSpPr>
          <p:grpSpPr>
            <a:xfrm>
              <a:off x="3937528" y="2039554"/>
              <a:ext cx="885163" cy="763542"/>
              <a:chOff x="4218325" y="1741925"/>
              <a:chExt cx="1097400" cy="946500"/>
            </a:xfrm>
          </p:grpSpPr>
          <p:sp>
            <p:nvSpPr>
              <p:cNvPr id="964" name="Google Shape;964;p51"/>
              <p:cNvSpPr/>
              <p:nvPr/>
            </p:nvSpPr>
            <p:spPr>
              <a:xfrm>
                <a:off x="4218325" y="1741925"/>
                <a:ext cx="1097400" cy="9465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965" name="Google Shape;965;p51" descr="W_2" title="MathEquation,#00000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6025" y="2073000"/>
                <a:ext cx="480050" cy="3528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6" name="Google Shape;966;p51"/>
            <p:cNvGrpSpPr/>
            <p:nvPr/>
          </p:nvGrpSpPr>
          <p:grpSpPr>
            <a:xfrm>
              <a:off x="6675247" y="2050639"/>
              <a:ext cx="885163" cy="763542"/>
              <a:chOff x="7416274" y="1776150"/>
              <a:chExt cx="1097400" cy="946500"/>
            </a:xfrm>
          </p:grpSpPr>
          <p:sp>
            <p:nvSpPr>
              <p:cNvPr id="967" name="Google Shape;967;p51"/>
              <p:cNvSpPr/>
              <p:nvPr/>
            </p:nvSpPr>
            <p:spPr>
              <a:xfrm>
                <a:off x="7416274" y="1776150"/>
                <a:ext cx="1097400" cy="9465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968" name="Google Shape;968;p51" descr="W_3" title="MathEquation,#000000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32699" y="2072988"/>
                <a:ext cx="480050" cy="3528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69" name="Google Shape;969;p51"/>
            <p:cNvSpPr/>
            <p:nvPr/>
          </p:nvSpPr>
          <p:spPr>
            <a:xfrm>
              <a:off x="6063245" y="2183550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0" name="Google Shape;970;p51" descr="z_4" title="MathEquation,#000000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6141050" y="1877925"/>
              <a:ext cx="279444" cy="239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51"/>
            <p:cNvSpPr/>
            <p:nvPr/>
          </p:nvSpPr>
          <p:spPr>
            <a:xfrm>
              <a:off x="4888108" y="21724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2" name="Google Shape;972;p51" descr="z_4" title="MathEquation,#000000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4973050" y="1877925"/>
              <a:ext cx="279444" cy="239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51" descr="z_3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3399875" y="1877919"/>
              <a:ext cx="279450" cy="2392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51"/>
            <p:cNvSpPr/>
            <p:nvPr/>
          </p:nvSpPr>
          <p:spPr>
            <a:xfrm>
              <a:off x="3325533" y="21724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51"/>
            <p:cNvSpPr/>
            <p:nvPr/>
          </p:nvSpPr>
          <p:spPr>
            <a:xfrm>
              <a:off x="2151158" y="21835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51"/>
            <p:cNvSpPr/>
            <p:nvPr/>
          </p:nvSpPr>
          <p:spPr>
            <a:xfrm>
              <a:off x="673858" y="21724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7" name="Google Shape;977;p51" descr="z_1" title="MathEquation,#000000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2207525" y="1877919"/>
              <a:ext cx="279450" cy="239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51" descr="x" title="MathEquation,#000000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732556" y="1877925"/>
              <a:ext cx="182296" cy="212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51" descr="f(x)" title="MathEquation,#000000"/>
            <p:cNvPicPr preferRelativeResize="0"/>
            <p:nvPr/>
          </p:nvPicPr>
          <p:blipFill>
            <a:blip r:embed="rId12"/>
            <a:stretch>
              <a:fillRect/>
            </a:stretch>
          </p:blipFill>
          <p:spPr>
            <a:xfrm>
              <a:off x="8264750" y="2204900"/>
              <a:ext cx="681650" cy="432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0" name="Google Shape;980;p51" descr="z_3 = W_2 z_2" title="MathEquation,#000000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3964113" y="2878497"/>
            <a:ext cx="1063374" cy="23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1" name="Google Shape;981;p51"/>
          <p:cNvGrpSpPr/>
          <p:nvPr/>
        </p:nvGrpSpPr>
        <p:grpSpPr>
          <a:xfrm>
            <a:off x="2516288" y="3260550"/>
            <a:ext cx="1556439" cy="1403002"/>
            <a:chOff x="2516288" y="3260550"/>
            <a:chExt cx="1556439" cy="1403002"/>
          </a:xfrm>
        </p:grpSpPr>
        <p:grpSp>
          <p:nvGrpSpPr>
            <p:cNvPr id="982" name="Google Shape;982;p51"/>
            <p:cNvGrpSpPr/>
            <p:nvPr/>
          </p:nvGrpSpPr>
          <p:grpSpPr>
            <a:xfrm>
              <a:off x="2546627" y="3728371"/>
              <a:ext cx="1526100" cy="935180"/>
              <a:chOff x="370077" y="3547259"/>
              <a:chExt cx="1526100" cy="935180"/>
            </a:xfrm>
          </p:grpSpPr>
          <p:cxnSp>
            <p:nvCxnSpPr>
              <p:cNvPr id="983" name="Google Shape;983;p51"/>
              <p:cNvCxnSpPr/>
              <p:nvPr/>
            </p:nvCxnSpPr>
            <p:spPr>
              <a:xfrm>
                <a:off x="1081875" y="3628039"/>
                <a:ext cx="8100" cy="8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984" name="Google Shape;984;p51"/>
              <p:cNvCxnSpPr/>
              <p:nvPr/>
            </p:nvCxnSpPr>
            <p:spPr>
              <a:xfrm rot="10800000" flipH="1">
                <a:off x="370077" y="4121451"/>
                <a:ext cx="1526100" cy="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985" name="Google Shape;985;p51"/>
              <p:cNvCxnSpPr/>
              <p:nvPr/>
            </p:nvCxnSpPr>
            <p:spPr>
              <a:xfrm rot="10800000" flipH="1">
                <a:off x="1089939" y="3718238"/>
                <a:ext cx="470700" cy="40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51"/>
              <p:cNvCxnSpPr/>
              <p:nvPr/>
            </p:nvCxnSpPr>
            <p:spPr>
              <a:xfrm>
                <a:off x="494153" y="4122863"/>
                <a:ext cx="597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987" name="Google Shape;987;p51" descr="z_3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3330" y="3547259"/>
                <a:ext cx="219358" cy="1878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8" name="Google Shape;988;p51" descr="z_1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5452" y="4121452"/>
                <a:ext cx="219358" cy="1878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89" name="Google Shape;989;p51" descr="z_2 = \text{ReLU}(z_1)" title="MathEquation,#000000"/>
            <p:cNvPicPr preferRelativeResize="0"/>
            <p:nvPr/>
          </p:nvPicPr>
          <p:blipFill>
            <a:blip r:embed="rId14"/>
            <a:stretch>
              <a:fillRect/>
            </a:stretch>
          </p:blipFill>
          <p:spPr>
            <a:xfrm>
              <a:off x="2516288" y="3260550"/>
              <a:ext cx="1441576" cy="304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0" name="Google Shape;990;p51"/>
          <p:cNvSpPr txBox="1"/>
          <p:nvPr/>
        </p:nvSpPr>
        <p:spPr>
          <a:xfrm>
            <a:off x="4301325" y="3304875"/>
            <a:ext cx="4965204" cy="152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Steps:</a:t>
            </a:r>
            <a:endParaRPr sz="1800" dirty="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• </a:t>
            </a:r>
            <a:r>
              <a:rPr lang="en-GB" sz="1800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Propagate bounds through </a:t>
            </a:r>
            <a:r>
              <a:rPr lang="en-GB" sz="1800" dirty="0">
                <a:highlight>
                  <a:srgbClr val="D9EAD3"/>
                </a:highlight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linear</a:t>
            </a:r>
            <a:r>
              <a:rPr lang="en-GB" sz="1800" dirty="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layers</a:t>
            </a:r>
            <a:endParaRPr sz="1800" dirty="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• </a:t>
            </a:r>
            <a:r>
              <a:rPr lang="en-GB" sz="18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Propagate bounds through </a:t>
            </a:r>
            <a:r>
              <a:rPr lang="en-GB" sz="1800" dirty="0">
                <a:solidFill>
                  <a:schemeClr val="dk1"/>
                </a:solidFill>
                <a:highlight>
                  <a:srgbClr val="F9E2CB"/>
                </a:highlight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non-linear</a:t>
            </a:r>
            <a:r>
              <a:rPr lang="en-GB" sz="1800" dirty="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layers</a:t>
            </a:r>
            <a:endParaRPr sz="1800" dirty="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96" name="Google Shape;996;p52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997" name="Google Shape;997;p52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 lang="en-GB"/>
          </a:p>
        </p:txBody>
      </p:sp>
      <p:sp>
        <p:nvSpPr>
          <p:cNvPr id="998" name="Google Shape;998;p52"/>
          <p:cNvSpPr txBox="1"/>
          <p:nvPr/>
        </p:nvSpPr>
        <p:spPr>
          <a:xfrm>
            <a:off x="1768025" y="1242750"/>
            <a:ext cx="311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 linear lower bound for an intermediate layer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999" name="Google Shape;999;p52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000" name="Google Shape;1000;p52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001" name="Google Shape;1001;p52"/>
              <p:cNvPicPr preferRelativeResize="0"/>
              <p:nvPr/>
            </p:nvPicPr>
            <p:blipFill rotWithShape="1">
              <a:blip r:embed="rId3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2" name="Google Shape;1002;p52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003" name="Google Shape;1003;p52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004" name="Google Shape;1004;p52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005" name="Google Shape;1005;p52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06" name="Google Shape;1006;p52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07" name="Google Shape;1007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08" name="Google Shape;1008;p52"/>
                  <p:cNvCxnSpPr>
                    <a:stCxn id="1007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09" name="Google Shape;1009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10" name="Google Shape;1010;p52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11" name="Google Shape;1011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12" name="Google Shape;1012;p52"/>
                  <p:cNvCxnSpPr>
                    <a:stCxn id="1011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3" name="Google Shape;1013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14" name="Google Shape;1014;p52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15" name="Google Shape;1015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16" name="Google Shape;1016;p52"/>
                  <p:cNvCxnSpPr>
                    <a:stCxn id="1015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7" name="Google Shape;1017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018" name="Google Shape;1018;p52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019" name="Google Shape;1019;p52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0" name="Google Shape;1020;p52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21" name="Google Shape;1021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22" name="Google Shape;1022;p52"/>
                  <p:cNvCxnSpPr>
                    <a:stCxn id="1021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24" name="Google Shape;1024;p52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25" name="Google Shape;1025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26" name="Google Shape;1026;p52"/>
                  <p:cNvCxnSpPr>
                    <a:stCxn id="1025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7" name="Google Shape;1027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28" name="Google Shape;1028;p52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29" name="Google Shape;1029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30" name="Google Shape;1030;p52"/>
                  <p:cNvCxnSpPr>
                    <a:stCxn id="102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31" name="Google Shape;1031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032" name="Google Shape;1032;p52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3" name="Google Shape;1033;p52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034" name="Google Shape;1034;p52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035" name="Google Shape;1035;p52"/>
                <p:cNvPicPr preferRelativeResize="0"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36" name="Google Shape;1036;p52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037" name="Google Shape;1037;p52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038" name="Google Shape;1038;p52" descr="W_2" title="MathEquation,#000000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39" name="Google Shape;1039;p52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040" name="Google Shape;1040;p52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041" name="Google Shape;1041;p52" descr="W_3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42" name="Google Shape;1042;p52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43" name="Google Shape;1043;p52" descr="z_4" title="MathEquation,#000000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44" name="Google Shape;1044;p52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45" name="Google Shape;1045;p52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6" name="Google Shape;1046;p52" descr="z_3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47" name="Google Shape;1047;p52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52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52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0" name="Google Shape;1050;p52" descr="z_1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1" name="Google Shape;1051;p52" descr="x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2" name="Google Shape;1052;p52" descr="f(x)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53" name="Google Shape;1053;p52"/>
          <p:cNvGrpSpPr/>
          <p:nvPr/>
        </p:nvGrpSpPr>
        <p:grpSpPr>
          <a:xfrm>
            <a:off x="5216175" y="1021396"/>
            <a:ext cx="1981532" cy="1060036"/>
            <a:chOff x="4987575" y="1021396"/>
            <a:chExt cx="1981532" cy="1060036"/>
          </a:xfrm>
        </p:grpSpPr>
        <p:grpSp>
          <p:nvGrpSpPr>
            <p:cNvPr id="1054" name="Google Shape;1054;p52"/>
            <p:cNvGrpSpPr/>
            <p:nvPr/>
          </p:nvGrpSpPr>
          <p:grpSpPr>
            <a:xfrm>
              <a:off x="4987575" y="1021396"/>
              <a:ext cx="1981532" cy="1060036"/>
              <a:chOff x="6105475" y="1308321"/>
              <a:chExt cx="1981532" cy="1060036"/>
            </a:xfrm>
          </p:grpSpPr>
          <p:grpSp>
            <p:nvGrpSpPr>
              <p:cNvPr id="1055" name="Google Shape;1055;p52"/>
              <p:cNvGrpSpPr/>
              <p:nvPr/>
            </p:nvGrpSpPr>
            <p:grpSpPr>
              <a:xfrm>
                <a:off x="6105475" y="1308321"/>
                <a:ext cx="1981532" cy="1060036"/>
                <a:chOff x="5966461" y="2682481"/>
                <a:chExt cx="2302500" cy="1231741"/>
              </a:xfrm>
            </p:grpSpPr>
            <p:cxnSp>
              <p:nvCxnSpPr>
                <p:cNvPr id="1056" name="Google Shape;1056;p52"/>
                <p:cNvCxnSpPr/>
                <p:nvPr/>
              </p:nvCxnSpPr>
              <p:spPr>
                <a:xfrm>
                  <a:off x="6784698" y="2755341"/>
                  <a:ext cx="0" cy="112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057" name="Google Shape;1057;p52"/>
                <p:cNvCxnSpPr/>
                <p:nvPr/>
              </p:nvCxnSpPr>
              <p:spPr>
                <a:xfrm>
                  <a:off x="5966461" y="3617676"/>
                  <a:ext cx="2302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1058" name="Google Shape;1058;p52"/>
                <p:cNvPicPr preferRelativeResize="0"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18811" y="2682481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059" name="Google Shape;1059;p52"/>
                <p:cNvCxnSpPr/>
                <p:nvPr/>
              </p:nvCxnSpPr>
              <p:spPr>
                <a:xfrm>
                  <a:off x="6101454" y="2950322"/>
                  <a:ext cx="1285200" cy="96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60" name="Google Shape;1060;p52"/>
              <p:cNvSpPr/>
              <p:nvPr/>
            </p:nvSpPr>
            <p:spPr>
              <a:xfrm>
                <a:off x="6475450" y="1461050"/>
                <a:ext cx="1077571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061" name="Google Shape;1061;p52" descr="z_4" title="MathEquation,#000000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6612025" y="1620725"/>
              <a:ext cx="213800" cy="183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2" name="Google Shape;1062;p52"/>
          <p:cNvSpPr txBox="1"/>
          <p:nvPr/>
        </p:nvSpPr>
        <p:spPr>
          <a:xfrm>
            <a:off x="6765900" y="1038375"/>
            <a:ext cx="2199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9999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1-D case for illustration.</a:t>
            </a:r>
            <a:endParaRPr>
              <a:solidFill>
                <a:srgbClr val="999999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9999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Generally it’s a linear hyperplane</a:t>
            </a:r>
            <a:endParaRPr>
              <a:solidFill>
                <a:srgbClr val="999999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3" name="Google Shape;1063;p52"/>
          <p:cNvSpPr/>
          <p:nvPr/>
        </p:nvSpPr>
        <p:spPr>
          <a:xfrm>
            <a:off x="5434425" y="2131425"/>
            <a:ext cx="2483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52"/>
          <p:cNvSpPr/>
          <p:nvPr/>
        </p:nvSpPr>
        <p:spPr>
          <a:xfrm>
            <a:off x="332100" y="2088975"/>
            <a:ext cx="3173100" cy="15285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5" name="Google Shape;1065;p52" descr="f(x) \geq a^\top z_3 + b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5174250" y="3906850"/>
            <a:ext cx="1786100" cy="3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0" name="Google Shape;1070;p53"/>
          <p:cNvGrpSpPr/>
          <p:nvPr/>
        </p:nvGrpSpPr>
        <p:grpSpPr>
          <a:xfrm>
            <a:off x="2952863" y="1385236"/>
            <a:ext cx="4290325" cy="1354867"/>
            <a:chOff x="2724263" y="1385236"/>
            <a:chExt cx="4290325" cy="1354867"/>
          </a:xfrm>
        </p:grpSpPr>
        <p:sp>
          <p:nvSpPr>
            <p:cNvPr id="1071" name="Google Shape;1071;p53"/>
            <p:cNvSpPr/>
            <p:nvPr/>
          </p:nvSpPr>
          <p:spPr>
            <a:xfrm>
              <a:off x="4671372" y="2267602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53"/>
            <p:cNvSpPr/>
            <p:nvPr/>
          </p:nvSpPr>
          <p:spPr>
            <a:xfrm>
              <a:off x="3240647" y="2256227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53"/>
            <p:cNvSpPr/>
            <p:nvPr/>
          </p:nvSpPr>
          <p:spPr>
            <a:xfrm>
              <a:off x="6442188" y="1385248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53"/>
            <p:cNvSpPr/>
            <p:nvPr/>
          </p:nvSpPr>
          <p:spPr>
            <a:xfrm>
              <a:off x="2724263" y="1385236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75" name="Google Shape;1075;p53"/>
            <p:cNvCxnSpPr>
              <a:stCxn id="1076" idx="0"/>
              <a:endCxn id="1077" idx="0"/>
            </p:cNvCxnSpPr>
            <p:nvPr/>
          </p:nvCxnSpPr>
          <p:spPr>
            <a:xfrm rot="5400000">
              <a:off x="4189679" y="1682275"/>
              <a:ext cx="600" cy="1415100"/>
            </a:xfrm>
            <a:prstGeom prst="curvedConnector3">
              <a:avLst>
                <a:gd name="adj1" fmla="val -3968838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78" name="Google Shape;1078;p5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079" name="Google Shape;1079;p53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080" name="Google Shape;1080;p53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38</a:t>
            </a:fld>
            <a:endParaRPr lang="en-GB"/>
          </a:p>
        </p:txBody>
      </p:sp>
      <p:sp>
        <p:nvSpPr>
          <p:cNvPr id="1081" name="Google Shape;1081;p53"/>
          <p:cNvSpPr/>
          <p:nvPr/>
        </p:nvSpPr>
        <p:spPr>
          <a:xfrm>
            <a:off x="3952200" y="14581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2" name="Google Shape;1082;p53"/>
          <p:cNvGrpSpPr/>
          <p:nvPr/>
        </p:nvGrpSpPr>
        <p:grpSpPr>
          <a:xfrm>
            <a:off x="857675" y="1082590"/>
            <a:ext cx="2438277" cy="993310"/>
            <a:chOff x="629075" y="2301790"/>
            <a:chExt cx="2438277" cy="993310"/>
          </a:xfrm>
        </p:grpSpPr>
        <p:cxnSp>
          <p:nvCxnSpPr>
            <p:cNvPr id="1083" name="Google Shape;1083;p53"/>
            <p:cNvCxnSpPr/>
            <p:nvPr/>
          </p:nvCxnSpPr>
          <p:spPr>
            <a:xfrm>
              <a:off x="1670225" y="2301800"/>
              <a:ext cx="0" cy="99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084" name="Google Shape;1084;p53"/>
            <p:cNvCxnSpPr/>
            <p:nvPr/>
          </p:nvCxnSpPr>
          <p:spPr>
            <a:xfrm>
              <a:off x="792152" y="3049628"/>
              <a:ext cx="2275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085" name="Google Shape;1085;p5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87819" y="2301790"/>
              <a:ext cx="283848" cy="1798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53"/>
            <p:cNvSpPr/>
            <p:nvPr/>
          </p:nvSpPr>
          <p:spPr>
            <a:xfrm>
              <a:off x="1064725" y="2443551"/>
              <a:ext cx="1817483" cy="602966"/>
            </a:xfrm>
            <a:custGeom>
              <a:avLst/>
              <a:gdLst/>
              <a:ahLst/>
              <a:cxnLst/>
              <a:rect l="l" t="t" r="r" b="b"/>
              <a:pathLst>
                <a:path w="93276" h="27561" extrusionOk="0">
                  <a:moveTo>
                    <a:pt x="0" y="0"/>
                  </a:moveTo>
                  <a:cubicBezTo>
                    <a:pt x="1955" y="2221"/>
                    <a:pt x="7552" y="11726"/>
                    <a:pt x="11727" y="13325"/>
                  </a:cubicBezTo>
                  <a:cubicBezTo>
                    <a:pt x="15902" y="14924"/>
                    <a:pt x="20788" y="8262"/>
                    <a:pt x="25052" y="9594"/>
                  </a:cubicBezTo>
                  <a:cubicBezTo>
                    <a:pt x="29316" y="10927"/>
                    <a:pt x="32781" y="20521"/>
                    <a:pt x="37311" y="21320"/>
                  </a:cubicBezTo>
                  <a:cubicBezTo>
                    <a:pt x="41842" y="22120"/>
                    <a:pt x="47882" y="13414"/>
                    <a:pt x="52235" y="14391"/>
                  </a:cubicBezTo>
                  <a:cubicBezTo>
                    <a:pt x="56588" y="15368"/>
                    <a:pt x="56588" y="25673"/>
                    <a:pt x="63428" y="27183"/>
                  </a:cubicBezTo>
                  <a:cubicBezTo>
                    <a:pt x="70268" y="28693"/>
                    <a:pt x="88301" y="24074"/>
                    <a:pt x="93276" y="23452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087" name="Google Shape;1087;p53"/>
            <p:cNvCxnSpPr/>
            <p:nvPr/>
          </p:nvCxnSpPr>
          <p:spPr>
            <a:xfrm>
              <a:off x="629075" y="2679120"/>
              <a:ext cx="2082300" cy="603000"/>
            </a:xfrm>
            <a:prstGeom prst="straightConnector1">
              <a:avLst/>
            </a:prstGeom>
            <a:noFill/>
            <a:ln w="19050" cap="flat" cmpd="sng">
              <a:solidFill>
                <a:srgbClr val="C9DAF8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088" name="Google Shape;1088;p53"/>
          <p:cNvSpPr txBox="1"/>
          <p:nvPr/>
        </p:nvSpPr>
        <p:spPr>
          <a:xfrm>
            <a:off x="2001900" y="1730075"/>
            <a:ext cx="3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?</a:t>
            </a:r>
            <a:endParaRPr>
              <a:solidFill>
                <a:srgbClr val="0000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089" name="Google Shape;1089;p53"/>
          <p:cNvSpPr txBox="1"/>
          <p:nvPr/>
        </p:nvSpPr>
        <p:spPr>
          <a:xfrm>
            <a:off x="1948975" y="3635950"/>
            <a:ext cx="49428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Propagate it to one layer before,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while keeping the lower bound valid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090" name="Google Shape;1090;p53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091" name="Google Shape;1091;p53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092" name="Google Shape;1092;p53"/>
              <p:cNvPicPr preferRelativeResize="0"/>
              <p:nvPr/>
            </p:nvPicPr>
            <p:blipFill rotWithShape="1">
              <a:blip r:embed="rId4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3" name="Google Shape;1093;p53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094" name="Google Shape;1094;p53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095" name="Google Shape;1095;p53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096" name="Google Shape;1096;p53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7" name="Google Shape;1097;p53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98" name="Google Shape;1098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99" name="Google Shape;1099;p53"/>
                  <p:cNvCxnSpPr>
                    <a:stCxn id="1098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00" name="Google Shape;1100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01" name="Google Shape;1101;p53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02" name="Google Shape;1102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03" name="Google Shape;1103;p53"/>
                  <p:cNvCxnSpPr>
                    <a:stCxn id="110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04" name="Google Shape;1104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05" name="Google Shape;1105;p53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06" name="Google Shape;1106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07" name="Google Shape;1107;p53"/>
                  <p:cNvCxnSpPr>
                    <a:stCxn id="110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08" name="Google Shape;1108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109" name="Google Shape;1109;p53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110" name="Google Shape;1110;p53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11" name="Google Shape;1111;p53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12" name="Google Shape;1112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13" name="Google Shape;1113;p53"/>
                  <p:cNvCxnSpPr>
                    <a:stCxn id="111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14" name="Google Shape;1114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15" name="Google Shape;1115;p53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16" name="Google Shape;1116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17" name="Google Shape;1117;p53"/>
                  <p:cNvCxnSpPr>
                    <a:stCxn id="111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18" name="Google Shape;1118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19" name="Google Shape;1119;p53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20" name="Google Shape;1120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21" name="Google Shape;1121;p53"/>
                  <p:cNvCxnSpPr>
                    <a:stCxn id="1120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22" name="Google Shape;1122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123" name="Google Shape;1123;p53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4" name="Google Shape;1124;p53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125" name="Google Shape;1125;p53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126" name="Google Shape;1126;p53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27" name="Google Shape;1127;p53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128" name="Google Shape;1128;p53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129" name="Google Shape;1129;p53" descr="W_2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30" name="Google Shape;1130;p53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131" name="Google Shape;1131;p53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132" name="Google Shape;1132;p53" descr="W_3" title="MathEquation,#000000"/>
                <p:cNvPicPr preferRelativeResize="0"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133" name="Google Shape;1133;p53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34" name="Google Shape;1134;p53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5" name="Google Shape;1135;p53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76" name="Google Shape;1076;p53" descr="z_4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7" name="Google Shape;1077;p53" descr="z_3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6" name="Google Shape;1136;p53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3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3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39" name="Google Shape;1139;p53" descr="z_1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0" name="Google Shape;1140;p53" descr="x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1" name="Google Shape;1141;p53" descr="f(x)" title="MathEquation,#000000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42" name="Google Shape;1142;p53" descr="z_3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3136125" y="1592450"/>
            <a:ext cx="217934" cy="186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3" name="Google Shape;1143;p53"/>
          <p:cNvGrpSpPr/>
          <p:nvPr/>
        </p:nvGrpSpPr>
        <p:grpSpPr>
          <a:xfrm>
            <a:off x="5216175" y="1021396"/>
            <a:ext cx="1981532" cy="1060036"/>
            <a:chOff x="4987575" y="1021396"/>
            <a:chExt cx="1981532" cy="1060036"/>
          </a:xfrm>
        </p:grpSpPr>
        <p:grpSp>
          <p:nvGrpSpPr>
            <p:cNvPr id="1144" name="Google Shape;1144;p53"/>
            <p:cNvGrpSpPr/>
            <p:nvPr/>
          </p:nvGrpSpPr>
          <p:grpSpPr>
            <a:xfrm>
              <a:off x="4987575" y="1021396"/>
              <a:ext cx="1981532" cy="1060036"/>
              <a:chOff x="6105475" y="1308321"/>
              <a:chExt cx="1981532" cy="1060036"/>
            </a:xfrm>
          </p:grpSpPr>
          <p:grpSp>
            <p:nvGrpSpPr>
              <p:cNvPr id="1145" name="Google Shape;1145;p53"/>
              <p:cNvGrpSpPr/>
              <p:nvPr/>
            </p:nvGrpSpPr>
            <p:grpSpPr>
              <a:xfrm>
                <a:off x="6105475" y="1308321"/>
                <a:ext cx="1981532" cy="1060036"/>
                <a:chOff x="5966461" y="2682481"/>
                <a:chExt cx="2302500" cy="1231741"/>
              </a:xfrm>
            </p:grpSpPr>
            <p:cxnSp>
              <p:nvCxnSpPr>
                <p:cNvPr id="1146" name="Google Shape;1146;p53"/>
                <p:cNvCxnSpPr/>
                <p:nvPr/>
              </p:nvCxnSpPr>
              <p:spPr>
                <a:xfrm>
                  <a:off x="6784698" y="2755341"/>
                  <a:ext cx="0" cy="112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147" name="Google Shape;1147;p53"/>
                <p:cNvCxnSpPr/>
                <p:nvPr/>
              </p:nvCxnSpPr>
              <p:spPr>
                <a:xfrm>
                  <a:off x="5966461" y="3617676"/>
                  <a:ext cx="2302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1148" name="Google Shape;1148;p53"/>
                <p:cNvPicPr preferRelativeResize="0"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8811" y="2682481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149" name="Google Shape;1149;p53"/>
                <p:cNvCxnSpPr/>
                <p:nvPr/>
              </p:nvCxnSpPr>
              <p:spPr>
                <a:xfrm>
                  <a:off x="6101454" y="2950322"/>
                  <a:ext cx="1285200" cy="96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50" name="Google Shape;1150;p53"/>
              <p:cNvSpPr/>
              <p:nvPr/>
            </p:nvSpPr>
            <p:spPr>
              <a:xfrm>
                <a:off x="6475450" y="1461050"/>
                <a:ext cx="1077571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151" name="Google Shape;1151;p53" descr="z_4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6612025" y="1620725"/>
              <a:ext cx="213800" cy="183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2" name="Google Shape;1152;p53"/>
          <p:cNvSpPr/>
          <p:nvPr/>
        </p:nvSpPr>
        <p:spPr>
          <a:xfrm>
            <a:off x="359225" y="2166300"/>
            <a:ext cx="3118200" cy="15459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53"/>
          <p:cNvSpPr/>
          <p:nvPr/>
        </p:nvSpPr>
        <p:spPr>
          <a:xfrm>
            <a:off x="5427525" y="2131425"/>
            <a:ext cx="2483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54"/>
          <p:cNvGrpSpPr/>
          <p:nvPr/>
        </p:nvGrpSpPr>
        <p:grpSpPr>
          <a:xfrm>
            <a:off x="2952863" y="1385236"/>
            <a:ext cx="4290325" cy="1354867"/>
            <a:chOff x="2724263" y="1385236"/>
            <a:chExt cx="4290325" cy="1354867"/>
          </a:xfrm>
        </p:grpSpPr>
        <p:sp>
          <p:nvSpPr>
            <p:cNvPr id="1159" name="Google Shape;1159;p54"/>
            <p:cNvSpPr/>
            <p:nvPr/>
          </p:nvSpPr>
          <p:spPr>
            <a:xfrm>
              <a:off x="4671372" y="2267602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54"/>
            <p:cNvSpPr/>
            <p:nvPr/>
          </p:nvSpPr>
          <p:spPr>
            <a:xfrm>
              <a:off x="3240647" y="2256227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54"/>
            <p:cNvSpPr/>
            <p:nvPr/>
          </p:nvSpPr>
          <p:spPr>
            <a:xfrm>
              <a:off x="6442188" y="1385248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54"/>
            <p:cNvSpPr/>
            <p:nvPr/>
          </p:nvSpPr>
          <p:spPr>
            <a:xfrm>
              <a:off x="2724263" y="1385236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3" name="Google Shape;1163;p54"/>
            <p:cNvCxnSpPr>
              <a:stCxn id="1164" idx="0"/>
              <a:endCxn id="1165" idx="0"/>
            </p:cNvCxnSpPr>
            <p:nvPr/>
          </p:nvCxnSpPr>
          <p:spPr>
            <a:xfrm rot="5400000">
              <a:off x="4189679" y="1682275"/>
              <a:ext cx="600" cy="1415100"/>
            </a:xfrm>
            <a:prstGeom prst="curvedConnector3">
              <a:avLst>
                <a:gd name="adj1" fmla="val -3968838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66" name="Google Shape;1166;p5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167" name="Google Shape;1167;p5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168" name="Google Shape;1168;p54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39</a:t>
            </a:fld>
            <a:endParaRPr lang="en-GB"/>
          </a:p>
        </p:txBody>
      </p:sp>
      <p:sp>
        <p:nvSpPr>
          <p:cNvPr id="1169" name="Google Shape;1169;p54"/>
          <p:cNvSpPr/>
          <p:nvPr/>
        </p:nvSpPr>
        <p:spPr>
          <a:xfrm>
            <a:off x="3952200" y="14581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0" name="Google Shape;1170;p54"/>
          <p:cNvGrpSpPr/>
          <p:nvPr/>
        </p:nvGrpSpPr>
        <p:grpSpPr>
          <a:xfrm>
            <a:off x="857675" y="1082590"/>
            <a:ext cx="2438277" cy="993310"/>
            <a:chOff x="629075" y="2301790"/>
            <a:chExt cx="2438277" cy="993310"/>
          </a:xfrm>
        </p:grpSpPr>
        <p:cxnSp>
          <p:nvCxnSpPr>
            <p:cNvPr id="1171" name="Google Shape;1171;p54"/>
            <p:cNvCxnSpPr/>
            <p:nvPr/>
          </p:nvCxnSpPr>
          <p:spPr>
            <a:xfrm>
              <a:off x="1670225" y="2301800"/>
              <a:ext cx="0" cy="99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172" name="Google Shape;1172;p54"/>
            <p:cNvCxnSpPr/>
            <p:nvPr/>
          </p:nvCxnSpPr>
          <p:spPr>
            <a:xfrm>
              <a:off x="792152" y="3049628"/>
              <a:ext cx="2275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173" name="Google Shape;1173;p54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87819" y="2301790"/>
              <a:ext cx="283848" cy="1798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54"/>
            <p:cNvSpPr/>
            <p:nvPr/>
          </p:nvSpPr>
          <p:spPr>
            <a:xfrm>
              <a:off x="1064725" y="2443551"/>
              <a:ext cx="1817483" cy="602966"/>
            </a:xfrm>
            <a:custGeom>
              <a:avLst/>
              <a:gdLst/>
              <a:ahLst/>
              <a:cxnLst/>
              <a:rect l="l" t="t" r="r" b="b"/>
              <a:pathLst>
                <a:path w="93276" h="27561" extrusionOk="0">
                  <a:moveTo>
                    <a:pt x="0" y="0"/>
                  </a:moveTo>
                  <a:cubicBezTo>
                    <a:pt x="1955" y="2221"/>
                    <a:pt x="7552" y="11726"/>
                    <a:pt x="11727" y="13325"/>
                  </a:cubicBezTo>
                  <a:cubicBezTo>
                    <a:pt x="15902" y="14924"/>
                    <a:pt x="20788" y="8262"/>
                    <a:pt x="25052" y="9594"/>
                  </a:cubicBezTo>
                  <a:cubicBezTo>
                    <a:pt x="29316" y="10927"/>
                    <a:pt x="32781" y="20521"/>
                    <a:pt x="37311" y="21320"/>
                  </a:cubicBezTo>
                  <a:cubicBezTo>
                    <a:pt x="41842" y="22120"/>
                    <a:pt x="47882" y="13414"/>
                    <a:pt x="52235" y="14391"/>
                  </a:cubicBezTo>
                  <a:cubicBezTo>
                    <a:pt x="56588" y="15368"/>
                    <a:pt x="56588" y="25673"/>
                    <a:pt x="63428" y="27183"/>
                  </a:cubicBezTo>
                  <a:cubicBezTo>
                    <a:pt x="70268" y="28693"/>
                    <a:pt x="88301" y="24074"/>
                    <a:pt x="93276" y="23452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75" name="Google Shape;1175;p54"/>
            <p:cNvCxnSpPr/>
            <p:nvPr/>
          </p:nvCxnSpPr>
          <p:spPr>
            <a:xfrm>
              <a:off x="629075" y="2679120"/>
              <a:ext cx="2082300" cy="603000"/>
            </a:xfrm>
            <a:prstGeom prst="straightConnector1">
              <a:avLst/>
            </a:prstGeom>
            <a:noFill/>
            <a:ln w="19050" cap="flat" cmpd="sng">
              <a:solidFill>
                <a:srgbClr val="C9DAF8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176" name="Google Shape;1176;p54"/>
          <p:cNvSpPr txBox="1"/>
          <p:nvPr/>
        </p:nvSpPr>
        <p:spPr>
          <a:xfrm>
            <a:off x="2001900" y="1730075"/>
            <a:ext cx="3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?</a:t>
            </a:r>
            <a:endParaRPr>
              <a:solidFill>
                <a:srgbClr val="0000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177" name="Google Shape;1177;p54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178" name="Google Shape;1178;p54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179" name="Google Shape;1179;p54"/>
              <p:cNvPicPr preferRelativeResize="0"/>
              <p:nvPr/>
            </p:nvPicPr>
            <p:blipFill rotWithShape="1">
              <a:blip r:embed="rId4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0" name="Google Shape;1180;p54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181" name="Google Shape;1181;p54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182" name="Google Shape;1182;p54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183" name="Google Shape;1183;p54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4" name="Google Shape;1184;p54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85" name="Google Shape;1185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86" name="Google Shape;1186;p54"/>
                  <p:cNvCxnSpPr>
                    <a:stCxn id="1185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87" name="Google Shape;1187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88" name="Google Shape;1188;p54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89" name="Google Shape;1189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90" name="Google Shape;1190;p54"/>
                  <p:cNvCxnSpPr>
                    <a:stCxn id="118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91" name="Google Shape;1191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92" name="Google Shape;1192;p54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93" name="Google Shape;1193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94" name="Google Shape;1194;p54"/>
                  <p:cNvCxnSpPr>
                    <a:stCxn id="1193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95" name="Google Shape;1195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196" name="Google Shape;1196;p54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197" name="Google Shape;1197;p54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8" name="Google Shape;1198;p54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99" name="Google Shape;1199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00" name="Google Shape;1200;p54"/>
                  <p:cNvCxnSpPr>
                    <a:stCxn id="119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1" name="Google Shape;1201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02" name="Google Shape;1202;p54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03" name="Google Shape;1203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04" name="Google Shape;1204;p54"/>
                  <p:cNvCxnSpPr>
                    <a:stCxn id="1203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5" name="Google Shape;1205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06" name="Google Shape;1206;p54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07" name="Google Shape;1207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08" name="Google Shape;1208;p54"/>
                  <p:cNvCxnSpPr>
                    <a:stCxn id="1207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9" name="Google Shape;1209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210" name="Google Shape;1210;p54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11" name="Google Shape;1211;p54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212" name="Google Shape;1212;p54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213" name="Google Shape;1213;p54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214" name="Google Shape;1214;p54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215" name="Google Shape;1215;p54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216" name="Google Shape;1216;p54" descr="W_2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217" name="Google Shape;1217;p54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218" name="Google Shape;1218;p54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219" name="Google Shape;1219;p54" descr="W_3" title="MathEquation,#000000"/>
                <p:cNvPicPr preferRelativeResize="0"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220" name="Google Shape;1220;p54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21" name="Google Shape;1221;p54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2" name="Google Shape;1222;p54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64" name="Google Shape;1164;p54" descr="z_4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5" name="Google Shape;1165;p54" descr="z_3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3" name="Google Shape;1223;p54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54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54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26" name="Google Shape;1226;p54" descr="z_1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27" name="Google Shape;1227;p54" descr="x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28" name="Google Shape;1228;p54" descr="f(x)" title="MathEquation,#000000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229" name="Google Shape;1229;p54" descr="z_3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3136125" y="1592450"/>
            <a:ext cx="217934" cy="186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0" name="Google Shape;1230;p54"/>
          <p:cNvGrpSpPr/>
          <p:nvPr/>
        </p:nvGrpSpPr>
        <p:grpSpPr>
          <a:xfrm>
            <a:off x="5216175" y="1021396"/>
            <a:ext cx="1981532" cy="1060036"/>
            <a:chOff x="4987575" y="1021396"/>
            <a:chExt cx="1981532" cy="1060036"/>
          </a:xfrm>
        </p:grpSpPr>
        <p:grpSp>
          <p:nvGrpSpPr>
            <p:cNvPr id="1231" name="Google Shape;1231;p54"/>
            <p:cNvGrpSpPr/>
            <p:nvPr/>
          </p:nvGrpSpPr>
          <p:grpSpPr>
            <a:xfrm>
              <a:off x="4987575" y="1021396"/>
              <a:ext cx="1981532" cy="1060036"/>
              <a:chOff x="6105475" y="1308321"/>
              <a:chExt cx="1981532" cy="1060036"/>
            </a:xfrm>
          </p:grpSpPr>
          <p:grpSp>
            <p:nvGrpSpPr>
              <p:cNvPr id="1232" name="Google Shape;1232;p54"/>
              <p:cNvGrpSpPr/>
              <p:nvPr/>
            </p:nvGrpSpPr>
            <p:grpSpPr>
              <a:xfrm>
                <a:off x="6105475" y="1308321"/>
                <a:ext cx="1981532" cy="1060036"/>
                <a:chOff x="5966461" y="2682481"/>
                <a:chExt cx="2302500" cy="1231741"/>
              </a:xfrm>
            </p:grpSpPr>
            <p:cxnSp>
              <p:nvCxnSpPr>
                <p:cNvPr id="1233" name="Google Shape;1233;p54"/>
                <p:cNvCxnSpPr/>
                <p:nvPr/>
              </p:nvCxnSpPr>
              <p:spPr>
                <a:xfrm>
                  <a:off x="6784698" y="2755341"/>
                  <a:ext cx="0" cy="112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234" name="Google Shape;1234;p54"/>
                <p:cNvCxnSpPr/>
                <p:nvPr/>
              </p:nvCxnSpPr>
              <p:spPr>
                <a:xfrm>
                  <a:off x="5966461" y="3617676"/>
                  <a:ext cx="2302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1235" name="Google Shape;1235;p54"/>
                <p:cNvPicPr preferRelativeResize="0"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8811" y="2682481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236" name="Google Shape;1236;p54"/>
                <p:cNvCxnSpPr/>
                <p:nvPr/>
              </p:nvCxnSpPr>
              <p:spPr>
                <a:xfrm>
                  <a:off x="6101454" y="2950322"/>
                  <a:ext cx="1285200" cy="96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237" name="Google Shape;1237;p54"/>
              <p:cNvSpPr/>
              <p:nvPr/>
            </p:nvSpPr>
            <p:spPr>
              <a:xfrm>
                <a:off x="6475450" y="1461050"/>
                <a:ext cx="1077571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238" name="Google Shape;1238;p54" descr="z_4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6612025" y="1620725"/>
              <a:ext cx="213800" cy="183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39" name="Google Shape;1239;p54" descr="z_3 = W_2 z_2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3965450" y="3335697"/>
            <a:ext cx="1063374" cy="23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54"/>
          <p:cNvSpPr/>
          <p:nvPr/>
        </p:nvSpPr>
        <p:spPr>
          <a:xfrm>
            <a:off x="3952200" y="39727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1" name="Google Shape;1241;p54" descr="f(x) \geq a^\top z_3 + b" title="MathEquation,#000000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5174250" y="3906850"/>
            <a:ext cx="1786100" cy="32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54"/>
          <p:cNvSpPr/>
          <p:nvPr/>
        </p:nvSpPr>
        <p:spPr>
          <a:xfrm>
            <a:off x="333250" y="2166300"/>
            <a:ext cx="3144300" cy="15690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54"/>
          <p:cNvSpPr/>
          <p:nvPr/>
        </p:nvSpPr>
        <p:spPr>
          <a:xfrm>
            <a:off x="5427525" y="2131425"/>
            <a:ext cx="2483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8" name="Google Shape;1248;p55"/>
          <p:cNvGrpSpPr/>
          <p:nvPr/>
        </p:nvGrpSpPr>
        <p:grpSpPr>
          <a:xfrm>
            <a:off x="2952863" y="1385236"/>
            <a:ext cx="4290325" cy="1354867"/>
            <a:chOff x="2724263" y="1385236"/>
            <a:chExt cx="4290325" cy="1354867"/>
          </a:xfrm>
        </p:grpSpPr>
        <p:sp>
          <p:nvSpPr>
            <p:cNvPr id="1249" name="Google Shape;1249;p55"/>
            <p:cNvSpPr/>
            <p:nvPr/>
          </p:nvSpPr>
          <p:spPr>
            <a:xfrm>
              <a:off x="4671372" y="2267602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55"/>
            <p:cNvSpPr/>
            <p:nvPr/>
          </p:nvSpPr>
          <p:spPr>
            <a:xfrm>
              <a:off x="3240647" y="2256227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5"/>
            <p:cNvSpPr/>
            <p:nvPr/>
          </p:nvSpPr>
          <p:spPr>
            <a:xfrm>
              <a:off x="6442188" y="1385248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55"/>
            <p:cNvSpPr/>
            <p:nvPr/>
          </p:nvSpPr>
          <p:spPr>
            <a:xfrm>
              <a:off x="2724263" y="1385236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53" name="Google Shape;1253;p55"/>
            <p:cNvCxnSpPr>
              <a:stCxn id="1254" idx="0"/>
              <a:endCxn id="1255" idx="0"/>
            </p:cNvCxnSpPr>
            <p:nvPr/>
          </p:nvCxnSpPr>
          <p:spPr>
            <a:xfrm rot="5400000">
              <a:off x="4189679" y="1682275"/>
              <a:ext cx="600" cy="1415100"/>
            </a:xfrm>
            <a:prstGeom prst="curvedConnector3">
              <a:avLst>
                <a:gd name="adj1" fmla="val -3968838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56" name="Google Shape;1256;p5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257" name="Google Shape;1257;p5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258" name="Google Shape;1258;p5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40</a:t>
            </a:fld>
            <a:endParaRPr lang="en-GB"/>
          </a:p>
        </p:txBody>
      </p:sp>
      <p:sp>
        <p:nvSpPr>
          <p:cNvPr id="1259" name="Google Shape;1259;p55"/>
          <p:cNvSpPr/>
          <p:nvPr/>
        </p:nvSpPr>
        <p:spPr>
          <a:xfrm>
            <a:off x="3952200" y="14581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0" name="Google Shape;1260;p55"/>
          <p:cNvGrpSpPr/>
          <p:nvPr/>
        </p:nvGrpSpPr>
        <p:grpSpPr>
          <a:xfrm>
            <a:off x="857675" y="1082590"/>
            <a:ext cx="2438277" cy="993310"/>
            <a:chOff x="629075" y="2301790"/>
            <a:chExt cx="2438277" cy="993310"/>
          </a:xfrm>
        </p:grpSpPr>
        <p:cxnSp>
          <p:nvCxnSpPr>
            <p:cNvPr id="1261" name="Google Shape;1261;p55"/>
            <p:cNvCxnSpPr/>
            <p:nvPr/>
          </p:nvCxnSpPr>
          <p:spPr>
            <a:xfrm>
              <a:off x="1670225" y="2301800"/>
              <a:ext cx="0" cy="99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262" name="Google Shape;1262;p55"/>
            <p:cNvCxnSpPr/>
            <p:nvPr/>
          </p:nvCxnSpPr>
          <p:spPr>
            <a:xfrm>
              <a:off x="792152" y="3049628"/>
              <a:ext cx="2275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263" name="Google Shape;1263;p55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87819" y="2301790"/>
              <a:ext cx="283848" cy="1798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55"/>
            <p:cNvSpPr/>
            <p:nvPr/>
          </p:nvSpPr>
          <p:spPr>
            <a:xfrm>
              <a:off x="1064725" y="2443551"/>
              <a:ext cx="1817483" cy="602966"/>
            </a:xfrm>
            <a:custGeom>
              <a:avLst/>
              <a:gdLst/>
              <a:ahLst/>
              <a:cxnLst/>
              <a:rect l="l" t="t" r="r" b="b"/>
              <a:pathLst>
                <a:path w="93276" h="27561" extrusionOk="0">
                  <a:moveTo>
                    <a:pt x="0" y="0"/>
                  </a:moveTo>
                  <a:cubicBezTo>
                    <a:pt x="1955" y="2221"/>
                    <a:pt x="7552" y="11726"/>
                    <a:pt x="11727" y="13325"/>
                  </a:cubicBezTo>
                  <a:cubicBezTo>
                    <a:pt x="15902" y="14924"/>
                    <a:pt x="20788" y="8262"/>
                    <a:pt x="25052" y="9594"/>
                  </a:cubicBezTo>
                  <a:cubicBezTo>
                    <a:pt x="29316" y="10927"/>
                    <a:pt x="32781" y="20521"/>
                    <a:pt x="37311" y="21320"/>
                  </a:cubicBezTo>
                  <a:cubicBezTo>
                    <a:pt x="41842" y="22120"/>
                    <a:pt x="47882" y="13414"/>
                    <a:pt x="52235" y="14391"/>
                  </a:cubicBezTo>
                  <a:cubicBezTo>
                    <a:pt x="56588" y="15368"/>
                    <a:pt x="56588" y="25673"/>
                    <a:pt x="63428" y="27183"/>
                  </a:cubicBezTo>
                  <a:cubicBezTo>
                    <a:pt x="70268" y="28693"/>
                    <a:pt x="88301" y="24074"/>
                    <a:pt x="93276" y="23452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265" name="Google Shape;1265;p55"/>
            <p:cNvCxnSpPr/>
            <p:nvPr/>
          </p:nvCxnSpPr>
          <p:spPr>
            <a:xfrm>
              <a:off x="629075" y="2679120"/>
              <a:ext cx="2082300" cy="6030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66" name="Google Shape;1266;p55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267" name="Google Shape;1267;p55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268" name="Google Shape;1268;p55"/>
              <p:cNvPicPr preferRelativeResize="0"/>
              <p:nvPr/>
            </p:nvPicPr>
            <p:blipFill rotWithShape="1">
              <a:blip r:embed="rId4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55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270" name="Google Shape;1270;p55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271" name="Google Shape;1271;p55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272" name="Google Shape;1272;p55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73" name="Google Shape;1273;p55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74" name="Google Shape;1274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75" name="Google Shape;1275;p55"/>
                  <p:cNvCxnSpPr>
                    <a:stCxn id="1274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76" name="Google Shape;1276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77" name="Google Shape;1277;p55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78" name="Google Shape;1278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79" name="Google Shape;1279;p55"/>
                  <p:cNvCxnSpPr>
                    <a:stCxn id="1278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0" name="Google Shape;1280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81" name="Google Shape;1281;p55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82" name="Google Shape;1282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83" name="Google Shape;1283;p55"/>
                  <p:cNvCxnSpPr>
                    <a:stCxn id="128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4" name="Google Shape;1284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285" name="Google Shape;1285;p55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286" name="Google Shape;1286;p55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87" name="Google Shape;1287;p55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88" name="Google Shape;1288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89" name="Google Shape;1289;p55"/>
                  <p:cNvCxnSpPr>
                    <a:stCxn id="1288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0" name="Google Shape;1290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91" name="Google Shape;1291;p55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92" name="Google Shape;1292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93" name="Google Shape;1293;p55"/>
                  <p:cNvCxnSpPr>
                    <a:stCxn id="129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4" name="Google Shape;1294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95" name="Google Shape;1295;p55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96" name="Google Shape;1296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97" name="Google Shape;1297;p55"/>
                  <p:cNvCxnSpPr>
                    <a:stCxn id="129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8" name="Google Shape;1298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299" name="Google Shape;1299;p55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00" name="Google Shape;1300;p55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301" name="Google Shape;1301;p55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02" name="Google Shape;1302;p55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03" name="Google Shape;1303;p55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304" name="Google Shape;1304;p55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05" name="Google Shape;1305;p55" descr="W_2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06" name="Google Shape;1306;p55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307" name="Google Shape;1307;p55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08" name="Google Shape;1308;p55" descr="W_3" title="MathEquation,#000000"/>
                <p:cNvPicPr preferRelativeResize="0"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309" name="Google Shape;1309;p55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10" name="Google Shape;1310;p55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1" name="Google Shape;1311;p55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54" name="Google Shape;1254;p55" descr="z_4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5" name="Google Shape;1255;p55" descr="z_3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2" name="Google Shape;1312;p55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55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55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15" name="Google Shape;1315;p55" descr="z_1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6" name="Google Shape;1316;p55" descr="x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7" name="Google Shape;1317;p55" descr="f(x)" title="MathEquation,#000000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318" name="Google Shape;1318;p55" descr="z_3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3136125" y="1592450"/>
            <a:ext cx="217934" cy="186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9" name="Google Shape;1319;p55"/>
          <p:cNvGrpSpPr/>
          <p:nvPr/>
        </p:nvGrpSpPr>
        <p:grpSpPr>
          <a:xfrm>
            <a:off x="5216175" y="1021396"/>
            <a:ext cx="1981532" cy="1060036"/>
            <a:chOff x="4987575" y="1021396"/>
            <a:chExt cx="1981532" cy="1060036"/>
          </a:xfrm>
        </p:grpSpPr>
        <p:grpSp>
          <p:nvGrpSpPr>
            <p:cNvPr id="1320" name="Google Shape;1320;p55"/>
            <p:cNvGrpSpPr/>
            <p:nvPr/>
          </p:nvGrpSpPr>
          <p:grpSpPr>
            <a:xfrm>
              <a:off x="4987575" y="1021396"/>
              <a:ext cx="1981532" cy="1060036"/>
              <a:chOff x="6105475" y="1308321"/>
              <a:chExt cx="1981532" cy="1060036"/>
            </a:xfrm>
          </p:grpSpPr>
          <p:grpSp>
            <p:nvGrpSpPr>
              <p:cNvPr id="1321" name="Google Shape;1321;p55"/>
              <p:cNvGrpSpPr/>
              <p:nvPr/>
            </p:nvGrpSpPr>
            <p:grpSpPr>
              <a:xfrm>
                <a:off x="6105475" y="1308321"/>
                <a:ext cx="1981532" cy="1060036"/>
                <a:chOff x="5966461" y="2682481"/>
                <a:chExt cx="2302500" cy="1231741"/>
              </a:xfrm>
            </p:grpSpPr>
            <p:cxnSp>
              <p:nvCxnSpPr>
                <p:cNvPr id="1322" name="Google Shape;1322;p55"/>
                <p:cNvCxnSpPr/>
                <p:nvPr/>
              </p:nvCxnSpPr>
              <p:spPr>
                <a:xfrm>
                  <a:off x="6784698" y="2755341"/>
                  <a:ext cx="0" cy="112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323" name="Google Shape;1323;p55"/>
                <p:cNvCxnSpPr/>
                <p:nvPr/>
              </p:nvCxnSpPr>
              <p:spPr>
                <a:xfrm>
                  <a:off x="5966461" y="3617676"/>
                  <a:ext cx="2302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1324" name="Google Shape;1324;p55"/>
                <p:cNvPicPr preferRelativeResize="0"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8811" y="2682481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325" name="Google Shape;1325;p55"/>
                <p:cNvCxnSpPr/>
                <p:nvPr/>
              </p:nvCxnSpPr>
              <p:spPr>
                <a:xfrm>
                  <a:off x="6101454" y="2950322"/>
                  <a:ext cx="1285200" cy="96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326" name="Google Shape;1326;p55"/>
              <p:cNvSpPr/>
              <p:nvPr/>
            </p:nvSpPr>
            <p:spPr>
              <a:xfrm>
                <a:off x="6475450" y="1461050"/>
                <a:ext cx="1077571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327" name="Google Shape;1327;p55" descr="z_4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6612025" y="1620725"/>
              <a:ext cx="213800" cy="183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28" name="Google Shape;1328;p55" descr="z_3 = W_2 z_2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3965450" y="3335697"/>
            <a:ext cx="1063374" cy="23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9" name="Google Shape;1329;p55"/>
          <p:cNvGrpSpPr/>
          <p:nvPr/>
        </p:nvGrpSpPr>
        <p:grpSpPr>
          <a:xfrm>
            <a:off x="2415150" y="3893675"/>
            <a:ext cx="3890049" cy="769400"/>
            <a:chOff x="2415150" y="3893675"/>
            <a:chExt cx="3890049" cy="769400"/>
          </a:xfrm>
        </p:grpSpPr>
        <p:sp>
          <p:nvSpPr>
            <p:cNvPr id="1330" name="Google Shape;1330;p55"/>
            <p:cNvSpPr/>
            <p:nvPr/>
          </p:nvSpPr>
          <p:spPr>
            <a:xfrm>
              <a:off x="5967998" y="3893675"/>
              <a:ext cx="337200" cy="3432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5"/>
            <p:cNvSpPr/>
            <p:nvPr/>
          </p:nvSpPr>
          <p:spPr>
            <a:xfrm>
              <a:off x="2415150" y="3894425"/>
              <a:ext cx="720900" cy="3432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5"/>
            <p:cNvSpPr txBox="1"/>
            <p:nvPr/>
          </p:nvSpPr>
          <p:spPr>
            <a:xfrm>
              <a:off x="2905500" y="4262875"/>
              <a:ext cx="3333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Inequality updated after propagation</a:t>
              </a:r>
              <a:endParaRPr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sp>
        <p:nvSpPr>
          <p:cNvPr id="1333" name="Google Shape;1333;p55"/>
          <p:cNvSpPr/>
          <p:nvPr/>
        </p:nvSpPr>
        <p:spPr>
          <a:xfrm>
            <a:off x="3952200" y="39727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4" name="Google Shape;1334;p55" descr="f(x) \geq a^\top z_3 + b" title="MathEquation,#000000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5174250" y="3906850"/>
            <a:ext cx="1786100" cy="32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55" descr="f(x) \geq a^\top W_2 z_2 + b" title="MathEquation,#000000"/>
          <p:cNvPicPr preferRelativeResize="0"/>
          <p:nvPr/>
        </p:nvPicPr>
        <p:blipFill>
          <a:blip r:embed="rId16"/>
          <a:stretch>
            <a:fillRect/>
          </a:stretch>
        </p:blipFill>
        <p:spPr>
          <a:xfrm>
            <a:off x="1629150" y="3925525"/>
            <a:ext cx="2140496" cy="323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6" name="Google Shape;1336;p55"/>
          <p:cNvCxnSpPr>
            <a:endCxn id="1328" idx="3"/>
          </p:cNvCxnSpPr>
          <p:nvPr/>
        </p:nvCxnSpPr>
        <p:spPr>
          <a:xfrm rot="10800000">
            <a:off x="5028824" y="3455335"/>
            <a:ext cx="1404300" cy="50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7" name="Google Shape;1337;p55"/>
          <p:cNvCxnSpPr>
            <a:stCxn id="1328" idx="1"/>
          </p:cNvCxnSpPr>
          <p:nvPr/>
        </p:nvCxnSpPr>
        <p:spPr>
          <a:xfrm flipH="1">
            <a:off x="3245450" y="3455335"/>
            <a:ext cx="720000" cy="529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8" name="Google Shape;1338;p55"/>
          <p:cNvSpPr/>
          <p:nvPr/>
        </p:nvSpPr>
        <p:spPr>
          <a:xfrm>
            <a:off x="318750" y="2090100"/>
            <a:ext cx="3158700" cy="15588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55"/>
          <p:cNvSpPr/>
          <p:nvPr/>
        </p:nvSpPr>
        <p:spPr>
          <a:xfrm>
            <a:off x="5427525" y="2131425"/>
            <a:ext cx="2483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345" name="Google Shape;1345;p56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346" name="Google Shape;1346;p56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41</a:t>
            </a:fld>
            <a:endParaRPr lang="en-GB"/>
          </a:p>
        </p:txBody>
      </p:sp>
      <p:grpSp>
        <p:nvGrpSpPr>
          <p:cNvPr id="1347" name="Google Shape;1347;p56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348" name="Google Shape;1348;p56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349" name="Google Shape;1349;p56"/>
              <p:cNvPicPr preferRelativeResize="0"/>
              <p:nvPr/>
            </p:nvPicPr>
            <p:blipFill rotWithShape="1">
              <a:blip r:embed="rId3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0" name="Google Shape;1350;p56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351" name="Google Shape;1351;p56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352" name="Google Shape;1352;p56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353" name="Google Shape;1353;p56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54" name="Google Shape;1354;p56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55" name="Google Shape;1355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56" name="Google Shape;1356;p56"/>
                  <p:cNvCxnSpPr>
                    <a:stCxn id="1355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57" name="Google Shape;1357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58" name="Google Shape;1358;p56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59" name="Google Shape;1359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60" name="Google Shape;1360;p56"/>
                  <p:cNvCxnSpPr>
                    <a:stCxn id="135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61" name="Google Shape;1361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62" name="Google Shape;1362;p56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63" name="Google Shape;1363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64" name="Google Shape;1364;p56"/>
                  <p:cNvCxnSpPr>
                    <a:stCxn id="1363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65" name="Google Shape;1365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366" name="Google Shape;1366;p56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367" name="Google Shape;1367;p56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68" name="Google Shape;1368;p56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69" name="Google Shape;1369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70" name="Google Shape;1370;p56"/>
                  <p:cNvCxnSpPr>
                    <a:stCxn id="136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1" name="Google Shape;1371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72" name="Google Shape;1372;p56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73" name="Google Shape;1373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74" name="Google Shape;1374;p56"/>
                  <p:cNvCxnSpPr>
                    <a:stCxn id="1373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5" name="Google Shape;1375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76" name="Google Shape;1376;p56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77" name="Google Shape;1377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78" name="Google Shape;1378;p56"/>
                  <p:cNvCxnSpPr>
                    <a:stCxn id="1377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9" name="Google Shape;1379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380" name="Google Shape;1380;p56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1" name="Google Shape;1381;p56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382" name="Google Shape;1382;p56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83" name="Google Shape;1383;p56"/>
                <p:cNvPicPr preferRelativeResize="0"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84" name="Google Shape;1384;p56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385" name="Google Shape;1385;p56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86" name="Google Shape;1386;p56" descr="W_2" title="MathEquation,#000000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87" name="Google Shape;1387;p56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388" name="Google Shape;1388;p56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89" name="Google Shape;1389;p56" descr="W_3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390" name="Google Shape;1390;p56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91" name="Google Shape;1391;p56" descr="z_4" title="MathEquation,#000000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2" name="Google Shape;1392;p56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93" name="Google Shape;1393;p56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4" name="Google Shape;1394;p56" descr="z_3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5" name="Google Shape;1395;p56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56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56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98" name="Google Shape;1398;p56" descr="z_1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9" name="Google Shape;1399;p56" descr="x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0" name="Google Shape;1400;p56" descr="f(x)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01" name="Google Shape;1401;p56"/>
          <p:cNvGrpSpPr/>
          <p:nvPr/>
        </p:nvGrpSpPr>
        <p:grpSpPr>
          <a:xfrm>
            <a:off x="3905675" y="1082590"/>
            <a:ext cx="2496384" cy="993310"/>
            <a:chOff x="857675" y="1082590"/>
            <a:chExt cx="2496384" cy="993310"/>
          </a:xfrm>
        </p:grpSpPr>
        <p:grpSp>
          <p:nvGrpSpPr>
            <p:cNvPr id="1402" name="Google Shape;1402;p56"/>
            <p:cNvGrpSpPr/>
            <p:nvPr/>
          </p:nvGrpSpPr>
          <p:grpSpPr>
            <a:xfrm>
              <a:off x="857675" y="1082590"/>
              <a:ext cx="2438277" cy="993310"/>
              <a:chOff x="629075" y="2301790"/>
              <a:chExt cx="2438277" cy="993310"/>
            </a:xfrm>
          </p:grpSpPr>
          <p:cxnSp>
            <p:nvCxnSpPr>
              <p:cNvPr id="1403" name="Google Shape;1403;p56"/>
              <p:cNvCxnSpPr/>
              <p:nvPr/>
            </p:nvCxnSpPr>
            <p:spPr>
              <a:xfrm>
                <a:off x="1670225" y="2301800"/>
                <a:ext cx="0" cy="993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404" name="Google Shape;1404;p56"/>
              <p:cNvCxnSpPr/>
              <p:nvPr/>
            </p:nvCxnSpPr>
            <p:spPr>
              <a:xfrm>
                <a:off x="792152" y="3049628"/>
                <a:ext cx="2275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405" name="Google Shape;1405;p56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87819" y="2301790"/>
                <a:ext cx="283848" cy="1798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6" name="Google Shape;1406;p56"/>
              <p:cNvSpPr/>
              <p:nvPr/>
            </p:nvSpPr>
            <p:spPr>
              <a:xfrm>
                <a:off x="1064725" y="2443551"/>
                <a:ext cx="1817483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407" name="Google Shape;1407;p56"/>
              <p:cNvCxnSpPr/>
              <p:nvPr/>
            </p:nvCxnSpPr>
            <p:spPr>
              <a:xfrm>
                <a:off x="629075" y="2679120"/>
                <a:ext cx="2082300" cy="603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408" name="Google Shape;1408;p56" descr="z_3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3136125" y="1592450"/>
              <a:ext cx="217934" cy="186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9" name="Google Shape;1409;p56"/>
          <p:cNvSpPr/>
          <p:nvPr/>
        </p:nvSpPr>
        <p:spPr>
          <a:xfrm>
            <a:off x="347725" y="2242500"/>
            <a:ext cx="20748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56"/>
          <p:cNvSpPr/>
          <p:nvPr/>
        </p:nvSpPr>
        <p:spPr>
          <a:xfrm>
            <a:off x="4027875" y="2131425"/>
            <a:ext cx="38829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6"/>
          <p:cNvSpPr/>
          <p:nvPr/>
        </p:nvSpPr>
        <p:spPr>
          <a:xfrm>
            <a:off x="2730150" y="1485938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2" name="Google Shape;1412;p56"/>
          <p:cNvGrpSpPr/>
          <p:nvPr/>
        </p:nvGrpSpPr>
        <p:grpSpPr>
          <a:xfrm>
            <a:off x="419800" y="1000196"/>
            <a:ext cx="1981532" cy="1224828"/>
            <a:chOff x="466675" y="1079721"/>
            <a:chExt cx="1981532" cy="1224828"/>
          </a:xfrm>
        </p:grpSpPr>
        <p:grpSp>
          <p:nvGrpSpPr>
            <p:cNvPr id="1413" name="Google Shape;1413;p56"/>
            <p:cNvGrpSpPr/>
            <p:nvPr/>
          </p:nvGrpSpPr>
          <p:grpSpPr>
            <a:xfrm>
              <a:off x="466675" y="1079721"/>
              <a:ext cx="1981532" cy="1224828"/>
              <a:chOff x="5966461" y="2682481"/>
              <a:chExt cx="2302500" cy="1423226"/>
            </a:xfrm>
          </p:grpSpPr>
          <p:cxnSp>
            <p:nvCxnSpPr>
              <p:cNvPr id="1414" name="Google Shape;1414;p56"/>
              <p:cNvCxnSpPr/>
              <p:nvPr/>
            </p:nvCxnSpPr>
            <p:spPr>
              <a:xfrm>
                <a:off x="6784698" y="2755341"/>
                <a:ext cx="0" cy="1125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415" name="Google Shape;1415;p56"/>
              <p:cNvCxnSpPr/>
              <p:nvPr/>
            </p:nvCxnSpPr>
            <p:spPr>
              <a:xfrm>
                <a:off x="5966461" y="3617676"/>
                <a:ext cx="2302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416" name="Google Shape;1416;p56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18811" y="2682481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17" name="Google Shape;1417;p56"/>
              <p:cNvCxnSpPr/>
              <p:nvPr/>
            </p:nvCxnSpPr>
            <p:spPr>
              <a:xfrm>
                <a:off x="6077633" y="3321807"/>
                <a:ext cx="1575300" cy="78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9DAF8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418" name="Google Shape;1418;p56"/>
            <p:cNvSpPr/>
            <p:nvPr/>
          </p:nvSpPr>
          <p:spPr>
            <a:xfrm>
              <a:off x="562355" y="1553450"/>
              <a:ext cx="1699246" cy="310800"/>
            </a:xfrm>
            <a:custGeom>
              <a:avLst/>
              <a:gdLst/>
              <a:ahLst/>
              <a:cxnLst/>
              <a:rect l="l" t="t" r="r" b="b"/>
              <a:pathLst>
                <a:path w="49447" h="12432" extrusionOk="0">
                  <a:moveTo>
                    <a:pt x="0" y="126"/>
                  </a:moveTo>
                  <a:cubicBezTo>
                    <a:pt x="1961" y="112"/>
                    <a:pt x="8485" y="-83"/>
                    <a:pt x="11763" y="41"/>
                  </a:cubicBezTo>
                  <a:cubicBezTo>
                    <a:pt x="15041" y="165"/>
                    <a:pt x="17699" y="-296"/>
                    <a:pt x="19669" y="870"/>
                  </a:cubicBezTo>
                  <a:cubicBezTo>
                    <a:pt x="21639" y="2036"/>
                    <a:pt x="21783" y="7020"/>
                    <a:pt x="23585" y="7037"/>
                  </a:cubicBezTo>
                  <a:cubicBezTo>
                    <a:pt x="25387" y="7054"/>
                    <a:pt x="28471" y="119"/>
                    <a:pt x="30482" y="974"/>
                  </a:cubicBezTo>
                  <a:cubicBezTo>
                    <a:pt x="32494" y="1829"/>
                    <a:pt x="32493" y="10847"/>
                    <a:pt x="35654" y="12168"/>
                  </a:cubicBezTo>
                  <a:cubicBezTo>
                    <a:pt x="38815" y="13490"/>
                    <a:pt x="47148" y="9447"/>
                    <a:pt x="49447" y="890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19" name="Google Shape;1419;p56"/>
          <p:cNvSpPr txBox="1"/>
          <p:nvPr/>
        </p:nvSpPr>
        <p:spPr>
          <a:xfrm>
            <a:off x="1241963" y="1915100"/>
            <a:ext cx="3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?</a:t>
            </a:r>
            <a:endParaRPr>
              <a:solidFill>
                <a:srgbClr val="0000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cxnSp>
        <p:nvCxnSpPr>
          <p:cNvPr id="1420" name="Google Shape;1420;p56"/>
          <p:cNvCxnSpPr/>
          <p:nvPr/>
        </p:nvCxnSpPr>
        <p:spPr>
          <a:xfrm>
            <a:off x="3200864" y="3705840"/>
            <a:ext cx="7800" cy="81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421" name="Google Shape;1421;p56"/>
          <p:cNvCxnSpPr/>
          <p:nvPr/>
        </p:nvCxnSpPr>
        <p:spPr>
          <a:xfrm rot="10800000" flipH="1">
            <a:off x="2521352" y="4177057"/>
            <a:ext cx="14571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2" name="Google Shape;1422;p56"/>
          <p:cNvCxnSpPr/>
          <p:nvPr/>
        </p:nvCxnSpPr>
        <p:spPr>
          <a:xfrm rot="10800000" flipH="1">
            <a:off x="3208562" y="3792049"/>
            <a:ext cx="449400" cy="38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3" name="Google Shape;1423;p56"/>
          <p:cNvCxnSpPr/>
          <p:nvPr/>
        </p:nvCxnSpPr>
        <p:spPr>
          <a:xfrm>
            <a:off x="2639800" y="4178227"/>
            <a:ext cx="57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4" name="Google Shape;1424;p56"/>
          <p:cNvSpPr txBox="1"/>
          <p:nvPr/>
        </p:nvSpPr>
        <p:spPr>
          <a:xfrm>
            <a:off x="4085707" y="3789000"/>
            <a:ext cx="432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ReLU is NOT a simple linear function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425" name="Google Shape;1425;p56" descr="z_1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2160324" y="1513348"/>
            <a:ext cx="205274" cy="175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6" name="Google Shape;1426;p56"/>
          <p:cNvCxnSpPr>
            <a:stCxn id="1394" idx="0"/>
            <a:endCxn id="1398" idx="0"/>
          </p:cNvCxnSpPr>
          <p:nvPr/>
        </p:nvCxnSpPr>
        <p:spPr>
          <a:xfrm rot="5400000">
            <a:off x="3174511" y="1853570"/>
            <a:ext cx="600" cy="1072500"/>
          </a:xfrm>
          <a:prstGeom prst="curvedConnector3">
            <a:avLst>
              <a:gd name="adj1" fmla="val -396875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5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432" name="Google Shape;1432;p57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433" name="Google Shape;1433;p57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42</a:t>
            </a:fld>
            <a:endParaRPr lang="en-GB"/>
          </a:p>
        </p:txBody>
      </p:sp>
      <p:grpSp>
        <p:nvGrpSpPr>
          <p:cNvPr id="1434" name="Google Shape;1434;p57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435" name="Google Shape;1435;p57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436" name="Google Shape;1436;p57"/>
              <p:cNvPicPr preferRelativeResize="0"/>
              <p:nvPr/>
            </p:nvPicPr>
            <p:blipFill rotWithShape="1">
              <a:blip r:embed="rId3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7" name="Google Shape;1437;p57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438" name="Google Shape;1438;p57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439" name="Google Shape;1439;p57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440" name="Google Shape;1440;p57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41" name="Google Shape;1441;p57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42" name="Google Shape;1442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43" name="Google Shape;1443;p57"/>
                  <p:cNvCxnSpPr>
                    <a:stCxn id="144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44" name="Google Shape;1444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445" name="Google Shape;1445;p57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46" name="Google Shape;1446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47" name="Google Shape;1447;p57"/>
                  <p:cNvCxnSpPr>
                    <a:stCxn id="144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48" name="Google Shape;1448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449" name="Google Shape;1449;p57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50" name="Google Shape;1450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51" name="Google Shape;1451;p57"/>
                  <p:cNvCxnSpPr>
                    <a:stCxn id="1450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52" name="Google Shape;1452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453" name="Google Shape;1453;p57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454" name="Google Shape;1454;p57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55" name="Google Shape;1455;p57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56" name="Google Shape;1456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57" name="Google Shape;1457;p57"/>
                  <p:cNvCxnSpPr>
                    <a:stCxn id="145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58" name="Google Shape;1458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459" name="Google Shape;1459;p57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60" name="Google Shape;1460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61" name="Google Shape;1461;p57"/>
                  <p:cNvCxnSpPr>
                    <a:stCxn id="1460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62" name="Google Shape;1462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463" name="Google Shape;1463;p57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64" name="Google Shape;1464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65" name="Google Shape;1465;p57"/>
                  <p:cNvCxnSpPr>
                    <a:stCxn id="1464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66" name="Google Shape;1466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467" name="Google Shape;1467;p57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68" name="Google Shape;1468;p57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469" name="Google Shape;1469;p57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470" name="Google Shape;1470;p57"/>
                <p:cNvPicPr preferRelativeResize="0"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71" name="Google Shape;1471;p57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472" name="Google Shape;1472;p57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473" name="Google Shape;1473;p57" descr="W_2" title="MathEquation,#000000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74" name="Google Shape;1474;p57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475" name="Google Shape;1475;p57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476" name="Google Shape;1476;p57" descr="W_3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477" name="Google Shape;1477;p57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78" name="Google Shape;1478;p57" descr="z_4" title="MathEquation,#000000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9" name="Google Shape;1479;p57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80" name="Google Shape;1480;p57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1" name="Google Shape;1481;p57" descr="z_3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2" name="Google Shape;1482;p57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57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7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85" name="Google Shape;1485;p57" descr="z_1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6" name="Google Shape;1486;p57" descr="x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7" name="Google Shape;1487;p57" descr="f(x)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88" name="Google Shape;1488;p57"/>
          <p:cNvGrpSpPr/>
          <p:nvPr/>
        </p:nvGrpSpPr>
        <p:grpSpPr>
          <a:xfrm>
            <a:off x="3905675" y="1082590"/>
            <a:ext cx="2496384" cy="993310"/>
            <a:chOff x="857675" y="1082590"/>
            <a:chExt cx="2496384" cy="993310"/>
          </a:xfrm>
        </p:grpSpPr>
        <p:grpSp>
          <p:nvGrpSpPr>
            <p:cNvPr id="1489" name="Google Shape;1489;p57"/>
            <p:cNvGrpSpPr/>
            <p:nvPr/>
          </p:nvGrpSpPr>
          <p:grpSpPr>
            <a:xfrm>
              <a:off x="857675" y="1082590"/>
              <a:ext cx="2438277" cy="993310"/>
              <a:chOff x="629075" y="2301790"/>
              <a:chExt cx="2438277" cy="993310"/>
            </a:xfrm>
          </p:grpSpPr>
          <p:cxnSp>
            <p:nvCxnSpPr>
              <p:cNvPr id="1490" name="Google Shape;1490;p57"/>
              <p:cNvCxnSpPr/>
              <p:nvPr/>
            </p:nvCxnSpPr>
            <p:spPr>
              <a:xfrm>
                <a:off x="1670225" y="2301800"/>
                <a:ext cx="0" cy="993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491" name="Google Shape;1491;p57"/>
              <p:cNvCxnSpPr/>
              <p:nvPr/>
            </p:nvCxnSpPr>
            <p:spPr>
              <a:xfrm>
                <a:off x="792152" y="3049628"/>
                <a:ext cx="2275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492" name="Google Shape;1492;p57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87819" y="2301790"/>
                <a:ext cx="283848" cy="1798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3" name="Google Shape;1493;p57"/>
              <p:cNvSpPr/>
              <p:nvPr/>
            </p:nvSpPr>
            <p:spPr>
              <a:xfrm>
                <a:off x="1064725" y="2443551"/>
                <a:ext cx="1817483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494" name="Google Shape;1494;p57"/>
              <p:cNvCxnSpPr/>
              <p:nvPr/>
            </p:nvCxnSpPr>
            <p:spPr>
              <a:xfrm>
                <a:off x="629075" y="2679120"/>
                <a:ext cx="2082300" cy="603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495" name="Google Shape;1495;p57" descr="z_3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3136125" y="1592450"/>
              <a:ext cx="217934" cy="186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96" name="Google Shape;1496;p57"/>
          <p:cNvSpPr/>
          <p:nvPr/>
        </p:nvSpPr>
        <p:spPr>
          <a:xfrm>
            <a:off x="347725" y="2242500"/>
            <a:ext cx="20976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57"/>
          <p:cNvSpPr/>
          <p:nvPr/>
        </p:nvSpPr>
        <p:spPr>
          <a:xfrm>
            <a:off x="4027875" y="2131425"/>
            <a:ext cx="38829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57"/>
          <p:cNvSpPr/>
          <p:nvPr/>
        </p:nvSpPr>
        <p:spPr>
          <a:xfrm>
            <a:off x="2730150" y="1485938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57"/>
          <p:cNvGrpSpPr/>
          <p:nvPr/>
        </p:nvGrpSpPr>
        <p:grpSpPr>
          <a:xfrm>
            <a:off x="419800" y="1000196"/>
            <a:ext cx="1981532" cy="1224828"/>
            <a:chOff x="466675" y="1079721"/>
            <a:chExt cx="1981532" cy="1224828"/>
          </a:xfrm>
        </p:grpSpPr>
        <p:grpSp>
          <p:nvGrpSpPr>
            <p:cNvPr id="1500" name="Google Shape;1500;p57"/>
            <p:cNvGrpSpPr/>
            <p:nvPr/>
          </p:nvGrpSpPr>
          <p:grpSpPr>
            <a:xfrm>
              <a:off x="466675" y="1079721"/>
              <a:ext cx="1981532" cy="1224828"/>
              <a:chOff x="5966461" y="2682481"/>
              <a:chExt cx="2302500" cy="1423226"/>
            </a:xfrm>
          </p:grpSpPr>
          <p:cxnSp>
            <p:nvCxnSpPr>
              <p:cNvPr id="1501" name="Google Shape;1501;p57"/>
              <p:cNvCxnSpPr/>
              <p:nvPr/>
            </p:nvCxnSpPr>
            <p:spPr>
              <a:xfrm>
                <a:off x="6784698" y="2755341"/>
                <a:ext cx="0" cy="1125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502" name="Google Shape;1502;p57"/>
              <p:cNvCxnSpPr/>
              <p:nvPr/>
            </p:nvCxnSpPr>
            <p:spPr>
              <a:xfrm>
                <a:off x="5966461" y="3617676"/>
                <a:ext cx="2302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503" name="Google Shape;1503;p57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18811" y="2682481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04" name="Google Shape;1504;p57"/>
              <p:cNvCxnSpPr/>
              <p:nvPr/>
            </p:nvCxnSpPr>
            <p:spPr>
              <a:xfrm>
                <a:off x="6077633" y="3321807"/>
                <a:ext cx="1575300" cy="78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9DAF8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05" name="Google Shape;1505;p57"/>
            <p:cNvSpPr/>
            <p:nvPr/>
          </p:nvSpPr>
          <p:spPr>
            <a:xfrm>
              <a:off x="562355" y="1553450"/>
              <a:ext cx="1699246" cy="310800"/>
            </a:xfrm>
            <a:custGeom>
              <a:avLst/>
              <a:gdLst/>
              <a:ahLst/>
              <a:cxnLst/>
              <a:rect l="l" t="t" r="r" b="b"/>
              <a:pathLst>
                <a:path w="49447" h="12432" extrusionOk="0">
                  <a:moveTo>
                    <a:pt x="0" y="126"/>
                  </a:moveTo>
                  <a:cubicBezTo>
                    <a:pt x="1961" y="112"/>
                    <a:pt x="8485" y="-83"/>
                    <a:pt x="11763" y="41"/>
                  </a:cubicBezTo>
                  <a:cubicBezTo>
                    <a:pt x="15041" y="165"/>
                    <a:pt x="17699" y="-296"/>
                    <a:pt x="19669" y="870"/>
                  </a:cubicBezTo>
                  <a:cubicBezTo>
                    <a:pt x="21639" y="2036"/>
                    <a:pt x="21783" y="7020"/>
                    <a:pt x="23585" y="7037"/>
                  </a:cubicBezTo>
                  <a:cubicBezTo>
                    <a:pt x="25387" y="7054"/>
                    <a:pt x="28471" y="119"/>
                    <a:pt x="30482" y="974"/>
                  </a:cubicBezTo>
                  <a:cubicBezTo>
                    <a:pt x="32494" y="1829"/>
                    <a:pt x="32493" y="10847"/>
                    <a:pt x="35654" y="12168"/>
                  </a:cubicBezTo>
                  <a:cubicBezTo>
                    <a:pt x="38815" y="13490"/>
                    <a:pt x="47148" y="9447"/>
                    <a:pt x="49447" y="890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06" name="Google Shape;1506;p57" descr="z_1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2160324" y="1513348"/>
            <a:ext cx="205274" cy="175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7" name="Google Shape;1507;p57"/>
          <p:cNvCxnSpPr/>
          <p:nvPr/>
        </p:nvCxnSpPr>
        <p:spPr>
          <a:xfrm rot="5400000">
            <a:off x="3174511" y="1853570"/>
            <a:ext cx="600" cy="1072500"/>
          </a:xfrm>
          <a:prstGeom prst="curvedConnector3">
            <a:avLst>
              <a:gd name="adj1" fmla="val -396875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8" name="Google Shape;1508;p57"/>
          <p:cNvSpPr txBox="1"/>
          <p:nvPr/>
        </p:nvSpPr>
        <p:spPr>
          <a:xfrm>
            <a:off x="1241963" y="1915100"/>
            <a:ext cx="3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?</a:t>
            </a:r>
            <a:endParaRPr>
              <a:solidFill>
                <a:srgbClr val="0000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509" name="Google Shape;1509;p57"/>
          <p:cNvGrpSpPr/>
          <p:nvPr/>
        </p:nvGrpSpPr>
        <p:grpSpPr>
          <a:xfrm>
            <a:off x="3899004" y="4293338"/>
            <a:ext cx="4413370" cy="356850"/>
            <a:chOff x="4127604" y="4217138"/>
            <a:chExt cx="4413370" cy="356850"/>
          </a:xfrm>
        </p:grpSpPr>
        <p:pic>
          <p:nvPicPr>
            <p:cNvPr id="1510" name="Google Shape;1510;p57" descr="f(x) \geq a^\top W_2 z_2 + b" title="MathEquation,#000000"/>
            <p:cNvPicPr preferRelativeResize="0"/>
            <p:nvPr/>
          </p:nvPicPr>
          <p:blipFill>
            <a:blip r:embed="rId14"/>
            <a:stretch>
              <a:fillRect/>
            </a:stretch>
          </p:blipFill>
          <p:spPr>
            <a:xfrm>
              <a:off x="5323838" y="4233687"/>
              <a:ext cx="2140496" cy="323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1" name="Google Shape;1511;p57"/>
            <p:cNvSpPr/>
            <p:nvPr/>
          </p:nvSpPr>
          <p:spPr>
            <a:xfrm>
              <a:off x="4127604" y="4305338"/>
              <a:ext cx="1039500" cy="18660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12" name="Google Shape;1512;p57" descr="\forall x \in \mathcal{S}, \ f(x) &gt; 0" title="MathEquation,#000000"/>
            <p:cNvPicPr preferRelativeResize="0"/>
            <p:nvPr/>
          </p:nvPicPr>
          <p:blipFill rotWithShape="1">
            <a:blip r:embed="rId15"/>
            <a:srcRect r="59270"/>
            <a:stretch>
              <a:fillRect/>
            </a:stretch>
          </p:blipFill>
          <p:spPr>
            <a:xfrm>
              <a:off x="7727850" y="4217138"/>
              <a:ext cx="813124" cy="3568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5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518" name="Google Shape;1518;p58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519" name="Google Shape;1519;p58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43</a:t>
            </a:fld>
            <a:endParaRPr lang="en-GB"/>
          </a:p>
        </p:txBody>
      </p:sp>
      <p:grpSp>
        <p:nvGrpSpPr>
          <p:cNvPr id="1520" name="Google Shape;1520;p58"/>
          <p:cNvGrpSpPr/>
          <p:nvPr/>
        </p:nvGrpSpPr>
        <p:grpSpPr>
          <a:xfrm>
            <a:off x="3905675" y="1082590"/>
            <a:ext cx="2496384" cy="993310"/>
            <a:chOff x="857675" y="1082590"/>
            <a:chExt cx="2496384" cy="993310"/>
          </a:xfrm>
        </p:grpSpPr>
        <p:grpSp>
          <p:nvGrpSpPr>
            <p:cNvPr id="1521" name="Google Shape;1521;p58"/>
            <p:cNvGrpSpPr/>
            <p:nvPr/>
          </p:nvGrpSpPr>
          <p:grpSpPr>
            <a:xfrm>
              <a:off x="857675" y="1082590"/>
              <a:ext cx="2438277" cy="993310"/>
              <a:chOff x="629075" y="2301790"/>
              <a:chExt cx="2438277" cy="993310"/>
            </a:xfrm>
          </p:grpSpPr>
          <p:cxnSp>
            <p:nvCxnSpPr>
              <p:cNvPr id="1522" name="Google Shape;1522;p58"/>
              <p:cNvCxnSpPr/>
              <p:nvPr/>
            </p:nvCxnSpPr>
            <p:spPr>
              <a:xfrm>
                <a:off x="1670225" y="2301800"/>
                <a:ext cx="0" cy="993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523" name="Google Shape;1523;p58"/>
              <p:cNvCxnSpPr/>
              <p:nvPr/>
            </p:nvCxnSpPr>
            <p:spPr>
              <a:xfrm>
                <a:off x="792152" y="3049628"/>
                <a:ext cx="2275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524" name="Google Shape;1524;p58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819" y="2301790"/>
                <a:ext cx="283848" cy="1798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5" name="Google Shape;1525;p58"/>
              <p:cNvSpPr/>
              <p:nvPr/>
            </p:nvSpPr>
            <p:spPr>
              <a:xfrm>
                <a:off x="1064725" y="2443551"/>
                <a:ext cx="1817483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526" name="Google Shape;1526;p58"/>
              <p:cNvCxnSpPr/>
              <p:nvPr/>
            </p:nvCxnSpPr>
            <p:spPr>
              <a:xfrm>
                <a:off x="629075" y="2679120"/>
                <a:ext cx="2082300" cy="603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527" name="Google Shape;1527;p58" descr="z_3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3136125" y="1592450"/>
              <a:ext cx="217934" cy="186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8" name="Google Shape;1528;p58"/>
          <p:cNvSpPr/>
          <p:nvPr/>
        </p:nvSpPr>
        <p:spPr>
          <a:xfrm>
            <a:off x="347725" y="2090100"/>
            <a:ext cx="2067300" cy="1443600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58"/>
          <p:cNvSpPr/>
          <p:nvPr/>
        </p:nvSpPr>
        <p:spPr>
          <a:xfrm>
            <a:off x="4027875" y="2131425"/>
            <a:ext cx="3882900" cy="1443600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58"/>
          <p:cNvSpPr/>
          <p:nvPr/>
        </p:nvSpPr>
        <p:spPr>
          <a:xfrm>
            <a:off x="2730150" y="1485938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1" name="Google Shape;1531;p58" descr="z_1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160324" y="1513348"/>
            <a:ext cx="205274" cy="175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2" name="Google Shape;1532;p58"/>
          <p:cNvGrpSpPr/>
          <p:nvPr/>
        </p:nvGrpSpPr>
        <p:grpSpPr>
          <a:xfrm>
            <a:off x="419800" y="1000196"/>
            <a:ext cx="1981532" cy="1224828"/>
            <a:chOff x="466675" y="1079721"/>
            <a:chExt cx="1981532" cy="1224828"/>
          </a:xfrm>
        </p:grpSpPr>
        <p:grpSp>
          <p:nvGrpSpPr>
            <p:cNvPr id="1533" name="Google Shape;1533;p58"/>
            <p:cNvGrpSpPr/>
            <p:nvPr/>
          </p:nvGrpSpPr>
          <p:grpSpPr>
            <a:xfrm>
              <a:off x="466675" y="1079721"/>
              <a:ext cx="1981532" cy="1224828"/>
              <a:chOff x="5966461" y="2682481"/>
              <a:chExt cx="2302500" cy="1423226"/>
            </a:xfrm>
          </p:grpSpPr>
          <p:cxnSp>
            <p:nvCxnSpPr>
              <p:cNvPr id="1534" name="Google Shape;1534;p58"/>
              <p:cNvCxnSpPr/>
              <p:nvPr/>
            </p:nvCxnSpPr>
            <p:spPr>
              <a:xfrm>
                <a:off x="6784698" y="2755341"/>
                <a:ext cx="0" cy="1125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535" name="Google Shape;1535;p58"/>
              <p:cNvCxnSpPr/>
              <p:nvPr/>
            </p:nvCxnSpPr>
            <p:spPr>
              <a:xfrm>
                <a:off x="5966461" y="3617676"/>
                <a:ext cx="2302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536" name="Google Shape;1536;p58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8811" y="2682481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37" name="Google Shape;1537;p58"/>
              <p:cNvCxnSpPr/>
              <p:nvPr/>
            </p:nvCxnSpPr>
            <p:spPr>
              <a:xfrm>
                <a:off x="6077633" y="3321807"/>
                <a:ext cx="1575300" cy="78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38" name="Google Shape;1538;p58"/>
            <p:cNvSpPr/>
            <p:nvPr/>
          </p:nvSpPr>
          <p:spPr>
            <a:xfrm>
              <a:off x="562355" y="1553450"/>
              <a:ext cx="1699246" cy="310800"/>
            </a:xfrm>
            <a:custGeom>
              <a:avLst/>
              <a:gdLst/>
              <a:ahLst/>
              <a:cxnLst/>
              <a:rect l="l" t="t" r="r" b="b"/>
              <a:pathLst>
                <a:path w="49447" h="12432" extrusionOk="0">
                  <a:moveTo>
                    <a:pt x="0" y="126"/>
                  </a:moveTo>
                  <a:cubicBezTo>
                    <a:pt x="1961" y="112"/>
                    <a:pt x="8485" y="-83"/>
                    <a:pt x="11763" y="41"/>
                  </a:cubicBezTo>
                  <a:cubicBezTo>
                    <a:pt x="15041" y="165"/>
                    <a:pt x="17699" y="-296"/>
                    <a:pt x="19669" y="870"/>
                  </a:cubicBezTo>
                  <a:cubicBezTo>
                    <a:pt x="21639" y="2036"/>
                    <a:pt x="21783" y="7020"/>
                    <a:pt x="23585" y="7037"/>
                  </a:cubicBezTo>
                  <a:cubicBezTo>
                    <a:pt x="25387" y="7054"/>
                    <a:pt x="28471" y="119"/>
                    <a:pt x="30482" y="974"/>
                  </a:cubicBezTo>
                  <a:cubicBezTo>
                    <a:pt x="32494" y="1829"/>
                    <a:pt x="32493" y="10847"/>
                    <a:pt x="35654" y="12168"/>
                  </a:cubicBezTo>
                  <a:cubicBezTo>
                    <a:pt x="38815" y="13490"/>
                    <a:pt x="47148" y="9447"/>
                    <a:pt x="49447" y="890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539" name="Google Shape;1539;p58"/>
          <p:cNvCxnSpPr/>
          <p:nvPr/>
        </p:nvCxnSpPr>
        <p:spPr>
          <a:xfrm rot="5400000">
            <a:off x="3174511" y="1853570"/>
            <a:ext cx="600" cy="1072500"/>
          </a:xfrm>
          <a:prstGeom prst="curvedConnector3">
            <a:avLst>
              <a:gd name="adj1" fmla="val -396875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40" name="Google Shape;1540;p58"/>
          <p:cNvGrpSpPr/>
          <p:nvPr/>
        </p:nvGrpSpPr>
        <p:grpSpPr>
          <a:xfrm>
            <a:off x="419804" y="2582424"/>
            <a:ext cx="599693" cy="601742"/>
            <a:chOff x="2708099" y="2963363"/>
            <a:chExt cx="1021798" cy="1025289"/>
          </a:xfrm>
        </p:grpSpPr>
        <p:pic>
          <p:nvPicPr>
            <p:cNvPr id="1541" name="Google Shape;1541;p58"/>
            <p:cNvPicPr preferRelativeResize="0"/>
            <p:nvPr/>
          </p:nvPicPr>
          <p:blipFill rotWithShape="1">
            <a:blip r:embed="rId6"/>
            <a:srcRect l="14039" t="9153" r="55651" b="45213"/>
            <a:stretch>
              <a:fillRect/>
            </a:stretch>
          </p:blipFill>
          <p:spPr>
            <a:xfrm>
              <a:off x="2708099" y="2963363"/>
              <a:ext cx="1021798" cy="1025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2" name="Google Shape;1542;p58"/>
            <p:cNvSpPr/>
            <p:nvPr/>
          </p:nvSpPr>
          <p:spPr>
            <a:xfrm>
              <a:off x="3130675" y="3637138"/>
              <a:ext cx="288000" cy="1422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4A86E8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FF00"/>
                </a:solidFill>
              </a:endParaRPr>
            </a:p>
          </p:txBody>
        </p:sp>
      </p:grpSp>
      <p:grpSp>
        <p:nvGrpSpPr>
          <p:cNvPr id="1543" name="Google Shape;1543;p58"/>
          <p:cNvGrpSpPr/>
          <p:nvPr/>
        </p:nvGrpSpPr>
        <p:grpSpPr>
          <a:xfrm>
            <a:off x="5474418" y="2201540"/>
            <a:ext cx="447706" cy="1373343"/>
            <a:chOff x="2935225" y="1755650"/>
            <a:chExt cx="617100" cy="1892700"/>
          </a:xfrm>
        </p:grpSpPr>
        <p:sp>
          <p:nvSpPr>
            <p:cNvPr id="1544" name="Google Shape;1544;p58"/>
            <p:cNvSpPr/>
            <p:nvPr/>
          </p:nvSpPr>
          <p:spPr>
            <a:xfrm>
              <a:off x="2935225" y="1755650"/>
              <a:ext cx="617100" cy="1892700"/>
            </a:xfrm>
            <a:prstGeom prst="roundRect">
              <a:avLst>
                <a:gd name="adj" fmla="val 16667"/>
              </a:avLst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5" name="Google Shape;1545;p58"/>
            <p:cNvGrpSpPr/>
            <p:nvPr/>
          </p:nvGrpSpPr>
          <p:grpSpPr>
            <a:xfrm>
              <a:off x="3051944" y="1865291"/>
              <a:ext cx="411361" cy="411361"/>
              <a:chOff x="4869175" y="1865375"/>
              <a:chExt cx="2537700" cy="2537700"/>
            </a:xfrm>
          </p:grpSpPr>
          <p:sp>
            <p:nvSpPr>
              <p:cNvPr id="1546" name="Google Shape;1546;p58"/>
              <p:cNvSpPr/>
              <p:nvPr/>
            </p:nvSpPr>
            <p:spPr>
              <a:xfrm>
                <a:off x="4869175" y="1865375"/>
                <a:ext cx="2537700" cy="2537700"/>
              </a:xfrm>
              <a:prstGeom prst="ellipse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7" name="Google Shape;1547;p58"/>
              <p:cNvCxnSpPr>
                <a:stCxn id="1546" idx="2"/>
              </p:cNvCxnSpPr>
              <p:nvPr/>
            </p:nvCxnSpPr>
            <p:spPr>
              <a:xfrm>
                <a:off x="4869175" y="3134225"/>
                <a:ext cx="1234500" cy="3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8" name="Google Shape;1548;p58"/>
              <p:cNvCxnSpPr/>
              <p:nvPr/>
            </p:nvCxnSpPr>
            <p:spPr>
              <a:xfrm rot="10800000" flipH="1">
                <a:off x="6103625" y="2236900"/>
                <a:ext cx="931500" cy="93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49" name="Google Shape;1549;p58"/>
            <p:cNvGrpSpPr/>
            <p:nvPr/>
          </p:nvGrpSpPr>
          <p:grpSpPr>
            <a:xfrm>
              <a:off x="3051944" y="2470316"/>
              <a:ext cx="411361" cy="411361"/>
              <a:chOff x="4869175" y="1865375"/>
              <a:chExt cx="2537700" cy="2537700"/>
            </a:xfrm>
          </p:grpSpPr>
          <p:sp>
            <p:nvSpPr>
              <p:cNvPr id="1550" name="Google Shape;1550;p58"/>
              <p:cNvSpPr/>
              <p:nvPr/>
            </p:nvSpPr>
            <p:spPr>
              <a:xfrm>
                <a:off x="4869175" y="1865375"/>
                <a:ext cx="2537700" cy="2537700"/>
              </a:xfrm>
              <a:prstGeom prst="ellipse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51" name="Google Shape;1551;p58"/>
              <p:cNvCxnSpPr>
                <a:stCxn id="1550" idx="2"/>
              </p:cNvCxnSpPr>
              <p:nvPr/>
            </p:nvCxnSpPr>
            <p:spPr>
              <a:xfrm>
                <a:off x="4869175" y="3134225"/>
                <a:ext cx="1234500" cy="3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2" name="Google Shape;1552;p58"/>
              <p:cNvCxnSpPr/>
              <p:nvPr/>
            </p:nvCxnSpPr>
            <p:spPr>
              <a:xfrm rot="10800000" flipH="1">
                <a:off x="6103625" y="2236900"/>
                <a:ext cx="931500" cy="93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3" name="Google Shape;1553;p58"/>
            <p:cNvGrpSpPr/>
            <p:nvPr/>
          </p:nvGrpSpPr>
          <p:grpSpPr>
            <a:xfrm>
              <a:off x="3051944" y="3075341"/>
              <a:ext cx="411361" cy="411361"/>
              <a:chOff x="4869175" y="1865375"/>
              <a:chExt cx="2537700" cy="2537700"/>
            </a:xfrm>
          </p:grpSpPr>
          <p:sp>
            <p:nvSpPr>
              <p:cNvPr id="1554" name="Google Shape;1554;p58"/>
              <p:cNvSpPr/>
              <p:nvPr/>
            </p:nvSpPr>
            <p:spPr>
              <a:xfrm>
                <a:off x="4869175" y="1865375"/>
                <a:ext cx="2537700" cy="2537700"/>
              </a:xfrm>
              <a:prstGeom prst="ellipse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55" name="Google Shape;1555;p58"/>
              <p:cNvCxnSpPr>
                <a:stCxn id="1554" idx="2"/>
              </p:cNvCxnSpPr>
              <p:nvPr/>
            </p:nvCxnSpPr>
            <p:spPr>
              <a:xfrm>
                <a:off x="4869175" y="3134225"/>
                <a:ext cx="1234500" cy="3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6" name="Google Shape;1556;p58"/>
              <p:cNvCxnSpPr/>
              <p:nvPr/>
            </p:nvCxnSpPr>
            <p:spPr>
              <a:xfrm rot="10800000" flipH="1">
                <a:off x="6103625" y="2236900"/>
                <a:ext cx="931500" cy="93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57" name="Google Shape;1557;p58"/>
          <p:cNvSpPr/>
          <p:nvPr/>
        </p:nvSpPr>
        <p:spPr>
          <a:xfrm>
            <a:off x="7398714" y="2654461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8" name="Google Shape;1558;p58"/>
          <p:cNvGrpSpPr/>
          <p:nvPr/>
        </p:nvGrpSpPr>
        <p:grpSpPr>
          <a:xfrm>
            <a:off x="1624924" y="2569758"/>
            <a:ext cx="796164" cy="636932"/>
            <a:chOff x="1591075" y="1810500"/>
            <a:chExt cx="1097400" cy="877800"/>
          </a:xfrm>
        </p:grpSpPr>
        <p:sp>
          <p:nvSpPr>
            <p:cNvPr id="1559" name="Google Shape;1559;p58"/>
            <p:cNvSpPr/>
            <p:nvPr/>
          </p:nvSpPr>
          <p:spPr>
            <a:xfrm>
              <a:off x="1591075" y="1810500"/>
              <a:ext cx="1097400" cy="877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60" name="Google Shape;1560;p58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1899750" y="2073000"/>
              <a:ext cx="480050" cy="352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1" name="Google Shape;1561;p58"/>
          <p:cNvGrpSpPr/>
          <p:nvPr/>
        </p:nvGrpSpPr>
        <p:grpSpPr>
          <a:xfrm>
            <a:off x="4068842" y="2534864"/>
            <a:ext cx="796164" cy="686780"/>
            <a:chOff x="4218325" y="1741925"/>
            <a:chExt cx="1097400" cy="946500"/>
          </a:xfrm>
        </p:grpSpPr>
        <p:sp>
          <p:nvSpPr>
            <p:cNvPr id="1562" name="Google Shape;1562;p58"/>
            <p:cNvSpPr/>
            <p:nvPr/>
          </p:nvSpPr>
          <p:spPr>
            <a:xfrm>
              <a:off x="4218325" y="1741925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63" name="Google Shape;1563;p58" descr="W_2" title="MathEquation,#000000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4526025" y="2073000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4" name="Google Shape;1564;p58"/>
          <p:cNvGrpSpPr/>
          <p:nvPr/>
        </p:nvGrpSpPr>
        <p:grpSpPr>
          <a:xfrm>
            <a:off x="6531303" y="2544834"/>
            <a:ext cx="796164" cy="686780"/>
            <a:chOff x="7416274" y="1776150"/>
            <a:chExt cx="1097400" cy="946500"/>
          </a:xfrm>
        </p:grpSpPr>
        <p:sp>
          <p:nvSpPr>
            <p:cNvPr id="1565" name="Google Shape;1565;p58"/>
            <p:cNvSpPr/>
            <p:nvPr/>
          </p:nvSpPr>
          <p:spPr>
            <a:xfrm>
              <a:off x="7416274" y="1776150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66" name="Google Shape;1566;p58" descr="W_3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7732699" y="2072988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7" name="Google Shape;1567;p58"/>
          <p:cNvSpPr/>
          <p:nvPr/>
        </p:nvSpPr>
        <p:spPr>
          <a:xfrm>
            <a:off x="5981080" y="2664435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8" name="Google Shape;1568;p58" descr="z_4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6051065" y="2389525"/>
            <a:ext cx="251360" cy="215229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58"/>
          <p:cNvSpPr/>
          <p:nvPr/>
        </p:nvSpPr>
        <p:spPr>
          <a:xfrm>
            <a:off x="4924044" y="2654461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0" name="Google Shape;1570;p58" descr="z_4" title="MathEquation,#000000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5000449" y="2389525"/>
            <a:ext cx="251360" cy="215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58" descr="z_3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585378" y="2389520"/>
            <a:ext cx="251366" cy="21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58"/>
          <p:cNvSpPr/>
          <p:nvPr/>
        </p:nvSpPr>
        <p:spPr>
          <a:xfrm>
            <a:off x="3518507" y="2654461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58"/>
          <p:cNvSpPr/>
          <p:nvPr/>
        </p:nvSpPr>
        <p:spPr>
          <a:xfrm>
            <a:off x="2462157" y="2664446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58"/>
          <p:cNvSpPr/>
          <p:nvPr/>
        </p:nvSpPr>
        <p:spPr>
          <a:xfrm>
            <a:off x="1133326" y="2654461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5" name="Google Shape;1575;p58" descr="z_1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512859" y="2389520"/>
            <a:ext cx="251366" cy="215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6" name="Google Shape;1576;p58" descr="x" title="MathEquation,#000000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1186119" y="2389525"/>
            <a:ext cx="184938" cy="21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58" descr="f(x)" title="MathEquation,#000000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7961333" y="2683639"/>
            <a:ext cx="613144" cy="38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58"/>
          <p:cNvSpPr/>
          <p:nvPr/>
        </p:nvSpPr>
        <p:spPr>
          <a:xfrm>
            <a:off x="347725" y="2242500"/>
            <a:ext cx="2084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9" name="Google Shape;1579;p58"/>
          <p:cNvSpPr/>
          <p:nvPr/>
        </p:nvSpPr>
        <p:spPr>
          <a:xfrm>
            <a:off x="4027875" y="2131425"/>
            <a:ext cx="38829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0" name="Google Shape;1580;p58"/>
          <p:cNvGrpSpPr/>
          <p:nvPr/>
        </p:nvGrpSpPr>
        <p:grpSpPr>
          <a:xfrm>
            <a:off x="2999975" y="2187100"/>
            <a:ext cx="447600" cy="1372800"/>
            <a:chOff x="2999975" y="2187100"/>
            <a:chExt cx="447600" cy="1372800"/>
          </a:xfrm>
        </p:grpSpPr>
        <p:sp>
          <p:nvSpPr>
            <p:cNvPr id="1581" name="Google Shape;1581;p58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2" name="Google Shape;1582;p58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583" name="Google Shape;1583;p58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584" name="Google Shape;1584;p58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85" name="Google Shape;1585;p58"/>
                <p:cNvCxnSpPr>
                  <a:stCxn id="1584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6" name="Google Shape;1586;p58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587" name="Google Shape;1587;p58"/>
              <p:cNvCxnSpPr>
                <a:stCxn id="1584" idx="2"/>
                <a:endCxn id="1584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8" name="Google Shape;1588;p58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89" name="Google Shape;1589;p58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590" name="Google Shape;1590;p58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591" name="Google Shape;1591;p58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92" name="Google Shape;1592;p58"/>
                <p:cNvCxnSpPr>
                  <a:stCxn id="1591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3" name="Google Shape;1593;p58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594" name="Google Shape;1594;p58"/>
              <p:cNvCxnSpPr>
                <a:stCxn id="1591" idx="2"/>
                <a:endCxn id="1591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5" name="Google Shape;1595;p58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96" name="Google Shape;1596;p58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597" name="Google Shape;1597;p58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598" name="Google Shape;1598;p58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99" name="Google Shape;1599;p58"/>
                <p:cNvCxnSpPr>
                  <a:stCxn id="159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00" name="Google Shape;1600;p58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601" name="Google Shape;1601;p58"/>
              <p:cNvCxnSpPr>
                <a:stCxn id="1598" idx="2"/>
                <a:endCxn id="1598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2" name="Google Shape;1602;p58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03" name="Google Shape;1603;p58"/>
          <p:cNvGrpSpPr/>
          <p:nvPr/>
        </p:nvGrpSpPr>
        <p:grpSpPr>
          <a:xfrm>
            <a:off x="914400" y="3796325"/>
            <a:ext cx="7487700" cy="971125"/>
            <a:chOff x="914400" y="3720125"/>
            <a:chExt cx="7487700" cy="971125"/>
          </a:xfrm>
        </p:grpSpPr>
        <p:sp>
          <p:nvSpPr>
            <p:cNvPr id="1604" name="Google Shape;1604;p58"/>
            <p:cNvSpPr/>
            <p:nvPr/>
          </p:nvSpPr>
          <p:spPr>
            <a:xfrm>
              <a:off x="1143000" y="3770550"/>
              <a:ext cx="7259100" cy="920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8"/>
            <p:cNvSpPr/>
            <p:nvPr/>
          </p:nvSpPr>
          <p:spPr>
            <a:xfrm>
              <a:off x="2221925" y="4163000"/>
              <a:ext cx="885300" cy="386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8"/>
            <p:cNvSpPr txBox="1"/>
            <p:nvPr/>
          </p:nvSpPr>
          <p:spPr>
            <a:xfrm>
              <a:off x="914400" y="3720125"/>
              <a:ext cx="741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Theorem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(informal): we can efficiently find </a:t>
              </a:r>
              <a:r>
                <a:rPr lang="en-GB" sz="1700" i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such that:</a:t>
              </a:r>
              <a:endParaRPr sz="17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607" name="Google Shape;1607;p58" descr="f(x) \geq a^\top W_2 D z_1 + b^\prime" title="MathEquation,#000000"/>
            <p:cNvPicPr preferRelativeResize="0"/>
            <p:nvPr/>
          </p:nvPicPr>
          <p:blipFill>
            <a:blip r:embed="rId14"/>
            <a:stretch>
              <a:fillRect/>
            </a:stretch>
          </p:blipFill>
          <p:spPr>
            <a:xfrm>
              <a:off x="1419400" y="4233682"/>
              <a:ext cx="2420750" cy="32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8" name="Google Shape;1608;p58" descr="D, \ b^\prime" title="MathEquation,#000000"/>
            <p:cNvPicPr preferRelativeResize="0"/>
            <p:nvPr/>
          </p:nvPicPr>
          <p:blipFill>
            <a:blip r:embed="rId15"/>
            <a:stretch>
              <a:fillRect/>
            </a:stretch>
          </p:blipFill>
          <p:spPr>
            <a:xfrm>
              <a:off x="6025500" y="3807898"/>
              <a:ext cx="498124" cy="27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9" name="Google Shape;1609;p58"/>
            <p:cNvGrpSpPr/>
            <p:nvPr/>
          </p:nvGrpSpPr>
          <p:grpSpPr>
            <a:xfrm>
              <a:off x="3899004" y="4202363"/>
              <a:ext cx="4413370" cy="386400"/>
              <a:chOff x="4127604" y="4202363"/>
              <a:chExt cx="4413370" cy="386400"/>
            </a:xfrm>
          </p:grpSpPr>
          <p:sp>
            <p:nvSpPr>
              <p:cNvPr id="1610" name="Google Shape;1610;p58"/>
              <p:cNvSpPr/>
              <p:nvPr/>
            </p:nvSpPr>
            <p:spPr>
              <a:xfrm>
                <a:off x="6106675" y="4202363"/>
                <a:ext cx="681600" cy="3864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11" name="Google Shape;1611;p58" descr="f(x) \geq a^\top W_2 z_2 + b" title="MathEquation,#000000"/>
              <p:cNvPicPr preferRelativeResize="0"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23838" y="4233687"/>
                <a:ext cx="2140496" cy="323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2" name="Google Shape;1612;p58"/>
              <p:cNvSpPr/>
              <p:nvPr/>
            </p:nvSpPr>
            <p:spPr>
              <a:xfrm>
                <a:off x="4127604" y="4305338"/>
                <a:ext cx="1039500" cy="186600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13" name="Google Shape;1613;p58" descr="\forall x \in \mathcal{S}, \ f(x) &gt; 0" title="MathEquation,#000000"/>
              <p:cNvPicPr preferRelativeResize="0"/>
              <p:nvPr/>
            </p:nvPicPr>
            <p:blipFill rotWithShape="1">
              <a:blip r:embed="rId17"/>
              <a:srcRect r="59270"/>
              <a:stretch>
                <a:fillRect/>
              </a:stretch>
            </p:blipFill>
            <p:spPr>
              <a:xfrm>
                <a:off x="7727850" y="4217138"/>
                <a:ext cx="813124" cy="356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14" name="Google Shape;1614;p58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5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620" name="Google Shape;1620;p59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21" name="Google Shape;1621;p59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/>
              <a:t>Proof sketch</a:t>
            </a:r>
            <a:r>
              <a:rPr lang="en-GB" sz="1800"/>
              <a:t>: conservatively use </a:t>
            </a:r>
            <a:r>
              <a:rPr lang="en-GB" sz="1800">
                <a:solidFill>
                  <a:srgbClr val="0000FF"/>
                </a:solidFill>
              </a:rPr>
              <a:t>linear bounds</a:t>
            </a:r>
            <a:r>
              <a:rPr lang="en-GB" sz="1800"/>
              <a:t> to </a:t>
            </a:r>
            <a:r>
              <a:rPr lang="en-GB" sz="1800">
                <a:solidFill>
                  <a:srgbClr val="0000FF"/>
                </a:solidFill>
              </a:rPr>
              <a:t>replace a non-linear function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622" name="Google Shape;1622;p59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44</a:t>
            </a:fld>
            <a:endParaRPr lang="en-GB"/>
          </a:p>
        </p:txBody>
      </p:sp>
      <p:grpSp>
        <p:nvGrpSpPr>
          <p:cNvPr id="1623" name="Google Shape;1623;p59"/>
          <p:cNvGrpSpPr/>
          <p:nvPr/>
        </p:nvGrpSpPr>
        <p:grpSpPr>
          <a:xfrm>
            <a:off x="1543125" y="1694591"/>
            <a:ext cx="2137857" cy="1467000"/>
            <a:chOff x="3722450" y="676325"/>
            <a:chExt cx="2510400" cy="1956000"/>
          </a:xfrm>
        </p:grpSpPr>
        <p:cxnSp>
          <p:nvCxnSpPr>
            <p:cNvPr id="1624" name="Google Shape;1624;p59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625" name="Google Shape;1625;p59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626" name="Google Shape;1626;p59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7" name="Google Shape;1627;p59"/>
            <p:cNvCxnSpPr/>
            <p:nvPr/>
          </p:nvCxnSpPr>
          <p:spPr>
            <a:xfrm rot="10800000" flipH="1">
              <a:off x="5060625" y="140265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8" name="Google Shape;1628;p59"/>
            <p:cNvCxnSpPr/>
            <p:nvPr/>
          </p:nvCxnSpPr>
          <p:spPr>
            <a:xfrm>
              <a:off x="4054527" y="676325"/>
              <a:ext cx="0" cy="1956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29" name="Google Shape;1629;p59"/>
            <p:cNvCxnSpPr/>
            <p:nvPr/>
          </p:nvCxnSpPr>
          <p:spPr>
            <a:xfrm>
              <a:off x="5549800" y="728900"/>
              <a:ext cx="0" cy="19032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30" name="Google Shape;1630;p59"/>
            <p:cNvCxnSpPr/>
            <p:nvPr/>
          </p:nvCxnSpPr>
          <p:spPr>
            <a:xfrm rot="10800000" flipH="1">
              <a:off x="3722450" y="1238854"/>
              <a:ext cx="2380200" cy="7368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31" name="Google Shape;1631;p59"/>
            <p:cNvCxnSpPr/>
            <p:nvPr/>
          </p:nvCxnSpPr>
          <p:spPr>
            <a:xfrm rot="10800000" flipH="1">
              <a:off x="3806820" y="1397971"/>
              <a:ext cx="2283900" cy="10920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632" name="Google Shape;1632;p59"/>
          <p:cNvSpPr txBox="1"/>
          <p:nvPr/>
        </p:nvSpPr>
        <p:spPr>
          <a:xfrm>
            <a:off x="457200" y="3146300"/>
            <a:ext cx="4343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Pre-activation bounds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(can be pre-computed using CROWN)</a:t>
            </a:r>
            <a:endParaRPr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633" name="Google Shape;1633;p59"/>
          <p:cNvSpPr/>
          <p:nvPr/>
        </p:nvSpPr>
        <p:spPr>
          <a:xfrm rot="-5400000">
            <a:off x="2390425" y="2593100"/>
            <a:ext cx="137100" cy="12741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4" name="Google Shape;1634;p59"/>
          <p:cNvGrpSpPr/>
          <p:nvPr/>
        </p:nvGrpSpPr>
        <p:grpSpPr>
          <a:xfrm>
            <a:off x="5333325" y="1808675"/>
            <a:ext cx="2346675" cy="1634541"/>
            <a:chOff x="5561925" y="2875475"/>
            <a:chExt cx="2346675" cy="1634541"/>
          </a:xfrm>
        </p:grpSpPr>
        <p:cxnSp>
          <p:nvCxnSpPr>
            <p:cNvPr id="1635" name="Google Shape;1635;p59"/>
            <p:cNvCxnSpPr/>
            <p:nvPr/>
          </p:nvCxnSpPr>
          <p:spPr>
            <a:xfrm>
              <a:off x="6750250" y="2875475"/>
              <a:ext cx="8700" cy="1575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636" name="Google Shape;1636;p59"/>
            <p:cNvCxnSpPr/>
            <p:nvPr/>
          </p:nvCxnSpPr>
          <p:spPr>
            <a:xfrm rot="10800000" flipH="1">
              <a:off x="5561925" y="3656925"/>
              <a:ext cx="2214600" cy="1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637" name="Google Shape;1637;p59"/>
            <p:cNvCxnSpPr/>
            <p:nvPr/>
          </p:nvCxnSpPr>
          <p:spPr>
            <a:xfrm>
              <a:off x="6201647" y="2925416"/>
              <a:ext cx="6600" cy="1584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38" name="Google Shape;1638;p59"/>
            <p:cNvCxnSpPr/>
            <p:nvPr/>
          </p:nvCxnSpPr>
          <p:spPr>
            <a:xfrm rot="10800000" flipH="1">
              <a:off x="6188125" y="3258725"/>
              <a:ext cx="1230000" cy="10335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39" name="Google Shape;1639;p59"/>
            <p:cNvCxnSpPr/>
            <p:nvPr/>
          </p:nvCxnSpPr>
          <p:spPr>
            <a:xfrm rot="10800000" flipH="1">
              <a:off x="6210875" y="2881875"/>
              <a:ext cx="1182900" cy="11715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40" name="Google Shape;1640;p59"/>
            <p:cNvCxnSpPr/>
            <p:nvPr/>
          </p:nvCxnSpPr>
          <p:spPr>
            <a:xfrm>
              <a:off x="7392147" y="2929466"/>
              <a:ext cx="0" cy="1467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641" name="Google Shape;1641;p59"/>
            <p:cNvSpPr/>
            <p:nvPr/>
          </p:nvSpPr>
          <p:spPr>
            <a:xfrm>
              <a:off x="5888500" y="3258875"/>
              <a:ext cx="1800931" cy="801929"/>
            </a:xfrm>
            <a:custGeom>
              <a:avLst/>
              <a:gdLst/>
              <a:ahLst/>
              <a:cxnLst/>
              <a:rect l="l" t="t" r="r" b="b"/>
              <a:pathLst>
                <a:path w="72254" h="31246" extrusionOk="0">
                  <a:moveTo>
                    <a:pt x="0" y="30604"/>
                  </a:moveTo>
                  <a:cubicBezTo>
                    <a:pt x="4354" y="30264"/>
                    <a:pt x="18913" y="33190"/>
                    <a:pt x="26125" y="28563"/>
                  </a:cubicBezTo>
                  <a:cubicBezTo>
                    <a:pt x="33337" y="23937"/>
                    <a:pt x="35582" y="7540"/>
                    <a:pt x="43270" y="2845"/>
                  </a:cubicBezTo>
                  <a:cubicBezTo>
                    <a:pt x="50958" y="-1849"/>
                    <a:pt x="67423" y="804"/>
                    <a:pt x="72254" y="396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" name="Google Shape;1642;p59"/>
            <p:cNvSpPr/>
            <p:nvPr/>
          </p:nvSpPr>
          <p:spPr>
            <a:xfrm>
              <a:off x="5707025" y="3896375"/>
              <a:ext cx="410100" cy="423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9"/>
            <p:cNvSpPr/>
            <p:nvPr/>
          </p:nvSpPr>
          <p:spPr>
            <a:xfrm>
              <a:off x="7498500" y="3034025"/>
              <a:ext cx="410100" cy="423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44" name="Google Shape;1644;p59"/>
            <p:cNvCxnSpPr/>
            <p:nvPr/>
          </p:nvCxnSpPr>
          <p:spPr>
            <a:xfrm rot="10800000" flipH="1">
              <a:off x="5655450" y="4058450"/>
              <a:ext cx="600900" cy="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5" name="Google Shape;1645;p59"/>
            <p:cNvCxnSpPr/>
            <p:nvPr/>
          </p:nvCxnSpPr>
          <p:spPr>
            <a:xfrm>
              <a:off x="7428250" y="3261000"/>
              <a:ext cx="437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46" name="Google Shape;1646;p59"/>
          <p:cNvGrpSpPr/>
          <p:nvPr/>
        </p:nvGrpSpPr>
        <p:grpSpPr>
          <a:xfrm>
            <a:off x="914400" y="3796325"/>
            <a:ext cx="7487700" cy="971125"/>
            <a:chOff x="914400" y="3720125"/>
            <a:chExt cx="7487700" cy="971125"/>
          </a:xfrm>
        </p:grpSpPr>
        <p:sp>
          <p:nvSpPr>
            <p:cNvPr id="1647" name="Google Shape;1647;p59"/>
            <p:cNvSpPr/>
            <p:nvPr/>
          </p:nvSpPr>
          <p:spPr>
            <a:xfrm>
              <a:off x="1143000" y="3770550"/>
              <a:ext cx="7259100" cy="920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9"/>
            <p:cNvSpPr/>
            <p:nvPr/>
          </p:nvSpPr>
          <p:spPr>
            <a:xfrm>
              <a:off x="2221925" y="4163000"/>
              <a:ext cx="885300" cy="386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9"/>
            <p:cNvSpPr txBox="1"/>
            <p:nvPr/>
          </p:nvSpPr>
          <p:spPr>
            <a:xfrm>
              <a:off x="914400" y="3720125"/>
              <a:ext cx="741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Theorem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(informal): we can efficiently find </a:t>
              </a:r>
              <a:r>
                <a:rPr lang="en-GB" sz="1700" i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such that:</a:t>
              </a:r>
              <a:endParaRPr sz="17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650" name="Google Shape;1650;p59" descr="f(x) \geq a^\top W_2 D z_1 + b^\prime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419400" y="4233682"/>
              <a:ext cx="2420750" cy="32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1" name="Google Shape;1651;p59" descr="D, \ b^\prime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6025500" y="3807898"/>
              <a:ext cx="498124" cy="27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52" name="Google Shape;1652;p59"/>
            <p:cNvGrpSpPr/>
            <p:nvPr/>
          </p:nvGrpSpPr>
          <p:grpSpPr>
            <a:xfrm>
              <a:off x="3899004" y="4202363"/>
              <a:ext cx="4413370" cy="386400"/>
              <a:chOff x="4127604" y="4202363"/>
              <a:chExt cx="4413370" cy="386400"/>
            </a:xfrm>
          </p:grpSpPr>
          <p:sp>
            <p:nvSpPr>
              <p:cNvPr id="1653" name="Google Shape;1653;p59"/>
              <p:cNvSpPr/>
              <p:nvPr/>
            </p:nvSpPr>
            <p:spPr>
              <a:xfrm>
                <a:off x="6106675" y="4202363"/>
                <a:ext cx="681600" cy="3864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54" name="Google Shape;1654;p59" descr="f(x) \geq a^\top W_2 z_2 + b" title="MathEquation,#00000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3838" y="4233687"/>
                <a:ext cx="2140496" cy="323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5" name="Google Shape;1655;p59"/>
              <p:cNvSpPr/>
              <p:nvPr/>
            </p:nvSpPr>
            <p:spPr>
              <a:xfrm>
                <a:off x="4127604" y="4305338"/>
                <a:ext cx="1039500" cy="186600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56" name="Google Shape;1656;p59" descr="\forall x \in \mathcal{S}, \ f(x) &gt; 0" title="MathEquation,#000000"/>
              <p:cNvPicPr preferRelativeResize="0"/>
              <p:nvPr/>
            </p:nvPicPr>
            <p:blipFill rotWithShape="1">
              <a:blip r:embed="rId6"/>
              <a:srcRect r="59270"/>
              <a:stretch>
                <a:fillRect/>
              </a:stretch>
            </p:blipFill>
            <p:spPr>
              <a:xfrm>
                <a:off x="7727850" y="4217138"/>
                <a:ext cx="813124" cy="356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57" name="Google Shape;1657;p59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2" name="Google Shape;1662;p60"/>
          <p:cNvCxnSpPr/>
          <p:nvPr/>
        </p:nvCxnSpPr>
        <p:spPr>
          <a:xfrm rot="10800000" flipH="1">
            <a:off x="5702233" y="2146553"/>
            <a:ext cx="1335900" cy="11706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63" name="Google Shape;1663;p6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664" name="Google Shape;1664;p60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5" name="Google Shape;1665;p60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7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/>
              <a:t>Proof sketch</a:t>
            </a:r>
            <a:r>
              <a:rPr lang="en-GB" sz="1800"/>
              <a:t>: conservatively use </a:t>
            </a:r>
            <a:r>
              <a:rPr lang="en-GB" sz="1800">
                <a:solidFill>
                  <a:srgbClr val="0000FF"/>
                </a:solidFill>
              </a:rPr>
              <a:t>linear bounds</a:t>
            </a:r>
            <a:r>
              <a:rPr lang="en-GB" sz="1800"/>
              <a:t> to </a:t>
            </a:r>
            <a:r>
              <a:rPr lang="en-GB" sz="1800">
                <a:solidFill>
                  <a:srgbClr val="0000FF"/>
                </a:solidFill>
              </a:rPr>
              <a:t>replace a non-linear function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666" name="Google Shape;1666;p60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45</a:t>
            </a:fld>
            <a:endParaRPr lang="en-GB"/>
          </a:p>
        </p:txBody>
      </p:sp>
      <p:grpSp>
        <p:nvGrpSpPr>
          <p:cNvPr id="1667" name="Google Shape;1667;p60"/>
          <p:cNvGrpSpPr/>
          <p:nvPr/>
        </p:nvGrpSpPr>
        <p:grpSpPr>
          <a:xfrm>
            <a:off x="1543125" y="1694591"/>
            <a:ext cx="2137857" cy="1467000"/>
            <a:chOff x="3722450" y="676325"/>
            <a:chExt cx="2510400" cy="1956000"/>
          </a:xfrm>
        </p:grpSpPr>
        <p:cxnSp>
          <p:nvCxnSpPr>
            <p:cNvPr id="1668" name="Google Shape;1668;p60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669" name="Google Shape;1669;p60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670" name="Google Shape;1670;p60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1" name="Google Shape;1671;p60"/>
            <p:cNvCxnSpPr/>
            <p:nvPr/>
          </p:nvCxnSpPr>
          <p:spPr>
            <a:xfrm rot="10800000" flipH="1">
              <a:off x="5060625" y="140265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2" name="Google Shape;1672;p60"/>
            <p:cNvCxnSpPr/>
            <p:nvPr/>
          </p:nvCxnSpPr>
          <p:spPr>
            <a:xfrm>
              <a:off x="4054527" y="676325"/>
              <a:ext cx="0" cy="1956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73" name="Google Shape;1673;p60"/>
            <p:cNvCxnSpPr/>
            <p:nvPr/>
          </p:nvCxnSpPr>
          <p:spPr>
            <a:xfrm>
              <a:off x="5549800" y="728900"/>
              <a:ext cx="0" cy="19032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74" name="Google Shape;1674;p60"/>
            <p:cNvCxnSpPr/>
            <p:nvPr/>
          </p:nvCxnSpPr>
          <p:spPr>
            <a:xfrm rot="10800000" flipH="1">
              <a:off x="3722450" y="1238854"/>
              <a:ext cx="2380200" cy="7368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75" name="Google Shape;1675;p60"/>
            <p:cNvCxnSpPr/>
            <p:nvPr/>
          </p:nvCxnSpPr>
          <p:spPr>
            <a:xfrm rot="10800000" flipH="1">
              <a:off x="3806820" y="1397971"/>
              <a:ext cx="2283900" cy="10920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676" name="Google Shape;1676;p60"/>
          <p:cNvSpPr txBox="1"/>
          <p:nvPr/>
        </p:nvSpPr>
        <p:spPr>
          <a:xfrm>
            <a:off x="457200" y="3146300"/>
            <a:ext cx="4343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Pre-activation bounds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(can be pre-computed using CROWN)</a:t>
            </a:r>
            <a:endParaRPr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677" name="Google Shape;1677;p60"/>
          <p:cNvSpPr/>
          <p:nvPr/>
        </p:nvSpPr>
        <p:spPr>
          <a:xfrm rot="-5400000">
            <a:off x="2390425" y="2593100"/>
            <a:ext cx="137100" cy="12741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8" name="Google Shape;1678;p60"/>
          <p:cNvGrpSpPr/>
          <p:nvPr/>
        </p:nvGrpSpPr>
        <p:grpSpPr>
          <a:xfrm>
            <a:off x="914400" y="3796325"/>
            <a:ext cx="7487700" cy="971125"/>
            <a:chOff x="914400" y="3720125"/>
            <a:chExt cx="7487700" cy="971125"/>
          </a:xfrm>
        </p:grpSpPr>
        <p:sp>
          <p:nvSpPr>
            <p:cNvPr id="1679" name="Google Shape;1679;p60"/>
            <p:cNvSpPr/>
            <p:nvPr/>
          </p:nvSpPr>
          <p:spPr>
            <a:xfrm>
              <a:off x="1143000" y="3770550"/>
              <a:ext cx="7259100" cy="920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60"/>
            <p:cNvSpPr/>
            <p:nvPr/>
          </p:nvSpPr>
          <p:spPr>
            <a:xfrm>
              <a:off x="2221925" y="4163000"/>
              <a:ext cx="885300" cy="386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60"/>
            <p:cNvSpPr txBox="1"/>
            <p:nvPr/>
          </p:nvSpPr>
          <p:spPr>
            <a:xfrm>
              <a:off x="914400" y="3720125"/>
              <a:ext cx="741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Theorem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(informal): we can efficiently find </a:t>
              </a:r>
              <a:r>
                <a:rPr lang="en-GB" sz="1700" i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such that:</a:t>
              </a:r>
              <a:endParaRPr sz="17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682" name="Google Shape;1682;p60" descr="f(x) \geq a^\top W_2 D z_1 + b^\prime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419400" y="4233682"/>
              <a:ext cx="2420750" cy="32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3" name="Google Shape;1683;p60" descr="D, \ b^\prime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6025500" y="3807898"/>
              <a:ext cx="498124" cy="27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4" name="Google Shape;1684;p60"/>
            <p:cNvGrpSpPr/>
            <p:nvPr/>
          </p:nvGrpSpPr>
          <p:grpSpPr>
            <a:xfrm>
              <a:off x="3899004" y="4202363"/>
              <a:ext cx="4413370" cy="386400"/>
              <a:chOff x="4127604" y="4202363"/>
              <a:chExt cx="4413370" cy="386400"/>
            </a:xfrm>
          </p:grpSpPr>
          <p:sp>
            <p:nvSpPr>
              <p:cNvPr id="1685" name="Google Shape;1685;p60"/>
              <p:cNvSpPr/>
              <p:nvPr/>
            </p:nvSpPr>
            <p:spPr>
              <a:xfrm>
                <a:off x="6106675" y="4202363"/>
                <a:ext cx="681600" cy="3864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86" name="Google Shape;1686;p60" descr="f(x) \geq a^\top W_2 z_2 + b" title="MathEquation,#00000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3838" y="4233687"/>
                <a:ext cx="2140496" cy="323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7" name="Google Shape;1687;p60"/>
              <p:cNvSpPr/>
              <p:nvPr/>
            </p:nvSpPr>
            <p:spPr>
              <a:xfrm>
                <a:off x="4127604" y="4305338"/>
                <a:ext cx="1039500" cy="186600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88" name="Google Shape;1688;p60" descr="\forall x \in \mathcal{S}, \ f(x) &gt; 0" title="MathEquation,#000000"/>
              <p:cNvPicPr preferRelativeResize="0"/>
              <p:nvPr/>
            </p:nvPicPr>
            <p:blipFill rotWithShape="1">
              <a:blip r:embed="rId6"/>
              <a:srcRect r="59270"/>
              <a:stretch>
                <a:fillRect/>
              </a:stretch>
            </p:blipFill>
            <p:spPr>
              <a:xfrm>
                <a:off x="7727850" y="4217138"/>
                <a:ext cx="813124" cy="356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89" name="Google Shape;1689;p60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690" name="Google Shape;1690;p60"/>
          <p:cNvCxnSpPr/>
          <p:nvPr/>
        </p:nvCxnSpPr>
        <p:spPr>
          <a:xfrm>
            <a:off x="5322473" y="2768716"/>
            <a:ext cx="2044800" cy="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691" name="Google Shape;1691;p60"/>
          <p:cNvGrpSpPr/>
          <p:nvPr/>
        </p:nvGrpSpPr>
        <p:grpSpPr>
          <a:xfrm>
            <a:off x="5327751" y="1830174"/>
            <a:ext cx="2034180" cy="1335499"/>
            <a:chOff x="3921281" y="676325"/>
            <a:chExt cx="2311569" cy="1723225"/>
          </a:xfrm>
        </p:grpSpPr>
        <p:cxnSp>
          <p:nvCxnSpPr>
            <p:cNvPr id="1692" name="Google Shape;1692;p60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93" name="Google Shape;1693;p60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694" name="Google Shape;1694;p60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5" name="Google Shape;1695;p60"/>
            <p:cNvCxnSpPr/>
            <p:nvPr/>
          </p:nvCxnSpPr>
          <p:spPr>
            <a:xfrm rot="10800000" flipH="1">
              <a:off x="5060625" y="140265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6" name="Google Shape;1696;p60"/>
            <p:cNvCxnSpPr/>
            <p:nvPr/>
          </p:nvCxnSpPr>
          <p:spPr>
            <a:xfrm>
              <a:off x="4054527" y="676325"/>
              <a:ext cx="0" cy="1551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97" name="Google Shape;1697;p60"/>
            <p:cNvCxnSpPr/>
            <p:nvPr/>
          </p:nvCxnSpPr>
          <p:spPr>
            <a:xfrm>
              <a:off x="5549800" y="728900"/>
              <a:ext cx="0" cy="1153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98" name="Google Shape;1698;p60"/>
            <p:cNvCxnSpPr/>
            <p:nvPr/>
          </p:nvCxnSpPr>
          <p:spPr>
            <a:xfrm rot="10800000" flipH="1">
              <a:off x="3921281" y="1473588"/>
              <a:ext cx="2195100" cy="843600"/>
            </a:xfrm>
            <a:prstGeom prst="straightConnector1">
              <a:avLst/>
            </a:prstGeom>
            <a:noFill/>
            <a:ln w="19050" cap="flat" cmpd="sng">
              <a:solidFill>
                <a:srgbClr val="6FA8DC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pic>
        <p:nvPicPr>
          <p:cNvPr id="1699" name="Google Shape;1699;p60" descr="\alpha = 0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6842748" y="2804530"/>
            <a:ext cx="392564" cy="13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60" descr="\alpha = 0.5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7288029" y="2375009"/>
            <a:ext cx="505394" cy="13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60" descr="\alpha = 1.0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7038200" y="2015923"/>
            <a:ext cx="481110" cy="1305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60"/>
          <p:cNvSpPr txBox="1"/>
          <p:nvPr/>
        </p:nvSpPr>
        <p:spPr>
          <a:xfrm>
            <a:off x="4537025" y="3204225"/>
            <a:ext cx="434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ReLU’s lower bound can be optimized (</a:t>
            </a:r>
            <a:r>
              <a:rPr lang="en-GB" b="1" i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α</a:t>
            </a: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-</a:t>
            </a: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CROWN)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6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708" name="Google Shape;1708;p61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09" name="Google Shape;1709;p61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/>
              <a:t>Proof sketch</a:t>
            </a:r>
            <a:r>
              <a:rPr lang="en-GB" sz="1800"/>
              <a:t>: conservatively use </a:t>
            </a:r>
            <a:r>
              <a:rPr lang="en-GB" sz="1800">
                <a:solidFill>
                  <a:srgbClr val="0000FF"/>
                </a:solidFill>
              </a:rPr>
              <a:t>linear bounds</a:t>
            </a:r>
            <a:r>
              <a:rPr lang="en-GB" sz="1800"/>
              <a:t> to </a:t>
            </a:r>
            <a:r>
              <a:rPr lang="en-GB" sz="1800">
                <a:solidFill>
                  <a:srgbClr val="0000FF"/>
                </a:solidFill>
              </a:rPr>
              <a:t>replace a non-linear function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710" name="Google Shape;1710;p61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46</a:t>
            </a:fld>
            <a:endParaRPr lang="en-GB"/>
          </a:p>
        </p:txBody>
      </p:sp>
      <p:grpSp>
        <p:nvGrpSpPr>
          <p:cNvPr id="1711" name="Google Shape;1711;p61"/>
          <p:cNvGrpSpPr/>
          <p:nvPr/>
        </p:nvGrpSpPr>
        <p:grpSpPr>
          <a:xfrm>
            <a:off x="1543125" y="1694591"/>
            <a:ext cx="2137857" cy="1467000"/>
            <a:chOff x="3722450" y="676325"/>
            <a:chExt cx="2510400" cy="1956000"/>
          </a:xfrm>
        </p:grpSpPr>
        <p:cxnSp>
          <p:nvCxnSpPr>
            <p:cNvPr id="1712" name="Google Shape;1712;p61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713" name="Google Shape;1713;p61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714" name="Google Shape;1714;p61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5" name="Google Shape;1715;p61"/>
            <p:cNvCxnSpPr/>
            <p:nvPr/>
          </p:nvCxnSpPr>
          <p:spPr>
            <a:xfrm rot="10800000" flipH="1">
              <a:off x="5060625" y="140265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6" name="Google Shape;1716;p61"/>
            <p:cNvCxnSpPr/>
            <p:nvPr/>
          </p:nvCxnSpPr>
          <p:spPr>
            <a:xfrm>
              <a:off x="4054527" y="676325"/>
              <a:ext cx="0" cy="1956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717" name="Google Shape;1717;p61"/>
            <p:cNvCxnSpPr/>
            <p:nvPr/>
          </p:nvCxnSpPr>
          <p:spPr>
            <a:xfrm>
              <a:off x="5549800" y="728900"/>
              <a:ext cx="0" cy="19032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718" name="Google Shape;1718;p61"/>
            <p:cNvCxnSpPr/>
            <p:nvPr/>
          </p:nvCxnSpPr>
          <p:spPr>
            <a:xfrm rot="10800000" flipH="1">
              <a:off x="3722450" y="1238854"/>
              <a:ext cx="2380200" cy="7368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719" name="Google Shape;1719;p61"/>
            <p:cNvCxnSpPr/>
            <p:nvPr/>
          </p:nvCxnSpPr>
          <p:spPr>
            <a:xfrm rot="10800000" flipH="1">
              <a:off x="3806820" y="1397971"/>
              <a:ext cx="2283900" cy="1092000"/>
            </a:xfrm>
            <a:prstGeom prst="straightConnector1">
              <a:avLst/>
            </a:prstGeom>
            <a:noFill/>
            <a:ln w="19050" cap="flat" cmpd="sng">
              <a:solidFill>
                <a:srgbClr val="99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0" name="Google Shape;1720;p61"/>
          <p:cNvGrpSpPr/>
          <p:nvPr/>
        </p:nvGrpSpPr>
        <p:grpSpPr>
          <a:xfrm>
            <a:off x="914400" y="3796325"/>
            <a:ext cx="7487700" cy="971125"/>
            <a:chOff x="914400" y="3720125"/>
            <a:chExt cx="7487700" cy="971125"/>
          </a:xfrm>
        </p:grpSpPr>
        <p:sp>
          <p:nvSpPr>
            <p:cNvPr id="1721" name="Google Shape;1721;p61"/>
            <p:cNvSpPr/>
            <p:nvPr/>
          </p:nvSpPr>
          <p:spPr>
            <a:xfrm>
              <a:off x="1143000" y="3770550"/>
              <a:ext cx="7259100" cy="920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61"/>
            <p:cNvSpPr/>
            <p:nvPr/>
          </p:nvSpPr>
          <p:spPr>
            <a:xfrm>
              <a:off x="2221925" y="4163000"/>
              <a:ext cx="885300" cy="386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61"/>
            <p:cNvSpPr txBox="1"/>
            <p:nvPr/>
          </p:nvSpPr>
          <p:spPr>
            <a:xfrm>
              <a:off x="914400" y="3720125"/>
              <a:ext cx="741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Theorem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(informal): we can efficiently find </a:t>
              </a:r>
              <a:r>
                <a:rPr lang="en-GB" sz="1700" i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such that:</a:t>
              </a:r>
              <a:endParaRPr sz="17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724" name="Google Shape;1724;p61" descr="f(x) \geq a^\top W_2 D z_1 + b^\prime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419400" y="4233682"/>
              <a:ext cx="2420750" cy="32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5" name="Google Shape;1725;p61" descr="D, \ b^\prime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6025500" y="3807898"/>
              <a:ext cx="498124" cy="27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26" name="Google Shape;1726;p61"/>
            <p:cNvGrpSpPr/>
            <p:nvPr/>
          </p:nvGrpSpPr>
          <p:grpSpPr>
            <a:xfrm>
              <a:off x="3899004" y="4202363"/>
              <a:ext cx="4413370" cy="386400"/>
              <a:chOff x="4127604" y="4202363"/>
              <a:chExt cx="4413370" cy="386400"/>
            </a:xfrm>
          </p:grpSpPr>
          <p:sp>
            <p:nvSpPr>
              <p:cNvPr id="1727" name="Google Shape;1727;p61"/>
              <p:cNvSpPr/>
              <p:nvPr/>
            </p:nvSpPr>
            <p:spPr>
              <a:xfrm>
                <a:off x="6106675" y="4202363"/>
                <a:ext cx="681600" cy="3864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728" name="Google Shape;1728;p61" descr="f(x) \geq a^\top W_2 z_2 + b" title="MathEquation,#00000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3838" y="4233687"/>
                <a:ext cx="2140496" cy="323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9" name="Google Shape;1729;p61"/>
              <p:cNvSpPr/>
              <p:nvPr/>
            </p:nvSpPr>
            <p:spPr>
              <a:xfrm>
                <a:off x="4127604" y="4305338"/>
                <a:ext cx="1039500" cy="186600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730" name="Google Shape;1730;p61" descr="\forall x \in \mathcal{S}, \ f(x) &gt; 0" title="MathEquation,#000000"/>
              <p:cNvPicPr preferRelativeResize="0"/>
              <p:nvPr/>
            </p:nvPicPr>
            <p:blipFill rotWithShape="1">
              <a:blip r:embed="rId6"/>
              <a:srcRect r="59270"/>
              <a:stretch>
                <a:fillRect/>
              </a:stretch>
            </p:blipFill>
            <p:spPr>
              <a:xfrm>
                <a:off x="7727850" y="4217138"/>
                <a:ext cx="813124" cy="356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731" name="Google Shape;1731;p61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732" name="Google Shape;1732;p61"/>
          <p:cNvGrpSpPr/>
          <p:nvPr/>
        </p:nvGrpSpPr>
        <p:grpSpPr>
          <a:xfrm>
            <a:off x="5634492" y="2443879"/>
            <a:ext cx="3171838" cy="1332549"/>
            <a:chOff x="5794575" y="2571750"/>
            <a:chExt cx="3667713" cy="1540876"/>
          </a:xfrm>
        </p:grpSpPr>
        <p:cxnSp>
          <p:nvCxnSpPr>
            <p:cNvPr id="1733" name="Google Shape;1733;p61"/>
            <p:cNvCxnSpPr/>
            <p:nvPr/>
          </p:nvCxnSpPr>
          <p:spPr>
            <a:xfrm flipH="1">
              <a:off x="5794575" y="2571750"/>
              <a:ext cx="751500" cy="55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34" name="Google Shape;1734;p61"/>
            <p:cNvSpPr txBox="1"/>
            <p:nvPr/>
          </p:nvSpPr>
          <p:spPr>
            <a:xfrm>
              <a:off x="6390588" y="3018033"/>
              <a:ext cx="30717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Choose </a:t>
              </a:r>
              <a:r>
                <a:rPr lang="en-GB" sz="1800">
                  <a:solidFill>
                    <a:srgbClr val="9900FF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lower bound</a:t>
              </a:r>
              <a:endParaRPr sz="1800">
                <a:solidFill>
                  <a:srgbClr val="99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1735" name="Google Shape;1735;p61"/>
            <p:cNvSpPr txBox="1"/>
            <p:nvPr/>
          </p:nvSpPr>
          <p:spPr>
            <a:xfrm>
              <a:off x="6390588" y="3578626"/>
              <a:ext cx="30717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Choose </a:t>
              </a:r>
              <a:r>
                <a:rPr lang="en-GB" sz="1800">
                  <a:solidFill>
                    <a:srgbClr val="38761D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upper bound</a:t>
              </a:r>
              <a:endParaRPr sz="1800">
                <a:solidFill>
                  <a:srgbClr val="38761D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cxnSp>
          <p:nvCxnSpPr>
            <p:cNvPr id="1736" name="Google Shape;1736;p61"/>
            <p:cNvCxnSpPr/>
            <p:nvPr/>
          </p:nvCxnSpPr>
          <p:spPr>
            <a:xfrm>
              <a:off x="7620300" y="2571750"/>
              <a:ext cx="408000" cy="610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1737" name="Google Shape;1737;p61" descr="f(x) \geq a^\top W_2 z_2 + b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472150" y="1694600"/>
            <a:ext cx="2340450" cy="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61" descr="\displaystyle f(x) \geq \sum_{j} \left [ (a^\top W_2)_j \cdot z_{2,j} \right ] + b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518700" y="2178300"/>
            <a:ext cx="3456000" cy="6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61" descr="(a^\top W_2)_j \geq 0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4821050" y="2912393"/>
            <a:ext cx="1274100" cy="289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61" descr="(a^\top W_2)_j &lt; 0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4842973" y="3365986"/>
            <a:ext cx="1274092" cy="2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61" descr="z_{2,j}" title="MathEquation,#000000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2339025" y="1694590"/>
            <a:ext cx="310370" cy="1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61" descr="z_{1,j}" title="MathEquation,#000000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3376500" y="2626500"/>
            <a:ext cx="310370" cy="19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6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748" name="Google Shape;1748;p62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749" name="Google Shape;1749;p62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47</a:t>
            </a:fld>
            <a:endParaRPr lang="en-GB"/>
          </a:p>
        </p:txBody>
      </p:sp>
      <p:sp>
        <p:nvSpPr>
          <p:cNvPr id="1750" name="Google Shape;1750;p62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751" name="Google Shape;1751;p62"/>
          <p:cNvGrpSpPr/>
          <p:nvPr/>
        </p:nvGrpSpPr>
        <p:grpSpPr>
          <a:xfrm>
            <a:off x="457596" y="818961"/>
            <a:ext cx="8269329" cy="3778639"/>
            <a:chOff x="152796" y="818961"/>
            <a:chExt cx="8269329" cy="3778639"/>
          </a:xfrm>
        </p:grpSpPr>
        <p:sp>
          <p:nvSpPr>
            <p:cNvPr id="1752" name="Google Shape;1752;p62"/>
            <p:cNvSpPr/>
            <p:nvPr/>
          </p:nvSpPr>
          <p:spPr>
            <a:xfrm>
              <a:off x="269325" y="4072000"/>
              <a:ext cx="8152800" cy="5256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D0000"/>
                </a:solidFill>
              </a:endParaRPr>
            </a:p>
          </p:txBody>
        </p:sp>
        <p:pic>
          <p:nvPicPr>
            <p:cNvPr id="1753" name="Google Shape;1753;p62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367500" y="4150522"/>
              <a:ext cx="2787376" cy="39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4" name="Google Shape;1754;p62"/>
            <p:cNvSpPr txBox="1"/>
            <p:nvPr/>
          </p:nvSpPr>
          <p:spPr>
            <a:xfrm>
              <a:off x="269325" y="4079275"/>
              <a:ext cx="4150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CROWN main theorem </a:t>
              </a:r>
              <a:r>
                <a:rPr lang="en-GB" sz="1800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(simplified):</a:t>
              </a:r>
              <a:endParaRPr sz="1800"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pic>
          <p:nvPicPr>
            <p:cNvPr id="1755" name="Google Shape;1755;p62" descr="\forall x \in \mathcal{S}, \ f(x) &gt; 0" title="MathEquation,#000000"/>
            <p:cNvPicPr preferRelativeResize="0"/>
            <p:nvPr/>
          </p:nvPicPr>
          <p:blipFill rotWithShape="1">
            <a:blip r:embed="rId4"/>
            <a:srcRect r="59270"/>
            <a:stretch>
              <a:fillRect/>
            </a:stretch>
          </p:blipFill>
          <p:spPr>
            <a:xfrm>
              <a:off x="7408400" y="4156375"/>
              <a:ext cx="813124" cy="3568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56" name="Google Shape;1756;p62"/>
            <p:cNvGrpSpPr/>
            <p:nvPr/>
          </p:nvGrpSpPr>
          <p:grpSpPr>
            <a:xfrm>
              <a:off x="152796" y="818961"/>
              <a:ext cx="2229235" cy="1501564"/>
              <a:chOff x="152796" y="895161"/>
              <a:chExt cx="2229235" cy="1501564"/>
            </a:xfrm>
          </p:grpSpPr>
          <p:grpSp>
            <p:nvGrpSpPr>
              <p:cNvPr id="1757" name="Google Shape;1757;p62"/>
              <p:cNvGrpSpPr/>
              <p:nvPr/>
            </p:nvGrpSpPr>
            <p:grpSpPr>
              <a:xfrm>
                <a:off x="152796" y="895161"/>
                <a:ext cx="2229235" cy="1501564"/>
                <a:chOff x="1186700" y="1276188"/>
                <a:chExt cx="2664000" cy="1794412"/>
              </a:xfrm>
            </p:grpSpPr>
            <p:cxnSp>
              <p:nvCxnSpPr>
                <p:cNvPr id="1758" name="Google Shape;1758;p62"/>
                <p:cNvCxnSpPr/>
                <p:nvPr/>
              </p:nvCxnSpPr>
              <p:spPr>
                <a:xfrm>
                  <a:off x="1431294" y="1276188"/>
                  <a:ext cx="0" cy="1755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759" name="Google Shape;1759;p62"/>
                <p:cNvCxnSpPr/>
                <p:nvPr/>
              </p:nvCxnSpPr>
              <p:spPr>
                <a:xfrm>
                  <a:off x="1186700" y="2638288"/>
                  <a:ext cx="26640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1760" name="Google Shape;1760;p62"/>
                <p:cNvSpPr/>
                <p:nvPr/>
              </p:nvSpPr>
              <p:spPr>
                <a:xfrm>
                  <a:off x="1430382" y="1522267"/>
                  <a:ext cx="2319243" cy="1062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44" h="61659" extrusionOk="0">
                      <a:moveTo>
                        <a:pt x="0" y="61659"/>
                      </a:moveTo>
                      <a:cubicBezTo>
                        <a:pt x="3006" y="56696"/>
                        <a:pt x="9788" y="35443"/>
                        <a:pt x="18037" y="31878"/>
                      </a:cubicBezTo>
                      <a:cubicBezTo>
                        <a:pt x="26286" y="28313"/>
                        <a:pt x="41735" y="40826"/>
                        <a:pt x="49495" y="40267"/>
                      </a:cubicBezTo>
                      <a:cubicBezTo>
                        <a:pt x="57255" y="39708"/>
                        <a:pt x="59003" y="29502"/>
                        <a:pt x="64596" y="28523"/>
                      </a:cubicBezTo>
                      <a:cubicBezTo>
                        <a:pt x="70189" y="27544"/>
                        <a:pt x="76829" y="37471"/>
                        <a:pt x="83051" y="34395"/>
                      </a:cubicBezTo>
                      <a:cubicBezTo>
                        <a:pt x="89273" y="31319"/>
                        <a:pt x="93328" y="15800"/>
                        <a:pt x="101927" y="10067"/>
                      </a:cubicBezTo>
                      <a:cubicBezTo>
                        <a:pt x="110526" y="4335"/>
                        <a:pt x="129191" y="1678"/>
                        <a:pt x="134644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pic>
              <p:nvPicPr>
                <p:cNvPr id="1761" name="Google Shape;1761;p62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1383" y="1276188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762" name="Google Shape;1762;p62"/>
                <p:cNvCxnSpPr/>
                <p:nvPr/>
              </p:nvCxnSpPr>
              <p:spPr>
                <a:xfrm rot="10800000">
                  <a:off x="1834350" y="1681200"/>
                  <a:ext cx="0" cy="1245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3" name="Google Shape;1763;p62"/>
                <p:cNvCxnSpPr/>
                <p:nvPr/>
              </p:nvCxnSpPr>
              <p:spPr>
                <a:xfrm>
                  <a:off x="1823750" y="2638283"/>
                  <a:ext cx="11418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A4C2F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1764" name="Google Shape;1764;p62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08011" y="2670320"/>
                  <a:ext cx="144658" cy="1679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65" name="Google Shape;1765;p62"/>
                <p:cNvSpPr/>
                <p:nvPr/>
              </p:nvSpPr>
              <p:spPr>
                <a:xfrm>
                  <a:off x="1836400" y="1987438"/>
                  <a:ext cx="1139300" cy="23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72" h="9367" extrusionOk="0">
                      <a:moveTo>
                        <a:pt x="0" y="3198"/>
                      </a:moveTo>
                      <a:cubicBezTo>
                        <a:pt x="644" y="3354"/>
                        <a:pt x="822" y="3109"/>
                        <a:pt x="3864" y="4131"/>
                      </a:cubicBezTo>
                      <a:cubicBezTo>
                        <a:pt x="6907" y="5153"/>
                        <a:pt x="14188" y="9842"/>
                        <a:pt x="18255" y="9328"/>
                      </a:cubicBezTo>
                      <a:cubicBezTo>
                        <a:pt x="22322" y="8814"/>
                        <a:pt x="24846" y="1667"/>
                        <a:pt x="28266" y="1045"/>
                      </a:cubicBezTo>
                      <a:cubicBezTo>
                        <a:pt x="31686" y="423"/>
                        <a:pt x="36292" y="5283"/>
                        <a:pt x="38776" y="5597"/>
                      </a:cubicBezTo>
                      <a:cubicBezTo>
                        <a:pt x="41261" y="5912"/>
                        <a:pt x="42040" y="3865"/>
                        <a:pt x="43173" y="2932"/>
                      </a:cubicBezTo>
                      <a:cubicBezTo>
                        <a:pt x="44306" y="1999"/>
                        <a:pt x="45172" y="489"/>
                        <a:pt x="45572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766" name="Google Shape;1766;p62"/>
                <p:cNvCxnSpPr/>
                <p:nvPr/>
              </p:nvCxnSpPr>
              <p:spPr>
                <a:xfrm rot="10800000">
                  <a:off x="2975700" y="1694950"/>
                  <a:ext cx="0" cy="1257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7" name="Google Shape;1767;p62"/>
                <p:cNvCxnSpPr/>
                <p:nvPr/>
              </p:nvCxnSpPr>
              <p:spPr>
                <a:xfrm rot="10800000" flipH="1">
                  <a:off x="1670300" y="2175811"/>
                  <a:ext cx="1707000" cy="280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1768" name="Google Shape;1768;p62" descr="f(x) &gt; 0, \forall x \in \mathcal{S}" title="MathEquation,#000000"/>
                <p:cNvPicPr preferRelativeResize="0"/>
                <p:nvPr/>
              </p:nvPicPr>
              <p:blipFill rotWithShape="1">
                <a:blip r:embed="rId7"/>
                <a:srcRect l="87613" t="10" r="-3" b="-10"/>
                <a:stretch>
                  <a:fillRect/>
                </a:stretch>
              </p:blipFill>
              <p:spPr>
                <a:xfrm>
                  <a:off x="2266737" y="2825201"/>
                  <a:ext cx="185678" cy="24539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769" name="Google Shape;1769;p62"/>
              <p:cNvSpPr/>
              <p:nvPr/>
            </p:nvSpPr>
            <p:spPr>
              <a:xfrm rot="-5400000">
                <a:off x="1131525" y="1639850"/>
                <a:ext cx="113700" cy="9441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0" name="Google Shape;1770;p62"/>
          <p:cNvGrpSpPr/>
          <p:nvPr/>
        </p:nvGrpSpPr>
        <p:grpSpPr>
          <a:xfrm>
            <a:off x="1455338" y="3429138"/>
            <a:ext cx="5918700" cy="556163"/>
            <a:chOff x="1455338" y="3505338"/>
            <a:chExt cx="5918700" cy="556163"/>
          </a:xfrm>
        </p:grpSpPr>
        <p:sp>
          <p:nvSpPr>
            <p:cNvPr id="1771" name="Google Shape;1771;p62"/>
            <p:cNvSpPr/>
            <p:nvPr/>
          </p:nvSpPr>
          <p:spPr>
            <a:xfrm>
              <a:off x="1455338" y="3505338"/>
              <a:ext cx="5918700" cy="19980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62"/>
            <p:cNvSpPr txBox="1"/>
            <p:nvPr/>
          </p:nvSpPr>
          <p:spPr>
            <a:xfrm>
              <a:off x="1556300" y="3599800"/>
              <a:ext cx="5763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Always keep valid lower bounds</a:t>
              </a:r>
              <a:endParaRPr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grpSp>
        <p:nvGrpSpPr>
          <p:cNvPr id="1773" name="Google Shape;1773;p62"/>
          <p:cNvGrpSpPr/>
          <p:nvPr/>
        </p:nvGrpSpPr>
        <p:grpSpPr>
          <a:xfrm>
            <a:off x="1436712" y="2653914"/>
            <a:ext cx="460422" cy="461995"/>
            <a:chOff x="2708099" y="2963363"/>
            <a:chExt cx="1021798" cy="1025289"/>
          </a:xfrm>
        </p:grpSpPr>
        <p:pic>
          <p:nvPicPr>
            <p:cNvPr id="1774" name="Google Shape;1774;p62"/>
            <p:cNvPicPr preferRelativeResize="0"/>
            <p:nvPr/>
          </p:nvPicPr>
          <p:blipFill rotWithShape="1">
            <a:blip r:embed="rId8"/>
            <a:srcRect l="14039" t="9153" r="55651" b="45213"/>
            <a:stretch>
              <a:fillRect/>
            </a:stretch>
          </p:blipFill>
          <p:spPr>
            <a:xfrm>
              <a:off x="2708099" y="2963363"/>
              <a:ext cx="1021798" cy="1025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5" name="Google Shape;1775;p62"/>
            <p:cNvSpPr/>
            <p:nvPr/>
          </p:nvSpPr>
          <p:spPr>
            <a:xfrm>
              <a:off x="3130675" y="3637138"/>
              <a:ext cx="288000" cy="1422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4A86E8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FF00"/>
                </a:solidFill>
              </a:endParaRPr>
            </a:p>
          </p:txBody>
        </p:sp>
      </p:grpSp>
      <p:grpSp>
        <p:nvGrpSpPr>
          <p:cNvPr id="1776" name="Google Shape;1776;p62"/>
          <p:cNvGrpSpPr/>
          <p:nvPr/>
        </p:nvGrpSpPr>
        <p:grpSpPr>
          <a:xfrm>
            <a:off x="5719551" y="1305625"/>
            <a:ext cx="3026549" cy="1366026"/>
            <a:chOff x="5719551" y="1305625"/>
            <a:chExt cx="3026549" cy="1366026"/>
          </a:xfrm>
        </p:grpSpPr>
        <p:grpSp>
          <p:nvGrpSpPr>
            <p:cNvPr id="1777" name="Google Shape;1777;p62"/>
            <p:cNvGrpSpPr/>
            <p:nvPr/>
          </p:nvGrpSpPr>
          <p:grpSpPr>
            <a:xfrm>
              <a:off x="6516800" y="1305625"/>
              <a:ext cx="2229300" cy="789900"/>
              <a:chOff x="6516800" y="1305625"/>
              <a:chExt cx="2229300" cy="789900"/>
            </a:xfrm>
          </p:grpSpPr>
          <p:pic>
            <p:nvPicPr>
              <p:cNvPr id="1778" name="Google Shape;1778;p62" descr="f(x) = W_3 z_4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44600" y="1796750"/>
                <a:ext cx="1373700" cy="2987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9" name="Google Shape;1779;p62"/>
              <p:cNvSpPr txBox="1"/>
              <p:nvPr/>
            </p:nvSpPr>
            <p:spPr>
              <a:xfrm>
                <a:off x="6516800" y="1305625"/>
                <a:ext cx="2229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Georgia" panose="02040502050405020303"/>
                    <a:ea typeface="Georgia" panose="02040502050405020303"/>
                    <a:cs typeface="Georgia" panose="02040502050405020303"/>
                    <a:sym typeface="Georgia" panose="02040502050405020303"/>
                  </a:rPr>
                  <a:t>Initial (in)equality:</a:t>
                </a:r>
                <a:endParaRPr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endParaRPr>
              </a:p>
            </p:txBody>
          </p:sp>
        </p:grpSp>
        <p:pic>
          <p:nvPicPr>
            <p:cNvPr id="1780" name="Google Shape;1780;p62" descr="z_4" title="MathEquation,#000000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5719551" y="2506634"/>
              <a:ext cx="192724" cy="1650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1" name="Google Shape;1781;p62"/>
          <p:cNvSpPr/>
          <p:nvPr/>
        </p:nvSpPr>
        <p:spPr>
          <a:xfrm>
            <a:off x="6794792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2" name="Google Shape;1782;p62"/>
          <p:cNvGrpSpPr/>
          <p:nvPr/>
        </p:nvGrpSpPr>
        <p:grpSpPr>
          <a:xfrm>
            <a:off x="2361892" y="2644212"/>
            <a:ext cx="611252" cy="489022"/>
            <a:chOff x="1591075" y="1810500"/>
            <a:chExt cx="1097400" cy="877800"/>
          </a:xfrm>
        </p:grpSpPr>
        <p:sp>
          <p:nvSpPr>
            <p:cNvPr id="1783" name="Google Shape;1783;p62"/>
            <p:cNvSpPr/>
            <p:nvPr/>
          </p:nvSpPr>
          <p:spPr>
            <a:xfrm>
              <a:off x="1591075" y="1810500"/>
              <a:ext cx="1097400" cy="877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84" name="Google Shape;1784;p62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1899750" y="2073000"/>
              <a:ext cx="480050" cy="352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5" name="Google Shape;1785;p62"/>
          <p:cNvGrpSpPr/>
          <p:nvPr/>
        </p:nvGrpSpPr>
        <p:grpSpPr>
          <a:xfrm>
            <a:off x="4238208" y="2617421"/>
            <a:ext cx="611252" cy="527295"/>
            <a:chOff x="4218325" y="1741925"/>
            <a:chExt cx="1097400" cy="946500"/>
          </a:xfrm>
        </p:grpSpPr>
        <p:sp>
          <p:nvSpPr>
            <p:cNvPr id="1786" name="Google Shape;1786;p62"/>
            <p:cNvSpPr/>
            <p:nvPr/>
          </p:nvSpPr>
          <p:spPr>
            <a:xfrm>
              <a:off x="4218325" y="1741925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87" name="Google Shape;1787;p62" descr="W_2" title="MathEquation,#000000"/>
            <p:cNvPicPr preferRelativeResize="0"/>
            <p:nvPr/>
          </p:nvPicPr>
          <p:blipFill>
            <a:blip r:embed="rId12"/>
            <a:stretch>
              <a:fillRect/>
            </a:stretch>
          </p:blipFill>
          <p:spPr>
            <a:xfrm>
              <a:off x="4526025" y="2073000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8" name="Google Shape;1788;p62"/>
          <p:cNvGrpSpPr/>
          <p:nvPr/>
        </p:nvGrpSpPr>
        <p:grpSpPr>
          <a:xfrm>
            <a:off x="6128755" y="2625075"/>
            <a:ext cx="611252" cy="527295"/>
            <a:chOff x="7416274" y="1776150"/>
            <a:chExt cx="1097400" cy="946500"/>
          </a:xfrm>
        </p:grpSpPr>
        <p:sp>
          <p:nvSpPr>
            <p:cNvPr id="1789" name="Google Shape;1789;p62"/>
            <p:cNvSpPr/>
            <p:nvPr/>
          </p:nvSpPr>
          <p:spPr>
            <a:xfrm>
              <a:off x="7416274" y="1776150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90" name="Google Shape;1790;p62" descr="W_3" title="MathEquation,#000000"/>
            <p:cNvPicPr preferRelativeResize="0"/>
            <p:nvPr/>
          </p:nvPicPr>
          <p:blipFill>
            <a:blip r:embed="rId13"/>
            <a:stretch>
              <a:fillRect/>
            </a:stretch>
          </p:blipFill>
          <p:spPr>
            <a:xfrm>
              <a:off x="7732699" y="2072988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1" name="Google Shape;1791;p62"/>
          <p:cNvSpPr/>
          <p:nvPr/>
        </p:nvSpPr>
        <p:spPr>
          <a:xfrm>
            <a:off x="5706389" y="2716876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62"/>
          <p:cNvSpPr/>
          <p:nvPr/>
        </p:nvSpPr>
        <p:spPr>
          <a:xfrm>
            <a:off x="4894839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62"/>
          <p:cNvSpPr/>
          <p:nvPr/>
        </p:nvSpPr>
        <p:spPr>
          <a:xfrm>
            <a:off x="3815725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62"/>
          <p:cNvSpPr/>
          <p:nvPr/>
        </p:nvSpPr>
        <p:spPr>
          <a:xfrm>
            <a:off x="3004701" y="2716885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62"/>
          <p:cNvSpPr/>
          <p:nvPr/>
        </p:nvSpPr>
        <p:spPr>
          <a:xfrm>
            <a:off x="1984478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6" name="Google Shape;1796;p62" descr="f(x)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7226748" y="2731621"/>
            <a:ext cx="470748" cy="298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7" name="Google Shape;1797;p62"/>
          <p:cNvGrpSpPr/>
          <p:nvPr/>
        </p:nvGrpSpPr>
        <p:grpSpPr>
          <a:xfrm>
            <a:off x="3413631" y="2394036"/>
            <a:ext cx="322182" cy="988141"/>
            <a:chOff x="2999975" y="2187100"/>
            <a:chExt cx="447600" cy="1372800"/>
          </a:xfrm>
        </p:grpSpPr>
        <p:sp>
          <p:nvSpPr>
            <p:cNvPr id="1798" name="Google Shape;1798;p62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9" name="Google Shape;1799;p62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800" name="Google Shape;1800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01" name="Google Shape;1801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02" name="Google Shape;1802;p62"/>
                <p:cNvCxnSpPr>
                  <a:stCxn id="1801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3" name="Google Shape;1803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04" name="Google Shape;1804;p62"/>
              <p:cNvCxnSpPr>
                <a:stCxn id="1801" idx="2"/>
                <a:endCxn id="1801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5" name="Google Shape;1805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06" name="Google Shape;1806;p62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807" name="Google Shape;1807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08" name="Google Shape;1808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09" name="Google Shape;1809;p62"/>
                <p:cNvCxnSpPr>
                  <a:stCxn id="180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0" name="Google Shape;1810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11" name="Google Shape;1811;p62"/>
              <p:cNvCxnSpPr>
                <a:stCxn id="1808" idx="2"/>
                <a:endCxn id="1808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2" name="Google Shape;1812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13" name="Google Shape;1813;p62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814" name="Google Shape;1814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15" name="Google Shape;1815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16" name="Google Shape;1816;p62"/>
                <p:cNvCxnSpPr>
                  <a:stCxn id="1815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7" name="Google Shape;1817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18" name="Google Shape;1818;p62"/>
              <p:cNvCxnSpPr>
                <a:stCxn id="1815" idx="2"/>
                <a:endCxn id="1815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9" name="Google Shape;1819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20" name="Google Shape;1820;p62"/>
          <p:cNvGrpSpPr/>
          <p:nvPr/>
        </p:nvGrpSpPr>
        <p:grpSpPr>
          <a:xfrm>
            <a:off x="5334844" y="2387024"/>
            <a:ext cx="322182" cy="988141"/>
            <a:chOff x="2999975" y="2187100"/>
            <a:chExt cx="447600" cy="1372800"/>
          </a:xfrm>
        </p:grpSpPr>
        <p:sp>
          <p:nvSpPr>
            <p:cNvPr id="1821" name="Google Shape;1821;p62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2" name="Google Shape;1822;p62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823" name="Google Shape;1823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24" name="Google Shape;1824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25" name="Google Shape;1825;p62"/>
                <p:cNvCxnSpPr>
                  <a:stCxn id="1824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6" name="Google Shape;1826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27" name="Google Shape;1827;p62"/>
              <p:cNvCxnSpPr>
                <a:stCxn id="1824" idx="2"/>
                <a:endCxn id="1824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8" name="Google Shape;1828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29" name="Google Shape;1829;p62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830" name="Google Shape;1830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31" name="Google Shape;1831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32" name="Google Shape;1832;p62"/>
                <p:cNvCxnSpPr>
                  <a:stCxn id="1831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3" name="Google Shape;1833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34" name="Google Shape;1834;p62"/>
              <p:cNvCxnSpPr>
                <a:stCxn id="1831" idx="2"/>
                <a:endCxn id="1831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5" name="Google Shape;1835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36" name="Google Shape;1836;p62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837" name="Google Shape;1837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38" name="Google Shape;1838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39" name="Google Shape;1839;p62"/>
                <p:cNvCxnSpPr>
                  <a:stCxn id="183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0" name="Google Shape;1840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41" name="Google Shape;1841;p62"/>
              <p:cNvCxnSpPr>
                <a:stCxn id="1838" idx="2"/>
                <a:endCxn id="1838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2" name="Google Shape;1842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43" name="Google Shape;1843;p62"/>
          <p:cNvGrpSpPr/>
          <p:nvPr/>
        </p:nvGrpSpPr>
        <p:grpSpPr>
          <a:xfrm>
            <a:off x="4987188" y="1185762"/>
            <a:ext cx="1495476" cy="1468501"/>
            <a:chOff x="4987188" y="1185762"/>
            <a:chExt cx="1495476" cy="1468501"/>
          </a:xfrm>
        </p:grpSpPr>
        <p:pic>
          <p:nvPicPr>
            <p:cNvPr id="1844" name="Google Shape;1844;p62" descr="z_2" title="MathEquation,#000000"/>
            <p:cNvPicPr preferRelativeResize="0"/>
            <p:nvPr/>
          </p:nvPicPr>
          <p:blipFill>
            <a:blip r:embed="rId15"/>
            <a:stretch>
              <a:fillRect/>
            </a:stretch>
          </p:blipFill>
          <p:spPr>
            <a:xfrm>
              <a:off x="4987188" y="2489241"/>
              <a:ext cx="192726" cy="1650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45" name="Google Shape;1845;p62"/>
            <p:cNvGrpSpPr/>
            <p:nvPr/>
          </p:nvGrpSpPr>
          <p:grpSpPr>
            <a:xfrm>
              <a:off x="5334606" y="1185762"/>
              <a:ext cx="1148058" cy="741389"/>
              <a:chOff x="5334606" y="1185762"/>
              <a:chExt cx="1148058" cy="741389"/>
            </a:xfrm>
          </p:grpSpPr>
          <p:grpSp>
            <p:nvGrpSpPr>
              <p:cNvPr id="1846" name="Google Shape;1846;p62"/>
              <p:cNvGrpSpPr/>
              <p:nvPr/>
            </p:nvGrpSpPr>
            <p:grpSpPr>
              <a:xfrm>
                <a:off x="5334606" y="1185762"/>
                <a:ext cx="1143146" cy="741389"/>
                <a:chOff x="6105475" y="1371025"/>
                <a:chExt cx="1981532" cy="1162051"/>
              </a:xfrm>
            </p:grpSpPr>
            <p:grpSp>
              <p:nvGrpSpPr>
                <p:cNvPr id="1847" name="Google Shape;1847;p62"/>
                <p:cNvGrpSpPr/>
                <p:nvPr/>
              </p:nvGrpSpPr>
              <p:grpSpPr>
                <a:xfrm>
                  <a:off x="6105475" y="1371025"/>
                  <a:ext cx="1981532" cy="1162051"/>
                  <a:chOff x="5966461" y="2755341"/>
                  <a:chExt cx="2302500" cy="1350280"/>
                </a:xfrm>
              </p:grpSpPr>
              <p:cxnSp>
                <p:nvCxnSpPr>
                  <p:cNvPr id="1848" name="Google Shape;1848;p62"/>
                  <p:cNvCxnSpPr/>
                  <p:nvPr/>
                </p:nvCxnSpPr>
                <p:spPr>
                  <a:xfrm>
                    <a:off x="6784698" y="2755341"/>
                    <a:ext cx="0" cy="112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triangle" w="med" len="med"/>
                    <a:tailEnd type="none" w="med" len="med"/>
                  </a:ln>
                </p:spPr>
              </p:cxnSp>
              <p:cxnSp>
                <p:nvCxnSpPr>
                  <p:cNvPr id="1849" name="Google Shape;1849;p62"/>
                  <p:cNvCxnSpPr/>
                  <p:nvPr/>
                </p:nvCxnSpPr>
                <p:spPr>
                  <a:xfrm>
                    <a:off x="5966461" y="3617676"/>
                    <a:ext cx="23025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850" name="Google Shape;1850;p62"/>
                  <p:cNvCxnSpPr/>
                  <p:nvPr/>
                </p:nvCxnSpPr>
                <p:spPr>
                  <a:xfrm>
                    <a:off x="6101454" y="2950322"/>
                    <a:ext cx="1551600" cy="115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FF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1851" name="Google Shape;1851;p62"/>
                <p:cNvSpPr/>
                <p:nvPr/>
              </p:nvSpPr>
              <p:spPr>
                <a:xfrm>
                  <a:off x="6475450" y="1461050"/>
                  <a:ext cx="1077571" cy="602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76" h="27561" extrusionOk="0">
                      <a:moveTo>
                        <a:pt x="0" y="0"/>
                      </a:moveTo>
                      <a:cubicBezTo>
                        <a:pt x="1955" y="2221"/>
                        <a:pt x="7552" y="11726"/>
                        <a:pt x="11727" y="13325"/>
                      </a:cubicBezTo>
                      <a:cubicBezTo>
                        <a:pt x="15902" y="14924"/>
                        <a:pt x="20788" y="8262"/>
                        <a:pt x="25052" y="9594"/>
                      </a:cubicBezTo>
                      <a:cubicBezTo>
                        <a:pt x="29316" y="10927"/>
                        <a:pt x="32781" y="20521"/>
                        <a:pt x="37311" y="21320"/>
                      </a:cubicBezTo>
                      <a:cubicBezTo>
                        <a:pt x="41842" y="22120"/>
                        <a:pt x="47882" y="13414"/>
                        <a:pt x="52235" y="14391"/>
                      </a:cubicBezTo>
                      <a:cubicBezTo>
                        <a:pt x="56588" y="15368"/>
                        <a:pt x="56588" y="25673"/>
                        <a:pt x="63428" y="27183"/>
                      </a:cubicBezTo>
                      <a:cubicBezTo>
                        <a:pt x="70268" y="28693"/>
                        <a:pt x="88301" y="24074"/>
                        <a:pt x="93276" y="23452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52" name="Google Shape;1852;p62" descr="z_2" title="MathEquation,#000000"/>
              <p:cNvPicPr preferRelativeResize="0"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89938" y="1715728"/>
                <a:ext cx="192726" cy="1650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53" name="Google Shape;1853;p62"/>
          <p:cNvGrpSpPr/>
          <p:nvPr/>
        </p:nvGrpSpPr>
        <p:grpSpPr>
          <a:xfrm>
            <a:off x="2677504" y="1174783"/>
            <a:ext cx="1264217" cy="1479462"/>
            <a:chOff x="2677504" y="1174783"/>
            <a:chExt cx="1264217" cy="1479462"/>
          </a:xfrm>
        </p:grpSpPr>
        <p:pic>
          <p:nvPicPr>
            <p:cNvPr id="1854" name="Google Shape;1854;p62" descr="z_1" title="MathEquation,#000000"/>
            <p:cNvPicPr preferRelativeResize="0"/>
            <p:nvPr/>
          </p:nvPicPr>
          <p:blipFill>
            <a:blip r:embed="rId16"/>
            <a:stretch>
              <a:fillRect/>
            </a:stretch>
          </p:blipFill>
          <p:spPr>
            <a:xfrm>
              <a:off x="3097037" y="2489246"/>
              <a:ext cx="192706" cy="1649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5" name="Google Shape;1855;p62"/>
            <p:cNvGrpSpPr/>
            <p:nvPr/>
          </p:nvGrpSpPr>
          <p:grpSpPr>
            <a:xfrm>
              <a:off x="2677504" y="1174783"/>
              <a:ext cx="1264217" cy="741435"/>
              <a:chOff x="2677504" y="1174783"/>
              <a:chExt cx="1264217" cy="741435"/>
            </a:xfrm>
          </p:grpSpPr>
          <p:grpSp>
            <p:nvGrpSpPr>
              <p:cNvPr id="1856" name="Google Shape;1856;p62"/>
              <p:cNvGrpSpPr/>
              <p:nvPr/>
            </p:nvGrpSpPr>
            <p:grpSpPr>
              <a:xfrm>
                <a:off x="2677504" y="1174783"/>
                <a:ext cx="1264217" cy="741435"/>
                <a:chOff x="466675" y="1142425"/>
                <a:chExt cx="1981532" cy="1162124"/>
              </a:xfrm>
            </p:grpSpPr>
            <p:grpSp>
              <p:nvGrpSpPr>
                <p:cNvPr id="1857" name="Google Shape;1857;p62"/>
                <p:cNvGrpSpPr/>
                <p:nvPr/>
              </p:nvGrpSpPr>
              <p:grpSpPr>
                <a:xfrm>
                  <a:off x="466675" y="1142425"/>
                  <a:ext cx="1981532" cy="1162124"/>
                  <a:chOff x="5966461" y="2755341"/>
                  <a:chExt cx="2302500" cy="1350365"/>
                </a:xfrm>
              </p:grpSpPr>
              <p:cxnSp>
                <p:nvCxnSpPr>
                  <p:cNvPr id="1858" name="Google Shape;1858;p62"/>
                  <p:cNvCxnSpPr/>
                  <p:nvPr/>
                </p:nvCxnSpPr>
                <p:spPr>
                  <a:xfrm>
                    <a:off x="6784698" y="2755341"/>
                    <a:ext cx="0" cy="112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triangle" w="med" len="med"/>
                    <a:tailEnd type="none" w="med" len="med"/>
                  </a:ln>
                </p:spPr>
              </p:cxnSp>
              <p:cxnSp>
                <p:nvCxnSpPr>
                  <p:cNvPr id="1859" name="Google Shape;1859;p62"/>
                  <p:cNvCxnSpPr/>
                  <p:nvPr/>
                </p:nvCxnSpPr>
                <p:spPr>
                  <a:xfrm>
                    <a:off x="5966461" y="3617676"/>
                    <a:ext cx="23025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860" name="Google Shape;1860;p62"/>
                  <p:cNvCxnSpPr/>
                  <p:nvPr/>
                </p:nvCxnSpPr>
                <p:spPr>
                  <a:xfrm>
                    <a:off x="6077633" y="3321807"/>
                    <a:ext cx="1575300" cy="783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FF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1861" name="Google Shape;1861;p62"/>
                <p:cNvSpPr/>
                <p:nvPr/>
              </p:nvSpPr>
              <p:spPr>
                <a:xfrm>
                  <a:off x="562355" y="1553450"/>
                  <a:ext cx="1699246" cy="31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47" h="12432" extrusionOk="0">
                      <a:moveTo>
                        <a:pt x="0" y="126"/>
                      </a:moveTo>
                      <a:cubicBezTo>
                        <a:pt x="1961" y="112"/>
                        <a:pt x="8485" y="-83"/>
                        <a:pt x="11763" y="41"/>
                      </a:cubicBezTo>
                      <a:cubicBezTo>
                        <a:pt x="15041" y="165"/>
                        <a:pt x="17699" y="-296"/>
                        <a:pt x="19669" y="870"/>
                      </a:cubicBezTo>
                      <a:cubicBezTo>
                        <a:pt x="21639" y="2036"/>
                        <a:pt x="21783" y="7020"/>
                        <a:pt x="23585" y="7037"/>
                      </a:cubicBezTo>
                      <a:cubicBezTo>
                        <a:pt x="25387" y="7054"/>
                        <a:pt x="28471" y="119"/>
                        <a:pt x="30482" y="974"/>
                      </a:cubicBezTo>
                      <a:cubicBezTo>
                        <a:pt x="32494" y="1829"/>
                        <a:pt x="32493" y="10847"/>
                        <a:pt x="35654" y="12168"/>
                      </a:cubicBezTo>
                      <a:cubicBezTo>
                        <a:pt x="38815" y="13490"/>
                        <a:pt x="47148" y="9447"/>
                        <a:pt x="49447" y="890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62" name="Google Shape;1862;p62" descr="z_1" title="MathEquation,#000000"/>
              <p:cNvPicPr preferRelativeResize="0"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08375" y="1698347"/>
                <a:ext cx="192726" cy="1650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63" name="Google Shape;1863;p62"/>
          <p:cNvGrpSpPr/>
          <p:nvPr/>
        </p:nvGrpSpPr>
        <p:grpSpPr>
          <a:xfrm>
            <a:off x="3859700" y="1205753"/>
            <a:ext cx="1380276" cy="1448510"/>
            <a:chOff x="3859700" y="1205753"/>
            <a:chExt cx="1380276" cy="1448510"/>
          </a:xfrm>
        </p:grpSpPr>
        <p:grpSp>
          <p:nvGrpSpPr>
            <p:cNvPr id="1864" name="Google Shape;1864;p62"/>
            <p:cNvGrpSpPr/>
            <p:nvPr/>
          </p:nvGrpSpPr>
          <p:grpSpPr>
            <a:xfrm>
              <a:off x="3960143" y="1205753"/>
              <a:ext cx="1279833" cy="674997"/>
              <a:chOff x="3960143" y="1205753"/>
              <a:chExt cx="1279833" cy="674997"/>
            </a:xfrm>
          </p:grpSpPr>
          <p:grpSp>
            <p:nvGrpSpPr>
              <p:cNvPr id="1865" name="Google Shape;1865;p62"/>
              <p:cNvGrpSpPr/>
              <p:nvPr/>
            </p:nvGrpSpPr>
            <p:grpSpPr>
              <a:xfrm>
                <a:off x="3960143" y="1205753"/>
                <a:ext cx="1264247" cy="599457"/>
                <a:chOff x="629075" y="2301800"/>
                <a:chExt cx="2438277" cy="993300"/>
              </a:xfrm>
            </p:grpSpPr>
            <p:cxnSp>
              <p:nvCxnSpPr>
                <p:cNvPr id="1866" name="Google Shape;1866;p62"/>
                <p:cNvCxnSpPr/>
                <p:nvPr/>
              </p:nvCxnSpPr>
              <p:spPr>
                <a:xfrm>
                  <a:off x="1670225" y="2301800"/>
                  <a:ext cx="0" cy="993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867" name="Google Shape;1867;p62"/>
                <p:cNvCxnSpPr/>
                <p:nvPr/>
              </p:nvCxnSpPr>
              <p:spPr>
                <a:xfrm>
                  <a:off x="792152" y="3049628"/>
                  <a:ext cx="22752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1868" name="Google Shape;1868;p62"/>
                <p:cNvSpPr/>
                <p:nvPr/>
              </p:nvSpPr>
              <p:spPr>
                <a:xfrm>
                  <a:off x="1064725" y="2443551"/>
                  <a:ext cx="1817483" cy="602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76" h="27561" extrusionOk="0">
                      <a:moveTo>
                        <a:pt x="0" y="0"/>
                      </a:moveTo>
                      <a:cubicBezTo>
                        <a:pt x="1955" y="2221"/>
                        <a:pt x="7552" y="11726"/>
                        <a:pt x="11727" y="13325"/>
                      </a:cubicBezTo>
                      <a:cubicBezTo>
                        <a:pt x="15902" y="14924"/>
                        <a:pt x="20788" y="8262"/>
                        <a:pt x="25052" y="9594"/>
                      </a:cubicBezTo>
                      <a:cubicBezTo>
                        <a:pt x="29316" y="10927"/>
                        <a:pt x="32781" y="20521"/>
                        <a:pt x="37311" y="21320"/>
                      </a:cubicBezTo>
                      <a:cubicBezTo>
                        <a:pt x="41842" y="22120"/>
                        <a:pt x="47882" y="13414"/>
                        <a:pt x="52235" y="14391"/>
                      </a:cubicBezTo>
                      <a:cubicBezTo>
                        <a:pt x="56588" y="15368"/>
                        <a:pt x="56588" y="25673"/>
                        <a:pt x="63428" y="27183"/>
                      </a:cubicBezTo>
                      <a:cubicBezTo>
                        <a:pt x="70268" y="28693"/>
                        <a:pt x="88301" y="24074"/>
                        <a:pt x="93276" y="23452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869" name="Google Shape;1869;p62"/>
                <p:cNvCxnSpPr/>
                <p:nvPr/>
              </p:nvCxnSpPr>
              <p:spPr>
                <a:xfrm>
                  <a:off x="629075" y="2679120"/>
                  <a:ext cx="2082300" cy="603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pic>
            <p:nvPicPr>
              <p:cNvPr id="1870" name="Google Shape;1870;p62" descr="z_1" title="MathEquation,#000000"/>
              <p:cNvPicPr preferRelativeResize="0"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47250" y="1715728"/>
                <a:ext cx="192726" cy="1650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71" name="Google Shape;1871;p62" descr="z_1" title="MathEquation,#000000"/>
            <p:cNvPicPr preferRelativeResize="0"/>
            <p:nvPr/>
          </p:nvPicPr>
          <p:blipFill>
            <a:blip r:embed="rId18"/>
            <a:stretch>
              <a:fillRect/>
            </a:stretch>
          </p:blipFill>
          <p:spPr>
            <a:xfrm>
              <a:off x="3859700" y="2489241"/>
              <a:ext cx="192726" cy="1650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8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8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6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877" name="Google Shape;1877;p63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878" name="Google Shape;1878;p63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48</a:t>
            </a:fld>
            <a:endParaRPr lang="en-GB"/>
          </a:p>
        </p:txBody>
      </p:sp>
      <p:sp>
        <p:nvSpPr>
          <p:cNvPr id="1879" name="Google Shape;1879;p63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880" name="Google Shape;1880;p63"/>
          <p:cNvGrpSpPr/>
          <p:nvPr/>
        </p:nvGrpSpPr>
        <p:grpSpPr>
          <a:xfrm>
            <a:off x="457596" y="818961"/>
            <a:ext cx="8269329" cy="3778639"/>
            <a:chOff x="152796" y="818961"/>
            <a:chExt cx="8269329" cy="3778639"/>
          </a:xfrm>
        </p:grpSpPr>
        <p:sp>
          <p:nvSpPr>
            <p:cNvPr id="1881" name="Google Shape;1881;p63"/>
            <p:cNvSpPr/>
            <p:nvPr/>
          </p:nvSpPr>
          <p:spPr>
            <a:xfrm>
              <a:off x="269325" y="4072000"/>
              <a:ext cx="8152800" cy="5256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D0000"/>
                </a:solidFill>
              </a:endParaRPr>
            </a:p>
          </p:txBody>
        </p:sp>
        <p:pic>
          <p:nvPicPr>
            <p:cNvPr id="1882" name="Google Shape;1882;p6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367500" y="4150522"/>
              <a:ext cx="2787376" cy="39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3" name="Google Shape;1883;p63"/>
            <p:cNvSpPr txBox="1"/>
            <p:nvPr/>
          </p:nvSpPr>
          <p:spPr>
            <a:xfrm>
              <a:off x="269325" y="4079275"/>
              <a:ext cx="4150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CROWN main theorem </a:t>
              </a:r>
              <a:r>
                <a:rPr lang="en-GB" sz="1800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(simplified):</a:t>
              </a:r>
              <a:endParaRPr sz="1800"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pic>
          <p:nvPicPr>
            <p:cNvPr id="1884" name="Google Shape;1884;p63" descr="\forall x \in \mathcal{S}, \ f(x) &gt; 0" title="MathEquation,#000000"/>
            <p:cNvPicPr preferRelativeResize="0"/>
            <p:nvPr/>
          </p:nvPicPr>
          <p:blipFill rotWithShape="1">
            <a:blip r:embed="rId4"/>
            <a:srcRect r="59270"/>
            <a:stretch>
              <a:fillRect/>
            </a:stretch>
          </p:blipFill>
          <p:spPr>
            <a:xfrm>
              <a:off x="7408400" y="4156375"/>
              <a:ext cx="813124" cy="3568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85" name="Google Shape;1885;p63"/>
            <p:cNvGrpSpPr/>
            <p:nvPr/>
          </p:nvGrpSpPr>
          <p:grpSpPr>
            <a:xfrm>
              <a:off x="152796" y="818961"/>
              <a:ext cx="2229235" cy="1501564"/>
              <a:chOff x="152796" y="895161"/>
              <a:chExt cx="2229235" cy="1501564"/>
            </a:xfrm>
          </p:grpSpPr>
          <p:grpSp>
            <p:nvGrpSpPr>
              <p:cNvPr id="1886" name="Google Shape;1886;p63"/>
              <p:cNvGrpSpPr/>
              <p:nvPr/>
            </p:nvGrpSpPr>
            <p:grpSpPr>
              <a:xfrm>
                <a:off x="152796" y="895161"/>
                <a:ext cx="2229235" cy="1501564"/>
                <a:chOff x="1186700" y="1276188"/>
                <a:chExt cx="2664000" cy="1794412"/>
              </a:xfrm>
            </p:grpSpPr>
            <p:cxnSp>
              <p:nvCxnSpPr>
                <p:cNvPr id="1887" name="Google Shape;1887;p63"/>
                <p:cNvCxnSpPr/>
                <p:nvPr/>
              </p:nvCxnSpPr>
              <p:spPr>
                <a:xfrm>
                  <a:off x="1431294" y="1276188"/>
                  <a:ext cx="0" cy="1755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888" name="Google Shape;1888;p63"/>
                <p:cNvCxnSpPr/>
                <p:nvPr/>
              </p:nvCxnSpPr>
              <p:spPr>
                <a:xfrm>
                  <a:off x="1186700" y="2638288"/>
                  <a:ext cx="26640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1889" name="Google Shape;1889;p63"/>
                <p:cNvSpPr/>
                <p:nvPr/>
              </p:nvSpPr>
              <p:spPr>
                <a:xfrm>
                  <a:off x="1430382" y="1522267"/>
                  <a:ext cx="2319243" cy="1062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44" h="61659" extrusionOk="0">
                      <a:moveTo>
                        <a:pt x="0" y="61659"/>
                      </a:moveTo>
                      <a:cubicBezTo>
                        <a:pt x="3006" y="56696"/>
                        <a:pt x="9788" y="35443"/>
                        <a:pt x="18037" y="31878"/>
                      </a:cubicBezTo>
                      <a:cubicBezTo>
                        <a:pt x="26286" y="28313"/>
                        <a:pt x="41735" y="40826"/>
                        <a:pt x="49495" y="40267"/>
                      </a:cubicBezTo>
                      <a:cubicBezTo>
                        <a:pt x="57255" y="39708"/>
                        <a:pt x="59003" y="29502"/>
                        <a:pt x="64596" y="28523"/>
                      </a:cubicBezTo>
                      <a:cubicBezTo>
                        <a:pt x="70189" y="27544"/>
                        <a:pt x="76829" y="37471"/>
                        <a:pt x="83051" y="34395"/>
                      </a:cubicBezTo>
                      <a:cubicBezTo>
                        <a:pt x="89273" y="31319"/>
                        <a:pt x="93328" y="15800"/>
                        <a:pt x="101927" y="10067"/>
                      </a:cubicBezTo>
                      <a:cubicBezTo>
                        <a:pt x="110526" y="4335"/>
                        <a:pt x="129191" y="1678"/>
                        <a:pt x="134644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pic>
              <p:nvPicPr>
                <p:cNvPr id="1890" name="Google Shape;1890;p63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1383" y="1276188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891" name="Google Shape;1891;p63"/>
                <p:cNvCxnSpPr/>
                <p:nvPr/>
              </p:nvCxnSpPr>
              <p:spPr>
                <a:xfrm rot="10800000">
                  <a:off x="1834350" y="1681200"/>
                  <a:ext cx="0" cy="1245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2" name="Google Shape;1892;p63"/>
                <p:cNvCxnSpPr/>
                <p:nvPr/>
              </p:nvCxnSpPr>
              <p:spPr>
                <a:xfrm>
                  <a:off x="1823750" y="2638283"/>
                  <a:ext cx="11418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A4C2F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1893" name="Google Shape;1893;p63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08016" y="2670333"/>
                  <a:ext cx="97798" cy="1135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94" name="Google Shape;1894;p63"/>
                <p:cNvSpPr/>
                <p:nvPr/>
              </p:nvSpPr>
              <p:spPr>
                <a:xfrm>
                  <a:off x="1836400" y="1987438"/>
                  <a:ext cx="1139300" cy="23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72" h="9367" extrusionOk="0">
                      <a:moveTo>
                        <a:pt x="0" y="3198"/>
                      </a:moveTo>
                      <a:cubicBezTo>
                        <a:pt x="644" y="3354"/>
                        <a:pt x="822" y="3109"/>
                        <a:pt x="3864" y="4131"/>
                      </a:cubicBezTo>
                      <a:cubicBezTo>
                        <a:pt x="6907" y="5153"/>
                        <a:pt x="14188" y="9842"/>
                        <a:pt x="18255" y="9328"/>
                      </a:cubicBezTo>
                      <a:cubicBezTo>
                        <a:pt x="22322" y="8814"/>
                        <a:pt x="24846" y="1667"/>
                        <a:pt x="28266" y="1045"/>
                      </a:cubicBezTo>
                      <a:cubicBezTo>
                        <a:pt x="31686" y="423"/>
                        <a:pt x="36292" y="5283"/>
                        <a:pt x="38776" y="5597"/>
                      </a:cubicBezTo>
                      <a:cubicBezTo>
                        <a:pt x="41261" y="5912"/>
                        <a:pt x="42040" y="3865"/>
                        <a:pt x="43173" y="2932"/>
                      </a:cubicBezTo>
                      <a:cubicBezTo>
                        <a:pt x="44306" y="1999"/>
                        <a:pt x="45172" y="489"/>
                        <a:pt x="45572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895" name="Google Shape;1895;p63"/>
                <p:cNvCxnSpPr/>
                <p:nvPr/>
              </p:nvCxnSpPr>
              <p:spPr>
                <a:xfrm rot="10800000">
                  <a:off x="2975700" y="1694950"/>
                  <a:ext cx="0" cy="1257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63"/>
                <p:cNvCxnSpPr/>
                <p:nvPr/>
              </p:nvCxnSpPr>
              <p:spPr>
                <a:xfrm rot="10800000" flipH="1">
                  <a:off x="1670300" y="2175811"/>
                  <a:ext cx="1707000" cy="280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1897" name="Google Shape;1897;p63" descr="f(x) &gt; 0, \forall x \in \mathcal{S}" title="MathEquation,#000000"/>
                <p:cNvPicPr preferRelativeResize="0"/>
                <p:nvPr/>
              </p:nvPicPr>
              <p:blipFill rotWithShape="1">
                <a:blip r:embed="rId7"/>
                <a:srcRect l="87613" t="10" r="-3" b="-10"/>
                <a:stretch>
                  <a:fillRect/>
                </a:stretch>
              </p:blipFill>
              <p:spPr>
                <a:xfrm>
                  <a:off x="2266737" y="2825201"/>
                  <a:ext cx="185678" cy="24539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898" name="Google Shape;1898;p63"/>
              <p:cNvSpPr/>
              <p:nvPr/>
            </p:nvSpPr>
            <p:spPr>
              <a:xfrm rot="-5400000">
                <a:off x="1131525" y="1639850"/>
                <a:ext cx="113700" cy="9441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99" name="Google Shape;1899;p63"/>
          <p:cNvGrpSpPr/>
          <p:nvPr/>
        </p:nvGrpSpPr>
        <p:grpSpPr>
          <a:xfrm>
            <a:off x="1455338" y="3429138"/>
            <a:ext cx="5918700" cy="556163"/>
            <a:chOff x="1455338" y="3505338"/>
            <a:chExt cx="5918700" cy="556163"/>
          </a:xfrm>
        </p:grpSpPr>
        <p:sp>
          <p:nvSpPr>
            <p:cNvPr id="1900" name="Google Shape;1900;p63"/>
            <p:cNvSpPr/>
            <p:nvPr/>
          </p:nvSpPr>
          <p:spPr>
            <a:xfrm>
              <a:off x="1455338" y="3505338"/>
              <a:ext cx="5918700" cy="19980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63"/>
            <p:cNvSpPr txBox="1"/>
            <p:nvPr/>
          </p:nvSpPr>
          <p:spPr>
            <a:xfrm>
              <a:off x="1556300" y="3599800"/>
              <a:ext cx="5763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Always keep valid lower bounds</a:t>
              </a:r>
              <a:endParaRPr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grpSp>
        <p:nvGrpSpPr>
          <p:cNvPr id="1902" name="Google Shape;1902;p63"/>
          <p:cNvGrpSpPr/>
          <p:nvPr/>
        </p:nvGrpSpPr>
        <p:grpSpPr>
          <a:xfrm>
            <a:off x="1436712" y="2653914"/>
            <a:ext cx="460422" cy="461995"/>
            <a:chOff x="2708099" y="2963363"/>
            <a:chExt cx="1021798" cy="1025289"/>
          </a:xfrm>
        </p:grpSpPr>
        <p:pic>
          <p:nvPicPr>
            <p:cNvPr id="1903" name="Google Shape;1903;p63"/>
            <p:cNvPicPr preferRelativeResize="0"/>
            <p:nvPr/>
          </p:nvPicPr>
          <p:blipFill rotWithShape="1">
            <a:blip r:embed="rId8"/>
            <a:srcRect l="14039" t="9153" r="55651" b="45213"/>
            <a:stretch>
              <a:fillRect/>
            </a:stretch>
          </p:blipFill>
          <p:spPr>
            <a:xfrm>
              <a:off x="2708099" y="2963363"/>
              <a:ext cx="1021798" cy="1025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4" name="Google Shape;1904;p63"/>
            <p:cNvSpPr/>
            <p:nvPr/>
          </p:nvSpPr>
          <p:spPr>
            <a:xfrm>
              <a:off x="3130675" y="3637138"/>
              <a:ext cx="288000" cy="1422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4A86E8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FF00"/>
                </a:solidFill>
              </a:endParaRPr>
            </a:p>
          </p:txBody>
        </p:sp>
      </p:grpSp>
      <p:sp>
        <p:nvSpPr>
          <p:cNvPr id="1905" name="Google Shape;1905;p63"/>
          <p:cNvSpPr/>
          <p:nvPr/>
        </p:nvSpPr>
        <p:spPr>
          <a:xfrm>
            <a:off x="6794792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6" name="Google Shape;1906;p63"/>
          <p:cNvGrpSpPr/>
          <p:nvPr/>
        </p:nvGrpSpPr>
        <p:grpSpPr>
          <a:xfrm>
            <a:off x="2361892" y="2644212"/>
            <a:ext cx="611252" cy="489022"/>
            <a:chOff x="1591075" y="1810500"/>
            <a:chExt cx="1097400" cy="877800"/>
          </a:xfrm>
        </p:grpSpPr>
        <p:sp>
          <p:nvSpPr>
            <p:cNvPr id="1907" name="Google Shape;1907;p63"/>
            <p:cNvSpPr/>
            <p:nvPr/>
          </p:nvSpPr>
          <p:spPr>
            <a:xfrm>
              <a:off x="1591075" y="1810500"/>
              <a:ext cx="1097400" cy="877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08" name="Google Shape;1908;p63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1899750" y="2073000"/>
              <a:ext cx="480050" cy="352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9" name="Google Shape;1909;p63"/>
          <p:cNvGrpSpPr/>
          <p:nvPr/>
        </p:nvGrpSpPr>
        <p:grpSpPr>
          <a:xfrm>
            <a:off x="4238208" y="2617421"/>
            <a:ext cx="611252" cy="527295"/>
            <a:chOff x="4218325" y="1741925"/>
            <a:chExt cx="1097400" cy="946500"/>
          </a:xfrm>
        </p:grpSpPr>
        <p:sp>
          <p:nvSpPr>
            <p:cNvPr id="1910" name="Google Shape;1910;p63"/>
            <p:cNvSpPr/>
            <p:nvPr/>
          </p:nvSpPr>
          <p:spPr>
            <a:xfrm>
              <a:off x="4218325" y="1741925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11" name="Google Shape;1911;p63" descr="W_2" title="MathEquation,#000000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4526025" y="2073000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2" name="Google Shape;1912;p63"/>
          <p:cNvGrpSpPr/>
          <p:nvPr/>
        </p:nvGrpSpPr>
        <p:grpSpPr>
          <a:xfrm>
            <a:off x="6128755" y="2625075"/>
            <a:ext cx="611252" cy="527295"/>
            <a:chOff x="7416274" y="1776150"/>
            <a:chExt cx="1097400" cy="946500"/>
          </a:xfrm>
        </p:grpSpPr>
        <p:sp>
          <p:nvSpPr>
            <p:cNvPr id="1913" name="Google Shape;1913;p63"/>
            <p:cNvSpPr/>
            <p:nvPr/>
          </p:nvSpPr>
          <p:spPr>
            <a:xfrm>
              <a:off x="7416274" y="1776150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14" name="Google Shape;1914;p63" descr="W_3" title="MathEquation,#000000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7732699" y="2072988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5" name="Google Shape;1915;p63"/>
          <p:cNvSpPr/>
          <p:nvPr/>
        </p:nvSpPr>
        <p:spPr>
          <a:xfrm>
            <a:off x="5706389" y="2716876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6" name="Google Shape;1916;p63"/>
          <p:cNvSpPr/>
          <p:nvPr/>
        </p:nvSpPr>
        <p:spPr>
          <a:xfrm>
            <a:off x="4894839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63"/>
          <p:cNvSpPr/>
          <p:nvPr/>
        </p:nvSpPr>
        <p:spPr>
          <a:xfrm>
            <a:off x="3815725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8" name="Google Shape;1918;p63"/>
          <p:cNvSpPr/>
          <p:nvPr/>
        </p:nvSpPr>
        <p:spPr>
          <a:xfrm>
            <a:off x="3004701" y="2716885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63"/>
          <p:cNvSpPr/>
          <p:nvPr/>
        </p:nvSpPr>
        <p:spPr>
          <a:xfrm>
            <a:off x="1984478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0" name="Google Shape;1920;p63" descr="f(x)" title="MathEquation,#000000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7226748" y="2731621"/>
            <a:ext cx="470748" cy="298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1" name="Google Shape;1921;p63"/>
          <p:cNvGrpSpPr/>
          <p:nvPr/>
        </p:nvGrpSpPr>
        <p:grpSpPr>
          <a:xfrm>
            <a:off x="3413631" y="2394036"/>
            <a:ext cx="322182" cy="988141"/>
            <a:chOff x="2999975" y="2187100"/>
            <a:chExt cx="447600" cy="1372800"/>
          </a:xfrm>
        </p:grpSpPr>
        <p:sp>
          <p:nvSpPr>
            <p:cNvPr id="1922" name="Google Shape;1922;p63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23" name="Google Shape;1923;p63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924" name="Google Shape;1924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25" name="Google Shape;1925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26" name="Google Shape;1926;p63"/>
                <p:cNvCxnSpPr>
                  <a:stCxn id="1925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28" name="Google Shape;1928;p63"/>
              <p:cNvCxnSpPr>
                <a:stCxn id="1925" idx="2"/>
                <a:endCxn id="1925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9" name="Google Shape;1929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30" name="Google Shape;1930;p63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931" name="Google Shape;1931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32" name="Google Shape;1932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33" name="Google Shape;1933;p63"/>
                <p:cNvCxnSpPr>
                  <a:stCxn id="1932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4" name="Google Shape;1934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35" name="Google Shape;1935;p63"/>
              <p:cNvCxnSpPr>
                <a:stCxn id="1932" idx="2"/>
                <a:endCxn id="1932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6" name="Google Shape;1936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37" name="Google Shape;1937;p63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938" name="Google Shape;1938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39" name="Google Shape;1939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40" name="Google Shape;1940;p63"/>
                <p:cNvCxnSpPr>
                  <a:stCxn id="1939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42" name="Google Shape;1942;p63"/>
              <p:cNvCxnSpPr>
                <a:stCxn id="1939" idx="2"/>
                <a:endCxn id="1939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3" name="Google Shape;1943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944" name="Google Shape;1944;p63"/>
          <p:cNvGrpSpPr/>
          <p:nvPr/>
        </p:nvGrpSpPr>
        <p:grpSpPr>
          <a:xfrm>
            <a:off x="5334844" y="2387024"/>
            <a:ext cx="322182" cy="988141"/>
            <a:chOff x="2999975" y="2187100"/>
            <a:chExt cx="447600" cy="1372800"/>
          </a:xfrm>
        </p:grpSpPr>
        <p:sp>
          <p:nvSpPr>
            <p:cNvPr id="1945" name="Google Shape;1945;p63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6" name="Google Shape;1946;p63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947" name="Google Shape;1947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48" name="Google Shape;1948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49" name="Google Shape;1949;p63"/>
                <p:cNvCxnSpPr>
                  <a:stCxn id="194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51" name="Google Shape;1951;p63"/>
              <p:cNvCxnSpPr>
                <a:stCxn id="1948" idx="2"/>
                <a:endCxn id="1948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2" name="Google Shape;1952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53" name="Google Shape;1953;p63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954" name="Google Shape;1954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55" name="Google Shape;1955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56" name="Google Shape;1956;p63"/>
                <p:cNvCxnSpPr>
                  <a:stCxn id="1955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7" name="Google Shape;1957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58" name="Google Shape;1958;p63"/>
              <p:cNvCxnSpPr>
                <a:stCxn id="1955" idx="2"/>
                <a:endCxn id="1955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9" name="Google Shape;1959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60" name="Google Shape;1960;p63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961" name="Google Shape;1961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62" name="Google Shape;1962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63" name="Google Shape;1963;p63"/>
                <p:cNvCxnSpPr>
                  <a:stCxn id="1962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4" name="Google Shape;1964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65" name="Google Shape;1965;p63"/>
              <p:cNvCxnSpPr>
                <a:stCxn id="1962" idx="2"/>
                <a:endCxn id="1962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6" name="Google Shape;1966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7" name="Google Shape;1967;p63"/>
          <p:cNvSpPr txBox="1"/>
          <p:nvPr/>
        </p:nvSpPr>
        <p:spPr>
          <a:xfrm>
            <a:off x="4176325" y="966375"/>
            <a:ext cx="3648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Bounds propagated through simple matrix multiplations!</a:t>
            </a:r>
            <a:endParaRPr sz="1800">
              <a:solidFill>
                <a:srgbClr val="0000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Fast and GPU-friendly</a:t>
            </a:r>
            <a:endParaRPr sz="1800">
              <a:solidFill>
                <a:srgbClr val="0000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968" name="Google Shape;1968;p63" descr="a_\text{CROWN}=W_3 D_2 W_2 D_1 W_1" title="MathEquation,#0000ff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4550500" y="4669650"/>
            <a:ext cx="2189500" cy="2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63" descr="D_1" title="MathEquation,#0000ff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5392977" y="2118825"/>
            <a:ext cx="248350" cy="1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0" name="Google Shape;1970;p63" descr="D_1" title="MathEquation,#0000ff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3450050" y="2135425"/>
            <a:ext cx="249360" cy="1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6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Use Linear Bounds to Prove Robustness</a:t>
            </a:r>
            <a:endParaRPr sz="2600"/>
          </a:p>
        </p:txBody>
      </p:sp>
      <p:sp>
        <p:nvSpPr>
          <p:cNvPr id="1976" name="Google Shape;1976;p6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977" name="Google Shape;1977;p64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49</a:t>
            </a:fld>
            <a:endParaRPr lang="en-GB"/>
          </a:p>
        </p:txBody>
      </p:sp>
      <p:grpSp>
        <p:nvGrpSpPr>
          <p:cNvPr id="1978" name="Google Shape;1978;p64"/>
          <p:cNvGrpSpPr/>
          <p:nvPr/>
        </p:nvGrpSpPr>
        <p:grpSpPr>
          <a:xfrm>
            <a:off x="1572575" y="1760488"/>
            <a:ext cx="2664000" cy="1823063"/>
            <a:chOff x="277175" y="3055888"/>
            <a:chExt cx="2664000" cy="1823063"/>
          </a:xfrm>
        </p:grpSpPr>
        <p:cxnSp>
          <p:nvCxnSpPr>
            <p:cNvPr id="1979" name="Google Shape;1979;p64"/>
            <p:cNvCxnSpPr/>
            <p:nvPr/>
          </p:nvCxnSpPr>
          <p:spPr>
            <a:xfrm rot="10800000" flipH="1">
              <a:off x="783750" y="3744975"/>
              <a:ext cx="1513800" cy="2487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980" name="Google Shape;1980;p64"/>
            <p:cNvGrpSpPr/>
            <p:nvPr/>
          </p:nvGrpSpPr>
          <p:grpSpPr>
            <a:xfrm>
              <a:off x="277175" y="3055888"/>
              <a:ext cx="2664000" cy="1823063"/>
              <a:chOff x="5834900" y="1276188"/>
              <a:chExt cx="2664000" cy="1823063"/>
            </a:xfrm>
          </p:grpSpPr>
          <p:cxnSp>
            <p:nvCxnSpPr>
              <p:cNvPr id="1981" name="Google Shape;1981;p64"/>
              <p:cNvCxnSpPr/>
              <p:nvPr/>
            </p:nvCxnSpPr>
            <p:spPr>
              <a:xfrm>
                <a:off x="6079494" y="1276188"/>
                <a:ext cx="0" cy="1755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982" name="Google Shape;1982;p64"/>
              <p:cNvCxnSpPr/>
              <p:nvPr/>
            </p:nvCxnSpPr>
            <p:spPr>
              <a:xfrm>
                <a:off x="5834900" y="2638288"/>
                <a:ext cx="2664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983" name="Google Shape;1983;p64"/>
              <p:cNvSpPr/>
              <p:nvPr/>
            </p:nvSpPr>
            <p:spPr>
              <a:xfrm>
                <a:off x="6078582" y="1293667"/>
                <a:ext cx="2319243" cy="1062076"/>
              </a:xfrm>
              <a:custGeom>
                <a:avLst/>
                <a:gdLst/>
                <a:ahLst/>
                <a:cxnLst/>
                <a:rect l="l" t="t" r="r" b="b"/>
                <a:pathLst>
                  <a:path w="134644" h="61659" extrusionOk="0">
                    <a:moveTo>
                      <a:pt x="0" y="61659"/>
                    </a:moveTo>
                    <a:cubicBezTo>
                      <a:pt x="3006" y="56696"/>
                      <a:pt x="9788" y="35443"/>
                      <a:pt x="18037" y="31878"/>
                    </a:cubicBezTo>
                    <a:cubicBezTo>
                      <a:pt x="26286" y="28313"/>
                      <a:pt x="41735" y="40826"/>
                      <a:pt x="49495" y="40267"/>
                    </a:cubicBezTo>
                    <a:cubicBezTo>
                      <a:pt x="57255" y="39708"/>
                      <a:pt x="59003" y="29502"/>
                      <a:pt x="64596" y="28523"/>
                    </a:cubicBezTo>
                    <a:cubicBezTo>
                      <a:pt x="70189" y="27544"/>
                      <a:pt x="76829" y="37471"/>
                      <a:pt x="83051" y="34395"/>
                    </a:cubicBezTo>
                    <a:cubicBezTo>
                      <a:pt x="89273" y="31319"/>
                      <a:pt x="93328" y="15800"/>
                      <a:pt x="101927" y="10067"/>
                    </a:cubicBezTo>
                    <a:cubicBezTo>
                      <a:pt x="110526" y="4335"/>
                      <a:pt x="129191" y="1678"/>
                      <a:pt x="134644" y="0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984" name="Google Shape;1984;p64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9583" y="1276188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985" name="Google Shape;1985;p64"/>
              <p:cNvCxnSpPr/>
              <p:nvPr/>
            </p:nvCxnSpPr>
            <p:spPr>
              <a:xfrm rot="10800000">
                <a:off x="6482562" y="1681336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6" name="Google Shape;1986;p64"/>
              <p:cNvCxnSpPr/>
              <p:nvPr/>
            </p:nvCxnSpPr>
            <p:spPr>
              <a:xfrm>
                <a:off x="6471950" y="2638283"/>
                <a:ext cx="1141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A4C2F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1987" name="Google Shape;1987;p64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6216" y="2670333"/>
                <a:ext cx="97798" cy="11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88" name="Google Shape;1988;p64"/>
              <p:cNvSpPr/>
              <p:nvPr/>
            </p:nvSpPr>
            <p:spPr>
              <a:xfrm>
                <a:off x="6484600" y="1758838"/>
                <a:ext cx="1139300" cy="234175"/>
              </a:xfrm>
              <a:custGeom>
                <a:avLst/>
                <a:gdLst/>
                <a:ahLst/>
                <a:cxnLst/>
                <a:rect l="l" t="t" r="r" b="b"/>
                <a:pathLst>
                  <a:path w="45572" h="9367" extrusionOk="0">
                    <a:moveTo>
                      <a:pt x="0" y="3198"/>
                    </a:moveTo>
                    <a:cubicBezTo>
                      <a:pt x="644" y="3354"/>
                      <a:pt x="822" y="3109"/>
                      <a:pt x="3864" y="4131"/>
                    </a:cubicBezTo>
                    <a:cubicBezTo>
                      <a:pt x="6907" y="5153"/>
                      <a:pt x="14188" y="9842"/>
                      <a:pt x="18255" y="9328"/>
                    </a:cubicBezTo>
                    <a:cubicBezTo>
                      <a:pt x="22322" y="8814"/>
                      <a:pt x="24846" y="1667"/>
                      <a:pt x="28266" y="1045"/>
                    </a:cubicBezTo>
                    <a:cubicBezTo>
                      <a:pt x="31686" y="423"/>
                      <a:pt x="36292" y="5283"/>
                      <a:pt x="38776" y="5597"/>
                    </a:cubicBezTo>
                    <a:cubicBezTo>
                      <a:pt x="41261" y="5912"/>
                      <a:pt x="42040" y="3865"/>
                      <a:pt x="43173" y="2932"/>
                    </a:cubicBezTo>
                    <a:cubicBezTo>
                      <a:pt x="44306" y="1999"/>
                      <a:pt x="45172" y="489"/>
                      <a:pt x="45572" y="0"/>
                    </a:cubicBezTo>
                  </a:path>
                </a:pathLst>
              </a:custGeom>
              <a:noFill/>
              <a:ln w="19050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989" name="Google Shape;1989;p64"/>
              <p:cNvCxnSpPr/>
              <p:nvPr/>
            </p:nvCxnSpPr>
            <p:spPr>
              <a:xfrm rot="10800000">
                <a:off x="7623912" y="1695023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1990" name="Google Shape;1990;p64" descr="f(x) &gt; 0, \forall x \in \mathcal{S}" title="MathEquation,#000000"/>
              <p:cNvPicPr preferRelativeResize="0"/>
              <p:nvPr/>
            </p:nvPicPr>
            <p:blipFill rotWithShape="1">
              <a:blip r:embed="rId5"/>
              <a:srcRect l="88467" r="-4" b="9057"/>
              <a:stretch>
                <a:fillRect/>
              </a:stretch>
            </p:blipFill>
            <p:spPr>
              <a:xfrm>
                <a:off x="6959334" y="2876075"/>
                <a:ext cx="172900" cy="2231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1" name="Google Shape;1991;p64"/>
              <p:cNvSpPr/>
              <p:nvPr/>
            </p:nvSpPr>
            <p:spPr>
              <a:xfrm rot="-5400000">
                <a:off x="6964875" y="2206850"/>
                <a:ext cx="168300" cy="11397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92" name="Google Shape;1992;p64"/>
          <p:cNvGrpSpPr/>
          <p:nvPr/>
        </p:nvGrpSpPr>
        <p:grpSpPr>
          <a:xfrm>
            <a:off x="1066025" y="4205275"/>
            <a:ext cx="7773300" cy="461700"/>
            <a:chOff x="913625" y="4357675"/>
            <a:chExt cx="7773300" cy="461700"/>
          </a:xfrm>
        </p:grpSpPr>
        <p:sp>
          <p:nvSpPr>
            <p:cNvPr id="1993" name="Google Shape;1993;p64"/>
            <p:cNvSpPr txBox="1"/>
            <p:nvPr/>
          </p:nvSpPr>
          <p:spPr>
            <a:xfrm>
              <a:off x="913625" y="4357675"/>
              <a:ext cx="777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Lower bound &gt; </a:t>
              </a:r>
              <a:r>
                <a:rPr lang="en-GB" sz="18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                               verified (always a stop sign)</a:t>
              </a:r>
              <a:endParaRPr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994" name="Google Shape;1994;p64" descr="f(x) &gt; 0, \forall x \in \mathcal{S}" title="MathEquation,#000000"/>
            <p:cNvPicPr preferRelativeResize="0"/>
            <p:nvPr/>
          </p:nvPicPr>
          <p:blipFill rotWithShape="1">
            <a:blip r:embed="rId5"/>
            <a:srcRect r="46743"/>
            <a:stretch>
              <a:fillRect/>
            </a:stretch>
          </p:blipFill>
          <p:spPr>
            <a:xfrm>
              <a:off x="3365319" y="4454150"/>
              <a:ext cx="1022150" cy="314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5" name="Google Shape;1995;p64"/>
            <p:cNvSpPr/>
            <p:nvPr/>
          </p:nvSpPr>
          <p:spPr>
            <a:xfrm>
              <a:off x="2890688" y="4505963"/>
              <a:ext cx="332400" cy="210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4"/>
            <p:cNvSpPr/>
            <p:nvPr/>
          </p:nvSpPr>
          <p:spPr>
            <a:xfrm>
              <a:off x="4529688" y="4505975"/>
              <a:ext cx="332400" cy="210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7" name="Google Shape;1997;p64"/>
          <p:cNvGrpSpPr/>
          <p:nvPr/>
        </p:nvGrpSpPr>
        <p:grpSpPr>
          <a:xfrm>
            <a:off x="4486213" y="1527038"/>
            <a:ext cx="4186413" cy="2338588"/>
            <a:chOff x="4486213" y="1527038"/>
            <a:chExt cx="4186413" cy="2338588"/>
          </a:xfrm>
        </p:grpSpPr>
        <p:grpSp>
          <p:nvGrpSpPr>
            <p:cNvPr id="1998" name="Google Shape;1998;p64"/>
            <p:cNvGrpSpPr/>
            <p:nvPr/>
          </p:nvGrpSpPr>
          <p:grpSpPr>
            <a:xfrm>
              <a:off x="4486213" y="1527038"/>
              <a:ext cx="4186413" cy="2338588"/>
              <a:chOff x="4486213" y="1527038"/>
              <a:chExt cx="4186413" cy="2338588"/>
            </a:xfrm>
          </p:grpSpPr>
          <p:pic>
            <p:nvPicPr>
              <p:cNvPr id="1999" name="Google Shape;1999;p64" descr="x_1 \in \mathcal{S}" title="MathEquation,#000000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0725" y="3665825"/>
                <a:ext cx="545528" cy="199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0" name="Google Shape;2000;p64" descr="x_2 \in \mathcal{S}" title="MathEquation,#000000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89450" y="3665825"/>
                <a:ext cx="545528" cy="199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1" name="Google Shape;2001;p64" descr="x_3 \in \mathcal{S}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98200" y="3665825"/>
                <a:ext cx="545526" cy="1997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02" name="Google Shape;2002;p64"/>
              <p:cNvSpPr txBox="1"/>
              <p:nvPr/>
            </p:nvSpPr>
            <p:spPr>
              <a:xfrm>
                <a:off x="8006925" y="2478063"/>
                <a:ext cx="665700" cy="69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300">
                    <a:latin typeface="Open Sans" panose="020B0606030504020204"/>
                    <a:ea typeface="Open Sans" panose="020B0606030504020204"/>
                    <a:cs typeface="Open Sans" panose="020B0606030504020204"/>
                    <a:sym typeface="Open Sans" panose="020B0606030504020204"/>
                  </a:rPr>
                  <a:t>…</a:t>
                </a:r>
                <a:endParaRPr sz="3300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grpSp>
            <p:nvGrpSpPr>
              <p:cNvPr id="2003" name="Google Shape;2003;p64"/>
              <p:cNvGrpSpPr/>
              <p:nvPr/>
            </p:nvGrpSpPr>
            <p:grpSpPr>
              <a:xfrm>
                <a:off x="4486213" y="1527038"/>
                <a:ext cx="3475800" cy="462063"/>
                <a:chOff x="856475" y="3733750"/>
                <a:chExt cx="3475800" cy="462063"/>
              </a:xfrm>
            </p:grpSpPr>
            <p:sp>
              <p:nvSpPr>
                <p:cNvPr id="2004" name="Google Shape;2004;p64"/>
                <p:cNvSpPr/>
                <p:nvPr/>
              </p:nvSpPr>
              <p:spPr>
                <a:xfrm>
                  <a:off x="856475" y="3733750"/>
                  <a:ext cx="3475800" cy="461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CFE2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005" name="Google Shape;2005;p64"/>
                <p:cNvSpPr txBox="1"/>
                <p:nvPr/>
              </p:nvSpPr>
              <p:spPr>
                <a:xfrm>
                  <a:off x="952625" y="3734113"/>
                  <a:ext cx="9768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Georgia" panose="02040502050405020303"/>
                      <a:ea typeface="Georgia" panose="02040502050405020303"/>
                      <a:cs typeface="Georgia" panose="02040502050405020303"/>
                      <a:sym typeface="Georgia" panose="02040502050405020303"/>
                    </a:rPr>
                    <a:t>Prove:</a:t>
                  </a:r>
                  <a:endParaRPr sz="1800">
                    <a:latin typeface="Georgia" panose="02040502050405020303"/>
                    <a:ea typeface="Georgia" panose="02040502050405020303"/>
                    <a:cs typeface="Georgia" panose="02040502050405020303"/>
                    <a:sym typeface="Georgia" panose="02040502050405020303"/>
                  </a:endParaRPr>
                </a:p>
              </p:txBody>
            </p:sp>
            <p:pic>
              <p:nvPicPr>
                <p:cNvPr id="2006" name="Google Shape;2006;p64" descr="\forall x \in \mathcal{S}, \ f(x) &gt; 0" title="MathEquation,#000000"/>
                <p:cNvPicPr preferRelativeResize="0"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02575" y="3786550"/>
                  <a:ext cx="1996400" cy="3568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07" name="Google Shape;2007;p64"/>
            <p:cNvGrpSpPr/>
            <p:nvPr/>
          </p:nvGrpSpPr>
          <p:grpSpPr>
            <a:xfrm>
              <a:off x="4602587" y="2458413"/>
              <a:ext cx="3315486" cy="1037064"/>
              <a:chOff x="4602587" y="2458413"/>
              <a:chExt cx="3315486" cy="1037064"/>
            </a:xfrm>
          </p:grpSpPr>
          <p:grpSp>
            <p:nvGrpSpPr>
              <p:cNvPr id="2008" name="Google Shape;2008;p64"/>
              <p:cNvGrpSpPr/>
              <p:nvPr/>
            </p:nvGrpSpPr>
            <p:grpSpPr>
              <a:xfrm>
                <a:off x="4602587" y="2458413"/>
                <a:ext cx="1021798" cy="1025289"/>
                <a:chOff x="2708099" y="2963363"/>
                <a:chExt cx="1021798" cy="1025289"/>
              </a:xfrm>
            </p:grpSpPr>
            <p:pic>
              <p:nvPicPr>
                <p:cNvPr id="2009" name="Google Shape;2009;p64"/>
                <p:cNvPicPr preferRelativeResize="0"/>
                <p:nvPr/>
              </p:nvPicPr>
              <p:blipFill rotWithShape="1">
                <a:blip r:embed="rId10"/>
                <a:srcRect l="14039" t="9153" r="55651" b="45213"/>
                <a:stretch>
                  <a:fillRect/>
                </a:stretch>
              </p:blipFill>
              <p:spPr>
                <a:xfrm>
                  <a:off x="2708099" y="2963363"/>
                  <a:ext cx="1021798" cy="10252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0" name="Google Shape;2010;p64"/>
                <p:cNvSpPr/>
                <p:nvPr/>
              </p:nvSpPr>
              <p:spPr>
                <a:xfrm>
                  <a:off x="3130675" y="3637138"/>
                  <a:ext cx="288000" cy="1422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00FF00"/>
                    </a:solidFill>
                  </a:endParaRPr>
                </a:p>
              </p:txBody>
            </p:sp>
          </p:grpSp>
          <p:grpSp>
            <p:nvGrpSpPr>
              <p:cNvPr id="2011" name="Google Shape;2011;p64"/>
              <p:cNvGrpSpPr/>
              <p:nvPr/>
            </p:nvGrpSpPr>
            <p:grpSpPr>
              <a:xfrm>
                <a:off x="6896274" y="2470188"/>
                <a:ext cx="1021798" cy="1025289"/>
                <a:chOff x="2708099" y="2963363"/>
                <a:chExt cx="1021798" cy="1025289"/>
              </a:xfrm>
            </p:grpSpPr>
            <p:pic>
              <p:nvPicPr>
                <p:cNvPr id="2012" name="Google Shape;2012;p64"/>
                <p:cNvPicPr preferRelativeResize="0"/>
                <p:nvPr/>
              </p:nvPicPr>
              <p:blipFill rotWithShape="1">
                <a:blip r:embed="rId10"/>
                <a:srcRect l="14039" t="9153" r="55651" b="45213"/>
                <a:stretch>
                  <a:fillRect/>
                </a:stretch>
              </p:blipFill>
              <p:spPr>
                <a:xfrm>
                  <a:off x="2708099" y="2963363"/>
                  <a:ext cx="1021798" cy="10252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3" name="Google Shape;2013;p64"/>
                <p:cNvSpPr/>
                <p:nvPr/>
              </p:nvSpPr>
              <p:spPr>
                <a:xfrm>
                  <a:off x="3130675" y="3637138"/>
                  <a:ext cx="288000" cy="142200"/>
                </a:xfrm>
                <a:prstGeom prst="rect">
                  <a:avLst/>
                </a:prstGeom>
                <a:gradFill>
                  <a:gsLst>
                    <a:gs pos="0">
                      <a:srgbClr val="D9EAD3"/>
                    </a:gs>
                    <a:gs pos="100000">
                      <a:srgbClr val="8277CF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00FF00"/>
                    </a:solidFill>
                  </a:endParaRPr>
                </a:p>
              </p:txBody>
            </p:sp>
          </p:grpSp>
          <p:grpSp>
            <p:nvGrpSpPr>
              <p:cNvPr id="2014" name="Google Shape;2014;p64"/>
              <p:cNvGrpSpPr/>
              <p:nvPr/>
            </p:nvGrpSpPr>
            <p:grpSpPr>
              <a:xfrm>
                <a:off x="5749424" y="2470188"/>
                <a:ext cx="1021798" cy="1025289"/>
                <a:chOff x="5598599" y="3465563"/>
                <a:chExt cx="1021798" cy="1025289"/>
              </a:xfrm>
            </p:grpSpPr>
            <p:pic>
              <p:nvPicPr>
                <p:cNvPr id="2015" name="Google Shape;2015;p64"/>
                <p:cNvPicPr preferRelativeResize="0"/>
                <p:nvPr/>
              </p:nvPicPr>
              <p:blipFill rotWithShape="1">
                <a:blip r:embed="rId10"/>
                <a:srcRect l="14039" t="9153" r="55651" b="45213"/>
                <a:stretch>
                  <a:fillRect/>
                </a:stretch>
              </p:blipFill>
              <p:spPr>
                <a:xfrm>
                  <a:off x="5598599" y="3465563"/>
                  <a:ext cx="1021798" cy="10252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016" name="Google Shape;2016;p64"/>
                <p:cNvGrpSpPr/>
                <p:nvPr/>
              </p:nvGrpSpPr>
              <p:grpSpPr>
                <a:xfrm>
                  <a:off x="6033775" y="4130800"/>
                  <a:ext cx="288000" cy="144000"/>
                  <a:chOff x="7563850" y="1053000"/>
                  <a:chExt cx="1152000" cy="576000"/>
                </a:xfrm>
              </p:grpSpPr>
              <p:sp>
                <p:nvSpPr>
                  <p:cNvPr id="2017" name="Google Shape;2017;p64"/>
                  <p:cNvSpPr/>
                  <p:nvPr/>
                </p:nvSpPr>
                <p:spPr>
                  <a:xfrm>
                    <a:off x="7563850" y="1053000"/>
                    <a:ext cx="288000" cy="2880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8" name="Google Shape;2018;p64"/>
                  <p:cNvSpPr/>
                  <p:nvPr/>
                </p:nvSpPr>
                <p:spPr>
                  <a:xfrm>
                    <a:off x="7851850" y="1053000"/>
                    <a:ext cx="288000" cy="288000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9" name="Google Shape;2019;p64"/>
                  <p:cNvSpPr/>
                  <p:nvPr/>
                </p:nvSpPr>
                <p:spPr>
                  <a:xfrm>
                    <a:off x="8139850" y="1053000"/>
                    <a:ext cx="288000" cy="2880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0" name="Google Shape;2020;p64"/>
                  <p:cNvSpPr/>
                  <p:nvPr/>
                </p:nvSpPr>
                <p:spPr>
                  <a:xfrm>
                    <a:off x="8427850" y="1053000"/>
                    <a:ext cx="288000" cy="288000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1" name="Google Shape;2021;p64"/>
                  <p:cNvSpPr/>
                  <p:nvPr/>
                </p:nvSpPr>
                <p:spPr>
                  <a:xfrm>
                    <a:off x="7851850" y="1341000"/>
                    <a:ext cx="288000" cy="2880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2" name="Google Shape;2022;p64"/>
                  <p:cNvSpPr/>
                  <p:nvPr/>
                </p:nvSpPr>
                <p:spPr>
                  <a:xfrm>
                    <a:off x="8139850" y="1341000"/>
                    <a:ext cx="288000" cy="288000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3" name="Google Shape;2023;p64"/>
                  <p:cNvSpPr/>
                  <p:nvPr/>
                </p:nvSpPr>
                <p:spPr>
                  <a:xfrm>
                    <a:off x="8427850" y="1341000"/>
                    <a:ext cx="288000" cy="2880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4" name="Google Shape;2024;p64"/>
                  <p:cNvSpPr/>
                  <p:nvPr/>
                </p:nvSpPr>
                <p:spPr>
                  <a:xfrm>
                    <a:off x="7563850" y="1341000"/>
                    <a:ext cx="288000" cy="288000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2025" name="Google Shape;2025;p64"/>
          <p:cNvSpPr txBox="1"/>
          <p:nvPr/>
        </p:nvSpPr>
        <p:spPr>
          <a:xfrm rot="-492253">
            <a:off x="1936150" y="2484432"/>
            <a:ext cx="2787629" cy="4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CROWN lower bound</a:t>
            </a:r>
            <a:endParaRPr>
              <a:solidFill>
                <a:srgbClr val="0000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5"/>
          <p:cNvSpPr/>
          <p:nvPr/>
        </p:nvSpPr>
        <p:spPr>
          <a:xfrm>
            <a:off x="5418500" y="1239625"/>
            <a:ext cx="3432900" cy="2570400"/>
          </a:xfrm>
          <a:prstGeom prst="roundRect">
            <a:avLst>
              <a:gd name="adj" fmla="val 840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55"/>
          <p:cNvSpPr/>
          <p:nvPr/>
        </p:nvSpPr>
        <p:spPr>
          <a:xfrm>
            <a:off x="1909400" y="1251050"/>
            <a:ext cx="3432900" cy="2570400"/>
          </a:xfrm>
          <a:prstGeom prst="roundRect">
            <a:avLst>
              <a:gd name="adj" fmla="val 840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5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2"/>
                </a:solidFill>
              </a:rPr>
              <a:t>Benchmarks: CROWN-family bound propagation algorithms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1142" name="Google Shape;1142;p5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50</a:t>
            </a:fld>
            <a:endParaRPr lang="en-GB"/>
          </a:p>
        </p:txBody>
      </p:sp>
      <p:sp>
        <p:nvSpPr>
          <p:cNvPr id="1143" name="Google Shape;1143;p5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44" name="Google Shape;1144;p55"/>
          <p:cNvSpPr/>
          <p:nvPr/>
        </p:nvSpPr>
        <p:spPr>
          <a:xfrm>
            <a:off x="342900" y="4349175"/>
            <a:ext cx="8648700" cy="4002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Key enablers: specialized bound propagation solver + GPU acceleration + BaB</a:t>
            </a:r>
            <a:endParaRPr sz="1800"/>
          </a:p>
        </p:txBody>
      </p:sp>
      <p:sp>
        <p:nvSpPr>
          <p:cNvPr id="1145" name="Google Shape;1145;p55"/>
          <p:cNvSpPr txBox="1"/>
          <p:nvPr/>
        </p:nvSpPr>
        <p:spPr>
          <a:xfrm>
            <a:off x="2580650" y="3838325"/>
            <a:ext cx="225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size: ~5k neurons</a:t>
            </a:r>
          </a:p>
        </p:txBody>
      </p:sp>
      <p:sp>
        <p:nvSpPr>
          <p:cNvPr id="1146" name="Google Shape;1146;p55"/>
          <p:cNvSpPr txBox="1"/>
          <p:nvPr/>
        </p:nvSpPr>
        <p:spPr>
          <a:xfrm>
            <a:off x="5550275" y="3760550"/>
            <a:ext cx="3288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80000"/>
                </a:solidFill>
              </a:rPr>
              <a:t>Integer programming and semidefinite programming </a:t>
            </a:r>
            <a:r>
              <a:rPr lang="en-GB" sz="1200" b="1">
                <a:solidFill>
                  <a:srgbClr val="FF0000"/>
                </a:solidFill>
              </a:rPr>
              <a:t>not plotted</a:t>
            </a:r>
            <a:r>
              <a:rPr lang="en-GB" sz="1200">
                <a:solidFill>
                  <a:srgbClr val="FF0000"/>
                </a:solidFill>
              </a:rPr>
              <a:t> (</a:t>
            </a:r>
            <a:r>
              <a:rPr lang="en-GB" sz="1200" b="1">
                <a:solidFill>
                  <a:srgbClr val="FF0000"/>
                </a:solidFill>
              </a:rPr>
              <a:t>~1 day</a:t>
            </a:r>
            <a:r>
              <a:rPr lang="en-GB" sz="1200">
                <a:solidFill>
                  <a:srgbClr val="FF0000"/>
                </a:solidFill>
              </a:rPr>
              <a:t>)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147" name="Google Shape;1147;p55"/>
          <p:cNvSpPr/>
          <p:nvPr/>
        </p:nvSpPr>
        <p:spPr>
          <a:xfrm>
            <a:off x="2845113" y="1029938"/>
            <a:ext cx="1626300" cy="4890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Verified images%</a:t>
            </a:r>
            <a:b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GB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(higher is better)</a:t>
            </a:r>
          </a:p>
        </p:txBody>
      </p:sp>
      <p:sp>
        <p:nvSpPr>
          <p:cNvPr id="1148" name="Google Shape;1148;p55"/>
          <p:cNvSpPr/>
          <p:nvPr/>
        </p:nvSpPr>
        <p:spPr>
          <a:xfrm>
            <a:off x="6381563" y="1016888"/>
            <a:ext cx="1626300" cy="4890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Avg. time (s)</a:t>
            </a:r>
            <a:b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GB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(lower is better)</a:t>
            </a:r>
            <a:endParaRPr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149" name="Google Shape;1149;p55" title="Chart"/>
          <p:cNvPicPr preferRelativeResize="0"/>
          <p:nvPr/>
        </p:nvPicPr>
        <p:blipFill rotWithShape="1">
          <a:blip r:embed="rId3"/>
          <a:srcRect l="70041" r="3085" b="50037"/>
          <a:stretch>
            <a:fillRect/>
          </a:stretch>
        </p:blipFill>
        <p:spPr>
          <a:xfrm>
            <a:off x="254600" y="1444475"/>
            <a:ext cx="1559598" cy="11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55" title="Chart"/>
          <p:cNvPicPr preferRelativeResize="0"/>
          <p:nvPr/>
        </p:nvPicPr>
        <p:blipFill rotWithShape="1">
          <a:blip r:embed="rId4"/>
          <a:srcRect l="8513" t="4060" r="30147" b="5507"/>
          <a:stretch>
            <a:fillRect/>
          </a:stretch>
        </p:blipFill>
        <p:spPr>
          <a:xfrm>
            <a:off x="1959025" y="1703725"/>
            <a:ext cx="3343698" cy="20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55" title="Chart"/>
          <p:cNvPicPr preferRelativeResize="0"/>
          <p:nvPr/>
        </p:nvPicPr>
        <p:blipFill rotWithShape="1">
          <a:blip r:embed="rId5"/>
          <a:srcRect l="7949" t="4664" r="28906" b="4772"/>
          <a:stretch>
            <a:fillRect/>
          </a:stretch>
        </p:blipFill>
        <p:spPr>
          <a:xfrm>
            <a:off x="5461575" y="1705053"/>
            <a:ext cx="3343698" cy="20209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2" name="Google Shape;1152;p55"/>
          <p:cNvGrpSpPr/>
          <p:nvPr/>
        </p:nvGrpSpPr>
        <p:grpSpPr>
          <a:xfrm>
            <a:off x="2387925" y="1624050"/>
            <a:ext cx="2553950" cy="830375"/>
            <a:chOff x="2648075" y="1515063"/>
            <a:chExt cx="2553950" cy="830375"/>
          </a:xfrm>
        </p:grpSpPr>
        <p:cxnSp>
          <p:nvCxnSpPr>
            <p:cNvPr id="1153" name="Google Shape;1153;p55"/>
            <p:cNvCxnSpPr/>
            <p:nvPr/>
          </p:nvCxnSpPr>
          <p:spPr>
            <a:xfrm>
              <a:off x="2815775" y="1785575"/>
              <a:ext cx="9453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4" name="Google Shape;1154;p55"/>
            <p:cNvCxnSpPr/>
            <p:nvPr/>
          </p:nvCxnSpPr>
          <p:spPr>
            <a:xfrm>
              <a:off x="4194625" y="2286350"/>
              <a:ext cx="9252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5" name="Google Shape;1155;p55"/>
            <p:cNvSpPr txBox="1"/>
            <p:nvPr/>
          </p:nvSpPr>
          <p:spPr>
            <a:xfrm>
              <a:off x="2648075" y="1515063"/>
              <a:ext cx="2096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FF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Upper bound 76.5%</a:t>
              </a:r>
              <a:endParaRPr sz="11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1156" name="Google Shape;1156;p55"/>
            <p:cNvSpPr txBox="1"/>
            <p:nvPr/>
          </p:nvSpPr>
          <p:spPr>
            <a:xfrm>
              <a:off x="4417225" y="1991438"/>
              <a:ext cx="784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FF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53.0%</a:t>
              </a:r>
              <a:endParaRPr sz="11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grpSp>
        <p:nvGrpSpPr>
          <p:cNvPr id="1157" name="Google Shape;1157;p55"/>
          <p:cNvGrpSpPr/>
          <p:nvPr/>
        </p:nvGrpSpPr>
        <p:grpSpPr>
          <a:xfrm>
            <a:off x="3012950" y="1972867"/>
            <a:ext cx="1761229" cy="1569220"/>
            <a:chOff x="2340437" y="1842866"/>
            <a:chExt cx="1756837" cy="1423200"/>
          </a:xfrm>
        </p:grpSpPr>
        <p:cxnSp>
          <p:nvCxnSpPr>
            <p:cNvPr id="1158" name="Google Shape;1158;p55"/>
            <p:cNvCxnSpPr/>
            <p:nvPr/>
          </p:nvCxnSpPr>
          <p:spPr>
            <a:xfrm rot="10800000" flipH="1">
              <a:off x="2340437" y="1842866"/>
              <a:ext cx="431100" cy="1423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59" name="Google Shape;1159;p55"/>
            <p:cNvCxnSpPr/>
            <p:nvPr/>
          </p:nvCxnSpPr>
          <p:spPr>
            <a:xfrm rot="10800000" flipH="1">
              <a:off x="3690474" y="2336082"/>
              <a:ext cx="406800" cy="5223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1160" name="Google Shape;1160;p55" title="Chart"/>
          <p:cNvPicPr preferRelativeResize="0"/>
          <p:nvPr/>
        </p:nvPicPr>
        <p:blipFill rotWithShape="1">
          <a:blip r:embed="rId6"/>
          <a:srcRect l="70718" t="55692" r="3130" b="11588"/>
          <a:stretch>
            <a:fillRect/>
          </a:stretch>
        </p:blipFill>
        <p:spPr>
          <a:xfrm>
            <a:off x="278950" y="2802575"/>
            <a:ext cx="1210726" cy="85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55"/>
          <p:cNvSpPr txBox="1"/>
          <p:nvPr/>
        </p:nvSpPr>
        <p:spPr>
          <a:xfrm>
            <a:off x="-134900" y="3611900"/>
            <a:ext cx="225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Pixel perturbation magnitude:</a:t>
            </a:r>
            <a:br>
              <a:rPr lang="en-GB" sz="1000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GB" sz="1000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0.3 for MNIST, 2/255 for CIFAR</a:t>
            </a:r>
            <a:endParaRPr sz="1000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62" name="Google Shape;1162;p55"/>
          <p:cNvSpPr/>
          <p:nvPr/>
        </p:nvSpPr>
        <p:spPr>
          <a:xfrm>
            <a:off x="261000" y="1464850"/>
            <a:ext cx="1559700" cy="2191800"/>
          </a:xfrm>
          <a:prstGeom prst="roundRect">
            <a:avLst>
              <a:gd name="adj" fmla="val 894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55"/>
          <p:cNvSpPr txBox="1"/>
          <p:nvPr/>
        </p:nvSpPr>
        <p:spPr>
          <a:xfrm>
            <a:off x="7610900" y="2456225"/>
            <a:ext cx="2096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 day -&gt; 1 minute</a:t>
            </a:r>
            <a:endParaRPr sz="1100">
              <a:solidFill>
                <a:srgbClr val="0000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MILP/LP vs Bound Propagation</a:t>
            </a:r>
          </a:p>
        </p:txBody>
      </p:sp>
      <p:sp>
        <p:nvSpPr>
          <p:cNvPr id="2042" name="Google Shape;2042;p66"/>
          <p:cNvSpPr txBox="1"/>
          <p:nvPr/>
        </p:nvSpPr>
        <p:spPr>
          <a:xfrm>
            <a:off x="171450" y="1136650"/>
            <a:ext cx="8972550" cy="40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Bound propagation: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Scalable and fast propagation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GPU friendly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Incomplete verification (can be made complete with partitioning the input domain)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Bounds are looser compared to LP; much looser compared to MILP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dirty="0">
                <a:solidFill>
                  <a:schemeClr val="dk2"/>
                </a:solidFill>
              </a:rPr>
              <a:t>MILP/LP: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Tighter solution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Does no scale (MILP ~10k neurons, LP ~100k neurons)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Much slower; cannot utilize GPU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branching heuristic</a:t>
            </a:r>
          </a:p>
        </p:txBody>
      </p:sp>
      <p:sp>
        <p:nvSpPr>
          <p:cNvPr id="1134" name="Google Shape;113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S = {x</a:t>
            </a:r>
            <a:r>
              <a:rPr lang="en-GB" baseline="-25000"/>
              <a:t>1</a:t>
            </a:r>
            <a:r>
              <a:rPr lang="en-GB"/>
              <a:t> ∈ [-1, 1], x</a:t>
            </a:r>
            <a:r>
              <a:rPr lang="en-GB" baseline="-25000"/>
              <a:t>2</a:t>
            </a:r>
            <a:r>
              <a:rPr lang="en-GB"/>
              <a:t> ∈ [-1, 1]}    =&gt;  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 baseline="-25000"/>
              <a:t>1</a:t>
            </a:r>
            <a:r>
              <a:rPr lang="en-GB"/>
              <a:t> = {x</a:t>
            </a:r>
            <a:r>
              <a:rPr lang="en-GB" baseline="-25000"/>
              <a:t>1</a:t>
            </a:r>
            <a:r>
              <a:rPr lang="en-GB"/>
              <a:t> ∈ [-1, 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], x</a:t>
            </a:r>
            <a:r>
              <a:rPr lang="en-GB" baseline="-25000"/>
              <a:t>2</a:t>
            </a:r>
            <a:r>
              <a:rPr lang="en-GB"/>
              <a:t> ∈ [-1, 1]}, S</a:t>
            </a:r>
            <a:r>
              <a:rPr lang="en-GB" baseline="-25000"/>
              <a:t>2</a:t>
            </a:r>
            <a:r>
              <a:rPr lang="en-GB"/>
              <a:t> = {x</a:t>
            </a:r>
            <a:r>
              <a:rPr lang="en-GB" baseline="-25000"/>
              <a:t>2</a:t>
            </a:r>
            <a:r>
              <a:rPr lang="en-GB"/>
              <a:t> ∈ [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, 1], x</a:t>
            </a:r>
            <a:r>
              <a:rPr lang="en-GB" baseline="-25000"/>
              <a:t>2</a:t>
            </a:r>
            <a:r>
              <a:rPr lang="en-GB"/>
              <a:t> ∈ [-1, 1]}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OR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 baseline="-25000"/>
              <a:t>1</a:t>
            </a:r>
            <a:r>
              <a:rPr lang="en-GB"/>
              <a:t> = {x</a:t>
            </a:r>
            <a:r>
              <a:rPr lang="en-GB" baseline="-25000"/>
              <a:t>1</a:t>
            </a:r>
            <a:r>
              <a:rPr lang="en-GB"/>
              <a:t> ∈[-1, 1] x</a:t>
            </a:r>
            <a:r>
              <a:rPr lang="en-GB" baseline="-25000"/>
              <a:t>2</a:t>
            </a:r>
            <a:r>
              <a:rPr lang="en-GB"/>
              <a:t> ∈ [-1, 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]}, S</a:t>
            </a:r>
            <a:r>
              <a:rPr lang="en-GB" baseline="-25000"/>
              <a:t>2</a:t>
            </a:r>
            <a:r>
              <a:rPr lang="en-GB"/>
              <a:t> = {x</a:t>
            </a:r>
            <a:r>
              <a:rPr lang="en-GB" baseline="-25000"/>
              <a:t>2</a:t>
            </a:r>
            <a:r>
              <a:rPr lang="en-GB"/>
              <a:t> ∈ [-1, 1], x</a:t>
            </a:r>
            <a:r>
              <a:rPr lang="en-GB" baseline="-25000"/>
              <a:t>2</a:t>
            </a:r>
            <a:r>
              <a:rPr lang="en-GB"/>
              <a:t> ∈ [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, 1]}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can estimate the impact on lower bound given changes on x</a:t>
            </a:r>
            <a:r>
              <a:rPr lang="en-GB" baseline="-25000"/>
              <a:t>1</a:t>
            </a:r>
            <a:r>
              <a:rPr lang="en-GB"/>
              <a:t> and x</a:t>
            </a:r>
            <a:r>
              <a:rPr lang="en-GB" baseline="-25000"/>
              <a:t>2</a:t>
            </a:r>
            <a:endParaRPr baseline="-25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Given the CROWN linear bound y&gt;= a</a:t>
            </a:r>
            <a:r>
              <a:rPr lang="en-GB" baseline="-25000"/>
              <a:t>1 </a:t>
            </a:r>
            <a:r>
              <a:rPr lang="en-GB"/>
              <a:t>x</a:t>
            </a:r>
            <a:r>
              <a:rPr lang="en-GB" baseline="-25000"/>
              <a:t>1 </a:t>
            </a:r>
            <a:r>
              <a:rPr lang="en-GB"/>
              <a:t>+ a</a:t>
            </a:r>
            <a:r>
              <a:rPr lang="en-GB" baseline="-25000"/>
              <a:t>2 </a:t>
            </a:r>
            <a:r>
              <a:rPr lang="en-GB"/>
              <a:t>x</a:t>
            </a:r>
            <a:r>
              <a:rPr lang="en-GB" baseline="-25000"/>
              <a:t>2</a:t>
            </a:r>
            <a:r>
              <a:rPr lang="en-GB"/>
              <a:t>+c, we branch on dimension i where |a</a:t>
            </a:r>
            <a:r>
              <a:rPr lang="en-GB" baseline="-25000"/>
              <a:t>i</a:t>
            </a:r>
            <a:r>
              <a:rPr lang="en-GB"/>
              <a:t>| is largest.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9F3BD3-11C8-FEAB-0272-08326D40B667}"/>
                  </a:ext>
                </a:extLst>
              </p14:cNvPr>
              <p14:cNvContentPartPr/>
              <p14:nvPr/>
            </p14:nvContentPartPr>
            <p14:xfrm>
              <a:off x="3681360" y="1900080"/>
              <a:ext cx="19440" cy="176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9F3BD3-11C8-FEAB-0272-08326D40B6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2000" y="1890720"/>
                <a:ext cx="38160" cy="19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6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auto_LiRPA</a:t>
            </a:r>
            <a:r>
              <a:rPr lang="en-GB"/>
              <a:t>: Verification Library for General Computation Graphs</a:t>
            </a:r>
          </a:p>
        </p:txBody>
      </p:sp>
      <p:sp>
        <p:nvSpPr>
          <p:cNvPr id="2031" name="Google Shape;2031;p6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/>
              <a:t>The auto_LiRPA Robustness Verification Library</a:t>
            </a:r>
          </a:p>
        </p:txBody>
      </p:sp>
      <p:sp>
        <p:nvSpPr>
          <p:cNvPr id="2032" name="Google Shape;2032;p65"/>
          <p:cNvSpPr txBox="1">
            <a:spLocks noGrp="1"/>
          </p:cNvSpPr>
          <p:nvPr>
            <p:ph type="body" idx="1"/>
          </p:nvPr>
        </p:nvSpPr>
        <p:spPr>
          <a:xfrm>
            <a:off x="248700" y="1117200"/>
            <a:ext cx="8742900" cy="15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00000"/>
                </a:solidFill>
              </a:rPr>
              <a:t>Colab Demo:</a:t>
            </a:r>
            <a:endParaRPr sz="26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600" u="sng">
                <a:solidFill>
                  <a:schemeClr val="hlink"/>
                </a:solidFill>
                <a:hlinkClick r:id="rId3"/>
              </a:rPr>
              <a:t>http://PaperCode.cc/AutoLiRPA-Demo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2033" name="Google Shape;2033;p6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53</a:t>
            </a:fld>
            <a:endParaRPr lang="en-GB"/>
          </a:p>
        </p:txBody>
      </p:sp>
      <p:pic>
        <p:nvPicPr>
          <p:cNvPr id="2034" name="Google Shape;2034;p6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745650" y="1057125"/>
            <a:ext cx="810225" cy="8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5" name="Google Shape;2035;p65"/>
          <p:cNvSpPr txBox="1">
            <a:spLocks noGrp="1"/>
          </p:cNvSpPr>
          <p:nvPr>
            <p:ph type="body" idx="1"/>
          </p:nvPr>
        </p:nvSpPr>
        <p:spPr>
          <a:xfrm>
            <a:off x="152400" y="3090375"/>
            <a:ext cx="8742900" cy="15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00000"/>
                </a:solidFill>
              </a:rPr>
              <a:t>The auto_LiRPA library on GitHub:</a:t>
            </a:r>
            <a:endParaRPr sz="26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600" u="sng">
                <a:solidFill>
                  <a:schemeClr val="hlink"/>
                </a:solidFill>
                <a:hlinkClick r:id="rId5"/>
              </a:rPr>
              <a:t>http://PaperCode.cc/AutoLiRPA</a:t>
            </a:r>
            <a:endParaRPr sz="2600">
              <a:solidFill>
                <a:srgbClr val="000000"/>
              </a:solidFill>
            </a:endParaRPr>
          </a:p>
        </p:txBody>
      </p:sp>
      <p:pic>
        <p:nvPicPr>
          <p:cNvPr id="2036" name="Google Shape;2036;p65"/>
          <p:cNvPicPr preferRelativeResize="0"/>
          <p:nvPr/>
        </p:nvPicPr>
        <p:blipFill rotWithShape="1">
          <a:blip r:embed="rId6"/>
          <a:srcRect l="23134" t="4349" r="23139" b="9346"/>
          <a:stretch>
            <a:fillRect/>
          </a:stretch>
        </p:blipFill>
        <p:spPr>
          <a:xfrm>
            <a:off x="350575" y="3292025"/>
            <a:ext cx="1136683" cy="1008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11333</TotalTime>
  <Words>4573</Words>
  <Application>Microsoft Macintosh PowerPoint</Application>
  <PresentationFormat>On-screen Show (16:9)</PresentationFormat>
  <Paragraphs>499</Paragraphs>
  <Slides>53</Slides>
  <Notes>50</Notes>
  <HiddenSlides>5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Courier New</vt:lpstr>
      <vt:lpstr>Georgia</vt:lpstr>
      <vt:lpstr>Open Sans</vt:lpstr>
      <vt:lpstr>Times New Roman</vt:lpstr>
      <vt:lpstr>Simple Light</vt:lpstr>
      <vt:lpstr>Neural Network Verification Integer and Linear Programming Formulations</vt:lpstr>
      <vt:lpstr>Review: Neural network verification as a satisfiability problem</vt:lpstr>
      <vt:lpstr>Verification of neural networks</vt:lpstr>
      <vt:lpstr>Today: More efficient algorithms for NN verification</vt:lpstr>
      <vt:lpstr>Any faster ways to calculate the bounds on f(x)?</vt:lpstr>
      <vt:lpstr>A closer look at the linear programming relaxation</vt:lpstr>
      <vt:lpstr>Stable vs. unstable neurons</vt:lpstr>
      <vt:lpstr>Stable vs. unstable neurons</vt:lpstr>
      <vt:lpstr>Let’s look at one layer first and interval bounds on input</vt:lpstr>
      <vt:lpstr>Let’s look at one layer first</vt:lpstr>
      <vt:lpstr>Interval Bound Propagation (IBP)</vt:lpstr>
      <vt:lpstr>Interval Bound Propagation (IBP)</vt:lpstr>
      <vt:lpstr>Interval Bound Propagation: continue to the next layer</vt:lpstr>
      <vt:lpstr>Interval Bound Propagation: limitations</vt:lpstr>
      <vt:lpstr>A Better Idea: Keep the correlations between x and z</vt:lpstr>
      <vt:lpstr>A Better Idea: linear bound propagation</vt:lpstr>
      <vt:lpstr>A Better Idea: linear bound propagation</vt:lpstr>
      <vt:lpstr>Bound propagation: how about nonlinear functions?</vt:lpstr>
      <vt:lpstr>Linear bound propagation for ReLU function (CROWN)</vt:lpstr>
      <vt:lpstr>Linear bound propagation for ReLU function (CROWN)</vt:lpstr>
      <vt:lpstr>Linear bound propagation for ReLU function (CROWN)</vt:lpstr>
      <vt:lpstr>Linear bound propagation for ReLU function (CROWN)</vt:lpstr>
      <vt:lpstr>Linear bound propagation for ReLU function (CROWN)</vt:lpstr>
      <vt:lpstr>Linear bound propagation for ReLU function (CROWN)</vt:lpstr>
      <vt:lpstr>Linear bound propagation for ReLU function (CROWN)</vt:lpstr>
      <vt:lpstr>Can we do even better?</vt:lpstr>
      <vt:lpstr>Choosing different linear bounds (α-CROWN)</vt:lpstr>
      <vt:lpstr>Choosing different linear bounds (α-CROWN)</vt:lpstr>
      <vt:lpstr>Linear lower bounds for ReLU function matters!</vt:lpstr>
      <vt:lpstr>Linear lower bounds for ReLU function matters!</vt:lpstr>
      <vt:lpstr>Linear lower bounds for ReLU function matters!</vt:lpstr>
      <vt:lpstr>Linear bound propagation method (CROWN)</vt:lpstr>
      <vt:lpstr>Example: MLP with 1 Layer</vt:lpstr>
      <vt:lpstr>Forward Propagation of Interval Bounds</vt:lpstr>
      <vt:lpstr>3. Backward Propagation of Linear bounds (Crown)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Use Linear Bounds to Prove Robustness</vt:lpstr>
      <vt:lpstr>Benchmarks: CROWN-family bound propagation algorithms</vt:lpstr>
      <vt:lpstr>MILP/LP vs Bound Propagation</vt:lpstr>
      <vt:lpstr>Example branching heuristic</vt:lpstr>
      <vt:lpstr>auto_LiRPA: Verification Library for General Computation Graphs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Integer and Linear Programming Formulations for Neural Network Verification</dc:title>
  <dc:creator/>
  <cp:lastModifiedBy>Mitra, Sayan</cp:lastModifiedBy>
  <cp:revision>43</cp:revision>
  <dcterms:created xsi:type="dcterms:W3CDTF">2025-06-23T20:00:24Z</dcterms:created>
  <dcterms:modified xsi:type="dcterms:W3CDTF">2025-09-26T13:25:49Z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