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0"/>
  </p:notesMasterIdLst>
  <p:sldIdLst>
    <p:sldId id="256" r:id="rId2"/>
    <p:sldId id="294" r:id="rId3"/>
    <p:sldId id="382" r:id="rId4"/>
    <p:sldId id="305" r:id="rId5"/>
    <p:sldId id="306" r:id="rId6"/>
    <p:sldId id="307" r:id="rId7"/>
    <p:sldId id="309" r:id="rId8"/>
    <p:sldId id="310" r:id="rId9"/>
    <p:sldId id="311" r:id="rId10"/>
    <p:sldId id="381" r:id="rId11"/>
    <p:sldId id="293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376" r:id="rId23"/>
    <p:sldId id="271" r:id="rId24"/>
    <p:sldId id="272" r:id="rId25"/>
    <p:sldId id="274" r:id="rId26"/>
    <p:sldId id="377" r:id="rId27"/>
    <p:sldId id="378" r:id="rId28"/>
    <p:sldId id="379" r:id="rId29"/>
    <p:sldId id="380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76338"/>
  </p:normalViewPr>
  <p:slideViewPr>
    <p:cSldViewPr snapToGrid="0">
      <p:cViewPr varScale="1">
        <p:scale>
          <a:sx n="118" d="100"/>
          <a:sy n="118" d="100"/>
        </p:scale>
        <p:origin x="13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8775fbbc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8775fbbc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30c363d770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30c363d770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g330c363d770_0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6" name="Google Shape;946;g330c363d770_0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8751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1A5A3-AF3C-6B41-961F-AF8DD9BBE89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 tries to </a:t>
            </a:r>
            <a:r>
              <a:rPr lang="en-US" b="1" dirty="0"/>
              <a:t>repair the violation</a:t>
            </a:r>
            <a:r>
              <a:rPr lang="en-US" dirty="0"/>
              <a:t> without branching, by nudging the current assignment using pivoting or direct reassignment.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If xi is a basic variable:</a:t>
            </a:r>
            <a:br>
              <a:rPr lang="en-US" dirty="0"/>
            </a:br>
            <a:r>
              <a:rPr lang="en-US" dirty="0"/>
              <a:t>Pivot it with some non-basic variable </a:t>
            </a:r>
            <a:r>
              <a:rPr lang="en-US" dirty="0" err="1"/>
              <a:t>xk</a:t>
            </a:r>
            <a:r>
              <a:rPr lang="en-US" dirty="0"/>
              <a:t>. This frees xi​ so that its value can be recomputed consistently with </a:t>
            </a:r>
            <a:r>
              <a:rPr lang="en-US" dirty="0" err="1"/>
              <a:t>relu</a:t>
            </a:r>
            <a:r>
              <a:rPr lang="en-US" dirty="0"/>
              <a:t>(</a:t>
            </a:r>
            <a:r>
              <a:rPr lang="en-US" dirty="0" err="1"/>
              <a:t>x_j</a:t>
            </a:r>
            <a:r>
              <a:rPr lang="en-US" dirty="0"/>
              <a:t>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If </a:t>
            </a:r>
            <a:r>
              <a:rPr lang="en-US" b="1" dirty="0" err="1"/>
              <a:t>xj</a:t>
            </a:r>
            <a:r>
              <a:rPr lang="en-US" b="1" dirty="0"/>
              <a:t> is a basic variable: </a:t>
            </a:r>
            <a:r>
              <a:rPr lang="en-US" dirty="0"/>
              <a:t>Similarly, pivot </a:t>
            </a:r>
            <a:r>
              <a:rPr lang="en-US" dirty="0" err="1"/>
              <a:t>xj</a:t>
            </a:r>
            <a:r>
              <a:rPr lang="en-US" dirty="0"/>
              <a:t> with some non-basic variable </a:t>
            </a:r>
            <a:r>
              <a:rPr lang="en-US" dirty="0" err="1"/>
              <a:t>xk</a:t>
            </a:r>
            <a:r>
              <a:rPr lang="en-US" dirty="0"/>
              <a:t>. This frees </a:t>
            </a:r>
            <a:r>
              <a:rPr lang="en-US" dirty="0" err="1"/>
              <a:t>xj</a:t>
            </a:r>
            <a:r>
              <a:rPr lang="en-US" dirty="0"/>
              <a:t> so that it can be recomputed consistently.</a:t>
            </a:r>
          </a:p>
          <a:p>
            <a:pPr lvl="1"/>
            <a:r>
              <a:rPr lang="en-US" dirty="0"/>
              <a:t>After pivoting, enforce the </a:t>
            </a:r>
            <a:r>
              <a:rPr lang="en-US" dirty="0" err="1"/>
              <a:t>ReLU</a:t>
            </a:r>
            <a:r>
              <a:rPr lang="en-US" dirty="0"/>
              <a:t> equation in one of two ways:</a:t>
            </a:r>
          </a:p>
          <a:p>
            <a:pPr lvl="2"/>
            <a:r>
              <a:rPr lang="en-US" dirty="0"/>
              <a:t>Set xi:=</a:t>
            </a:r>
            <a:r>
              <a:rPr lang="en-US" dirty="0" err="1"/>
              <a:t>ReLU</a:t>
            </a:r>
            <a:r>
              <a:rPr lang="en-US" dirty="0"/>
              <a:t>(</a:t>
            </a:r>
            <a:r>
              <a:rPr lang="en-US" dirty="0" err="1"/>
              <a:t>xj</a:t>
            </a:r>
            <a:r>
              <a:rPr lang="en-US" dirty="0"/>
              <a:t>) (i.e., update the output to match the </a:t>
            </a:r>
            <a:r>
              <a:rPr lang="en-US" dirty="0" err="1"/>
              <a:t>ReLU</a:t>
            </a:r>
            <a:r>
              <a:rPr lang="en-US" dirty="0"/>
              <a:t> of the input).</a:t>
            </a:r>
          </a:p>
          <a:p>
            <a:pPr lvl="2"/>
            <a:r>
              <a:rPr lang="en-US" dirty="0"/>
              <a:t>Or set </a:t>
            </a:r>
            <a:r>
              <a:rPr lang="en-US" dirty="0" err="1"/>
              <a:t>xj</a:t>
            </a:r>
            <a:r>
              <a:rPr lang="en-US" dirty="0"/>
              <a:t>:=xi (i.e., adjust the input to be consistent with the output).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If a particular </a:t>
            </a:r>
            <a:r>
              <a:rPr lang="en-US" dirty="0" err="1"/>
              <a:t>ReLU</a:t>
            </a:r>
            <a:r>
              <a:rPr lang="en-US" dirty="0"/>
              <a:t> constraint keeps getting violated </a:t>
            </a:r>
            <a:r>
              <a:rPr lang="en-US" b="1" dirty="0"/>
              <a:t>too many times</a:t>
            </a:r>
            <a:r>
              <a:rPr lang="en-US" dirty="0"/>
              <a:t> (&gt; </a:t>
            </a:r>
            <a:r>
              <a:rPr lang="el-GR" dirty="0"/>
              <a:t>τ </a:t>
            </a:r>
            <a:r>
              <a:rPr lang="en-US" dirty="0"/>
              <a:t>in the pseudocode), then </a:t>
            </a:r>
            <a:r>
              <a:rPr lang="en-US" dirty="0" err="1"/>
              <a:t>Reluplex</a:t>
            </a:r>
            <a:r>
              <a:rPr lang="en-US" dirty="0"/>
              <a:t> gives up on repairing it incrementally and performs a </a:t>
            </a:r>
            <a:r>
              <a:rPr lang="en-US" b="1" dirty="0"/>
              <a:t>case split</a:t>
            </a:r>
            <a:r>
              <a:rPr lang="en-US" dirty="0"/>
              <a:t>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995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30c363d770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30c363d770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069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g330c363d770_0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6" name="Google Shape;946;g330c363d770_0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b77f6ca0a8_1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b77f6ca0a8_1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Each </a:t>
            </a:r>
            <a:r>
              <a:rPr lang="en-US" dirty="0" err="1"/>
              <a:t>ReLU</a:t>
            </a:r>
            <a:r>
              <a:rPr lang="en-US" dirty="0"/>
              <a:t> neuron introduces a disjunctive clause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b77f6ca0a8_1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2b77f6ca0a8_1_4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b77f6ca0a8_1_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b77f6ca0a8_1_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b77f6ca0a8_1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b77f6ca0a8_1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b77f6ca0a8_1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b77f6ca0a8_1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b77f6ca0a8_1_5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b77f6ca0a8_1_5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b77f6ca0a8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2b77f6ca0a8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 \displaystyle </a:t>
            </a:r>
            <a:r>
              <a:rPr lang="en-GB"/>
              <a:t>f^* = \min_{x \in \mathcal{S}} f(x)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2b77f6ca0a8_1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2b77f6ca0a8_1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b77f6ca0a8_1_5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b77f6ca0a8_1_5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b77f6ca0a8_1_6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b77f6ca0a8_1_6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M_1 (1 - p^{(i)}_j)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M_2 p^{(i)}_j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z_j^{(i)}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b77f6ca0a8_1_6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2b77f6ca0a8_1_6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M_1 (1 - p^{(i)}_j)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M_2 p^{(i)}_j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\hat{z}^{(i)}_j \leq z_j^{(i)}</a:t>
            </a:r>
          </a:p>
        </p:txBody>
      </p:sp>
    </p:spTree>
    <p:extLst>
      <p:ext uri="{BB962C8B-B14F-4D97-AF65-F5344CB8AC3E}">
        <p14:creationId xmlns:p14="http://schemas.microsoft.com/office/powerpoint/2010/main" val="17418974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b77f6ca0a8_1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b77f6ca0a8_1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2b77f6ca0a8_1_7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2b77f6ca0a8_1_7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18510306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l_j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 := \min </a:t>
            </a:r>
            <a:r>
              <a:rPr lang="en-GB" dirty="0" err="1"/>
              <a:t>z_j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u_j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 := \max </a:t>
            </a:r>
            <a:r>
              <a:rPr lang="en-GB" dirty="0" err="1"/>
              <a:t>z_j</a:t>
            </a:r>
            <a:r>
              <a:rPr lang="en-GB" dirty="0"/>
              <a:t>^{(</a:t>
            </a:r>
            <a:r>
              <a:rPr lang="en-GB" dirty="0" err="1"/>
              <a:t>i</a:t>
            </a:r>
            <a:r>
              <a:rPr lang="en-GB" dirty="0"/>
              <a:t>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>
              <a:buFont typeface="+mj-lt"/>
              <a:buAutoNum type="arabicPeriod"/>
            </a:pPr>
            <a:r>
              <a:rPr lang="en-US" b="1" dirty="0"/>
              <a:t>Compute </a:t>
            </a:r>
            <a:r>
              <a:rPr lang="en-US" b="1" dirty="0" err="1"/>
              <a:t>preactivation</a:t>
            </a:r>
            <a:r>
              <a:rPr lang="en-US" b="1" dirty="0"/>
              <a:t> bounds per neuron (offline, before MILP).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 interval propagation, LP relaxations, or stronger methods.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tighter the bounds, the stronger the MILP encoding (fewer useless branch-and-bounds).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Build the MILP</a:t>
            </a:r>
            <a:r>
              <a:rPr lang="en-US" dirty="0"/>
              <a:t> with those bounds “hard-coded” into the big-M constraints.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Solve the MILP once</a:t>
            </a:r>
            <a:r>
              <a:rPr lang="en-US" dirty="0"/>
              <a:t> with an optimizer (e.g., </a:t>
            </a:r>
            <a:r>
              <a:rPr lang="en-US" dirty="0" err="1"/>
              <a:t>Gurobi</a:t>
            </a:r>
            <a:r>
              <a:rPr lang="en-US" dirty="0"/>
              <a:t>, CPLEX, SCIP).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12844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31375180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77f6ca0a8_1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77f6ca0a8_1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l_j^{(i)} := \min z_j^{(i)}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u_j^{(i)} := \max z_j^{(i)}</a:t>
            </a:r>
          </a:p>
        </p:txBody>
      </p:sp>
    </p:spTree>
    <p:extLst>
      <p:ext uri="{BB962C8B-B14F-4D97-AF65-F5344CB8AC3E}">
        <p14:creationId xmlns:p14="http://schemas.microsoft.com/office/powerpoint/2010/main" val="16045445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b77f6ca0a8_1_8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2b77f6ca0a8_1_8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2b77f6ca0a8_1_1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2b77f6ca0a8_1_1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Resume here.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b77f6ca0a8_1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b77f6ca0a8_1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b77f6ca0a8_1_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2b77f6ca0a8_1_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b77f6ca0a8_1_10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b77f6ca0a8_1_10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2b77f6ca0a8_1_1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2b77f6ca0a8_1_1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b77f6ca0a8_1_1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b77f6ca0a8_1_1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2b77f6ca0a8_1_1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2b77f6ca0a8_1_1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2b77f6ca0a8_1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2b77f6ca0a8_1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\hat{z}^{(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\</a:t>
            </a:r>
            <a:r>
              <a:rPr lang="en-GB" dirty="0" err="1">
                <a:solidFill>
                  <a:schemeClr val="dk1"/>
                </a:solidFill>
              </a:rPr>
              <a:t>leq</a:t>
            </a:r>
            <a:r>
              <a:rPr lang="en-GB" dirty="0">
                <a:solidFill>
                  <a:schemeClr val="dk1"/>
                </a:solidFill>
              </a:rPr>
              <a:t> </a:t>
            </a:r>
            <a:r>
              <a:rPr lang="en-GB" dirty="0" err="1">
                <a:solidFill>
                  <a:schemeClr val="dk1"/>
                </a:solidFill>
              </a:rPr>
              <a:t>z_j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- </a:t>
            </a:r>
            <a:r>
              <a:rPr lang="en-GB" dirty="0" err="1">
                <a:solidFill>
                  <a:schemeClr val="dk1"/>
                </a:solidFill>
              </a:rPr>
              <a:t>l_j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(1 - p^{(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\hat{z}^{(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\</a:t>
            </a:r>
            <a:r>
              <a:rPr lang="en-GB" dirty="0" err="1">
                <a:solidFill>
                  <a:schemeClr val="dk1"/>
                </a:solidFill>
              </a:rPr>
              <a:t>leq</a:t>
            </a:r>
            <a:r>
              <a:rPr lang="en-GB" dirty="0">
                <a:solidFill>
                  <a:schemeClr val="dk1"/>
                </a:solidFill>
              </a:rPr>
              <a:t> u^{(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p^{(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p^{(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\</a:t>
            </a:r>
            <a:r>
              <a:rPr lang="en-GB" dirty="0" err="1">
                <a:solidFill>
                  <a:schemeClr val="dk1"/>
                </a:solidFill>
              </a:rPr>
              <a:t>leq</a:t>
            </a:r>
            <a:r>
              <a:rPr lang="en-GB" dirty="0">
                <a:solidFill>
                  <a:schemeClr val="dk1"/>
                </a:solidFill>
              </a:rPr>
              <a:t> \frac{\hat{z}^{(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- </a:t>
            </a:r>
            <a:r>
              <a:rPr lang="en-GB" dirty="0" err="1">
                <a:solidFill>
                  <a:schemeClr val="dk1"/>
                </a:solidFill>
              </a:rPr>
              <a:t>z_j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+ </a:t>
            </a:r>
            <a:r>
              <a:rPr lang="en-GB" dirty="0" err="1">
                <a:solidFill>
                  <a:schemeClr val="dk1"/>
                </a:solidFill>
              </a:rPr>
              <a:t>l_j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)}}{</a:t>
            </a:r>
            <a:r>
              <a:rPr lang="en-GB" dirty="0" err="1">
                <a:solidFill>
                  <a:schemeClr val="dk1"/>
                </a:solidFill>
              </a:rPr>
              <a:t>l_j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p^{(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 \</a:t>
            </a:r>
            <a:r>
              <a:rPr lang="en-GB" dirty="0" err="1">
                <a:solidFill>
                  <a:schemeClr val="dk1"/>
                </a:solidFill>
              </a:rPr>
              <a:t>geq</a:t>
            </a:r>
            <a:r>
              <a:rPr lang="en-GB" dirty="0">
                <a:solidFill>
                  <a:schemeClr val="dk1"/>
                </a:solidFill>
              </a:rPr>
              <a:t> \frac{\hat{z}^{(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)}_j}{</a:t>
            </a:r>
            <a:r>
              <a:rPr lang="en-GB" dirty="0" err="1">
                <a:solidFill>
                  <a:schemeClr val="dk1"/>
                </a:solidFill>
              </a:rPr>
              <a:t>u_j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\hat{z}_j^{(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\</a:t>
            </a:r>
            <a:r>
              <a:rPr lang="en-GB" dirty="0" err="1">
                <a:solidFill>
                  <a:schemeClr val="dk1"/>
                </a:solidFill>
              </a:rPr>
              <a:t>leq</a:t>
            </a:r>
            <a:r>
              <a:rPr lang="en-GB" dirty="0">
                <a:solidFill>
                  <a:schemeClr val="dk1"/>
                </a:solidFill>
              </a:rPr>
              <a:t> \frac{</a:t>
            </a:r>
            <a:r>
              <a:rPr lang="en-GB" dirty="0" err="1">
                <a:solidFill>
                  <a:schemeClr val="dk1"/>
                </a:solidFill>
              </a:rPr>
              <a:t>u_j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)}}{</a:t>
            </a:r>
            <a:r>
              <a:rPr lang="en-GB" dirty="0" err="1">
                <a:solidFill>
                  <a:schemeClr val="dk1"/>
                </a:solidFill>
              </a:rPr>
              <a:t>u_j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)}-</a:t>
            </a:r>
            <a:r>
              <a:rPr lang="en-GB" dirty="0" err="1">
                <a:solidFill>
                  <a:schemeClr val="dk1"/>
                </a:solidFill>
              </a:rPr>
              <a:t>l_j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 </a:t>
            </a:r>
            <a:r>
              <a:rPr lang="en-GB" dirty="0" err="1">
                <a:solidFill>
                  <a:schemeClr val="dk1"/>
                </a:solidFill>
              </a:rPr>
              <a:t>z_j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- \frac{</a:t>
            </a:r>
            <a:r>
              <a:rPr lang="en-GB" dirty="0" err="1">
                <a:solidFill>
                  <a:schemeClr val="dk1"/>
                </a:solidFill>
              </a:rPr>
              <a:t>u_j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</a:t>
            </a:r>
            <a:r>
              <a:rPr lang="en-GB">
                <a:solidFill>
                  <a:schemeClr val="dk1"/>
                </a:solidFill>
              </a:rPr>
              <a:t>l_j^{(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)}}{</a:t>
            </a:r>
            <a:r>
              <a:rPr lang="en-GB" dirty="0" err="1">
                <a:solidFill>
                  <a:schemeClr val="dk1"/>
                </a:solidFill>
              </a:rPr>
              <a:t>u_j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 - </a:t>
            </a:r>
            <a:r>
              <a:rPr lang="en-GB" dirty="0" err="1">
                <a:solidFill>
                  <a:schemeClr val="dk1"/>
                </a:solidFill>
              </a:rPr>
              <a:t>l_j</a:t>
            </a:r>
            <a:r>
              <a:rPr lang="en-GB" dirty="0">
                <a:solidFill>
                  <a:schemeClr val="dk1"/>
                </a:solidFill>
              </a:rPr>
              <a:t>^{(</a:t>
            </a:r>
            <a:r>
              <a:rPr lang="en-GB" dirty="0" err="1">
                <a:solidFill>
                  <a:schemeClr val="dk1"/>
                </a:solidFill>
              </a:rPr>
              <a:t>i</a:t>
            </a:r>
            <a:r>
              <a:rPr lang="en-GB" dirty="0">
                <a:solidFill>
                  <a:schemeClr val="dk1"/>
                </a:solidFill>
              </a:rPr>
              <a:t>)}}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3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5EF72-8FCF-AD49-A29F-EEF80E6CE4DA}" type="datetimeFigureOut">
              <a:rPr lang="en-US" smtClean="0"/>
              <a:t>9/24/25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53732-753D-0646-8EE7-BFF50FC486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itras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search/cs?searchtype=author&amp;query=Kochenderfer,+M" TargetMode="External"/><Relationship Id="rId3" Type="http://schemas.openxmlformats.org/officeDocument/2006/relationships/image" Target="../media/image49.png"/><Relationship Id="rId7" Type="http://schemas.openxmlformats.org/officeDocument/2006/relationships/hyperlink" Target="https://arxiv.org/search/cs?searchtype=author&amp;query=Julian,+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arxiv.org/search/cs?searchtype=author&amp;query=Dill,+D" TargetMode="External"/><Relationship Id="rId5" Type="http://schemas.openxmlformats.org/officeDocument/2006/relationships/hyperlink" Target="https://arxiv.org/search/cs?searchtype=author&amp;query=Barrett,+C" TargetMode="External"/><Relationship Id="rId4" Type="http://schemas.openxmlformats.org/officeDocument/2006/relationships/hyperlink" Target="https://arxiv.org/search/cs?searchtype=author&amp;query=Katz,+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4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000" dirty="0"/>
              <a:t>Neural Network Verification</a:t>
            </a:r>
            <a:br>
              <a:rPr lang="en-GB" sz="3000" dirty="0"/>
            </a:br>
            <a:r>
              <a:rPr lang="en-GB" sz="3000" dirty="0"/>
              <a:t>Integer and Linear Programming Formulations</a:t>
            </a:r>
            <a:endParaRPr sz="30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6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Prof. Sayan Mitra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hlinkClick r:id="rId3"/>
              </a:rPr>
              <a:t>mitras@Illinois.edu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1"/>
          <p:cNvSpPr txBox="1">
            <a:spLocks noGrp="1"/>
          </p:cNvSpPr>
          <p:nvPr>
            <p:ph type="title"/>
          </p:nvPr>
        </p:nvSpPr>
        <p:spPr>
          <a:xfrm>
            <a:off x="65350" y="224420"/>
            <a:ext cx="8748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Review: Neural network verification as a satisfiability problem</a:t>
            </a:r>
          </a:p>
        </p:txBody>
      </p:sp>
      <p:sp>
        <p:nvSpPr>
          <p:cNvPr id="961" name="Google Shape;961;p51"/>
          <p:cNvSpPr txBox="1"/>
          <p:nvPr/>
        </p:nvSpPr>
        <p:spPr>
          <a:xfrm>
            <a:off x="4348375" y="1509425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30000">
                <a:solidFill>
                  <a:schemeClr val="dk2"/>
                </a:solidFill>
              </a:rPr>
              <a:t>(2)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62" name="Google Shape;962;p51"/>
          <p:cNvGrpSpPr/>
          <p:nvPr/>
        </p:nvGrpSpPr>
        <p:grpSpPr>
          <a:xfrm>
            <a:off x="1251850" y="1852138"/>
            <a:ext cx="1691250" cy="1518400"/>
            <a:chOff x="949900" y="2149850"/>
            <a:chExt cx="1691250" cy="1518400"/>
          </a:xfrm>
        </p:grpSpPr>
        <p:grpSp>
          <p:nvGrpSpPr>
            <p:cNvPr id="963" name="Google Shape;963;p5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5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5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51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5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69" name="Google Shape;969;p51"/>
              <p:cNvCxnSpPr>
                <a:stCxn id="964" idx="6"/>
                <a:endCxn id="966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51"/>
              <p:cNvCxnSpPr>
                <a:stCxn id="964" idx="6"/>
                <a:endCxn id="967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51"/>
              <p:cNvCxnSpPr>
                <a:stCxn id="965" idx="6"/>
                <a:endCxn id="966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51"/>
              <p:cNvCxnSpPr>
                <a:stCxn id="965" idx="6"/>
                <a:endCxn id="967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3" name="Google Shape;973;p51"/>
              <p:cNvCxnSpPr>
                <a:stCxn id="965" idx="6"/>
                <a:endCxn id="96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4" name="Google Shape;974;p51"/>
              <p:cNvCxnSpPr>
                <a:stCxn id="964" idx="6"/>
                <a:endCxn id="96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975" name="Google Shape;975;p5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976" name="Google Shape;976;p5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977" name="Google Shape;977;p51"/>
          <p:cNvGrpSpPr/>
          <p:nvPr/>
        </p:nvGrpSpPr>
        <p:grpSpPr>
          <a:xfrm>
            <a:off x="5150088" y="1904825"/>
            <a:ext cx="1113500" cy="1465725"/>
            <a:chOff x="3458500" y="1732750"/>
            <a:chExt cx="1113500" cy="1465725"/>
          </a:xfrm>
        </p:grpSpPr>
        <p:sp>
          <p:nvSpPr>
            <p:cNvPr id="978" name="Google Shape;978;p51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1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1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1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82" name="Google Shape;982;p51"/>
            <p:cNvCxnSpPr>
              <a:stCxn id="978" idx="6"/>
              <a:endCxn id="981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51"/>
            <p:cNvCxnSpPr>
              <a:stCxn id="979" idx="6"/>
              <a:endCxn id="981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51"/>
            <p:cNvCxnSpPr>
              <a:stCxn id="980" idx="6"/>
              <a:endCxn id="981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5" name="Google Shape;985;p51"/>
          <p:cNvGrpSpPr/>
          <p:nvPr/>
        </p:nvGrpSpPr>
        <p:grpSpPr>
          <a:xfrm>
            <a:off x="3559075" y="2020700"/>
            <a:ext cx="932400" cy="1233975"/>
            <a:chOff x="2526100" y="1848625"/>
            <a:chExt cx="932400" cy="1233975"/>
          </a:xfrm>
        </p:grpSpPr>
        <p:cxnSp>
          <p:nvCxnSpPr>
            <p:cNvPr id="986" name="Google Shape;986;p51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7" name="Google Shape;987;p51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8" name="Google Shape;988;p51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9" name="Google Shape;989;p51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0" name="Google Shape;990;p51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1" name="Google Shape;991;p51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2" name="Google Shape;992;p51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3" name="Google Shape;993;p51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4" name="Google Shape;994;p51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5" name="Google Shape;995;p51"/>
          <p:cNvGrpSpPr/>
          <p:nvPr/>
        </p:nvGrpSpPr>
        <p:grpSpPr>
          <a:xfrm>
            <a:off x="2608575" y="1502100"/>
            <a:ext cx="1306800" cy="1766950"/>
            <a:chOff x="2460350" y="1264125"/>
            <a:chExt cx="1306800" cy="1766950"/>
          </a:xfrm>
        </p:grpSpPr>
        <p:sp>
          <p:nvSpPr>
            <p:cNvPr id="996" name="Google Shape;996;p51"/>
            <p:cNvSpPr txBox="1"/>
            <p:nvPr/>
          </p:nvSpPr>
          <p:spPr>
            <a:xfrm>
              <a:off x="3113750" y="1302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7" name="Google Shape;997;p51"/>
            <p:cNvSpPr txBox="1"/>
            <p:nvPr/>
          </p:nvSpPr>
          <p:spPr>
            <a:xfrm>
              <a:off x="3113750" y="18269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8" name="Google Shape;998;p51"/>
            <p:cNvSpPr txBox="1"/>
            <p:nvPr/>
          </p:nvSpPr>
          <p:spPr>
            <a:xfrm>
              <a:off x="3113750" y="2503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0000FF"/>
                  </a:solidFill>
                </a:rPr>
                <a:t>ẑ</a:t>
              </a:r>
              <a:r>
                <a:rPr lang="en-GB" sz="1800" baseline="-25000" dirty="0">
                  <a:solidFill>
                    <a:srgbClr val="0000FF"/>
                  </a:solidFill>
                </a:rPr>
                <a:t>3</a:t>
              </a:r>
              <a:r>
                <a:rPr lang="en-GB" sz="1800" baseline="30000" dirty="0">
                  <a:solidFill>
                    <a:srgbClr val="0000FF"/>
                  </a:solidFill>
                </a:rPr>
                <a:t>(1)</a:t>
              </a:r>
              <a:endParaRPr sz="1800" dirty="0">
                <a:solidFill>
                  <a:srgbClr val="0000FF"/>
                </a:solidFill>
              </a:endParaRPr>
            </a:p>
          </p:txBody>
        </p:sp>
        <p:sp>
          <p:nvSpPr>
            <p:cNvPr id="999" name="Google Shape;999;p51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FF0000"/>
                  </a:solidFill>
                </a:rPr>
                <a:t>z</a:t>
              </a:r>
              <a:r>
                <a:rPr lang="en-GB" sz="1800" baseline="-25000" dirty="0">
                  <a:solidFill>
                    <a:srgbClr val="FF0000"/>
                  </a:solidFill>
                </a:rPr>
                <a:t>3</a:t>
              </a:r>
              <a:r>
                <a:rPr lang="en-GB" sz="1800" baseline="30000" dirty="0">
                  <a:solidFill>
                    <a:srgbClr val="FF0000"/>
                  </a:solidFill>
                </a:rPr>
                <a:t>(1)</a:t>
              </a:r>
              <a:endParaRPr sz="1800" dirty="0">
                <a:solidFill>
                  <a:srgbClr val="FF0000"/>
                </a:solidFill>
              </a:endParaRPr>
            </a:p>
          </p:txBody>
        </p:sp>
        <p:sp>
          <p:nvSpPr>
            <p:cNvPr id="1000" name="Google Shape;1000;p51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1001" name="Google Shape;1001;p51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1002" name="Google Shape;1002;p51"/>
          <p:cNvGrpSpPr/>
          <p:nvPr/>
        </p:nvGrpSpPr>
        <p:grpSpPr>
          <a:xfrm>
            <a:off x="3327163" y="1904813"/>
            <a:ext cx="231900" cy="1465725"/>
            <a:chOff x="2294125" y="1732750"/>
            <a:chExt cx="231900" cy="1465725"/>
          </a:xfrm>
        </p:grpSpPr>
        <p:sp>
          <p:nvSpPr>
            <p:cNvPr id="1003" name="Google Shape;1003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51"/>
          <p:cNvGrpSpPr/>
          <p:nvPr/>
        </p:nvGrpSpPr>
        <p:grpSpPr>
          <a:xfrm>
            <a:off x="4466063" y="1904825"/>
            <a:ext cx="231900" cy="1465725"/>
            <a:chOff x="2294125" y="1732750"/>
            <a:chExt cx="231900" cy="1465725"/>
          </a:xfrm>
        </p:grpSpPr>
        <p:sp>
          <p:nvSpPr>
            <p:cNvPr id="1007" name="Google Shape;1007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0" name="Google Shape;1010;p51"/>
          <p:cNvCxnSpPr>
            <a:stCxn id="966" idx="6"/>
            <a:endCxn id="1003" idx="2"/>
          </p:cNvCxnSpPr>
          <p:nvPr/>
        </p:nvCxnSpPr>
        <p:spPr>
          <a:xfrm>
            <a:off x="2943100" y="202076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51"/>
          <p:cNvCxnSpPr>
            <a:stCxn id="967" idx="6"/>
            <a:endCxn id="1004" idx="2"/>
          </p:cNvCxnSpPr>
          <p:nvPr/>
        </p:nvCxnSpPr>
        <p:spPr>
          <a:xfrm>
            <a:off x="2943100" y="26007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2" name="Google Shape;1012;p51"/>
          <p:cNvCxnSpPr>
            <a:stCxn id="968" idx="6"/>
            <a:endCxn id="1005" idx="2"/>
          </p:cNvCxnSpPr>
          <p:nvPr/>
        </p:nvCxnSpPr>
        <p:spPr>
          <a:xfrm>
            <a:off x="2943100" y="32545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3" name="Google Shape;1013;p51"/>
          <p:cNvCxnSpPr>
            <a:stCxn id="1007" idx="6"/>
            <a:endCxn id="978" idx="2"/>
          </p:cNvCxnSpPr>
          <p:nvPr/>
        </p:nvCxnSpPr>
        <p:spPr>
          <a:xfrm>
            <a:off x="4697963" y="202077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p51"/>
          <p:cNvCxnSpPr>
            <a:stCxn id="1008" idx="6"/>
            <a:endCxn id="979" idx="2"/>
          </p:cNvCxnSpPr>
          <p:nvPr/>
        </p:nvCxnSpPr>
        <p:spPr>
          <a:xfrm>
            <a:off x="4697963" y="26008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51"/>
          <p:cNvCxnSpPr>
            <a:stCxn id="1009" idx="6"/>
            <a:endCxn id="980" idx="2"/>
          </p:cNvCxnSpPr>
          <p:nvPr/>
        </p:nvCxnSpPr>
        <p:spPr>
          <a:xfrm>
            <a:off x="4697963" y="32546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6" name="Google Shape;1016;p51"/>
          <p:cNvSpPr txBox="1"/>
          <p:nvPr/>
        </p:nvSpPr>
        <p:spPr>
          <a:xfrm>
            <a:off x="5096225" y="1509413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ẑ</a:t>
            </a:r>
            <a:r>
              <a:rPr lang="en-GB" sz="1800" baseline="30000">
                <a:solidFill>
                  <a:schemeClr val="dk1"/>
                </a:solidFill>
              </a:rPr>
              <a:t>(2)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17" name="Google Shape;1017;p51"/>
          <p:cNvSpPr txBox="1"/>
          <p:nvPr/>
        </p:nvSpPr>
        <p:spPr>
          <a:xfrm>
            <a:off x="6263625" y="2292725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sp>
        <p:nvSpPr>
          <p:cNvPr id="1018" name="Google Shape;1018;p51"/>
          <p:cNvSpPr txBox="1"/>
          <p:nvPr/>
        </p:nvSpPr>
        <p:spPr>
          <a:xfrm>
            <a:off x="197625" y="3542599"/>
            <a:ext cx="6128700" cy="1098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To verify for all x ∈ S,    y &gt; 0  ∧  y = f(x) we solve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Does there exist x, </a:t>
            </a:r>
            <a:r>
              <a:rPr lang="en-GB" sz="2000" dirty="0" err="1">
                <a:solidFill>
                  <a:srgbClr val="595959"/>
                </a:solidFill>
              </a:rPr>
              <a:t>s.t.</a:t>
            </a:r>
            <a:r>
              <a:rPr lang="en-GB" sz="2000" dirty="0">
                <a:solidFill>
                  <a:srgbClr val="595959"/>
                </a:solidFill>
              </a:rPr>
              <a:t>  x ∈ S  ∧  y ≤ 0  ∧  y = f(x) </a:t>
            </a:r>
            <a:endParaRPr sz="2000" dirty="0">
              <a:solidFill>
                <a:srgbClr val="595959"/>
              </a:solidFill>
            </a:endParaRPr>
          </a:p>
        </p:txBody>
      </p:sp>
      <p:sp>
        <p:nvSpPr>
          <p:cNvPr id="1019" name="Google Shape;1019;p51"/>
          <p:cNvSpPr txBox="1"/>
          <p:nvPr/>
        </p:nvSpPr>
        <p:spPr>
          <a:xfrm>
            <a:off x="3717113" y="4466659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Negation of the desired property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0" name="Google Shape;1020;p51"/>
          <p:cNvSpPr txBox="1"/>
          <p:nvPr/>
        </p:nvSpPr>
        <p:spPr>
          <a:xfrm>
            <a:off x="5934764" y="4147280"/>
            <a:ext cx="180171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Defines the neural network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911579" y="4485122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Input domain under consideration</a:t>
            </a:r>
            <a:endParaRPr sz="1800" dirty="0">
              <a:solidFill>
                <a:schemeClr val="dk2"/>
              </a:solidFill>
            </a:endParaRPr>
          </a:p>
        </p:txBody>
      </p:sp>
      <p:cxnSp>
        <p:nvCxnSpPr>
          <p:cNvPr id="1022" name="Google Shape;1022;p51"/>
          <p:cNvCxnSpPr>
            <a:cxnSpLocks/>
            <a:stCxn id="1021" idx="0"/>
          </p:cNvCxnSpPr>
          <p:nvPr/>
        </p:nvCxnSpPr>
        <p:spPr>
          <a:xfrm flipV="1">
            <a:off x="2118479" y="4265637"/>
            <a:ext cx="1090758" cy="21948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3" name="Google Shape;1023;p51"/>
          <p:cNvCxnSpPr>
            <a:cxnSpLocks/>
          </p:cNvCxnSpPr>
          <p:nvPr/>
        </p:nvCxnSpPr>
        <p:spPr>
          <a:xfrm flipH="1" flipV="1">
            <a:off x="4229939" y="4319556"/>
            <a:ext cx="177861" cy="20629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51"/>
          <p:cNvCxnSpPr/>
          <p:nvPr/>
        </p:nvCxnSpPr>
        <p:spPr>
          <a:xfrm rot="10800000">
            <a:off x="5819639" y="4146155"/>
            <a:ext cx="1132500" cy="17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25" name="Google Shape;1025;p51"/>
          <p:cNvPicPr preferRelativeResize="0"/>
          <p:nvPr/>
        </p:nvPicPr>
        <p:blipFill rotWithShape="1">
          <a:blip r:embed="rId3"/>
          <a:srcRect l="14039" t="9153" r="55651" b="45213"/>
          <a:stretch>
            <a:fillRect/>
          </a:stretch>
        </p:blipFill>
        <p:spPr>
          <a:xfrm>
            <a:off x="65350" y="2149108"/>
            <a:ext cx="653399" cy="655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51"/>
          <p:cNvSpPr/>
          <p:nvPr/>
        </p:nvSpPr>
        <p:spPr>
          <a:xfrm>
            <a:off x="326074" y="2577622"/>
            <a:ext cx="184200" cy="90900"/>
          </a:xfrm>
          <a:prstGeom prst="rect">
            <a:avLst/>
          </a:prstGeom>
          <a:gradFill>
            <a:gsLst>
              <a:gs pos="0">
                <a:srgbClr val="FFFF00"/>
              </a:gs>
              <a:gs pos="100000">
                <a:srgbClr val="4A86E8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FF00"/>
              </a:solidFill>
            </a:endParaRPr>
          </a:p>
        </p:txBody>
      </p:sp>
      <p:grpSp>
        <p:nvGrpSpPr>
          <p:cNvPr id="1027" name="Google Shape;1027;p51"/>
          <p:cNvGrpSpPr/>
          <p:nvPr/>
        </p:nvGrpSpPr>
        <p:grpSpPr>
          <a:xfrm>
            <a:off x="7118059" y="1335925"/>
            <a:ext cx="1427550" cy="1873725"/>
            <a:chOff x="5659759" y="914325"/>
            <a:chExt cx="1427550" cy="1873725"/>
          </a:xfrm>
        </p:grpSpPr>
        <p:grpSp>
          <p:nvGrpSpPr>
            <p:cNvPr id="1028" name="Google Shape;1028;p51"/>
            <p:cNvGrpSpPr/>
            <p:nvPr/>
          </p:nvGrpSpPr>
          <p:grpSpPr>
            <a:xfrm>
              <a:off x="6177300" y="1265650"/>
              <a:ext cx="791100" cy="776775"/>
              <a:chOff x="5901775" y="3443650"/>
              <a:chExt cx="791100" cy="776775"/>
            </a:xfrm>
          </p:grpSpPr>
          <p:cxnSp>
            <p:nvCxnSpPr>
              <p:cNvPr id="1029" name="Google Shape;1029;p51"/>
              <p:cNvCxnSpPr/>
              <p:nvPr/>
            </p:nvCxnSpPr>
            <p:spPr>
              <a:xfrm>
                <a:off x="5901775" y="3443650"/>
                <a:ext cx="7911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0" name="Google Shape;1030;p51"/>
              <p:cNvCxnSpPr/>
              <p:nvPr/>
            </p:nvCxnSpPr>
            <p:spPr>
              <a:xfrm>
                <a:off x="5921600" y="4220425"/>
                <a:ext cx="77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1" name="Google Shape;1031;p51"/>
              <p:cNvCxnSpPr/>
              <p:nvPr/>
            </p:nvCxnSpPr>
            <p:spPr>
              <a:xfrm>
                <a:off x="6097825" y="3451325"/>
                <a:ext cx="0" cy="76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</p:grpSp>
        <p:sp>
          <p:nvSpPr>
            <p:cNvPr id="1032" name="Google Shape;1032;p51"/>
            <p:cNvSpPr txBox="1"/>
            <p:nvPr/>
          </p:nvSpPr>
          <p:spPr>
            <a:xfrm>
              <a:off x="6265609" y="2203050"/>
              <a:ext cx="8217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rgbClr val="000000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Speed Limit</a:t>
              </a:r>
              <a:endParaRPr sz="13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grpSp>
          <p:nvGrpSpPr>
            <p:cNvPr id="1033" name="Google Shape;1033;p51"/>
            <p:cNvGrpSpPr/>
            <p:nvPr/>
          </p:nvGrpSpPr>
          <p:grpSpPr>
            <a:xfrm>
              <a:off x="5719109" y="1258075"/>
              <a:ext cx="1005412" cy="1346825"/>
              <a:chOff x="551310" y="2116700"/>
              <a:chExt cx="897850" cy="1346825"/>
            </a:xfrm>
          </p:grpSpPr>
          <p:sp>
            <p:nvSpPr>
              <p:cNvPr id="1034" name="Google Shape;1034;p51"/>
              <p:cNvSpPr/>
              <p:nvPr/>
            </p:nvSpPr>
            <p:spPr>
              <a:xfrm>
                <a:off x="1263460" y="2906705"/>
                <a:ext cx="185700" cy="165000"/>
              </a:xfrm>
              <a:prstGeom prst="rect">
                <a:avLst/>
              </a:prstGeom>
              <a:solidFill>
                <a:srgbClr val="F9CB9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5" name="Google Shape;1035;p51"/>
              <p:cNvGrpSpPr/>
              <p:nvPr/>
            </p:nvGrpSpPr>
            <p:grpSpPr>
              <a:xfrm>
                <a:off x="551310" y="2116700"/>
                <a:ext cx="644100" cy="1346825"/>
                <a:chOff x="551310" y="2116700"/>
                <a:chExt cx="644100" cy="1346825"/>
              </a:xfrm>
            </p:grpSpPr>
            <p:sp>
              <p:nvSpPr>
                <p:cNvPr id="1036" name="Google Shape;1036;p51"/>
                <p:cNvSpPr/>
                <p:nvPr/>
              </p:nvSpPr>
              <p:spPr>
                <a:xfrm>
                  <a:off x="780510" y="2116700"/>
                  <a:ext cx="185700" cy="961800"/>
                </a:xfrm>
                <a:prstGeom prst="rect">
                  <a:avLst/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51"/>
                <p:cNvSpPr txBox="1"/>
                <p:nvPr/>
              </p:nvSpPr>
              <p:spPr>
                <a:xfrm>
                  <a:off x="551310" y="3078625"/>
                  <a:ext cx="644100" cy="384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300" b="1">
                      <a:solidFill>
                        <a:srgbClr val="000000"/>
                      </a:solidFill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Stop</a:t>
                  </a:r>
                  <a:endParaRPr sz="13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</p:grpSp>
        </p:grpSp>
        <p:sp>
          <p:nvSpPr>
            <p:cNvPr id="1038" name="Google Shape;1038;p51"/>
            <p:cNvSpPr txBox="1"/>
            <p:nvPr/>
          </p:nvSpPr>
          <p:spPr>
            <a:xfrm>
              <a:off x="5659759" y="914325"/>
              <a:ext cx="786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0.9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039" name="Google Shape;1039;p51"/>
            <p:cNvSpPr txBox="1"/>
            <p:nvPr/>
          </p:nvSpPr>
          <p:spPr>
            <a:xfrm>
              <a:off x="6278174" y="1706363"/>
              <a:ext cx="721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0.1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1E99D9BC-FFFF-22D9-3342-44B6B7F4B62B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8" grpId="0"/>
      <p:bldP spid="1019" grpId="0"/>
      <p:bldP spid="1020" grpId="0"/>
      <p:bldP spid="10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0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9" name="Google Shape;949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 Light" panose="020F0302020204030204" pitchFamily="34" charset="0"/>
                <a:cs typeface="Calibri Light" panose="020F0302020204030204" pitchFamily="34" charset="0"/>
              </a:rPr>
              <a:t>Verification of neural networks</a:t>
            </a:r>
          </a:p>
        </p:txBody>
      </p:sp>
      <p:sp>
        <p:nvSpPr>
          <p:cNvPr id="950" name="Google Shape;950;p50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 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>
                <a:solidFill>
                  <a:srgbClr val="BD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0))  for each ReLU neuron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x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y=w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(3)T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  y ≤ 0 </a:t>
            </a:r>
            <a:endParaRPr sz="2100" baseline="30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39525" y="32549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Add all clauses to the formula and solve using DPLL(T) with Linear Real Arithmetic.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939525" y="3998063"/>
            <a:ext cx="6531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 general this is very slow! </a:t>
            </a:r>
            <a:endParaRPr sz="20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5" name="Google Shape;955;p50"/>
          <p:cNvSpPr txBox="1"/>
          <p:nvPr/>
        </p:nvSpPr>
        <p:spPr>
          <a:xfrm>
            <a:off x="957125" y="1565450"/>
            <a:ext cx="54135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≤ u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l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each dimension of x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aseline="-25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3DA676A5-91F2-44ED-39C0-AB1DFDDA06CE}"/>
              </a:ext>
            </a:extLst>
          </p:cNvPr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6139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r>
              <a:rPr lang="en-US" dirty="0"/>
              <a:t>: Decision Procedure for </a:t>
            </a:r>
            <a:r>
              <a:rPr lang="en-US" dirty="0" err="1"/>
              <a:t>ReLU</a:t>
            </a:r>
            <a:r>
              <a:rPr lang="en-US" dirty="0"/>
              <a:t> 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in </a:t>
                </a:r>
                <a:r>
                  <a:rPr lang="en-US" dirty="0" err="1"/>
                  <a:t>Reluplex</a:t>
                </a:r>
                <a:r>
                  <a:rPr lang="en-US" dirty="0"/>
                  <a:t> form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Delay case splitting on </a:t>
                </a:r>
                <a:r>
                  <a:rPr lang="en-US" dirty="0" err="1"/>
                  <a:t>ReLUs</a:t>
                </a:r>
                <a:endParaRPr lang="en-US" dirty="0"/>
              </a:p>
              <a:p>
                <a:r>
                  <a:rPr lang="en-US" dirty="0"/>
                  <a:t>In the worst case it is still exponential, but has been shown to be empirically better than DPLL</a:t>
                </a:r>
                <a:r>
                  <a:rPr lang="en-US" baseline="30000" dirty="0"/>
                  <a:t>LRA 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3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F68BD8-7DDE-5C58-E4A9-E5D433B0C613}"/>
              </a:ext>
            </a:extLst>
          </p:cNvPr>
          <p:cNvSpPr txBox="1"/>
          <p:nvPr/>
        </p:nvSpPr>
        <p:spPr>
          <a:xfrm>
            <a:off x="311700" y="4487334"/>
            <a:ext cx="524053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100" b="1" i="0" dirty="0" err="1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Reluplex</a:t>
            </a:r>
            <a:r>
              <a:rPr lang="en-US" sz="1100" b="1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: An Efficient SMT Solver for Verifying Deep Neural Networks</a:t>
            </a:r>
          </a:p>
          <a:p>
            <a:pPr algn="l"/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4"/>
              </a:rPr>
              <a:t>Guy Katz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5"/>
              </a:rPr>
              <a:t>Clark Barrett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6"/>
              </a:rPr>
              <a:t>David Dill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7"/>
              </a:rPr>
              <a:t>Kyle Julian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 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  <a:hlinkClick r:id="rId8"/>
              </a:rPr>
              <a:t>Mykel Kochenderfer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, 2017</a:t>
            </a:r>
            <a:endParaRPr lang="en-US" sz="1100" b="0" i="0" dirty="0">
              <a:solidFill>
                <a:srgbClr val="000000"/>
              </a:solidFill>
              <a:effectLst/>
              <a:latin typeface="Lucida Grande" panose="020B0600040502020204" pitchFamily="34" charset="0"/>
            </a:endParaRPr>
          </a:p>
          <a:p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r>
              <a:rPr lang="en-US" dirty="0"/>
              <a:t> Decision Procedure for </a:t>
            </a:r>
            <a:r>
              <a:rPr lang="en-US" dirty="0" err="1"/>
              <a:t>ReLU</a:t>
            </a:r>
            <a:r>
              <a:rPr lang="en-US" dirty="0"/>
              <a:t> 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in </a:t>
                </a:r>
                <a:r>
                  <a:rPr lang="en-US" dirty="0" err="1"/>
                  <a:t>Reluplex</a:t>
                </a:r>
                <a:r>
                  <a:rPr lang="en-US" dirty="0"/>
                  <a:t> form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Reluplex</a:t>
                </a:r>
                <a:r>
                  <a:rPr lang="en-US" dirty="0"/>
                  <a:t> form (Recall Simplex form)</a:t>
                </a:r>
              </a:p>
              <a:p>
                <a:r>
                  <a:rPr lang="en-US" dirty="0"/>
                  <a:t>Equations (same as Simplex)</a:t>
                </a:r>
              </a:p>
              <a:p>
                <a:r>
                  <a:rPr lang="en-US" dirty="0"/>
                  <a:t>Bounds (same as Simplex)</a:t>
                </a:r>
              </a:p>
              <a:p>
                <a:r>
                  <a:rPr lang="en-US" dirty="0" err="1"/>
                  <a:t>Relu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Given conjunction of inequalities and </a:t>
                </a:r>
                <a:r>
                  <a:rPr lang="en-US" dirty="0" err="1"/>
                  <a:t>ReLU</a:t>
                </a:r>
                <a:r>
                  <a:rPr lang="en-US" dirty="0"/>
                  <a:t> constraints we can convert them to </a:t>
                </a:r>
                <a:r>
                  <a:rPr lang="en-US" dirty="0" err="1"/>
                  <a:t>Reluplex</a:t>
                </a:r>
                <a:r>
                  <a:rPr lang="en-US" dirty="0"/>
                  <a:t> form and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≥0.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9489"/>
            <a:ext cx="7886700" cy="52819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Input</a:t>
                </a:r>
                <a:r>
                  <a:rPr lang="en-US" sz="1350" dirty="0"/>
                  <a:t>: A formula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in </a:t>
                </a:r>
                <a:r>
                  <a:rPr lang="en-US" sz="1350" dirty="0" err="1"/>
                  <a:t>Reluplex</a:t>
                </a:r>
                <a:r>
                  <a:rPr lang="en-US" sz="1350" dirty="0"/>
                  <a:t> form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Output</a:t>
                </a:r>
                <a:r>
                  <a:rPr lang="en-US" sz="1350" dirty="0"/>
                  <a:t>: </a:t>
                </a: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↦0⟩</m:t>
                    </m:r>
                  </m:oMath>
                </a14:m>
                <a:r>
                  <a:rPr lang="en-US" sz="1350" dirty="0"/>
                  <a:t>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350" dirty="0"/>
                  <a:t>:= non </a:t>
                </a:r>
                <a:r>
                  <a:rPr lang="en-US" sz="1350" dirty="0" err="1"/>
                  <a:t>ReLU</a:t>
                </a:r>
                <a:r>
                  <a:rPr lang="en-US" sz="1350" dirty="0"/>
                  <a:t> part of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while</a:t>
                </a:r>
                <a:r>
                  <a:rPr lang="en-US" sz="1350" dirty="0"/>
                  <a:t> true </a:t>
                </a:r>
                <a:r>
                  <a:rPr lang="en-US" sz="1350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𝑆𝑖𝑚𝑝𝑙𝑒𝑥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35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en-US" sz="1350" b="1" dirty="0"/>
                  <a:t> is </a:t>
                </a:r>
                <a:r>
                  <a:rPr lang="en-US" sz="1350" b="1" dirty="0" err="1"/>
                  <a:t>unsat</a:t>
                </a:r>
                <a:r>
                  <a:rPr lang="en-US" sz="1350" b="1" dirty="0"/>
                  <a:t> then return UNSAT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else if 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</a:t>
                </a:r>
                <a:r>
                  <a:rPr lang="en-US" sz="1350" b="1" dirty="0"/>
                  <a:t>then return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Handle violated </a:t>
                </a:r>
                <a:r>
                  <a:rPr lang="en-US" sz="1350" dirty="0" err="1">
                    <a:solidFill>
                      <a:srgbClr val="00B050"/>
                    </a:solidFill>
                  </a:rPr>
                  <a:t>ReLU</a:t>
                </a:r>
                <a:r>
                  <a:rPr lang="en-US" sz="1350" dirty="0">
                    <a:solidFill>
                      <a:srgbClr val="00B050"/>
                    </a:solidFill>
                  </a:rPr>
                  <a:t> constraints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35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latin typeface="Cambria Math" panose="02040503050406030204" pitchFamily="18" charset="0"/>
                          </a:rPr>
                          <m:t>⌈</m:t>
                        </m:r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chemeClr val="bg1"/>
                    </a:solidFill>
                  </a:rPr>
                  <a:t>  if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is basic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then </a:t>
                </a:r>
                <a:r>
                  <a:rPr lang="en-US" sz="1350" dirty="0">
                    <a:solidFill>
                      <a:schemeClr val="bg1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chemeClr val="bg1"/>
                    </a:solidFill>
                  </a:rPr>
                  <a:t>  if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is basic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then </a:t>
                </a:r>
                <a:r>
                  <a:rPr lang="en-US" sz="1350" dirty="0">
                    <a:solidFill>
                      <a:schemeClr val="bg1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⌈</m:t>
                        </m:r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⌈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Case split</a:t>
                </a:r>
                <a:endParaRPr lang="en-US" sz="1350" b="1" dirty="0">
                  <a:solidFill>
                    <a:srgbClr val="00B05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&gt;0</m:t>
                    </m:r>
                    <m:r>
                      <a:rPr lang="en-US" sz="135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35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350" dirty="0"/>
                  <a:t> considered &gt;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350" dirty="0"/>
                  <a:t> times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≤0∧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135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if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:r>
                  <a:rPr lang="en-US" sz="1350" dirty="0" err="1">
                    <a:solidFill>
                      <a:schemeClr val="bg1"/>
                    </a:solidFill>
                  </a:rPr>
                  <a:t>unsat</a:t>
                </a:r>
                <a:r>
                  <a:rPr lang="en-US" sz="1350" dirty="0">
                    <a:solidFill>
                      <a:schemeClr val="bg1"/>
                    </a:solidFill>
                  </a:rPr>
                  <a:t> then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chemeClr val="bg1"/>
                    </a:solidFill>
                  </a:rPr>
                  <a:t>     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else  </a:t>
                </a:r>
                <a:r>
                  <a:rPr lang="en-US" sz="1350" dirty="0">
                    <a:solidFill>
                      <a:schemeClr val="bg1"/>
                    </a:solidFill>
                  </a:rPr>
                  <a:t> i</a:t>
                </a:r>
                <a:r>
                  <a:rPr lang="en-US" sz="1350" b="1" dirty="0">
                    <a:solidFill>
                      <a:schemeClr val="bg1"/>
                    </a:solidFill>
                  </a:rPr>
                  <a:t>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𝑢𝑛𝑠𝑎𝑡</m:t>
                    </m:r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then 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chemeClr val="bg1"/>
                    </a:solidFill>
                  </a:rPr>
                  <a:t> else return </a:t>
                </a:r>
                <a:r>
                  <a:rPr lang="en-US" sz="135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35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  <a:blipFill>
                <a:blip r:embed="rId2"/>
                <a:stretch>
                  <a:fillRect l="-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9489"/>
            <a:ext cx="7886700" cy="52819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Reluplex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Input</a:t>
                </a:r>
                <a:r>
                  <a:rPr lang="en-US" sz="1350" dirty="0"/>
                  <a:t>: A formula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in </a:t>
                </a:r>
                <a:r>
                  <a:rPr lang="en-US" sz="1350" dirty="0" err="1"/>
                  <a:t>Reluplex</a:t>
                </a:r>
                <a:r>
                  <a:rPr lang="en-US" sz="1350" dirty="0"/>
                  <a:t> form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Output</a:t>
                </a:r>
                <a:r>
                  <a:rPr lang="en-US" sz="1350" dirty="0"/>
                  <a:t>: </a:t>
                </a: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or 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↦0⟩</m:t>
                    </m:r>
                  </m:oMath>
                </a14:m>
                <a:r>
                  <a:rPr lang="en-US" sz="1350" dirty="0"/>
                  <a:t>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350" dirty="0"/>
                  <a:t>:= non </a:t>
                </a:r>
                <a:r>
                  <a:rPr lang="en-US" sz="1350" dirty="0" err="1"/>
                  <a:t>ReLU</a:t>
                </a:r>
                <a:r>
                  <a:rPr lang="en-US" sz="1350" dirty="0"/>
                  <a:t> part of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while</a:t>
                </a:r>
                <a:r>
                  <a:rPr lang="en-US" sz="1350" dirty="0"/>
                  <a:t> true </a:t>
                </a:r>
                <a:r>
                  <a:rPr lang="en-US" sz="1350" b="1" dirty="0"/>
                  <a:t>do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𝑆𝑖𝑚𝑝𝑙𝑒𝑥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35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35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en-US" sz="1350" b="1" dirty="0"/>
                  <a:t> is </a:t>
                </a:r>
                <a:r>
                  <a:rPr lang="en-US" sz="1350" b="1" dirty="0" err="1"/>
                  <a:t>unsat</a:t>
                </a:r>
                <a:r>
                  <a:rPr lang="en-US" sz="1350" b="1" dirty="0"/>
                  <a:t> then return UNSAT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else if 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350" b="1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/>
                  <a:t> </a:t>
                </a:r>
                <a:r>
                  <a:rPr lang="en-US" sz="1350" b="1" dirty="0"/>
                  <a:t>then return</a:t>
                </a:r>
                <a:r>
                  <a:rPr lang="en-US" sz="1350" dirty="0"/>
                  <a:t>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Handle violated </a:t>
                </a:r>
                <a:r>
                  <a:rPr lang="en-US" sz="1350" dirty="0" err="1">
                    <a:solidFill>
                      <a:srgbClr val="00B050"/>
                    </a:solidFill>
                  </a:rPr>
                  <a:t>ReLU</a:t>
                </a:r>
                <a:r>
                  <a:rPr lang="en-US" sz="1350" dirty="0">
                    <a:solidFill>
                      <a:srgbClr val="00B050"/>
                    </a:solidFill>
                  </a:rPr>
                  <a:t> constraints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/>
                  <a:t>  </a:t>
                </a:r>
                <a:r>
                  <a:rPr lang="en-US" sz="1350" dirty="0">
                    <a:solidFill>
                      <a:srgbClr val="C00000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1350" dirty="0">
                    <a:solidFill>
                      <a:srgbClr val="C00000"/>
                    </a:solidFill>
                  </a:rPr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5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35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rgbClr val="0070C0"/>
                    </a:solidFill>
                  </a:rPr>
                  <a:t>  if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is basic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then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>
                    <a:solidFill>
                      <a:srgbClr val="0070C0"/>
                    </a:solidFill>
                  </a:rPr>
                  <a:t>  if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is basic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then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pivot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with non-basic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𝑟𝑒𝑙𝑢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35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135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35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B050"/>
                    </a:solidFill>
                  </a:rPr>
                  <a:t>// Case split</a:t>
                </a:r>
                <a:endParaRPr lang="en-US" sz="1350" b="1" dirty="0">
                  <a:solidFill>
                    <a:srgbClr val="00B05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b="1" dirty="0"/>
                  <a:t> 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&gt;0</m:t>
                    </m:r>
                    <m:r>
                      <a:rPr lang="en-US" sz="135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35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350" dirty="0"/>
                  <a:t> considered &gt; </a:t>
                </a:r>
                <a14:m>
                  <m:oMath xmlns:m="http://schemas.openxmlformats.org/officeDocument/2006/math">
                    <m:r>
                      <a:rPr lang="en-US" sz="135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350" dirty="0"/>
                  <a:t> times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𝑅𝑒𝑙𝑢𝑝𝑙𝑒𝑥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≤0∧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135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if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:r>
                  <a:rPr lang="en-US" sz="1350" dirty="0" err="1">
                    <a:solidFill>
                      <a:srgbClr val="0070C0"/>
                    </a:solidFill>
                  </a:rPr>
                  <a:t>unsat</a:t>
                </a:r>
                <a:r>
                  <a:rPr lang="en-US" sz="1350" dirty="0">
                    <a:solidFill>
                      <a:srgbClr val="0070C0"/>
                    </a:solidFill>
                  </a:rPr>
                  <a:t> then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UNSAT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350" dirty="0">
                    <a:solidFill>
                      <a:srgbClr val="0070C0"/>
                    </a:solidFill>
                  </a:rPr>
                  <a:t>     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else 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i</a:t>
                </a:r>
                <a:r>
                  <a:rPr lang="en-US" sz="1350" b="1" dirty="0">
                    <a:solidFill>
                      <a:srgbClr val="0070C0"/>
                    </a:solidFill>
                  </a:rPr>
                  <a:t>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5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𝑠𝑎𝑡</m:t>
                    </m:r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then 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350" b="1" dirty="0">
                    <a:solidFill>
                      <a:srgbClr val="0070C0"/>
                    </a:solidFill>
                  </a:rPr>
                  <a:t> else return </a:t>
                </a:r>
                <a:r>
                  <a:rPr lang="en-US" sz="135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5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35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476574"/>
                <a:ext cx="6671053" cy="4666927"/>
              </a:xfrm>
              <a:blipFill>
                <a:blip r:embed="rId3"/>
                <a:stretch>
                  <a:fillRect l="-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Termination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last part of the algorithm ensures termination</a:t>
                </a:r>
              </a:p>
              <a:p>
                <a:r>
                  <a:rPr lang="en-US" dirty="0"/>
                  <a:t>Otherwise, the algorithm could loop forever between fixing </a:t>
                </a:r>
                <a:r>
                  <a:rPr lang="en-US" dirty="0" err="1"/>
                  <a:t>relu</a:t>
                </a:r>
                <a:r>
                  <a:rPr lang="en-US" dirty="0"/>
                  <a:t> constraints and Simplex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𝑟𝑒𝑙𝑢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split into two cases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≡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≥0∧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≡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b="7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Performance of </a:t>
            </a:r>
            <a:r>
              <a:rPr lang="en-US" dirty="0" err="1"/>
              <a:t>Reluplex</a:t>
            </a:r>
            <a:r>
              <a:rPr lang="en-US" dirty="0"/>
              <a:t> on ACAS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7" y="1456765"/>
            <a:ext cx="5715000" cy="2752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111" y="1076920"/>
            <a:ext cx="3372833" cy="21907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1"/>
          <p:cNvSpPr txBox="1">
            <a:spLocks noGrp="1"/>
          </p:cNvSpPr>
          <p:nvPr>
            <p:ph type="title"/>
          </p:nvPr>
        </p:nvSpPr>
        <p:spPr>
          <a:xfrm>
            <a:off x="65350" y="224420"/>
            <a:ext cx="8748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Review: Neural network verification as a satisfiability problem</a:t>
            </a:r>
          </a:p>
        </p:txBody>
      </p:sp>
      <p:sp>
        <p:nvSpPr>
          <p:cNvPr id="961" name="Google Shape;961;p51"/>
          <p:cNvSpPr txBox="1"/>
          <p:nvPr/>
        </p:nvSpPr>
        <p:spPr>
          <a:xfrm>
            <a:off x="4348375" y="1509425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30000">
                <a:solidFill>
                  <a:schemeClr val="dk2"/>
                </a:solidFill>
              </a:rPr>
              <a:t>(2)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62" name="Google Shape;962;p51"/>
          <p:cNvGrpSpPr/>
          <p:nvPr/>
        </p:nvGrpSpPr>
        <p:grpSpPr>
          <a:xfrm>
            <a:off x="1251850" y="1852138"/>
            <a:ext cx="1691250" cy="1518400"/>
            <a:chOff x="949900" y="2149850"/>
            <a:chExt cx="1691250" cy="1518400"/>
          </a:xfrm>
        </p:grpSpPr>
        <p:grpSp>
          <p:nvGrpSpPr>
            <p:cNvPr id="963" name="Google Shape;963;p5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5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5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51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5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69" name="Google Shape;969;p51"/>
              <p:cNvCxnSpPr>
                <a:stCxn id="964" idx="6"/>
                <a:endCxn id="966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51"/>
              <p:cNvCxnSpPr>
                <a:stCxn id="964" idx="6"/>
                <a:endCxn id="967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51"/>
              <p:cNvCxnSpPr>
                <a:stCxn id="965" idx="6"/>
                <a:endCxn id="966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51"/>
              <p:cNvCxnSpPr>
                <a:stCxn id="965" idx="6"/>
                <a:endCxn id="967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3" name="Google Shape;973;p51"/>
              <p:cNvCxnSpPr>
                <a:stCxn id="965" idx="6"/>
                <a:endCxn id="96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4" name="Google Shape;974;p51"/>
              <p:cNvCxnSpPr>
                <a:stCxn id="964" idx="6"/>
                <a:endCxn id="96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975" name="Google Shape;975;p5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976" name="Google Shape;976;p5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977" name="Google Shape;977;p51"/>
          <p:cNvGrpSpPr/>
          <p:nvPr/>
        </p:nvGrpSpPr>
        <p:grpSpPr>
          <a:xfrm>
            <a:off x="5150088" y="1904825"/>
            <a:ext cx="1113500" cy="1465725"/>
            <a:chOff x="3458500" y="1732750"/>
            <a:chExt cx="1113500" cy="1465725"/>
          </a:xfrm>
        </p:grpSpPr>
        <p:sp>
          <p:nvSpPr>
            <p:cNvPr id="978" name="Google Shape;978;p51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1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1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1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82" name="Google Shape;982;p51"/>
            <p:cNvCxnSpPr>
              <a:stCxn id="978" idx="6"/>
              <a:endCxn id="981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51"/>
            <p:cNvCxnSpPr>
              <a:stCxn id="979" idx="6"/>
              <a:endCxn id="981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51"/>
            <p:cNvCxnSpPr>
              <a:stCxn id="980" idx="6"/>
              <a:endCxn id="981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5" name="Google Shape;985;p51"/>
          <p:cNvGrpSpPr/>
          <p:nvPr/>
        </p:nvGrpSpPr>
        <p:grpSpPr>
          <a:xfrm>
            <a:off x="3559075" y="2020700"/>
            <a:ext cx="932400" cy="1233975"/>
            <a:chOff x="2526100" y="1848625"/>
            <a:chExt cx="932400" cy="1233975"/>
          </a:xfrm>
        </p:grpSpPr>
        <p:cxnSp>
          <p:nvCxnSpPr>
            <p:cNvPr id="986" name="Google Shape;986;p51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7" name="Google Shape;987;p51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8" name="Google Shape;988;p51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9" name="Google Shape;989;p51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0" name="Google Shape;990;p51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1" name="Google Shape;991;p51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2" name="Google Shape;992;p51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3" name="Google Shape;993;p51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4" name="Google Shape;994;p51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5" name="Google Shape;995;p51"/>
          <p:cNvGrpSpPr/>
          <p:nvPr/>
        </p:nvGrpSpPr>
        <p:grpSpPr>
          <a:xfrm>
            <a:off x="2608575" y="1502100"/>
            <a:ext cx="1306800" cy="1766950"/>
            <a:chOff x="2460350" y="1264125"/>
            <a:chExt cx="1306800" cy="1766950"/>
          </a:xfrm>
        </p:grpSpPr>
        <p:sp>
          <p:nvSpPr>
            <p:cNvPr id="996" name="Google Shape;996;p51"/>
            <p:cNvSpPr txBox="1"/>
            <p:nvPr/>
          </p:nvSpPr>
          <p:spPr>
            <a:xfrm>
              <a:off x="3113750" y="1302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7" name="Google Shape;997;p51"/>
            <p:cNvSpPr txBox="1"/>
            <p:nvPr/>
          </p:nvSpPr>
          <p:spPr>
            <a:xfrm>
              <a:off x="3113750" y="18269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8" name="Google Shape;998;p51"/>
            <p:cNvSpPr txBox="1"/>
            <p:nvPr/>
          </p:nvSpPr>
          <p:spPr>
            <a:xfrm>
              <a:off x="3113750" y="2503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0000FF"/>
                  </a:solidFill>
                </a:rPr>
                <a:t>ẑ</a:t>
              </a:r>
              <a:r>
                <a:rPr lang="en-GB" sz="1800" baseline="-25000" dirty="0">
                  <a:solidFill>
                    <a:srgbClr val="0000FF"/>
                  </a:solidFill>
                </a:rPr>
                <a:t>3</a:t>
              </a:r>
              <a:r>
                <a:rPr lang="en-GB" sz="1800" baseline="30000" dirty="0">
                  <a:solidFill>
                    <a:srgbClr val="0000FF"/>
                  </a:solidFill>
                </a:rPr>
                <a:t>(1)</a:t>
              </a:r>
              <a:endParaRPr sz="1800" dirty="0">
                <a:solidFill>
                  <a:srgbClr val="0000FF"/>
                </a:solidFill>
              </a:endParaRPr>
            </a:p>
          </p:txBody>
        </p:sp>
        <p:sp>
          <p:nvSpPr>
            <p:cNvPr id="999" name="Google Shape;999;p51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FF0000"/>
                  </a:solidFill>
                </a:rPr>
                <a:t>z</a:t>
              </a:r>
              <a:r>
                <a:rPr lang="en-GB" sz="1800" baseline="-25000" dirty="0">
                  <a:solidFill>
                    <a:srgbClr val="FF0000"/>
                  </a:solidFill>
                </a:rPr>
                <a:t>3</a:t>
              </a:r>
              <a:r>
                <a:rPr lang="en-GB" sz="1800" baseline="30000" dirty="0">
                  <a:solidFill>
                    <a:srgbClr val="FF0000"/>
                  </a:solidFill>
                </a:rPr>
                <a:t>(1)</a:t>
              </a:r>
              <a:endParaRPr sz="1800" dirty="0">
                <a:solidFill>
                  <a:srgbClr val="FF0000"/>
                </a:solidFill>
              </a:endParaRPr>
            </a:p>
          </p:txBody>
        </p:sp>
        <p:sp>
          <p:nvSpPr>
            <p:cNvPr id="1000" name="Google Shape;1000;p51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1001" name="Google Shape;1001;p51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1002" name="Google Shape;1002;p51"/>
          <p:cNvGrpSpPr/>
          <p:nvPr/>
        </p:nvGrpSpPr>
        <p:grpSpPr>
          <a:xfrm>
            <a:off x="3327163" y="1904813"/>
            <a:ext cx="231900" cy="1465725"/>
            <a:chOff x="2294125" y="1732750"/>
            <a:chExt cx="231900" cy="1465725"/>
          </a:xfrm>
        </p:grpSpPr>
        <p:sp>
          <p:nvSpPr>
            <p:cNvPr id="1003" name="Google Shape;1003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51"/>
          <p:cNvGrpSpPr/>
          <p:nvPr/>
        </p:nvGrpSpPr>
        <p:grpSpPr>
          <a:xfrm>
            <a:off x="4466063" y="1904825"/>
            <a:ext cx="231900" cy="1465725"/>
            <a:chOff x="2294125" y="1732750"/>
            <a:chExt cx="231900" cy="1465725"/>
          </a:xfrm>
        </p:grpSpPr>
        <p:sp>
          <p:nvSpPr>
            <p:cNvPr id="1007" name="Google Shape;1007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0" name="Google Shape;1010;p51"/>
          <p:cNvCxnSpPr>
            <a:stCxn id="966" idx="6"/>
            <a:endCxn id="1003" idx="2"/>
          </p:cNvCxnSpPr>
          <p:nvPr/>
        </p:nvCxnSpPr>
        <p:spPr>
          <a:xfrm>
            <a:off x="2943100" y="202076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51"/>
          <p:cNvCxnSpPr>
            <a:stCxn id="967" idx="6"/>
            <a:endCxn id="1004" idx="2"/>
          </p:cNvCxnSpPr>
          <p:nvPr/>
        </p:nvCxnSpPr>
        <p:spPr>
          <a:xfrm>
            <a:off x="2943100" y="26007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2" name="Google Shape;1012;p51"/>
          <p:cNvCxnSpPr>
            <a:stCxn id="968" idx="6"/>
            <a:endCxn id="1005" idx="2"/>
          </p:cNvCxnSpPr>
          <p:nvPr/>
        </p:nvCxnSpPr>
        <p:spPr>
          <a:xfrm>
            <a:off x="2943100" y="32545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3" name="Google Shape;1013;p51"/>
          <p:cNvCxnSpPr>
            <a:stCxn id="1007" idx="6"/>
            <a:endCxn id="978" idx="2"/>
          </p:cNvCxnSpPr>
          <p:nvPr/>
        </p:nvCxnSpPr>
        <p:spPr>
          <a:xfrm>
            <a:off x="4697963" y="202077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p51"/>
          <p:cNvCxnSpPr>
            <a:stCxn id="1008" idx="6"/>
            <a:endCxn id="979" idx="2"/>
          </p:cNvCxnSpPr>
          <p:nvPr/>
        </p:nvCxnSpPr>
        <p:spPr>
          <a:xfrm>
            <a:off x="4697963" y="26008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51"/>
          <p:cNvCxnSpPr>
            <a:stCxn id="1009" idx="6"/>
            <a:endCxn id="980" idx="2"/>
          </p:cNvCxnSpPr>
          <p:nvPr/>
        </p:nvCxnSpPr>
        <p:spPr>
          <a:xfrm>
            <a:off x="4697963" y="32546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6" name="Google Shape;1016;p51"/>
          <p:cNvSpPr txBox="1"/>
          <p:nvPr/>
        </p:nvSpPr>
        <p:spPr>
          <a:xfrm>
            <a:off x="5096225" y="1509413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ẑ</a:t>
            </a:r>
            <a:r>
              <a:rPr lang="en-GB" sz="1800" baseline="30000">
                <a:solidFill>
                  <a:schemeClr val="dk1"/>
                </a:solidFill>
              </a:rPr>
              <a:t>(2)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17" name="Google Shape;1017;p51"/>
          <p:cNvSpPr txBox="1"/>
          <p:nvPr/>
        </p:nvSpPr>
        <p:spPr>
          <a:xfrm>
            <a:off x="6263625" y="2292725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sp>
        <p:nvSpPr>
          <p:cNvPr id="1018" name="Google Shape;1018;p51"/>
          <p:cNvSpPr txBox="1"/>
          <p:nvPr/>
        </p:nvSpPr>
        <p:spPr>
          <a:xfrm>
            <a:off x="197625" y="3542600"/>
            <a:ext cx="61287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595959"/>
                </a:solidFill>
              </a:rPr>
              <a:t>Does there exist x, s.t.  x ∈ S  ∧  y ≤ 0  ∧  y = f(x) </a:t>
            </a:r>
            <a:endParaRPr sz="2000">
              <a:solidFill>
                <a:srgbClr val="595959"/>
              </a:solidFill>
            </a:endParaRPr>
          </a:p>
        </p:txBody>
      </p:sp>
      <p:sp>
        <p:nvSpPr>
          <p:cNvPr id="1019" name="Google Shape;1019;p51"/>
          <p:cNvSpPr txBox="1"/>
          <p:nvPr/>
        </p:nvSpPr>
        <p:spPr>
          <a:xfrm>
            <a:off x="3717125" y="4356350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Negation of the desired property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20" name="Google Shape;1020;p51"/>
          <p:cNvSpPr txBox="1"/>
          <p:nvPr/>
        </p:nvSpPr>
        <p:spPr>
          <a:xfrm>
            <a:off x="5922199" y="3740100"/>
            <a:ext cx="180171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Defines the neural network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890575" y="4204975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Input domain under consideration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022" name="Google Shape;1022;p51"/>
          <p:cNvCxnSpPr/>
          <p:nvPr/>
        </p:nvCxnSpPr>
        <p:spPr>
          <a:xfrm rot="10800000" flipH="1">
            <a:off x="2700325" y="3903875"/>
            <a:ext cx="421500" cy="44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3" name="Google Shape;1023;p51"/>
          <p:cNvCxnSpPr/>
          <p:nvPr/>
        </p:nvCxnSpPr>
        <p:spPr>
          <a:xfrm rot="10800000">
            <a:off x="4075400" y="3972050"/>
            <a:ext cx="332400" cy="553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51"/>
          <p:cNvCxnSpPr/>
          <p:nvPr/>
        </p:nvCxnSpPr>
        <p:spPr>
          <a:xfrm rot="10800000">
            <a:off x="5807074" y="3738975"/>
            <a:ext cx="1132500" cy="17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25" name="Google Shape;1025;p51"/>
          <p:cNvPicPr preferRelativeResize="0"/>
          <p:nvPr/>
        </p:nvPicPr>
        <p:blipFill rotWithShape="1">
          <a:blip r:embed="rId3"/>
          <a:srcRect l="14039" t="9153" r="55651" b="45213"/>
          <a:stretch>
            <a:fillRect/>
          </a:stretch>
        </p:blipFill>
        <p:spPr>
          <a:xfrm>
            <a:off x="65350" y="2149108"/>
            <a:ext cx="653399" cy="655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51"/>
          <p:cNvSpPr/>
          <p:nvPr/>
        </p:nvSpPr>
        <p:spPr>
          <a:xfrm>
            <a:off x="326074" y="2577622"/>
            <a:ext cx="184200" cy="90900"/>
          </a:xfrm>
          <a:prstGeom prst="rect">
            <a:avLst/>
          </a:prstGeom>
          <a:gradFill>
            <a:gsLst>
              <a:gs pos="0">
                <a:srgbClr val="FFFF00"/>
              </a:gs>
              <a:gs pos="100000">
                <a:srgbClr val="4A86E8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FF00"/>
              </a:solidFill>
            </a:endParaRPr>
          </a:p>
        </p:txBody>
      </p:sp>
      <p:grpSp>
        <p:nvGrpSpPr>
          <p:cNvPr id="1027" name="Google Shape;1027;p51"/>
          <p:cNvGrpSpPr/>
          <p:nvPr/>
        </p:nvGrpSpPr>
        <p:grpSpPr>
          <a:xfrm>
            <a:off x="7118059" y="1335925"/>
            <a:ext cx="1427550" cy="1873725"/>
            <a:chOff x="5659759" y="914325"/>
            <a:chExt cx="1427550" cy="1873725"/>
          </a:xfrm>
        </p:grpSpPr>
        <p:grpSp>
          <p:nvGrpSpPr>
            <p:cNvPr id="1028" name="Google Shape;1028;p51"/>
            <p:cNvGrpSpPr/>
            <p:nvPr/>
          </p:nvGrpSpPr>
          <p:grpSpPr>
            <a:xfrm>
              <a:off x="6177300" y="1265650"/>
              <a:ext cx="791100" cy="776775"/>
              <a:chOff x="5901775" y="3443650"/>
              <a:chExt cx="791100" cy="776775"/>
            </a:xfrm>
          </p:grpSpPr>
          <p:cxnSp>
            <p:nvCxnSpPr>
              <p:cNvPr id="1029" name="Google Shape;1029;p51"/>
              <p:cNvCxnSpPr/>
              <p:nvPr/>
            </p:nvCxnSpPr>
            <p:spPr>
              <a:xfrm>
                <a:off x="5901775" y="3443650"/>
                <a:ext cx="7911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0" name="Google Shape;1030;p51"/>
              <p:cNvCxnSpPr/>
              <p:nvPr/>
            </p:nvCxnSpPr>
            <p:spPr>
              <a:xfrm>
                <a:off x="5921600" y="4220425"/>
                <a:ext cx="77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1" name="Google Shape;1031;p51"/>
              <p:cNvCxnSpPr/>
              <p:nvPr/>
            </p:nvCxnSpPr>
            <p:spPr>
              <a:xfrm>
                <a:off x="6097825" y="3451325"/>
                <a:ext cx="0" cy="76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</p:grpSp>
        <p:sp>
          <p:nvSpPr>
            <p:cNvPr id="1032" name="Google Shape;1032;p51"/>
            <p:cNvSpPr txBox="1"/>
            <p:nvPr/>
          </p:nvSpPr>
          <p:spPr>
            <a:xfrm>
              <a:off x="6265609" y="2203050"/>
              <a:ext cx="8217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rgbClr val="000000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Speed Limit</a:t>
              </a:r>
              <a:endParaRPr sz="13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grpSp>
          <p:nvGrpSpPr>
            <p:cNvPr id="1033" name="Google Shape;1033;p51"/>
            <p:cNvGrpSpPr/>
            <p:nvPr/>
          </p:nvGrpSpPr>
          <p:grpSpPr>
            <a:xfrm>
              <a:off x="5719109" y="1258075"/>
              <a:ext cx="1005412" cy="1346825"/>
              <a:chOff x="551310" y="2116700"/>
              <a:chExt cx="897850" cy="1346825"/>
            </a:xfrm>
          </p:grpSpPr>
          <p:sp>
            <p:nvSpPr>
              <p:cNvPr id="1034" name="Google Shape;1034;p51"/>
              <p:cNvSpPr/>
              <p:nvPr/>
            </p:nvSpPr>
            <p:spPr>
              <a:xfrm>
                <a:off x="1263460" y="2906705"/>
                <a:ext cx="185700" cy="165000"/>
              </a:xfrm>
              <a:prstGeom prst="rect">
                <a:avLst/>
              </a:prstGeom>
              <a:solidFill>
                <a:srgbClr val="F9CB9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5" name="Google Shape;1035;p51"/>
              <p:cNvGrpSpPr/>
              <p:nvPr/>
            </p:nvGrpSpPr>
            <p:grpSpPr>
              <a:xfrm>
                <a:off x="551310" y="2116700"/>
                <a:ext cx="644100" cy="1346825"/>
                <a:chOff x="551310" y="2116700"/>
                <a:chExt cx="644100" cy="1346825"/>
              </a:xfrm>
            </p:grpSpPr>
            <p:sp>
              <p:nvSpPr>
                <p:cNvPr id="1036" name="Google Shape;1036;p51"/>
                <p:cNvSpPr/>
                <p:nvPr/>
              </p:nvSpPr>
              <p:spPr>
                <a:xfrm>
                  <a:off x="780510" y="2116700"/>
                  <a:ext cx="185700" cy="961800"/>
                </a:xfrm>
                <a:prstGeom prst="rect">
                  <a:avLst/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51"/>
                <p:cNvSpPr txBox="1"/>
                <p:nvPr/>
              </p:nvSpPr>
              <p:spPr>
                <a:xfrm>
                  <a:off x="551310" y="3078625"/>
                  <a:ext cx="644100" cy="384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300" b="1">
                      <a:solidFill>
                        <a:srgbClr val="000000"/>
                      </a:solidFill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Stop</a:t>
                  </a:r>
                  <a:endParaRPr sz="13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</p:grpSp>
        </p:grpSp>
        <p:sp>
          <p:nvSpPr>
            <p:cNvPr id="1038" name="Google Shape;1038;p51"/>
            <p:cNvSpPr txBox="1"/>
            <p:nvPr/>
          </p:nvSpPr>
          <p:spPr>
            <a:xfrm>
              <a:off x="5659759" y="914325"/>
              <a:ext cx="786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0.9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039" name="Google Shape;1039;p51"/>
            <p:cNvSpPr txBox="1"/>
            <p:nvPr/>
          </p:nvSpPr>
          <p:spPr>
            <a:xfrm>
              <a:off x="6278174" y="1706363"/>
              <a:ext cx="721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0.1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1E99D9BC-FFFF-22D9-3342-44B6B7F4B62B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2302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0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9" name="Google Shape;949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 Light" panose="020F0302020204030204" pitchFamily="34" charset="0"/>
                <a:cs typeface="Calibri Light" panose="020F0302020204030204" pitchFamily="34" charset="0"/>
              </a:rPr>
              <a:t>Verification of neural networks</a:t>
            </a:r>
          </a:p>
        </p:txBody>
      </p:sp>
      <p:sp>
        <p:nvSpPr>
          <p:cNvPr id="950" name="Google Shape;950;p50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 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>
                <a:solidFill>
                  <a:srgbClr val="BD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0))  for each ReLU neuron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x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y=w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(3)T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  y ≤ 0 </a:t>
            </a:r>
            <a:endParaRPr sz="2100" baseline="30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39525" y="32549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Add all clauses to the formula and solve using DPLL(T) with Linear Real Arithmetic.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939525" y="3998063"/>
            <a:ext cx="6531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 general this is very slow! </a:t>
            </a:r>
            <a:endParaRPr sz="20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5" name="Google Shape;955;p50"/>
          <p:cNvSpPr txBox="1"/>
          <p:nvPr/>
        </p:nvSpPr>
        <p:spPr>
          <a:xfrm>
            <a:off x="957125" y="1565450"/>
            <a:ext cx="54135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≤ u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l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each dimension of x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aseline="-25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3DA676A5-91F2-44ED-39C0-AB1DFDDA06CE}"/>
              </a:ext>
            </a:extLst>
          </p:cNvPr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1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21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56" name="Google Shape;256;p21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Obtain the abstract version of the problem</a:t>
            </a:r>
            <a:endParaRPr sz="20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≥ 0 ∧ </a:t>
            </a:r>
            <a:r>
              <a:rPr lang="en-GB" sz="1800" dirty="0" err="1">
                <a:solidFill>
                  <a:schemeClr val="dk2"/>
                </a:solidFill>
              </a:rPr>
              <a:t>ẑ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= 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∨ (</a:t>
            </a:r>
            <a:r>
              <a:rPr lang="en-GB" sz="1800" dirty="0" err="1">
                <a:solidFill>
                  <a:schemeClr val="dk2"/>
                </a:solidFill>
              </a:rPr>
              <a:t>z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2000" dirty="0">
                <a:solidFill>
                  <a:schemeClr val="dk2"/>
                </a:solidFill>
              </a:rPr>
              <a:t>&lt;</a:t>
            </a:r>
            <a:r>
              <a:rPr lang="en-GB" sz="1800" dirty="0">
                <a:solidFill>
                  <a:schemeClr val="dk2"/>
                </a:solidFill>
              </a:rPr>
              <a:t> 0 ∧ </a:t>
            </a:r>
            <a:r>
              <a:rPr lang="en-GB" sz="1800" dirty="0" err="1">
                <a:solidFill>
                  <a:schemeClr val="dk2"/>
                </a:solidFill>
              </a:rPr>
              <a:t>ẑ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= 0))  for each </a:t>
            </a:r>
            <a:r>
              <a:rPr lang="en-GB" sz="1800" dirty="0" err="1">
                <a:solidFill>
                  <a:schemeClr val="dk2"/>
                </a:solidFill>
              </a:rPr>
              <a:t>ReLU</a:t>
            </a:r>
            <a:r>
              <a:rPr lang="en-GB" sz="1800" dirty="0">
                <a:solidFill>
                  <a:schemeClr val="dk2"/>
                </a:solidFill>
              </a:rPr>
              <a:t> neuron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solidFill>
                  <a:schemeClr val="dk2"/>
                </a:solidFill>
              </a:rPr>
              <a:t>z</a:t>
            </a:r>
            <a:r>
              <a:rPr lang="en-GB" sz="2100" baseline="-25000" dirty="0">
                <a:solidFill>
                  <a:schemeClr val="dk2"/>
                </a:solidFill>
              </a:rPr>
              <a:t>1</a:t>
            </a:r>
            <a:r>
              <a:rPr lang="en-GB" sz="2100" dirty="0">
                <a:solidFill>
                  <a:schemeClr val="dk2"/>
                </a:solidFill>
              </a:rPr>
              <a:t> =W</a:t>
            </a:r>
            <a:r>
              <a:rPr lang="en-GB" sz="2100" baseline="30000" dirty="0">
                <a:solidFill>
                  <a:schemeClr val="dk2"/>
                </a:solidFill>
              </a:rPr>
              <a:t>(1)</a:t>
            </a:r>
            <a:r>
              <a:rPr lang="en-GB" sz="2100" dirty="0">
                <a:solidFill>
                  <a:schemeClr val="dk2"/>
                </a:solidFill>
              </a:rPr>
              <a:t> x</a:t>
            </a:r>
            <a:r>
              <a:rPr lang="en-GB" sz="2100" baseline="30000" dirty="0">
                <a:solidFill>
                  <a:schemeClr val="dk2"/>
                </a:solidFill>
              </a:rPr>
              <a:t>    </a:t>
            </a:r>
            <a:r>
              <a:rPr lang="en-GB" sz="2100" baseline="-25000" dirty="0">
                <a:solidFill>
                  <a:schemeClr val="dk2"/>
                </a:solidFill>
              </a:rPr>
              <a:t> </a:t>
            </a:r>
            <a:r>
              <a:rPr lang="en-GB" sz="2000" dirty="0">
                <a:solidFill>
                  <a:schemeClr val="dk2"/>
                </a:solidFill>
              </a:rPr>
              <a:t>∧</a:t>
            </a:r>
            <a:r>
              <a:rPr lang="en-GB" sz="2100" baseline="-25000" dirty="0">
                <a:solidFill>
                  <a:schemeClr val="dk2"/>
                </a:solidFill>
              </a:rPr>
              <a:t>         </a:t>
            </a:r>
            <a:r>
              <a:rPr lang="en-GB" sz="2100" dirty="0">
                <a:solidFill>
                  <a:schemeClr val="dk2"/>
                </a:solidFill>
              </a:rPr>
              <a:t>z</a:t>
            </a:r>
            <a:r>
              <a:rPr lang="en-GB" sz="2100" baseline="30000" dirty="0">
                <a:solidFill>
                  <a:schemeClr val="dk2"/>
                </a:solidFill>
              </a:rPr>
              <a:t>(2)</a:t>
            </a:r>
            <a:r>
              <a:rPr lang="en-GB" sz="2100" dirty="0">
                <a:solidFill>
                  <a:schemeClr val="dk2"/>
                </a:solidFill>
              </a:rPr>
              <a:t> =W</a:t>
            </a:r>
            <a:r>
              <a:rPr lang="en-GB" sz="2100" baseline="30000" dirty="0">
                <a:solidFill>
                  <a:schemeClr val="dk2"/>
                </a:solidFill>
              </a:rPr>
              <a:t>(2)</a:t>
            </a:r>
            <a:r>
              <a:rPr lang="en-GB" sz="2100" dirty="0">
                <a:solidFill>
                  <a:schemeClr val="dk2"/>
                </a:solidFill>
              </a:rPr>
              <a:t> </a:t>
            </a:r>
            <a:r>
              <a:rPr lang="en-GB" sz="2100" dirty="0" err="1">
                <a:solidFill>
                  <a:schemeClr val="dk2"/>
                </a:solidFill>
              </a:rPr>
              <a:t>ẑ</a:t>
            </a:r>
            <a:r>
              <a:rPr lang="en-GB" sz="2100" baseline="30000" dirty="0">
                <a:solidFill>
                  <a:schemeClr val="dk2"/>
                </a:solidFill>
              </a:rPr>
              <a:t>(1)</a:t>
            </a:r>
            <a:r>
              <a:rPr lang="en-GB" sz="2100" baseline="-25000" dirty="0">
                <a:solidFill>
                  <a:schemeClr val="dk2"/>
                </a:solidFill>
              </a:rPr>
              <a:t>     </a:t>
            </a:r>
            <a:r>
              <a:rPr lang="en-GB" sz="2000" dirty="0">
                <a:solidFill>
                  <a:schemeClr val="dk2"/>
                </a:solidFill>
              </a:rPr>
              <a:t>∧</a:t>
            </a:r>
            <a:r>
              <a:rPr lang="en-GB" sz="2100" baseline="-25000" dirty="0">
                <a:solidFill>
                  <a:schemeClr val="dk2"/>
                </a:solidFill>
              </a:rPr>
              <a:t>    </a:t>
            </a:r>
            <a:r>
              <a:rPr lang="en-GB" sz="2100" dirty="0">
                <a:solidFill>
                  <a:schemeClr val="dk2"/>
                </a:solidFill>
              </a:rPr>
              <a:t> y=w</a:t>
            </a:r>
            <a:r>
              <a:rPr lang="en-GB" sz="2100" baseline="30000" dirty="0">
                <a:solidFill>
                  <a:schemeClr val="dk2"/>
                </a:solidFill>
              </a:rPr>
              <a:t>(3)T</a:t>
            </a:r>
            <a:r>
              <a:rPr lang="en-GB" sz="2100" dirty="0">
                <a:solidFill>
                  <a:schemeClr val="dk2"/>
                </a:solidFill>
              </a:rPr>
              <a:t> </a:t>
            </a:r>
            <a:r>
              <a:rPr lang="en-GB" sz="2100" dirty="0" err="1">
                <a:solidFill>
                  <a:schemeClr val="dk2"/>
                </a:solidFill>
              </a:rPr>
              <a:t>ẑ</a:t>
            </a:r>
            <a:r>
              <a:rPr lang="en-GB" sz="2100" baseline="30000" dirty="0">
                <a:solidFill>
                  <a:schemeClr val="dk2"/>
                </a:solidFill>
              </a:rPr>
              <a:t>(2)   </a:t>
            </a:r>
            <a:r>
              <a:rPr lang="en-GB" sz="2000" dirty="0">
                <a:solidFill>
                  <a:schemeClr val="dk2"/>
                </a:solidFill>
              </a:rPr>
              <a:t>∧   y ≤ 0 </a:t>
            </a:r>
            <a:endParaRPr sz="2100" baseline="30000" dirty="0">
              <a:solidFill>
                <a:schemeClr val="dk2"/>
              </a:solidFill>
            </a:endParaRPr>
          </a:p>
        </p:txBody>
      </p:sp>
      <p:sp>
        <p:nvSpPr>
          <p:cNvPr id="259" name="Google Shape;259;p21"/>
          <p:cNvSpPr txBox="1"/>
          <p:nvPr/>
        </p:nvSpPr>
        <p:spPr>
          <a:xfrm>
            <a:off x="957125" y="1565450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x</a:t>
            </a:r>
            <a:r>
              <a:rPr lang="en-GB" sz="2000" baseline="-25000">
                <a:solidFill>
                  <a:schemeClr val="dk2"/>
                </a:solidFill>
              </a:rPr>
              <a:t>i</a:t>
            </a:r>
            <a:r>
              <a:rPr lang="en-GB" sz="2000">
                <a:solidFill>
                  <a:schemeClr val="dk2"/>
                </a:solidFill>
              </a:rPr>
              <a:t> ≤ u</a:t>
            </a:r>
            <a:r>
              <a:rPr lang="en-GB" sz="2000" baseline="-25000">
                <a:solidFill>
                  <a:schemeClr val="dk2"/>
                </a:solidFill>
              </a:rPr>
              <a:t>i  </a:t>
            </a:r>
            <a:r>
              <a:rPr lang="en-GB" sz="2000">
                <a:solidFill>
                  <a:schemeClr val="dk2"/>
                </a:solidFill>
              </a:rPr>
              <a:t>∧ x</a:t>
            </a:r>
            <a:r>
              <a:rPr lang="en-GB" sz="2000" baseline="-25000">
                <a:solidFill>
                  <a:schemeClr val="dk2"/>
                </a:solidFill>
              </a:rPr>
              <a:t>i</a:t>
            </a:r>
            <a:r>
              <a:rPr lang="en-GB" sz="2000">
                <a:solidFill>
                  <a:schemeClr val="dk2"/>
                </a:solidFill>
              </a:rPr>
              <a:t> </a:t>
            </a:r>
            <a:r>
              <a:rPr lang="en-GB" sz="1800">
                <a:solidFill>
                  <a:schemeClr val="dk2"/>
                </a:solidFill>
              </a:rPr>
              <a:t>≥</a:t>
            </a:r>
            <a:r>
              <a:rPr lang="en-GB" sz="2000">
                <a:solidFill>
                  <a:schemeClr val="dk2"/>
                </a:solidFill>
              </a:rPr>
              <a:t> l</a:t>
            </a:r>
            <a:r>
              <a:rPr lang="en-GB" sz="2000" baseline="-25000">
                <a:solidFill>
                  <a:schemeClr val="dk2"/>
                </a:solidFill>
              </a:rPr>
              <a:t>i </a:t>
            </a:r>
            <a:r>
              <a:rPr lang="en-GB" sz="1800">
                <a:solidFill>
                  <a:schemeClr val="dk1"/>
                </a:solidFill>
              </a:rPr>
              <a:t>  </a:t>
            </a:r>
            <a:r>
              <a:rPr lang="en-GB" sz="2000">
                <a:solidFill>
                  <a:schemeClr val="dk2"/>
                </a:solidFill>
              </a:rPr>
              <a:t> (assuming box constraints)</a:t>
            </a:r>
            <a:endParaRPr sz="2000" baseline="-25000">
              <a:solidFill>
                <a:schemeClr val="dk2"/>
              </a:solidFill>
            </a:endParaRPr>
          </a:p>
        </p:txBody>
      </p:sp>
      <p:sp>
        <p:nvSpPr>
          <p:cNvPr id="260" name="Google Shape;260;p21"/>
          <p:cNvSpPr txBox="1"/>
          <p:nvPr/>
        </p:nvSpPr>
        <p:spPr>
          <a:xfrm>
            <a:off x="813675" y="3319925"/>
            <a:ext cx="77754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For each </a:t>
            </a:r>
            <a:r>
              <a:rPr lang="en-GB" sz="2000" dirty="0" err="1">
                <a:solidFill>
                  <a:schemeClr val="dk2"/>
                </a:solidFill>
              </a:rPr>
              <a:t>ReLU</a:t>
            </a:r>
            <a:r>
              <a:rPr lang="en-GB" sz="2000" dirty="0">
                <a:solidFill>
                  <a:schemeClr val="dk2"/>
                </a:solidFill>
              </a:rPr>
              <a:t> neuron: </a:t>
            </a: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∧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rgbClr val="FF0000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∧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chemeClr val="dk2"/>
                </a:solidFill>
              </a:rPr>
              <a:t>All other clauses contain only a single literal, and must be set to True</a:t>
            </a:r>
            <a:endParaRPr sz="18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2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66" name="Google Shape;266;p22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Now convert to CNF form</a:t>
            </a:r>
            <a:endParaRPr sz="20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2"/>
              </a:solidFill>
            </a:endParaRPr>
          </a:p>
        </p:txBody>
      </p:sp>
      <p:sp>
        <p:nvSpPr>
          <p:cNvPr id="267" name="Google Shape;267;p22"/>
          <p:cNvSpPr txBox="1"/>
          <p:nvPr/>
        </p:nvSpPr>
        <p:spPr>
          <a:xfrm>
            <a:off x="939525" y="1818125"/>
            <a:ext cx="7852800" cy="32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</a:rPr>
              <a:t>For each </a:t>
            </a:r>
            <a:r>
              <a:rPr lang="en-GB" sz="2000" dirty="0" err="1">
                <a:solidFill>
                  <a:schemeClr val="dk2"/>
                </a:solidFill>
              </a:rPr>
              <a:t>ReLU</a:t>
            </a:r>
            <a:r>
              <a:rPr lang="en-GB" sz="2000" dirty="0">
                <a:solidFill>
                  <a:schemeClr val="dk2"/>
                </a:solidFill>
              </a:rPr>
              <a:t> neuron: </a:t>
            </a:r>
            <a:r>
              <a:rPr lang="en-GB" sz="1800" dirty="0">
                <a:solidFill>
                  <a:schemeClr val="dk2"/>
                </a:solidFill>
              </a:rPr>
              <a:t>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∧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rgbClr val="FF0000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∧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Distribution: ((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 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Rewrite: 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) ∧(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Observe that when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=True,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=False,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</a:t>
            </a:r>
            <a:br>
              <a:rPr lang="en-GB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So, the clause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is redundant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3"/>
          <p:cNvSpPr txBox="1">
            <a:spLocks noGrp="1"/>
          </p:cNvSpPr>
          <p:nvPr>
            <p:ph type="title"/>
          </p:nvPr>
        </p:nvSpPr>
        <p:spPr>
          <a:xfrm>
            <a:off x="4427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does a SMT solver solve this problem?</a:t>
            </a:r>
          </a:p>
        </p:txBody>
      </p:sp>
      <p:sp>
        <p:nvSpPr>
          <p:cNvPr id="273" name="Google Shape;273;p23"/>
          <p:cNvSpPr txBox="1"/>
          <p:nvPr/>
        </p:nvSpPr>
        <p:spPr>
          <a:xfrm>
            <a:off x="939525" y="1017713"/>
            <a:ext cx="65313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chemeClr val="dk2"/>
                </a:solidFill>
              </a:rPr>
              <a:t>(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) ∧(¬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>
                <a:solidFill>
                  <a:schemeClr val="dk1"/>
                </a:solidFill>
              </a:rPr>
              <a:t>∨</a:t>
            </a:r>
            <a:r>
              <a:rPr lang="en-GB" sz="1800" dirty="0">
                <a:solidFill>
                  <a:schemeClr val="dk2"/>
                </a:solidFill>
              </a:rPr>
              <a:t> </a:t>
            </a:r>
            <a:r>
              <a:rPr lang="en-GB" sz="1800" dirty="0" err="1">
                <a:solidFill>
                  <a:schemeClr val="dk2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When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=True, </a:t>
            </a:r>
            <a:r>
              <a:rPr lang="en-GB" sz="1800" dirty="0" err="1">
                <a:solidFill>
                  <a:schemeClr val="dk1"/>
                </a:solidFill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r>
              <a:rPr lang="en-GB" sz="1800" dirty="0">
                <a:solidFill>
                  <a:schemeClr val="dk1"/>
                </a:solidFill>
              </a:rPr>
              <a:t>=False, </a:t>
            </a:r>
            <a:r>
              <a:rPr lang="en-GB" sz="1800" dirty="0" err="1">
                <a:solidFill>
                  <a:schemeClr val="dk2"/>
                </a:solidFill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 </a:t>
            </a:r>
            <a:r>
              <a:rPr lang="en-GB" sz="1800" dirty="0">
                <a:solidFill>
                  <a:schemeClr val="dk2"/>
                </a:solidFill>
              </a:rPr>
              <a:t>must be true;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chemeClr val="dk2"/>
                </a:solidFill>
              </a:rPr>
              <a:t>SAT solver must try both cases of </a:t>
            </a:r>
            <a:r>
              <a:rPr lang="en-GB" sz="1800" dirty="0" err="1">
                <a:solidFill>
                  <a:schemeClr val="dk2"/>
                </a:solidFill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</a:rPr>
              <a:t>j</a:t>
            </a:r>
            <a:r>
              <a:rPr lang="en-GB" sz="1800" baseline="30000" dirty="0">
                <a:solidFill>
                  <a:schemeClr val="dk2"/>
                </a:solidFill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</a:rPr>
              <a:t>i</a:t>
            </a:r>
            <a:r>
              <a:rPr lang="en-GB" sz="1800" baseline="30000" dirty="0">
                <a:solidFill>
                  <a:schemeClr val="dk2"/>
                </a:solidFill>
              </a:rPr>
              <a:t>)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939525" y="28506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=True  (z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 </a:t>
            </a:r>
            <a:r>
              <a:rPr lang="en-GB" sz="1800">
                <a:solidFill>
                  <a:schemeClr val="dk2"/>
                </a:solidFill>
              </a:rPr>
              <a:t>≥ 0)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4470825" y="285062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=False  (z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 </a:t>
            </a:r>
            <a:r>
              <a:rPr lang="en-GB" sz="2000">
                <a:solidFill>
                  <a:schemeClr val="dk2"/>
                </a:solidFill>
              </a:rPr>
              <a:t>&lt;</a:t>
            </a:r>
            <a:r>
              <a:rPr lang="en-GB" sz="1800">
                <a:solidFill>
                  <a:schemeClr val="dk2"/>
                </a:solidFill>
              </a:rPr>
              <a:t> 0)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276" name="Google Shape;276;p23"/>
          <p:cNvGrpSpPr/>
          <p:nvPr/>
        </p:nvGrpSpPr>
        <p:grpSpPr>
          <a:xfrm>
            <a:off x="1625099" y="3587034"/>
            <a:ext cx="1925808" cy="1280700"/>
            <a:chOff x="3971450" y="691950"/>
            <a:chExt cx="2261400" cy="1707600"/>
          </a:xfrm>
        </p:grpSpPr>
        <p:cxnSp>
          <p:nvCxnSpPr>
            <p:cNvPr id="277" name="Google Shape;277;p23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8" name="Google Shape;278;p23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279" name="Google Shape;279;p23"/>
            <p:cNvCxnSpPr/>
            <p:nvPr/>
          </p:nvCxnSpPr>
          <p:spPr>
            <a:xfrm rot="10800000" flipH="1">
              <a:off x="5060625" y="929550"/>
              <a:ext cx="839400" cy="95310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0" name="Google Shape;280;p23"/>
          <p:cNvGrpSpPr/>
          <p:nvPr/>
        </p:nvGrpSpPr>
        <p:grpSpPr>
          <a:xfrm>
            <a:off x="4960549" y="3587034"/>
            <a:ext cx="1925808" cy="1280700"/>
            <a:chOff x="3971450" y="691950"/>
            <a:chExt cx="2261400" cy="1707600"/>
          </a:xfrm>
        </p:grpSpPr>
        <p:cxnSp>
          <p:nvCxnSpPr>
            <p:cNvPr id="281" name="Google Shape;281;p23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82" name="Google Shape;282;p23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283" name="Google Shape;283;p23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4"/>
          <p:cNvSpPr txBox="1">
            <a:spLocks noGrp="1"/>
          </p:cNvSpPr>
          <p:nvPr>
            <p:ph type="title"/>
          </p:nvPr>
        </p:nvSpPr>
        <p:spPr>
          <a:xfrm>
            <a:off x="318325" y="445025"/>
            <a:ext cx="9032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using a SMT solver is very slow?</a:t>
            </a:r>
          </a:p>
        </p:txBody>
      </p:sp>
      <p:sp>
        <p:nvSpPr>
          <p:cNvPr id="289" name="Google Shape;289;p24"/>
          <p:cNvSpPr txBox="1"/>
          <p:nvPr/>
        </p:nvSpPr>
        <p:spPr>
          <a:xfrm>
            <a:off x="939525" y="1017725"/>
            <a:ext cx="79479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∧(¬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When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=True,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q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must be true;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=False,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must be true;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 solver must make decisions on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 In a satisfiable solution from DPLL, each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is set to True or False, then a theory solver (Simplex) invoked.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There are exponential number of cases here… and modern neural networks can have millions of neurons!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939525" y="3718200"/>
            <a:ext cx="74538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Can we solve the problem without setting every </a:t>
            </a:r>
            <a:r>
              <a:rPr lang="en-GB" sz="18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</a:t>
            </a:r>
            <a:r>
              <a:rPr lang="en-GB" sz="1800" baseline="-25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n-GB" sz="1800" baseline="30000" dirty="0" err="1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1800" baseline="30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?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We will tack this problem from an optimization point of view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Mathematical optimization problems</a:t>
            </a:r>
          </a:p>
        </p:txBody>
      </p:sp>
      <p:sp>
        <p:nvSpPr>
          <p:cNvPr id="296" name="Google Shape;296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0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Given an </a:t>
            </a:r>
            <a:r>
              <a:rPr lang="en-GB" b="1" dirty="0"/>
              <a:t>objective function</a:t>
            </a:r>
            <a:r>
              <a:rPr lang="en-GB" dirty="0"/>
              <a:t> f: S → R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Seek an </a:t>
            </a:r>
            <a:r>
              <a:rPr lang="en-GB" b="1" dirty="0"/>
              <a:t>optimal solution</a:t>
            </a:r>
            <a:r>
              <a:rPr lang="en-GB" dirty="0"/>
              <a:t> x</a:t>
            </a:r>
            <a:r>
              <a:rPr lang="en-GB" baseline="30000" dirty="0"/>
              <a:t>*</a:t>
            </a:r>
            <a:r>
              <a:rPr lang="en-GB" dirty="0"/>
              <a:t> such that f(x</a:t>
            </a:r>
            <a:r>
              <a:rPr lang="en-GB" baseline="30000" dirty="0"/>
              <a:t>*</a:t>
            </a:r>
            <a:r>
              <a:rPr lang="en-GB" dirty="0"/>
              <a:t>) ≤ f(x) for all x ∈ S</a:t>
            </a:r>
          </a:p>
        </p:txBody>
      </p:sp>
      <p:grpSp>
        <p:nvGrpSpPr>
          <p:cNvPr id="297" name="Google Shape;297;p25"/>
          <p:cNvGrpSpPr/>
          <p:nvPr/>
        </p:nvGrpSpPr>
        <p:grpSpPr>
          <a:xfrm>
            <a:off x="5087900" y="2754863"/>
            <a:ext cx="2664000" cy="1823063"/>
            <a:chOff x="3106375" y="2681138"/>
            <a:chExt cx="2664000" cy="1823063"/>
          </a:xfrm>
        </p:grpSpPr>
        <p:cxnSp>
          <p:nvCxnSpPr>
            <p:cNvPr id="298" name="Google Shape;298;p25"/>
            <p:cNvCxnSpPr/>
            <p:nvPr/>
          </p:nvCxnSpPr>
          <p:spPr>
            <a:xfrm>
              <a:off x="3350969" y="2681138"/>
              <a:ext cx="0" cy="1755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299" name="Google Shape;299;p25"/>
            <p:cNvCxnSpPr/>
            <p:nvPr/>
          </p:nvCxnSpPr>
          <p:spPr>
            <a:xfrm>
              <a:off x="3106375" y="4043238"/>
              <a:ext cx="26640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00" name="Google Shape;300;p25"/>
            <p:cNvSpPr/>
            <p:nvPr/>
          </p:nvSpPr>
          <p:spPr>
            <a:xfrm>
              <a:off x="3350057" y="3003417"/>
              <a:ext cx="2319243" cy="1062076"/>
            </a:xfrm>
            <a:custGeom>
              <a:avLst/>
              <a:gdLst/>
              <a:ahLst/>
              <a:cxnLst/>
              <a:rect l="l" t="t" r="r" b="b"/>
              <a:pathLst>
                <a:path w="134644" h="61659" extrusionOk="0">
                  <a:moveTo>
                    <a:pt x="0" y="61659"/>
                  </a:moveTo>
                  <a:cubicBezTo>
                    <a:pt x="3006" y="56696"/>
                    <a:pt x="9788" y="35443"/>
                    <a:pt x="18037" y="31878"/>
                  </a:cubicBezTo>
                  <a:cubicBezTo>
                    <a:pt x="26286" y="28313"/>
                    <a:pt x="41735" y="40826"/>
                    <a:pt x="49495" y="40267"/>
                  </a:cubicBezTo>
                  <a:cubicBezTo>
                    <a:pt x="57255" y="39708"/>
                    <a:pt x="59003" y="29502"/>
                    <a:pt x="64596" y="28523"/>
                  </a:cubicBezTo>
                  <a:cubicBezTo>
                    <a:pt x="70189" y="27544"/>
                    <a:pt x="76829" y="37471"/>
                    <a:pt x="83051" y="34395"/>
                  </a:cubicBezTo>
                  <a:cubicBezTo>
                    <a:pt x="89273" y="31319"/>
                    <a:pt x="93328" y="15800"/>
                    <a:pt x="101927" y="10067"/>
                  </a:cubicBezTo>
                  <a:cubicBezTo>
                    <a:pt x="110526" y="4335"/>
                    <a:pt x="129191" y="1678"/>
                    <a:pt x="134644" y="0"/>
                  </a:cubicBez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01" name="Google Shape;301;p25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3411058" y="2681138"/>
              <a:ext cx="332368" cy="210643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02" name="Google Shape;302;p25"/>
            <p:cNvCxnSpPr/>
            <p:nvPr/>
          </p:nvCxnSpPr>
          <p:spPr>
            <a:xfrm rot="10800000">
              <a:off x="3754037" y="3086286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303" name="Google Shape;303;p25"/>
            <p:cNvCxnSpPr/>
            <p:nvPr/>
          </p:nvCxnSpPr>
          <p:spPr>
            <a:xfrm>
              <a:off x="3743425" y="4043233"/>
              <a:ext cx="1141800" cy="0"/>
            </a:xfrm>
            <a:prstGeom prst="straightConnector1">
              <a:avLst/>
            </a:prstGeom>
            <a:noFill/>
            <a:ln w="38100" cap="flat" cmpd="sng">
              <a:solidFill>
                <a:srgbClr val="A4C2F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04" name="Google Shape;304;p25"/>
            <p:cNvSpPr/>
            <p:nvPr/>
          </p:nvSpPr>
          <p:spPr>
            <a:xfrm>
              <a:off x="3756075" y="3468588"/>
              <a:ext cx="1139300" cy="234175"/>
            </a:xfrm>
            <a:custGeom>
              <a:avLst/>
              <a:gdLst/>
              <a:ahLst/>
              <a:cxnLst/>
              <a:rect l="l" t="t" r="r" b="b"/>
              <a:pathLst>
                <a:path w="45572" h="9367" extrusionOk="0">
                  <a:moveTo>
                    <a:pt x="0" y="3198"/>
                  </a:moveTo>
                  <a:cubicBezTo>
                    <a:pt x="644" y="3354"/>
                    <a:pt x="822" y="3109"/>
                    <a:pt x="3864" y="4131"/>
                  </a:cubicBezTo>
                  <a:cubicBezTo>
                    <a:pt x="6907" y="5153"/>
                    <a:pt x="14188" y="9842"/>
                    <a:pt x="18255" y="9328"/>
                  </a:cubicBezTo>
                  <a:cubicBezTo>
                    <a:pt x="22322" y="8814"/>
                    <a:pt x="24846" y="1667"/>
                    <a:pt x="28266" y="1045"/>
                  </a:cubicBezTo>
                  <a:cubicBezTo>
                    <a:pt x="31686" y="423"/>
                    <a:pt x="36292" y="5283"/>
                    <a:pt x="38776" y="5597"/>
                  </a:cubicBezTo>
                  <a:cubicBezTo>
                    <a:pt x="41261" y="5912"/>
                    <a:pt x="42040" y="3865"/>
                    <a:pt x="43173" y="2932"/>
                  </a:cubicBezTo>
                  <a:cubicBezTo>
                    <a:pt x="44306" y="1999"/>
                    <a:pt x="45172" y="489"/>
                    <a:pt x="45572" y="0"/>
                  </a:cubicBezTo>
                </a:path>
              </a:pathLst>
            </a:custGeom>
            <a:noFill/>
            <a:ln w="19050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305" name="Google Shape;305;p25"/>
            <p:cNvCxnSpPr/>
            <p:nvPr/>
          </p:nvCxnSpPr>
          <p:spPr>
            <a:xfrm rot="10800000">
              <a:off x="4895387" y="3099973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306" name="Google Shape;306;p25" descr="f(x) &gt; 0, \forall x \in \mathcal{S}" title="MathEquation,#000000"/>
            <p:cNvPicPr preferRelativeResize="0"/>
            <p:nvPr/>
          </p:nvPicPr>
          <p:blipFill rotWithShape="1">
            <a:blip r:embed="rId4"/>
            <a:srcRect l="88467" r="-4" b="9057"/>
            <a:stretch>
              <a:fillRect/>
            </a:stretch>
          </p:blipFill>
          <p:spPr>
            <a:xfrm>
              <a:off x="4230809" y="4281025"/>
              <a:ext cx="172900" cy="2231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7" name="Google Shape;307;p25"/>
            <p:cNvSpPr/>
            <p:nvPr/>
          </p:nvSpPr>
          <p:spPr>
            <a:xfrm rot="-5400000">
              <a:off x="4236350" y="3611800"/>
              <a:ext cx="168300" cy="11397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8" name="Google Shape;308;p25"/>
          <p:cNvSpPr/>
          <p:nvPr/>
        </p:nvSpPr>
        <p:spPr>
          <a:xfrm>
            <a:off x="6133075" y="3745025"/>
            <a:ext cx="94800" cy="948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Some optimization problems are hard, some are easy</a:t>
            </a:r>
          </a:p>
        </p:txBody>
      </p:sp>
      <p:sp>
        <p:nvSpPr>
          <p:cNvPr id="314" name="Google Shape;314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Given an </a:t>
            </a: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f</a:t>
            </a:r>
            <a:r>
              <a:rPr lang="en-GB" dirty="0"/>
              <a:t>: </a:t>
            </a:r>
            <a:r>
              <a:rPr lang="en-GB" dirty="0">
                <a:solidFill>
                  <a:srgbClr val="FF0000"/>
                </a:solidFill>
              </a:rPr>
              <a:t>S</a:t>
            </a:r>
            <a:r>
              <a:rPr lang="en-GB" dirty="0"/>
              <a:t> → R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Hardness depends on the properties of f and S. For tractable solving they cannot be arbitrary! </a:t>
            </a: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Easy ones: convex optimization, linear programming, semidefinite programming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E.g., in linear programming, objective function and constraints must be linear functions</a:t>
            </a: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en-GB"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Hard ones: integer programming, general quadratic programming, general nonlinear programming,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20" name="Google Shape;320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∃ x ∈ S  ∧  y ≤ 0  ∧  y = f(x)</a:t>
            </a:r>
            <a:endParaRPr sz="20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Can be solved with the following </a:t>
            </a:r>
            <a:r>
              <a:rPr lang="en-GB" sz="2000" b="1" dirty="0">
                <a:solidFill>
                  <a:srgbClr val="595959"/>
                </a:solidFill>
              </a:rPr>
              <a:t>minimization problem:</a:t>
            </a: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If the optimal objective y*</a:t>
            </a:r>
            <a:r>
              <a:rPr lang="en-GB" sz="2000" dirty="0"/>
              <a:t>≤0, then the original</a:t>
            </a:r>
            <a:br>
              <a:rPr lang="en-GB" sz="2000" dirty="0"/>
            </a:br>
            <a:r>
              <a:rPr lang="en-GB" sz="2000" dirty="0"/>
              <a:t>Problem is satisfiable</a:t>
            </a:r>
            <a:endParaRPr sz="2000" b="1" dirty="0">
              <a:solidFill>
                <a:srgbClr val="595959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rgbClr val="595959"/>
              </a:solidFill>
            </a:endParaRPr>
          </a:p>
        </p:txBody>
      </p:sp>
      <p:cxnSp>
        <p:nvCxnSpPr>
          <p:cNvPr id="321" name="Google Shape;321;p27"/>
          <p:cNvCxnSpPr/>
          <p:nvPr/>
        </p:nvCxnSpPr>
        <p:spPr>
          <a:xfrm>
            <a:off x="6205594" y="29340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22" name="Google Shape;322;p27"/>
          <p:cNvCxnSpPr/>
          <p:nvPr/>
        </p:nvCxnSpPr>
        <p:spPr>
          <a:xfrm>
            <a:off x="5961000" y="42961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3" name="Google Shape;323;p27"/>
          <p:cNvSpPr/>
          <p:nvPr/>
        </p:nvSpPr>
        <p:spPr>
          <a:xfrm>
            <a:off x="6204682" y="32563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pic>
        <p:nvPicPr>
          <p:cNvPr id="324" name="Google Shape;324;p2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265683" y="2934063"/>
            <a:ext cx="332368" cy="21064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5" name="Google Shape;325;p27"/>
          <p:cNvCxnSpPr/>
          <p:nvPr/>
        </p:nvCxnSpPr>
        <p:spPr>
          <a:xfrm rot="10800000">
            <a:off x="6608662" y="33392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27"/>
          <p:cNvCxnSpPr/>
          <p:nvPr/>
        </p:nvCxnSpPr>
        <p:spPr>
          <a:xfrm>
            <a:off x="6598050" y="42961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27" name="Google Shape;327;p2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382316" y="4328208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27"/>
          <p:cNvSpPr/>
          <p:nvPr/>
        </p:nvSpPr>
        <p:spPr>
          <a:xfrm>
            <a:off x="6610700" y="37215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329" name="Google Shape;329;p27"/>
          <p:cNvCxnSpPr/>
          <p:nvPr/>
        </p:nvCxnSpPr>
        <p:spPr>
          <a:xfrm rot="10800000">
            <a:off x="7750012" y="33528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0" name="Google Shape;330;p27"/>
          <p:cNvSpPr/>
          <p:nvPr/>
        </p:nvSpPr>
        <p:spPr>
          <a:xfrm>
            <a:off x="7021175" y="3933800"/>
            <a:ext cx="40500" cy="405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1" name="Google Shape;331;p27" descr="f(x) &gt; 0, \forall x \in \mathcal{S}" title="MathEquation,#000000"/>
          <p:cNvPicPr preferRelativeResize="0"/>
          <p:nvPr/>
        </p:nvPicPr>
        <p:blipFill rotWithShape="1">
          <a:blip r:embed="rId5"/>
          <a:srcRect l="88467" r="-4" b="9057"/>
          <a:stretch>
            <a:fillRect/>
          </a:stretch>
        </p:blipFill>
        <p:spPr>
          <a:xfrm>
            <a:off x="7085434" y="45339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7"/>
          <p:cNvSpPr/>
          <p:nvPr/>
        </p:nvSpPr>
        <p:spPr>
          <a:xfrm rot="-5400000">
            <a:off x="7090975" y="38647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3" name="Google Shape;333;p27" descr=" \displaystyle y^* = \min_{x \in \mathcal{S}} f(x)&#10;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3158250" y="2448675"/>
            <a:ext cx="2400126" cy="696025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7"/>
          <p:cNvSpPr txBox="1"/>
          <p:nvPr/>
        </p:nvSpPr>
        <p:spPr>
          <a:xfrm>
            <a:off x="6921775" y="3857825"/>
            <a:ext cx="515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</a:rPr>
              <a:t>y*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40" name="Google Shape;340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Now we rewrite the neural network verification problem as a </a:t>
            </a:r>
            <a:r>
              <a:rPr lang="en-GB" b="1"/>
              <a:t>constrained optimization problem</a:t>
            </a:r>
            <a:r>
              <a:rPr lang="en-GB"/>
              <a:t> (still using the simple network example):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8"/>
              <p:cNvSpPr txBox="1"/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GB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en-GB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GB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en-GB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chemeClr val="dk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en-US" sz="1800" b="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en-GB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𝑙𝑖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sz="1800" i="1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341" name="Google Shape;341;p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2" name="Google Shape;342;p28"/>
          <p:cNvSpPr txBox="1"/>
          <p:nvPr/>
        </p:nvSpPr>
        <p:spPr>
          <a:xfrm>
            <a:off x="5693675" y="2681350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(ReLU activation)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3" name="Google Shape;343;p28"/>
          <p:cNvSpPr txBox="1"/>
          <p:nvPr/>
        </p:nvSpPr>
        <p:spPr>
          <a:xfrm>
            <a:off x="5366925" y="4130150"/>
            <a:ext cx="3672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(element-wise input bounds)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44" name="Google Shape;344;p28"/>
          <p:cNvSpPr txBox="1"/>
          <p:nvPr/>
        </p:nvSpPr>
        <p:spPr>
          <a:xfrm>
            <a:off x="5693675" y="2394675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(linear layers)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Problem as an optimization problem</a:t>
            </a:r>
          </a:p>
        </p:txBody>
      </p:sp>
      <p:sp>
        <p:nvSpPr>
          <p:cNvPr id="350" name="Google Shape;350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10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Now we rewrite the neural network verification problem as a </a:t>
            </a:r>
            <a:r>
              <a:rPr lang="en-GB" b="1"/>
              <a:t>constrained optimization problem</a:t>
            </a:r>
            <a:r>
              <a:rPr lang="en-GB"/>
              <a:t> (still using the simple network example):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Google Shape;351;p29"/>
              <p:cNvSpPr txBox="1"/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en-GB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en-GB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GB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en-GB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GB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en-US" sz="1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en-GB" sz="1800" i="1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en-GB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351" name="Google Shape;351;p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975" y="2017350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2" name="Google Shape;352;p29"/>
          <p:cNvSpPr txBox="1"/>
          <p:nvPr/>
        </p:nvSpPr>
        <p:spPr>
          <a:xfrm>
            <a:off x="5693675" y="2681350"/>
            <a:ext cx="30882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</a:t>
            </a:r>
            <a:r>
              <a:rPr lang="en-GB" sz="1800">
                <a:solidFill>
                  <a:srgbClr val="FF0000"/>
                </a:solidFill>
              </a:rPr>
              <a:t>nonlinear</a:t>
            </a:r>
            <a:r>
              <a:rPr lang="en-GB" sz="1800">
                <a:solidFill>
                  <a:schemeClr val="dk2"/>
                </a:solidFill>
              </a:rPr>
              <a:t> constraints)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53" name="Google Shape;353;p29"/>
          <p:cNvSpPr txBox="1"/>
          <p:nvPr/>
        </p:nvSpPr>
        <p:spPr>
          <a:xfrm>
            <a:off x="5108975" y="4109075"/>
            <a:ext cx="3672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(inputs bounds are also linear constraints)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54" name="Google Shape;354;p29"/>
          <p:cNvSpPr txBox="1"/>
          <p:nvPr/>
        </p:nvSpPr>
        <p:spPr>
          <a:xfrm>
            <a:off x="5693675" y="2322850"/>
            <a:ext cx="2181900" cy="3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(linear constraints)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0"/>
          <p:cNvSpPr txBox="1">
            <a:spLocks noGrp="1"/>
          </p:cNvSpPr>
          <p:nvPr>
            <p:ph type="title"/>
          </p:nvPr>
        </p:nvSpPr>
        <p:spPr>
          <a:xfrm>
            <a:off x="311700" y="24897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Optimization formulation for </a:t>
            </a:r>
            <a:r>
              <a:rPr lang="en-GB" dirty="0" err="1"/>
              <a:t>ReLU</a:t>
            </a:r>
            <a:r>
              <a:rPr lang="en-GB" dirty="0"/>
              <a:t>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" name="Google Shape;360;p3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700" y="940516"/>
                <a:ext cx="8520600" cy="208815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Let’s look at this constraint more carefully: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0)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(for all </a:t>
                </a:r>
                <a:r>
                  <a:rPr lang="en-GB" dirty="0" err="1">
                    <a:solidFill>
                      <a:schemeClr val="tx1"/>
                    </a:solidFill>
                  </a:rPr>
                  <a:t>i</a:t>
                </a:r>
                <a:r>
                  <a:rPr lang="en-GB" dirty="0">
                    <a:solidFill>
                      <a:schemeClr val="tx1"/>
                    </a:solidFill>
                  </a:rPr>
                  <a:t>, j)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One approach: </a:t>
                </a:r>
                <a:r>
                  <a:rPr lang="en-GB" b="1" dirty="0"/>
                  <a:t>mixed</a:t>
                </a:r>
                <a:r>
                  <a:rPr lang="en-GB" dirty="0"/>
                  <a:t> </a:t>
                </a:r>
                <a:r>
                  <a:rPr lang="en-GB" b="1" dirty="0"/>
                  <a:t>integer linear programming (MILP) </a:t>
                </a:r>
                <a:r>
                  <a:rPr lang="en-GB" dirty="0"/>
                  <a:t>formulation 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Create an </a:t>
                </a:r>
                <a:r>
                  <a:rPr lang="en-GB" b="1" dirty="0"/>
                  <a:t>integer variable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sz="2000" i="1" dirty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GB" dirty="0"/>
                  <a:t> and rewrite using “big” M number:</a:t>
                </a:r>
              </a:p>
            </p:txBody>
          </p:sp>
        </mc:Choice>
        <mc:Fallback xmlns="">
          <p:sp>
            <p:nvSpPr>
              <p:cNvPr id="360" name="Google Shape;360;p3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940516"/>
                <a:ext cx="8520600" cy="2088156"/>
              </a:xfrm>
              <a:prstGeom prst="rect">
                <a:avLst/>
              </a:prstGeom>
              <a:blipFill>
                <a:blip r:embed="rId3"/>
                <a:stretch>
                  <a:fillRect l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1" name="Google Shape;361;p30"/>
          <p:cNvGrpSpPr/>
          <p:nvPr/>
        </p:nvGrpSpPr>
        <p:grpSpPr>
          <a:xfrm>
            <a:off x="6431475" y="3167975"/>
            <a:ext cx="2002650" cy="1496375"/>
            <a:chOff x="6431475" y="3167975"/>
            <a:chExt cx="2002650" cy="1496375"/>
          </a:xfrm>
        </p:grpSpPr>
        <p:grpSp>
          <p:nvGrpSpPr>
            <p:cNvPr id="362" name="Google Shape;362;p30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63" name="Google Shape;363;p30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64" name="Google Shape;364;p30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65" name="Google Shape;365;p30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66" name="Google Shape;366;p30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67" name="Google Shape;367;p30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68" name="Google Shape;368;p30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/>
              <p:nvPr/>
            </p:nvSpPr>
            <p:spPr>
              <a:xfrm>
                <a:off x="397834" y="2892291"/>
                <a:ext cx="2647781" cy="148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34" y="2892291"/>
                <a:ext cx="2647781" cy="14847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0"/>
          <p:cNvSpPr txBox="1">
            <a:spLocks noGrp="1"/>
          </p:cNvSpPr>
          <p:nvPr>
            <p:ph type="title"/>
          </p:nvPr>
        </p:nvSpPr>
        <p:spPr>
          <a:xfrm>
            <a:off x="311700" y="24897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Optimization formulation for </a:t>
            </a:r>
            <a:r>
              <a:rPr lang="en-GB" dirty="0" err="1"/>
              <a:t>ReLU</a:t>
            </a:r>
            <a:r>
              <a:rPr lang="en-GB" dirty="0"/>
              <a:t> 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" name="Google Shape;360;p3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699" y="940516"/>
                <a:ext cx="8662967" cy="208815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0" lvl="0" indent="0">
                  <a:lnSpc>
                    <a:spcPct val="120000"/>
                  </a:lnSpc>
                  <a:buNone/>
                </a:pPr>
                <a:r>
                  <a:rPr lang="en-GB" dirty="0"/>
                  <a:t>Let’s look at this constraint more carefully: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Sup>
                      <m:sSubSup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0)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(for all </a:t>
                </a:r>
                <a:r>
                  <a:rPr lang="en-GB" dirty="0" err="1">
                    <a:solidFill>
                      <a:schemeClr val="tx1"/>
                    </a:solidFill>
                  </a:rPr>
                  <a:t>i</a:t>
                </a:r>
                <a:r>
                  <a:rPr lang="en-GB" dirty="0">
                    <a:solidFill>
                      <a:schemeClr val="tx1"/>
                    </a:solidFill>
                  </a:rPr>
                  <a:t>, j)</a:t>
                </a:r>
              </a:p>
              <a:p>
                <a:pPr marL="0" lv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GB" dirty="0" err="1"/>
                  <a:t>ReLU</a:t>
                </a:r>
                <a:r>
                  <a:rPr lang="en-GB" dirty="0"/>
                  <a:t> is active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GB" dirty="0"/>
                  <a:t>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dirty="0"/>
                  <a:t> 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en-GB" dirty="0"/>
                  <a:t>; for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≫0</m:t>
                    </m:r>
                  </m:oMath>
                </a14:m>
                <a:r>
                  <a:rPr lang="en-GB" dirty="0"/>
                  <a:t> this is no constraint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GB" dirty="0" err="1"/>
                  <a:t>ReLU</a:t>
                </a:r>
                <a:r>
                  <a:rPr lang="en-GB" dirty="0"/>
                  <a:t> is inactive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GB" dirty="0"/>
                  <a:t> 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en-GB" dirty="0"/>
                  <a:t>;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≪0</m:t>
                    </m:r>
                  </m:oMath>
                </a14:m>
                <a:r>
                  <a:rPr lang="en-GB" dirty="0"/>
                  <a:t> no constraint</a:t>
                </a:r>
              </a:p>
            </p:txBody>
          </p:sp>
        </mc:Choice>
        <mc:Fallback xmlns="">
          <p:sp>
            <p:nvSpPr>
              <p:cNvPr id="360" name="Google Shape;360;p3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699" y="940516"/>
                <a:ext cx="8662967" cy="2088156"/>
              </a:xfrm>
              <a:prstGeom prst="rect">
                <a:avLst/>
              </a:prstGeom>
              <a:blipFill>
                <a:blip r:embed="rId3"/>
                <a:stretch>
                  <a:fillRect l="-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1" name="Google Shape;361;p30"/>
          <p:cNvGrpSpPr/>
          <p:nvPr/>
        </p:nvGrpSpPr>
        <p:grpSpPr>
          <a:xfrm>
            <a:off x="6475018" y="2571750"/>
            <a:ext cx="2002650" cy="1496375"/>
            <a:chOff x="6431475" y="3167975"/>
            <a:chExt cx="2002650" cy="1496375"/>
          </a:xfrm>
        </p:grpSpPr>
        <p:grpSp>
          <p:nvGrpSpPr>
            <p:cNvPr id="362" name="Google Shape;362;p30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63" name="Google Shape;363;p30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64" name="Google Shape;364;p30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65" name="Google Shape;365;p30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66" name="Google Shape;366;p30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67" name="Google Shape;367;p30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68" name="Google Shape;368;p30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/>
              <p:nvPr/>
            </p:nvSpPr>
            <p:spPr>
              <a:xfrm>
                <a:off x="397834" y="3147511"/>
                <a:ext cx="2647781" cy="148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A743EC-6508-42B8-A649-9284AAC2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34" y="3147511"/>
                <a:ext cx="2647781" cy="14847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396;p31">
            <a:extLst>
              <a:ext uri="{FF2B5EF4-FFF2-40B4-BE49-F238E27FC236}">
                <a16:creationId xmlns:a16="http://schemas.microsoft.com/office/drawing/2014/main" id="{599AD498-D2F2-DCD3-3184-AB4F8F4F1685}"/>
              </a:ext>
            </a:extLst>
          </p:cNvPr>
          <p:cNvSpPr txBox="1"/>
          <p:nvPr/>
        </p:nvSpPr>
        <p:spPr>
          <a:xfrm>
            <a:off x="4572000" y="4220200"/>
            <a:ext cx="437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small (negative)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large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953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Optimization formulation for ReLU neurons</a:t>
            </a:r>
          </a:p>
        </p:txBody>
      </p:sp>
      <p:sp>
        <p:nvSpPr>
          <p:cNvPr id="379" name="Google Shape;379;p31"/>
          <p:cNvSpPr txBox="1">
            <a:spLocks noGrp="1"/>
          </p:cNvSpPr>
          <p:nvPr>
            <p:ph type="body" idx="1"/>
          </p:nvPr>
        </p:nvSpPr>
        <p:spPr>
          <a:xfrm>
            <a:off x="3954600" y="1152475"/>
            <a:ext cx="4877700" cy="18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When </a:t>
            </a:r>
            <a:r>
              <a:rPr lang="en-GB">
                <a:solidFill>
                  <a:schemeClr val="dk1"/>
                </a:solidFill>
              </a:rPr>
              <a:t>p</a:t>
            </a:r>
            <a:r>
              <a:rPr lang="en-GB" baseline="-25000">
                <a:solidFill>
                  <a:schemeClr val="dk1"/>
                </a:solidFill>
              </a:rPr>
              <a:t>j</a:t>
            </a:r>
            <a:r>
              <a:rPr lang="en-GB" baseline="30000">
                <a:solidFill>
                  <a:schemeClr val="dk1"/>
                </a:solidFill>
              </a:rPr>
              <a:t>(i)</a:t>
            </a:r>
            <a:r>
              <a:rPr lang="en-GB">
                <a:solidFill>
                  <a:schemeClr val="dk1"/>
                </a:solidFill>
              </a:rPr>
              <a:t> = 0: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When </a:t>
            </a:r>
            <a:r>
              <a:rPr lang="en-GB">
                <a:solidFill>
                  <a:schemeClr val="dk1"/>
                </a:solidFill>
              </a:rPr>
              <a:t>p</a:t>
            </a:r>
            <a:r>
              <a:rPr lang="en-GB" baseline="-25000">
                <a:solidFill>
                  <a:schemeClr val="dk1"/>
                </a:solidFill>
              </a:rPr>
              <a:t>j</a:t>
            </a:r>
            <a:r>
              <a:rPr lang="en-GB" baseline="30000">
                <a:solidFill>
                  <a:schemeClr val="dk1"/>
                </a:solidFill>
              </a:rPr>
              <a:t>(i)</a:t>
            </a:r>
            <a:r>
              <a:rPr lang="en-GB">
                <a:solidFill>
                  <a:schemeClr val="dk1"/>
                </a:solidFill>
              </a:rPr>
              <a:t> = 1: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380" name="Google Shape;380;p31" descr="\hat{z}^{(i)}_j \geq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881750" y="1802400"/>
            <a:ext cx="102339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 descr="\hat{z}^{(i)}_j \geq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716225" y="1802400"/>
            <a:ext cx="811722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 descr="\hat{z}^{(i)}_j \leq 0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7641475" y="1163150"/>
            <a:ext cx="961226" cy="493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3" name="Google Shape;383;p31"/>
          <p:cNvGrpSpPr/>
          <p:nvPr/>
        </p:nvGrpSpPr>
        <p:grpSpPr>
          <a:xfrm>
            <a:off x="1951950" y="3568500"/>
            <a:ext cx="2002650" cy="1496375"/>
            <a:chOff x="6431475" y="3167975"/>
            <a:chExt cx="2002650" cy="1496375"/>
          </a:xfrm>
        </p:grpSpPr>
        <p:grpSp>
          <p:nvGrpSpPr>
            <p:cNvPr id="384" name="Google Shape;384;p31"/>
            <p:cNvGrpSpPr/>
            <p:nvPr/>
          </p:nvGrpSpPr>
          <p:grpSpPr>
            <a:xfrm>
              <a:off x="6431475" y="3353797"/>
              <a:ext cx="1957257" cy="1280700"/>
              <a:chOff x="3934521" y="691950"/>
              <a:chExt cx="2298329" cy="1707600"/>
            </a:xfrm>
          </p:grpSpPr>
          <p:cxnSp>
            <p:nvCxnSpPr>
              <p:cNvPr id="385" name="Google Shape;385;p31"/>
              <p:cNvCxnSpPr/>
              <p:nvPr/>
            </p:nvCxnSpPr>
            <p:spPr>
              <a:xfrm>
                <a:off x="3971450" y="1882650"/>
                <a:ext cx="226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86" name="Google Shape;386;p31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387" name="Google Shape;387;p31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8" name="Google Shape;388;p31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89" name="Google Shape;389;p31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90" name="Google Shape;390;p31"/>
            <p:cNvSpPr txBox="1"/>
            <p:nvPr/>
          </p:nvSpPr>
          <p:spPr>
            <a:xfrm>
              <a:off x="7962525" y="420265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p:pic>
        <p:nvPicPr>
          <p:cNvPr id="391" name="Google Shape;391;p31" descr="\hat{z}^{(i)}_j \leq z_j^{(i)}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5881763" y="2530112"/>
            <a:ext cx="102337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31" descr="\hat{z}^{(i)}_j \geq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908475" y="3202400"/>
            <a:ext cx="1023396" cy="41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1" descr="\hat{z}^{(i)}_j \geq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641475" y="3260787"/>
            <a:ext cx="811722" cy="41702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1"/>
          <p:cNvSpPr/>
          <p:nvPr/>
        </p:nvSpPr>
        <p:spPr>
          <a:xfrm>
            <a:off x="5803788" y="1123713"/>
            <a:ext cx="1832400" cy="572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31"/>
          <p:cNvSpPr/>
          <p:nvPr/>
        </p:nvSpPr>
        <p:spPr>
          <a:xfrm>
            <a:off x="7638525" y="2453738"/>
            <a:ext cx="1116600" cy="572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1"/>
          <p:cNvSpPr txBox="1"/>
          <p:nvPr/>
        </p:nvSpPr>
        <p:spPr>
          <a:xfrm>
            <a:off x="4572000" y="4220200"/>
            <a:ext cx="4378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small (negative)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  <a:r>
              <a:rPr lang="en-GB" sz="1800" baseline="-250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needs to be large enough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97" name="Google Shape;397;p31"/>
          <p:cNvGrpSpPr/>
          <p:nvPr/>
        </p:nvGrpSpPr>
        <p:grpSpPr>
          <a:xfrm>
            <a:off x="4411790" y="1618583"/>
            <a:ext cx="1023510" cy="680479"/>
            <a:chOff x="3971450" y="691950"/>
            <a:chExt cx="2261400" cy="1707600"/>
          </a:xfrm>
        </p:grpSpPr>
        <p:cxnSp>
          <p:nvCxnSpPr>
            <p:cNvPr id="398" name="Google Shape;398;p31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99" name="Google Shape;399;p31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400" name="Google Shape;400;p31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1" name="Google Shape;401;p31"/>
          <p:cNvGrpSpPr/>
          <p:nvPr/>
        </p:nvGrpSpPr>
        <p:grpSpPr>
          <a:xfrm>
            <a:off x="4373190" y="3039589"/>
            <a:ext cx="1116679" cy="742635"/>
            <a:chOff x="3971450" y="691950"/>
            <a:chExt cx="2261400" cy="1707600"/>
          </a:xfrm>
        </p:grpSpPr>
        <p:cxnSp>
          <p:nvCxnSpPr>
            <p:cNvPr id="402" name="Google Shape;402;p31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3" name="Google Shape;403;p31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404" name="Google Shape;404;p31"/>
            <p:cNvCxnSpPr/>
            <p:nvPr/>
          </p:nvCxnSpPr>
          <p:spPr>
            <a:xfrm rot="10800000" flipH="1">
              <a:off x="5060625" y="929550"/>
              <a:ext cx="839400" cy="953100"/>
            </a:xfrm>
            <a:prstGeom prst="straightConnector1">
              <a:avLst/>
            </a:prstGeom>
            <a:noFill/>
            <a:ln w="28575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405" name="Google Shape;405;p31"/>
          <p:cNvCxnSpPr/>
          <p:nvPr/>
        </p:nvCxnSpPr>
        <p:spPr>
          <a:xfrm rot="10800000" flipH="1">
            <a:off x="4203150" y="1501150"/>
            <a:ext cx="826800" cy="826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Google Shape;406;p31"/>
          <p:cNvCxnSpPr/>
          <p:nvPr/>
        </p:nvCxnSpPr>
        <p:spPr>
          <a:xfrm rot="10800000">
            <a:off x="5320175" y="2997475"/>
            <a:ext cx="0" cy="7029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12" name="Google Shape;412;p31" descr="\hat{z}^{(i)}_j \leq z_j^{(i)} - M_1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5881750" y="1201550"/>
            <a:ext cx="1676482" cy="417025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1"/>
          <p:cNvSpPr txBox="1"/>
          <p:nvPr/>
        </p:nvSpPr>
        <p:spPr>
          <a:xfrm>
            <a:off x="5143288" y="3568500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2</a:t>
            </a:r>
            <a:endParaRPr sz="900" baseline="-25000"/>
          </a:p>
        </p:txBody>
      </p:sp>
      <p:sp>
        <p:nvSpPr>
          <p:cNvPr id="414" name="Google Shape;414;p31"/>
          <p:cNvSpPr txBox="1"/>
          <p:nvPr/>
        </p:nvSpPr>
        <p:spPr>
          <a:xfrm>
            <a:off x="4295550" y="1992050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1</a:t>
            </a:r>
            <a:endParaRPr sz="900" baseline="-25000"/>
          </a:p>
        </p:txBody>
      </p:sp>
      <p:sp>
        <p:nvSpPr>
          <p:cNvPr id="415" name="Google Shape;415;p31"/>
          <p:cNvSpPr/>
          <p:nvPr/>
        </p:nvSpPr>
        <p:spPr>
          <a:xfrm>
            <a:off x="4430925" y="2057208"/>
            <a:ext cx="60600" cy="606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1"/>
          <p:cNvSpPr/>
          <p:nvPr/>
        </p:nvSpPr>
        <p:spPr>
          <a:xfrm>
            <a:off x="5289875" y="3533583"/>
            <a:ext cx="60600" cy="606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7" name="Google Shape;417;p31" descr="\hat{z}^{(i)}_j \leq M_2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7716225" y="2545770"/>
            <a:ext cx="961224" cy="38569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CA319A-D4A7-307E-EE1E-4A39B7C0D649}"/>
                  </a:ext>
                </a:extLst>
              </p:cNvPr>
              <p:cNvSpPr txBox="1"/>
              <p:nvPr/>
            </p:nvSpPr>
            <p:spPr>
              <a:xfrm>
                <a:off x="284898" y="1326628"/>
                <a:ext cx="2949915" cy="16585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8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8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CA319A-D4A7-307E-EE1E-4A39B7C0D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98" y="1326628"/>
                <a:ext cx="2949915" cy="1658531"/>
              </a:xfrm>
              <a:prstGeom prst="rect">
                <a:avLst/>
              </a:prstGeom>
              <a:blipFill>
                <a:blip r:embed="rId9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Pre-activation bounds</a:t>
            </a:r>
          </a:p>
        </p:txBody>
      </p:sp>
      <p:sp>
        <p:nvSpPr>
          <p:cNvPr id="423" name="Google Shape;423;p32"/>
          <p:cNvSpPr txBox="1">
            <a:spLocks noGrp="1"/>
          </p:cNvSpPr>
          <p:nvPr>
            <p:ph type="body" idx="1"/>
          </p:nvPr>
        </p:nvSpPr>
        <p:spPr>
          <a:xfrm>
            <a:off x="311700" y="1020150"/>
            <a:ext cx="5562293" cy="39413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For this to work, </a:t>
            </a:r>
            <a:r>
              <a:rPr lang="en-GB" dirty="0">
                <a:solidFill>
                  <a:srgbClr val="FF0000"/>
                </a:solidFill>
              </a:rPr>
              <a:t>M</a:t>
            </a:r>
            <a:r>
              <a:rPr lang="en-GB" baseline="-25000" dirty="0">
                <a:solidFill>
                  <a:srgbClr val="FF0000"/>
                </a:solidFill>
              </a:rPr>
              <a:t>1 </a:t>
            </a:r>
            <a:r>
              <a:rPr lang="en-GB" dirty="0"/>
              <a:t>and </a:t>
            </a:r>
            <a:r>
              <a:rPr lang="en-GB" dirty="0">
                <a:solidFill>
                  <a:srgbClr val="FF0000"/>
                </a:solidFill>
              </a:rPr>
              <a:t>M</a:t>
            </a:r>
            <a:r>
              <a:rPr lang="en-GB" baseline="-25000" dirty="0">
                <a:solidFill>
                  <a:srgbClr val="FF0000"/>
                </a:solidFill>
              </a:rPr>
              <a:t>2</a:t>
            </a:r>
            <a:r>
              <a:rPr lang="en-GB" dirty="0"/>
              <a:t> must be properly selected.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If set too conservatively, like M</a:t>
            </a:r>
            <a:r>
              <a:rPr lang="en-GB" sz="1800" baseline="-25000" dirty="0">
                <a:solidFill>
                  <a:schemeClr val="dk2"/>
                </a:solidFill>
              </a:rPr>
              <a:t>1 </a:t>
            </a:r>
            <a:r>
              <a:rPr lang="en-GB" sz="1800" dirty="0">
                <a:solidFill>
                  <a:schemeClr val="dk2"/>
                </a:solidFill>
              </a:rPr>
              <a:t>= -100000 and M</a:t>
            </a:r>
            <a:r>
              <a:rPr lang="en-GB" sz="1800" baseline="-25000" dirty="0">
                <a:solidFill>
                  <a:schemeClr val="dk2"/>
                </a:solidFill>
              </a:rPr>
              <a:t>2 </a:t>
            </a:r>
            <a:r>
              <a:rPr lang="en-GB" sz="1800" dirty="0">
                <a:solidFill>
                  <a:schemeClr val="dk2"/>
                </a:solidFill>
              </a:rPr>
              <a:t>= 100000, too many constraints will </a:t>
            </a:r>
            <a:r>
              <a:rPr lang="en-GB" dirty="0"/>
              <a:t>be “active” slowing the solver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How to find appropriate M1 and M2?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MILP, LP, or more efficient methods can be used</a:t>
            </a:r>
          </a:p>
          <a:p>
            <a:pPr marL="0" indent="0">
              <a:spcAft>
                <a:spcPts val="1200"/>
              </a:spcAft>
              <a:buNone/>
            </a:pPr>
            <a:endParaRPr lang="en-GB"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  <p:grpSp>
        <p:nvGrpSpPr>
          <p:cNvPr id="424" name="Google Shape;424;p32"/>
          <p:cNvGrpSpPr/>
          <p:nvPr/>
        </p:nvGrpSpPr>
        <p:grpSpPr>
          <a:xfrm>
            <a:off x="6115042" y="284464"/>
            <a:ext cx="2601025" cy="1466522"/>
            <a:chOff x="6206725" y="3167975"/>
            <a:chExt cx="2601025" cy="1466522"/>
          </a:xfrm>
        </p:grpSpPr>
        <p:grpSp>
          <p:nvGrpSpPr>
            <p:cNvPr id="425" name="Google Shape;425;p32"/>
            <p:cNvGrpSpPr/>
            <p:nvPr/>
          </p:nvGrpSpPr>
          <p:grpSpPr>
            <a:xfrm>
              <a:off x="6206725" y="3353797"/>
              <a:ext cx="2381074" cy="1280700"/>
              <a:chOff x="3670606" y="691950"/>
              <a:chExt cx="2796000" cy="1707600"/>
            </a:xfrm>
          </p:grpSpPr>
          <p:cxnSp>
            <p:nvCxnSpPr>
              <p:cNvPr id="426" name="Google Shape;426;p32"/>
              <p:cNvCxnSpPr/>
              <p:nvPr/>
            </p:nvCxnSpPr>
            <p:spPr>
              <a:xfrm>
                <a:off x="3670606" y="1882654"/>
                <a:ext cx="2796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27" name="Google Shape;427;p32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428" name="Google Shape;428;p32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9" name="Google Shape;429;p32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30" name="Google Shape;430;p32"/>
            <p:cNvSpPr txBox="1"/>
            <p:nvPr/>
          </p:nvSpPr>
          <p:spPr>
            <a:xfrm>
              <a:off x="6950675" y="3167975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ẑ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1" name="Google Shape;431;p32"/>
            <p:cNvSpPr txBox="1"/>
            <p:nvPr/>
          </p:nvSpPr>
          <p:spPr>
            <a:xfrm>
              <a:off x="8336150" y="3763300"/>
              <a:ext cx="471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z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>
                <a:solidFill>
                  <a:schemeClr val="dk1"/>
                </a:solidFill>
              </a:endParaRPr>
            </a:p>
          </p:txBody>
        </p:sp>
      </p:grpSp>
      <p:cxnSp>
        <p:nvCxnSpPr>
          <p:cNvPr id="432" name="Google Shape;432;p32"/>
          <p:cNvCxnSpPr/>
          <p:nvPr/>
        </p:nvCxnSpPr>
        <p:spPr>
          <a:xfrm rot="10800000">
            <a:off x="6356092" y="510688"/>
            <a:ext cx="0" cy="10161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3" name="Google Shape;433;p32"/>
          <p:cNvCxnSpPr/>
          <p:nvPr/>
        </p:nvCxnSpPr>
        <p:spPr>
          <a:xfrm rot="10800000">
            <a:off x="8127742" y="437438"/>
            <a:ext cx="0" cy="11211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4" name="Google Shape;434;p32"/>
          <p:cNvSpPr txBox="1"/>
          <p:nvPr/>
        </p:nvSpPr>
        <p:spPr>
          <a:xfrm>
            <a:off x="6115042" y="1472013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1</a:t>
            </a:r>
            <a:endParaRPr sz="900" baseline="-25000"/>
          </a:p>
        </p:txBody>
      </p:sp>
      <p:sp>
        <p:nvSpPr>
          <p:cNvPr id="435" name="Google Shape;435;p32"/>
          <p:cNvSpPr txBox="1"/>
          <p:nvPr/>
        </p:nvSpPr>
        <p:spPr>
          <a:xfrm>
            <a:off x="7886680" y="1472013"/>
            <a:ext cx="48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FF0000"/>
                </a:solidFill>
              </a:rPr>
              <a:t>M</a:t>
            </a:r>
            <a:r>
              <a:rPr lang="en-GB" sz="1300" baseline="-25000">
                <a:solidFill>
                  <a:srgbClr val="FF0000"/>
                </a:solidFill>
              </a:rPr>
              <a:t>2</a:t>
            </a:r>
            <a:endParaRPr sz="900" baseline="-25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3CF0D4A-962D-1AB9-58E4-58FC1CBA1E7D}"/>
                  </a:ext>
                </a:extLst>
              </p:cNvPr>
              <p:cNvSpPr txBox="1"/>
              <p:nvPr/>
            </p:nvSpPr>
            <p:spPr>
              <a:xfrm>
                <a:off x="6339792" y="2453245"/>
                <a:ext cx="2647781" cy="2413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endParaRPr lang="en-US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3CF0D4A-962D-1AB9-58E4-58FC1CBA1E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9792" y="2453245"/>
                <a:ext cx="2647781" cy="24136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r>
                        <a:rPr lang="ar-AE" sz="2000" i="1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ar-AE" sz="2000" i="1" baseline="-25000" dirty="0" err="1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644300" y="1017725"/>
                <a:ext cx="2090057" cy="689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300" y="1017725"/>
                <a:ext cx="2090057" cy="6894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4018868"/>
            <a:ext cx="8665200" cy="8385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We can use optimization to find these pre-activation bounds - the same formulation as our verification problem before, just changing the optimization variables.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dk2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rgbClr val="FF0000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dk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dk2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017725"/>
                <a:ext cx="3080657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017725"/>
                <a:ext cx="3080657" cy="3001143"/>
              </a:xfrm>
              <a:prstGeom prst="rect">
                <a:avLst/>
              </a:prstGeom>
              <a:blipFill>
                <a:blip r:embed="rId4"/>
                <a:stretch>
                  <a:fillRect l="-1235" t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914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Integer variables are still hard!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𝑚𝑖𝑛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sz="1800" i="1" strike="sngStrike" dirty="0" smtClean="0">
                          <a:solidFill>
                            <a:schemeClr val="dk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800" i="1" strike="sngStrike" dirty="0">
                  <a:solidFill>
                    <a:schemeClr val="dk2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3921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Integer variables are still hard!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𝑀𝐼𝐿𝑃</m:t>
                          </m:r>
                        </m:sub>
                        <m:sup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US" sz="180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576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Putting it all together with Pre-activation bounds</a:t>
            </a:r>
          </a:p>
        </p:txBody>
      </p:sp>
      <p:sp>
        <p:nvSpPr>
          <p:cNvPr id="467" name="Google Shape;467;p34"/>
          <p:cNvSpPr txBox="1">
            <a:spLocks noGrp="1"/>
          </p:cNvSpPr>
          <p:nvPr>
            <p:ph type="body" idx="1"/>
          </p:nvPr>
        </p:nvSpPr>
        <p:spPr>
          <a:xfrm>
            <a:off x="311700" y="3910050"/>
            <a:ext cx="8665200" cy="9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Linear relaxation of integer constraints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/>
              <a:t>How does this affect the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Google Shape;468;p34"/>
              <p:cNvSpPr txBox="1"/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𝐿𝑃</m:t>
                          </m:r>
                        </m:sub>
                        <m:sup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US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en-US" sz="180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   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1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(3)</m:t>
                          </m:r>
                        </m:sup>
                      </m:sSup>
                      <m:r>
                        <a:rPr lang="ar-AE" sz="2100" i="1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ar-AE" sz="21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1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21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</m:oMath>
                  </m:oMathPara>
                </a14:m>
                <a:endParaRPr lang="ar-AE" sz="2100" i="1" baseline="30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0)    </m:t>
                      </m:r>
                    </m:oMath>
                  </m:oMathPara>
                </a14:m>
                <a:endParaRPr lang="ar-AE" sz="1800" i="1" strike="sngStrike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sz="1800" i="1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80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p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strike="sngStrike" baseline="30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ar-AE" sz="1800" b="0" i="1" strike="sngStrike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strike="sngStrike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d>
                            <m:dPr>
                              <m:ctrlP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800" b="0" i="1" strike="sngStrike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a:rPr lang="ar-AE" sz="1800" b="0" i="1" strike="sngStrike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sz="1800" i="1" strike="sngStrike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0)</m:t>
                      </m:r>
                    </m:oMath>
                  </m:oMathPara>
                </a14:m>
                <a:endParaRPr lang="ar-AE" sz="1800" i="1" strike="sngStrike" baseline="300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1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ar-AE" sz="1800" i="1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≤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2000" i="1" baseline="-25000" dirty="0">
                  <a:solidFill>
                    <a:schemeClr val="tx1"/>
                  </a:solidFill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18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ar-AE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ar-AE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8" name="Google Shape;468;p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25" y="1017725"/>
                <a:ext cx="4648200" cy="2898600"/>
              </a:xfrm>
              <a:prstGeom prst="rect">
                <a:avLst/>
              </a:prstGeom>
              <a:blipFill>
                <a:blip r:embed="rId3"/>
                <a:stretch>
                  <a:fillRect b="-30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/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1600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04320F-2728-A472-6DE4-3B86643E1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256309"/>
                <a:ext cx="3418114" cy="3001143"/>
              </a:xfrm>
              <a:prstGeom prst="rect">
                <a:avLst/>
              </a:prstGeom>
              <a:blipFill>
                <a:blip r:embed="rId4"/>
                <a:stretch>
                  <a:fillRect l="-1111"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67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 dirty="0"/>
              <a:t>MILP vs LP</a:t>
            </a:r>
          </a:p>
        </p:txBody>
      </p:sp>
      <p:sp>
        <p:nvSpPr>
          <p:cNvPr id="531" name="Google Shape;531;p38"/>
          <p:cNvSpPr txBox="1">
            <a:spLocks noGrp="1"/>
          </p:cNvSpPr>
          <p:nvPr>
            <p:ph type="body" idx="1"/>
          </p:nvPr>
        </p:nvSpPr>
        <p:spPr>
          <a:xfrm>
            <a:off x="311700" y="696227"/>
            <a:ext cx="8520600" cy="7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b="1" dirty="0">
                <a:solidFill>
                  <a:schemeClr val="dk1"/>
                </a:solidFill>
              </a:rPr>
              <a:t>y*</a:t>
            </a:r>
            <a:r>
              <a:rPr lang="en-GB" b="1" baseline="-25000" dirty="0">
                <a:solidFill>
                  <a:schemeClr val="dk1"/>
                </a:solidFill>
              </a:rPr>
              <a:t>LP  </a:t>
            </a:r>
            <a:r>
              <a:rPr lang="en-GB" sz="2000" dirty="0">
                <a:solidFill>
                  <a:schemeClr val="dk1"/>
                </a:solidFill>
              </a:rPr>
              <a:t>≤ </a:t>
            </a:r>
            <a:r>
              <a:rPr lang="en-GB" b="1" dirty="0">
                <a:solidFill>
                  <a:schemeClr val="dk1"/>
                </a:solidFill>
              </a:rPr>
              <a:t>y*</a:t>
            </a:r>
            <a:r>
              <a:rPr lang="en-GB" b="1" baseline="-25000" dirty="0">
                <a:solidFill>
                  <a:schemeClr val="dk1"/>
                </a:solidFill>
              </a:rPr>
              <a:t>MILP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532" name="Google Shape;532;p38"/>
          <p:cNvSpPr txBox="1">
            <a:spLocks noGrp="1"/>
          </p:cNvSpPr>
          <p:nvPr>
            <p:ph type="body" idx="1"/>
          </p:nvPr>
        </p:nvSpPr>
        <p:spPr>
          <a:xfrm>
            <a:off x="406950" y="1182695"/>
            <a:ext cx="8520600" cy="17356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/>
              <a:t>It’s not the original MILP solution, but it is a guaranteed lower bound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dirty="0"/>
              <a:t>Solving LP is (weakly) polynomial time. 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dirty="0"/>
              <a:t>Simplex algorithm practically a few orders of magnitude faster</a:t>
            </a:r>
          </a:p>
        </p:txBody>
      </p:sp>
      <p:cxnSp>
        <p:nvCxnSpPr>
          <p:cNvPr id="533" name="Google Shape;533;p38"/>
          <p:cNvCxnSpPr/>
          <p:nvPr/>
        </p:nvCxnSpPr>
        <p:spPr>
          <a:xfrm>
            <a:off x="1983744" y="280018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34" name="Google Shape;534;p38"/>
          <p:cNvCxnSpPr/>
          <p:nvPr/>
        </p:nvCxnSpPr>
        <p:spPr>
          <a:xfrm>
            <a:off x="1739150" y="416228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5" name="Google Shape;535;p38"/>
          <p:cNvSpPr/>
          <p:nvPr/>
        </p:nvSpPr>
        <p:spPr>
          <a:xfrm>
            <a:off x="1982832" y="312246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36" name="Google Shape;536;p38"/>
          <p:cNvCxnSpPr/>
          <p:nvPr/>
        </p:nvCxnSpPr>
        <p:spPr>
          <a:xfrm rot="10800000">
            <a:off x="2386812" y="320533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7" name="Google Shape;537;p38"/>
          <p:cNvCxnSpPr/>
          <p:nvPr/>
        </p:nvCxnSpPr>
        <p:spPr>
          <a:xfrm>
            <a:off x="2376200" y="416228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38" name="Google Shape;538;p3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160466" y="4194333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38"/>
          <p:cNvSpPr/>
          <p:nvPr/>
        </p:nvSpPr>
        <p:spPr>
          <a:xfrm>
            <a:off x="2388850" y="358763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40" name="Google Shape;540;p38"/>
          <p:cNvCxnSpPr/>
          <p:nvPr/>
        </p:nvCxnSpPr>
        <p:spPr>
          <a:xfrm rot="10800000">
            <a:off x="3528162" y="321902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41" name="Google Shape;541;p38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2863584" y="440007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38"/>
          <p:cNvSpPr/>
          <p:nvPr/>
        </p:nvSpPr>
        <p:spPr>
          <a:xfrm rot="-5400000">
            <a:off x="2869125" y="373085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38"/>
          <p:cNvSpPr txBox="1"/>
          <p:nvPr/>
        </p:nvSpPr>
        <p:spPr>
          <a:xfrm>
            <a:off x="1178138" y="3554063"/>
            <a:ext cx="9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MILP</a:t>
            </a:r>
          </a:p>
        </p:txBody>
      </p:sp>
      <p:cxnSp>
        <p:nvCxnSpPr>
          <p:cNvPr id="544" name="Google Shape;544;p38"/>
          <p:cNvCxnSpPr/>
          <p:nvPr/>
        </p:nvCxnSpPr>
        <p:spPr>
          <a:xfrm>
            <a:off x="6508144" y="29069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5" name="Google Shape;545;p38"/>
          <p:cNvCxnSpPr/>
          <p:nvPr/>
        </p:nvCxnSpPr>
        <p:spPr>
          <a:xfrm>
            <a:off x="6263550" y="42690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6" name="Google Shape;546;p38"/>
          <p:cNvSpPr/>
          <p:nvPr/>
        </p:nvSpPr>
        <p:spPr>
          <a:xfrm>
            <a:off x="6507232" y="32292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47" name="Google Shape;547;p38"/>
          <p:cNvCxnSpPr/>
          <p:nvPr/>
        </p:nvCxnSpPr>
        <p:spPr>
          <a:xfrm rot="10800000">
            <a:off x="6911212" y="33121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38"/>
          <p:cNvCxnSpPr/>
          <p:nvPr/>
        </p:nvCxnSpPr>
        <p:spPr>
          <a:xfrm>
            <a:off x="6900600" y="42690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49" name="Google Shape;549;p3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684866" y="4301108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38"/>
          <p:cNvSpPr/>
          <p:nvPr/>
        </p:nvSpPr>
        <p:spPr>
          <a:xfrm>
            <a:off x="6913250" y="36944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51" name="Google Shape;551;p38"/>
          <p:cNvCxnSpPr/>
          <p:nvPr/>
        </p:nvCxnSpPr>
        <p:spPr>
          <a:xfrm rot="10800000">
            <a:off x="8052562" y="33257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52" name="Google Shape;552;p38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7387984" y="45068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38"/>
          <p:cNvSpPr/>
          <p:nvPr/>
        </p:nvSpPr>
        <p:spPr>
          <a:xfrm rot="-5400000">
            <a:off x="7393525" y="38376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8"/>
          <p:cNvSpPr txBox="1"/>
          <p:nvPr/>
        </p:nvSpPr>
        <p:spPr>
          <a:xfrm>
            <a:off x="5696100" y="3821825"/>
            <a:ext cx="9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</a:p>
        </p:txBody>
      </p:sp>
      <p:cxnSp>
        <p:nvCxnSpPr>
          <p:cNvPr id="555" name="Google Shape;555;p38"/>
          <p:cNvCxnSpPr/>
          <p:nvPr/>
        </p:nvCxnSpPr>
        <p:spPr>
          <a:xfrm>
            <a:off x="1981200" y="3824825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38"/>
          <p:cNvCxnSpPr/>
          <p:nvPr/>
        </p:nvCxnSpPr>
        <p:spPr>
          <a:xfrm>
            <a:off x="6507225" y="40935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Sound but Incomplete Verification with a Lower Bound</a:t>
            </a:r>
          </a:p>
        </p:txBody>
      </p:sp>
      <p:cxnSp>
        <p:nvCxnSpPr>
          <p:cNvPr id="563" name="Google Shape;563;p39"/>
          <p:cNvCxnSpPr/>
          <p:nvPr/>
        </p:nvCxnSpPr>
        <p:spPr>
          <a:xfrm>
            <a:off x="1069344" y="280018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64" name="Google Shape;564;p39"/>
          <p:cNvCxnSpPr/>
          <p:nvPr/>
        </p:nvCxnSpPr>
        <p:spPr>
          <a:xfrm>
            <a:off x="824750" y="416228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5" name="Google Shape;565;p39"/>
          <p:cNvSpPr/>
          <p:nvPr/>
        </p:nvSpPr>
        <p:spPr>
          <a:xfrm>
            <a:off x="1068432" y="312246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66" name="Google Shape;566;p39"/>
          <p:cNvCxnSpPr/>
          <p:nvPr/>
        </p:nvCxnSpPr>
        <p:spPr>
          <a:xfrm rot="10800000">
            <a:off x="1472412" y="320533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67" name="Google Shape;567;p39"/>
          <p:cNvCxnSpPr/>
          <p:nvPr/>
        </p:nvCxnSpPr>
        <p:spPr>
          <a:xfrm>
            <a:off x="1461800" y="416228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68" name="Google Shape;568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246066" y="4194333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39"/>
          <p:cNvSpPr/>
          <p:nvPr/>
        </p:nvSpPr>
        <p:spPr>
          <a:xfrm>
            <a:off x="1474450" y="358763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70" name="Google Shape;570;p39"/>
          <p:cNvCxnSpPr/>
          <p:nvPr/>
        </p:nvCxnSpPr>
        <p:spPr>
          <a:xfrm rot="10800000">
            <a:off x="2613762" y="321902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71" name="Google Shape;571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1949184" y="440007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39"/>
          <p:cNvSpPr/>
          <p:nvPr/>
        </p:nvSpPr>
        <p:spPr>
          <a:xfrm rot="-5400000">
            <a:off x="1954725" y="373085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39"/>
          <p:cNvSpPr txBox="1"/>
          <p:nvPr/>
        </p:nvSpPr>
        <p:spPr>
          <a:xfrm>
            <a:off x="-224368" y="3554075"/>
            <a:ext cx="140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MILP</a:t>
            </a:r>
            <a:r>
              <a:rPr lang="en-GB" sz="1800">
                <a:solidFill>
                  <a:schemeClr val="dk1"/>
                </a:solidFill>
              </a:rPr>
              <a:t>=y*</a:t>
            </a:r>
          </a:p>
        </p:txBody>
      </p:sp>
      <p:cxnSp>
        <p:nvCxnSpPr>
          <p:cNvPr id="574" name="Google Shape;574;p39"/>
          <p:cNvCxnSpPr/>
          <p:nvPr/>
        </p:nvCxnSpPr>
        <p:spPr>
          <a:xfrm>
            <a:off x="4450744" y="2906963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75" name="Google Shape;575;p39"/>
          <p:cNvCxnSpPr/>
          <p:nvPr/>
        </p:nvCxnSpPr>
        <p:spPr>
          <a:xfrm>
            <a:off x="4206150" y="4269063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6" name="Google Shape;576;p39"/>
          <p:cNvSpPr/>
          <p:nvPr/>
        </p:nvSpPr>
        <p:spPr>
          <a:xfrm>
            <a:off x="4449832" y="3229242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77" name="Google Shape;577;p39"/>
          <p:cNvCxnSpPr/>
          <p:nvPr/>
        </p:nvCxnSpPr>
        <p:spPr>
          <a:xfrm rot="10800000">
            <a:off x="4853812" y="3312111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78" name="Google Shape;578;p39"/>
          <p:cNvCxnSpPr/>
          <p:nvPr/>
        </p:nvCxnSpPr>
        <p:spPr>
          <a:xfrm>
            <a:off x="4843200" y="4269058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79" name="Google Shape;579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568191" y="4350696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39"/>
          <p:cNvSpPr/>
          <p:nvPr/>
        </p:nvSpPr>
        <p:spPr>
          <a:xfrm>
            <a:off x="4855850" y="3694413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81" name="Google Shape;581;p39"/>
          <p:cNvCxnSpPr/>
          <p:nvPr/>
        </p:nvCxnSpPr>
        <p:spPr>
          <a:xfrm rot="10800000">
            <a:off x="5995162" y="3325798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82" name="Google Shape;582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5330584" y="4506850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39"/>
          <p:cNvSpPr/>
          <p:nvPr/>
        </p:nvSpPr>
        <p:spPr>
          <a:xfrm rot="-5400000">
            <a:off x="5336125" y="3837625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39"/>
          <p:cNvSpPr txBox="1"/>
          <p:nvPr/>
        </p:nvSpPr>
        <p:spPr>
          <a:xfrm>
            <a:off x="3225950" y="3821825"/>
            <a:ext cx="1608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  <a:r>
              <a:rPr lang="en-GB" sz="2000">
                <a:solidFill>
                  <a:schemeClr val="dk1"/>
                </a:solidFill>
              </a:rPr>
              <a:t>≤</a:t>
            </a:r>
            <a:r>
              <a:rPr lang="en-GB" sz="1800">
                <a:solidFill>
                  <a:schemeClr val="dk1"/>
                </a:solidFill>
              </a:rPr>
              <a:t> y*</a:t>
            </a:r>
          </a:p>
        </p:txBody>
      </p:sp>
      <p:cxnSp>
        <p:nvCxnSpPr>
          <p:cNvPr id="585" name="Google Shape;585;p39"/>
          <p:cNvCxnSpPr/>
          <p:nvPr/>
        </p:nvCxnSpPr>
        <p:spPr>
          <a:xfrm>
            <a:off x="1066800" y="3824825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86" name="Google Shape;586;p39"/>
          <p:cNvCxnSpPr/>
          <p:nvPr/>
        </p:nvCxnSpPr>
        <p:spPr>
          <a:xfrm>
            <a:off x="4449825" y="40935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87" name="Google Shape;587;p39"/>
          <p:cNvSpPr txBox="1"/>
          <p:nvPr/>
        </p:nvSpPr>
        <p:spPr>
          <a:xfrm>
            <a:off x="939524" y="1017713"/>
            <a:ext cx="7636785" cy="2154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If y*</a:t>
            </a:r>
            <a:r>
              <a:rPr lang="en-GB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LP </a:t>
            </a: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 &gt; 0 =&gt; y* &gt; 0  =&gt; requirement verified (unsatisfiable)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y*</a:t>
            </a:r>
            <a:r>
              <a:rPr lang="en-GB" sz="1800" baseline="-25000" dirty="0">
                <a:latin typeface="Calibri Light" panose="020F0302020204030204" pitchFamily="34" charset="0"/>
                <a:cs typeface="Calibri Light" panose="020F0302020204030204" pitchFamily="34" charset="0"/>
              </a:rPr>
              <a:t>LP </a:t>
            </a:r>
            <a:r>
              <a:rPr lang="en-GB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≤ 0 =&gt; verification result unknown (incomplete)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588" name="Google Shape;588;p39"/>
          <p:cNvCxnSpPr/>
          <p:nvPr/>
        </p:nvCxnSpPr>
        <p:spPr>
          <a:xfrm>
            <a:off x="7283219" y="2918538"/>
            <a:ext cx="0" cy="1755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89" name="Google Shape;589;p39"/>
          <p:cNvCxnSpPr/>
          <p:nvPr/>
        </p:nvCxnSpPr>
        <p:spPr>
          <a:xfrm>
            <a:off x="7038625" y="4280638"/>
            <a:ext cx="266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0" name="Google Shape;590;p39"/>
          <p:cNvSpPr/>
          <p:nvPr/>
        </p:nvSpPr>
        <p:spPr>
          <a:xfrm>
            <a:off x="7282307" y="3240817"/>
            <a:ext cx="2319243" cy="1062076"/>
          </a:xfrm>
          <a:custGeom>
            <a:avLst/>
            <a:gdLst/>
            <a:ahLst/>
            <a:cxnLst/>
            <a:rect l="l" t="t" r="r" b="b"/>
            <a:pathLst>
              <a:path w="134644" h="61659" extrusionOk="0">
                <a:moveTo>
                  <a:pt x="0" y="61659"/>
                </a:moveTo>
                <a:cubicBezTo>
                  <a:pt x="3006" y="56696"/>
                  <a:pt x="9788" y="35443"/>
                  <a:pt x="18037" y="31878"/>
                </a:cubicBezTo>
                <a:cubicBezTo>
                  <a:pt x="26286" y="28313"/>
                  <a:pt x="41735" y="40826"/>
                  <a:pt x="49495" y="40267"/>
                </a:cubicBezTo>
                <a:cubicBezTo>
                  <a:pt x="57255" y="39708"/>
                  <a:pt x="59003" y="29502"/>
                  <a:pt x="64596" y="28523"/>
                </a:cubicBezTo>
                <a:cubicBezTo>
                  <a:pt x="70189" y="27544"/>
                  <a:pt x="76829" y="37471"/>
                  <a:pt x="83051" y="34395"/>
                </a:cubicBezTo>
                <a:cubicBezTo>
                  <a:pt x="89273" y="31319"/>
                  <a:pt x="93328" y="15800"/>
                  <a:pt x="101927" y="10067"/>
                </a:cubicBezTo>
                <a:cubicBezTo>
                  <a:pt x="110526" y="4335"/>
                  <a:pt x="129191" y="1678"/>
                  <a:pt x="134644" y="0"/>
                </a:cubicBezTo>
              </a:path>
            </a:pathLst>
          </a:cu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91" name="Google Shape;591;p39"/>
          <p:cNvCxnSpPr/>
          <p:nvPr/>
        </p:nvCxnSpPr>
        <p:spPr>
          <a:xfrm rot="10800000">
            <a:off x="7686287" y="3323686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39"/>
          <p:cNvCxnSpPr/>
          <p:nvPr/>
        </p:nvCxnSpPr>
        <p:spPr>
          <a:xfrm>
            <a:off x="7675675" y="4280633"/>
            <a:ext cx="1141800" cy="0"/>
          </a:xfrm>
          <a:prstGeom prst="straightConnector1">
            <a:avLst/>
          </a:prstGeom>
          <a:noFill/>
          <a:ln w="38100" cap="flat" cmpd="sng">
            <a:solidFill>
              <a:srgbClr val="A4C2F4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93" name="Google Shape;593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9400666" y="4362271"/>
            <a:ext cx="97798" cy="113559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39"/>
          <p:cNvSpPr/>
          <p:nvPr/>
        </p:nvSpPr>
        <p:spPr>
          <a:xfrm>
            <a:off x="7688325" y="3705988"/>
            <a:ext cx="1139300" cy="234175"/>
          </a:xfrm>
          <a:custGeom>
            <a:avLst/>
            <a:gdLst/>
            <a:ahLst/>
            <a:cxnLst/>
            <a:rect l="l" t="t" r="r" b="b"/>
            <a:pathLst>
              <a:path w="45572" h="9367" extrusionOk="0">
                <a:moveTo>
                  <a:pt x="0" y="3198"/>
                </a:moveTo>
                <a:cubicBezTo>
                  <a:pt x="644" y="3354"/>
                  <a:pt x="822" y="3109"/>
                  <a:pt x="3864" y="4131"/>
                </a:cubicBezTo>
                <a:cubicBezTo>
                  <a:pt x="6907" y="5153"/>
                  <a:pt x="14188" y="9842"/>
                  <a:pt x="18255" y="9328"/>
                </a:cubicBezTo>
                <a:cubicBezTo>
                  <a:pt x="22322" y="8814"/>
                  <a:pt x="24846" y="1667"/>
                  <a:pt x="28266" y="1045"/>
                </a:cubicBezTo>
                <a:cubicBezTo>
                  <a:pt x="31686" y="423"/>
                  <a:pt x="36292" y="5283"/>
                  <a:pt x="38776" y="5597"/>
                </a:cubicBezTo>
                <a:cubicBezTo>
                  <a:pt x="41261" y="5912"/>
                  <a:pt x="42040" y="3865"/>
                  <a:pt x="43173" y="2932"/>
                </a:cubicBezTo>
                <a:cubicBezTo>
                  <a:pt x="44306" y="1999"/>
                  <a:pt x="45172" y="489"/>
                  <a:pt x="45572" y="0"/>
                </a:cubicBezTo>
              </a:path>
            </a:pathLst>
          </a:custGeom>
          <a:noFill/>
          <a:ln w="19050" cap="flat" cmpd="sng">
            <a:solidFill>
              <a:srgbClr val="98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595" name="Google Shape;595;p39"/>
          <p:cNvCxnSpPr/>
          <p:nvPr/>
        </p:nvCxnSpPr>
        <p:spPr>
          <a:xfrm rot="10800000">
            <a:off x="8827637" y="3337373"/>
            <a:ext cx="0" cy="9714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96" name="Google Shape;596;p39" descr="f(x) &gt; 0, \forall x \in \mathcal{S}" title="MathEquation,#000000"/>
          <p:cNvPicPr preferRelativeResize="0"/>
          <p:nvPr/>
        </p:nvPicPr>
        <p:blipFill rotWithShape="1">
          <a:blip r:embed="rId4"/>
          <a:srcRect l="88467" r="-4" b="9057"/>
          <a:stretch>
            <a:fillRect/>
          </a:stretch>
        </p:blipFill>
        <p:spPr>
          <a:xfrm>
            <a:off x="8163059" y="4518425"/>
            <a:ext cx="172900" cy="223175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39"/>
          <p:cNvSpPr/>
          <p:nvPr/>
        </p:nvSpPr>
        <p:spPr>
          <a:xfrm rot="-5400000">
            <a:off x="8168600" y="3849200"/>
            <a:ext cx="168300" cy="11397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8" name="Google Shape;598;p39"/>
          <p:cNvCxnSpPr/>
          <p:nvPr/>
        </p:nvCxnSpPr>
        <p:spPr>
          <a:xfrm>
            <a:off x="7282300" y="4535188"/>
            <a:ext cx="1608600" cy="10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99" name="Google Shape;599;p39"/>
          <p:cNvSpPr txBox="1"/>
          <p:nvPr/>
        </p:nvSpPr>
        <p:spPr>
          <a:xfrm>
            <a:off x="6032213" y="4383713"/>
            <a:ext cx="1608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y*</a:t>
            </a:r>
            <a:r>
              <a:rPr lang="en-GB" sz="1800" baseline="-25000">
                <a:solidFill>
                  <a:schemeClr val="dk1"/>
                </a:solidFill>
              </a:rPr>
              <a:t>LP</a:t>
            </a:r>
            <a:r>
              <a:rPr lang="en-GB" sz="2000">
                <a:solidFill>
                  <a:schemeClr val="dk1"/>
                </a:solidFill>
              </a:rPr>
              <a:t>≤</a:t>
            </a:r>
            <a:r>
              <a:rPr lang="en-GB" sz="1800">
                <a:solidFill>
                  <a:schemeClr val="dk1"/>
                </a:solidFill>
              </a:rPr>
              <a:t> y*</a:t>
            </a:r>
          </a:p>
        </p:txBody>
      </p:sp>
      <p:pic>
        <p:nvPicPr>
          <p:cNvPr id="600" name="Google Shape;600;p3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2720650" y="3615638"/>
            <a:ext cx="299850" cy="31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1" name="Google Shape;601;p3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121125" y="3911888"/>
            <a:ext cx="299850" cy="31245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39"/>
          <p:cNvSpPr txBox="1"/>
          <p:nvPr/>
        </p:nvSpPr>
        <p:spPr>
          <a:xfrm>
            <a:off x="8576325" y="4464250"/>
            <a:ext cx="8244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>
                <a:solidFill>
                  <a:srgbClr val="FF0000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rPr>
              <a:t>?</a:t>
            </a:r>
            <a:endParaRPr sz="2300">
              <a:solidFill>
                <a:srgbClr val="FF0000"/>
              </a:solidFill>
              <a:latin typeface="Impact" panose="020B0806030902050204"/>
              <a:ea typeface="Impact" panose="020B0806030902050204"/>
              <a:cs typeface="Impact" panose="020B0806030902050204"/>
              <a:sym typeface="Impact" panose="020B080603090205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GB" dirty="0"/>
              <a:t>A closer look at the LP relaxation: </a:t>
            </a:r>
            <a:r>
              <a:rPr lang="en-GB" dirty="0">
                <a:solidFill>
                  <a:srgbClr val="4A86E8"/>
                </a:solidFill>
              </a:rPr>
              <a:t>“Triangle” relaxation</a:t>
            </a:r>
            <a:br>
              <a:rPr lang="en-GB" dirty="0">
                <a:solidFill>
                  <a:srgbClr val="4A86E8"/>
                </a:solidFill>
              </a:rPr>
            </a:br>
            <a:endParaRPr lang="en-GB" dirty="0"/>
          </a:p>
        </p:txBody>
      </p:sp>
      <p:sp>
        <p:nvSpPr>
          <p:cNvPr id="614" name="Google Shape;614;p40"/>
          <p:cNvSpPr txBox="1"/>
          <p:nvPr/>
        </p:nvSpPr>
        <p:spPr>
          <a:xfrm>
            <a:off x="2696100" y="4505150"/>
            <a:ext cx="586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7B7B7"/>
                </a:solidFill>
              </a:rPr>
              <a:t>(Please note that l</a:t>
            </a:r>
            <a:r>
              <a:rPr lang="en-GB" sz="1500" baseline="-25000">
                <a:solidFill>
                  <a:srgbClr val="B7B7B7"/>
                </a:solidFill>
              </a:rPr>
              <a:t>j</a:t>
            </a:r>
            <a:r>
              <a:rPr lang="en-GB" sz="1500" baseline="30000">
                <a:solidFill>
                  <a:srgbClr val="B7B7B7"/>
                </a:solidFill>
              </a:rPr>
              <a:t>(i) </a:t>
            </a:r>
            <a:r>
              <a:rPr lang="en-GB" sz="1500">
                <a:solidFill>
                  <a:srgbClr val="B7B7B7"/>
                </a:solidFill>
              </a:rPr>
              <a:t>is negative during the above derivation)</a:t>
            </a:r>
            <a:endParaRPr sz="1500">
              <a:solidFill>
                <a:srgbClr val="B7B7B7"/>
              </a:solidFill>
            </a:endParaRPr>
          </a:p>
        </p:txBody>
      </p:sp>
      <p:pic>
        <p:nvPicPr>
          <p:cNvPr id="615" name="Google Shape;615;p40" descr="p^{(i)}_j \leq \frac{\hat{z}^{(i)}_j - z_j^{(i)} + l_j^{(i)}}{l_j^{(i)}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30738" y="1857306"/>
            <a:ext cx="1282526" cy="490546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40"/>
          <p:cNvSpPr/>
          <p:nvPr/>
        </p:nvSpPr>
        <p:spPr>
          <a:xfrm>
            <a:off x="3240625" y="2347825"/>
            <a:ext cx="6384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40"/>
          <p:cNvSpPr/>
          <p:nvPr/>
        </p:nvSpPr>
        <p:spPr>
          <a:xfrm>
            <a:off x="5264975" y="2347850"/>
            <a:ext cx="5262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18" name="Google Shape;618;p40" descr="p^{(i)}_j \geq \frac{\hat{z}^{(i)}_j}{u_j^{(i)}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106900" y="2495769"/>
            <a:ext cx="1023400" cy="6651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p40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5969525" y="2140173"/>
            <a:ext cx="2743058" cy="6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40"/>
          <p:cNvSpPr txBox="1"/>
          <p:nvPr/>
        </p:nvSpPr>
        <p:spPr>
          <a:xfrm>
            <a:off x="5537200" y="3272375"/>
            <a:ext cx="2222400" cy="2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621" name="Google Shape;621;p40"/>
          <p:cNvSpPr txBox="1"/>
          <p:nvPr/>
        </p:nvSpPr>
        <p:spPr>
          <a:xfrm>
            <a:off x="6722500" y="1583675"/>
            <a:ext cx="20532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Project out p</a:t>
            </a:r>
            <a:endParaRPr sz="1800">
              <a:solidFill>
                <a:schemeClr val="dk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B8218A-D342-4FD3-C3D0-6FF267C7922A}"/>
                  </a:ext>
                </a:extLst>
              </p:cNvPr>
              <p:cNvSpPr txBox="1"/>
              <p:nvPr/>
            </p:nvSpPr>
            <p:spPr>
              <a:xfrm>
                <a:off x="188687" y="1327795"/>
                <a:ext cx="3418114" cy="30011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Each </a:t>
                </a:r>
                <a:r>
                  <a:rPr lang="en-US" sz="1600" dirty="0" err="1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ReLU</a:t>
                </a:r>
                <a:r>
                  <a:rPr lang="en-US" sz="1600" dirty="0">
                    <a:solidFill>
                      <a:schemeClr val="tx1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represented as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</m:fName>
                        <m:e>
                          <m:sSubSup>
                            <m:sSubSup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func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0≤</m:t>
                      </m:r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1600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B8218A-D342-4FD3-C3D0-6FF267C79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687" y="1327795"/>
                <a:ext cx="3418114" cy="3001143"/>
              </a:xfrm>
              <a:prstGeom prst="rect">
                <a:avLst/>
              </a:prstGeom>
              <a:blipFill>
                <a:blip r:embed="rId6"/>
                <a:stretch>
                  <a:fillRect l="-738" t="-4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6" grpId="0" animBg="1"/>
      <p:bldP spid="617" grpId="0" animBg="1"/>
      <p:bldP spid="621" grpId="0"/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28" name="Google Shape;628;p41"/>
          <p:cNvGrpSpPr/>
          <p:nvPr/>
        </p:nvGrpSpPr>
        <p:grpSpPr>
          <a:xfrm>
            <a:off x="4427925" y="2188838"/>
            <a:ext cx="1023396" cy="1002300"/>
            <a:chOff x="4668200" y="3620800"/>
            <a:chExt cx="1023396" cy="1002300"/>
          </a:xfrm>
        </p:grpSpPr>
        <p:pic>
          <p:nvPicPr>
            <p:cNvPr id="629" name="Google Shape;629;p41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668200" y="362080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0" name="Google Shape;630;p41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4668200" y="420607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31" name="Google Shape;631;p41"/>
          <p:cNvSpPr txBox="1"/>
          <p:nvPr/>
        </p:nvSpPr>
        <p:spPr>
          <a:xfrm>
            <a:off x="481825" y="1370300"/>
            <a:ext cx="33972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Each ReLU is represented by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32" name="Google Shape;632;p41" descr="\hat{z}^{(i)}_j \leq z_j^{(i)} - l_j^{(i)} (1 - p^{(i)}_j)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798437" y="1964663"/>
            <a:ext cx="2376070" cy="3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3" name="Google Shape;633;p41" descr="\hat{z}^{(i)}_j \leq u^{(i)}_j p^{(i)}_j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798450" y="2495775"/>
            <a:ext cx="1282518" cy="383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41"/>
          <p:cNvSpPr/>
          <p:nvPr/>
        </p:nvSpPr>
        <p:spPr>
          <a:xfrm>
            <a:off x="3240625" y="2347825"/>
            <a:ext cx="638400" cy="249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5" name="Google Shape;635;p41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375000" y="1516723"/>
            <a:ext cx="2743058" cy="665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6" name="Google Shape;636;p41"/>
          <p:cNvGrpSpPr/>
          <p:nvPr/>
        </p:nvGrpSpPr>
        <p:grpSpPr>
          <a:xfrm>
            <a:off x="5650625" y="3191150"/>
            <a:ext cx="2604000" cy="1721575"/>
            <a:chOff x="1988800" y="2213825"/>
            <a:chExt cx="2604000" cy="1721575"/>
          </a:xfrm>
        </p:grpSpPr>
        <p:grpSp>
          <p:nvGrpSpPr>
            <p:cNvPr id="637" name="Google Shape;637;p41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38" name="Google Shape;638;p41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39" name="Google Shape;639;p41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40" name="Google Shape;640;p41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41" name="Google Shape;641;p41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42" name="Google Shape;642;p41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43" name="Google Shape;643;p41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44" name="Google Shape;644;p41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45" name="Google Shape;645;p41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41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47" name="Google Shape;647;p41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48" name="Google Shape;648;p41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649" name="Google Shape;649;p41"/>
          <p:cNvCxnSpPr/>
          <p:nvPr/>
        </p:nvCxnSpPr>
        <p:spPr>
          <a:xfrm>
            <a:off x="5209125" y="426932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1"/>
          <p:cNvCxnSpPr/>
          <p:nvPr/>
        </p:nvCxnSpPr>
        <p:spPr>
          <a:xfrm rot="10800000" flipH="1">
            <a:off x="5954375" y="31476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1"/>
          <p:cNvCxnSpPr/>
          <p:nvPr/>
        </p:nvCxnSpPr>
        <p:spPr>
          <a:xfrm rot="10800000" flipH="1">
            <a:off x="5346700" y="328505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2" name="Google Shape;652;p41"/>
          <p:cNvSpPr txBox="1"/>
          <p:nvPr/>
        </p:nvSpPr>
        <p:spPr>
          <a:xfrm>
            <a:off x="5897025" y="2650075"/>
            <a:ext cx="2476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A86E8"/>
                </a:solidFill>
              </a:rPr>
              <a:t>“Triangle” relaxation</a:t>
            </a:r>
            <a:endParaRPr sz="1800">
              <a:solidFill>
                <a:srgbClr val="4A86E8"/>
              </a:solidFill>
            </a:endParaRPr>
          </a:p>
        </p:txBody>
      </p:sp>
      <p:grpSp>
        <p:nvGrpSpPr>
          <p:cNvPr id="653" name="Google Shape;653;p41"/>
          <p:cNvGrpSpPr/>
          <p:nvPr/>
        </p:nvGrpSpPr>
        <p:grpSpPr>
          <a:xfrm>
            <a:off x="798450" y="3026863"/>
            <a:ext cx="1023396" cy="1002300"/>
            <a:chOff x="1112825" y="3768750"/>
            <a:chExt cx="1023396" cy="1002300"/>
          </a:xfrm>
        </p:grpSpPr>
        <p:pic>
          <p:nvPicPr>
            <p:cNvPr id="654" name="Google Shape;654;p41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112825" y="376875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5" name="Google Shape;655;p41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112825" y="435402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61" name="Google Shape;661;p42"/>
          <p:cNvGrpSpPr/>
          <p:nvPr/>
        </p:nvGrpSpPr>
        <p:grpSpPr>
          <a:xfrm>
            <a:off x="903675" y="3322188"/>
            <a:ext cx="1023396" cy="1002300"/>
            <a:chOff x="4668200" y="3620800"/>
            <a:chExt cx="1023396" cy="1002300"/>
          </a:xfrm>
        </p:grpSpPr>
        <p:pic>
          <p:nvPicPr>
            <p:cNvPr id="662" name="Google Shape;662;p42" descr="\hat{z}^{(i)}_j \geq z_j^{(i)}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668200" y="362080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3" name="Google Shape;663;p42" descr="\hat{z}^{(i)}_j \geq 0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4668200" y="420607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64" name="Google Shape;664;p42" descr="\hat{z}_j^{(i)} \leq \frac{u_j^{(i)}}{u_j^{(i)}-l_j^{(i)}} z_j^{(i)} - \frac{u_j^{(i)}l_j^{(i)}}{u_j^{(i)} - l_j^{(i)}}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850750" y="2650073"/>
            <a:ext cx="2743058" cy="665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5" name="Google Shape;665;p42"/>
          <p:cNvGrpSpPr/>
          <p:nvPr/>
        </p:nvGrpSpPr>
        <p:grpSpPr>
          <a:xfrm>
            <a:off x="5650625" y="3191150"/>
            <a:ext cx="2604000" cy="1721575"/>
            <a:chOff x="1988800" y="2213825"/>
            <a:chExt cx="2604000" cy="1721575"/>
          </a:xfrm>
        </p:grpSpPr>
        <p:grpSp>
          <p:nvGrpSpPr>
            <p:cNvPr id="666" name="Google Shape;666;p42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67" name="Google Shape;667;p42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68" name="Google Shape;668;p42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69" name="Google Shape;669;p42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70" name="Google Shape;670;p42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71" name="Google Shape;671;p42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72" name="Google Shape;672;p42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73" name="Google Shape;673;p42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74" name="Google Shape;674;p42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42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42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77" name="Google Shape;677;p42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678" name="Google Shape;678;p42"/>
          <p:cNvCxnSpPr/>
          <p:nvPr/>
        </p:nvCxnSpPr>
        <p:spPr>
          <a:xfrm>
            <a:off x="5209125" y="426932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2"/>
          <p:cNvCxnSpPr/>
          <p:nvPr/>
        </p:nvCxnSpPr>
        <p:spPr>
          <a:xfrm rot="10800000" flipH="1">
            <a:off x="5954375" y="31476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2"/>
          <p:cNvCxnSpPr/>
          <p:nvPr/>
        </p:nvCxnSpPr>
        <p:spPr>
          <a:xfrm rot="10800000" flipH="1">
            <a:off x="5346700" y="328505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1" name="Google Shape;681;p42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MILP: solutions are constrained on </a:t>
            </a:r>
            <a:r>
              <a:rPr lang="en-GB" sz="1800">
                <a:solidFill>
                  <a:srgbClr val="980000"/>
                </a:solidFill>
              </a:rPr>
              <a:t>ReLU function</a:t>
            </a:r>
            <a:r>
              <a:rPr lang="en-GB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programming: solutions are constrained on the </a:t>
            </a:r>
            <a:r>
              <a:rPr lang="en-GB" sz="1800">
                <a:solidFill>
                  <a:srgbClr val="4A86E8"/>
                </a:solidFill>
              </a:rPr>
              <a:t>triangle</a:t>
            </a:r>
            <a:endParaRPr sz="1800">
              <a:solidFill>
                <a:srgbClr val="4A86E8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87" name="Google Shape;687;p43"/>
          <p:cNvGrpSpPr/>
          <p:nvPr/>
        </p:nvGrpSpPr>
        <p:grpSpPr>
          <a:xfrm>
            <a:off x="708225" y="2905400"/>
            <a:ext cx="2604000" cy="1721575"/>
            <a:chOff x="1988800" y="2213825"/>
            <a:chExt cx="2604000" cy="1721575"/>
          </a:xfrm>
        </p:grpSpPr>
        <p:grpSp>
          <p:nvGrpSpPr>
            <p:cNvPr id="688" name="Google Shape;688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89" name="Google Shape;689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90" name="Google Shape;690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91" name="Google Shape;691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92" name="Google Shape;692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93" name="Google Shape;693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94" name="Google Shape;694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95" name="Google Shape;695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96" name="Google Shape;696;p43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7" name="Google Shape;697;p43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98" name="Google Shape;698;p43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99" name="Google Shape;699;p43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00" name="Google Shape;700;p43"/>
          <p:cNvCxnSpPr/>
          <p:nvPr/>
        </p:nvCxnSpPr>
        <p:spPr>
          <a:xfrm>
            <a:off x="266725" y="398357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43"/>
          <p:cNvCxnSpPr/>
          <p:nvPr/>
        </p:nvCxnSpPr>
        <p:spPr>
          <a:xfrm rot="10800000" flipH="1">
            <a:off x="1011975" y="286185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2" name="Google Shape;702;p43"/>
          <p:cNvCxnSpPr/>
          <p:nvPr/>
        </p:nvCxnSpPr>
        <p:spPr>
          <a:xfrm rot="10800000" flipH="1">
            <a:off x="404300" y="299930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3" name="Google Shape;703;p43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MILP: solutions are constrained on </a:t>
            </a:r>
            <a:r>
              <a:rPr lang="en-GB" sz="1800">
                <a:solidFill>
                  <a:srgbClr val="980000"/>
                </a:solidFill>
              </a:rPr>
              <a:t>ReLU function</a:t>
            </a:r>
            <a:r>
              <a:rPr lang="en-GB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programming: solutions are constrained on the </a:t>
            </a:r>
            <a:r>
              <a:rPr lang="en-GB" sz="1800">
                <a:solidFill>
                  <a:srgbClr val="4A86E8"/>
                </a:solidFill>
              </a:rPr>
              <a:t>triangle</a:t>
            </a: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We want the triangle to be as small as possible! So tight pre-activation bounds are necessary.</a:t>
            </a:r>
            <a:endParaRPr sz="1800">
              <a:solidFill>
                <a:schemeClr val="dk1"/>
              </a:solidFill>
            </a:endParaRPr>
          </a:p>
        </p:txBody>
      </p:sp>
      <p:grpSp>
        <p:nvGrpSpPr>
          <p:cNvPr id="704" name="Google Shape;704;p43"/>
          <p:cNvGrpSpPr/>
          <p:nvPr/>
        </p:nvGrpSpPr>
        <p:grpSpPr>
          <a:xfrm>
            <a:off x="5615525" y="3029175"/>
            <a:ext cx="2601025" cy="1721575"/>
            <a:chOff x="1991775" y="2213825"/>
            <a:chExt cx="2601025" cy="1721575"/>
          </a:xfrm>
        </p:grpSpPr>
        <p:grpSp>
          <p:nvGrpSpPr>
            <p:cNvPr id="705" name="Google Shape;705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06" name="Google Shape;706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07" name="Google Shape;707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08" name="Google Shape;708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09" name="Google Shape;709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10" name="Google Shape;710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11" name="Google Shape;711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12" name="Google Shape;712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13" name="Google Shape;713;p43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4" name="Google Shape;714;p43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15" name="Google Shape;715;p43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16" name="Google Shape;716;p43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17" name="Google Shape;717;p43"/>
          <p:cNvCxnSpPr/>
          <p:nvPr/>
        </p:nvCxnSpPr>
        <p:spPr>
          <a:xfrm>
            <a:off x="5171050" y="41073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8" name="Google Shape;718;p43"/>
          <p:cNvCxnSpPr/>
          <p:nvPr/>
        </p:nvCxnSpPr>
        <p:spPr>
          <a:xfrm rot="10800000" flipH="1">
            <a:off x="5916300" y="29856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9" name="Google Shape;719;p43"/>
          <p:cNvCxnSpPr/>
          <p:nvPr/>
        </p:nvCxnSpPr>
        <p:spPr>
          <a:xfrm rot="10800000" flipH="1">
            <a:off x="5420775" y="32814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sp>
        <p:nvSpPr>
          <p:cNvPr id="725" name="Google Shape;725;p44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If bounds are tight enough so l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≥</a:t>
            </a:r>
            <a:r>
              <a:rPr lang="en-GB" sz="2000">
                <a:solidFill>
                  <a:schemeClr val="dk2"/>
                </a:solidFill>
              </a:rPr>
              <a:t> 0 or </a:t>
            </a:r>
            <a:r>
              <a:rPr lang="en-GB" sz="1800">
                <a:solidFill>
                  <a:schemeClr val="dk2"/>
                </a:solidFill>
              </a:rPr>
              <a:t>u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</a:t>
            </a:r>
            <a:r>
              <a:rPr lang="en-GB" sz="2000">
                <a:solidFill>
                  <a:schemeClr val="dk2"/>
                </a:solidFill>
              </a:rPr>
              <a:t>≤</a:t>
            </a:r>
            <a:r>
              <a:rPr lang="en-GB" sz="1800">
                <a:solidFill>
                  <a:schemeClr val="dk2"/>
                </a:solidFill>
              </a:rPr>
              <a:t> 0, it is called stable neurons (active or inactive); otherwise it is a unstable neuron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stable neuron cases, a binary variable in MILP or relaxation in LP is not needed - ReLU becomes a linear function.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726" name="Google Shape;726;p44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27" name="Google Shape;727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28" name="Google Shape;728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29" name="Google Shape;729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30" name="Google Shape;730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31" name="Google Shape;731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32" name="Google Shape;732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33" name="Google Shape;733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34" name="Google Shape;734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35" name="Google Shape;735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6" name="Google Shape;736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37" name="Google Shape;737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38" name="Google Shape;738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39" name="Google Shape;739;p44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44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44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42" name="Google Shape;742;p44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43" name="Google Shape;743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44" name="Google Shape;744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45" name="Google Shape;745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46" name="Google Shape;746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47" name="Google Shape;747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8" name="Google Shape;748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49" name="Google Shape;749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50" name="Google Shape;750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51" name="Google Shape;751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2" name="Google Shape;752;p44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3" name="Google Shape;753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54" name="Google Shape;754;p44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55" name="Google Shape;755;p44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6" name="Google Shape;756;p44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57" name="Google Shape;757;p44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758" name="Google Shape;758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59" name="Google Shape;759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60" name="Google Shape;760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61" name="Google Shape;761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62" name="Google Shape;762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63" name="Google Shape;763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64" name="Google Shape;764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65" name="Google Shape;765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66" name="Google Shape;766;p44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7" name="Google Shape;767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68" name="Google Shape;768;p44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69" name="Google Shape;769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70" name="Google Shape;770;p44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4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772" name="Google Shape;772;p44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773" name="Google Shape;773;p44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grpSp>
        <p:nvGrpSpPr>
          <p:cNvPr id="779" name="Google Shape;779;p45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80" name="Google Shape;780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81" name="Google Shape;781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82" name="Google Shape;782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83" name="Google Shape;783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84" name="Google Shape;784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5" name="Google Shape;785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86" name="Google Shape;786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87" name="Google Shape;787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88" name="Google Shape;788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9" name="Google Shape;789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0" name="Google Shape;790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91" name="Google Shape;791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92" name="Google Shape;792;p45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5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5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95" name="Google Shape;795;p45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96" name="Google Shape;796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97" name="Google Shape;797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98" name="Google Shape;798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99" name="Google Shape;799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00" name="Google Shape;800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1" name="Google Shape;801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02" name="Google Shape;802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03" name="Google Shape;803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04" name="Google Shape;804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05" name="Google Shape;805;p45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06" name="Google Shape;806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07" name="Google Shape;807;p45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08" name="Google Shape;808;p45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9" name="Google Shape;809;p45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10" name="Google Shape;810;p45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811" name="Google Shape;811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812" name="Google Shape;812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813" name="Google Shape;813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814" name="Google Shape;814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15" name="Google Shape;815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6" name="Google Shape;816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17" name="Google Shape;817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18" name="Google Shape;818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19" name="Google Shape;819;p45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0" name="Google Shape;820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21" name="Google Shape;821;p45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22" name="Google Shape;822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23" name="Google Shape;823;p45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4" name="Google Shape;824;p45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825" name="Google Shape;825;p45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826" name="Google Shape;826;p45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  <p:pic>
        <p:nvPicPr>
          <p:cNvPr id="827" name="Google Shape;827;p45" descr="\hat{z}^{(i)}_j =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196650" y="1972451"/>
            <a:ext cx="1133028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8" name="Google Shape;828;p45" descr="\hat{z}^{(i)}_j =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060300" y="2066975"/>
            <a:ext cx="898680" cy="461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9" name="Google Shape;829;p45"/>
          <p:cNvGrpSpPr/>
          <p:nvPr/>
        </p:nvGrpSpPr>
        <p:grpSpPr>
          <a:xfrm>
            <a:off x="630700" y="2040238"/>
            <a:ext cx="1023396" cy="849900"/>
            <a:chOff x="1112825" y="3768750"/>
            <a:chExt cx="1023396" cy="849900"/>
          </a:xfrm>
        </p:grpSpPr>
        <p:pic>
          <p:nvPicPr>
            <p:cNvPr id="830" name="Google Shape;830;p45" descr="\hat{z}^{(i)}_j \geq z_j^{(i)}" title="MathEquation,#000000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1112825" y="376875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1" name="Google Shape;831;p45" descr="\hat{z}^{(i)}_j \geq 0" title="MathEquation,#000000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1112825" y="420162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32" name="Google Shape;832;p45" descr="\hat{z}^{(i)}_j \leq z_j^{(i)} - l_j^{(i)} (1 - p^{(i)}_j)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630687" y="1130438"/>
            <a:ext cx="2376070" cy="3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3" name="Google Shape;833;p45" descr="\hat{z}^{(i)}_j \leq u^{(i)}_j p^{(i)}_j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630700" y="1585350"/>
            <a:ext cx="1282518" cy="38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46"/>
          <p:cNvSpPr txBox="1">
            <a:spLocks noGrp="1"/>
          </p:cNvSpPr>
          <p:nvPr>
            <p:ph type="title"/>
          </p:nvPr>
        </p:nvSpPr>
        <p:spPr>
          <a:xfrm>
            <a:off x="311700" y="20553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Summary: MILP vs LP vs DPLL(T) in Neural Network Verification</a:t>
            </a:r>
          </a:p>
        </p:txBody>
      </p:sp>
      <p:sp>
        <p:nvSpPr>
          <p:cNvPr id="839" name="Google Shape;839;p46"/>
          <p:cNvSpPr txBox="1"/>
          <p:nvPr/>
        </p:nvSpPr>
        <p:spPr>
          <a:xfrm>
            <a:off x="171300" y="931161"/>
            <a:ext cx="8661000" cy="40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MILP: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Branch and bound is used to make decisions only on certain number of binary variables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decision needed on stable neurons (with the help of pre-activation bounds)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Specialized methods to accelerate solving (e.g., branching heuristics, cutting planes)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Complete (solve y* exactly)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Typically scales much better than DPLL(T)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Linear programming: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integer variables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No variable decisions needed (no exponential time search)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Simplex algorithm can solve it relatively fast, a few thousands neurons are ok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Incomplete (has to return unknown in some cases)</a:t>
            </a: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9303</TotalTime>
  <Words>5242</Words>
  <Application>Microsoft Macintosh PowerPoint</Application>
  <PresentationFormat>On-screen Show (16:9)</PresentationFormat>
  <Paragraphs>530</Paragraphs>
  <Slides>38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Georgia</vt:lpstr>
      <vt:lpstr>Impact</vt:lpstr>
      <vt:lpstr>Lucida Grande</vt:lpstr>
      <vt:lpstr>Simple Light</vt:lpstr>
      <vt:lpstr>Neural Network Verification Integer and Linear Programming Formulations</vt:lpstr>
      <vt:lpstr>Review: Neural network verification as a satisfiability problem</vt:lpstr>
      <vt:lpstr>Verification of neural networks</vt:lpstr>
      <vt:lpstr>Reluplex: Decision Procedure for ReLU NNs</vt:lpstr>
      <vt:lpstr>Reluplex Decision Procedure for ReLU NNs</vt:lpstr>
      <vt:lpstr>Reluplex</vt:lpstr>
      <vt:lpstr>Reluplex</vt:lpstr>
      <vt:lpstr>Termination</vt:lpstr>
      <vt:lpstr>Performance of Reluplex on ACAS </vt:lpstr>
      <vt:lpstr>Review: Neural network verification as a satisfiability problem</vt:lpstr>
      <vt:lpstr>Verification of neural networks</vt:lpstr>
      <vt:lpstr>How does a SMT solver solve this problem?</vt:lpstr>
      <vt:lpstr>How does a SMT solver solve this problem?</vt:lpstr>
      <vt:lpstr>How does a SMT solver solve this problem?</vt:lpstr>
      <vt:lpstr>Why using a SMT solver is very slow?</vt:lpstr>
      <vt:lpstr>Mathematical optimization problems</vt:lpstr>
      <vt:lpstr>Some optimization problems are hard, some are easy</vt:lpstr>
      <vt:lpstr>Verification Problem as an optimization problem</vt:lpstr>
      <vt:lpstr>Verification Problem as an optimization problem</vt:lpstr>
      <vt:lpstr>Verification Problem as an optimization problem</vt:lpstr>
      <vt:lpstr>Optimization formulation for ReLU neurons</vt:lpstr>
      <vt:lpstr>Optimization formulation for ReLU neurons</vt:lpstr>
      <vt:lpstr>Optimization formulation for ReLU neurons</vt:lpstr>
      <vt:lpstr>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Putting it all together with Pre-activation bounds</vt:lpstr>
      <vt:lpstr>MILP vs LP</vt:lpstr>
      <vt:lpstr>Sound but Incomplete Verification with a Lower Bound</vt:lpstr>
      <vt:lpstr>A closer look at the LP relaxation: “Triangle” relaxation </vt:lpstr>
      <vt:lpstr>A closer look at the linear programming relaxation</vt:lpstr>
      <vt:lpstr>A closer look at the linear programming relaxation</vt:lpstr>
      <vt:lpstr>A closer look at the linear programming relaxation</vt:lpstr>
      <vt:lpstr>Stable vs. unstable neurons</vt:lpstr>
      <vt:lpstr>Stable vs. unstable neurons</vt:lpstr>
      <vt:lpstr>Summary: MILP vs LP vs DPLL(T) in Neural Network Verification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Integer and Linear Programming Formulations for Neural Network Verification</dc:title>
  <dc:creator/>
  <cp:lastModifiedBy>Mitra, Sayan</cp:lastModifiedBy>
  <cp:revision>37</cp:revision>
  <dcterms:created xsi:type="dcterms:W3CDTF">2025-06-23T20:00:24Z</dcterms:created>
  <dcterms:modified xsi:type="dcterms:W3CDTF">2025-09-26T13:26:05Z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