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0"/>
  </p:notesMasterIdLst>
  <p:sldIdLst>
    <p:sldId id="256" r:id="rId2"/>
    <p:sldId id="294" r:id="rId3"/>
    <p:sldId id="382" r:id="rId4"/>
    <p:sldId id="305" r:id="rId5"/>
    <p:sldId id="306" r:id="rId6"/>
    <p:sldId id="307" r:id="rId7"/>
    <p:sldId id="309" r:id="rId8"/>
    <p:sldId id="310" r:id="rId9"/>
    <p:sldId id="311" r:id="rId10"/>
    <p:sldId id="381" r:id="rId11"/>
    <p:sldId id="293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376" r:id="rId23"/>
    <p:sldId id="271" r:id="rId24"/>
    <p:sldId id="272" r:id="rId25"/>
    <p:sldId id="274" r:id="rId26"/>
    <p:sldId id="377" r:id="rId27"/>
    <p:sldId id="378" r:id="rId28"/>
    <p:sldId id="379" r:id="rId29"/>
    <p:sldId id="380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0"/>
    <p:restoredTop sz="76338"/>
  </p:normalViewPr>
  <p:slideViewPr>
    <p:cSldViewPr snapToGrid="0">
      <p:cViewPr varScale="1">
        <p:scale>
          <a:sx n="118" d="100"/>
          <a:sy n="118" d="100"/>
        </p:scale>
        <p:origin x="1384" y="1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28775fbbc9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28775fbbc9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Google Shape;957;g330c363d770_0_7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8" name="Google Shape;958;g330c363d770_0_7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5" name="Google Shape;945;g330c363d770_0_7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6" name="Google Shape;946;g330c363d770_0_7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87515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1A5A3-AF3C-6B41-961F-AF8DD9BBE893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1A5A3-AF3C-6B41-961F-AF8DD9BBE893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algorithm tries to </a:t>
            </a:r>
            <a:r>
              <a:rPr lang="en-US" b="1" dirty="0"/>
              <a:t>repair the violation</a:t>
            </a:r>
            <a:r>
              <a:rPr lang="en-US" dirty="0"/>
              <a:t> without branching, by nudging the current assignment using pivoting or direct reassignment.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If xi is a basic variable:</a:t>
            </a:r>
            <a:br>
              <a:rPr lang="en-US" dirty="0"/>
            </a:br>
            <a:r>
              <a:rPr lang="en-US" dirty="0"/>
              <a:t>Pivot it with some non-basic variable </a:t>
            </a:r>
            <a:r>
              <a:rPr lang="en-US" dirty="0" err="1"/>
              <a:t>xk</a:t>
            </a:r>
            <a:r>
              <a:rPr lang="en-US" dirty="0"/>
              <a:t>. This frees xi​ so that its value can be recomputed consistently with </a:t>
            </a:r>
            <a:r>
              <a:rPr lang="en-US" dirty="0" err="1"/>
              <a:t>relu</a:t>
            </a:r>
            <a:r>
              <a:rPr lang="en-US" dirty="0"/>
              <a:t>(</a:t>
            </a:r>
            <a:r>
              <a:rPr lang="en-US" dirty="0" err="1"/>
              <a:t>x_j</a:t>
            </a:r>
            <a:r>
              <a:rPr lang="en-US" dirty="0"/>
              <a:t>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If </a:t>
            </a:r>
            <a:r>
              <a:rPr lang="en-US" b="1" dirty="0" err="1"/>
              <a:t>xj</a:t>
            </a:r>
            <a:r>
              <a:rPr lang="en-US" b="1" dirty="0"/>
              <a:t> is a basic variable: </a:t>
            </a:r>
            <a:r>
              <a:rPr lang="en-US" dirty="0"/>
              <a:t>Similarly, pivot </a:t>
            </a:r>
            <a:r>
              <a:rPr lang="en-US" dirty="0" err="1"/>
              <a:t>xj</a:t>
            </a:r>
            <a:r>
              <a:rPr lang="en-US" dirty="0"/>
              <a:t> with some non-basic variable </a:t>
            </a:r>
            <a:r>
              <a:rPr lang="en-US" dirty="0" err="1"/>
              <a:t>xk</a:t>
            </a:r>
            <a:r>
              <a:rPr lang="en-US" dirty="0"/>
              <a:t>. This frees </a:t>
            </a:r>
            <a:r>
              <a:rPr lang="en-US" dirty="0" err="1"/>
              <a:t>xj</a:t>
            </a:r>
            <a:r>
              <a:rPr lang="en-US" dirty="0"/>
              <a:t> so that it can be recomputed consistently.</a:t>
            </a:r>
          </a:p>
          <a:p>
            <a:pPr lvl="1"/>
            <a:r>
              <a:rPr lang="en-US" dirty="0"/>
              <a:t>After pivoting, enforce the </a:t>
            </a:r>
            <a:r>
              <a:rPr lang="en-US" dirty="0" err="1"/>
              <a:t>ReLU</a:t>
            </a:r>
            <a:r>
              <a:rPr lang="en-US" dirty="0"/>
              <a:t> equation in one of two ways:</a:t>
            </a:r>
          </a:p>
          <a:p>
            <a:pPr lvl="2"/>
            <a:r>
              <a:rPr lang="en-US" dirty="0"/>
              <a:t>Set xi:=</a:t>
            </a:r>
            <a:r>
              <a:rPr lang="en-US" dirty="0" err="1"/>
              <a:t>ReLU</a:t>
            </a:r>
            <a:r>
              <a:rPr lang="en-US" dirty="0"/>
              <a:t>(</a:t>
            </a:r>
            <a:r>
              <a:rPr lang="en-US" dirty="0" err="1"/>
              <a:t>xj</a:t>
            </a:r>
            <a:r>
              <a:rPr lang="en-US" dirty="0"/>
              <a:t>) (i.e., update the output to match the </a:t>
            </a:r>
            <a:r>
              <a:rPr lang="en-US" dirty="0" err="1"/>
              <a:t>ReLU</a:t>
            </a:r>
            <a:r>
              <a:rPr lang="en-US" dirty="0"/>
              <a:t> of the input).</a:t>
            </a:r>
          </a:p>
          <a:p>
            <a:pPr lvl="2"/>
            <a:r>
              <a:rPr lang="en-US" dirty="0"/>
              <a:t>Or set </a:t>
            </a:r>
            <a:r>
              <a:rPr lang="en-US" dirty="0" err="1"/>
              <a:t>xj</a:t>
            </a:r>
            <a:r>
              <a:rPr lang="en-US" dirty="0"/>
              <a:t>:=xi (i.e., adjust the input to be consistent with the output).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If a particular </a:t>
            </a:r>
            <a:r>
              <a:rPr lang="en-US" dirty="0" err="1"/>
              <a:t>ReLU</a:t>
            </a:r>
            <a:r>
              <a:rPr lang="en-US" dirty="0"/>
              <a:t> constraint keeps getting violated </a:t>
            </a:r>
            <a:r>
              <a:rPr lang="en-US" b="1" dirty="0"/>
              <a:t>too many times</a:t>
            </a:r>
            <a:r>
              <a:rPr lang="en-US" dirty="0"/>
              <a:t> (&gt; </a:t>
            </a:r>
            <a:r>
              <a:rPr lang="el-GR" dirty="0"/>
              <a:t>τ </a:t>
            </a:r>
            <a:r>
              <a:rPr lang="en-US" dirty="0"/>
              <a:t>in the pseudocode), then </a:t>
            </a:r>
            <a:r>
              <a:rPr lang="en-US" dirty="0" err="1"/>
              <a:t>Reluplex</a:t>
            </a:r>
            <a:r>
              <a:rPr lang="en-US" dirty="0"/>
              <a:t> gives up on repairing it incrementally and performs a </a:t>
            </a:r>
            <a:r>
              <a:rPr lang="en-US" b="1" dirty="0"/>
              <a:t>case split</a:t>
            </a:r>
            <a:r>
              <a:rPr lang="en-US" dirty="0"/>
              <a:t>: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0995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Google Shape;957;g330c363d770_0_7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8" name="Google Shape;958;g330c363d770_0_7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0693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5" name="Google Shape;945;g330c363d770_0_7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6" name="Google Shape;946;g330c363d770_0_7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2b77f6ca0a8_1_4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2b77f6ca0a8_1_4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Each </a:t>
            </a:r>
            <a:r>
              <a:rPr lang="en-US" dirty="0" err="1"/>
              <a:t>ReLU</a:t>
            </a:r>
            <a:r>
              <a:rPr lang="en-US" dirty="0"/>
              <a:t> neuron introduces a disjunctive clause</a:t>
            </a: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2b77f6ca0a8_1_4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2b77f6ca0a8_1_4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b77f6ca0a8_1_4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2b77f6ca0a8_1_4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2b77f6ca0a8_1_4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2b77f6ca0a8_1_4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2b77f6ca0a8_1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2b77f6ca0a8_1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2b77f6ca0a8_1_5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1" name="Google Shape;311;g2b77f6ca0a8_1_5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2b77f6ca0a8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2b77f6ca0a8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 \displaystyle </a:t>
            </a:r>
            <a:r>
              <a:rPr lang="en-GB"/>
              <a:t>f^* = \min_{x \in \mathcal{S}} f(x)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2b77f6ca0a8_1_5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2b77f6ca0a8_1_5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2b77f6ca0a8_1_5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2b77f6ca0a8_1_5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2b77f6ca0a8_1_6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2b77f6ca0a8_1_6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>
                <a:solidFill>
                  <a:schemeClr val="dk1"/>
                </a:solidFill>
              </a:rPr>
              <a:t>\hat{z}^{(i)}_j \leq z_j^{(i)} - M_1 (1 - p^{(i)}_j)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\hat{z}^{(i)}_j \leq M_2 p^{(i)}_j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\hat{z}^{(i)}_j \leq z_j^{(i)}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2b77f6ca0a8_1_6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2b77f6ca0a8_1_6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>
                <a:solidFill>
                  <a:schemeClr val="dk1"/>
                </a:solidFill>
              </a:rPr>
              <a:t>\hat{z}^{(i)}_j \leq z_j^{(i)} - M_1 (1 - p^{(i)}_j)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\hat{z}^{(i)}_j \leq M_2 p^{(i)}_j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\hat{z}^{(i)}_j \leq z_j^{(i)}</a:t>
            </a:r>
          </a:p>
        </p:txBody>
      </p:sp>
    </p:spTree>
    <p:extLst>
      <p:ext uri="{BB962C8B-B14F-4D97-AF65-F5344CB8AC3E}">
        <p14:creationId xmlns:p14="http://schemas.microsoft.com/office/powerpoint/2010/main" val="17418974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2b77f6ca0a8_1_6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2b77f6ca0a8_1_6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g2b77f6ca0a8_1_7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0" name="Google Shape;420;g2b77f6ca0a8_1_7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2b77f6ca0a8_1_7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2" name="Google Shape;462;g2b77f6ca0a8_1_7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l_j^{(i)} := \min z_j^{(i)}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u_j^{(i)} := \max z_j^{(i)}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2b77f6ca0a8_1_7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2" name="Google Shape;462;g2b77f6ca0a8_1_7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l_j^{(i)} := \min z_j^{(i)}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u_j^{(i)} := \max z_j^{(i)}</a:t>
            </a:r>
          </a:p>
        </p:txBody>
      </p:sp>
    </p:spTree>
    <p:extLst>
      <p:ext uri="{BB962C8B-B14F-4D97-AF65-F5344CB8AC3E}">
        <p14:creationId xmlns:p14="http://schemas.microsoft.com/office/powerpoint/2010/main" val="185103061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2b77f6ca0a8_1_7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2" name="Google Shape;462;g2b77f6ca0a8_1_7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l_j</a:t>
            </a:r>
            <a:r>
              <a:rPr lang="en-GB" dirty="0"/>
              <a:t>^{(</a:t>
            </a:r>
            <a:r>
              <a:rPr lang="en-GB" dirty="0" err="1"/>
              <a:t>i</a:t>
            </a:r>
            <a:r>
              <a:rPr lang="en-GB" dirty="0"/>
              <a:t>)} := \min </a:t>
            </a:r>
            <a:r>
              <a:rPr lang="en-GB" dirty="0" err="1"/>
              <a:t>z_j</a:t>
            </a:r>
            <a:r>
              <a:rPr lang="en-GB" dirty="0"/>
              <a:t>^{(</a:t>
            </a:r>
            <a:r>
              <a:rPr lang="en-GB" dirty="0" err="1"/>
              <a:t>i</a:t>
            </a:r>
            <a:r>
              <a:rPr lang="en-GB" dirty="0"/>
              <a:t>)}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u_j</a:t>
            </a:r>
            <a:r>
              <a:rPr lang="en-GB" dirty="0"/>
              <a:t>^{(</a:t>
            </a:r>
            <a:r>
              <a:rPr lang="en-GB" dirty="0" err="1"/>
              <a:t>i</a:t>
            </a:r>
            <a:r>
              <a:rPr lang="en-GB" dirty="0"/>
              <a:t>)} := \max </a:t>
            </a:r>
            <a:r>
              <a:rPr lang="en-GB" dirty="0" err="1"/>
              <a:t>z_j</a:t>
            </a:r>
            <a:r>
              <a:rPr lang="en-GB" dirty="0"/>
              <a:t>^{(</a:t>
            </a:r>
            <a:r>
              <a:rPr lang="en-GB" dirty="0" err="1"/>
              <a:t>i</a:t>
            </a:r>
            <a:r>
              <a:rPr lang="en-GB" dirty="0"/>
              <a:t>)}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>
              <a:buFont typeface="+mj-lt"/>
              <a:buAutoNum type="arabicPeriod"/>
            </a:pPr>
            <a:r>
              <a:rPr lang="en-US" b="1" dirty="0"/>
              <a:t>Compute </a:t>
            </a:r>
            <a:r>
              <a:rPr lang="en-US" b="1" dirty="0" err="1"/>
              <a:t>preactivation</a:t>
            </a:r>
            <a:r>
              <a:rPr lang="en-US" b="1" dirty="0"/>
              <a:t> bounds per neuron (offline, before MILP).</a:t>
            </a: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Use interval propagation, LP relaxations, or stronger methods.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The tighter the bounds, the stronger the MILP encoding (fewer useless branch-and-bounds).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Build the MILP</a:t>
            </a:r>
            <a:r>
              <a:rPr lang="en-US" dirty="0"/>
              <a:t> with those bounds “hard-coded” into the big-M constraints.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Solve the MILP once</a:t>
            </a:r>
            <a:r>
              <a:rPr lang="en-US" dirty="0"/>
              <a:t> with an optimizer (e.g., </a:t>
            </a:r>
            <a:r>
              <a:rPr lang="en-US" dirty="0" err="1"/>
              <a:t>Gurobi</a:t>
            </a:r>
            <a:r>
              <a:rPr lang="en-US" dirty="0"/>
              <a:t>, CPLEX, SCIP).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7128443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2b77f6ca0a8_1_7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2" name="Google Shape;462;g2b77f6ca0a8_1_7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l_j^{(i)} := \min z_j^{(i)}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u_j^{(i)} := \max z_j^{(i)}</a:t>
            </a:r>
          </a:p>
        </p:txBody>
      </p:sp>
    </p:spTree>
    <p:extLst>
      <p:ext uri="{BB962C8B-B14F-4D97-AF65-F5344CB8AC3E}">
        <p14:creationId xmlns:p14="http://schemas.microsoft.com/office/powerpoint/2010/main" val="313751806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2b77f6ca0a8_1_7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2" name="Google Shape;462;g2b77f6ca0a8_1_7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l_j^{(i)} := \min z_j^{(i)}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u_j^{(i)} := \max z_j^{(i)}</a:t>
            </a:r>
          </a:p>
        </p:txBody>
      </p:sp>
    </p:spTree>
    <p:extLst>
      <p:ext uri="{BB962C8B-B14F-4D97-AF65-F5344CB8AC3E}">
        <p14:creationId xmlns:p14="http://schemas.microsoft.com/office/powerpoint/2010/main" val="160454456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g2b77f6ca0a8_1_8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8" name="Google Shape;528;g2b77f6ca0a8_1_8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g2b77f6ca0a8_1_1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9" name="Google Shape;559;g2b77f6ca0a8_1_1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Resume here.</a:t>
            </a:r>
            <a:endParaRPr dirty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g2b77f6ca0a8_1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5" name="Google Shape;605;g2b77f6ca0a8_1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z_j^{(i)} - l_j^{(i)} (1 - p^{(i)}_j)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u^{(i)}_j p^{(i)}_j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\leq \frac{\hat{z}^{(i)}_j - z_j^{(i)} + l_j^{(i)}}{l_j^{(i)}}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\geq \frac{\hat{z}^{(i)}_j}{u_j^{(i)}}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\hat{z}_j^{(i)} \leq \frac{u_j^{(i)}}{u_j^{(i)}-l_j^{(i)}} z_j^{(i)} - \frac{u_j^{(i)}l_j^{(i)}}{u_j^{(i)} - l_j^{(i)}}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b77f6ca0a8_1_9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5" name="Google Shape;625;g2b77f6ca0a8_1_9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z_j^{(i)} - l_j^{(i)} (1 - p^{(i)}_j)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u^{(i)}_j p^{(i)}_j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\leq \frac{\hat{z}^{(i)}_j - z_j^{(i)} + l_j^{(i)}}{l_j^{(i)}}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\geq \frac{\hat{z}^{(i)}_j}{u_j^{(i)}}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\hat{z}_j^{(i)} \leq \frac{u_j^{(i)}}{u_j^{(i)}-l_j^{(i)}} z_j^{(i)} - \frac{u_j^{(i)}l_j^{(i)}}{u_j^{(i)} - l_j^{(i)}}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2b77f6ca0a8_1_10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8" name="Google Shape;658;g2b77f6ca0a8_1_10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z_j^{(i)} - l_j^{(i)} (1 - p^{(i)}_j)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u^{(i)}_j p^{(i)}_j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\leq \frac{\hat{z}^{(i)}_j - z_j^{(i)} + l_j^{(i)}}{l_j^{(i)}}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\geq \frac{\hat{z}^{(i)}_j}{u_j^{(i)}}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\hat{z}_j^{(i)} \leq \frac{u_j^{(i)}}{u_j^{(i)}-l_j^{(i)}} z_j^{(i)} - \frac{u_j^{(i)}l_j^{(i)}}{u_j^{(i)} - l_j^{(i)}}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g2b77f6ca0a8_1_1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4" name="Google Shape;684;g2b77f6ca0a8_1_11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z_j^{(i)} - l_j^{(i)} (1 - p^{(i)}_j)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u^{(i)}_j p^{(i)}_j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\leq \frac{\hat{z}^{(i)}_j - z_j^{(i)} + l_j^{(i)}}{l_j^{(i)}}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\geq \frac{\hat{z}^{(i)}_j}{u_j^{(i)}}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\hat{z}_j^{(i)} \leq \frac{u_j^{(i)}}{u_j^{(i)}-l_j^{(i)}} z_j^{(i)} - \frac{u_j^{(i)}l_j^{(i)}}{u_j^{(i)} - l_j^{(i)}}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2b77f6ca0a8_1_12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2" name="Google Shape;722;g2b77f6ca0a8_1_12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z_j^{(i)} - l_j^{(i)} (1 - p^{(i)}_j)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u^{(i)}_j p^{(i)}_j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\leq \frac{\hat{z}^{(i)}_j - z_j^{(i)} + l_j^{(i)}}{l_j^{(i)}}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\geq \frac{\hat{z}^{(i)}_j}{u_j^{(i)}}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\hat{z}_j^{(i)} \leq \frac{u_j^{(i)}}{u_j^{(i)}-l_j^{(i)}} z_j^{(i)} - \frac{u_j^{(i)}l_j^{(i)}}{u_j^{(i)} - l_j^{(i)}}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g2b77f6ca0a8_1_1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6" name="Google Shape;776;g2b77f6ca0a8_1_1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z_j^{(i)} - l_j^{(i)} (1 - p^{(i)}_j)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u^{(i)}_j p^{(i)}_j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\leq \frac{\hat{z}^{(i)}_j - z_j^{(i)} + l_j^{(i)}}{l_j^{(i)}}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\geq \frac{\hat{z}^{(i)}_j}{u_j^{(i)}}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\hat{z}_j^{(i)} \leq \frac{u_j^{(i)}}{u_j^{(i)}-l_j^{(i)}} z_j^{(i)} - \frac{u_j^{(i)}l_j^{(i)}}{u_j^{(i)} - l_j^{(i)}}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g2b77f6ca0a8_1_1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6" name="Google Shape;836;g2b77f6ca0a8_1_1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z_j^{(i)} - l_j^{(i)} (1 - p^{(i)}_j)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u^{(i)}_j p^{(i)}_j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\leq \frac{\hat{z}^{(i)}_j - z_j^{(i)} + l_j^{(i)}}{l_j^{(i)}}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\geq \frac{\hat{z}^{(i)}_j}{u_j^{(i)}}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\hat{z}_j^{(i)} \leq \frac{u_j^{(i)}}{u_j^{(i)}-l_j^{(i)}} z_j^{(i)} - \frac{u_j^{(i)}l_j^{(i)}}{u_j^{(i)} - l_j^{(i)}}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 dirty="0"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 dirty="0"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 dirty="0"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 dirty="0"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TITLE_AND_BODY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/>
          <p:nvPr/>
        </p:nvSpPr>
        <p:spPr>
          <a:xfrm>
            <a:off x="0" y="228600"/>
            <a:ext cx="9144000" cy="6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152400" y="228600"/>
            <a:ext cx="8839200" cy="7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84525"/>
              </a:buClr>
              <a:buSzPts val="3000"/>
              <a:buNone/>
              <a:defRPr sz="3000">
                <a:solidFill>
                  <a:srgbClr val="F8452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body" idx="1"/>
          </p:nvPr>
        </p:nvSpPr>
        <p:spPr>
          <a:xfrm>
            <a:off x="228600" y="1085850"/>
            <a:ext cx="8763000" cy="348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61950" rtl="0"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2pPr>
            <a:lvl3pPr marL="1371600" lvl="2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ldNum" idx="12"/>
          </p:nvPr>
        </p:nvSpPr>
        <p:spPr>
          <a:xfrm>
            <a:off x="8671500" y="4978575"/>
            <a:ext cx="472500" cy="1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2"/>
          </p:nvPr>
        </p:nvSpPr>
        <p:spPr>
          <a:xfrm>
            <a:off x="0" y="0"/>
            <a:ext cx="4572000" cy="19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FFFFFF"/>
                </a:solidFill>
              </a:defRPr>
            </a:lvl1pPr>
            <a:lvl2pPr lvl="1" algn="r" rtl="0">
              <a:spcBef>
                <a:spcPts val="1200"/>
              </a:spcBef>
              <a:spcAft>
                <a:spcPts val="0"/>
              </a:spcAft>
              <a:buNone/>
              <a:defRPr/>
            </a:lvl2pPr>
            <a:lvl3pPr lvl="2" algn="r" rtl="0">
              <a:spcBef>
                <a:spcPts val="1200"/>
              </a:spcBef>
              <a:spcAft>
                <a:spcPts val="0"/>
              </a:spcAft>
              <a:buNone/>
              <a:defRPr/>
            </a:lvl3pPr>
            <a:lvl4pPr lvl="3" algn="r" rtl="0">
              <a:spcBef>
                <a:spcPts val="1200"/>
              </a:spcBef>
              <a:spcAft>
                <a:spcPts val="0"/>
              </a:spcAft>
              <a:buNone/>
              <a:defRPr/>
            </a:lvl4pPr>
            <a:lvl5pPr lvl="4" algn="r" rtl="0">
              <a:spcBef>
                <a:spcPts val="1200"/>
              </a:spcBef>
              <a:spcAft>
                <a:spcPts val="0"/>
              </a:spcAft>
              <a:buNone/>
              <a:defRPr/>
            </a:lvl5pPr>
            <a:lvl6pPr lvl="5" algn="r" rtl="0">
              <a:spcBef>
                <a:spcPts val="1200"/>
              </a:spcBef>
              <a:spcAft>
                <a:spcPts val="0"/>
              </a:spcAft>
              <a:buNone/>
              <a:defRPr/>
            </a:lvl6pPr>
            <a:lvl7pPr lvl="6" algn="r" rtl="0">
              <a:spcBef>
                <a:spcPts val="1200"/>
              </a:spcBef>
              <a:spcAft>
                <a:spcPts val="0"/>
              </a:spcAft>
              <a:buNone/>
              <a:defRPr/>
            </a:lvl7pPr>
            <a:lvl8pPr lvl="7" algn="r" rtl="0">
              <a:spcBef>
                <a:spcPts val="1200"/>
              </a:spcBef>
              <a:spcAft>
                <a:spcPts val="0"/>
              </a:spcAft>
              <a:buNone/>
              <a:defRPr/>
            </a:lvl8pPr>
            <a:lvl9pPr lvl="8" algn="r" rtl="0">
              <a:spcBef>
                <a:spcPts val="1200"/>
              </a:spcBef>
              <a:spcAft>
                <a:spcPts val="120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2">
  <p:cSld name="TITLE_AND_BODY_2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/>
          <p:nvPr/>
        </p:nvSpPr>
        <p:spPr>
          <a:xfrm>
            <a:off x="0" y="228600"/>
            <a:ext cx="9144000" cy="6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/>
          </p:nvPr>
        </p:nvSpPr>
        <p:spPr>
          <a:xfrm>
            <a:off x="152400" y="228600"/>
            <a:ext cx="8839200" cy="7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84525"/>
              </a:buClr>
              <a:buSzPts val="3000"/>
              <a:buNone/>
              <a:defRPr sz="3000">
                <a:solidFill>
                  <a:srgbClr val="F8452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body" idx="1"/>
          </p:nvPr>
        </p:nvSpPr>
        <p:spPr>
          <a:xfrm>
            <a:off x="228600" y="1085850"/>
            <a:ext cx="8763000" cy="348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61950" rtl="0"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2pPr>
            <a:lvl3pPr marL="1371600" lvl="2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sldNum" idx="12"/>
          </p:nvPr>
        </p:nvSpPr>
        <p:spPr>
          <a:xfrm>
            <a:off x="8671500" y="4978575"/>
            <a:ext cx="472500" cy="1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  <p:sp>
        <p:nvSpPr>
          <p:cNvPr id="61" name="Google Shape;61;p14"/>
          <p:cNvSpPr txBox="1">
            <a:spLocks noGrp="1"/>
          </p:cNvSpPr>
          <p:nvPr>
            <p:ph type="subTitle" idx="2"/>
          </p:nvPr>
        </p:nvSpPr>
        <p:spPr>
          <a:xfrm>
            <a:off x="0" y="0"/>
            <a:ext cx="4572000" cy="19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FFFFFF"/>
                </a:solidFill>
              </a:defRPr>
            </a:lvl1pPr>
            <a:lvl2pPr lvl="1" algn="r" rtl="0">
              <a:spcBef>
                <a:spcPts val="1200"/>
              </a:spcBef>
              <a:spcAft>
                <a:spcPts val="0"/>
              </a:spcAft>
              <a:buNone/>
              <a:defRPr/>
            </a:lvl2pPr>
            <a:lvl3pPr lvl="2" algn="r" rtl="0">
              <a:spcBef>
                <a:spcPts val="1200"/>
              </a:spcBef>
              <a:spcAft>
                <a:spcPts val="0"/>
              </a:spcAft>
              <a:buNone/>
              <a:defRPr/>
            </a:lvl3pPr>
            <a:lvl4pPr lvl="3" algn="r" rtl="0">
              <a:spcBef>
                <a:spcPts val="1200"/>
              </a:spcBef>
              <a:spcAft>
                <a:spcPts val="0"/>
              </a:spcAft>
              <a:buNone/>
              <a:defRPr/>
            </a:lvl4pPr>
            <a:lvl5pPr lvl="4" algn="r" rtl="0">
              <a:spcBef>
                <a:spcPts val="1200"/>
              </a:spcBef>
              <a:spcAft>
                <a:spcPts val="0"/>
              </a:spcAft>
              <a:buNone/>
              <a:defRPr/>
            </a:lvl5pPr>
            <a:lvl6pPr lvl="5" algn="r" rtl="0">
              <a:spcBef>
                <a:spcPts val="1200"/>
              </a:spcBef>
              <a:spcAft>
                <a:spcPts val="0"/>
              </a:spcAft>
              <a:buNone/>
              <a:defRPr/>
            </a:lvl6pPr>
            <a:lvl7pPr lvl="6" algn="r" rtl="0">
              <a:spcBef>
                <a:spcPts val="1200"/>
              </a:spcBef>
              <a:spcAft>
                <a:spcPts val="0"/>
              </a:spcAft>
              <a:buNone/>
              <a:defRPr/>
            </a:lvl7pPr>
            <a:lvl8pPr lvl="7" algn="r" rtl="0">
              <a:spcBef>
                <a:spcPts val="1200"/>
              </a:spcBef>
              <a:spcAft>
                <a:spcPts val="0"/>
              </a:spcAft>
              <a:buNone/>
              <a:defRPr/>
            </a:lvl8pPr>
            <a:lvl9pPr lvl="8" algn="r" rtl="0">
              <a:spcBef>
                <a:spcPts val="1200"/>
              </a:spcBef>
              <a:spcAft>
                <a:spcPts val="120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3">
  <p:cSld name="TITLE_AND_BODY_3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/>
          <p:nvPr/>
        </p:nvSpPr>
        <p:spPr>
          <a:xfrm>
            <a:off x="0" y="228600"/>
            <a:ext cx="9144000" cy="6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title"/>
          </p:nvPr>
        </p:nvSpPr>
        <p:spPr>
          <a:xfrm>
            <a:off x="152400" y="228600"/>
            <a:ext cx="8839200" cy="7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84525"/>
              </a:buClr>
              <a:buSzPts val="3000"/>
              <a:buNone/>
              <a:defRPr sz="3000">
                <a:solidFill>
                  <a:srgbClr val="F8452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5"/>
          <p:cNvSpPr txBox="1">
            <a:spLocks noGrp="1"/>
          </p:cNvSpPr>
          <p:nvPr>
            <p:ph type="body" idx="1"/>
          </p:nvPr>
        </p:nvSpPr>
        <p:spPr>
          <a:xfrm>
            <a:off x="228600" y="1085850"/>
            <a:ext cx="8763000" cy="348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61950" rtl="0"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2pPr>
            <a:lvl3pPr marL="1371600" lvl="2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sldNum" idx="12"/>
          </p:nvPr>
        </p:nvSpPr>
        <p:spPr>
          <a:xfrm>
            <a:off x="8671500" y="4978575"/>
            <a:ext cx="472500" cy="1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  <p:sp>
        <p:nvSpPr>
          <p:cNvPr id="67" name="Google Shape;67;p15"/>
          <p:cNvSpPr txBox="1">
            <a:spLocks noGrp="1"/>
          </p:cNvSpPr>
          <p:nvPr>
            <p:ph type="subTitle" idx="2"/>
          </p:nvPr>
        </p:nvSpPr>
        <p:spPr>
          <a:xfrm>
            <a:off x="0" y="0"/>
            <a:ext cx="4572000" cy="19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FFFFFF"/>
                </a:solidFill>
              </a:defRPr>
            </a:lvl1pPr>
            <a:lvl2pPr lvl="1" algn="r" rtl="0">
              <a:spcBef>
                <a:spcPts val="1200"/>
              </a:spcBef>
              <a:spcAft>
                <a:spcPts val="0"/>
              </a:spcAft>
              <a:buNone/>
              <a:defRPr/>
            </a:lvl2pPr>
            <a:lvl3pPr lvl="2" algn="r" rtl="0">
              <a:spcBef>
                <a:spcPts val="1200"/>
              </a:spcBef>
              <a:spcAft>
                <a:spcPts val="0"/>
              </a:spcAft>
              <a:buNone/>
              <a:defRPr/>
            </a:lvl3pPr>
            <a:lvl4pPr lvl="3" algn="r" rtl="0">
              <a:spcBef>
                <a:spcPts val="1200"/>
              </a:spcBef>
              <a:spcAft>
                <a:spcPts val="0"/>
              </a:spcAft>
              <a:buNone/>
              <a:defRPr/>
            </a:lvl4pPr>
            <a:lvl5pPr lvl="4" algn="r" rtl="0">
              <a:spcBef>
                <a:spcPts val="1200"/>
              </a:spcBef>
              <a:spcAft>
                <a:spcPts val="0"/>
              </a:spcAft>
              <a:buNone/>
              <a:defRPr/>
            </a:lvl5pPr>
            <a:lvl6pPr lvl="5" algn="r" rtl="0">
              <a:spcBef>
                <a:spcPts val="1200"/>
              </a:spcBef>
              <a:spcAft>
                <a:spcPts val="0"/>
              </a:spcAft>
              <a:buNone/>
              <a:defRPr/>
            </a:lvl6pPr>
            <a:lvl7pPr lvl="6" algn="r" rtl="0">
              <a:spcBef>
                <a:spcPts val="1200"/>
              </a:spcBef>
              <a:spcAft>
                <a:spcPts val="0"/>
              </a:spcAft>
              <a:buNone/>
              <a:defRPr/>
            </a:lvl7pPr>
            <a:lvl8pPr lvl="7" algn="r" rtl="0">
              <a:spcBef>
                <a:spcPts val="1200"/>
              </a:spcBef>
              <a:spcAft>
                <a:spcPts val="0"/>
              </a:spcAft>
              <a:buNone/>
              <a:defRPr/>
            </a:lvl8pPr>
            <a:lvl9pPr lvl="8" algn="r" rtl="0">
              <a:spcBef>
                <a:spcPts val="1200"/>
              </a:spcBef>
              <a:spcAft>
                <a:spcPts val="120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5EF72-8FCF-AD49-A29F-EEF80E6CE4DA}" type="datetimeFigureOut">
              <a:rPr lang="en-US" smtClean="0"/>
              <a:t>9/24/25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53732-753D-0646-8EE7-BFF50FC486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1551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Calibri Light" panose="020F0302020204030204" pitchFamily="34" charset="0"/>
          <a:ea typeface="Calibri Light" panose="020F0302020204030204" pitchFamily="34" charset="0"/>
          <a:cs typeface="Calibri Light" panose="020F0302020204030204" pitchFamily="34" charset="0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mitras@Illinois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arxiv.org/search/cs?searchtype=author&amp;query=Kochenderfer,+M" TargetMode="External"/><Relationship Id="rId3" Type="http://schemas.openxmlformats.org/officeDocument/2006/relationships/image" Target="../media/image49.png"/><Relationship Id="rId7" Type="http://schemas.openxmlformats.org/officeDocument/2006/relationships/hyperlink" Target="https://arxiv.org/search/cs?searchtype=author&amp;query=Julian,+K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6" Type="http://schemas.openxmlformats.org/officeDocument/2006/relationships/hyperlink" Target="https://arxiv.org/search/cs?searchtype=author&amp;query=Dill,+D" TargetMode="External"/><Relationship Id="rId5" Type="http://schemas.openxmlformats.org/officeDocument/2006/relationships/hyperlink" Target="https://arxiv.org/search/cs?searchtype=author&amp;query=Barrett,+C" TargetMode="External"/><Relationship Id="rId4" Type="http://schemas.openxmlformats.org/officeDocument/2006/relationships/hyperlink" Target="https://arxiv.org/search/cs?searchtype=author&amp;query=Katz,+G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7.png"/><Relationship Id="rId4" Type="http://schemas.openxmlformats.org/officeDocument/2006/relationships/image" Target="../media/image1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2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0.png"/><Relationship Id="rId4" Type="http://schemas.openxmlformats.org/officeDocument/2006/relationships/image" Target="../media/image21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44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45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3000" dirty="0"/>
              <a:t>Neural Network Verification</a:t>
            </a:r>
            <a:br>
              <a:rPr lang="en-GB" sz="3000" dirty="0"/>
            </a:br>
            <a:r>
              <a:rPr lang="en-GB" sz="3000" dirty="0"/>
              <a:t>Integer and Linear Programming Formulations</a:t>
            </a:r>
            <a:endParaRPr sz="3000" dirty="0"/>
          </a:p>
        </p:txBody>
      </p:sp>
      <p:sp>
        <p:nvSpPr>
          <p:cNvPr id="73" name="Google Shape;73;p16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60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Prof. Sayan Mitra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hlinkClick r:id="rId3"/>
              </a:rPr>
              <a:t>mitras@Illinois.edu</a:t>
            </a:r>
            <a:endParaRPr lang="en-GB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p51"/>
          <p:cNvSpPr txBox="1">
            <a:spLocks noGrp="1"/>
          </p:cNvSpPr>
          <p:nvPr>
            <p:ph type="title"/>
          </p:nvPr>
        </p:nvSpPr>
        <p:spPr>
          <a:xfrm>
            <a:off x="65350" y="224420"/>
            <a:ext cx="874845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Review: Neural network verification as a satisfiability problem</a:t>
            </a:r>
          </a:p>
        </p:txBody>
      </p:sp>
      <p:sp>
        <p:nvSpPr>
          <p:cNvPr id="961" name="Google Shape;961;p51"/>
          <p:cNvSpPr txBox="1"/>
          <p:nvPr/>
        </p:nvSpPr>
        <p:spPr>
          <a:xfrm>
            <a:off x="4348375" y="1509425"/>
            <a:ext cx="653400" cy="5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z</a:t>
            </a:r>
            <a:r>
              <a:rPr lang="en-GB" sz="1800" baseline="30000">
                <a:solidFill>
                  <a:schemeClr val="dk2"/>
                </a:solidFill>
              </a:rPr>
              <a:t>(2)</a:t>
            </a:r>
            <a:endParaRPr sz="1800">
              <a:solidFill>
                <a:schemeClr val="dk2"/>
              </a:solidFill>
            </a:endParaRPr>
          </a:p>
        </p:txBody>
      </p:sp>
      <p:grpSp>
        <p:nvGrpSpPr>
          <p:cNvPr id="962" name="Google Shape;962;p51"/>
          <p:cNvGrpSpPr/>
          <p:nvPr/>
        </p:nvGrpSpPr>
        <p:grpSpPr>
          <a:xfrm>
            <a:off x="1251850" y="1852138"/>
            <a:ext cx="1691250" cy="1518400"/>
            <a:chOff x="949900" y="2149850"/>
            <a:chExt cx="1691250" cy="1518400"/>
          </a:xfrm>
        </p:grpSpPr>
        <p:grpSp>
          <p:nvGrpSpPr>
            <p:cNvPr id="963" name="Google Shape;963;p51"/>
            <p:cNvGrpSpPr/>
            <p:nvPr/>
          </p:nvGrpSpPr>
          <p:grpSpPr>
            <a:xfrm>
              <a:off x="1382025" y="2202525"/>
              <a:ext cx="1259125" cy="1465725"/>
              <a:chOff x="1266900" y="1732750"/>
              <a:chExt cx="1259125" cy="1465725"/>
            </a:xfrm>
          </p:grpSpPr>
          <p:sp>
            <p:nvSpPr>
              <p:cNvPr id="964" name="Google Shape;964;p51"/>
              <p:cNvSpPr/>
              <p:nvPr/>
            </p:nvSpPr>
            <p:spPr>
              <a:xfrm>
                <a:off x="1266900" y="19646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Google Shape;965;p51"/>
              <p:cNvSpPr/>
              <p:nvPr/>
            </p:nvSpPr>
            <p:spPr>
              <a:xfrm>
                <a:off x="1266900" y="25717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Google Shape;966;p51"/>
              <p:cNvSpPr/>
              <p:nvPr/>
            </p:nvSpPr>
            <p:spPr>
              <a:xfrm>
                <a:off x="2294125" y="17327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Google Shape;967;p51"/>
              <p:cNvSpPr/>
              <p:nvPr/>
            </p:nvSpPr>
            <p:spPr>
              <a:xfrm>
                <a:off x="2294125" y="2312775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Google Shape;968;p51"/>
              <p:cNvSpPr/>
              <p:nvPr/>
            </p:nvSpPr>
            <p:spPr>
              <a:xfrm>
                <a:off x="2294125" y="2966575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969" name="Google Shape;969;p51"/>
              <p:cNvCxnSpPr>
                <a:stCxn id="964" idx="6"/>
                <a:endCxn id="966" idx="2"/>
              </p:cNvCxnSpPr>
              <p:nvPr/>
            </p:nvCxnSpPr>
            <p:spPr>
              <a:xfrm rot="10800000" flipH="1">
                <a:off x="1498800" y="1848700"/>
                <a:ext cx="795300" cy="231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0" name="Google Shape;970;p51"/>
              <p:cNvCxnSpPr>
                <a:stCxn id="964" idx="6"/>
                <a:endCxn id="967" idx="2"/>
              </p:cNvCxnSpPr>
              <p:nvPr/>
            </p:nvCxnSpPr>
            <p:spPr>
              <a:xfrm>
                <a:off x="1498800" y="2080600"/>
                <a:ext cx="795300" cy="348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1" name="Google Shape;971;p51"/>
              <p:cNvCxnSpPr>
                <a:stCxn id="965" idx="6"/>
                <a:endCxn id="966" idx="2"/>
              </p:cNvCxnSpPr>
              <p:nvPr/>
            </p:nvCxnSpPr>
            <p:spPr>
              <a:xfrm rot="10800000" flipH="1">
                <a:off x="1498800" y="1848600"/>
                <a:ext cx="795300" cy="83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2" name="Google Shape;972;p51"/>
              <p:cNvCxnSpPr>
                <a:stCxn id="965" idx="6"/>
                <a:endCxn id="967" idx="2"/>
              </p:cNvCxnSpPr>
              <p:nvPr/>
            </p:nvCxnSpPr>
            <p:spPr>
              <a:xfrm rot="10800000" flipH="1">
                <a:off x="1498800" y="2428800"/>
                <a:ext cx="795300" cy="258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3" name="Google Shape;973;p51"/>
              <p:cNvCxnSpPr>
                <a:stCxn id="965" idx="6"/>
                <a:endCxn id="968" idx="2"/>
              </p:cNvCxnSpPr>
              <p:nvPr/>
            </p:nvCxnSpPr>
            <p:spPr>
              <a:xfrm>
                <a:off x="1498800" y="2687700"/>
                <a:ext cx="795300" cy="394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4" name="Google Shape;974;p51"/>
              <p:cNvCxnSpPr>
                <a:stCxn id="964" idx="6"/>
                <a:endCxn id="968" idx="2"/>
              </p:cNvCxnSpPr>
              <p:nvPr/>
            </p:nvCxnSpPr>
            <p:spPr>
              <a:xfrm>
                <a:off x="1498800" y="2080600"/>
                <a:ext cx="795300" cy="100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975" name="Google Shape;975;p51"/>
            <p:cNvSpPr txBox="1"/>
            <p:nvPr/>
          </p:nvSpPr>
          <p:spPr>
            <a:xfrm>
              <a:off x="949900" y="2149850"/>
              <a:ext cx="432000" cy="34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chemeClr val="dk2"/>
                  </a:solidFill>
                </a:rPr>
                <a:t>x</a:t>
              </a:r>
              <a:r>
                <a:rPr lang="en-GB" sz="1800" baseline="-25000">
                  <a:solidFill>
                    <a:schemeClr val="dk2"/>
                  </a:solidFill>
                </a:rPr>
                <a:t>1</a:t>
              </a:r>
              <a:endParaRPr sz="1800" baseline="-25000">
                <a:solidFill>
                  <a:schemeClr val="dk2"/>
                </a:solidFill>
              </a:endParaRPr>
            </a:p>
          </p:txBody>
        </p:sp>
        <p:sp>
          <p:nvSpPr>
            <p:cNvPr id="976" name="Google Shape;976;p51"/>
            <p:cNvSpPr txBox="1"/>
            <p:nvPr/>
          </p:nvSpPr>
          <p:spPr>
            <a:xfrm>
              <a:off x="949900" y="3041525"/>
              <a:ext cx="432000" cy="34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chemeClr val="dk2"/>
                  </a:solidFill>
                </a:rPr>
                <a:t>x</a:t>
              </a:r>
              <a:r>
                <a:rPr lang="en-GB" sz="1800" baseline="-25000">
                  <a:solidFill>
                    <a:schemeClr val="dk2"/>
                  </a:solidFill>
                </a:rPr>
                <a:t>2</a:t>
              </a:r>
              <a:endParaRPr sz="1800" baseline="-25000">
                <a:solidFill>
                  <a:schemeClr val="dk2"/>
                </a:solidFill>
              </a:endParaRPr>
            </a:p>
          </p:txBody>
        </p:sp>
      </p:grpSp>
      <p:grpSp>
        <p:nvGrpSpPr>
          <p:cNvPr id="977" name="Google Shape;977;p51"/>
          <p:cNvGrpSpPr/>
          <p:nvPr/>
        </p:nvGrpSpPr>
        <p:grpSpPr>
          <a:xfrm>
            <a:off x="5150088" y="1904825"/>
            <a:ext cx="1113500" cy="1465725"/>
            <a:chOff x="3458500" y="1732750"/>
            <a:chExt cx="1113500" cy="1465725"/>
          </a:xfrm>
        </p:grpSpPr>
        <p:sp>
          <p:nvSpPr>
            <p:cNvPr id="978" name="Google Shape;978;p51"/>
            <p:cNvSpPr/>
            <p:nvPr/>
          </p:nvSpPr>
          <p:spPr>
            <a:xfrm>
              <a:off x="3458500" y="1732750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51"/>
            <p:cNvSpPr/>
            <p:nvPr/>
          </p:nvSpPr>
          <p:spPr>
            <a:xfrm>
              <a:off x="3458500" y="23127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51"/>
            <p:cNvSpPr/>
            <p:nvPr/>
          </p:nvSpPr>
          <p:spPr>
            <a:xfrm>
              <a:off x="3458500" y="29665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51"/>
            <p:cNvSpPr/>
            <p:nvPr/>
          </p:nvSpPr>
          <p:spPr>
            <a:xfrm>
              <a:off x="4340100" y="2299600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982" name="Google Shape;982;p51"/>
            <p:cNvCxnSpPr>
              <a:stCxn id="978" idx="6"/>
              <a:endCxn id="981" idx="2"/>
            </p:cNvCxnSpPr>
            <p:nvPr/>
          </p:nvCxnSpPr>
          <p:spPr>
            <a:xfrm>
              <a:off x="3690400" y="1848700"/>
              <a:ext cx="649800" cy="5670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3" name="Google Shape;983;p51"/>
            <p:cNvCxnSpPr>
              <a:stCxn id="979" idx="6"/>
              <a:endCxn id="981" idx="2"/>
            </p:cNvCxnSpPr>
            <p:nvPr/>
          </p:nvCxnSpPr>
          <p:spPr>
            <a:xfrm rot="10800000" flipH="1">
              <a:off x="3690400" y="2415525"/>
              <a:ext cx="649800" cy="13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4" name="Google Shape;984;p51"/>
            <p:cNvCxnSpPr>
              <a:stCxn id="980" idx="6"/>
              <a:endCxn id="981" idx="2"/>
            </p:cNvCxnSpPr>
            <p:nvPr/>
          </p:nvCxnSpPr>
          <p:spPr>
            <a:xfrm rot="10800000" flipH="1">
              <a:off x="3690400" y="2415625"/>
              <a:ext cx="649800" cy="666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85" name="Google Shape;985;p51"/>
          <p:cNvGrpSpPr/>
          <p:nvPr/>
        </p:nvGrpSpPr>
        <p:grpSpPr>
          <a:xfrm>
            <a:off x="3559075" y="2020700"/>
            <a:ext cx="932400" cy="1233975"/>
            <a:chOff x="2526100" y="1848625"/>
            <a:chExt cx="932400" cy="1233975"/>
          </a:xfrm>
        </p:grpSpPr>
        <p:cxnSp>
          <p:nvCxnSpPr>
            <p:cNvPr id="986" name="Google Shape;986;p51"/>
            <p:cNvCxnSpPr/>
            <p:nvPr/>
          </p:nvCxnSpPr>
          <p:spPr>
            <a:xfrm>
              <a:off x="2526100" y="1848700"/>
              <a:ext cx="932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7" name="Google Shape;987;p51"/>
            <p:cNvCxnSpPr/>
            <p:nvPr/>
          </p:nvCxnSpPr>
          <p:spPr>
            <a:xfrm>
              <a:off x="2526100" y="2415550"/>
              <a:ext cx="932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8" name="Google Shape;988;p51"/>
            <p:cNvCxnSpPr/>
            <p:nvPr/>
          </p:nvCxnSpPr>
          <p:spPr>
            <a:xfrm>
              <a:off x="2526100" y="3082525"/>
              <a:ext cx="932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9" name="Google Shape;989;p51"/>
            <p:cNvCxnSpPr/>
            <p:nvPr/>
          </p:nvCxnSpPr>
          <p:spPr>
            <a:xfrm>
              <a:off x="2526100" y="1848825"/>
              <a:ext cx="932400" cy="579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90" name="Google Shape;990;p51"/>
            <p:cNvCxnSpPr/>
            <p:nvPr/>
          </p:nvCxnSpPr>
          <p:spPr>
            <a:xfrm>
              <a:off x="2526100" y="1848625"/>
              <a:ext cx="932400" cy="1233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91" name="Google Shape;991;p51"/>
            <p:cNvCxnSpPr/>
            <p:nvPr/>
          </p:nvCxnSpPr>
          <p:spPr>
            <a:xfrm rot="10800000" flipH="1">
              <a:off x="2526100" y="1848700"/>
              <a:ext cx="932400" cy="579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92" name="Google Shape;992;p51"/>
            <p:cNvCxnSpPr/>
            <p:nvPr/>
          </p:nvCxnSpPr>
          <p:spPr>
            <a:xfrm rot="10800000" flipH="1">
              <a:off x="2526100" y="1848700"/>
              <a:ext cx="932400" cy="1233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93" name="Google Shape;993;p51"/>
            <p:cNvCxnSpPr/>
            <p:nvPr/>
          </p:nvCxnSpPr>
          <p:spPr>
            <a:xfrm>
              <a:off x="2526100" y="2428825"/>
              <a:ext cx="932400" cy="653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94" name="Google Shape;994;p51"/>
            <p:cNvCxnSpPr/>
            <p:nvPr/>
          </p:nvCxnSpPr>
          <p:spPr>
            <a:xfrm rot="10800000" flipH="1">
              <a:off x="2526100" y="2428725"/>
              <a:ext cx="932400" cy="653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95" name="Google Shape;995;p51"/>
          <p:cNvGrpSpPr/>
          <p:nvPr/>
        </p:nvGrpSpPr>
        <p:grpSpPr>
          <a:xfrm>
            <a:off x="2608575" y="1502100"/>
            <a:ext cx="1306800" cy="1766950"/>
            <a:chOff x="2460350" y="1264125"/>
            <a:chExt cx="1306800" cy="1766950"/>
          </a:xfrm>
        </p:grpSpPr>
        <p:sp>
          <p:nvSpPr>
            <p:cNvPr id="996" name="Google Shape;996;p51"/>
            <p:cNvSpPr txBox="1"/>
            <p:nvPr/>
          </p:nvSpPr>
          <p:spPr>
            <a:xfrm>
              <a:off x="3113750" y="1302225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0000FF"/>
                  </a:solidFill>
                </a:rPr>
                <a:t>ẑ</a:t>
              </a:r>
              <a:r>
                <a:rPr lang="en-GB" sz="1800" baseline="-25000">
                  <a:solidFill>
                    <a:srgbClr val="0000FF"/>
                  </a:solidFill>
                </a:rPr>
                <a:t>1</a:t>
              </a:r>
              <a:r>
                <a:rPr lang="en-GB" sz="1800" baseline="30000">
                  <a:solidFill>
                    <a:srgbClr val="0000FF"/>
                  </a:solidFill>
                </a:rPr>
                <a:t>(1)</a:t>
              </a:r>
              <a:endParaRPr sz="1800">
                <a:solidFill>
                  <a:srgbClr val="0000FF"/>
                </a:solidFill>
              </a:endParaRPr>
            </a:p>
          </p:txBody>
        </p:sp>
        <p:sp>
          <p:nvSpPr>
            <p:cNvPr id="997" name="Google Shape;997;p51"/>
            <p:cNvSpPr txBox="1"/>
            <p:nvPr/>
          </p:nvSpPr>
          <p:spPr>
            <a:xfrm>
              <a:off x="3113750" y="1826900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0000FF"/>
                  </a:solidFill>
                </a:rPr>
                <a:t>ẑ</a:t>
              </a:r>
              <a:r>
                <a:rPr lang="en-GB" sz="1800" baseline="-25000">
                  <a:solidFill>
                    <a:srgbClr val="0000FF"/>
                  </a:solidFill>
                </a:rPr>
                <a:t>2</a:t>
              </a:r>
              <a:r>
                <a:rPr lang="en-GB" sz="1800" baseline="30000">
                  <a:solidFill>
                    <a:srgbClr val="0000FF"/>
                  </a:solidFill>
                </a:rPr>
                <a:t>(1)</a:t>
              </a:r>
              <a:endParaRPr sz="1800">
                <a:solidFill>
                  <a:srgbClr val="0000FF"/>
                </a:solidFill>
              </a:endParaRPr>
            </a:p>
          </p:txBody>
        </p:sp>
        <p:sp>
          <p:nvSpPr>
            <p:cNvPr id="998" name="Google Shape;998;p51"/>
            <p:cNvSpPr txBox="1"/>
            <p:nvPr/>
          </p:nvSpPr>
          <p:spPr>
            <a:xfrm>
              <a:off x="3113750" y="2503975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 dirty="0">
                  <a:solidFill>
                    <a:srgbClr val="0000FF"/>
                  </a:solidFill>
                </a:rPr>
                <a:t>ẑ</a:t>
              </a:r>
              <a:r>
                <a:rPr lang="en-GB" sz="1800" baseline="-25000" dirty="0">
                  <a:solidFill>
                    <a:srgbClr val="0000FF"/>
                  </a:solidFill>
                </a:rPr>
                <a:t>3</a:t>
              </a:r>
              <a:r>
                <a:rPr lang="en-GB" sz="1800" baseline="30000" dirty="0">
                  <a:solidFill>
                    <a:srgbClr val="0000FF"/>
                  </a:solidFill>
                </a:rPr>
                <a:t>(1)</a:t>
              </a:r>
              <a:endParaRPr sz="1800" dirty="0">
                <a:solidFill>
                  <a:srgbClr val="0000FF"/>
                </a:solidFill>
              </a:endParaRPr>
            </a:p>
          </p:txBody>
        </p:sp>
        <p:sp>
          <p:nvSpPr>
            <p:cNvPr id="999" name="Google Shape;999;p51"/>
            <p:cNvSpPr txBox="1"/>
            <p:nvPr/>
          </p:nvSpPr>
          <p:spPr>
            <a:xfrm>
              <a:off x="2460350" y="2465875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 dirty="0">
                  <a:solidFill>
                    <a:srgbClr val="FF0000"/>
                  </a:solidFill>
                </a:rPr>
                <a:t>z</a:t>
              </a:r>
              <a:r>
                <a:rPr lang="en-GB" sz="1800" baseline="-25000" dirty="0">
                  <a:solidFill>
                    <a:srgbClr val="FF0000"/>
                  </a:solidFill>
                </a:rPr>
                <a:t>3</a:t>
              </a:r>
              <a:r>
                <a:rPr lang="en-GB" sz="1800" baseline="30000" dirty="0">
                  <a:solidFill>
                    <a:srgbClr val="FF0000"/>
                  </a:solidFill>
                </a:rPr>
                <a:t>(1)</a:t>
              </a:r>
              <a:endParaRPr sz="1800" dirty="0">
                <a:solidFill>
                  <a:srgbClr val="FF0000"/>
                </a:solidFill>
              </a:endParaRPr>
            </a:p>
          </p:txBody>
        </p:sp>
        <p:sp>
          <p:nvSpPr>
            <p:cNvPr id="1000" name="Google Shape;1000;p51"/>
            <p:cNvSpPr txBox="1"/>
            <p:nvPr/>
          </p:nvSpPr>
          <p:spPr>
            <a:xfrm>
              <a:off x="2460350" y="1788800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FF0000"/>
                  </a:solidFill>
                </a:rPr>
                <a:t>z</a:t>
              </a:r>
              <a:r>
                <a:rPr lang="en-GB" sz="1800" baseline="-25000">
                  <a:solidFill>
                    <a:srgbClr val="FF0000"/>
                  </a:solidFill>
                </a:rPr>
                <a:t>2</a:t>
              </a:r>
              <a:r>
                <a:rPr lang="en-GB" sz="1800" baseline="30000">
                  <a:solidFill>
                    <a:srgbClr val="FF0000"/>
                  </a:solidFill>
                </a:rPr>
                <a:t>(1)</a:t>
              </a:r>
              <a:endParaRPr sz="1800">
                <a:solidFill>
                  <a:srgbClr val="FF0000"/>
                </a:solidFill>
              </a:endParaRPr>
            </a:p>
          </p:txBody>
        </p:sp>
        <p:sp>
          <p:nvSpPr>
            <p:cNvPr id="1001" name="Google Shape;1001;p51"/>
            <p:cNvSpPr txBox="1"/>
            <p:nvPr/>
          </p:nvSpPr>
          <p:spPr>
            <a:xfrm>
              <a:off x="2460350" y="1264125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FF0000"/>
                  </a:solidFill>
                </a:rPr>
                <a:t>z</a:t>
              </a:r>
              <a:r>
                <a:rPr lang="en-GB" sz="1800" baseline="-25000">
                  <a:solidFill>
                    <a:srgbClr val="FF0000"/>
                  </a:solidFill>
                </a:rPr>
                <a:t>1</a:t>
              </a:r>
              <a:r>
                <a:rPr lang="en-GB" sz="1800" baseline="30000">
                  <a:solidFill>
                    <a:srgbClr val="FF0000"/>
                  </a:solidFill>
                </a:rPr>
                <a:t>(1)</a:t>
              </a:r>
              <a:endParaRPr sz="1800">
                <a:solidFill>
                  <a:srgbClr val="FF0000"/>
                </a:solidFill>
              </a:endParaRPr>
            </a:p>
          </p:txBody>
        </p:sp>
      </p:grpSp>
      <p:grpSp>
        <p:nvGrpSpPr>
          <p:cNvPr id="1002" name="Google Shape;1002;p51"/>
          <p:cNvGrpSpPr/>
          <p:nvPr/>
        </p:nvGrpSpPr>
        <p:grpSpPr>
          <a:xfrm>
            <a:off x="3327163" y="1904813"/>
            <a:ext cx="231900" cy="1465725"/>
            <a:chOff x="2294125" y="1732750"/>
            <a:chExt cx="231900" cy="1465725"/>
          </a:xfrm>
        </p:grpSpPr>
        <p:sp>
          <p:nvSpPr>
            <p:cNvPr id="1003" name="Google Shape;1003;p51"/>
            <p:cNvSpPr/>
            <p:nvPr/>
          </p:nvSpPr>
          <p:spPr>
            <a:xfrm>
              <a:off x="2294125" y="1732750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51"/>
            <p:cNvSpPr/>
            <p:nvPr/>
          </p:nvSpPr>
          <p:spPr>
            <a:xfrm>
              <a:off x="2294125" y="23127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51"/>
            <p:cNvSpPr/>
            <p:nvPr/>
          </p:nvSpPr>
          <p:spPr>
            <a:xfrm>
              <a:off x="2294125" y="29665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6" name="Google Shape;1006;p51"/>
          <p:cNvGrpSpPr/>
          <p:nvPr/>
        </p:nvGrpSpPr>
        <p:grpSpPr>
          <a:xfrm>
            <a:off x="4466063" y="1904825"/>
            <a:ext cx="231900" cy="1465725"/>
            <a:chOff x="2294125" y="1732750"/>
            <a:chExt cx="231900" cy="1465725"/>
          </a:xfrm>
        </p:grpSpPr>
        <p:sp>
          <p:nvSpPr>
            <p:cNvPr id="1007" name="Google Shape;1007;p51"/>
            <p:cNvSpPr/>
            <p:nvPr/>
          </p:nvSpPr>
          <p:spPr>
            <a:xfrm>
              <a:off x="2294125" y="1732750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51"/>
            <p:cNvSpPr/>
            <p:nvPr/>
          </p:nvSpPr>
          <p:spPr>
            <a:xfrm>
              <a:off x="2294125" y="23127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51"/>
            <p:cNvSpPr/>
            <p:nvPr/>
          </p:nvSpPr>
          <p:spPr>
            <a:xfrm>
              <a:off x="2294125" y="29665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010" name="Google Shape;1010;p51"/>
          <p:cNvCxnSpPr>
            <a:stCxn id="966" idx="6"/>
            <a:endCxn id="1003" idx="2"/>
          </p:cNvCxnSpPr>
          <p:nvPr/>
        </p:nvCxnSpPr>
        <p:spPr>
          <a:xfrm>
            <a:off x="2943100" y="2020763"/>
            <a:ext cx="38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1" name="Google Shape;1011;p51"/>
          <p:cNvCxnSpPr>
            <a:stCxn id="967" idx="6"/>
            <a:endCxn id="1004" idx="2"/>
          </p:cNvCxnSpPr>
          <p:nvPr/>
        </p:nvCxnSpPr>
        <p:spPr>
          <a:xfrm>
            <a:off x="2943100" y="2600788"/>
            <a:ext cx="38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2" name="Google Shape;1012;p51"/>
          <p:cNvCxnSpPr>
            <a:stCxn id="968" idx="6"/>
            <a:endCxn id="1005" idx="2"/>
          </p:cNvCxnSpPr>
          <p:nvPr/>
        </p:nvCxnSpPr>
        <p:spPr>
          <a:xfrm>
            <a:off x="2943100" y="3254588"/>
            <a:ext cx="38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3" name="Google Shape;1013;p51"/>
          <p:cNvCxnSpPr>
            <a:stCxn id="1007" idx="6"/>
            <a:endCxn id="978" idx="2"/>
          </p:cNvCxnSpPr>
          <p:nvPr/>
        </p:nvCxnSpPr>
        <p:spPr>
          <a:xfrm>
            <a:off x="4697963" y="2020775"/>
            <a:ext cx="452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4" name="Google Shape;1014;p51"/>
          <p:cNvCxnSpPr>
            <a:stCxn id="1008" idx="6"/>
            <a:endCxn id="979" idx="2"/>
          </p:cNvCxnSpPr>
          <p:nvPr/>
        </p:nvCxnSpPr>
        <p:spPr>
          <a:xfrm>
            <a:off x="4697963" y="2600800"/>
            <a:ext cx="452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5" name="Google Shape;1015;p51"/>
          <p:cNvCxnSpPr>
            <a:stCxn id="1009" idx="6"/>
            <a:endCxn id="980" idx="2"/>
          </p:cNvCxnSpPr>
          <p:nvPr/>
        </p:nvCxnSpPr>
        <p:spPr>
          <a:xfrm>
            <a:off x="4697963" y="3254600"/>
            <a:ext cx="452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16" name="Google Shape;1016;p51"/>
          <p:cNvSpPr txBox="1"/>
          <p:nvPr/>
        </p:nvSpPr>
        <p:spPr>
          <a:xfrm>
            <a:off x="5096225" y="1509413"/>
            <a:ext cx="653400" cy="5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ẑ</a:t>
            </a:r>
            <a:r>
              <a:rPr lang="en-GB" sz="1800" baseline="30000">
                <a:solidFill>
                  <a:schemeClr val="dk1"/>
                </a:solidFill>
              </a:rPr>
              <a:t>(2)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1017" name="Google Shape;1017;p51"/>
          <p:cNvSpPr txBox="1"/>
          <p:nvPr/>
        </p:nvSpPr>
        <p:spPr>
          <a:xfrm>
            <a:off x="6263625" y="2292725"/>
            <a:ext cx="854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y=f(x)</a:t>
            </a:r>
          </a:p>
        </p:txBody>
      </p:sp>
      <p:sp>
        <p:nvSpPr>
          <p:cNvPr id="1018" name="Google Shape;1018;p51"/>
          <p:cNvSpPr txBox="1"/>
          <p:nvPr/>
        </p:nvSpPr>
        <p:spPr>
          <a:xfrm>
            <a:off x="197625" y="3542599"/>
            <a:ext cx="6128700" cy="1098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rgbClr val="595959"/>
                </a:solidFill>
              </a:rPr>
              <a:t>To verify for all x ∈ S,    y &gt; 0  ∧  y = f(x) we solve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rgbClr val="595959"/>
                </a:solidFill>
              </a:rPr>
              <a:t>Does there exist x, </a:t>
            </a:r>
            <a:r>
              <a:rPr lang="en-GB" sz="2000" dirty="0" err="1">
                <a:solidFill>
                  <a:srgbClr val="595959"/>
                </a:solidFill>
              </a:rPr>
              <a:t>s.t.</a:t>
            </a:r>
            <a:r>
              <a:rPr lang="en-GB" sz="2000" dirty="0">
                <a:solidFill>
                  <a:srgbClr val="595959"/>
                </a:solidFill>
              </a:rPr>
              <a:t>  x ∈ S  ∧  y ≤ 0  ∧  y = f(x) </a:t>
            </a:r>
            <a:endParaRPr sz="2000" dirty="0">
              <a:solidFill>
                <a:srgbClr val="595959"/>
              </a:solidFill>
            </a:endParaRPr>
          </a:p>
        </p:txBody>
      </p:sp>
      <p:sp>
        <p:nvSpPr>
          <p:cNvPr id="1019" name="Google Shape;1019;p51"/>
          <p:cNvSpPr txBox="1"/>
          <p:nvPr/>
        </p:nvSpPr>
        <p:spPr>
          <a:xfrm>
            <a:off x="3717113" y="4466659"/>
            <a:ext cx="2413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Negation of the desired property</a:t>
            </a: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1020" name="Google Shape;1020;p51"/>
          <p:cNvSpPr txBox="1"/>
          <p:nvPr/>
        </p:nvSpPr>
        <p:spPr>
          <a:xfrm>
            <a:off x="5934764" y="4147280"/>
            <a:ext cx="180171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Defines the neural network</a:t>
            </a: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1021" name="Google Shape;1021;p51"/>
          <p:cNvSpPr txBox="1"/>
          <p:nvPr/>
        </p:nvSpPr>
        <p:spPr>
          <a:xfrm>
            <a:off x="911579" y="4485122"/>
            <a:ext cx="2413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Input domain under consideration</a:t>
            </a:r>
            <a:endParaRPr sz="1800" dirty="0">
              <a:solidFill>
                <a:schemeClr val="dk2"/>
              </a:solidFill>
            </a:endParaRPr>
          </a:p>
        </p:txBody>
      </p:sp>
      <p:cxnSp>
        <p:nvCxnSpPr>
          <p:cNvPr id="1022" name="Google Shape;1022;p51"/>
          <p:cNvCxnSpPr>
            <a:cxnSpLocks/>
            <a:stCxn id="1021" idx="0"/>
          </p:cNvCxnSpPr>
          <p:nvPr/>
        </p:nvCxnSpPr>
        <p:spPr>
          <a:xfrm flipV="1">
            <a:off x="2118479" y="4265637"/>
            <a:ext cx="1090758" cy="219485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3" name="Google Shape;1023;p51"/>
          <p:cNvCxnSpPr>
            <a:cxnSpLocks/>
          </p:cNvCxnSpPr>
          <p:nvPr/>
        </p:nvCxnSpPr>
        <p:spPr>
          <a:xfrm flipH="1" flipV="1">
            <a:off x="4229939" y="4319556"/>
            <a:ext cx="177861" cy="206294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4" name="Google Shape;1024;p51"/>
          <p:cNvCxnSpPr/>
          <p:nvPr/>
        </p:nvCxnSpPr>
        <p:spPr>
          <a:xfrm rot="10800000">
            <a:off x="5819639" y="4146155"/>
            <a:ext cx="1132500" cy="17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1025" name="Google Shape;1025;p51"/>
          <p:cNvPicPr preferRelativeResize="0"/>
          <p:nvPr/>
        </p:nvPicPr>
        <p:blipFill rotWithShape="1">
          <a:blip r:embed="rId3"/>
          <a:srcRect l="14039" t="9153" r="55651" b="45213"/>
          <a:stretch>
            <a:fillRect/>
          </a:stretch>
        </p:blipFill>
        <p:spPr>
          <a:xfrm>
            <a:off x="65350" y="2149108"/>
            <a:ext cx="653399" cy="655637"/>
          </a:xfrm>
          <a:prstGeom prst="rect">
            <a:avLst/>
          </a:prstGeom>
          <a:noFill/>
          <a:ln>
            <a:noFill/>
          </a:ln>
        </p:spPr>
      </p:pic>
      <p:sp>
        <p:nvSpPr>
          <p:cNvPr id="1026" name="Google Shape;1026;p51"/>
          <p:cNvSpPr/>
          <p:nvPr/>
        </p:nvSpPr>
        <p:spPr>
          <a:xfrm>
            <a:off x="326074" y="2577622"/>
            <a:ext cx="184200" cy="90900"/>
          </a:xfrm>
          <a:prstGeom prst="rect">
            <a:avLst/>
          </a:prstGeom>
          <a:gradFill>
            <a:gsLst>
              <a:gs pos="0">
                <a:srgbClr val="FFFF00"/>
              </a:gs>
              <a:gs pos="100000">
                <a:srgbClr val="4A86E8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00FF00"/>
              </a:solidFill>
            </a:endParaRPr>
          </a:p>
        </p:txBody>
      </p:sp>
      <p:grpSp>
        <p:nvGrpSpPr>
          <p:cNvPr id="1027" name="Google Shape;1027;p51"/>
          <p:cNvGrpSpPr/>
          <p:nvPr/>
        </p:nvGrpSpPr>
        <p:grpSpPr>
          <a:xfrm>
            <a:off x="7118059" y="1335925"/>
            <a:ext cx="1427550" cy="1873725"/>
            <a:chOff x="5659759" y="914325"/>
            <a:chExt cx="1427550" cy="1873725"/>
          </a:xfrm>
        </p:grpSpPr>
        <p:grpSp>
          <p:nvGrpSpPr>
            <p:cNvPr id="1028" name="Google Shape;1028;p51"/>
            <p:cNvGrpSpPr/>
            <p:nvPr/>
          </p:nvGrpSpPr>
          <p:grpSpPr>
            <a:xfrm>
              <a:off x="6177300" y="1265650"/>
              <a:ext cx="791100" cy="776775"/>
              <a:chOff x="5901775" y="3443650"/>
              <a:chExt cx="791100" cy="776775"/>
            </a:xfrm>
          </p:grpSpPr>
          <p:cxnSp>
            <p:nvCxnSpPr>
              <p:cNvPr id="1029" name="Google Shape;1029;p51"/>
              <p:cNvCxnSpPr/>
              <p:nvPr/>
            </p:nvCxnSpPr>
            <p:spPr>
              <a:xfrm>
                <a:off x="5901775" y="3443650"/>
                <a:ext cx="7911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dash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30" name="Google Shape;1030;p51"/>
              <p:cNvCxnSpPr/>
              <p:nvPr/>
            </p:nvCxnSpPr>
            <p:spPr>
              <a:xfrm>
                <a:off x="5921600" y="4220425"/>
                <a:ext cx="771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dash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31" name="Google Shape;1031;p51"/>
              <p:cNvCxnSpPr/>
              <p:nvPr/>
            </p:nvCxnSpPr>
            <p:spPr>
              <a:xfrm>
                <a:off x="6097825" y="3451325"/>
                <a:ext cx="0" cy="7635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triangle" w="med" len="med"/>
                <a:tailEnd type="triangle" w="med" len="med"/>
              </a:ln>
            </p:spPr>
          </p:cxnSp>
        </p:grpSp>
        <p:sp>
          <p:nvSpPr>
            <p:cNvPr id="1032" name="Google Shape;1032;p51"/>
            <p:cNvSpPr txBox="1"/>
            <p:nvPr/>
          </p:nvSpPr>
          <p:spPr>
            <a:xfrm>
              <a:off x="6265609" y="2203050"/>
              <a:ext cx="821700" cy="58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300" b="1">
                  <a:solidFill>
                    <a:srgbClr val="000000"/>
                  </a:solidFill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Speed Limit</a:t>
              </a:r>
              <a:endParaRPr sz="1300"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endParaRPr>
            </a:p>
          </p:txBody>
        </p:sp>
        <p:grpSp>
          <p:nvGrpSpPr>
            <p:cNvPr id="1033" name="Google Shape;1033;p51"/>
            <p:cNvGrpSpPr/>
            <p:nvPr/>
          </p:nvGrpSpPr>
          <p:grpSpPr>
            <a:xfrm>
              <a:off x="5719109" y="1258075"/>
              <a:ext cx="1005412" cy="1346825"/>
              <a:chOff x="551310" y="2116700"/>
              <a:chExt cx="897850" cy="1346825"/>
            </a:xfrm>
          </p:grpSpPr>
          <p:sp>
            <p:nvSpPr>
              <p:cNvPr id="1034" name="Google Shape;1034;p51"/>
              <p:cNvSpPr/>
              <p:nvPr/>
            </p:nvSpPr>
            <p:spPr>
              <a:xfrm>
                <a:off x="1263460" y="2906705"/>
                <a:ext cx="185700" cy="165000"/>
              </a:xfrm>
              <a:prstGeom prst="rect">
                <a:avLst/>
              </a:prstGeom>
              <a:solidFill>
                <a:srgbClr val="F9CB9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35" name="Google Shape;1035;p51"/>
              <p:cNvGrpSpPr/>
              <p:nvPr/>
            </p:nvGrpSpPr>
            <p:grpSpPr>
              <a:xfrm>
                <a:off x="551310" y="2116700"/>
                <a:ext cx="644100" cy="1346825"/>
                <a:chOff x="551310" y="2116700"/>
                <a:chExt cx="644100" cy="1346825"/>
              </a:xfrm>
            </p:grpSpPr>
            <p:sp>
              <p:nvSpPr>
                <p:cNvPr id="1036" name="Google Shape;1036;p51"/>
                <p:cNvSpPr/>
                <p:nvPr/>
              </p:nvSpPr>
              <p:spPr>
                <a:xfrm>
                  <a:off x="780510" y="2116700"/>
                  <a:ext cx="185700" cy="961800"/>
                </a:xfrm>
                <a:prstGeom prst="rect">
                  <a:avLst/>
                </a:prstGeom>
                <a:solidFill>
                  <a:srgbClr val="D9EAD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37" name="Google Shape;1037;p51"/>
                <p:cNvSpPr txBox="1"/>
                <p:nvPr/>
              </p:nvSpPr>
              <p:spPr>
                <a:xfrm>
                  <a:off x="551310" y="3078625"/>
                  <a:ext cx="644100" cy="384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GB" sz="1300" b="1">
                      <a:solidFill>
                        <a:srgbClr val="000000"/>
                      </a:solidFill>
                      <a:latin typeface="Georgia" panose="02040502050405020303"/>
                      <a:ea typeface="Georgia" panose="02040502050405020303"/>
                      <a:cs typeface="Georgia" panose="02040502050405020303"/>
                      <a:sym typeface="Georgia" panose="02040502050405020303"/>
                    </a:rPr>
                    <a:t>Stop</a:t>
                  </a:r>
                  <a:endParaRPr sz="1300">
                    <a:latin typeface="Georgia" panose="02040502050405020303"/>
                    <a:ea typeface="Georgia" panose="02040502050405020303"/>
                    <a:cs typeface="Georgia" panose="02040502050405020303"/>
                    <a:sym typeface="Georgia" panose="02040502050405020303"/>
                  </a:endParaRPr>
                </a:p>
              </p:txBody>
            </p:sp>
          </p:grpSp>
        </p:grpSp>
        <p:sp>
          <p:nvSpPr>
            <p:cNvPr id="1038" name="Google Shape;1038;p51"/>
            <p:cNvSpPr txBox="1"/>
            <p:nvPr/>
          </p:nvSpPr>
          <p:spPr>
            <a:xfrm>
              <a:off x="5659759" y="914325"/>
              <a:ext cx="7869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0.9</a:t>
              </a:r>
              <a:endParaRPr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endParaRPr>
            </a:p>
          </p:txBody>
        </p:sp>
        <p:sp>
          <p:nvSpPr>
            <p:cNvPr id="1039" name="Google Shape;1039;p51"/>
            <p:cNvSpPr txBox="1"/>
            <p:nvPr/>
          </p:nvSpPr>
          <p:spPr>
            <a:xfrm>
              <a:off x="6278174" y="1706363"/>
              <a:ext cx="7212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0.1</a:t>
              </a:r>
              <a:endParaRPr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endParaRPr>
            </a:p>
          </p:txBody>
        </p:sp>
      </p:grpSp>
      <p:pic>
        <p:nvPicPr>
          <p:cNvPr id="2" name="Google Shape;943;p49">
            <a:extLst>
              <a:ext uri="{FF2B5EF4-FFF2-40B4-BE49-F238E27FC236}">
                <a16:creationId xmlns:a16="http://schemas.microsoft.com/office/drawing/2014/main" id="{1E99D9BC-FFFF-22D9-3342-44B6B7F4B62B}"/>
              </a:ext>
            </a:extLst>
          </p:cNvPr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8031150" y="3191926"/>
            <a:ext cx="1002725" cy="783890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E6F5C47-B9DC-5EF6-9D74-ED5562BF51EE}"/>
                  </a:ext>
                </a:extLst>
              </p:cNvPr>
              <p:cNvSpPr txBox="1"/>
              <p:nvPr/>
            </p:nvSpPr>
            <p:spPr>
              <a:xfrm>
                <a:off x="8287825" y="3981199"/>
                <a:ext cx="856175" cy="3908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GB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E6F5C47-B9DC-5EF6-9D74-ED5562BF51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7825" y="3981199"/>
                <a:ext cx="856175" cy="390876"/>
              </a:xfrm>
              <a:prstGeom prst="rect">
                <a:avLst/>
              </a:prstGeom>
              <a:blipFill>
                <a:blip r:embed="rId5"/>
                <a:stretch>
                  <a:fillRect b="-3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Google Shape;998;p51">
                <a:extLst>
                  <a:ext uri="{FF2B5EF4-FFF2-40B4-BE49-F238E27FC236}">
                    <a16:creationId xmlns:a16="http://schemas.microsoft.com/office/drawing/2014/main" id="{2EA269C8-BE8E-9D54-40FC-95FB6EFF61D8}"/>
                  </a:ext>
                </a:extLst>
              </p:cNvPr>
              <p:cNvSpPr txBox="1"/>
              <p:nvPr/>
            </p:nvSpPr>
            <p:spPr>
              <a:xfrm>
                <a:off x="7654327" y="3350258"/>
                <a:ext cx="653400" cy="52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sz="12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5" name="Google Shape;998;p51">
                <a:extLst>
                  <a:ext uri="{FF2B5EF4-FFF2-40B4-BE49-F238E27FC236}">
                    <a16:creationId xmlns:a16="http://schemas.microsoft.com/office/drawing/2014/main" id="{2EA269C8-BE8E-9D54-40FC-95FB6EFF61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327" y="3350258"/>
                <a:ext cx="653400" cy="5271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8" grpId="0"/>
      <p:bldP spid="1019" grpId="0"/>
      <p:bldP spid="1020" grpId="0"/>
      <p:bldP spid="10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50"/>
          <p:cNvSpPr/>
          <p:nvPr/>
        </p:nvSpPr>
        <p:spPr>
          <a:xfrm>
            <a:off x="912725" y="1637050"/>
            <a:ext cx="6741300" cy="1517400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49" name="Google Shape;949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 Light" panose="020F0302020204030204" pitchFamily="34" charset="0"/>
                <a:cs typeface="Calibri Light" panose="020F0302020204030204" pitchFamily="34" charset="0"/>
              </a:rPr>
              <a:t>Verification of neural networks</a:t>
            </a:r>
          </a:p>
        </p:txBody>
      </p:sp>
      <p:sp>
        <p:nvSpPr>
          <p:cNvPr id="950" name="Google Shape;950;p50"/>
          <p:cNvSpPr txBox="1"/>
          <p:nvPr/>
        </p:nvSpPr>
        <p:spPr>
          <a:xfrm>
            <a:off x="939525" y="1017713"/>
            <a:ext cx="65313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Satisfiability problem: ∃ x ∈ S  ∧  y ≤ 0  ∧  y = f(x) </a:t>
            </a:r>
            <a:endParaRPr sz="200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51" name="Google Shape;951;p50"/>
          <p:cNvSpPr txBox="1"/>
          <p:nvPr/>
        </p:nvSpPr>
        <p:spPr>
          <a:xfrm>
            <a:off x="939525" y="2042425"/>
            <a:ext cx="75429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((z</a:t>
            </a:r>
            <a:r>
              <a:rPr lang="en-GB" sz="1800" baseline="-25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(i) 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≥ 0 ∧ ẑ</a:t>
            </a:r>
            <a:r>
              <a:rPr lang="en-GB" sz="1800" baseline="-25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(i)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= z</a:t>
            </a:r>
            <a:r>
              <a:rPr lang="en-GB" sz="1800" baseline="-25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(i)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 </a:t>
            </a:r>
            <a:r>
              <a:rPr lang="en-GB" sz="1800">
                <a:solidFill>
                  <a:srgbClr val="BD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∨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(z</a:t>
            </a:r>
            <a:r>
              <a:rPr lang="en-GB" sz="1800" baseline="-25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(i) 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&lt;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0 ∧ ẑ</a:t>
            </a:r>
            <a:r>
              <a:rPr lang="en-GB" sz="1800" baseline="-25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(i)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= 0))  for each ReLU neuron</a:t>
            </a:r>
            <a:endParaRPr sz="180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52" name="Google Shape;952;p50"/>
          <p:cNvSpPr txBox="1"/>
          <p:nvPr/>
        </p:nvSpPr>
        <p:spPr>
          <a:xfrm>
            <a:off x="939525" y="2646500"/>
            <a:ext cx="71640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z</a:t>
            </a:r>
            <a:r>
              <a:rPr lang="en-GB" sz="21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=W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(1)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x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   </a:t>
            </a:r>
            <a:r>
              <a:rPr lang="en-GB" sz="21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∧</a:t>
            </a:r>
            <a:r>
              <a:rPr lang="en-GB" sz="21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        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z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(2)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=W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(2)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ẑ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(1)</a:t>
            </a:r>
            <a:r>
              <a:rPr lang="en-GB" sz="21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    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∧</a:t>
            </a:r>
            <a:r>
              <a:rPr lang="en-GB" sz="21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   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y=w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(3)T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ẑ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(2)   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∧   y ≤ 0 </a:t>
            </a:r>
            <a:endParaRPr sz="2100" baseline="3000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53" name="Google Shape;953;p50"/>
          <p:cNvSpPr txBox="1"/>
          <p:nvPr/>
        </p:nvSpPr>
        <p:spPr>
          <a:xfrm>
            <a:off x="939525" y="3254913"/>
            <a:ext cx="65313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Add all clauses to the formula and solve using DPLL(T) with Linear Real Arithmetic.</a:t>
            </a:r>
            <a:endParaRPr sz="200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54" name="Google Shape;954;p50"/>
          <p:cNvSpPr txBox="1"/>
          <p:nvPr/>
        </p:nvSpPr>
        <p:spPr>
          <a:xfrm>
            <a:off x="939525" y="3998063"/>
            <a:ext cx="65313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In general this is very slow! </a:t>
            </a:r>
            <a:endParaRPr sz="20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55" name="Google Shape;955;p50"/>
          <p:cNvSpPr txBox="1"/>
          <p:nvPr/>
        </p:nvSpPr>
        <p:spPr>
          <a:xfrm>
            <a:off x="957125" y="1565450"/>
            <a:ext cx="5413500" cy="697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x</a:t>
            </a:r>
            <a:r>
              <a:rPr lang="en-GB" sz="20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≤ u</a:t>
            </a:r>
            <a:r>
              <a:rPr lang="en-GB" sz="20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  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∧ x</a:t>
            </a:r>
            <a:r>
              <a:rPr lang="en-GB" sz="20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z="18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≥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l</a:t>
            </a:r>
            <a:r>
              <a:rPr lang="en-GB" sz="20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 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for each dimension of x</a:t>
            </a:r>
            <a:endParaRPr sz="180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aseline="-2500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2" name="Google Shape;943;p49">
            <a:extLst>
              <a:ext uri="{FF2B5EF4-FFF2-40B4-BE49-F238E27FC236}">
                <a16:creationId xmlns:a16="http://schemas.microsoft.com/office/drawing/2014/main" id="{3DA676A5-91F2-44ED-39C0-AB1DFDDA06CE}"/>
              </a:ext>
            </a:extLst>
          </p:cNvPr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8031150" y="3191926"/>
            <a:ext cx="1002725" cy="783890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1EF5B0C-588F-E8DD-5C0C-A7EA29447A28}"/>
                  </a:ext>
                </a:extLst>
              </p:cNvPr>
              <p:cNvSpPr txBox="1"/>
              <p:nvPr/>
            </p:nvSpPr>
            <p:spPr>
              <a:xfrm>
                <a:off x="8287825" y="3981199"/>
                <a:ext cx="856175" cy="3908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GB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1EF5B0C-588F-E8DD-5C0C-A7EA29447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7825" y="3981199"/>
                <a:ext cx="856175" cy="390876"/>
              </a:xfrm>
              <a:prstGeom prst="rect">
                <a:avLst/>
              </a:prstGeom>
              <a:blipFill>
                <a:blip r:embed="rId4"/>
                <a:stretch>
                  <a:fillRect b="-3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Google Shape;998;p51">
                <a:extLst>
                  <a:ext uri="{FF2B5EF4-FFF2-40B4-BE49-F238E27FC236}">
                    <a16:creationId xmlns:a16="http://schemas.microsoft.com/office/drawing/2014/main" id="{90289886-8EAD-4ACB-60C3-40D5D1584001}"/>
                  </a:ext>
                </a:extLst>
              </p:cNvPr>
              <p:cNvSpPr txBox="1"/>
              <p:nvPr/>
            </p:nvSpPr>
            <p:spPr>
              <a:xfrm>
                <a:off x="7654327" y="3350258"/>
                <a:ext cx="653400" cy="52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sz="12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4" name="Google Shape;998;p51">
                <a:extLst>
                  <a:ext uri="{FF2B5EF4-FFF2-40B4-BE49-F238E27FC236}">
                    <a16:creationId xmlns:a16="http://schemas.microsoft.com/office/drawing/2014/main" id="{90289886-8EAD-4ACB-60C3-40D5D15840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327" y="3350258"/>
                <a:ext cx="653400" cy="5271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6139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Reluplex</a:t>
            </a:r>
            <a:r>
              <a:rPr lang="en-US" dirty="0"/>
              <a:t>: Decision Procedure for </a:t>
            </a:r>
            <a:r>
              <a:rPr lang="en-US" dirty="0" err="1"/>
              <a:t>ReLU</a:t>
            </a:r>
            <a:r>
              <a:rPr lang="en-US" dirty="0"/>
              <a:t> NNs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Input:</a:t>
                </a:r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/>
                  <a:t>in </a:t>
                </a:r>
                <a:r>
                  <a:rPr lang="en-US" dirty="0" err="1"/>
                  <a:t>Reluplex</a:t>
                </a:r>
                <a:r>
                  <a:rPr lang="en-US" dirty="0"/>
                  <a:t> form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Output: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∃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such that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Delay case splitting on </a:t>
                </a:r>
                <a:r>
                  <a:rPr lang="en-US" dirty="0" err="1"/>
                  <a:t>ReLUs</a:t>
                </a:r>
                <a:endParaRPr lang="en-US" dirty="0"/>
              </a:p>
              <a:p>
                <a:r>
                  <a:rPr lang="en-US" dirty="0"/>
                  <a:t>In the worst case it is still exponential, but has been shown to be empirically better than DPLL</a:t>
                </a:r>
                <a:r>
                  <a:rPr lang="en-US" baseline="30000" dirty="0"/>
                  <a:t>LRA 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3"/>
                <a:stretch>
                  <a:fillRect b="7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6F68BD8-7DDE-5C58-E4A9-E5D433B0C613}"/>
              </a:ext>
            </a:extLst>
          </p:cNvPr>
          <p:cNvSpPr txBox="1"/>
          <p:nvPr/>
        </p:nvSpPr>
        <p:spPr>
          <a:xfrm>
            <a:off x="311700" y="4487334"/>
            <a:ext cx="5240537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100" b="1" i="0" dirty="0" err="1">
                <a:solidFill>
                  <a:srgbClr val="000000"/>
                </a:solidFill>
                <a:effectLst/>
                <a:latin typeface="Lucida Grande" panose="020B0600040502020204" pitchFamily="34" charset="0"/>
              </a:rPr>
              <a:t>Reluplex</a:t>
            </a:r>
            <a:r>
              <a:rPr lang="en-US" sz="1100" b="1" i="0" dirty="0">
                <a:solidFill>
                  <a:srgbClr val="000000"/>
                </a:solidFill>
                <a:effectLst/>
                <a:latin typeface="Lucida Grande" panose="020B0600040502020204" pitchFamily="34" charset="0"/>
              </a:rPr>
              <a:t>: An Efficient SMT Solver for Verifying Deep Neural Networks</a:t>
            </a:r>
          </a:p>
          <a:p>
            <a:pPr algn="l"/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Lucida Grande" panose="020B0600040502020204" pitchFamily="34" charset="0"/>
                <a:hlinkClick r:id="rId4"/>
              </a:rPr>
              <a:t>Guy Katz</a:t>
            </a:r>
            <a:r>
              <a:rPr lang="en-US" sz="1100" b="0" i="0" dirty="0">
                <a:solidFill>
                  <a:srgbClr val="000000"/>
                </a:solidFill>
                <a:effectLst/>
                <a:latin typeface="Lucida Grande" panose="020B0600040502020204" pitchFamily="34" charset="0"/>
              </a:rPr>
              <a:t>, </a:t>
            </a: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Lucida Grande" panose="020B0600040502020204" pitchFamily="34" charset="0"/>
                <a:hlinkClick r:id="rId5"/>
              </a:rPr>
              <a:t>Clark Barrett</a:t>
            </a:r>
            <a:r>
              <a:rPr lang="en-US" sz="1100" b="0" i="0" dirty="0">
                <a:solidFill>
                  <a:srgbClr val="000000"/>
                </a:solidFill>
                <a:effectLst/>
                <a:latin typeface="Lucida Grande" panose="020B0600040502020204" pitchFamily="34" charset="0"/>
              </a:rPr>
              <a:t>, </a:t>
            </a: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Lucida Grande" panose="020B0600040502020204" pitchFamily="34" charset="0"/>
                <a:hlinkClick r:id="rId6"/>
              </a:rPr>
              <a:t>David Dill</a:t>
            </a:r>
            <a:r>
              <a:rPr lang="en-US" sz="1100" b="0" i="0" dirty="0">
                <a:solidFill>
                  <a:srgbClr val="000000"/>
                </a:solidFill>
                <a:effectLst/>
                <a:latin typeface="Lucida Grande" panose="020B0600040502020204" pitchFamily="34" charset="0"/>
              </a:rPr>
              <a:t>, </a:t>
            </a: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Lucida Grande" panose="020B0600040502020204" pitchFamily="34" charset="0"/>
                <a:hlinkClick r:id="rId7"/>
              </a:rPr>
              <a:t>Kyle Julian</a:t>
            </a:r>
            <a:r>
              <a:rPr lang="en-US" sz="1100" b="0" i="0" dirty="0">
                <a:solidFill>
                  <a:srgbClr val="000000"/>
                </a:solidFill>
                <a:effectLst/>
                <a:latin typeface="Lucida Grande" panose="020B0600040502020204" pitchFamily="34" charset="0"/>
              </a:rPr>
              <a:t>, </a:t>
            </a: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Lucida Grande" panose="020B0600040502020204" pitchFamily="34" charset="0"/>
                <a:hlinkClick r:id="rId8"/>
              </a:rPr>
              <a:t>Mykel Kochenderfer</a:t>
            </a: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Lucida Grande" panose="020B0600040502020204" pitchFamily="34" charset="0"/>
              </a:rPr>
              <a:t>, 2017</a:t>
            </a:r>
            <a:endParaRPr lang="en-US" sz="1100" b="0" i="0" dirty="0">
              <a:solidFill>
                <a:srgbClr val="000000"/>
              </a:solidFill>
              <a:effectLst/>
              <a:latin typeface="Lucida Grande" panose="020B0600040502020204" pitchFamily="34" charset="0"/>
            </a:endParaRPr>
          </a:p>
          <a:p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Reluplex</a:t>
            </a:r>
            <a:r>
              <a:rPr lang="en-US" dirty="0"/>
              <a:t> Decision Procedure for </a:t>
            </a:r>
            <a:r>
              <a:rPr lang="en-US" dirty="0" err="1"/>
              <a:t>ReLU</a:t>
            </a:r>
            <a:r>
              <a:rPr lang="en-US" dirty="0"/>
              <a:t> NNs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Input:</a:t>
                </a:r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/>
                  <a:t>in </a:t>
                </a:r>
                <a:r>
                  <a:rPr lang="en-US" dirty="0" err="1"/>
                  <a:t>Reluplex</a:t>
                </a:r>
                <a:r>
                  <a:rPr lang="en-US" dirty="0"/>
                  <a:t> form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Output: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∃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such that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 err="1"/>
                  <a:t>Reluplex</a:t>
                </a:r>
                <a:r>
                  <a:rPr lang="en-US" dirty="0"/>
                  <a:t> form (Recall Simplex form)</a:t>
                </a:r>
              </a:p>
              <a:p>
                <a:r>
                  <a:rPr lang="en-US" dirty="0"/>
                  <a:t>Equations (same as Simplex)</a:t>
                </a:r>
              </a:p>
              <a:p>
                <a:r>
                  <a:rPr lang="en-US" dirty="0"/>
                  <a:t>Bounds (same as Simplex)</a:t>
                </a:r>
              </a:p>
              <a:p>
                <a:r>
                  <a:rPr lang="en-US" dirty="0" err="1"/>
                  <a:t>Relu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𝑟𝑒𝑙𝑢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Given conjunction of inequalities and </a:t>
                </a:r>
                <a:r>
                  <a:rPr lang="en-US" dirty="0" err="1"/>
                  <a:t>ReLU</a:t>
                </a:r>
                <a:r>
                  <a:rPr lang="en-US" dirty="0"/>
                  <a:t> constraints we can convert them to </a:t>
                </a:r>
                <a:r>
                  <a:rPr lang="en-US" dirty="0" err="1"/>
                  <a:t>Reluplex</a:t>
                </a:r>
                <a:r>
                  <a:rPr lang="en-US" dirty="0"/>
                  <a:t> form and 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≥0.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5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99489"/>
            <a:ext cx="7886700" cy="528194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Reluplex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476574"/>
                <a:ext cx="6671053" cy="4666927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/>
                  <a:t>Input</a:t>
                </a:r>
                <a:r>
                  <a:rPr lang="en-US" sz="1350" dirty="0"/>
                  <a:t>: A formula </a:t>
                </a:r>
                <a14:m>
                  <m:oMath xmlns:m="http://schemas.openxmlformats.org/officeDocument/2006/math">
                    <m:r>
                      <a:rPr lang="en-US" sz="135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1350" dirty="0"/>
                  <a:t> in </a:t>
                </a:r>
                <a:r>
                  <a:rPr lang="en-US" sz="1350" dirty="0" err="1"/>
                  <a:t>Reluplex</a:t>
                </a:r>
                <a:r>
                  <a:rPr lang="en-US" sz="1350" dirty="0"/>
                  <a:t> form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/>
                  <a:t>Output</a:t>
                </a:r>
                <a:r>
                  <a:rPr lang="en-US" sz="1350" dirty="0"/>
                  <a:t>: </a:t>
                </a:r>
                <a14:m>
                  <m:oMath xmlns:m="http://schemas.openxmlformats.org/officeDocument/2006/math">
                    <m:r>
                      <a:rPr lang="en-US" sz="135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1350" dirty="0"/>
                  <a:t> or UNSAT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135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350" b="1" i="1"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⟨</m:t>
                    </m:r>
                    <m:sSub>
                      <m:sSub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350" i="1">
                        <a:latin typeface="Cambria Math" panose="02040503050406030204" pitchFamily="18" charset="0"/>
                      </a:rPr>
                      <m:t>↦0⟩</m:t>
                    </m:r>
                  </m:oMath>
                </a14:m>
                <a:r>
                  <a:rPr lang="en-US" sz="1350" dirty="0"/>
                  <a:t>; </a:t>
                </a:r>
                <a14:m>
                  <m:oMath xmlns:m="http://schemas.openxmlformats.org/officeDocument/2006/math">
                    <m:r>
                      <a:rPr lang="en-US" sz="135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350" dirty="0"/>
                  <a:t>:= non </a:t>
                </a:r>
                <a:r>
                  <a:rPr lang="en-US" sz="1350" dirty="0" err="1"/>
                  <a:t>ReLU</a:t>
                </a:r>
                <a:r>
                  <a:rPr lang="en-US" sz="1350" dirty="0"/>
                  <a:t> part of </a:t>
                </a:r>
                <a14:m>
                  <m:oMath xmlns:m="http://schemas.openxmlformats.org/officeDocument/2006/math">
                    <m:r>
                      <a:rPr lang="en-US" sz="135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endParaRPr lang="en-US" sz="135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/>
                  <a:t>while</a:t>
                </a:r>
                <a:r>
                  <a:rPr lang="en-US" sz="1350" dirty="0"/>
                  <a:t> true </a:t>
                </a:r>
                <a:r>
                  <a:rPr lang="en-US" sz="1350" b="1" dirty="0"/>
                  <a:t>do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/>
                  <a:t> </a:t>
                </a:r>
                <a14:m>
                  <m:oMath xmlns:m="http://schemas.openxmlformats.org/officeDocument/2006/math">
                    <m:r>
                      <a:rPr lang="en-US" sz="135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𝑆𝑖𝑚𝑝𝑙𝑒𝑥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35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35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35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/>
                  <a:t>  if</a:t>
                </a:r>
                <a:r>
                  <a:rPr lang="en-US" sz="135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350"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r>
                  <a:rPr lang="en-US" sz="1350" b="1" dirty="0"/>
                  <a:t> is </a:t>
                </a:r>
                <a:r>
                  <a:rPr lang="en-US" sz="1350" b="1" dirty="0" err="1"/>
                  <a:t>unsat</a:t>
                </a:r>
                <a:r>
                  <a:rPr lang="en-US" sz="1350" b="1" dirty="0"/>
                  <a:t> then return UNSAT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/>
                  <a:t>  else if  </a:t>
                </a:r>
                <a14:m>
                  <m:oMath xmlns:m="http://schemas.openxmlformats.org/officeDocument/2006/math">
                    <m:r>
                      <a:rPr lang="en-US" sz="135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350" b="1" i="1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1350" dirty="0"/>
                  <a:t> </a:t>
                </a:r>
                <a:r>
                  <a:rPr lang="en-US" sz="1350" b="1" dirty="0"/>
                  <a:t>then return</a:t>
                </a:r>
                <a:r>
                  <a:rPr lang="en-US" sz="1350" dirty="0"/>
                  <a:t> </a:t>
                </a:r>
                <a14:m>
                  <m:oMath xmlns:m="http://schemas.openxmlformats.org/officeDocument/2006/math">
                    <m:r>
                      <a:rPr lang="en-US" sz="1350" i="1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135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>
                    <a:solidFill>
                      <a:srgbClr val="00B050"/>
                    </a:solidFill>
                  </a:rPr>
                  <a:t>// Handle violated </a:t>
                </a:r>
                <a:r>
                  <a:rPr lang="en-US" sz="1350" dirty="0" err="1">
                    <a:solidFill>
                      <a:srgbClr val="00B050"/>
                    </a:solidFill>
                  </a:rPr>
                  <a:t>ReLU</a:t>
                </a:r>
                <a:r>
                  <a:rPr lang="en-US" sz="1350" dirty="0">
                    <a:solidFill>
                      <a:srgbClr val="00B050"/>
                    </a:solidFill>
                  </a:rPr>
                  <a:t> constraints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/>
                  <a:t>  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35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𝑟𝑒𝑙𝑢</m:t>
                    </m:r>
                    <m:d>
                      <m:d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sz="135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1350" dirty="0"/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350" b="1" i="1">
                            <a:latin typeface="Cambria Math" panose="02040503050406030204" pitchFamily="18" charset="0"/>
                          </a:rPr>
                          <m:t>⌈</m:t>
                        </m:r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350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𝑟𝑒𝑙𝑢</m:t>
                    </m:r>
                    <m:d>
                      <m:d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350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350" b="1" i="1">
                            <a:latin typeface="Cambria Math" panose="02040503050406030204" pitchFamily="18" charset="0"/>
                          </a:rPr>
                          <m:t>⌈</m:t>
                        </m:r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endParaRPr lang="en-US" sz="135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>
                    <a:solidFill>
                      <a:schemeClr val="bg1"/>
                    </a:solidFill>
                  </a:rPr>
                  <a:t>  if</a:t>
                </a:r>
                <a:r>
                  <a:rPr lang="en-US" sz="135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350" dirty="0">
                    <a:solidFill>
                      <a:schemeClr val="bg1"/>
                    </a:solidFill>
                  </a:rPr>
                  <a:t> is basic </a:t>
                </a:r>
                <a:r>
                  <a:rPr lang="en-US" sz="1350" b="1" dirty="0">
                    <a:solidFill>
                      <a:schemeClr val="bg1"/>
                    </a:solidFill>
                  </a:rPr>
                  <a:t>then </a:t>
                </a:r>
                <a:r>
                  <a:rPr lang="en-US" sz="1350" dirty="0">
                    <a:solidFill>
                      <a:schemeClr val="bg1"/>
                    </a:solidFill>
                  </a:rPr>
                  <a:t>pivot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350" dirty="0">
                    <a:solidFill>
                      <a:schemeClr val="bg1"/>
                    </a:solidFill>
                  </a:rPr>
                  <a:t> with non-basic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350" dirty="0">
                    <a:solidFill>
                      <a:schemeClr val="bg1"/>
                    </a:solidFill>
                  </a:rPr>
                  <a:t> where </a:t>
                </a:r>
                <a14:m>
                  <m:oMath xmlns:m="http://schemas.openxmlformats.org/officeDocument/2006/math"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1350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endParaRPr lang="en-US" sz="1350" dirty="0">
                  <a:solidFill>
                    <a:schemeClr val="bg1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>
                    <a:solidFill>
                      <a:schemeClr val="bg1"/>
                    </a:solidFill>
                  </a:rPr>
                  <a:t>  if</a:t>
                </a:r>
                <a:r>
                  <a:rPr lang="en-US" sz="135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350" dirty="0">
                    <a:solidFill>
                      <a:schemeClr val="bg1"/>
                    </a:solidFill>
                  </a:rPr>
                  <a:t> is basic </a:t>
                </a:r>
                <a:r>
                  <a:rPr lang="en-US" sz="1350" b="1" dirty="0">
                    <a:solidFill>
                      <a:schemeClr val="bg1"/>
                    </a:solidFill>
                  </a:rPr>
                  <a:t>then </a:t>
                </a:r>
                <a:r>
                  <a:rPr lang="en-US" sz="1350" dirty="0">
                    <a:solidFill>
                      <a:schemeClr val="bg1"/>
                    </a:solidFill>
                  </a:rPr>
                  <a:t>pivot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350" dirty="0">
                    <a:solidFill>
                      <a:schemeClr val="bg1"/>
                    </a:solidFill>
                  </a:rPr>
                  <a:t> with non-basic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350" dirty="0">
                    <a:solidFill>
                      <a:schemeClr val="bg1"/>
                    </a:solidFill>
                  </a:rPr>
                  <a:t> where </a:t>
                </a:r>
                <a14:m>
                  <m:oMath xmlns:m="http://schemas.openxmlformats.org/officeDocument/2006/math"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1350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endParaRPr lang="en-US" sz="1350" dirty="0">
                  <a:solidFill>
                    <a:schemeClr val="bg1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>
                    <a:solidFill>
                      <a:schemeClr val="bg1"/>
                    </a:solidFill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35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⌈</m:t>
                        </m:r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𝑟𝑒𝑙𝑢</m:t>
                    </m:r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35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35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⌈</m:t>
                    </m:r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350" b="1" dirty="0">
                    <a:solidFill>
                      <a:schemeClr val="bg1"/>
                    </a:solidFill>
                  </a:rPr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35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⌈</m:t>
                        </m:r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135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35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⌈</m:t>
                    </m:r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350" b="1" dirty="0">
                    <a:solidFill>
                      <a:schemeClr val="bg1"/>
                    </a:solidFill>
                  </a:rPr>
                  <a:t>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>
                    <a:solidFill>
                      <a:srgbClr val="00B050"/>
                    </a:solidFill>
                  </a:rPr>
                  <a:t>// Case split</a:t>
                </a:r>
                <a:endParaRPr lang="en-US" sz="1350" b="1" dirty="0">
                  <a:solidFill>
                    <a:srgbClr val="00B050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/>
                  <a:t> 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i="1">
                        <a:latin typeface="Cambria Math" panose="02040503050406030204" pitchFamily="18" charset="0"/>
                      </a:rPr>
                      <m:t>&gt;0</m:t>
                    </m:r>
                    <m:r>
                      <a:rPr lang="en-US" sz="135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i="1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sz="135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35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𝑟𝑒𝑙𝑢</m:t>
                    </m:r>
                    <m:d>
                      <m:d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350" dirty="0"/>
                  <a:t> considered &gt; </a:t>
                </a:r>
                <a14:m>
                  <m:oMath xmlns:m="http://schemas.openxmlformats.org/officeDocument/2006/math">
                    <m:r>
                      <a:rPr lang="en-US" sz="1350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sz="1350" dirty="0"/>
                  <a:t> times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𝑅𝑒𝑙𝑢𝑝𝑙𝑒𝑥</m:t>
                    </m:r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∧</m:t>
                    </m:r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≥0∧</m:t>
                    </m:r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350" dirty="0">
                  <a:solidFill>
                    <a:schemeClr val="bg1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>
                    <a:solidFill>
                      <a:schemeClr val="bg1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𝑅𝑒𝑙𝑢𝑝𝑙𝑒𝑥</m:t>
                    </m:r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∧</m:t>
                    </m:r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≤0∧</m:t>
                    </m:r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=0)</m:t>
                    </m:r>
                  </m:oMath>
                </a14:m>
                <a:endParaRPr lang="en-US" sz="1350" dirty="0">
                  <a:solidFill>
                    <a:schemeClr val="bg1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>
                    <a:solidFill>
                      <a:schemeClr val="bg1"/>
                    </a:solidFill>
                  </a:rPr>
                  <a:t>     </a:t>
                </a:r>
                <a:r>
                  <a:rPr lang="en-US" sz="1350" b="1" dirty="0">
                    <a:solidFill>
                      <a:schemeClr val="bg1"/>
                    </a:solidFill>
                  </a:rPr>
                  <a:t>if </a:t>
                </a:r>
                <a:r>
                  <a:rPr lang="en-US" sz="135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350" dirty="0">
                    <a:solidFill>
                      <a:schemeClr val="bg1"/>
                    </a:solidFill>
                  </a:rPr>
                  <a:t> </a:t>
                </a:r>
                <a:r>
                  <a:rPr lang="en-US" sz="1350" dirty="0" err="1">
                    <a:solidFill>
                      <a:schemeClr val="bg1"/>
                    </a:solidFill>
                  </a:rPr>
                  <a:t>unsat</a:t>
                </a:r>
                <a:r>
                  <a:rPr lang="en-US" sz="1350" dirty="0">
                    <a:solidFill>
                      <a:schemeClr val="bg1"/>
                    </a:solidFill>
                  </a:rPr>
                  <a:t> then </a:t>
                </a:r>
                <a:r>
                  <a:rPr lang="en-US" sz="1350" b="1" dirty="0">
                    <a:solidFill>
                      <a:schemeClr val="bg1"/>
                    </a:solidFill>
                  </a:rPr>
                  <a:t>return </a:t>
                </a:r>
                <a:r>
                  <a:rPr lang="en-US" sz="1350" dirty="0">
                    <a:solidFill>
                      <a:schemeClr val="bg1"/>
                    </a:solidFill>
                  </a:rPr>
                  <a:t>UNSAT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>
                    <a:solidFill>
                      <a:schemeClr val="bg1"/>
                    </a:solidFill>
                  </a:rPr>
                  <a:t>     </a:t>
                </a:r>
                <a:r>
                  <a:rPr lang="en-US" sz="1350" b="1" dirty="0">
                    <a:solidFill>
                      <a:schemeClr val="bg1"/>
                    </a:solidFill>
                  </a:rPr>
                  <a:t>else  </a:t>
                </a:r>
                <a:r>
                  <a:rPr lang="en-US" sz="1350" dirty="0">
                    <a:solidFill>
                      <a:schemeClr val="bg1"/>
                    </a:solidFill>
                  </a:rPr>
                  <a:t> i</a:t>
                </a:r>
                <a:r>
                  <a:rPr lang="en-US" sz="1350" b="1" dirty="0">
                    <a:solidFill>
                      <a:schemeClr val="bg1"/>
                    </a:solidFill>
                  </a:rPr>
                  <a:t>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𝑢𝑛𝑠𝑎𝑡</m:t>
                    </m:r>
                  </m:oMath>
                </a14:m>
                <a:r>
                  <a:rPr lang="en-US" sz="1350" b="1" dirty="0">
                    <a:solidFill>
                      <a:schemeClr val="bg1"/>
                    </a:solidFill>
                  </a:rPr>
                  <a:t> then return </a:t>
                </a:r>
                <a:r>
                  <a:rPr lang="en-US" sz="135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350" b="1" dirty="0">
                    <a:solidFill>
                      <a:schemeClr val="bg1"/>
                    </a:solidFill>
                  </a:rPr>
                  <a:t> else return </a:t>
                </a:r>
                <a:r>
                  <a:rPr lang="en-US" sz="135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1350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476574"/>
                <a:ext cx="6671053" cy="4666927"/>
              </a:xfrm>
              <a:blipFill>
                <a:blip r:embed="rId2"/>
                <a:stretch>
                  <a:fillRect l="-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99489"/>
            <a:ext cx="7886700" cy="528194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Reluplex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476574"/>
                <a:ext cx="6671053" cy="4666927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/>
                  <a:t>Input</a:t>
                </a:r>
                <a:r>
                  <a:rPr lang="en-US" sz="1350" dirty="0"/>
                  <a:t>: A formula </a:t>
                </a:r>
                <a14:m>
                  <m:oMath xmlns:m="http://schemas.openxmlformats.org/officeDocument/2006/math">
                    <m:r>
                      <a:rPr lang="en-US" sz="135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1350" dirty="0"/>
                  <a:t> in </a:t>
                </a:r>
                <a:r>
                  <a:rPr lang="en-US" sz="1350" dirty="0" err="1"/>
                  <a:t>Reluplex</a:t>
                </a:r>
                <a:r>
                  <a:rPr lang="en-US" sz="1350" dirty="0"/>
                  <a:t> form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/>
                  <a:t>Output</a:t>
                </a:r>
                <a:r>
                  <a:rPr lang="en-US" sz="1350" dirty="0"/>
                  <a:t>: </a:t>
                </a:r>
                <a14:m>
                  <m:oMath xmlns:m="http://schemas.openxmlformats.org/officeDocument/2006/math">
                    <m:r>
                      <a:rPr lang="en-US" sz="135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1350" dirty="0"/>
                  <a:t> or UNSAT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135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350" b="1" i="1"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⟨</m:t>
                    </m:r>
                    <m:sSub>
                      <m:sSub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350" i="1">
                        <a:latin typeface="Cambria Math" panose="02040503050406030204" pitchFamily="18" charset="0"/>
                      </a:rPr>
                      <m:t>↦0⟩</m:t>
                    </m:r>
                  </m:oMath>
                </a14:m>
                <a:r>
                  <a:rPr lang="en-US" sz="1350" dirty="0"/>
                  <a:t>; </a:t>
                </a:r>
                <a14:m>
                  <m:oMath xmlns:m="http://schemas.openxmlformats.org/officeDocument/2006/math">
                    <m:r>
                      <a:rPr lang="en-US" sz="135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350" dirty="0"/>
                  <a:t>:= non </a:t>
                </a:r>
                <a:r>
                  <a:rPr lang="en-US" sz="1350" dirty="0" err="1"/>
                  <a:t>ReLU</a:t>
                </a:r>
                <a:r>
                  <a:rPr lang="en-US" sz="1350" dirty="0"/>
                  <a:t> part of </a:t>
                </a:r>
                <a14:m>
                  <m:oMath xmlns:m="http://schemas.openxmlformats.org/officeDocument/2006/math">
                    <m:r>
                      <a:rPr lang="en-US" sz="135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endParaRPr lang="en-US" sz="135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/>
                  <a:t>while</a:t>
                </a:r>
                <a:r>
                  <a:rPr lang="en-US" sz="1350" dirty="0"/>
                  <a:t> true </a:t>
                </a:r>
                <a:r>
                  <a:rPr lang="en-US" sz="1350" b="1" dirty="0"/>
                  <a:t>do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/>
                  <a:t> </a:t>
                </a:r>
                <a14:m>
                  <m:oMath xmlns:m="http://schemas.openxmlformats.org/officeDocument/2006/math">
                    <m:r>
                      <a:rPr lang="en-US" sz="135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𝑆𝑖𝑚𝑝𝑙𝑒𝑥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35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35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35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/>
                  <a:t>  if</a:t>
                </a:r>
                <a:r>
                  <a:rPr lang="en-US" sz="135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350"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r>
                  <a:rPr lang="en-US" sz="1350" b="1" dirty="0"/>
                  <a:t> is </a:t>
                </a:r>
                <a:r>
                  <a:rPr lang="en-US" sz="1350" b="1" dirty="0" err="1"/>
                  <a:t>unsat</a:t>
                </a:r>
                <a:r>
                  <a:rPr lang="en-US" sz="1350" b="1" dirty="0"/>
                  <a:t> then return UNSAT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/>
                  <a:t>  else if  </a:t>
                </a:r>
                <a14:m>
                  <m:oMath xmlns:m="http://schemas.openxmlformats.org/officeDocument/2006/math">
                    <m:r>
                      <a:rPr lang="en-US" sz="135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350" b="1" i="1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1350" dirty="0"/>
                  <a:t> </a:t>
                </a:r>
                <a:r>
                  <a:rPr lang="en-US" sz="1350" b="1" dirty="0"/>
                  <a:t>then return</a:t>
                </a:r>
                <a:r>
                  <a:rPr lang="en-US" sz="1350" dirty="0"/>
                  <a:t> </a:t>
                </a:r>
                <a14:m>
                  <m:oMath xmlns:m="http://schemas.openxmlformats.org/officeDocument/2006/math">
                    <m:r>
                      <a:rPr lang="en-US" sz="1350" i="1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135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>
                    <a:solidFill>
                      <a:srgbClr val="00B050"/>
                    </a:solidFill>
                  </a:rPr>
                  <a:t>// Handle violated </a:t>
                </a:r>
                <a:r>
                  <a:rPr lang="en-US" sz="1350" dirty="0" err="1">
                    <a:solidFill>
                      <a:srgbClr val="00B050"/>
                    </a:solidFill>
                  </a:rPr>
                  <a:t>ReLU</a:t>
                </a:r>
                <a:r>
                  <a:rPr lang="en-US" sz="1350" dirty="0">
                    <a:solidFill>
                      <a:srgbClr val="00B050"/>
                    </a:solidFill>
                  </a:rPr>
                  <a:t> constraints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/>
                  <a:t>  </a:t>
                </a:r>
                <a:r>
                  <a:rPr lang="en-US" sz="1350" dirty="0">
                    <a:solidFill>
                      <a:srgbClr val="C00000"/>
                    </a:solidFill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3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𝑟𝑒𝑙𝑢</m:t>
                    </m:r>
                    <m:d>
                      <m:dPr>
                        <m:ctrlPr>
                          <a:rPr lang="en-US" sz="13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35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35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sz="13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3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1350" dirty="0">
                    <a:solidFill>
                      <a:srgbClr val="C00000"/>
                    </a:solidFill>
                  </a:rPr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3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3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3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13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𝑟𝑒𝑙𝑢</m:t>
                    </m:r>
                    <m:d>
                      <m:dPr>
                        <m:ctrlPr>
                          <a:rPr lang="en-US" sz="13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350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3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sSub>
                          <m:sSubPr>
                            <m:ctrlPr>
                              <a:rPr lang="en-US" sz="135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35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endParaRPr lang="en-US" sz="135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>
                    <a:solidFill>
                      <a:srgbClr val="0070C0"/>
                    </a:solidFill>
                  </a:rPr>
                  <a:t>  if</a:t>
                </a:r>
                <a:r>
                  <a:rPr lang="en-US" sz="1350" dirty="0">
                    <a:solidFill>
                      <a:srgbClr val="0070C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350" dirty="0">
                    <a:solidFill>
                      <a:srgbClr val="0070C0"/>
                    </a:solidFill>
                  </a:rPr>
                  <a:t> is basic </a:t>
                </a:r>
                <a:r>
                  <a:rPr lang="en-US" sz="1350" b="1" dirty="0">
                    <a:solidFill>
                      <a:srgbClr val="0070C0"/>
                    </a:solidFill>
                  </a:rPr>
                  <a:t>then </a:t>
                </a:r>
                <a:r>
                  <a:rPr lang="en-US" sz="1350" dirty="0">
                    <a:solidFill>
                      <a:srgbClr val="0070C0"/>
                    </a:solidFill>
                  </a:rPr>
                  <a:t>pivot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350" dirty="0">
                    <a:solidFill>
                      <a:srgbClr val="0070C0"/>
                    </a:solidFill>
                  </a:rPr>
                  <a:t> with non-basic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350" dirty="0">
                    <a:solidFill>
                      <a:srgbClr val="0070C0"/>
                    </a:solidFill>
                  </a:rPr>
                  <a:t> where </a:t>
                </a:r>
                <a14:m>
                  <m:oMath xmlns:m="http://schemas.openxmlformats.org/officeDocument/2006/math"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1350" dirty="0">
                    <a:solidFill>
                      <a:srgbClr val="0070C0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endParaRPr lang="en-US" sz="1350" dirty="0">
                  <a:solidFill>
                    <a:srgbClr val="0070C0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>
                    <a:solidFill>
                      <a:srgbClr val="0070C0"/>
                    </a:solidFill>
                  </a:rPr>
                  <a:t>  if</a:t>
                </a:r>
                <a:r>
                  <a:rPr lang="en-US" sz="1350" dirty="0">
                    <a:solidFill>
                      <a:srgbClr val="0070C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350" dirty="0">
                    <a:solidFill>
                      <a:srgbClr val="0070C0"/>
                    </a:solidFill>
                  </a:rPr>
                  <a:t> is basic </a:t>
                </a:r>
                <a:r>
                  <a:rPr lang="en-US" sz="1350" b="1" dirty="0">
                    <a:solidFill>
                      <a:srgbClr val="0070C0"/>
                    </a:solidFill>
                  </a:rPr>
                  <a:t>then </a:t>
                </a:r>
                <a:r>
                  <a:rPr lang="en-US" sz="1350" dirty="0">
                    <a:solidFill>
                      <a:srgbClr val="0070C0"/>
                    </a:solidFill>
                  </a:rPr>
                  <a:t>pivot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350" dirty="0">
                    <a:solidFill>
                      <a:srgbClr val="0070C0"/>
                    </a:solidFill>
                  </a:rPr>
                  <a:t> with non-basic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350" dirty="0">
                    <a:solidFill>
                      <a:srgbClr val="0070C0"/>
                    </a:solidFill>
                  </a:rPr>
                  <a:t> where </a:t>
                </a:r>
                <a14:m>
                  <m:oMath xmlns:m="http://schemas.openxmlformats.org/officeDocument/2006/math"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1350" dirty="0">
                    <a:solidFill>
                      <a:srgbClr val="0070C0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endParaRPr lang="en-US" sz="1350" dirty="0">
                  <a:solidFill>
                    <a:srgbClr val="0070C0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>
                    <a:solidFill>
                      <a:srgbClr val="0070C0"/>
                    </a:solidFill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35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𝑟𝑒𝑙𝑢</m:t>
                    </m:r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350" b="1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35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.</m:t>
                    </m:r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b="1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350" b="1" dirty="0">
                    <a:solidFill>
                      <a:srgbClr val="0070C0"/>
                    </a:solidFill>
                  </a:rPr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35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1350" b="1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35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.</m:t>
                    </m:r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350" b="1" dirty="0">
                    <a:solidFill>
                      <a:srgbClr val="0070C0"/>
                    </a:solidFill>
                  </a:rPr>
                  <a:t>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>
                    <a:solidFill>
                      <a:srgbClr val="00B050"/>
                    </a:solidFill>
                  </a:rPr>
                  <a:t>// Case split</a:t>
                </a:r>
                <a:endParaRPr lang="en-US" sz="1350" b="1" dirty="0">
                  <a:solidFill>
                    <a:srgbClr val="00B050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/>
                  <a:t> 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i="1">
                        <a:latin typeface="Cambria Math" panose="02040503050406030204" pitchFamily="18" charset="0"/>
                      </a:rPr>
                      <m:t>&gt;0</m:t>
                    </m:r>
                    <m:r>
                      <a:rPr lang="en-US" sz="135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i="1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sz="135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35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𝑟𝑒𝑙𝑢</m:t>
                    </m:r>
                    <m:d>
                      <m:d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350" dirty="0"/>
                  <a:t> considered &gt; </a:t>
                </a:r>
                <a14:m>
                  <m:oMath xmlns:m="http://schemas.openxmlformats.org/officeDocument/2006/math">
                    <m:r>
                      <a:rPr lang="en-US" sz="1350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sz="1350" dirty="0"/>
                  <a:t> times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>
                    <a:solidFill>
                      <a:srgbClr val="0070C0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𝑅𝑒𝑙𝑢𝑝𝑙𝑒𝑥</m:t>
                    </m:r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∧</m:t>
                    </m:r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≥0∧</m:t>
                    </m:r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350" dirty="0">
                  <a:solidFill>
                    <a:srgbClr val="0070C0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>
                    <a:solidFill>
                      <a:srgbClr val="0070C0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𝑅𝑒𝑙𝑢𝑝𝑙𝑒𝑥</m:t>
                    </m:r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∧</m:t>
                    </m:r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≤0∧</m:t>
                    </m:r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=0)</m:t>
                    </m:r>
                  </m:oMath>
                </a14:m>
                <a:endParaRPr lang="en-US" sz="1350" dirty="0">
                  <a:solidFill>
                    <a:srgbClr val="0070C0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>
                    <a:solidFill>
                      <a:srgbClr val="0070C0"/>
                    </a:solidFill>
                  </a:rPr>
                  <a:t>     </a:t>
                </a:r>
                <a:r>
                  <a:rPr lang="en-US" sz="1350" b="1" dirty="0">
                    <a:solidFill>
                      <a:srgbClr val="0070C0"/>
                    </a:solidFill>
                  </a:rPr>
                  <a:t>if </a:t>
                </a:r>
                <a:r>
                  <a:rPr lang="en-US" sz="1350" dirty="0">
                    <a:solidFill>
                      <a:srgbClr val="0070C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350" dirty="0">
                    <a:solidFill>
                      <a:srgbClr val="0070C0"/>
                    </a:solidFill>
                  </a:rPr>
                  <a:t> </a:t>
                </a:r>
                <a:r>
                  <a:rPr lang="en-US" sz="1350" dirty="0" err="1">
                    <a:solidFill>
                      <a:srgbClr val="0070C0"/>
                    </a:solidFill>
                  </a:rPr>
                  <a:t>unsat</a:t>
                </a:r>
                <a:r>
                  <a:rPr lang="en-US" sz="1350" dirty="0">
                    <a:solidFill>
                      <a:srgbClr val="0070C0"/>
                    </a:solidFill>
                  </a:rPr>
                  <a:t> then </a:t>
                </a:r>
                <a:r>
                  <a:rPr lang="en-US" sz="1350" b="1" dirty="0">
                    <a:solidFill>
                      <a:srgbClr val="0070C0"/>
                    </a:solidFill>
                  </a:rPr>
                  <a:t>return </a:t>
                </a:r>
                <a:r>
                  <a:rPr lang="en-US" sz="1350" dirty="0">
                    <a:solidFill>
                      <a:srgbClr val="0070C0"/>
                    </a:solidFill>
                  </a:rPr>
                  <a:t>UNSAT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>
                    <a:solidFill>
                      <a:srgbClr val="0070C0"/>
                    </a:solidFill>
                  </a:rPr>
                  <a:t>     </a:t>
                </a:r>
                <a:r>
                  <a:rPr lang="en-US" sz="1350" b="1" dirty="0">
                    <a:solidFill>
                      <a:srgbClr val="0070C0"/>
                    </a:solidFill>
                  </a:rPr>
                  <a:t>else  </a:t>
                </a:r>
                <a:r>
                  <a:rPr lang="en-US" sz="1350" dirty="0">
                    <a:solidFill>
                      <a:srgbClr val="0070C0"/>
                    </a:solidFill>
                  </a:rPr>
                  <a:t> i</a:t>
                </a:r>
                <a:r>
                  <a:rPr lang="en-US" sz="1350" b="1" dirty="0">
                    <a:solidFill>
                      <a:srgbClr val="0070C0"/>
                    </a:solidFill>
                  </a:rPr>
                  <a:t>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𝑠𝑎𝑡</m:t>
                    </m:r>
                  </m:oMath>
                </a14:m>
                <a:r>
                  <a:rPr lang="en-US" sz="1350" b="1" dirty="0">
                    <a:solidFill>
                      <a:srgbClr val="0070C0"/>
                    </a:solidFill>
                  </a:rPr>
                  <a:t> then return </a:t>
                </a:r>
                <a:r>
                  <a:rPr lang="en-US" sz="1350" dirty="0">
                    <a:solidFill>
                      <a:srgbClr val="0070C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350" b="1" dirty="0">
                    <a:solidFill>
                      <a:srgbClr val="0070C0"/>
                    </a:solidFill>
                  </a:rPr>
                  <a:t> else return </a:t>
                </a:r>
                <a:r>
                  <a:rPr lang="en-US" sz="1350" dirty="0">
                    <a:solidFill>
                      <a:srgbClr val="0070C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1350" b="1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476574"/>
                <a:ext cx="6671053" cy="4666927"/>
              </a:xfrm>
              <a:blipFill>
                <a:blip r:embed="rId3"/>
                <a:stretch>
                  <a:fillRect l="-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Termination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last part of the algorithm ensures termination</a:t>
                </a:r>
              </a:p>
              <a:p>
                <a:r>
                  <a:rPr lang="en-US" dirty="0"/>
                  <a:t>Otherwise, the algorithm could loop forever between fixing </a:t>
                </a:r>
                <a:r>
                  <a:rPr lang="en-US" dirty="0" err="1"/>
                  <a:t>relu</a:t>
                </a:r>
                <a:r>
                  <a:rPr lang="en-US" dirty="0"/>
                  <a:t> constraints and Simplex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≡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𝑟𝑒𝑙𝑢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split into two cases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≡ 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≥0∧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≡ 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0∧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′≡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)∨(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∧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 b="7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Performance of </a:t>
            </a:r>
            <a:r>
              <a:rPr lang="en-US" dirty="0" err="1"/>
              <a:t>Reluplex</a:t>
            </a:r>
            <a:r>
              <a:rPr lang="en-US" dirty="0"/>
              <a:t> on ACAS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057" y="1456765"/>
            <a:ext cx="5715000" cy="275272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4111" y="1076920"/>
            <a:ext cx="3372833" cy="219071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p51"/>
          <p:cNvSpPr txBox="1">
            <a:spLocks noGrp="1"/>
          </p:cNvSpPr>
          <p:nvPr>
            <p:ph type="title"/>
          </p:nvPr>
        </p:nvSpPr>
        <p:spPr>
          <a:xfrm>
            <a:off x="65350" y="224420"/>
            <a:ext cx="874845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Review: Neural network verification as a satisfiability problem</a:t>
            </a:r>
          </a:p>
        </p:txBody>
      </p:sp>
      <p:sp>
        <p:nvSpPr>
          <p:cNvPr id="961" name="Google Shape;961;p51"/>
          <p:cNvSpPr txBox="1"/>
          <p:nvPr/>
        </p:nvSpPr>
        <p:spPr>
          <a:xfrm>
            <a:off x="4348375" y="1509425"/>
            <a:ext cx="653400" cy="5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z</a:t>
            </a:r>
            <a:r>
              <a:rPr lang="en-GB" sz="1800" baseline="30000">
                <a:solidFill>
                  <a:schemeClr val="dk2"/>
                </a:solidFill>
              </a:rPr>
              <a:t>(2)</a:t>
            </a:r>
            <a:endParaRPr sz="1800">
              <a:solidFill>
                <a:schemeClr val="dk2"/>
              </a:solidFill>
            </a:endParaRPr>
          </a:p>
        </p:txBody>
      </p:sp>
      <p:grpSp>
        <p:nvGrpSpPr>
          <p:cNvPr id="962" name="Google Shape;962;p51"/>
          <p:cNvGrpSpPr/>
          <p:nvPr/>
        </p:nvGrpSpPr>
        <p:grpSpPr>
          <a:xfrm>
            <a:off x="1251850" y="1852138"/>
            <a:ext cx="1691250" cy="1518400"/>
            <a:chOff x="949900" y="2149850"/>
            <a:chExt cx="1691250" cy="1518400"/>
          </a:xfrm>
        </p:grpSpPr>
        <p:grpSp>
          <p:nvGrpSpPr>
            <p:cNvPr id="963" name="Google Shape;963;p51"/>
            <p:cNvGrpSpPr/>
            <p:nvPr/>
          </p:nvGrpSpPr>
          <p:grpSpPr>
            <a:xfrm>
              <a:off x="1382025" y="2202525"/>
              <a:ext cx="1259125" cy="1465725"/>
              <a:chOff x="1266900" y="1732750"/>
              <a:chExt cx="1259125" cy="1465725"/>
            </a:xfrm>
          </p:grpSpPr>
          <p:sp>
            <p:nvSpPr>
              <p:cNvPr id="964" name="Google Shape;964;p51"/>
              <p:cNvSpPr/>
              <p:nvPr/>
            </p:nvSpPr>
            <p:spPr>
              <a:xfrm>
                <a:off x="1266900" y="19646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Google Shape;965;p51"/>
              <p:cNvSpPr/>
              <p:nvPr/>
            </p:nvSpPr>
            <p:spPr>
              <a:xfrm>
                <a:off x="1266900" y="25717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Google Shape;966;p51"/>
              <p:cNvSpPr/>
              <p:nvPr/>
            </p:nvSpPr>
            <p:spPr>
              <a:xfrm>
                <a:off x="2294125" y="17327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Google Shape;967;p51"/>
              <p:cNvSpPr/>
              <p:nvPr/>
            </p:nvSpPr>
            <p:spPr>
              <a:xfrm>
                <a:off x="2294125" y="2312775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Google Shape;968;p51"/>
              <p:cNvSpPr/>
              <p:nvPr/>
            </p:nvSpPr>
            <p:spPr>
              <a:xfrm>
                <a:off x="2294125" y="2966575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969" name="Google Shape;969;p51"/>
              <p:cNvCxnSpPr>
                <a:stCxn id="964" idx="6"/>
                <a:endCxn id="966" idx="2"/>
              </p:cNvCxnSpPr>
              <p:nvPr/>
            </p:nvCxnSpPr>
            <p:spPr>
              <a:xfrm rot="10800000" flipH="1">
                <a:off x="1498800" y="1848700"/>
                <a:ext cx="795300" cy="231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0" name="Google Shape;970;p51"/>
              <p:cNvCxnSpPr>
                <a:stCxn id="964" idx="6"/>
                <a:endCxn id="967" idx="2"/>
              </p:cNvCxnSpPr>
              <p:nvPr/>
            </p:nvCxnSpPr>
            <p:spPr>
              <a:xfrm>
                <a:off x="1498800" y="2080600"/>
                <a:ext cx="795300" cy="348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1" name="Google Shape;971;p51"/>
              <p:cNvCxnSpPr>
                <a:stCxn id="965" idx="6"/>
                <a:endCxn id="966" idx="2"/>
              </p:cNvCxnSpPr>
              <p:nvPr/>
            </p:nvCxnSpPr>
            <p:spPr>
              <a:xfrm rot="10800000" flipH="1">
                <a:off x="1498800" y="1848600"/>
                <a:ext cx="795300" cy="83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2" name="Google Shape;972;p51"/>
              <p:cNvCxnSpPr>
                <a:stCxn id="965" idx="6"/>
                <a:endCxn id="967" idx="2"/>
              </p:cNvCxnSpPr>
              <p:nvPr/>
            </p:nvCxnSpPr>
            <p:spPr>
              <a:xfrm rot="10800000" flipH="1">
                <a:off x="1498800" y="2428800"/>
                <a:ext cx="795300" cy="258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3" name="Google Shape;973;p51"/>
              <p:cNvCxnSpPr>
                <a:stCxn id="965" idx="6"/>
                <a:endCxn id="968" idx="2"/>
              </p:cNvCxnSpPr>
              <p:nvPr/>
            </p:nvCxnSpPr>
            <p:spPr>
              <a:xfrm>
                <a:off x="1498800" y="2687700"/>
                <a:ext cx="795300" cy="394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4" name="Google Shape;974;p51"/>
              <p:cNvCxnSpPr>
                <a:stCxn id="964" idx="6"/>
                <a:endCxn id="968" idx="2"/>
              </p:cNvCxnSpPr>
              <p:nvPr/>
            </p:nvCxnSpPr>
            <p:spPr>
              <a:xfrm>
                <a:off x="1498800" y="2080600"/>
                <a:ext cx="795300" cy="100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975" name="Google Shape;975;p51"/>
            <p:cNvSpPr txBox="1"/>
            <p:nvPr/>
          </p:nvSpPr>
          <p:spPr>
            <a:xfrm>
              <a:off x="949900" y="2149850"/>
              <a:ext cx="432000" cy="34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chemeClr val="dk2"/>
                  </a:solidFill>
                </a:rPr>
                <a:t>x</a:t>
              </a:r>
              <a:r>
                <a:rPr lang="en-GB" sz="1800" baseline="-25000">
                  <a:solidFill>
                    <a:schemeClr val="dk2"/>
                  </a:solidFill>
                </a:rPr>
                <a:t>1</a:t>
              </a:r>
              <a:endParaRPr sz="1800" baseline="-25000">
                <a:solidFill>
                  <a:schemeClr val="dk2"/>
                </a:solidFill>
              </a:endParaRPr>
            </a:p>
          </p:txBody>
        </p:sp>
        <p:sp>
          <p:nvSpPr>
            <p:cNvPr id="976" name="Google Shape;976;p51"/>
            <p:cNvSpPr txBox="1"/>
            <p:nvPr/>
          </p:nvSpPr>
          <p:spPr>
            <a:xfrm>
              <a:off x="949900" y="3041525"/>
              <a:ext cx="432000" cy="34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chemeClr val="dk2"/>
                  </a:solidFill>
                </a:rPr>
                <a:t>x</a:t>
              </a:r>
              <a:r>
                <a:rPr lang="en-GB" sz="1800" baseline="-25000">
                  <a:solidFill>
                    <a:schemeClr val="dk2"/>
                  </a:solidFill>
                </a:rPr>
                <a:t>2</a:t>
              </a:r>
              <a:endParaRPr sz="1800" baseline="-25000">
                <a:solidFill>
                  <a:schemeClr val="dk2"/>
                </a:solidFill>
              </a:endParaRPr>
            </a:p>
          </p:txBody>
        </p:sp>
      </p:grpSp>
      <p:grpSp>
        <p:nvGrpSpPr>
          <p:cNvPr id="977" name="Google Shape;977;p51"/>
          <p:cNvGrpSpPr/>
          <p:nvPr/>
        </p:nvGrpSpPr>
        <p:grpSpPr>
          <a:xfrm>
            <a:off x="5150088" y="1904825"/>
            <a:ext cx="1113500" cy="1465725"/>
            <a:chOff x="3458500" y="1732750"/>
            <a:chExt cx="1113500" cy="1465725"/>
          </a:xfrm>
        </p:grpSpPr>
        <p:sp>
          <p:nvSpPr>
            <p:cNvPr id="978" name="Google Shape;978;p51"/>
            <p:cNvSpPr/>
            <p:nvPr/>
          </p:nvSpPr>
          <p:spPr>
            <a:xfrm>
              <a:off x="3458500" y="1732750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51"/>
            <p:cNvSpPr/>
            <p:nvPr/>
          </p:nvSpPr>
          <p:spPr>
            <a:xfrm>
              <a:off x="3458500" y="23127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51"/>
            <p:cNvSpPr/>
            <p:nvPr/>
          </p:nvSpPr>
          <p:spPr>
            <a:xfrm>
              <a:off x="3458500" y="29665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51"/>
            <p:cNvSpPr/>
            <p:nvPr/>
          </p:nvSpPr>
          <p:spPr>
            <a:xfrm>
              <a:off x="4340100" y="2299600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982" name="Google Shape;982;p51"/>
            <p:cNvCxnSpPr>
              <a:stCxn id="978" idx="6"/>
              <a:endCxn id="981" idx="2"/>
            </p:cNvCxnSpPr>
            <p:nvPr/>
          </p:nvCxnSpPr>
          <p:spPr>
            <a:xfrm>
              <a:off x="3690400" y="1848700"/>
              <a:ext cx="649800" cy="5670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3" name="Google Shape;983;p51"/>
            <p:cNvCxnSpPr>
              <a:stCxn id="979" idx="6"/>
              <a:endCxn id="981" idx="2"/>
            </p:cNvCxnSpPr>
            <p:nvPr/>
          </p:nvCxnSpPr>
          <p:spPr>
            <a:xfrm rot="10800000" flipH="1">
              <a:off x="3690400" y="2415525"/>
              <a:ext cx="649800" cy="13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4" name="Google Shape;984;p51"/>
            <p:cNvCxnSpPr>
              <a:stCxn id="980" idx="6"/>
              <a:endCxn id="981" idx="2"/>
            </p:cNvCxnSpPr>
            <p:nvPr/>
          </p:nvCxnSpPr>
          <p:spPr>
            <a:xfrm rot="10800000" flipH="1">
              <a:off x="3690400" y="2415625"/>
              <a:ext cx="649800" cy="666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85" name="Google Shape;985;p51"/>
          <p:cNvGrpSpPr/>
          <p:nvPr/>
        </p:nvGrpSpPr>
        <p:grpSpPr>
          <a:xfrm>
            <a:off x="3559075" y="2020700"/>
            <a:ext cx="932400" cy="1233975"/>
            <a:chOff x="2526100" y="1848625"/>
            <a:chExt cx="932400" cy="1233975"/>
          </a:xfrm>
        </p:grpSpPr>
        <p:cxnSp>
          <p:nvCxnSpPr>
            <p:cNvPr id="986" name="Google Shape;986;p51"/>
            <p:cNvCxnSpPr/>
            <p:nvPr/>
          </p:nvCxnSpPr>
          <p:spPr>
            <a:xfrm>
              <a:off x="2526100" y="1848700"/>
              <a:ext cx="932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7" name="Google Shape;987;p51"/>
            <p:cNvCxnSpPr/>
            <p:nvPr/>
          </p:nvCxnSpPr>
          <p:spPr>
            <a:xfrm>
              <a:off x="2526100" y="2415550"/>
              <a:ext cx="932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8" name="Google Shape;988;p51"/>
            <p:cNvCxnSpPr/>
            <p:nvPr/>
          </p:nvCxnSpPr>
          <p:spPr>
            <a:xfrm>
              <a:off x="2526100" y="3082525"/>
              <a:ext cx="932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9" name="Google Shape;989;p51"/>
            <p:cNvCxnSpPr/>
            <p:nvPr/>
          </p:nvCxnSpPr>
          <p:spPr>
            <a:xfrm>
              <a:off x="2526100" y="1848825"/>
              <a:ext cx="932400" cy="579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90" name="Google Shape;990;p51"/>
            <p:cNvCxnSpPr/>
            <p:nvPr/>
          </p:nvCxnSpPr>
          <p:spPr>
            <a:xfrm>
              <a:off x="2526100" y="1848625"/>
              <a:ext cx="932400" cy="1233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91" name="Google Shape;991;p51"/>
            <p:cNvCxnSpPr/>
            <p:nvPr/>
          </p:nvCxnSpPr>
          <p:spPr>
            <a:xfrm rot="10800000" flipH="1">
              <a:off x="2526100" y="1848700"/>
              <a:ext cx="932400" cy="579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92" name="Google Shape;992;p51"/>
            <p:cNvCxnSpPr/>
            <p:nvPr/>
          </p:nvCxnSpPr>
          <p:spPr>
            <a:xfrm rot="10800000" flipH="1">
              <a:off x="2526100" y="1848700"/>
              <a:ext cx="932400" cy="1233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93" name="Google Shape;993;p51"/>
            <p:cNvCxnSpPr/>
            <p:nvPr/>
          </p:nvCxnSpPr>
          <p:spPr>
            <a:xfrm>
              <a:off x="2526100" y="2428825"/>
              <a:ext cx="932400" cy="653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94" name="Google Shape;994;p51"/>
            <p:cNvCxnSpPr/>
            <p:nvPr/>
          </p:nvCxnSpPr>
          <p:spPr>
            <a:xfrm rot="10800000" flipH="1">
              <a:off x="2526100" y="2428725"/>
              <a:ext cx="932400" cy="653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95" name="Google Shape;995;p51"/>
          <p:cNvGrpSpPr/>
          <p:nvPr/>
        </p:nvGrpSpPr>
        <p:grpSpPr>
          <a:xfrm>
            <a:off x="2608575" y="1502100"/>
            <a:ext cx="1306800" cy="1766950"/>
            <a:chOff x="2460350" y="1264125"/>
            <a:chExt cx="1306800" cy="1766950"/>
          </a:xfrm>
        </p:grpSpPr>
        <p:sp>
          <p:nvSpPr>
            <p:cNvPr id="996" name="Google Shape;996;p51"/>
            <p:cNvSpPr txBox="1"/>
            <p:nvPr/>
          </p:nvSpPr>
          <p:spPr>
            <a:xfrm>
              <a:off x="3113750" y="1302225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0000FF"/>
                  </a:solidFill>
                </a:rPr>
                <a:t>ẑ</a:t>
              </a:r>
              <a:r>
                <a:rPr lang="en-GB" sz="1800" baseline="-25000">
                  <a:solidFill>
                    <a:srgbClr val="0000FF"/>
                  </a:solidFill>
                </a:rPr>
                <a:t>1</a:t>
              </a:r>
              <a:r>
                <a:rPr lang="en-GB" sz="1800" baseline="30000">
                  <a:solidFill>
                    <a:srgbClr val="0000FF"/>
                  </a:solidFill>
                </a:rPr>
                <a:t>(1)</a:t>
              </a:r>
              <a:endParaRPr sz="1800">
                <a:solidFill>
                  <a:srgbClr val="0000FF"/>
                </a:solidFill>
              </a:endParaRPr>
            </a:p>
          </p:txBody>
        </p:sp>
        <p:sp>
          <p:nvSpPr>
            <p:cNvPr id="997" name="Google Shape;997;p51"/>
            <p:cNvSpPr txBox="1"/>
            <p:nvPr/>
          </p:nvSpPr>
          <p:spPr>
            <a:xfrm>
              <a:off x="3113750" y="1826900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0000FF"/>
                  </a:solidFill>
                </a:rPr>
                <a:t>ẑ</a:t>
              </a:r>
              <a:r>
                <a:rPr lang="en-GB" sz="1800" baseline="-25000">
                  <a:solidFill>
                    <a:srgbClr val="0000FF"/>
                  </a:solidFill>
                </a:rPr>
                <a:t>2</a:t>
              </a:r>
              <a:r>
                <a:rPr lang="en-GB" sz="1800" baseline="30000">
                  <a:solidFill>
                    <a:srgbClr val="0000FF"/>
                  </a:solidFill>
                </a:rPr>
                <a:t>(1)</a:t>
              </a:r>
              <a:endParaRPr sz="1800">
                <a:solidFill>
                  <a:srgbClr val="0000FF"/>
                </a:solidFill>
              </a:endParaRPr>
            </a:p>
          </p:txBody>
        </p:sp>
        <p:sp>
          <p:nvSpPr>
            <p:cNvPr id="998" name="Google Shape;998;p51"/>
            <p:cNvSpPr txBox="1"/>
            <p:nvPr/>
          </p:nvSpPr>
          <p:spPr>
            <a:xfrm>
              <a:off x="3113750" y="2503975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 dirty="0">
                  <a:solidFill>
                    <a:srgbClr val="0000FF"/>
                  </a:solidFill>
                </a:rPr>
                <a:t>ẑ</a:t>
              </a:r>
              <a:r>
                <a:rPr lang="en-GB" sz="1800" baseline="-25000" dirty="0">
                  <a:solidFill>
                    <a:srgbClr val="0000FF"/>
                  </a:solidFill>
                </a:rPr>
                <a:t>3</a:t>
              </a:r>
              <a:r>
                <a:rPr lang="en-GB" sz="1800" baseline="30000" dirty="0">
                  <a:solidFill>
                    <a:srgbClr val="0000FF"/>
                  </a:solidFill>
                </a:rPr>
                <a:t>(1)</a:t>
              </a:r>
              <a:endParaRPr sz="1800" dirty="0">
                <a:solidFill>
                  <a:srgbClr val="0000FF"/>
                </a:solidFill>
              </a:endParaRPr>
            </a:p>
          </p:txBody>
        </p:sp>
        <p:sp>
          <p:nvSpPr>
            <p:cNvPr id="999" name="Google Shape;999;p51"/>
            <p:cNvSpPr txBox="1"/>
            <p:nvPr/>
          </p:nvSpPr>
          <p:spPr>
            <a:xfrm>
              <a:off x="2460350" y="2465875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 dirty="0">
                  <a:solidFill>
                    <a:srgbClr val="FF0000"/>
                  </a:solidFill>
                </a:rPr>
                <a:t>z</a:t>
              </a:r>
              <a:r>
                <a:rPr lang="en-GB" sz="1800" baseline="-25000" dirty="0">
                  <a:solidFill>
                    <a:srgbClr val="FF0000"/>
                  </a:solidFill>
                </a:rPr>
                <a:t>3</a:t>
              </a:r>
              <a:r>
                <a:rPr lang="en-GB" sz="1800" baseline="30000" dirty="0">
                  <a:solidFill>
                    <a:srgbClr val="FF0000"/>
                  </a:solidFill>
                </a:rPr>
                <a:t>(1)</a:t>
              </a:r>
              <a:endParaRPr sz="1800" dirty="0">
                <a:solidFill>
                  <a:srgbClr val="FF0000"/>
                </a:solidFill>
              </a:endParaRPr>
            </a:p>
          </p:txBody>
        </p:sp>
        <p:sp>
          <p:nvSpPr>
            <p:cNvPr id="1000" name="Google Shape;1000;p51"/>
            <p:cNvSpPr txBox="1"/>
            <p:nvPr/>
          </p:nvSpPr>
          <p:spPr>
            <a:xfrm>
              <a:off x="2460350" y="1788800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FF0000"/>
                  </a:solidFill>
                </a:rPr>
                <a:t>z</a:t>
              </a:r>
              <a:r>
                <a:rPr lang="en-GB" sz="1800" baseline="-25000">
                  <a:solidFill>
                    <a:srgbClr val="FF0000"/>
                  </a:solidFill>
                </a:rPr>
                <a:t>2</a:t>
              </a:r>
              <a:r>
                <a:rPr lang="en-GB" sz="1800" baseline="30000">
                  <a:solidFill>
                    <a:srgbClr val="FF0000"/>
                  </a:solidFill>
                </a:rPr>
                <a:t>(1)</a:t>
              </a:r>
              <a:endParaRPr sz="1800">
                <a:solidFill>
                  <a:srgbClr val="FF0000"/>
                </a:solidFill>
              </a:endParaRPr>
            </a:p>
          </p:txBody>
        </p:sp>
        <p:sp>
          <p:nvSpPr>
            <p:cNvPr id="1001" name="Google Shape;1001;p51"/>
            <p:cNvSpPr txBox="1"/>
            <p:nvPr/>
          </p:nvSpPr>
          <p:spPr>
            <a:xfrm>
              <a:off x="2460350" y="1264125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FF0000"/>
                  </a:solidFill>
                </a:rPr>
                <a:t>z</a:t>
              </a:r>
              <a:r>
                <a:rPr lang="en-GB" sz="1800" baseline="-25000">
                  <a:solidFill>
                    <a:srgbClr val="FF0000"/>
                  </a:solidFill>
                </a:rPr>
                <a:t>1</a:t>
              </a:r>
              <a:r>
                <a:rPr lang="en-GB" sz="1800" baseline="30000">
                  <a:solidFill>
                    <a:srgbClr val="FF0000"/>
                  </a:solidFill>
                </a:rPr>
                <a:t>(1)</a:t>
              </a:r>
              <a:endParaRPr sz="1800">
                <a:solidFill>
                  <a:srgbClr val="FF0000"/>
                </a:solidFill>
              </a:endParaRPr>
            </a:p>
          </p:txBody>
        </p:sp>
      </p:grpSp>
      <p:grpSp>
        <p:nvGrpSpPr>
          <p:cNvPr id="1002" name="Google Shape;1002;p51"/>
          <p:cNvGrpSpPr/>
          <p:nvPr/>
        </p:nvGrpSpPr>
        <p:grpSpPr>
          <a:xfrm>
            <a:off x="3327163" y="1904813"/>
            <a:ext cx="231900" cy="1465725"/>
            <a:chOff x="2294125" y="1732750"/>
            <a:chExt cx="231900" cy="1465725"/>
          </a:xfrm>
        </p:grpSpPr>
        <p:sp>
          <p:nvSpPr>
            <p:cNvPr id="1003" name="Google Shape;1003;p51"/>
            <p:cNvSpPr/>
            <p:nvPr/>
          </p:nvSpPr>
          <p:spPr>
            <a:xfrm>
              <a:off x="2294125" y="1732750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51"/>
            <p:cNvSpPr/>
            <p:nvPr/>
          </p:nvSpPr>
          <p:spPr>
            <a:xfrm>
              <a:off x="2294125" y="23127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51"/>
            <p:cNvSpPr/>
            <p:nvPr/>
          </p:nvSpPr>
          <p:spPr>
            <a:xfrm>
              <a:off x="2294125" y="29665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6" name="Google Shape;1006;p51"/>
          <p:cNvGrpSpPr/>
          <p:nvPr/>
        </p:nvGrpSpPr>
        <p:grpSpPr>
          <a:xfrm>
            <a:off x="4466063" y="1904825"/>
            <a:ext cx="231900" cy="1465725"/>
            <a:chOff x="2294125" y="1732750"/>
            <a:chExt cx="231900" cy="1465725"/>
          </a:xfrm>
        </p:grpSpPr>
        <p:sp>
          <p:nvSpPr>
            <p:cNvPr id="1007" name="Google Shape;1007;p51"/>
            <p:cNvSpPr/>
            <p:nvPr/>
          </p:nvSpPr>
          <p:spPr>
            <a:xfrm>
              <a:off x="2294125" y="1732750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51"/>
            <p:cNvSpPr/>
            <p:nvPr/>
          </p:nvSpPr>
          <p:spPr>
            <a:xfrm>
              <a:off x="2294125" y="23127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51"/>
            <p:cNvSpPr/>
            <p:nvPr/>
          </p:nvSpPr>
          <p:spPr>
            <a:xfrm>
              <a:off x="2294125" y="29665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010" name="Google Shape;1010;p51"/>
          <p:cNvCxnSpPr>
            <a:stCxn id="966" idx="6"/>
            <a:endCxn id="1003" idx="2"/>
          </p:cNvCxnSpPr>
          <p:nvPr/>
        </p:nvCxnSpPr>
        <p:spPr>
          <a:xfrm>
            <a:off x="2943100" y="2020763"/>
            <a:ext cx="38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1" name="Google Shape;1011;p51"/>
          <p:cNvCxnSpPr>
            <a:stCxn id="967" idx="6"/>
            <a:endCxn id="1004" idx="2"/>
          </p:cNvCxnSpPr>
          <p:nvPr/>
        </p:nvCxnSpPr>
        <p:spPr>
          <a:xfrm>
            <a:off x="2943100" y="2600788"/>
            <a:ext cx="38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2" name="Google Shape;1012;p51"/>
          <p:cNvCxnSpPr>
            <a:stCxn id="968" idx="6"/>
            <a:endCxn id="1005" idx="2"/>
          </p:cNvCxnSpPr>
          <p:nvPr/>
        </p:nvCxnSpPr>
        <p:spPr>
          <a:xfrm>
            <a:off x="2943100" y="3254588"/>
            <a:ext cx="38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3" name="Google Shape;1013;p51"/>
          <p:cNvCxnSpPr>
            <a:stCxn id="1007" idx="6"/>
            <a:endCxn id="978" idx="2"/>
          </p:cNvCxnSpPr>
          <p:nvPr/>
        </p:nvCxnSpPr>
        <p:spPr>
          <a:xfrm>
            <a:off x="4697963" y="2020775"/>
            <a:ext cx="452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4" name="Google Shape;1014;p51"/>
          <p:cNvCxnSpPr>
            <a:stCxn id="1008" idx="6"/>
            <a:endCxn id="979" idx="2"/>
          </p:cNvCxnSpPr>
          <p:nvPr/>
        </p:nvCxnSpPr>
        <p:spPr>
          <a:xfrm>
            <a:off x="4697963" y="2600800"/>
            <a:ext cx="452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5" name="Google Shape;1015;p51"/>
          <p:cNvCxnSpPr>
            <a:stCxn id="1009" idx="6"/>
            <a:endCxn id="980" idx="2"/>
          </p:cNvCxnSpPr>
          <p:nvPr/>
        </p:nvCxnSpPr>
        <p:spPr>
          <a:xfrm>
            <a:off x="4697963" y="3254600"/>
            <a:ext cx="452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16" name="Google Shape;1016;p51"/>
          <p:cNvSpPr txBox="1"/>
          <p:nvPr/>
        </p:nvSpPr>
        <p:spPr>
          <a:xfrm>
            <a:off x="5096225" y="1509413"/>
            <a:ext cx="653400" cy="5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ẑ</a:t>
            </a:r>
            <a:r>
              <a:rPr lang="en-GB" sz="1800" baseline="30000">
                <a:solidFill>
                  <a:schemeClr val="dk1"/>
                </a:solidFill>
              </a:rPr>
              <a:t>(2)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1017" name="Google Shape;1017;p51"/>
          <p:cNvSpPr txBox="1"/>
          <p:nvPr/>
        </p:nvSpPr>
        <p:spPr>
          <a:xfrm>
            <a:off x="6263625" y="2292725"/>
            <a:ext cx="854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y=f(x)</a:t>
            </a:r>
          </a:p>
        </p:txBody>
      </p:sp>
      <p:sp>
        <p:nvSpPr>
          <p:cNvPr id="1018" name="Google Shape;1018;p51"/>
          <p:cNvSpPr txBox="1"/>
          <p:nvPr/>
        </p:nvSpPr>
        <p:spPr>
          <a:xfrm>
            <a:off x="197625" y="3542600"/>
            <a:ext cx="6128700" cy="6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595959"/>
                </a:solidFill>
              </a:rPr>
              <a:t>Does there exist x, s.t.  x ∈ S  ∧  y ≤ 0  ∧  y = f(x) </a:t>
            </a:r>
            <a:endParaRPr sz="2000">
              <a:solidFill>
                <a:srgbClr val="595959"/>
              </a:solidFill>
            </a:endParaRPr>
          </a:p>
        </p:txBody>
      </p:sp>
      <p:sp>
        <p:nvSpPr>
          <p:cNvPr id="1019" name="Google Shape;1019;p51"/>
          <p:cNvSpPr txBox="1"/>
          <p:nvPr/>
        </p:nvSpPr>
        <p:spPr>
          <a:xfrm>
            <a:off x="3717125" y="4356350"/>
            <a:ext cx="2413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Negation of the desired property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020" name="Google Shape;1020;p51"/>
          <p:cNvSpPr txBox="1"/>
          <p:nvPr/>
        </p:nvSpPr>
        <p:spPr>
          <a:xfrm>
            <a:off x="5922199" y="3740100"/>
            <a:ext cx="180171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Defines the neural network</a:t>
            </a: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1021" name="Google Shape;1021;p51"/>
          <p:cNvSpPr txBox="1"/>
          <p:nvPr/>
        </p:nvSpPr>
        <p:spPr>
          <a:xfrm>
            <a:off x="890575" y="4204975"/>
            <a:ext cx="2413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Input domain under consideration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1022" name="Google Shape;1022;p51"/>
          <p:cNvCxnSpPr/>
          <p:nvPr/>
        </p:nvCxnSpPr>
        <p:spPr>
          <a:xfrm rot="10800000" flipH="1">
            <a:off x="2700325" y="3903875"/>
            <a:ext cx="421500" cy="442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3" name="Google Shape;1023;p51"/>
          <p:cNvCxnSpPr/>
          <p:nvPr/>
        </p:nvCxnSpPr>
        <p:spPr>
          <a:xfrm rot="10800000">
            <a:off x="4075400" y="3972050"/>
            <a:ext cx="332400" cy="553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4" name="Google Shape;1024;p51"/>
          <p:cNvCxnSpPr/>
          <p:nvPr/>
        </p:nvCxnSpPr>
        <p:spPr>
          <a:xfrm rot="10800000">
            <a:off x="5807074" y="3738975"/>
            <a:ext cx="1132500" cy="17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1025" name="Google Shape;1025;p51"/>
          <p:cNvPicPr preferRelativeResize="0"/>
          <p:nvPr/>
        </p:nvPicPr>
        <p:blipFill rotWithShape="1">
          <a:blip r:embed="rId3"/>
          <a:srcRect l="14039" t="9153" r="55651" b="45213"/>
          <a:stretch>
            <a:fillRect/>
          </a:stretch>
        </p:blipFill>
        <p:spPr>
          <a:xfrm>
            <a:off x="65350" y="2149108"/>
            <a:ext cx="653399" cy="655637"/>
          </a:xfrm>
          <a:prstGeom prst="rect">
            <a:avLst/>
          </a:prstGeom>
          <a:noFill/>
          <a:ln>
            <a:noFill/>
          </a:ln>
        </p:spPr>
      </p:pic>
      <p:sp>
        <p:nvSpPr>
          <p:cNvPr id="1026" name="Google Shape;1026;p51"/>
          <p:cNvSpPr/>
          <p:nvPr/>
        </p:nvSpPr>
        <p:spPr>
          <a:xfrm>
            <a:off x="326074" y="2577622"/>
            <a:ext cx="184200" cy="90900"/>
          </a:xfrm>
          <a:prstGeom prst="rect">
            <a:avLst/>
          </a:prstGeom>
          <a:gradFill>
            <a:gsLst>
              <a:gs pos="0">
                <a:srgbClr val="FFFF00"/>
              </a:gs>
              <a:gs pos="100000">
                <a:srgbClr val="4A86E8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00FF00"/>
              </a:solidFill>
            </a:endParaRPr>
          </a:p>
        </p:txBody>
      </p:sp>
      <p:grpSp>
        <p:nvGrpSpPr>
          <p:cNvPr id="1027" name="Google Shape;1027;p51"/>
          <p:cNvGrpSpPr/>
          <p:nvPr/>
        </p:nvGrpSpPr>
        <p:grpSpPr>
          <a:xfrm>
            <a:off x="7118059" y="1335925"/>
            <a:ext cx="1427550" cy="1873725"/>
            <a:chOff x="5659759" y="914325"/>
            <a:chExt cx="1427550" cy="1873725"/>
          </a:xfrm>
        </p:grpSpPr>
        <p:grpSp>
          <p:nvGrpSpPr>
            <p:cNvPr id="1028" name="Google Shape;1028;p51"/>
            <p:cNvGrpSpPr/>
            <p:nvPr/>
          </p:nvGrpSpPr>
          <p:grpSpPr>
            <a:xfrm>
              <a:off x="6177300" y="1265650"/>
              <a:ext cx="791100" cy="776775"/>
              <a:chOff x="5901775" y="3443650"/>
              <a:chExt cx="791100" cy="776775"/>
            </a:xfrm>
          </p:grpSpPr>
          <p:cxnSp>
            <p:nvCxnSpPr>
              <p:cNvPr id="1029" name="Google Shape;1029;p51"/>
              <p:cNvCxnSpPr/>
              <p:nvPr/>
            </p:nvCxnSpPr>
            <p:spPr>
              <a:xfrm>
                <a:off x="5901775" y="3443650"/>
                <a:ext cx="7911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dash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30" name="Google Shape;1030;p51"/>
              <p:cNvCxnSpPr/>
              <p:nvPr/>
            </p:nvCxnSpPr>
            <p:spPr>
              <a:xfrm>
                <a:off x="5921600" y="4220425"/>
                <a:ext cx="771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dash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31" name="Google Shape;1031;p51"/>
              <p:cNvCxnSpPr/>
              <p:nvPr/>
            </p:nvCxnSpPr>
            <p:spPr>
              <a:xfrm>
                <a:off x="6097825" y="3451325"/>
                <a:ext cx="0" cy="7635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triangle" w="med" len="med"/>
                <a:tailEnd type="triangle" w="med" len="med"/>
              </a:ln>
            </p:spPr>
          </p:cxnSp>
        </p:grpSp>
        <p:sp>
          <p:nvSpPr>
            <p:cNvPr id="1032" name="Google Shape;1032;p51"/>
            <p:cNvSpPr txBox="1"/>
            <p:nvPr/>
          </p:nvSpPr>
          <p:spPr>
            <a:xfrm>
              <a:off x="6265609" y="2203050"/>
              <a:ext cx="821700" cy="58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300" b="1">
                  <a:solidFill>
                    <a:srgbClr val="000000"/>
                  </a:solidFill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Speed Limit</a:t>
              </a:r>
              <a:endParaRPr sz="1300"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endParaRPr>
            </a:p>
          </p:txBody>
        </p:sp>
        <p:grpSp>
          <p:nvGrpSpPr>
            <p:cNvPr id="1033" name="Google Shape;1033;p51"/>
            <p:cNvGrpSpPr/>
            <p:nvPr/>
          </p:nvGrpSpPr>
          <p:grpSpPr>
            <a:xfrm>
              <a:off x="5719109" y="1258075"/>
              <a:ext cx="1005412" cy="1346825"/>
              <a:chOff x="551310" y="2116700"/>
              <a:chExt cx="897850" cy="1346825"/>
            </a:xfrm>
          </p:grpSpPr>
          <p:sp>
            <p:nvSpPr>
              <p:cNvPr id="1034" name="Google Shape;1034;p51"/>
              <p:cNvSpPr/>
              <p:nvPr/>
            </p:nvSpPr>
            <p:spPr>
              <a:xfrm>
                <a:off x="1263460" y="2906705"/>
                <a:ext cx="185700" cy="165000"/>
              </a:xfrm>
              <a:prstGeom prst="rect">
                <a:avLst/>
              </a:prstGeom>
              <a:solidFill>
                <a:srgbClr val="F9CB9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35" name="Google Shape;1035;p51"/>
              <p:cNvGrpSpPr/>
              <p:nvPr/>
            </p:nvGrpSpPr>
            <p:grpSpPr>
              <a:xfrm>
                <a:off x="551310" y="2116700"/>
                <a:ext cx="644100" cy="1346825"/>
                <a:chOff x="551310" y="2116700"/>
                <a:chExt cx="644100" cy="1346825"/>
              </a:xfrm>
            </p:grpSpPr>
            <p:sp>
              <p:nvSpPr>
                <p:cNvPr id="1036" name="Google Shape;1036;p51"/>
                <p:cNvSpPr/>
                <p:nvPr/>
              </p:nvSpPr>
              <p:spPr>
                <a:xfrm>
                  <a:off x="780510" y="2116700"/>
                  <a:ext cx="185700" cy="961800"/>
                </a:xfrm>
                <a:prstGeom prst="rect">
                  <a:avLst/>
                </a:prstGeom>
                <a:solidFill>
                  <a:srgbClr val="D9EAD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37" name="Google Shape;1037;p51"/>
                <p:cNvSpPr txBox="1"/>
                <p:nvPr/>
              </p:nvSpPr>
              <p:spPr>
                <a:xfrm>
                  <a:off x="551310" y="3078625"/>
                  <a:ext cx="644100" cy="384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GB" sz="1300" b="1">
                      <a:solidFill>
                        <a:srgbClr val="000000"/>
                      </a:solidFill>
                      <a:latin typeface="Georgia" panose="02040502050405020303"/>
                      <a:ea typeface="Georgia" panose="02040502050405020303"/>
                      <a:cs typeface="Georgia" panose="02040502050405020303"/>
                      <a:sym typeface="Georgia" panose="02040502050405020303"/>
                    </a:rPr>
                    <a:t>Stop</a:t>
                  </a:r>
                  <a:endParaRPr sz="1300">
                    <a:latin typeface="Georgia" panose="02040502050405020303"/>
                    <a:ea typeface="Georgia" panose="02040502050405020303"/>
                    <a:cs typeface="Georgia" panose="02040502050405020303"/>
                    <a:sym typeface="Georgia" panose="02040502050405020303"/>
                  </a:endParaRPr>
                </a:p>
              </p:txBody>
            </p:sp>
          </p:grpSp>
        </p:grpSp>
        <p:sp>
          <p:nvSpPr>
            <p:cNvPr id="1038" name="Google Shape;1038;p51"/>
            <p:cNvSpPr txBox="1"/>
            <p:nvPr/>
          </p:nvSpPr>
          <p:spPr>
            <a:xfrm>
              <a:off x="5659759" y="914325"/>
              <a:ext cx="7869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0.9</a:t>
              </a:r>
              <a:endParaRPr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endParaRPr>
            </a:p>
          </p:txBody>
        </p:sp>
        <p:sp>
          <p:nvSpPr>
            <p:cNvPr id="1039" name="Google Shape;1039;p51"/>
            <p:cNvSpPr txBox="1"/>
            <p:nvPr/>
          </p:nvSpPr>
          <p:spPr>
            <a:xfrm>
              <a:off x="6278174" y="1706363"/>
              <a:ext cx="7212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0.1</a:t>
              </a:r>
              <a:endParaRPr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endParaRPr>
            </a:p>
          </p:txBody>
        </p:sp>
      </p:grpSp>
      <p:pic>
        <p:nvPicPr>
          <p:cNvPr id="2" name="Google Shape;943;p49">
            <a:extLst>
              <a:ext uri="{FF2B5EF4-FFF2-40B4-BE49-F238E27FC236}">
                <a16:creationId xmlns:a16="http://schemas.microsoft.com/office/drawing/2014/main" id="{1E99D9BC-FFFF-22D9-3342-44B6B7F4B62B}"/>
              </a:ext>
            </a:extLst>
          </p:cNvPr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8031150" y="3191926"/>
            <a:ext cx="1002725" cy="783890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E6F5C47-B9DC-5EF6-9D74-ED5562BF51EE}"/>
                  </a:ext>
                </a:extLst>
              </p:cNvPr>
              <p:cNvSpPr txBox="1"/>
              <p:nvPr/>
            </p:nvSpPr>
            <p:spPr>
              <a:xfrm>
                <a:off x="8287825" y="3981199"/>
                <a:ext cx="856175" cy="3908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GB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E6F5C47-B9DC-5EF6-9D74-ED5562BF51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7825" y="3981199"/>
                <a:ext cx="856175" cy="390876"/>
              </a:xfrm>
              <a:prstGeom prst="rect">
                <a:avLst/>
              </a:prstGeom>
              <a:blipFill>
                <a:blip r:embed="rId5"/>
                <a:stretch>
                  <a:fillRect b="-3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Google Shape;998;p51">
                <a:extLst>
                  <a:ext uri="{FF2B5EF4-FFF2-40B4-BE49-F238E27FC236}">
                    <a16:creationId xmlns:a16="http://schemas.microsoft.com/office/drawing/2014/main" id="{2EA269C8-BE8E-9D54-40FC-95FB6EFF61D8}"/>
                  </a:ext>
                </a:extLst>
              </p:cNvPr>
              <p:cNvSpPr txBox="1"/>
              <p:nvPr/>
            </p:nvSpPr>
            <p:spPr>
              <a:xfrm>
                <a:off x="7654327" y="3350258"/>
                <a:ext cx="653400" cy="52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sz="12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5" name="Google Shape;998;p51">
                <a:extLst>
                  <a:ext uri="{FF2B5EF4-FFF2-40B4-BE49-F238E27FC236}">
                    <a16:creationId xmlns:a16="http://schemas.microsoft.com/office/drawing/2014/main" id="{2EA269C8-BE8E-9D54-40FC-95FB6EFF61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327" y="3350258"/>
                <a:ext cx="653400" cy="5271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23027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50"/>
          <p:cNvSpPr/>
          <p:nvPr/>
        </p:nvSpPr>
        <p:spPr>
          <a:xfrm>
            <a:off x="912725" y="1637050"/>
            <a:ext cx="6741300" cy="1517400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49" name="Google Shape;949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 Light" panose="020F0302020204030204" pitchFamily="34" charset="0"/>
                <a:cs typeface="Calibri Light" panose="020F0302020204030204" pitchFamily="34" charset="0"/>
              </a:rPr>
              <a:t>Verification of neural networks</a:t>
            </a:r>
          </a:p>
        </p:txBody>
      </p:sp>
      <p:sp>
        <p:nvSpPr>
          <p:cNvPr id="950" name="Google Shape;950;p50"/>
          <p:cNvSpPr txBox="1"/>
          <p:nvPr/>
        </p:nvSpPr>
        <p:spPr>
          <a:xfrm>
            <a:off x="939525" y="1017713"/>
            <a:ext cx="65313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Satisfiability problem: ∃ x ∈ S  ∧  y ≤ 0  ∧  y = f(x) </a:t>
            </a:r>
            <a:endParaRPr sz="200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51" name="Google Shape;951;p50"/>
          <p:cNvSpPr txBox="1"/>
          <p:nvPr/>
        </p:nvSpPr>
        <p:spPr>
          <a:xfrm>
            <a:off x="939525" y="2042425"/>
            <a:ext cx="75429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((z</a:t>
            </a:r>
            <a:r>
              <a:rPr lang="en-GB" sz="1800" baseline="-25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(i) 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≥ 0 ∧ ẑ</a:t>
            </a:r>
            <a:r>
              <a:rPr lang="en-GB" sz="1800" baseline="-25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(i)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= z</a:t>
            </a:r>
            <a:r>
              <a:rPr lang="en-GB" sz="1800" baseline="-25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(i)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 </a:t>
            </a:r>
            <a:r>
              <a:rPr lang="en-GB" sz="1800">
                <a:solidFill>
                  <a:srgbClr val="BD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∨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(z</a:t>
            </a:r>
            <a:r>
              <a:rPr lang="en-GB" sz="1800" baseline="-25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(i) 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&lt;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0 ∧ ẑ</a:t>
            </a:r>
            <a:r>
              <a:rPr lang="en-GB" sz="1800" baseline="-25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(i)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= 0))  for each ReLU neuron</a:t>
            </a:r>
            <a:endParaRPr sz="180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52" name="Google Shape;952;p50"/>
          <p:cNvSpPr txBox="1"/>
          <p:nvPr/>
        </p:nvSpPr>
        <p:spPr>
          <a:xfrm>
            <a:off x="939525" y="2646500"/>
            <a:ext cx="71640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z</a:t>
            </a:r>
            <a:r>
              <a:rPr lang="en-GB" sz="21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=W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(1)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x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   </a:t>
            </a:r>
            <a:r>
              <a:rPr lang="en-GB" sz="21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∧</a:t>
            </a:r>
            <a:r>
              <a:rPr lang="en-GB" sz="21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        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z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(2)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=W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(2)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ẑ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(1)</a:t>
            </a:r>
            <a:r>
              <a:rPr lang="en-GB" sz="21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    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∧</a:t>
            </a:r>
            <a:r>
              <a:rPr lang="en-GB" sz="21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   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y=w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(3)T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ẑ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(2)   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∧   y ≤ 0 </a:t>
            </a:r>
            <a:endParaRPr sz="2100" baseline="3000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53" name="Google Shape;953;p50"/>
          <p:cNvSpPr txBox="1"/>
          <p:nvPr/>
        </p:nvSpPr>
        <p:spPr>
          <a:xfrm>
            <a:off x="939525" y="3254913"/>
            <a:ext cx="65313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Add all clauses to the formula and solve using DPLL(T) with Linear Real Arithmetic.</a:t>
            </a:r>
            <a:endParaRPr sz="200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54" name="Google Shape;954;p50"/>
          <p:cNvSpPr txBox="1"/>
          <p:nvPr/>
        </p:nvSpPr>
        <p:spPr>
          <a:xfrm>
            <a:off x="939525" y="3998063"/>
            <a:ext cx="65313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In general this is very slow! </a:t>
            </a:r>
            <a:endParaRPr sz="20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55" name="Google Shape;955;p50"/>
          <p:cNvSpPr txBox="1"/>
          <p:nvPr/>
        </p:nvSpPr>
        <p:spPr>
          <a:xfrm>
            <a:off x="957125" y="1565450"/>
            <a:ext cx="5413500" cy="697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x</a:t>
            </a:r>
            <a:r>
              <a:rPr lang="en-GB" sz="20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≤ u</a:t>
            </a:r>
            <a:r>
              <a:rPr lang="en-GB" sz="20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  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∧ x</a:t>
            </a:r>
            <a:r>
              <a:rPr lang="en-GB" sz="20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z="18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≥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l</a:t>
            </a:r>
            <a:r>
              <a:rPr lang="en-GB" sz="20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 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for each dimension of x</a:t>
            </a:r>
            <a:endParaRPr sz="180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aseline="-2500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2" name="Google Shape;943;p49">
            <a:extLst>
              <a:ext uri="{FF2B5EF4-FFF2-40B4-BE49-F238E27FC236}">
                <a16:creationId xmlns:a16="http://schemas.microsoft.com/office/drawing/2014/main" id="{3DA676A5-91F2-44ED-39C0-AB1DFDDA06CE}"/>
              </a:ext>
            </a:extLst>
          </p:cNvPr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8031150" y="3191926"/>
            <a:ext cx="1002725" cy="783890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1EF5B0C-588F-E8DD-5C0C-A7EA29447A28}"/>
                  </a:ext>
                </a:extLst>
              </p:cNvPr>
              <p:cNvSpPr txBox="1"/>
              <p:nvPr/>
            </p:nvSpPr>
            <p:spPr>
              <a:xfrm>
                <a:off x="8287825" y="3981199"/>
                <a:ext cx="856175" cy="3908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GB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1EF5B0C-588F-E8DD-5C0C-A7EA29447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7825" y="3981199"/>
                <a:ext cx="856175" cy="390876"/>
              </a:xfrm>
              <a:prstGeom prst="rect">
                <a:avLst/>
              </a:prstGeom>
              <a:blipFill>
                <a:blip r:embed="rId4"/>
                <a:stretch>
                  <a:fillRect b="-3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Google Shape;998;p51">
                <a:extLst>
                  <a:ext uri="{FF2B5EF4-FFF2-40B4-BE49-F238E27FC236}">
                    <a16:creationId xmlns:a16="http://schemas.microsoft.com/office/drawing/2014/main" id="{90289886-8EAD-4ACB-60C3-40D5D1584001}"/>
                  </a:ext>
                </a:extLst>
              </p:cNvPr>
              <p:cNvSpPr txBox="1"/>
              <p:nvPr/>
            </p:nvSpPr>
            <p:spPr>
              <a:xfrm>
                <a:off x="7654327" y="3350258"/>
                <a:ext cx="653400" cy="52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sz="12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4" name="Google Shape;998;p51">
                <a:extLst>
                  <a:ext uri="{FF2B5EF4-FFF2-40B4-BE49-F238E27FC236}">
                    <a16:creationId xmlns:a16="http://schemas.microsoft.com/office/drawing/2014/main" id="{90289886-8EAD-4ACB-60C3-40D5D15840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327" y="3350258"/>
                <a:ext cx="653400" cy="5271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1"/>
          <p:cNvSpPr/>
          <p:nvPr/>
        </p:nvSpPr>
        <p:spPr>
          <a:xfrm>
            <a:off x="912725" y="1637050"/>
            <a:ext cx="6741300" cy="1517400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21"/>
          <p:cNvSpPr txBox="1">
            <a:spLocks noGrp="1"/>
          </p:cNvSpPr>
          <p:nvPr>
            <p:ph type="title"/>
          </p:nvPr>
        </p:nvSpPr>
        <p:spPr>
          <a:xfrm>
            <a:off x="44275" y="445025"/>
            <a:ext cx="9032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How does a SMT solver solve this problem?</a:t>
            </a:r>
          </a:p>
        </p:txBody>
      </p:sp>
      <p:sp>
        <p:nvSpPr>
          <p:cNvPr id="256" name="Google Shape;256;p21"/>
          <p:cNvSpPr txBox="1"/>
          <p:nvPr/>
        </p:nvSpPr>
        <p:spPr>
          <a:xfrm>
            <a:off x="939525" y="1017713"/>
            <a:ext cx="65313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2"/>
                </a:solidFill>
              </a:rPr>
              <a:t>Obtain the abstract version of the problem</a:t>
            </a:r>
            <a:endParaRPr sz="20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chemeClr val="dk2"/>
              </a:solidFill>
            </a:endParaRPr>
          </a:p>
        </p:txBody>
      </p:sp>
      <p:sp>
        <p:nvSpPr>
          <p:cNvPr id="257" name="Google Shape;257;p21"/>
          <p:cNvSpPr txBox="1"/>
          <p:nvPr/>
        </p:nvSpPr>
        <p:spPr>
          <a:xfrm>
            <a:off x="939525" y="2042425"/>
            <a:ext cx="75429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((</a:t>
            </a:r>
            <a:r>
              <a:rPr lang="en-GB" sz="1800" dirty="0" err="1">
                <a:solidFill>
                  <a:schemeClr val="dk2"/>
                </a:solidFill>
              </a:rPr>
              <a:t>z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chemeClr val="dk2"/>
                </a:solidFill>
              </a:rPr>
              <a:t>≥ 0 ∧ </a:t>
            </a:r>
            <a:r>
              <a:rPr lang="en-GB" sz="1800" dirty="0" err="1">
                <a:solidFill>
                  <a:schemeClr val="dk2"/>
                </a:solidFill>
              </a:rPr>
              <a:t>ẑ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= </a:t>
            </a:r>
            <a:r>
              <a:rPr lang="en-GB" sz="1800" dirty="0" err="1">
                <a:solidFill>
                  <a:schemeClr val="dk2"/>
                </a:solidFill>
              </a:rPr>
              <a:t>z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) ∨ (</a:t>
            </a:r>
            <a:r>
              <a:rPr lang="en-GB" sz="1800" dirty="0" err="1">
                <a:solidFill>
                  <a:schemeClr val="dk2"/>
                </a:solidFill>
              </a:rPr>
              <a:t>z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2000" dirty="0">
                <a:solidFill>
                  <a:schemeClr val="dk2"/>
                </a:solidFill>
              </a:rPr>
              <a:t>&lt;</a:t>
            </a:r>
            <a:r>
              <a:rPr lang="en-GB" sz="1800" dirty="0">
                <a:solidFill>
                  <a:schemeClr val="dk2"/>
                </a:solidFill>
              </a:rPr>
              <a:t> 0 ∧ </a:t>
            </a:r>
            <a:r>
              <a:rPr lang="en-GB" sz="1800" dirty="0" err="1">
                <a:solidFill>
                  <a:schemeClr val="dk2"/>
                </a:solidFill>
              </a:rPr>
              <a:t>ẑ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= 0))  for each </a:t>
            </a:r>
            <a:r>
              <a:rPr lang="en-GB" sz="1800" dirty="0" err="1">
                <a:solidFill>
                  <a:schemeClr val="dk2"/>
                </a:solidFill>
              </a:rPr>
              <a:t>ReLU</a:t>
            </a:r>
            <a:r>
              <a:rPr lang="en-GB" sz="1800" dirty="0">
                <a:solidFill>
                  <a:schemeClr val="dk2"/>
                </a:solidFill>
              </a:rPr>
              <a:t> neuron</a:t>
            </a: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258" name="Google Shape;258;p21"/>
          <p:cNvSpPr txBox="1"/>
          <p:nvPr/>
        </p:nvSpPr>
        <p:spPr>
          <a:xfrm>
            <a:off x="939525" y="2646500"/>
            <a:ext cx="71640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 dirty="0">
                <a:solidFill>
                  <a:schemeClr val="dk2"/>
                </a:solidFill>
              </a:rPr>
              <a:t>z</a:t>
            </a:r>
            <a:r>
              <a:rPr lang="en-GB" sz="2100" baseline="-25000" dirty="0">
                <a:solidFill>
                  <a:schemeClr val="dk2"/>
                </a:solidFill>
              </a:rPr>
              <a:t>1</a:t>
            </a:r>
            <a:r>
              <a:rPr lang="en-GB" sz="2100" dirty="0">
                <a:solidFill>
                  <a:schemeClr val="dk2"/>
                </a:solidFill>
              </a:rPr>
              <a:t> =W</a:t>
            </a:r>
            <a:r>
              <a:rPr lang="en-GB" sz="2100" baseline="30000" dirty="0">
                <a:solidFill>
                  <a:schemeClr val="dk2"/>
                </a:solidFill>
              </a:rPr>
              <a:t>(1)</a:t>
            </a:r>
            <a:r>
              <a:rPr lang="en-GB" sz="2100" dirty="0">
                <a:solidFill>
                  <a:schemeClr val="dk2"/>
                </a:solidFill>
              </a:rPr>
              <a:t> x</a:t>
            </a:r>
            <a:r>
              <a:rPr lang="en-GB" sz="2100" baseline="30000" dirty="0">
                <a:solidFill>
                  <a:schemeClr val="dk2"/>
                </a:solidFill>
              </a:rPr>
              <a:t>    </a:t>
            </a:r>
            <a:r>
              <a:rPr lang="en-GB" sz="2100" baseline="-25000" dirty="0">
                <a:solidFill>
                  <a:schemeClr val="dk2"/>
                </a:solidFill>
              </a:rPr>
              <a:t> </a:t>
            </a:r>
            <a:r>
              <a:rPr lang="en-GB" sz="2000" dirty="0">
                <a:solidFill>
                  <a:schemeClr val="dk2"/>
                </a:solidFill>
              </a:rPr>
              <a:t>∧</a:t>
            </a:r>
            <a:r>
              <a:rPr lang="en-GB" sz="2100" baseline="-25000" dirty="0">
                <a:solidFill>
                  <a:schemeClr val="dk2"/>
                </a:solidFill>
              </a:rPr>
              <a:t>         </a:t>
            </a:r>
            <a:r>
              <a:rPr lang="en-GB" sz="2100" dirty="0">
                <a:solidFill>
                  <a:schemeClr val="dk2"/>
                </a:solidFill>
              </a:rPr>
              <a:t>z</a:t>
            </a:r>
            <a:r>
              <a:rPr lang="en-GB" sz="2100" baseline="30000" dirty="0">
                <a:solidFill>
                  <a:schemeClr val="dk2"/>
                </a:solidFill>
              </a:rPr>
              <a:t>(2)</a:t>
            </a:r>
            <a:r>
              <a:rPr lang="en-GB" sz="2100" dirty="0">
                <a:solidFill>
                  <a:schemeClr val="dk2"/>
                </a:solidFill>
              </a:rPr>
              <a:t> =W</a:t>
            </a:r>
            <a:r>
              <a:rPr lang="en-GB" sz="2100" baseline="30000" dirty="0">
                <a:solidFill>
                  <a:schemeClr val="dk2"/>
                </a:solidFill>
              </a:rPr>
              <a:t>(2)</a:t>
            </a:r>
            <a:r>
              <a:rPr lang="en-GB" sz="2100" dirty="0">
                <a:solidFill>
                  <a:schemeClr val="dk2"/>
                </a:solidFill>
              </a:rPr>
              <a:t> </a:t>
            </a:r>
            <a:r>
              <a:rPr lang="en-GB" sz="2100" dirty="0" err="1">
                <a:solidFill>
                  <a:schemeClr val="dk2"/>
                </a:solidFill>
              </a:rPr>
              <a:t>ẑ</a:t>
            </a:r>
            <a:r>
              <a:rPr lang="en-GB" sz="2100" baseline="30000" dirty="0">
                <a:solidFill>
                  <a:schemeClr val="dk2"/>
                </a:solidFill>
              </a:rPr>
              <a:t>(1)</a:t>
            </a:r>
            <a:r>
              <a:rPr lang="en-GB" sz="2100" baseline="-25000" dirty="0">
                <a:solidFill>
                  <a:schemeClr val="dk2"/>
                </a:solidFill>
              </a:rPr>
              <a:t>     </a:t>
            </a:r>
            <a:r>
              <a:rPr lang="en-GB" sz="2000" dirty="0">
                <a:solidFill>
                  <a:schemeClr val="dk2"/>
                </a:solidFill>
              </a:rPr>
              <a:t>∧</a:t>
            </a:r>
            <a:r>
              <a:rPr lang="en-GB" sz="2100" baseline="-25000" dirty="0">
                <a:solidFill>
                  <a:schemeClr val="dk2"/>
                </a:solidFill>
              </a:rPr>
              <a:t>    </a:t>
            </a:r>
            <a:r>
              <a:rPr lang="en-GB" sz="2100" dirty="0">
                <a:solidFill>
                  <a:schemeClr val="dk2"/>
                </a:solidFill>
              </a:rPr>
              <a:t> y=w</a:t>
            </a:r>
            <a:r>
              <a:rPr lang="en-GB" sz="2100" baseline="30000" dirty="0">
                <a:solidFill>
                  <a:schemeClr val="dk2"/>
                </a:solidFill>
              </a:rPr>
              <a:t>(3)T</a:t>
            </a:r>
            <a:r>
              <a:rPr lang="en-GB" sz="2100" dirty="0">
                <a:solidFill>
                  <a:schemeClr val="dk2"/>
                </a:solidFill>
              </a:rPr>
              <a:t> </a:t>
            </a:r>
            <a:r>
              <a:rPr lang="en-GB" sz="2100" dirty="0" err="1">
                <a:solidFill>
                  <a:schemeClr val="dk2"/>
                </a:solidFill>
              </a:rPr>
              <a:t>ẑ</a:t>
            </a:r>
            <a:r>
              <a:rPr lang="en-GB" sz="2100" baseline="30000" dirty="0">
                <a:solidFill>
                  <a:schemeClr val="dk2"/>
                </a:solidFill>
              </a:rPr>
              <a:t>(2)   </a:t>
            </a:r>
            <a:r>
              <a:rPr lang="en-GB" sz="2000" dirty="0">
                <a:solidFill>
                  <a:schemeClr val="dk2"/>
                </a:solidFill>
              </a:rPr>
              <a:t>∧   y ≤ 0 </a:t>
            </a:r>
            <a:endParaRPr sz="2100" baseline="30000" dirty="0">
              <a:solidFill>
                <a:schemeClr val="dk2"/>
              </a:solidFill>
            </a:endParaRPr>
          </a:p>
        </p:txBody>
      </p:sp>
      <p:sp>
        <p:nvSpPr>
          <p:cNvPr id="259" name="Google Shape;259;p21"/>
          <p:cNvSpPr txBox="1"/>
          <p:nvPr/>
        </p:nvSpPr>
        <p:spPr>
          <a:xfrm>
            <a:off x="957125" y="1565450"/>
            <a:ext cx="75429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2"/>
                </a:solidFill>
              </a:rPr>
              <a:t>x</a:t>
            </a:r>
            <a:r>
              <a:rPr lang="en-GB" sz="2000" baseline="-25000">
                <a:solidFill>
                  <a:schemeClr val="dk2"/>
                </a:solidFill>
              </a:rPr>
              <a:t>i</a:t>
            </a:r>
            <a:r>
              <a:rPr lang="en-GB" sz="2000">
                <a:solidFill>
                  <a:schemeClr val="dk2"/>
                </a:solidFill>
              </a:rPr>
              <a:t> ≤ u</a:t>
            </a:r>
            <a:r>
              <a:rPr lang="en-GB" sz="2000" baseline="-25000">
                <a:solidFill>
                  <a:schemeClr val="dk2"/>
                </a:solidFill>
              </a:rPr>
              <a:t>i  </a:t>
            </a:r>
            <a:r>
              <a:rPr lang="en-GB" sz="2000">
                <a:solidFill>
                  <a:schemeClr val="dk2"/>
                </a:solidFill>
              </a:rPr>
              <a:t>∧ x</a:t>
            </a:r>
            <a:r>
              <a:rPr lang="en-GB" sz="2000" baseline="-25000">
                <a:solidFill>
                  <a:schemeClr val="dk2"/>
                </a:solidFill>
              </a:rPr>
              <a:t>i</a:t>
            </a:r>
            <a:r>
              <a:rPr lang="en-GB" sz="2000">
                <a:solidFill>
                  <a:schemeClr val="dk2"/>
                </a:solidFill>
              </a:rPr>
              <a:t> </a:t>
            </a:r>
            <a:r>
              <a:rPr lang="en-GB" sz="1800">
                <a:solidFill>
                  <a:schemeClr val="dk2"/>
                </a:solidFill>
              </a:rPr>
              <a:t>≥</a:t>
            </a:r>
            <a:r>
              <a:rPr lang="en-GB" sz="2000">
                <a:solidFill>
                  <a:schemeClr val="dk2"/>
                </a:solidFill>
              </a:rPr>
              <a:t> l</a:t>
            </a:r>
            <a:r>
              <a:rPr lang="en-GB" sz="2000" baseline="-25000">
                <a:solidFill>
                  <a:schemeClr val="dk2"/>
                </a:solidFill>
              </a:rPr>
              <a:t>i </a:t>
            </a:r>
            <a:r>
              <a:rPr lang="en-GB" sz="1800">
                <a:solidFill>
                  <a:schemeClr val="dk1"/>
                </a:solidFill>
              </a:rPr>
              <a:t>  </a:t>
            </a:r>
            <a:r>
              <a:rPr lang="en-GB" sz="2000">
                <a:solidFill>
                  <a:schemeClr val="dk2"/>
                </a:solidFill>
              </a:rPr>
              <a:t> (assuming box constraints)</a:t>
            </a:r>
            <a:endParaRPr sz="2000" baseline="-25000">
              <a:solidFill>
                <a:schemeClr val="dk2"/>
              </a:solidFill>
            </a:endParaRPr>
          </a:p>
        </p:txBody>
      </p:sp>
      <p:sp>
        <p:nvSpPr>
          <p:cNvPr id="260" name="Google Shape;260;p21"/>
          <p:cNvSpPr txBox="1"/>
          <p:nvPr/>
        </p:nvSpPr>
        <p:spPr>
          <a:xfrm>
            <a:off x="813675" y="3319925"/>
            <a:ext cx="7775400" cy="1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2"/>
                </a:solidFill>
              </a:rPr>
              <a:t>For each </a:t>
            </a:r>
            <a:r>
              <a:rPr lang="en-GB" sz="2000" dirty="0" err="1">
                <a:solidFill>
                  <a:schemeClr val="dk2"/>
                </a:solidFill>
              </a:rPr>
              <a:t>ReLU</a:t>
            </a:r>
            <a:r>
              <a:rPr lang="en-GB" sz="2000" dirty="0">
                <a:solidFill>
                  <a:schemeClr val="dk2"/>
                </a:solidFill>
              </a:rPr>
              <a:t> neuron: </a:t>
            </a:r>
            <a:r>
              <a:rPr lang="en-GB" sz="1800" dirty="0">
                <a:solidFill>
                  <a:schemeClr val="dk2"/>
                </a:solidFill>
              </a:rPr>
              <a:t>((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chemeClr val="dk2"/>
                </a:solidFill>
              </a:rPr>
              <a:t>∧ </a:t>
            </a:r>
            <a:r>
              <a:rPr lang="en-GB" sz="1800" dirty="0" err="1">
                <a:solidFill>
                  <a:schemeClr val="dk2"/>
                </a:solidFill>
              </a:rPr>
              <a:t>q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rgbClr val="FF0000"/>
                </a:solidFill>
              </a:rPr>
              <a:t>∨</a:t>
            </a:r>
            <a:r>
              <a:rPr lang="en-GB" sz="1800" dirty="0">
                <a:solidFill>
                  <a:schemeClr val="dk2"/>
                </a:solidFill>
              </a:rPr>
              <a:t> (¬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 ∧ </a:t>
            </a:r>
            <a:r>
              <a:rPr lang="en-GB" sz="1800" dirty="0" err="1">
                <a:solidFill>
                  <a:schemeClr val="dk2"/>
                </a:solidFill>
              </a:rPr>
              <a:t>r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))</a:t>
            </a: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chemeClr val="dk2"/>
                </a:solidFill>
              </a:rPr>
              <a:t>All other clauses contain only a single literal, and must be set to True</a:t>
            </a:r>
            <a:endParaRPr sz="1800" b="1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2"/>
          <p:cNvSpPr txBox="1">
            <a:spLocks noGrp="1"/>
          </p:cNvSpPr>
          <p:nvPr>
            <p:ph type="title"/>
          </p:nvPr>
        </p:nvSpPr>
        <p:spPr>
          <a:xfrm>
            <a:off x="44275" y="445025"/>
            <a:ext cx="9032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How does a SMT solver solve this problem?</a:t>
            </a:r>
          </a:p>
        </p:txBody>
      </p:sp>
      <p:sp>
        <p:nvSpPr>
          <p:cNvPr id="266" name="Google Shape;266;p22"/>
          <p:cNvSpPr txBox="1"/>
          <p:nvPr/>
        </p:nvSpPr>
        <p:spPr>
          <a:xfrm>
            <a:off x="939525" y="1017713"/>
            <a:ext cx="65313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2"/>
                </a:solidFill>
              </a:rPr>
              <a:t>Now convert to CNF form</a:t>
            </a:r>
            <a:endParaRPr sz="20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2"/>
              </a:solidFill>
            </a:endParaRPr>
          </a:p>
        </p:txBody>
      </p:sp>
      <p:sp>
        <p:nvSpPr>
          <p:cNvPr id="267" name="Google Shape;267;p22"/>
          <p:cNvSpPr txBox="1"/>
          <p:nvPr/>
        </p:nvSpPr>
        <p:spPr>
          <a:xfrm>
            <a:off x="939525" y="1818125"/>
            <a:ext cx="7852800" cy="326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2"/>
                </a:solidFill>
              </a:rPr>
              <a:t>For each </a:t>
            </a:r>
            <a:r>
              <a:rPr lang="en-GB" sz="2000" dirty="0" err="1">
                <a:solidFill>
                  <a:schemeClr val="dk2"/>
                </a:solidFill>
              </a:rPr>
              <a:t>ReLU</a:t>
            </a:r>
            <a:r>
              <a:rPr lang="en-GB" sz="2000" dirty="0">
                <a:solidFill>
                  <a:schemeClr val="dk2"/>
                </a:solidFill>
              </a:rPr>
              <a:t> neuron: </a:t>
            </a:r>
            <a:r>
              <a:rPr lang="en-GB" sz="1800" dirty="0">
                <a:solidFill>
                  <a:schemeClr val="dk2"/>
                </a:solidFill>
              </a:rPr>
              <a:t>((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chemeClr val="dk2"/>
                </a:solidFill>
              </a:rPr>
              <a:t>∧ </a:t>
            </a:r>
            <a:r>
              <a:rPr lang="en-GB" sz="1800" dirty="0" err="1">
                <a:solidFill>
                  <a:schemeClr val="dk2"/>
                </a:solidFill>
              </a:rPr>
              <a:t>q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rgbClr val="FF0000"/>
                </a:solidFill>
              </a:rPr>
              <a:t>∨</a:t>
            </a:r>
            <a:r>
              <a:rPr lang="en-GB" sz="1800" dirty="0">
                <a:solidFill>
                  <a:schemeClr val="dk2"/>
                </a:solidFill>
              </a:rPr>
              <a:t> (¬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 ∧ </a:t>
            </a:r>
            <a:r>
              <a:rPr lang="en-GB" sz="1800" dirty="0" err="1">
                <a:solidFill>
                  <a:schemeClr val="dk2"/>
                </a:solidFill>
              </a:rPr>
              <a:t>r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))</a:t>
            </a: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Distribution: ((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chemeClr val="dk1"/>
                </a:solidFill>
              </a:rPr>
              <a:t>∨</a:t>
            </a:r>
            <a:r>
              <a:rPr lang="en-GB" sz="1800" dirty="0">
                <a:solidFill>
                  <a:schemeClr val="dk2"/>
                </a:solidFill>
              </a:rPr>
              <a:t> ¬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) ∧ (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chemeClr val="dk1"/>
                </a:solidFill>
              </a:rPr>
              <a:t>∨</a:t>
            </a:r>
            <a:r>
              <a:rPr lang="en-GB" sz="1800" dirty="0">
                <a:solidFill>
                  <a:schemeClr val="dk2"/>
                </a:solidFill>
              </a:rPr>
              <a:t> </a:t>
            </a:r>
            <a:r>
              <a:rPr lang="en-GB" sz="1800" dirty="0" err="1">
                <a:solidFill>
                  <a:schemeClr val="dk2"/>
                </a:solidFill>
              </a:rPr>
              <a:t>r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) ∧(</a:t>
            </a:r>
            <a:r>
              <a:rPr lang="en-GB" sz="1800" dirty="0" err="1">
                <a:solidFill>
                  <a:schemeClr val="dk2"/>
                </a:solidFill>
              </a:rPr>
              <a:t>q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chemeClr val="dk1"/>
                </a:solidFill>
              </a:rPr>
              <a:t>∨</a:t>
            </a:r>
            <a:r>
              <a:rPr lang="en-GB" sz="1800" dirty="0">
                <a:solidFill>
                  <a:schemeClr val="dk2"/>
                </a:solidFill>
              </a:rPr>
              <a:t> ¬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) ∧(</a:t>
            </a:r>
            <a:r>
              <a:rPr lang="en-GB" sz="1800" dirty="0" err="1">
                <a:solidFill>
                  <a:schemeClr val="dk2"/>
                </a:solidFill>
              </a:rPr>
              <a:t>q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 </a:t>
            </a:r>
            <a:r>
              <a:rPr lang="en-GB" sz="1800" dirty="0">
                <a:solidFill>
                  <a:schemeClr val="dk1"/>
                </a:solidFill>
              </a:rPr>
              <a:t>∨</a:t>
            </a:r>
            <a:r>
              <a:rPr lang="en-GB" sz="1800" dirty="0">
                <a:solidFill>
                  <a:schemeClr val="dk2"/>
                </a:solidFill>
              </a:rPr>
              <a:t> </a:t>
            </a:r>
            <a:r>
              <a:rPr lang="en-GB" sz="1800" dirty="0" err="1">
                <a:solidFill>
                  <a:schemeClr val="dk2"/>
                </a:solidFill>
              </a:rPr>
              <a:t>r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))</a:t>
            </a: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Rewrite: (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chemeClr val="dk1"/>
                </a:solidFill>
              </a:rPr>
              <a:t>∨</a:t>
            </a:r>
            <a:r>
              <a:rPr lang="en-GB" sz="1800" dirty="0">
                <a:solidFill>
                  <a:schemeClr val="dk2"/>
                </a:solidFill>
              </a:rPr>
              <a:t> </a:t>
            </a:r>
            <a:r>
              <a:rPr lang="en-GB" sz="1800" dirty="0" err="1">
                <a:solidFill>
                  <a:schemeClr val="dk2"/>
                </a:solidFill>
              </a:rPr>
              <a:t>r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) ∧(¬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 </a:t>
            </a:r>
            <a:r>
              <a:rPr lang="en-GB" sz="1800" dirty="0">
                <a:solidFill>
                  <a:schemeClr val="dk1"/>
                </a:solidFill>
              </a:rPr>
              <a:t>∨</a:t>
            </a:r>
            <a:r>
              <a:rPr lang="en-GB" sz="1800" dirty="0">
                <a:solidFill>
                  <a:schemeClr val="dk2"/>
                </a:solidFill>
              </a:rPr>
              <a:t> </a:t>
            </a:r>
            <a:r>
              <a:rPr lang="en-GB" sz="1800" dirty="0" err="1">
                <a:solidFill>
                  <a:schemeClr val="dk2"/>
                </a:solidFill>
              </a:rPr>
              <a:t>q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chemeClr val="dk2"/>
                </a:solidFill>
              </a:rPr>
              <a:t>) ∧(</a:t>
            </a:r>
            <a:r>
              <a:rPr lang="en-GB" sz="1800" dirty="0" err="1">
                <a:solidFill>
                  <a:schemeClr val="dk2"/>
                </a:solidFill>
              </a:rPr>
              <a:t>q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 </a:t>
            </a:r>
            <a:r>
              <a:rPr lang="en-GB" sz="1800" dirty="0">
                <a:solidFill>
                  <a:schemeClr val="dk1"/>
                </a:solidFill>
              </a:rPr>
              <a:t>∨</a:t>
            </a:r>
            <a:r>
              <a:rPr lang="en-GB" sz="1800" dirty="0">
                <a:solidFill>
                  <a:schemeClr val="dk2"/>
                </a:solidFill>
              </a:rPr>
              <a:t> </a:t>
            </a:r>
            <a:r>
              <a:rPr lang="en-GB" sz="1800" dirty="0" err="1">
                <a:solidFill>
                  <a:schemeClr val="dk2"/>
                </a:solidFill>
              </a:rPr>
              <a:t>r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))</a:t>
            </a: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Observe that when 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1"/>
                </a:solidFill>
              </a:rPr>
              <a:t>=True, </a:t>
            </a:r>
            <a:r>
              <a:rPr lang="en-GB" sz="1800" dirty="0" err="1">
                <a:solidFill>
                  <a:schemeClr val="dk2"/>
                </a:solidFill>
              </a:rPr>
              <a:t>q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chemeClr val="dk2"/>
                </a:solidFill>
              </a:rPr>
              <a:t>must be true; 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1"/>
                </a:solidFill>
              </a:rPr>
              <a:t>=False, </a:t>
            </a:r>
            <a:r>
              <a:rPr lang="en-GB" sz="1800" dirty="0" err="1">
                <a:solidFill>
                  <a:schemeClr val="dk2"/>
                </a:solidFill>
              </a:rPr>
              <a:t>r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chemeClr val="dk2"/>
                </a:solidFill>
              </a:rPr>
              <a:t>must be true;</a:t>
            </a:r>
            <a:br>
              <a:rPr lang="en-GB" sz="1800" dirty="0">
                <a:solidFill>
                  <a:schemeClr val="dk2"/>
                </a:solidFill>
              </a:rPr>
            </a:b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So, the clause </a:t>
            </a:r>
            <a:r>
              <a:rPr lang="en-GB" sz="1800" dirty="0" err="1">
                <a:solidFill>
                  <a:schemeClr val="dk2"/>
                </a:solidFill>
              </a:rPr>
              <a:t>q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 </a:t>
            </a:r>
            <a:r>
              <a:rPr lang="en-GB" sz="1800" dirty="0">
                <a:solidFill>
                  <a:schemeClr val="dk1"/>
                </a:solidFill>
              </a:rPr>
              <a:t>∨</a:t>
            </a:r>
            <a:r>
              <a:rPr lang="en-GB" sz="1800" dirty="0">
                <a:solidFill>
                  <a:schemeClr val="dk2"/>
                </a:solidFill>
              </a:rPr>
              <a:t> </a:t>
            </a:r>
            <a:r>
              <a:rPr lang="en-GB" sz="1800" dirty="0" err="1">
                <a:solidFill>
                  <a:schemeClr val="dk2"/>
                </a:solidFill>
              </a:rPr>
              <a:t>r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chemeClr val="dk2"/>
                </a:solidFill>
              </a:rPr>
              <a:t>is redundant</a:t>
            </a: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23"/>
          <p:cNvSpPr txBox="1">
            <a:spLocks noGrp="1"/>
          </p:cNvSpPr>
          <p:nvPr>
            <p:ph type="title"/>
          </p:nvPr>
        </p:nvSpPr>
        <p:spPr>
          <a:xfrm>
            <a:off x="44275" y="445025"/>
            <a:ext cx="9032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How does a SMT solver solve this problem?</a:t>
            </a:r>
          </a:p>
        </p:txBody>
      </p:sp>
      <p:sp>
        <p:nvSpPr>
          <p:cNvPr id="273" name="Google Shape;273;p23"/>
          <p:cNvSpPr txBox="1"/>
          <p:nvPr/>
        </p:nvSpPr>
        <p:spPr>
          <a:xfrm>
            <a:off x="939525" y="1017713"/>
            <a:ext cx="6531300" cy="15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800" dirty="0">
                <a:solidFill>
                  <a:schemeClr val="dk2"/>
                </a:solidFill>
              </a:rPr>
              <a:t>(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chemeClr val="dk1"/>
                </a:solidFill>
              </a:rPr>
              <a:t>∨</a:t>
            </a:r>
            <a:r>
              <a:rPr lang="en-GB" sz="1800" dirty="0">
                <a:solidFill>
                  <a:schemeClr val="dk2"/>
                </a:solidFill>
              </a:rPr>
              <a:t> </a:t>
            </a:r>
            <a:r>
              <a:rPr lang="en-GB" sz="1800" dirty="0" err="1">
                <a:solidFill>
                  <a:schemeClr val="dk2"/>
                </a:solidFill>
              </a:rPr>
              <a:t>r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) ∧(¬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 </a:t>
            </a:r>
            <a:r>
              <a:rPr lang="en-GB" sz="1800" dirty="0">
                <a:solidFill>
                  <a:schemeClr val="dk1"/>
                </a:solidFill>
              </a:rPr>
              <a:t>∨</a:t>
            </a:r>
            <a:r>
              <a:rPr lang="en-GB" sz="1800" dirty="0">
                <a:solidFill>
                  <a:schemeClr val="dk2"/>
                </a:solidFill>
              </a:rPr>
              <a:t> </a:t>
            </a:r>
            <a:r>
              <a:rPr lang="en-GB" sz="1800" dirty="0" err="1">
                <a:solidFill>
                  <a:schemeClr val="dk2"/>
                </a:solidFill>
              </a:rPr>
              <a:t>q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chemeClr val="dk2"/>
                </a:solidFill>
              </a:rPr>
              <a:t>)</a:t>
            </a: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When 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1"/>
                </a:solidFill>
              </a:rPr>
              <a:t>=True, </a:t>
            </a:r>
            <a:r>
              <a:rPr lang="en-GB" sz="1800" dirty="0" err="1">
                <a:solidFill>
                  <a:schemeClr val="dk1"/>
                </a:solidFill>
              </a:rPr>
              <a:t>q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chemeClr val="dk2"/>
                </a:solidFill>
              </a:rPr>
              <a:t>must be true; 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1"/>
                </a:solidFill>
              </a:rPr>
              <a:t>=False, </a:t>
            </a:r>
            <a:r>
              <a:rPr lang="en-GB" sz="1800" dirty="0" err="1">
                <a:solidFill>
                  <a:schemeClr val="dk2"/>
                </a:solidFill>
              </a:rPr>
              <a:t>r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chemeClr val="dk2"/>
                </a:solidFill>
              </a:rPr>
              <a:t>must be true;</a:t>
            </a: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800" dirty="0">
                <a:solidFill>
                  <a:schemeClr val="dk2"/>
                </a:solidFill>
              </a:rPr>
              <a:t>SAT solver must try both cases of 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274" name="Google Shape;274;p23"/>
          <p:cNvSpPr txBox="1"/>
          <p:nvPr/>
        </p:nvSpPr>
        <p:spPr>
          <a:xfrm>
            <a:off x="939525" y="2850625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p</a:t>
            </a:r>
            <a:r>
              <a:rPr lang="en-GB" sz="1800" baseline="-25000">
                <a:solidFill>
                  <a:schemeClr val="dk2"/>
                </a:solidFill>
              </a:rPr>
              <a:t>j</a:t>
            </a:r>
            <a:r>
              <a:rPr lang="en-GB" sz="1800" baseline="30000">
                <a:solidFill>
                  <a:schemeClr val="dk2"/>
                </a:solidFill>
              </a:rPr>
              <a:t>(i)</a:t>
            </a:r>
            <a:r>
              <a:rPr lang="en-GB" sz="1800">
                <a:solidFill>
                  <a:schemeClr val="dk2"/>
                </a:solidFill>
              </a:rPr>
              <a:t>=True  (z</a:t>
            </a:r>
            <a:r>
              <a:rPr lang="en-GB" sz="1800" baseline="-25000">
                <a:solidFill>
                  <a:schemeClr val="dk2"/>
                </a:solidFill>
              </a:rPr>
              <a:t>j</a:t>
            </a:r>
            <a:r>
              <a:rPr lang="en-GB" sz="1800" baseline="30000">
                <a:solidFill>
                  <a:schemeClr val="dk2"/>
                </a:solidFill>
              </a:rPr>
              <a:t>(i) </a:t>
            </a:r>
            <a:r>
              <a:rPr lang="en-GB" sz="1800">
                <a:solidFill>
                  <a:schemeClr val="dk2"/>
                </a:solidFill>
              </a:rPr>
              <a:t>≥ 0)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275" name="Google Shape;275;p23"/>
          <p:cNvSpPr txBox="1"/>
          <p:nvPr/>
        </p:nvSpPr>
        <p:spPr>
          <a:xfrm>
            <a:off x="4470825" y="2850625"/>
            <a:ext cx="30000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p</a:t>
            </a:r>
            <a:r>
              <a:rPr lang="en-GB" sz="1800" baseline="-25000">
                <a:solidFill>
                  <a:schemeClr val="dk2"/>
                </a:solidFill>
              </a:rPr>
              <a:t>j</a:t>
            </a:r>
            <a:r>
              <a:rPr lang="en-GB" sz="1800" baseline="30000">
                <a:solidFill>
                  <a:schemeClr val="dk2"/>
                </a:solidFill>
              </a:rPr>
              <a:t>(i)</a:t>
            </a:r>
            <a:r>
              <a:rPr lang="en-GB" sz="1800">
                <a:solidFill>
                  <a:schemeClr val="dk2"/>
                </a:solidFill>
              </a:rPr>
              <a:t>=False  (z</a:t>
            </a:r>
            <a:r>
              <a:rPr lang="en-GB" sz="1800" baseline="-25000">
                <a:solidFill>
                  <a:schemeClr val="dk2"/>
                </a:solidFill>
              </a:rPr>
              <a:t>j</a:t>
            </a:r>
            <a:r>
              <a:rPr lang="en-GB" sz="1800" baseline="30000">
                <a:solidFill>
                  <a:schemeClr val="dk2"/>
                </a:solidFill>
              </a:rPr>
              <a:t>(i) </a:t>
            </a:r>
            <a:r>
              <a:rPr lang="en-GB" sz="2000">
                <a:solidFill>
                  <a:schemeClr val="dk2"/>
                </a:solidFill>
              </a:rPr>
              <a:t>&lt;</a:t>
            </a:r>
            <a:r>
              <a:rPr lang="en-GB" sz="1800">
                <a:solidFill>
                  <a:schemeClr val="dk2"/>
                </a:solidFill>
              </a:rPr>
              <a:t> 0)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276" name="Google Shape;276;p23"/>
          <p:cNvGrpSpPr/>
          <p:nvPr/>
        </p:nvGrpSpPr>
        <p:grpSpPr>
          <a:xfrm>
            <a:off x="1625099" y="3587034"/>
            <a:ext cx="1925808" cy="1280700"/>
            <a:chOff x="3971450" y="691950"/>
            <a:chExt cx="2261400" cy="1707600"/>
          </a:xfrm>
        </p:grpSpPr>
        <p:cxnSp>
          <p:nvCxnSpPr>
            <p:cNvPr id="277" name="Google Shape;277;p23"/>
            <p:cNvCxnSpPr/>
            <p:nvPr/>
          </p:nvCxnSpPr>
          <p:spPr>
            <a:xfrm>
              <a:off x="3971450" y="1882650"/>
              <a:ext cx="2261400" cy="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278" name="Google Shape;278;p23"/>
            <p:cNvCxnSpPr/>
            <p:nvPr/>
          </p:nvCxnSpPr>
          <p:spPr>
            <a:xfrm>
              <a:off x="5060625" y="691950"/>
              <a:ext cx="0" cy="1707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stealth" w="med" len="med"/>
              <a:tailEnd type="none" w="med" len="med"/>
            </a:ln>
          </p:spPr>
        </p:cxnSp>
        <p:cxnSp>
          <p:nvCxnSpPr>
            <p:cNvPr id="279" name="Google Shape;279;p23"/>
            <p:cNvCxnSpPr/>
            <p:nvPr/>
          </p:nvCxnSpPr>
          <p:spPr>
            <a:xfrm rot="10800000" flipH="1">
              <a:off x="5060625" y="929550"/>
              <a:ext cx="839400" cy="953100"/>
            </a:xfrm>
            <a:prstGeom prst="straightConnector1">
              <a:avLst/>
            </a:prstGeom>
            <a:noFill/>
            <a:ln w="28575" cap="flat" cmpd="sng">
              <a:solidFill>
                <a:srgbClr val="98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80" name="Google Shape;280;p23"/>
          <p:cNvGrpSpPr/>
          <p:nvPr/>
        </p:nvGrpSpPr>
        <p:grpSpPr>
          <a:xfrm>
            <a:off x="4960549" y="3587034"/>
            <a:ext cx="1925808" cy="1280700"/>
            <a:chOff x="3971450" y="691950"/>
            <a:chExt cx="2261400" cy="1707600"/>
          </a:xfrm>
        </p:grpSpPr>
        <p:cxnSp>
          <p:nvCxnSpPr>
            <p:cNvPr id="281" name="Google Shape;281;p23"/>
            <p:cNvCxnSpPr/>
            <p:nvPr/>
          </p:nvCxnSpPr>
          <p:spPr>
            <a:xfrm>
              <a:off x="3971450" y="1882650"/>
              <a:ext cx="2261400" cy="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282" name="Google Shape;282;p23"/>
            <p:cNvCxnSpPr/>
            <p:nvPr/>
          </p:nvCxnSpPr>
          <p:spPr>
            <a:xfrm>
              <a:off x="5060625" y="691950"/>
              <a:ext cx="0" cy="1707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stealth" w="med" len="med"/>
              <a:tailEnd type="none" w="med" len="med"/>
            </a:ln>
          </p:spPr>
        </p:cxnSp>
        <p:cxnSp>
          <p:nvCxnSpPr>
            <p:cNvPr id="283" name="Google Shape;283;p23"/>
            <p:cNvCxnSpPr/>
            <p:nvPr/>
          </p:nvCxnSpPr>
          <p:spPr>
            <a:xfrm>
              <a:off x="4073025" y="1882650"/>
              <a:ext cx="987600" cy="0"/>
            </a:xfrm>
            <a:prstGeom prst="straightConnector1">
              <a:avLst/>
            </a:prstGeom>
            <a:noFill/>
            <a:ln w="28575" cap="flat" cmpd="sng">
              <a:solidFill>
                <a:srgbClr val="98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4"/>
          <p:cNvSpPr txBox="1">
            <a:spLocks noGrp="1"/>
          </p:cNvSpPr>
          <p:nvPr>
            <p:ph type="title"/>
          </p:nvPr>
        </p:nvSpPr>
        <p:spPr>
          <a:xfrm>
            <a:off x="318325" y="445025"/>
            <a:ext cx="9032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Why using a SMT solver is very slow?</a:t>
            </a:r>
          </a:p>
        </p:txBody>
      </p:sp>
      <p:sp>
        <p:nvSpPr>
          <p:cNvPr id="289" name="Google Shape;289;p24"/>
          <p:cNvSpPr txBox="1"/>
          <p:nvPr/>
        </p:nvSpPr>
        <p:spPr>
          <a:xfrm>
            <a:off x="939525" y="1017725"/>
            <a:ext cx="7947900" cy="26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en-GB" sz="18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 </a:t>
            </a:r>
            <a:r>
              <a:rPr lang="en-GB" sz="1800" dirty="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∨</a:t>
            </a: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z="18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r</a:t>
            </a:r>
            <a:r>
              <a:rPr lang="en-GB" sz="1800" baseline="-25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 ∧(¬</a:t>
            </a:r>
            <a:r>
              <a:rPr lang="en-GB" sz="18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z="1800" dirty="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∨</a:t>
            </a: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z="18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q</a:t>
            </a:r>
            <a:r>
              <a:rPr lang="en-GB" sz="1800" baseline="-25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 </a:t>
            </a: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When </a:t>
            </a:r>
            <a:r>
              <a:rPr lang="en-GB" sz="18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  <a:r>
              <a:rPr lang="en-GB" sz="1800" dirty="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=True, </a:t>
            </a:r>
            <a:r>
              <a:rPr lang="en-GB" sz="18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q</a:t>
            </a:r>
            <a:r>
              <a:rPr lang="en-GB" sz="1800" baseline="-25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 </a:t>
            </a: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must be true; </a:t>
            </a:r>
            <a:r>
              <a:rPr lang="en-GB" sz="18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  <a:r>
              <a:rPr lang="en-GB" sz="1800" dirty="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=False, </a:t>
            </a:r>
            <a:r>
              <a:rPr lang="en-GB" sz="18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r</a:t>
            </a:r>
            <a:r>
              <a:rPr lang="en-GB" sz="1800" baseline="-25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 </a:t>
            </a: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must be true;</a:t>
            </a: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SAT solver must make decisions on </a:t>
            </a:r>
            <a:r>
              <a:rPr lang="en-GB" sz="18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 In a satisfiable solution from DPLL, each </a:t>
            </a:r>
            <a:r>
              <a:rPr lang="en-GB" sz="18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is set to True or False, then a theory solver (Simplex) invoked.</a:t>
            </a: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There are exponential number of cases here… and modern neural networks can have millions of neurons!</a:t>
            </a: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90" name="Google Shape;290;p24"/>
          <p:cNvSpPr txBox="1"/>
          <p:nvPr/>
        </p:nvSpPr>
        <p:spPr>
          <a:xfrm>
            <a:off x="939525" y="3718200"/>
            <a:ext cx="74538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Can we solve the problem without setting every </a:t>
            </a:r>
            <a:r>
              <a:rPr lang="en-GB" sz="18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?</a:t>
            </a: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We will tack this problem from an optimization point of view</a:t>
            </a: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Mathematical optimization problems</a:t>
            </a:r>
          </a:p>
        </p:txBody>
      </p:sp>
      <p:sp>
        <p:nvSpPr>
          <p:cNvPr id="296" name="Google Shape;296;p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10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Given an </a:t>
            </a:r>
            <a:r>
              <a:rPr lang="en-GB" b="1" dirty="0"/>
              <a:t>objective function</a:t>
            </a:r>
            <a:r>
              <a:rPr lang="en-GB" dirty="0"/>
              <a:t> f: S → R</a:t>
            </a: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dirty="0"/>
              <a:t>Seek an </a:t>
            </a:r>
            <a:r>
              <a:rPr lang="en-GB" b="1" dirty="0"/>
              <a:t>optimal solution</a:t>
            </a:r>
            <a:r>
              <a:rPr lang="en-GB" dirty="0"/>
              <a:t> x</a:t>
            </a:r>
            <a:r>
              <a:rPr lang="en-GB" baseline="30000" dirty="0"/>
              <a:t>*</a:t>
            </a:r>
            <a:r>
              <a:rPr lang="en-GB" dirty="0"/>
              <a:t> such that f(x</a:t>
            </a:r>
            <a:r>
              <a:rPr lang="en-GB" baseline="30000" dirty="0"/>
              <a:t>*</a:t>
            </a:r>
            <a:r>
              <a:rPr lang="en-GB" dirty="0"/>
              <a:t>) ≤ f(x) for all x ∈ S</a:t>
            </a:r>
          </a:p>
        </p:txBody>
      </p:sp>
      <p:grpSp>
        <p:nvGrpSpPr>
          <p:cNvPr id="297" name="Google Shape;297;p25"/>
          <p:cNvGrpSpPr/>
          <p:nvPr/>
        </p:nvGrpSpPr>
        <p:grpSpPr>
          <a:xfrm>
            <a:off x="5087900" y="2754863"/>
            <a:ext cx="2664000" cy="1823063"/>
            <a:chOff x="3106375" y="2681138"/>
            <a:chExt cx="2664000" cy="1823063"/>
          </a:xfrm>
        </p:grpSpPr>
        <p:cxnSp>
          <p:nvCxnSpPr>
            <p:cNvPr id="298" name="Google Shape;298;p25"/>
            <p:cNvCxnSpPr/>
            <p:nvPr/>
          </p:nvCxnSpPr>
          <p:spPr>
            <a:xfrm>
              <a:off x="3350969" y="2681138"/>
              <a:ext cx="0" cy="17559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cxnSp>
          <p:nvCxnSpPr>
            <p:cNvPr id="299" name="Google Shape;299;p25"/>
            <p:cNvCxnSpPr/>
            <p:nvPr/>
          </p:nvCxnSpPr>
          <p:spPr>
            <a:xfrm>
              <a:off x="3106375" y="4043238"/>
              <a:ext cx="26640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00" name="Google Shape;300;p25"/>
            <p:cNvSpPr/>
            <p:nvPr/>
          </p:nvSpPr>
          <p:spPr>
            <a:xfrm>
              <a:off x="3350057" y="3003417"/>
              <a:ext cx="2319243" cy="1062076"/>
            </a:xfrm>
            <a:custGeom>
              <a:avLst/>
              <a:gdLst/>
              <a:ahLst/>
              <a:cxnLst/>
              <a:rect l="l" t="t" r="r" b="b"/>
              <a:pathLst>
                <a:path w="134644" h="61659" extrusionOk="0">
                  <a:moveTo>
                    <a:pt x="0" y="61659"/>
                  </a:moveTo>
                  <a:cubicBezTo>
                    <a:pt x="3006" y="56696"/>
                    <a:pt x="9788" y="35443"/>
                    <a:pt x="18037" y="31878"/>
                  </a:cubicBezTo>
                  <a:cubicBezTo>
                    <a:pt x="26286" y="28313"/>
                    <a:pt x="41735" y="40826"/>
                    <a:pt x="49495" y="40267"/>
                  </a:cubicBezTo>
                  <a:cubicBezTo>
                    <a:pt x="57255" y="39708"/>
                    <a:pt x="59003" y="29502"/>
                    <a:pt x="64596" y="28523"/>
                  </a:cubicBezTo>
                  <a:cubicBezTo>
                    <a:pt x="70189" y="27544"/>
                    <a:pt x="76829" y="37471"/>
                    <a:pt x="83051" y="34395"/>
                  </a:cubicBezTo>
                  <a:cubicBezTo>
                    <a:pt x="89273" y="31319"/>
                    <a:pt x="93328" y="15800"/>
                    <a:pt x="101927" y="10067"/>
                  </a:cubicBezTo>
                  <a:cubicBezTo>
                    <a:pt x="110526" y="4335"/>
                    <a:pt x="129191" y="1678"/>
                    <a:pt x="134644" y="0"/>
                  </a:cubicBezTo>
                </a:path>
              </a:pathLst>
            </a:custGeom>
            <a:noFill/>
            <a:ln w="9525" cap="flat" cmpd="sng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01" name="Google Shape;301;p25"/>
            <p:cNvPicPr preferRelativeResize="0"/>
            <p:nvPr/>
          </p:nvPicPr>
          <p:blipFill>
            <a:blip r:embed="rId3"/>
            <a:stretch>
              <a:fillRect/>
            </a:stretch>
          </p:blipFill>
          <p:spPr>
            <a:xfrm>
              <a:off x="3411058" y="2681138"/>
              <a:ext cx="332368" cy="210643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302" name="Google Shape;302;p25"/>
            <p:cNvCxnSpPr/>
            <p:nvPr/>
          </p:nvCxnSpPr>
          <p:spPr>
            <a:xfrm rot="10800000">
              <a:off x="3754037" y="3086286"/>
              <a:ext cx="0" cy="971400"/>
            </a:xfrm>
            <a:prstGeom prst="straightConnector1">
              <a:avLst/>
            </a:prstGeom>
            <a:noFill/>
            <a:ln w="19050" cap="flat" cmpd="sng">
              <a:solidFill>
                <a:srgbClr val="B7B7B7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303" name="Google Shape;303;p25"/>
            <p:cNvCxnSpPr/>
            <p:nvPr/>
          </p:nvCxnSpPr>
          <p:spPr>
            <a:xfrm>
              <a:off x="3743425" y="4043233"/>
              <a:ext cx="1141800" cy="0"/>
            </a:xfrm>
            <a:prstGeom prst="straightConnector1">
              <a:avLst/>
            </a:prstGeom>
            <a:noFill/>
            <a:ln w="38100" cap="flat" cmpd="sng">
              <a:solidFill>
                <a:srgbClr val="A4C2F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04" name="Google Shape;304;p25"/>
            <p:cNvSpPr/>
            <p:nvPr/>
          </p:nvSpPr>
          <p:spPr>
            <a:xfrm>
              <a:off x="3756075" y="3468588"/>
              <a:ext cx="1139300" cy="234175"/>
            </a:xfrm>
            <a:custGeom>
              <a:avLst/>
              <a:gdLst/>
              <a:ahLst/>
              <a:cxnLst/>
              <a:rect l="l" t="t" r="r" b="b"/>
              <a:pathLst>
                <a:path w="45572" h="9367" extrusionOk="0">
                  <a:moveTo>
                    <a:pt x="0" y="3198"/>
                  </a:moveTo>
                  <a:cubicBezTo>
                    <a:pt x="644" y="3354"/>
                    <a:pt x="822" y="3109"/>
                    <a:pt x="3864" y="4131"/>
                  </a:cubicBezTo>
                  <a:cubicBezTo>
                    <a:pt x="6907" y="5153"/>
                    <a:pt x="14188" y="9842"/>
                    <a:pt x="18255" y="9328"/>
                  </a:cubicBezTo>
                  <a:cubicBezTo>
                    <a:pt x="22322" y="8814"/>
                    <a:pt x="24846" y="1667"/>
                    <a:pt x="28266" y="1045"/>
                  </a:cubicBezTo>
                  <a:cubicBezTo>
                    <a:pt x="31686" y="423"/>
                    <a:pt x="36292" y="5283"/>
                    <a:pt x="38776" y="5597"/>
                  </a:cubicBezTo>
                  <a:cubicBezTo>
                    <a:pt x="41261" y="5912"/>
                    <a:pt x="42040" y="3865"/>
                    <a:pt x="43173" y="2932"/>
                  </a:cubicBezTo>
                  <a:cubicBezTo>
                    <a:pt x="44306" y="1999"/>
                    <a:pt x="45172" y="489"/>
                    <a:pt x="45572" y="0"/>
                  </a:cubicBezTo>
                </a:path>
              </a:pathLst>
            </a:custGeom>
            <a:noFill/>
            <a:ln w="19050" cap="flat" cmpd="sng">
              <a:solidFill>
                <a:srgbClr val="98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cxnSp>
          <p:nvCxnSpPr>
            <p:cNvPr id="305" name="Google Shape;305;p25"/>
            <p:cNvCxnSpPr/>
            <p:nvPr/>
          </p:nvCxnSpPr>
          <p:spPr>
            <a:xfrm rot="10800000">
              <a:off x="4895387" y="3099973"/>
              <a:ext cx="0" cy="971400"/>
            </a:xfrm>
            <a:prstGeom prst="straightConnector1">
              <a:avLst/>
            </a:prstGeom>
            <a:noFill/>
            <a:ln w="19050" cap="flat" cmpd="sng">
              <a:solidFill>
                <a:srgbClr val="B7B7B7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pic>
          <p:nvPicPr>
            <p:cNvPr id="306" name="Google Shape;306;p25" descr="f(x) &gt; 0, \forall x \in \mathcal{S}" title="MathEquation,#000000"/>
            <p:cNvPicPr preferRelativeResize="0"/>
            <p:nvPr/>
          </p:nvPicPr>
          <p:blipFill rotWithShape="1">
            <a:blip r:embed="rId4"/>
            <a:srcRect l="88467" r="-4" b="9057"/>
            <a:stretch>
              <a:fillRect/>
            </a:stretch>
          </p:blipFill>
          <p:spPr>
            <a:xfrm>
              <a:off x="4230809" y="4281025"/>
              <a:ext cx="172900" cy="22317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07" name="Google Shape;307;p25"/>
            <p:cNvSpPr/>
            <p:nvPr/>
          </p:nvSpPr>
          <p:spPr>
            <a:xfrm rot="-5400000">
              <a:off x="4236350" y="3611800"/>
              <a:ext cx="168300" cy="1139700"/>
            </a:xfrm>
            <a:prstGeom prst="leftBrace">
              <a:avLst>
                <a:gd name="adj1" fmla="val 50000"/>
                <a:gd name="adj2" fmla="val 50000"/>
              </a:avLst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8" name="Google Shape;308;p25"/>
          <p:cNvSpPr/>
          <p:nvPr/>
        </p:nvSpPr>
        <p:spPr>
          <a:xfrm>
            <a:off x="6133075" y="3745025"/>
            <a:ext cx="94800" cy="948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Some optimization problems are hard, some are easy</a:t>
            </a:r>
          </a:p>
        </p:txBody>
      </p:sp>
      <p:sp>
        <p:nvSpPr>
          <p:cNvPr id="314" name="Google Shape;314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6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Given an </a:t>
            </a:r>
            <a:r>
              <a:rPr lang="en-GB" b="1" dirty="0"/>
              <a:t>objective function</a:t>
            </a:r>
            <a:r>
              <a:rPr lang="en-GB" dirty="0"/>
              <a:t> </a:t>
            </a:r>
            <a:r>
              <a:rPr lang="en-GB" dirty="0">
                <a:solidFill>
                  <a:srgbClr val="FF0000"/>
                </a:solidFill>
              </a:rPr>
              <a:t>f</a:t>
            </a:r>
            <a:r>
              <a:rPr lang="en-GB" dirty="0"/>
              <a:t>: </a:t>
            </a:r>
            <a:r>
              <a:rPr lang="en-GB" dirty="0">
                <a:solidFill>
                  <a:srgbClr val="FF0000"/>
                </a:solidFill>
              </a:rPr>
              <a:t>S</a:t>
            </a:r>
            <a:r>
              <a:rPr lang="en-GB" dirty="0"/>
              <a:t> → R</a:t>
            </a: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dirty="0"/>
              <a:t>Hardness depends on the properties of f and S. For tractable solving they cannot be arbitrary! </a:t>
            </a:r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Easy ones: convex optimization, linear programming, semidefinite programming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E.g., in linear programming, objective function and constraints must be linear functions</a:t>
            </a:r>
          </a:p>
          <a:p>
            <a:pPr marL="9144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lang="en-GB" dirty="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Hard ones: integer programming, general quadratic programming, general nonlinear programming, 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Verification Problem as an optimization problem</a:t>
            </a:r>
          </a:p>
        </p:txBody>
      </p:sp>
      <p:sp>
        <p:nvSpPr>
          <p:cNvPr id="320" name="Google Shape;320;p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rgbClr val="595959"/>
                </a:solidFill>
              </a:rPr>
              <a:t>∃ x ∈ S  ∧  y ≤ 0  ∧  y = f(x)</a:t>
            </a:r>
            <a:endParaRPr sz="2000" dirty="0">
              <a:solidFill>
                <a:srgbClr val="595959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rgbClr val="595959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rgbClr val="595959"/>
                </a:solidFill>
              </a:rPr>
              <a:t>Can be solved with the following </a:t>
            </a:r>
            <a:r>
              <a:rPr lang="en-GB" sz="2000" b="1" dirty="0">
                <a:solidFill>
                  <a:srgbClr val="595959"/>
                </a:solidFill>
              </a:rPr>
              <a:t>minimization problem:</a:t>
            </a:r>
            <a:endParaRPr sz="2000" b="1" dirty="0">
              <a:solidFill>
                <a:srgbClr val="595959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1" dirty="0">
              <a:solidFill>
                <a:srgbClr val="595959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1" dirty="0">
              <a:solidFill>
                <a:srgbClr val="595959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1" dirty="0">
              <a:solidFill>
                <a:srgbClr val="595959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1" dirty="0">
              <a:solidFill>
                <a:srgbClr val="595959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rgbClr val="595959"/>
                </a:solidFill>
              </a:rPr>
              <a:t>If the optimal objective y*</a:t>
            </a:r>
            <a:r>
              <a:rPr lang="en-GB" sz="2000" dirty="0"/>
              <a:t>≤0, then the original</a:t>
            </a:r>
            <a:br>
              <a:rPr lang="en-GB" sz="2000" dirty="0"/>
            </a:br>
            <a:r>
              <a:rPr lang="en-GB" sz="2000" dirty="0"/>
              <a:t>Problem is satisfiable</a:t>
            </a:r>
            <a:endParaRPr sz="2000" b="1" dirty="0">
              <a:solidFill>
                <a:srgbClr val="595959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rgbClr val="595959"/>
              </a:solidFill>
            </a:endParaRPr>
          </a:p>
        </p:txBody>
      </p:sp>
      <p:cxnSp>
        <p:nvCxnSpPr>
          <p:cNvPr id="321" name="Google Shape;321;p27"/>
          <p:cNvCxnSpPr/>
          <p:nvPr/>
        </p:nvCxnSpPr>
        <p:spPr>
          <a:xfrm>
            <a:off x="6205594" y="2934063"/>
            <a:ext cx="0" cy="1755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322" name="Google Shape;322;p27"/>
          <p:cNvCxnSpPr/>
          <p:nvPr/>
        </p:nvCxnSpPr>
        <p:spPr>
          <a:xfrm>
            <a:off x="5961000" y="4296163"/>
            <a:ext cx="2664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23" name="Google Shape;323;p27"/>
          <p:cNvSpPr/>
          <p:nvPr/>
        </p:nvSpPr>
        <p:spPr>
          <a:xfrm>
            <a:off x="6204682" y="3256342"/>
            <a:ext cx="2319243" cy="1062076"/>
          </a:xfrm>
          <a:custGeom>
            <a:avLst/>
            <a:gdLst/>
            <a:ahLst/>
            <a:cxnLst/>
            <a:rect l="l" t="t" r="r" b="b"/>
            <a:pathLst>
              <a:path w="134644" h="61659" extrusionOk="0">
                <a:moveTo>
                  <a:pt x="0" y="61659"/>
                </a:moveTo>
                <a:cubicBezTo>
                  <a:pt x="3006" y="56696"/>
                  <a:pt x="9788" y="35443"/>
                  <a:pt x="18037" y="31878"/>
                </a:cubicBezTo>
                <a:cubicBezTo>
                  <a:pt x="26286" y="28313"/>
                  <a:pt x="41735" y="40826"/>
                  <a:pt x="49495" y="40267"/>
                </a:cubicBezTo>
                <a:cubicBezTo>
                  <a:pt x="57255" y="39708"/>
                  <a:pt x="59003" y="29502"/>
                  <a:pt x="64596" y="28523"/>
                </a:cubicBezTo>
                <a:cubicBezTo>
                  <a:pt x="70189" y="27544"/>
                  <a:pt x="76829" y="37471"/>
                  <a:pt x="83051" y="34395"/>
                </a:cubicBezTo>
                <a:cubicBezTo>
                  <a:pt x="89273" y="31319"/>
                  <a:pt x="93328" y="15800"/>
                  <a:pt x="101927" y="10067"/>
                </a:cubicBezTo>
                <a:cubicBezTo>
                  <a:pt x="110526" y="4335"/>
                  <a:pt x="129191" y="1678"/>
                  <a:pt x="134644" y="0"/>
                </a:cubicBezTo>
              </a:path>
            </a:pathLst>
          </a:cu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pic>
        <p:nvPicPr>
          <p:cNvPr id="324" name="Google Shape;324;p27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6265683" y="2934063"/>
            <a:ext cx="332368" cy="21064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25" name="Google Shape;325;p27"/>
          <p:cNvCxnSpPr/>
          <p:nvPr/>
        </p:nvCxnSpPr>
        <p:spPr>
          <a:xfrm rot="10800000">
            <a:off x="6608662" y="3339211"/>
            <a:ext cx="0" cy="9714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326" name="Google Shape;326;p27"/>
          <p:cNvCxnSpPr/>
          <p:nvPr/>
        </p:nvCxnSpPr>
        <p:spPr>
          <a:xfrm>
            <a:off x="6598050" y="4296158"/>
            <a:ext cx="1141800" cy="0"/>
          </a:xfrm>
          <a:prstGeom prst="straightConnector1">
            <a:avLst/>
          </a:prstGeom>
          <a:noFill/>
          <a:ln w="38100" cap="flat" cmpd="sng">
            <a:solidFill>
              <a:srgbClr val="A4C2F4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27" name="Google Shape;327;p27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8382316" y="4328208"/>
            <a:ext cx="97798" cy="113559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27"/>
          <p:cNvSpPr/>
          <p:nvPr/>
        </p:nvSpPr>
        <p:spPr>
          <a:xfrm>
            <a:off x="6610700" y="3721513"/>
            <a:ext cx="1139300" cy="234175"/>
          </a:xfrm>
          <a:custGeom>
            <a:avLst/>
            <a:gdLst/>
            <a:ahLst/>
            <a:cxnLst/>
            <a:rect l="l" t="t" r="r" b="b"/>
            <a:pathLst>
              <a:path w="45572" h="9367" extrusionOk="0">
                <a:moveTo>
                  <a:pt x="0" y="3198"/>
                </a:moveTo>
                <a:cubicBezTo>
                  <a:pt x="644" y="3354"/>
                  <a:pt x="822" y="3109"/>
                  <a:pt x="3864" y="4131"/>
                </a:cubicBezTo>
                <a:cubicBezTo>
                  <a:pt x="6907" y="5153"/>
                  <a:pt x="14188" y="9842"/>
                  <a:pt x="18255" y="9328"/>
                </a:cubicBezTo>
                <a:cubicBezTo>
                  <a:pt x="22322" y="8814"/>
                  <a:pt x="24846" y="1667"/>
                  <a:pt x="28266" y="1045"/>
                </a:cubicBezTo>
                <a:cubicBezTo>
                  <a:pt x="31686" y="423"/>
                  <a:pt x="36292" y="5283"/>
                  <a:pt x="38776" y="5597"/>
                </a:cubicBezTo>
                <a:cubicBezTo>
                  <a:pt x="41261" y="5912"/>
                  <a:pt x="42040" y="3865"/>
                  <a:pt x="43173" y="2932"/>
                </a:cubicBezTo>
                <a:cubicBezTo>
                  <a:pt x="44306" y="1999"/>
                  <a:pt x="45172" y="489"/>
                  <a:pt x="45572" y="0"/>
                </a:cubicBezTo>
              </a:path>
            </a:pathLst>
          </a:custGeom>
          <a:noFill/>
          <a:ln w="19050" cap="flat" cmpd="sng">
            <a:solidFill>
              <a:srgbClr val="98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329" name="Google Shape;329;p27"/>
          <p:cNvCxnSpPr/>
          <p:nvPr/>
        </p:nvCxnSpPr>
        <p:spPr>
          <a:xfrm rot="10800000">
            <a:off x="7750012" y="3352898"/>
            <a:ext cx="0" cy="9714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30" name="Google Shape;330;p27"/>
          <p:cNvSpPr/>
          <p:nvPr/>
        </p:nvSpPr>
        <p:spPr>
          <a:xfrm>
            <a:off x="7021175" y="3933800"/>
            <a:ext cx="40500" cy="405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1" name="Google Shape;331;p27" descr="f(x) &gt; 0, \forall x \in \mathcal{S}" title="MathEquation,#000000"/>
          <p:cNvPicPr preferRelativeResize="0"/>
          <p:nvPr/>
        </p:nvPicPr>
        <p:blipFill rotWithShape="1">
          <a:blip r:embed="rId5"/>
          <a:srcRect l="88467" r="-4" b="9057"/>
          <a:stretch>
            <a:fillRect/>
          </a:stretch>
        </p:blipFill>
        <p:spPr>
          <a:xfrm>
            <a:off x="7085434" y="4533950"/>
            <a:ext cx="172900" cy="223175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27"/>
          <p:cNvSpPr/>
          <p:nvPr/>
        </p:nvSpPr>
        <p:spPr>
          <a:xfrm rot="-5400000">
            <a:off x="7090975" y="3864725"/>
            <a:ext cx="168300" cy="1139700"/>
          </a:xfrm>
          <a:prstGeom prst="leftBrace">
            <a:avLst>
              <a:gd name="adj1" fmla="val 50000"/>
              <a:gd name="adj2" fmla="val 50000"/>
            </a:avLst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3" name="Google Shape;333;p27" descr=" \displaystyle y^* = \min_{x \in \mathcal{S}} f(x)&#10;" title="MathEquation,#000000"/>
          <p:cNvPicPr preferRelativeResize="0"/>
          <p:nvPr/>
        </p:nvPicPr>
        <p:blipFill>
          <a:blip r:embed="rId6"/>
          <a:stretch>
            <a:fillRect/>
          </a:stretch>
        </p:blipFill>
        <p:spPr>
          <a:xfrm>
            <a:off x="3158250" y="2448675"/>
            <a:ext cx="2400126" cy="696025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27"/>
          <p:cNvSpPr txBox="1"/>
          <p:nvPr/>
        </p:nvSpPr>
        <p:spPr>
          <a:xfrm>
            <a:off x="6921775" y="3857825"/>
            <a:ext cx="5151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2"/>
                </a:solidFill>
              </a:rPr>
              <a:t>y*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Verification Problem as an optimization problem</a:t>
            </a:r>
          </a:p>
        </p:txBody>
      </p:sp>
      <p:sp>
        <p:nvSpPr>
          <p:cNvPr id="340" name="Google Shape;340;p2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110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/>
              <a:t>Now we rewrite the neural network verification problem as a </a:t>
            </a:r>
            <a:r>
              <a:rPr lang="en-GB" b="1"/>
              <a:t>constrained optimization problem</a:t>
            </a:r>
            <a:r>
              <a:rPr lang="en-GB"/>
              <a:t> (still using the simple network example):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1" name="Google Shape;341;p28"/>
              <p:cNvSpPr txBox="1"/>
              <p:nvPr/>
            </p:nvSpPr>
            <p:spPr>
              <a:xfrm>
                <a:off x="2067975" y="2017350"/>
                <a:ext cx="4648200" cy="289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𝑚𝑖𝑛</m:t>
                      </m:r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sz="1800" i="1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.    </m:t>
                      </m:r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sSup>
                        <m:sSupPr>
                          <m:ctrlPr>
                            <a:rPr lang="en-GB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1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en-US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(3)</m:t>
                          </m:r>
                        </m:sup>
                      </m:sSup>
                      <m:r>
                        <a:rPr lang="en-GB" sz="2100" i="1" baseline="30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GB" sz="21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100" i="1" dirty="0" err="1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en-US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</m:oMath>
                  </m:oMathPara>
                </a14:m>
                <a:endParaRPr lang="en-GB" sz="2100" i="1" baseline="30000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en-GB" sz="1800" i="1" baseline="30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sSup>
                        <m:sSupPr>
                          <m:ctrlP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, 0)    </m:t>
                      </m:r>
                    </m:oMath>
                  </m:oMathPara>
                </a14:m>
                <a:endParaRPr lang="en-GB" sz="1800" i="1" dirty="0">
                  <a:solidFill>
                    <a:schemeClr val="dk2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err="1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GB" sz="1800" i="1" baseline="30000" dirty="0">
                  <a:solidFill>
                    <a:schemeClr val="dk2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GB" sz="1800" i="1" baseline="30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sSup>
                        <m:sSupPr>
                          <m:ctrlP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d>
                            <m:dPr>
                              <m:ctrlPr>
                                <a:rPr lang="en-US" sz="1800" b="0" i="1" dirty="0" smtClean="0">
                                  <a:solidFill>
                                    <a:schemeClr val="dk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dirty="0" smtClean="0">
                                  <a:solidFill>
                                    <a:schemeClr val="dk2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r>
                        <a:rPr lang="en-US" sz="1800" b="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0)</m:t>
                      </m:r>
                    </m:oMath>
                  </m:oMathPara>
                </a14:m>
                <a:endParaRPr lang="en-GB" sz="1800" i="1" baseline="30000" dirty="0">
                  <a:solidFill>
                    <a:schemeClr val="dk2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GB" sz="1800" i="1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i="1" baseline="-25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sz="20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≤ </m:t>
                      </m:r>
                      <m:r>
                        <a:rPr lang="en-GB" sz="2000" i="1" dirty="0" err="1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GB" sz="2000" i="1" baseline="-25000" dirty="0" err="1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sz="2000" i="1" baseline="-25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sz="2000" i="1" baseline="-25000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i="1" baseline="-25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sz="20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20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0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𝑙𝑖</m:t>
                      </m:r>
                      <m:r>
                        <a:rPr lang="en-GB" sz="2000" i="1" baseline="-25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sz="1800" i="1" dirty="0">
                  <a:solidFill>
                    <a:schemeClr val="dk2"/>
                  </a:solidFill>
                </a:endParaRPr>
              </a:p>
            </p:txBody>
          </p:sp>
        </mc:Choice>
        <mc:Fallback xmlns="">
          <p:sp>
            <p:nvSpPr>
              <p:cNvPr id="341" name="Google Shape;341;p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7975" y="2017350"/>
                <a:ext cx="4648200" cy="28986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2" name="Google Shape;342;p28"/>
          <p:cNvSpPr txBox="1"/>
          <p:nvPr/>
        </p:nvSpPr>
        <p:spPr>
          <a:xfrm>
            <a:off x="5693675" y="2681350"/>
            <a:ext cx="2181900" cy="3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(ReLU activation)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343" name="Google Shape;343;p28"/>
          <p:cNvSpPr txBox="1"/>
          <p:nvPr/>
        </p:nvSpPr>
        <p:spPr>
          <a:xfrm>
            <a:off x="5366925" y="4130150"/>
            <a:ext cx="3672900" cy="3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(element-wise input bounds)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344" name="Google Shape;344;p28"/>
          <p:cNvSpPr txBox="1"/>
          <p:nvPr/>
        </p:nvSpPr>
        <p:spPr>
          <a:xfrm>
            <a:off x="5693675" y="2394675"/>
            <a:ext cx="2181900" cy="3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(linear layers)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2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Verification Problem as an optimization problem</a:t>
            </a:r>
          </a:p>
        </p:txBody>
      </p:sp>
      <p:sp>
        <p:nvSpPr>
          <p:cNvPr id="350" name="Google Shape;350;p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110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/>
              <a:t>Now we rewrite the neural network verification problem as a </a:t>
            </a:r>
            <a:r>
              <a:rPr lang="en-GB" b="1"/>
              <a:t>constrained optimization problem</a:t>
            </a:r>
            <a:r>
              <a:rPr lang="en-GB"/>
              <a:t> (still using the simple network example):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1" name="Google Shape;351;p29"/>
              <p:cNvSpPr txBox="1"/>
              <p:nvPr/>
            </p:nvSpPr>
            <p:spPr>
              <a:xfrm>
                <a:off x="2067975" y="2017350"/>
                <a:ext cx="4648200" cy="289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𝑚𝑖𝑛</m:t>
                      </m:r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sz="1800" i="1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.    </m:t>
                      </m:r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sSup>
                        <m:sSupPr>
                          <m:ctrlPr>
                            <a:rPr lang="en-GB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1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en-US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(3)</m:t>
                          </m:r>
                        </m:sup>
                      </m:sSup>
                      <m:r>
                        <a:rPr lang="en-GB" sz="2100" i="1" baseline="30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GB" sz="21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100" i="1" dirty="0" err="1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en-US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</m:oMath>
                  </m:oMathPara>
                </a14:m>
                <a:endParaRPr lang="en-GB" sz="2100" i="1" baseline="30000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en-US" sz="1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en-GB" sz="1800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GB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en-GB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sSup>
                        <m:sSupPr>
                          <m:ctrlPr>
                            <a:rPr lang="en-US" sz="1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1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en-GB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0)    </m:t>
                      </m:r>
                    </m:oMath>
                  </m:oMathPara>
                </a14:m>
                <a:endParaRPr lang="en-GB" sz="1800" i="1" dirty="0">
                  <a:solidFill>
                    <a:schemeClr val="dk2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err="1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GB" sz="1800" i="1" baseline="30000" dirty="0">
                  <a:solidFill>
                    <a:schemeClr val="dk2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en-US" sz="1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GB" sz="1800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GB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en-GB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sSup>
                        <m:sSupPr>
                          <m:ctrlPr>
                            <a:rPr lang="en-US" sz="1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d>
                            <m:dPr>
                              <m:ctrlPr>
                                <a:rPr lang="en-US" sz="1800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r>
                        <a:rPr lang="en-US" sz="18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0)</m:t>
                      </m:r>
                    </m:oMath>
                  </m:oMathPara>
                </a14:m>
                <a:endParaRPr lang="en-GB" sz="1800" i="1" baseline="30000" dirty="0">
                  <a:solidFill>
                    <a:srgbClr val="FF0000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GB" sz="1800" i="1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i="1" baseline="-25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sz="20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≤ </m:t>
                      </m:r>
                      <m:r>
                        <a:rPr lang="en-GB" sz="2000" i="1" dirty="0" err="1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GB" sz="2000" i="1" baseline="-25000" dirty="0" err="1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sz="2000" i="1" baseline="-25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sz="2000" i="1" baseline="-25000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i="1" baseline="-25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sz="20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20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0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20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sz="1800" dirty="0">
                  <a:solidFill>
                    <a:schemeClr val="dk2"/>
                  </a:solidFill>
                </a:endParaRPr>
              </a:p>
            </p:txBody>
          </p:sp>
        </mc:Choice>
        <mc:Fallback xmlns="">
          <p:sp>
            <p:nvSpPr>
              <p:cNvPr id="351" name="Google Shape;351;p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7975" y="2017350"/>
                <a:ext cx="4648200" cy="28986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2" name="Google Shape;352;p29"/>
          <p:cNvSpPr txBox="1"/>
          <p:nvPr/>
        </p:nvSpPr>
        <p:spPr>
          <a:xfrm>
            <a:off x="5693675" y="2681350"/>
            <a:ext cx="3088200" cy="3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(</a:t>
            </a:r>
            <a:r>
              <a:rPr lang="en-GB" sz="1800">
                <a:solidFill>
                  <a:srgbClr val="FF0000"/>
                </a:solidFill>
              </a:rPr>
              <a:t>nonlinear</a:t>
            </a:r>
            <a:r>
              <a:rPr lang="en-GB" sz="1800">
                <a:solidFill>
                  <a:schemeClr val="dk2"/>
                </a:solidFill>
              </a:rPr>
              <a:t> constraints)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353" name="Google Shape;353;p29"/>
          <p:cNvSpPr txBox="1"/>
          <p:nvPr/>
        </p:nvSpPr>
        <p:spPr>
          <a:xfrm>
            <a:off x="5108975" y="4109075"/>
            <a:ext cx="3672900" cy="3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(inputs bounds are also linear constraints)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354" name="Google Shape;354;p29"/>
          <p:cNvSpPr txBox="1"/>
          <p:nvPr/>
        </p:nvSpPr>
        <p:spPr>
          <a:xfrm>
            <a:off x="5693675" y="2322850"/>
            <a:ext cx="2181900" cy="3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(linear constraints)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30"/>
          <p:cNvSpPr txBox="1">
            <a:spLocks noGrp="1"/>
          </p:cNvSpPr>
          <p:nvPr>
            <p:ph type="title"/>
          </p:nvPr>
        </p:nvSpPr>
        <p:spPr>
          <a:xfrm>
            <a:off x="311700" y="248977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Optimization formulation for </a:t>
            </a:r>
            <a:r>
              <a:rPr lang="en-GB" dirty="0" err="1"/>
              <a:t>ReLU</a:t>
            </a:r>
            <a:r>
              <a:rPr lang="en-GB" dirty="0"/>
              <a:t> neurons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0" name="Google Shape;360;p30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11700" y="940516"/>
                <a:ext cx="8520600" cy="2088156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rmAutofit/>
              </a:bodyPr>
              <a:lstStyle/>
              <a:p>
                <a:pPr marL="0" lvl="0" indent="0">
                  <a:lnSpc>
                    <a:spcPct val="120000"/>
                  </a:lnSpc>
                  <a:buNone/>
                </a:pPr>
                <a:r>
                  <a:rPr lang="en-GB" dirty="0"/>
                  <a:t>Let’s look at this constraint more carefully: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max</m:t>
                    </m:r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sSubSup>
                      <m:sSubSupPr>
                        <m:ctrlP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p>
                    </m:sSubSup>
                    <m:r>
                      <a:rPr lang="en-US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0)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(for all </a:t>
                </a:r>
                <a:r>
                  <a:rPr lang="en-GB" dirty="0" err="1">
                    <a:solidFill>
                      <a:schemeClr val="tx1"/>
                    </a:solidFill>
                  </a:rPr>
                  <a:t>i</a:t>
                </a:r>
                <a:r>
                  <a:rPr lang="en-GB" dirty="0">
                    <a:solidFill>
                      <a:schemeClr val="tx1"/>
                    </a:solidFill>
                  </a:rPr>
                  <a:t>, j)</a:t>
                </a:r>
              </a:p>
              <a:p>
                <a:pPr marL="0" lvl="0" indent="0">
                  <a:lnSpc>
                    <a:spcPct val="120000"/>
                  </a:lnSpc>
                  <a:buNone/>
                </a:pPr>
                <a:r>
                  <a:rPr lang="en-GB" dirty="0"/>
                  <a:t>One approach: </a:t>
                </a:r>
                <a:r>
                  <a:rPr lang="en-GB" b="1" dirty="0"/>
                  <a:t>mixed</a:t>
                </a:r>
                <a:r>
                  <a:rPr lang="en-GB" dirty="0"/>
                  <a:t> </a:t>
                </a:r>
                <a:r>
                  <a:rPr lang="en-GB" b="1" dirty="0"/>
                  <a:t>integer linear programming (MILP) </a:t>
                </a:r>
                <a:r>
                  <a:rPr lang="en-GB" dirty="0"/>
                  <a:t>formulation </a:t>
                </a:r>
              </a:p>
              <a:p>
                <a:pPr marL="0" lvl="0" indent="0">
                  <a:lnSpc>
                    <a:spcPct val="120000"/>
                  </a:lnSpc>
                  <a:buNone/>
                </a:pPr>
                <a:r>
                  <a:rPr lang="en-GB" dirty="0"/>
                  <a:t>Create an </a:t>
                </a:r>
                <a:r>
                  <a:rPr lang="en-GB" b="1" dirty="0"/>
                  <a:t>integer variable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b="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GB" sz="2000" i="1" dirty="0">
                        <a:latin typeface="Cambria Math" panose="02040503050406030204" pitchFamily="18" charset="0"/>
                      </a:rPr>
                      <m:t>∈{0,1}</m:t>
                    </m:r>
                  </m:oMath>
                </a14:m>
                <a:r>
                  <a:rPr lang="en-GB" dirty="0"/>
                  <a:t> and rewrite using “big” M number:</a:t>
                </a:r>
              </a:p>
            </p:txBody>
          </p:sp>
        </mc:Choice>
        <mc:Fallback xmlns="">
          <p:sp>
            <p:nvSpPr>
              <p:cNvPr id="360" name="Google Shape;360;p30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11700" y="940516"/>
                <a:ext cx="8520600" cy="2088156"/>
              </a:xfrm>
              <a:prstGeom prst="rect">
                <a:avLst/>
              </a:prstGeom>
              <a:blipFill>
                <a:blip r:embed="rId3"/>
                <a:stretch>
                  <a:fillRect l="-5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1" name="Google Shape;361;p30"/>
          <p:cNvGrpSpPr/>
          <p:nvPr/>
        </p:nvGrpSpPr>
        <p:grpSpPr>
          <a:xfrm>
            <a:off x="6431475" y="3167975"/>
            <a:ext cx="2002650" cy="1496375"/>
            <a:chOff x="6431475" y="3167975"/>
            <a:chExt cx="2002650" cy="1496375"/>
          </a:xfrm>
        </p:grpSpPr>
        <p:grpSp>
          <p:nvGrpSpPr>
            <p:cNvPr id="362" name="Google Shape;362;p30"/>
            <p:cNvGrpSpPr/>
            <p:nvPr/>
          </p:nvGrpSpPr>
          <p:grpSpPr>
            <a:xfrm>
              <a:off x="6431475" y="3353797"/>
              <a:ext cx="1957257" cy="1280700"/>
              <a:chOff x="3934521" y="691950"/>
              <a:chExt cx="2298329" cy="1707600"/>
            </a:xfrm>
          </p:grpSpPr>
          <p:cxnSp>
            <p:nvCxnSpPr>
              <p:cNvPr id="363" name="Google Shape;363;p30"/>
              <p:cNvCxnSpPr/>
              <p:nvPr/>
            </p:nvCxnSpPr>
            <p:spPr>
              <a:xfrm>
                <a:off x="3971450" y="1882650"/>
                <a:ext cx="2261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64" name="Google Shape;364;p30"/>
              <p:cNvCxnSpPr/>
              <p:nvPr/>
            </p:nvCxnSpPr>
            <p:spPr>
              <a:xfrm>
                <a:off x="5060625" y="691950"/>
                <a:ext cx="0" cy="17076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stealth" w="med" len="med"/>
                <a:tailEnd type="none" w="med" len="med"/>
              </a:ln>
            </p:spPr>
          </p:cxnSp>
          <p:cxnSp>
            <p:nvCxnSpPr>
              <p:cNvPr id="365" name="Google Shape;365;p30"/>
              <p:cNvCxnSpPr/>
              <p:nvPr/>
            </p:nvCxnSpPr>
            <p:spPr>
              <a:xfrm>
                <a:off x="3934521" y="1882638"/>
                <a:ext cx="1126200" cy="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98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66" name="Google Shape;366;p30"/>
              <p:cNvCxnSpPr/>
              <p:nvPr/>
            </p:nvCxnSpPr>
            <p:spPr>
              <a:xfrm rot="10800000" flipH="1">
                <a:off x="5060625" y="775350"/>
                <a:ext cx="975000" cy="11073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98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367" name="Google Shape;367;p30"/>
            <p:cNvSpPr txBox="1"/>
            <p:nvPr/>
          </p:nvSpPr>
          <p:spPr>
            <a:xfrm>
              <a:off x="6950675" y="3167975"/>
              <a:ext cx="471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ẑ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368" name="Google Shape;368;p30"/>
            <p:cNvSpPr txBox="1"/>
            <p:nvPr/>
          </p:nvSpPr>
          <p:spPr>
            <a:xfrm>
              <a:off x="7962525" y="4202650"/>
              <a:ext cx="471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z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>
                <a:solidFill>
                  <a:schemeClr val="dk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1A743EC-6508-42B8-A649-9284AAC20A25}"/>
                  </a:ext>
                </a:extLst>
              </p:cNvPr>
              <p:cNvSpPr txBox="1"/>
              <p:nvPr/>
            </p:nvSpPr>
            <p:spPr>
              <a:xfrm>
                <a:off x="397834" y="2892291"/>
                <a:ext cx="2647781" cy="14847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Sup>
                            <m:sSub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1A743EC-6508-42B8-A649-9284AAC20A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834" y="2892291"/>
                <a:ext cx="2647781" cy="14847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30"/>
          <p:cNvSpPr txBox="1">
            <a:spLocks noGrp="1"/>
          </p:cNvSpPr>
          <p:nvPr>
            <p:ph type="title"/>
          </p:nvPr>
        </p:nvSpPr>
        <p:spPr>
          <a:xfrm>
            <a:off x="311700" y="248977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Optimization formulation for </a:t>
            </a:r>
            <a:r>
              <a:rPr lang="en-GB" dirty="0" err="1"/>
              <a:t>ReLU</a:t>
            </a:r>
            <a:r>
              <a:rPr lang="en-GB" dirty="0"/>
              <a:t> neurons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0" name="Google Shape;360;p30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11699" y="940516"/>
                <a:ext cx="8662967" cy="2088156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rmAutofit/>
              </a:bodyPr>
              <a:lstStyle/>
              <a:p>
                <a:pPr marL="0" lvl="0" indent="0">
                  <a:lnSpc>
                    <a:spcPct val="120000"/>
                  </a:lnSpc>
                  <a:buNone/>
                </a:pPr>
                <a:r>
                  <a:rPr lang="en-GB" dirty="0"/>
                  <a:t>Let’s look at this constraint more carefully: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max</m:t>
                    </m:r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sSubSup>
                      <m:sSubSupPr>
                        <m:ctrlP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p>
                    </m:sSubSup>
                    <m:r>
                      <a:rPr lang="en-US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0)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(for all </a:t>
                </a:r>
                <a:r>
                  <a:rPr lang="en-GB" dirty="0" err="1">
                    <a:solidFill>
                      <a:schemeClr val="tx1"/>
                    </a:solidFill>
                  </a:rPr>
                  <a:t>i</a:t>
                </a:r>
                <a:r>
                  <a:rPr lang="en-GB" dirty="0">
                    <a:solidFill>
                      <a:schemeClr val="tx1"/>
                    </a:solidFill>
                  </a:rPr>
                  <a:t>, j)</a:t>
                </a:r>
              </a:p>
              <a:p>
                <a:pPr marL="0" lvl="0" indent="0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b="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b="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</a:rPr>
                      <m:t>=1 </m:t>
                    </m:r>
                  </m:oMath>
                </a14:m>
                <a:r>
                  <a:rPr lang="en-GB" dirty="0" err="1"/>
                  <a:t>ReLU</a:t>
                </a:r>
                <a:r>
                  <a:rPr lang="en-GB" dirty="0"/>
                  <a:t> is active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p>
                    </m:sSubSup>
                  </m:oMath>
                </a14:m>
                <a:r>
                  <a:rPr lang="en-GB" dirty="0"/>
                  <a:t>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GB" dirty="0"/>
                  <a:t> 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rgbClr val="FF0000"/>
                    </a:solidFill>
                  </a:rPr>
                  <a:t> </a:t>
                </a:r>
                <a:r>
                  <a:rPr lang="en-GB" dirty="0"/>
                  <a:t>; for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≫0</m:t>
                    </m:r>
                  </m:oMath>
                </a14:m>
                <a:r>
                  <a:rPr lang="en-GB" dirty="0"/>
                  <a:t> this is no constraint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b="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b="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</a:rPr>
                      <m:t>=0 </m:t>
                    </m:r>
                  </m:oMath>
                </a14:m>
                <a:r>
                  <a:rPr lang="en-GB" dirty="0" err="1"/>
                  <a:t>ReLU</a:t>
                </a:r>
                <a:r>
                  <a:rPr lang="en-GB" dirty="0"/>
                  <a:t> is inactive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r>
                  <a:rPr lang="en-GB" dirty="0"/>
                  <a:t> 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Sup>
                      <m:sSubSupPr>
                        <m:ctrlP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p>
                    </m:sSubSup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rgbClr val="FF0000"/>
                    </a:solidFill>
                  </a:rPr>
                  <a:t> </a:t>
                </a:r>
                <a:r>
                  <a:rPr lang="en-GB" dirty="0"/>
                  <a:t>;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≪0</m:t>
                    </m:r>
                  </m:oMath>
                </a14:m>
                <a:r>
                  <a:rPr lang="en-GB" dirty="0"/>
                  <a:t> no constraint</a:t>
                </a:r>
              </a:p>
            </p:txBody>
          </p:sp>
        </mc:Choice>
        <mc:Fallback xmlns="">
          <p:sp>
            <p:nvSpPr>
              <p:cNvPr id="360" name="Google Shape;360;p30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11699" y="940516"/>
                <a:ext cx="8662967" cy="2088156"/>
              </a:xfrm>
              <a:prstGeom prst="rect">
                <a:avLst/>
              </a:prstGeom>
              <a:blipFill>
                <a:blip r:embed="rId3"/>
                <a:stretch>
                  <a:fillRect l="-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1" name="Google Shape;361;p30"/>
          <p:cNvGrpSpPr/>
          <p:nvPr/>
        </p:nvGrpSpPr>
        <p:grpSpPr>
          <a:xfrm>
            <a:off x="6475018" y="2571750"/>
            <a:ext cx="2002650" cy="1496375"/>
            <a:chOff x="6431475" y="3167975"/>
            <a:chExt cx="2002650" cy="1496375"/>
          </a:xfrm>
        </p:grpSpPr>
        <p:grpSp>
          <p:nvGrpSpPr>
            <p:cNvPr id="362" name="Google Shape;362;p30"/>
            <p:cNvGrpSpPr/>
            <p:nvPr/>
          </p:nvGrpSpPr>
          <p:grpSpPr>
            <a:xfrm>
              <a:off x="6431475" y="3353797"/>
              <a:ext cx="1957257" cy="1280700"/>
              <a:chOff x="3934521" y="691950"/>
              <a:chExt cx="2298329" cy="1707600"/>
            </a:xfrm>
          </p:grpSpPr>
          <p:cxnSp>
            <p:nvCxnSpPr>
              <p:cNvPr id="363" name="Google Shape;363;p30"/>
              <p:cNvCxnSpPr/>
              <p:nvPr/>
            </p:nvCxnSpPr>
            <p:spPr>
              <a:xfrm>
                <a:off x="3971450" y="1882650"/>
                <a:ext cx="2261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64" name="Google Shape;364;p30"/>
              <p:cNvCxnSpPr/>
              <p:nvPr/>
            </p:nvCxnSpPr>
            <p:spPr>
              <a:xfrm>
                <a:off x="5060625" y="691950"/>
                <a:ext cx="0" cy="17076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stealth" w="med" len="med"/>
                <a:tailEnd type="none" w="med" len="med"/>
              </a:ln>
            </p:spPr>
          </p:cxnSp>
          <p:cxnSp>
            <p:nvCxnSpPr>
              <p:cNvPr id="365" name="Google Shape;365;p30"/>
              <p:cNvCxnSpPr/>
              <p:nvPr/>
            </p:nvCxnSpPr>
            <p:spPr>
              <a:xfrm>
                <a:off x="3934521" y="1882638"/>
                <a:ext cx="1126200" cy="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98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66" name="Google Shape;366;p30"/>
              <p:cNvCxnSpPr/>
              <p:nvPr/>
            </p:nvCxnSpPr>
            <p:spPr>
              <a:xfrm rot="10800000" flipH="1">
                <a:off x="5060625" y="775350"/>
                <a:ext cx="975000" cy="11073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98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367" name="Google Shape;367;p30"/>
            <p:cNvSpPr txBox="1"/>
            <p:nvPr/>
          </p:nvSpPr>
          <p:spPr>
            <a:xfrm>
              <a:off x="6950675" y="3167975"/>
              <a:ext cx="471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ẑ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368" name="Google Shape;368;p30"/>
            <p:cNvSpPr txBox="1"/>
            <p:nvPr/>
          </p:nvSpPr>
          <p:spPr>
            <a:xfrm>
              <a:off x="7962525" y="4202650"/>
              <a:ext cx="471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z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>
                <a:solidFill>
                  <a:schemeClr val="dk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1A743EC-6508-42B8-A649-9284AAC20A25}"/>
                  </a:ext>
                </a:extLst>
              </p:cNvPr>
              <p:cNvSpPr txBox="1"/>
              <p:nvPr/>
            </p:nvSpPr>
            <p:spPr>
              <a:xfrm>
                <a:off x="397834" y="3147511"/>
                <a:ext cx="2647781" cy="14847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Sup>
                            <m:sSub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1A743EC-6508-42B8-A649-9284AAC20A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834" y="3147511"/>
                <a:ext cx="2647781" cy="14847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Google Shape;396;p31">
            <a:extLst>
              <a:ext uri="{FF2B5EF4-FFF2-40B4-BE49-F238E27FC236}">
                <a16:creationId xmlns:a16="http://schemas.microsoft.com/office/drawing/2014/main" id="{599AD498-D2F2-DCD3-3184-AB4F8F4F1685}"/>
              </a:ext>
            </a:extLst>
          </p:cNvPr>
          <p:cNvSpPr txBox="1"/>
          <p:nvPr/>
        </p:nvSpPr>
        <p:spPr>
          <a:xfrm>
            <a:off x="4572000" y="4220200"/>
            <a:ext cx="4378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M</a:t>
            </a:r>
            <a:r>
              <a:rPr lang="en-GB" sz="1800" baseline="-25000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needs to be small (negative) enough</a:t>
            </a: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800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M</a:t>
            </a:r>
            <a:r>
              <a:rPr lang="en-GB" sz="1800" baseline="-25000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</a:t>
            </a: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needs to be large enough</a:t>
            </a: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9532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3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000"/>
              <a:buFont typeface="Arial" panose="020B0604020202020204"/>
              <a:buNone/>
            </a:pPr>
            <a:r>
              <a:rPr lang="en-GB"/>
              <a:t>Optimization formulation for ReLU neurons</a:t>
            </a:r>
          </a:p>
        </p:txBody>
      </p:sp>
      <p:sp>
        <p:nvSpPr>
          <p:cNvPr id="379" name="Google Shape;379;p31"/>
          <p:cNvSpPr txBox="1">
            <a:spLocks noGrp="1"/>
          </p:cNvSpPr>
          <p:nvPr>
            <p:ph type="body" idx="1"/>
          </p:nvPr>
        </p:nvSpPr>
        <p:spPr>
          <a:xfrm>
            <a:off x="3954600" y="1152475"/>
            <a:ext cx="4877700" cy="184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When </a:t>
            </a:r>
            <a:r>
              <a:rPr lang="en-GB">
                <a:solidFill>
                  <a:schemeClr val="dk1"/>
                </a:solidFill>
              </a:rPr>
              <a:t>p</a:t>
            </a:r>
            <a:r>
              <a:rPr lang="en-GB" baseline="-25000">
                <a:solidFill>
                  <a:schemeClr val="dk1"/>
                </a:solidFill>
              </a:rPr>
              <a:t>j</a:t>
            </a:r>
            <a:r>
              <a:rPr lang="en-GB" baseline="30000">
                <a:solidFill>
                  <a:schemeClr val="dk1"/>
                </a:solidFill>
              </a:rPr>
              <a:t>(i)</a:t>
            </a:r>
            <a:r>
              <a:rPr lang="en-GB">
                <a:solidFill>
                  <a:schemeClr val="dk1"/>
                </a:solidFill>
              </a:rPr>
              <a:t> = 0: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When </a:t>
            </a:r>
            <a:r>
              <a:rPr lang="en-GB">
                <a:solidFill>
                  <a:schemeClr val="dk1"/>
                </a:solidFill>
              </a:rPr>
              <a:t>p</a:t>
            </a:r>
            <a:r>
              <a:rPr lang="en-GB" baseline="-25000">
                <a:solidFill>
                  <a:schemeClr val="dk1"/>
                </a:solidFill>
              </a:rPr>
              <a:t>j</a:t>
            </a:r>
            <a:r>
              <a:rPr lang="en-GB" baseline="30000">
                <a:solidFill>
                  <a:schemeClr val="dk1"/>
                </a:solidFill>
              </a:rPr>
              <a:t>(i)</a:t>
            </a:r>
            <a:r>
              <a:rPr lang="en-GB">
                <a:solidFill>
                  <a:schemeClr val="dk1"/>
                </a:solidFill>
              </a:rPr>
              <a:t> = 1: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380" name="Google Shape;380;p31" descr="\hat{z}^{(i)}_j \geq z_j^{(i)}" title="MathEquation,#00000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5881750" y="1802400"/>
            <a:ext cx="1023396" cy="417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1" name="Google Shape;381;p31" descr="\hat{z}^{(i)}_j \geq 0" title="MathEquation,#000000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7716225" y="1802400"/>
            <a:ext cx="811722" cy="417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2" name="Google Shape;382;p31" descr="\hat{z}^{(i)}_j \leq 0" title="MathEquation,#000000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7641475" y="1163150"/>
            <a:ext cx="961226" cy="4938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3" name="Google Shape;383;p31"/>
          <p:cNvGrpSpPr/>
          <p:nvPr/>
        </p:nvGrpSpPr>
        <p:grpSpPr>
          <a:xfrm>
            <a:off x="1951950" y="3568500"/>
            <a:ext cx="2002650" cy="1496375"/>
            <a:chOff x="6431475" y="3167975"/>
            <a:chExt cx="2002650" cy="1496375"/>
          </a:xfrm>
        </p:grpSpPr>
        <p:grpSp>
          <p:nvGrpSpPr>
            <p:cNvPr id="384" name="Google Shape;384;p31"/>
            <p:cNvGrpSpPr/>
            <p:nvPr/>
          </p:nvGrpSpPr>
          <p:grpSpPr>
            <a:xfrm>
              <a:off x="6431475" y="3353797"/>
              <a:ext cx="1957257" cy="1280700"/>
              <a:chOff x="3934521" y="691950"/>
              <a:chExt cx="2298329" cy="1707600"/>
            </a:xfrm>
          </p:grpSpPr>
          <p:cxnSp>
            <p:nvCxnSpPr>
              <p:cNvPr id="385" name="Google Shape;385;p31"/>
              <p:cNvCxnSpPr/>
              <p:nvPr/>
            </p:nvCxnSpPr>
            <p:spPr>
              <a:xfrm>
                <a:off x="3971450" y="1882650"/>
                <a:ext cx="2261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86" name="Google Shape;386;p31"/>
              <p:cNvCxnSpPr/>
              <p:nvPr/>
            </p:nvCxnSpPr>
            <p:spPr>
              <a:xfrm>
                <a:off x="5060625" y="691950"/>
                <a:ext cx="0" cy="17076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stealth" w="med" len="med"/>
                <a:tailEnd type="none" w="med" len="med"/>
              </a:ln>
            </p:spPr>
          </p:cxnSp>
          <p:cxnSp>
            <p:nvCxnSpPr>
              <p:cNvPr id="387" name="Google Shape;387;p31"/>
              <p:cNvCxnSpPr/>
              <p:nvPr/>
            </p:nvCxnSpPr>
            <p:spPr>
              <a:xfrm>
                <a:off x="3934521" y="1882638"/>
                <a:ext cx="1126200" cy="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98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8" name="Google Shape;388;p31"/>
              <p:cNvCxnSpPr/>
              <p:nvPr/>
            </p:nvCxnSpPr>
            <p:spPr>
              <a:xfrm rot="10800000" flipH="1">
                <a:off x="5060625" y="775350"/>
                <a:ext cx="975000" cy="11073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98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389" name="Google Shape;389;p31"/>
            <p:cNvSpPr txBox="1"/>
            <p:nvPr/>
          </p:nvSpPr>
          <p:spPr>
            <a:xfrm>
              <a:off x="6950675" y="3167975"/>
              <a:ext cx="471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ẑ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390" name="Google Shape;390;p31"/>
            <p:cNvSpPr txBox="1"/>
            <p:nvPr/>
          </p:nvSpPr>
          <p:spPr>
            <a:xfrm>
              <a:off x="7962525" y="4202650"/>
              <a:ext cx="471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z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>
                <a:solidFill>
                  <a:schemeClr val="dk1"/>
                </a:solidFill>
              </a:endParaRPr>
            </a:p>
          </p:txBody>
        </p:sp>
      </p:grpSp>
      <p:pic>
        <p:nvPicPr>
          <p:cNvPr id="391" name="Google Shape;391;p31" descr="\hat{z}^{(i)}_j \leq z_j^{(i)}" title="MathEquation,#000000"/>
          <p:cNvPicPr preferRelativeResize="0"/>
          <p:nvPr/>
        </p:nvPicPr>
        <p:blipFill>
          <a:blip r:embed="rId6"/>
          <a:stretch>
            <a:fillRect/>
          </a:stretch>
        </p:blipFill>
        <p:spPr>
          <a:xfrm>
            <a:off x="5881763" y="2530112"/>
            <a:ext cx="1023376" cy="417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2" name="Google Shape;392;p31" descr="\hat{z}^{(i)}_j \geq z_j^{(i)}" title="MathEquation,#00000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5908475" y="3202400"/>
            <a:ext cx="1023396" cy="417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3" name="Google Shape;393;p31" descr="\hat{z}^{(i)}_j \geq 0" title="MathEquation,#000000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7641475" y="3260787"/>
            <a:ext cx="811722" cy="417025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31"/>
          <p:cNvSpPr/>
          <p:nvPr/>
        </p:nvSpPr>
        <p:spPr>
          <a:xfrm>
            <a:off x="5803788" y="1123713"/>
            <a:ext cx="1832400" cy="5727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5" name="Google Shape;395;p31"/>
          <p:cNvSpPr/>
          <p:nvPr/>
        </p:nvSpPr>
        <p:spPr>
          <a:xfrm>
            <a:off x="7638525" y="2453738"/>
            <a:ext cx="1116600" cy="5727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31"/>
          <p:cNvSpPr txBox="1"/>
          <p:nvPr/>
        </p:nvSpPr>
        <p:spPr>
          <a:xfrm>
            <a:off x="4572000" y="4220200"/>
            <a:ext cx="4378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M</a:t>
            </a:r>
            <a:r>
              <a:rPr lang="en-GB" sz="1800" baseline="-25000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needs to be small (negative) enough</a:t>
            </a: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800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M</a:t>
            </a:r>
            <a:r>
              <a:rPr lang="en-GB" sz="1800" baseline="-25000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</a:t>
            </a: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needs to be large enough</a:t>
            </a: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grpSp>
        <p:nvGrpSpPr>
          <p:cNvPr id="397" name="Google Shape;397;p31"/>
          <p:cNvGrpSpPr/>
          <p:nvPr/>
        </p:nvGrpSpPr>
        <p:grpSpPr>
          <a:xfrm>
            <a:off x="4411790" y="1618583"/>
            <a:ext cx="1023510" cy="680479"/>
            <a:chOff x="3971450" y="691950"/>
            <a:chExt cx="2261400" cy="1707600"/>
          </a:xfrm>
        </p:grpSpPr>
        <p:cxnSp>
          <p:nvCxnSpPr>
            <p:cNvPr id="398" name="Google Shape;398;p31"/>
            <p:cNvCxnSpPr/>
            <p:nvPr/>
          </p:nvCxnSpPr>
          <p:spPr>
            <a:xfrm>
              <a:off x="3971450" y="1882650"/>
              <a:ext cx="2261400" cy="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99" name="Google Shape;399;p31"/>
            <p:cNvCxnSpPr/>
            <p:nvPr/>
          </p:nvCxnSpPr>
          <p:spPr>
            <a:xfrm>
              <a:off x="5060625" y="691950"/>
              <a:ext cx="0" cy="1707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stealth" w="med" len="med"/>
              <a:tailEnd type="none" w="med" len="med"/>
            </a:ln>
          </p:spPr>
        </p:cxnSp>
        <p:cxnSp>
          <p:nvCxnSpPr>
            <p:cNvPr id="400" name="Google Shape;400;p31"/>
            <p:cNvCxnSpPr/>
            <p:nvPr/>
          </p:nvCxnSpPr>
          <p:spPr>
            <a:xfrm>
              <a:off x="4073025" y="1882650"/>
              <a:ext cx="987600" cy="0"/>
            </a:xfrm>
            <a:prstGeom prst="straightConnector1">
              <a:avLst/>
            </a:prstGeom>
            <a:noFill/>
            <a:ln w="28575" cap="flat" cmpd="sng">
              <a:solidFill>
                <a:srgbClr val="98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01" name="Google Shape;401;p31"/>
          <p:cNvGrpSpPr/>
          <p:nvPr/>
        </p:nvGrpSpPr>
        <p:grpSpPr>
          <a:xfrm>
            <a:off x="4373190" y="3039589"/>
            <a:ext cx="1116679" cy="742635"/>
            <a:chOff x="3971450" y="691950"/>
            <a:chExt cx="2261400" cy="1707600"/>
          </a:xfrm>
        </p:grpSpPr>
        <p:cxnSp>
          <p:nvCxnSpPr>
            <p:cNvPr id="402" name="Google Shape;402;p31"/>
            <p:cNvCxnSpPr/>
            <p:nvPr/>
          </p:nvCxnSpPr>
          <p:spPr>
            <a:xfrm>
              <a:off x="3971450" y="1882650"/>
              <a:ext cx="2261400" cy="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03" name="Google Shape;403;p31"/>
            <p:cNvCxnSpPr/>
            <p:nvPr/>
          </p:nvCxnSpPr>
          <p:spPr>
            <a:xfrm>
              <a:off x="5060625" y="691950"/>
              <a:ext cx="0" cy="1707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stealth" w="med" len="med"/>
              <a:tailEnd type="none" w="med" len="med"/>
            </a:ln>
          </p:spPr>
        </p:cxnSp>
        <p:cxnSp>
          <p:nvCxnSpPr>
            <p:cNvPr id="404" name="Google Shape;404;p31"/>
            <p:cNvCxnSpPr/>
            <p:nvPr/>
          </p:nvCxnSpPr>
          <p:spPr>
            <a:xfrm rot="10800000" flipH="1">
              <a:off x="5060625" y="929550"/>
              <a:ext cx="839400" cy="953100"/>
            </a:xfrm>
            <a:prstGeom prst="straightConnector1">
              <a:avLst/>
            </a:prstGeom>
            <a:noFill/>
            <a:ln w="28575" cap="flat" cmpd="sng">
              <a:solidFill>
                <a:srgbClr val="98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405" name="Google Shape;405;p31"/>
          <p:cNvCxnSpPr/>
          <p:nvPr/>
        </p:nvCxnSpPr>
        <p:spPr>
          <a:xfrm rot="10800000" flipH="1">
            <a:off x="4203150" y="1501150"/>
            <a:ext cx="826800" cy="8265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6" name="Google Shape;406;p31"/>
          <p:cNvCxnSpPr/>
          <p:nvPr/>
        </p:nvCxnSpPr>
        <p:spPr>
          <a:xfrm rot="10800000">
            <a:off x="5320175" y="2997475"/>
            <a:ext cx="0" cy="7029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12" name="Google Shape;412;p31" descr="\hat{z}^{(i)}_j \leq z_j^{(i)} - M_1" title="MathEquation,#000000"/>
          <p:cNvPicPr preferRelativeResize="0"/>
          <p:nvPr/>
        </p:nvPicPr>
        <p:blipFill>
          <a:blip r:embed="rId7"/>
          <a:stretch>
            <a:fillRect/>
          </a:stretch>
        </p:blipFill>
        <p:spPr>
          <a:xfrm>
            <a:off x="5881750" y="1201550"/>
            <a:ext cx="1676482" cy="417025"/>
          </a:xfrm>
          <a:prstGeom prst="rect">
            <a:avLst/>
          </a:prstGeom>
          <a:noFill/>
          <a:ln>
            <a:noFill/>
          </a:ln>
        </p:spPr>
      </p:pic>
      <p:sp>
        <p:nvSpPr>
          <p:cNvPr id="413" name="Google Shape;413;p31"/>
          <p:cNvSpPr txBox="1"/>
          <p:nvPr/>
        </p:nvSpPr>
        <p:spPr>
          <a:xfrm>
            <a:off x="5143288" y="3568500"/>
            <a:ext cx="48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FF0000"/>
                </a:solidFill>
              </a:rPr>
              <a:t>M</a:t>
            </a:r>
            <a:r>
              <a:rPr lang="en-GB" sz="1300" baseline="-25000">
                <a:solidFill>
                  <a:srgbClr val="FF0000"/>
                </a:solidFill>
              </a:rPr>
              <a:t>2</a:t>
            </a:r>
            <a:endParaRPr sz="900" baseline="-25000"/>
          </a:p>
        </p:txBody>
      </p:sp>
      <p:sp>
        <p:nvSpPr>
          <p:cNvPr id="414" name="Google Shape;414;p31"/>
          <p:cNvSpPr txBox="1"/>
          <p:nvPr/>
        </p:nvSpPr>
        <p:spPr>
          <a:xfrm>
            <a:off x="4295550" y="1992050"/>
            <a:ext cx="48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FF0000"/>
                </a:solidFill>
              </a:rPr>
              <a:t>M</a:t>
            </a:r>
            <a:r>
              <a:rPr lang="en-GB" sz="1300" baseline="-25000">
                <a:solidFill>
                  <a:srgbClr val="FF0000"/>
                </a:solidFill>
              </a:rPr>
              <a:t>1</a:t>
            </a:r>
            <a:endParaRPr sz="900" baseline="-25000"/>
          </a:p>
        </p:txBody>
      </p:sp>
      <p:sp>
        <p:nvSpPr>
          <p:cNvPr id="415" name="Google Shape;415;p31"/>
          <p:cNvSpPr/>
          <p:nvPr/>
        </p:nvSpPr>
        <p:spPr>
          <a:xfrm>
            <a:off x="4430925" y="2057208"/>
            <a:ext cx="60600" cy="606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31"/>
          <p:cNvSpPr/>
          <p:nvPr/>
        </p:nvSpPr>
        <p:spPr>
          <a:xfrm>
            <a:off x="5289875" y="3533583"/>
            <a:ext cx="60600" cy="606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17" name="Google Shape;417;p31" descr="\hat{z}^{(i)}_j \leq M_2" title="MathEquation,#000000"/>
          <p:cNvPicPr preferRelativeResize="0"/>
          <p:nvPr/>
        </p:nvPicPr>
        <p:blipFill>
          <a:blip r:embed="rId8"/>
          <a:stretch>
            <a:fillRect/>
          </a:stretch>
        </p:blipFill>
        <p:spPr>
          <a:xfrm>
            <a:off x="7716225" y="2545770"/>
            <a:ext cx="961224" cy="385693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BCA319A-D4A7-307E-EE1E-4A39B7C0D649}"/>
                  </a:ext>
                </a:extLst>
              </p:cNvPr>
              <p:cNvSpPr txBox="1"/>
              <p:nvPr/>
            </p:nvSpPr>
            <p:spPr>
              <a:xfrm>
                <a:off x="284898" y="1326628"/>
                <a:ext cx="2949915" cy="16585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8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Sup>
                        <m:sSubSupPr>
                          <m:ctrlP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18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sup>
                      </m:sSubSup>
                      <m:r>
                        <a:rPr lang="en-US" sz="1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Sup>
                            <m:sSubSupPr>
                              <m:ctrlPr>
                                <a:rPr lang="en-US" sz="18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8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8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8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</m:oMath>
                  </m:oMathPara>
                </a14:m>
                <a:endParaRPr lang="en-US" sz="18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8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8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8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sSubSup>
                        <m:sSubSupPr>
                          <m:ctrlP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8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8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1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BCA319A-D4A7-307E-EE1E-4A39B7C0D6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898" y="1326628"/>
                <a:ext cx="2949915" cy="1658531"/>
              </a:xfrm>
              <a:prstGeom prst="rect">
                <a:avLst/>
              </a:prstGeom>
              <a:blipFill>
                <a:blip r:embed="rId9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3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Pre-activation bounds</a:t>
            </a:r>
          </a:p>
        </p:txBody>
      </p:sp>
      <p:sp>
        <p:nvSpPr>
          <p:cNvPr id="423" name="Google Shape;423;p32"/>
          <p:cNvSpPr txBox="1">
            <a:spLocks noGrp="1"/>
          </p:cNvSpPr>
          <p:nvPr>
            <p:ph type="body" idx="1"/>
          </p:nvPr>
        </p:nvSpPr>
        <p:spPr>
          <a:xfrm>
            <a:off x="311700" y="1020150"/>
            <a:ext cx="5562293" cy="394131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For this to work, </a:t>
            </a:r>
            <a:r>
              <a:rPr lang="en-GB" dirty="0">
                <a:solidFill>
                  <a:srgbClr val="FF0000"/>
                </a:solidFill>
              </a:rPr>
              <a:t>M</a:t>
            </a:r>
            <a:r>
              <a:rPr lang="en-GB" baseline="-25000" dirty="0">
                <a:solidFill>
                  <a:srgbClr val="FF0000"/>
                </a:solidFill>
              </a:rPr>
              <a:t>1 </a:t>
            </a:r>
            <a:r>
              <a:rPr lang="en-GB" dirty="0"/>
              <a:t>and </a:t>
            </a:r>
            <a:r>
              <a:rPr lang="en-GB" dirty="0">
                <a:solidFill>
                  <a:srgbClr val="FF0000"/>
                </a:solidFill>
              </a:rPr>
              <a:t>M</a:t>
            </a:r>
            <a:r>
              <a:rPr lang="en-GB" baseline="-25000" dirty="0">
                <a:solidFill>
                  <a:srgbClr val="FF0000"/>
                </a:solidFill>
              </a:rPr>
              <a:t>2</a:t>
            </a:r>
            <a:r>
              <a:rPr lang="en-GB" dirty="0"/>
              <a:t> must be properly selected.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If set too conservatively, like M</a:t>
            </a:r>
            <a:r>
              <a:rPr lang="en-GB" sz="1800" baseline="-25000" dirty="0">
                <a:solidFill>
                  <a:schemeClr val="dk2"/>
                </a:solidFill>
              </a:rPr>
              <a:t>1 </a:t>
            </a:r>
            <a:r>
              <a:rPr lang="en-GB" sz="1800" dirty="0">
                <a:solidFill>
                  <a:schemeClr val="dk2"/>
                </a:solidFill>
              </a:rPr>
              <a:t>= -100000 and M</a:t>
            </a:r>
            <a:r>
              <a:rPr lang="en-GB" sz="1800" baseline="-25000" dirty="0">
                <a:solidFill>
                  <a:schemeClr val="dk2"/>
                </a:solidFill>
              </a:rPr>
              <a:t>2 </a:t>
            </a:r>
            <a:r>
              <a:rPr lang="en-GB" sz="1800" dirty="0">
                <a:solidFill>
                  <a:schemeClr val="dk2"/>
                </a:solidFill>
              </a:rPr>
              <a:t>= 100000, too many constraints will </a:t>
            </a:r>
            <a:r>
              <a:rPr lang="en-GB" dirty="0"/>
              <a:t>be “active” slowing the solver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How to find appropriate M1 and M2?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We can use optimization to find these pre-activation bounds - the same formulation as our verification problem before, just changing the optimization variables</a:t>
            </a: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dirty="0"/>
              <a:t>MILP, LP, or more efficient methods can be used</a:t>
            </a:r>
          </a:p>
          <a:p>
            <a:pPr marL="0" indent="0">
              <a:spcAft>
                <a:spcPts val="1200"/>
              </a:spcAft>
              <a:buNone/>
            </a:pPr>
            <a:endParaRPr lang="en-GB"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-GB" dirty="0"/>
          </a:p>
        </p:txBody>
      </p:sp>
      <p:grpSp>
        <p:nvGrpSpPr>
          <p:cNvPr id="424" name="Google Shape;424;p32"/>
          <p:cNvGrpSpPr/>
          <p:nvPr/>
        </p:nvGrpSpPr>
        <p:grpSpPr>
          <a:xfrm>
            <a:off x="6115042" y="284464"/>
            <a:ext cx="2601025" cy="1466522"/>
            <a:chOff x="6206725" y="3167975"/>
            <a:chExt cx="2601025" cy="1466522"/>
          </a:xfrm>
        </p:grpSpPr>
        <p:grpSp>
          <p:nvGrpSpPr>
            <p:cNvPr id="425" name="Google Shape;425;p32"/>
            <p:cNvGrpSpPr/>
            <p:nvPr/>
          </p:nvGrpSpPr>
          <p:grpSpPr>
            <a:xfrm>
              <a:off x="6206725" y="3353797"/>
              <a:ext cx="2381074" cy="1280700"/>
              <a:chOff x="3670606" y="691950"/>
              <a:chExt cx="2796000" cy="1707600"/>
            </a:xfrm>
          </p:grpSpPr>
          <p:cxnSp>
            <p:nvCxnSpPr>
              <p:cNvPr id="426" name="Google Shape;426;p32"/>
              <p:cNvCxnSpPr/>
              <p:nvPr/>
            </p:nvCxnSpPr>
            <p:spPr>
              <a:xfrm>
                <a:off x="3670606" y="1882654"/>
                <a:ext cx="2796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427" name="Google Shape;427;p32"/>
              <p:cNvCxnSpPr/>
              <p:nvPr/>
            </p:nvCxnSpPr>
            <p:spPr>
              <a:xfrm>
                <a:off x="5060625" y="691950"/>
                <a:ext cx="0" cy="17076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stealth" w="med" len="med"/>
                <a:tailEnd type="none" w="med" len="med"/>
              </a:ln>
            </p:spPr>
          </p:cxnSp>
          <p:cxnSp>
            <p:nvCxnSpPr>
              <p:cNvPr id="428" name="Google Shape;428;p32"/>
              <p:cNvCxnSpPr/>
              <p:nvPr/>
            </p:nvCxnSpPr>
            <p:spPr>
              <a:xfrm>
                <a:off x="3934521" y="1882638"/>
                <a:ext cx="1126200" cy="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98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9" name="Google Shape;429;p32"/>
              <p:cNvCxnSpPr/>
              <p:nvPr/>
            </p:nvCxnSpPr>
            <p:spPr>
              <a:xfrm rot="10800000" flipH="1">
                <a:off x="5060625" y="775350"/>
                <a:ext cx="975000" cy="11073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98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30" name="Google Shape;430;p32"/>
            <p:cNvSpPr txBox="1"/>
            <p:nvPr/>
          </p:nvSpPr>
          <p:spPr>
            <a:xfrm>
              <a:off x="6950675" y="3167975"/>
              <a:ext cx="471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ẑ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431" name="Google Shape;431;p32"/>
            <p:cNvSpPr txBox="1"/>
            <p:nvPr/>
          </p:nvSpPr>
          <p:spPr>
            <a:xfrm>
              <a:off x="8336150" y="3763300"/>
              <a:ext cx="471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z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>
                <a:solidFill>
                  <a:schemeClr val="dk1"/>
                </a:solidFill>
              </a:endParaRPr>
            </a:p>
          </p:txBody>
        </p:sp>
      </p:grpSp>
      <p:cxnSp>
        <p:nvCxnSpPr>
          <p:cNvPr id="432" name="Google Shape;432;p32"/>
          <p:cNvCxnSpPr/>
          <p:nvPr/>
        </p:nvCxnSpPr>
        <p:spPr>
          <a:xfrm rot="10800000">
            <a:off x="6356092" y="510688"/>
            <a:ext cx="0" cy="10161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3" name="Google Shape;433;p32"/>
          <p:cNvCxnSpPr/>
          <p:nvPr/>
        </p:nvCxnSpPr>
        <p:spPr>
          <a:xfrm rot="10800000">
            <a:off x="8127742" y="437438"/>
            <a:ext cx="0" cy="11211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4" name="Google Shape;434;p32"/>
          <p:cNvSpPr txBox="1"/>
          <p:nvPr/>
        </p:nvSpPr>
        <p:spPr>
          <a:xfrm>
            <a:off x="6115042" y="1472013"/>
            <a:ext cx="48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FF0000"/>
                </a:solidFill>
              </a:rPr>
              <a:t>M</a:t>
            </a:r>
            <a:r>
              <a:rPr lang="en-GB" sz="1300" baseline="-25000">
                <a:solidFill>
                  <a:srgbClr val="FF0000"/>
                </a:solidFill>
              </a:rPr>
              <a:t>1</a:t>
            </a:r>
            <a:endParaRPr sz="900" baseline="-25000"/>
          </a:p>
        </p:txBody>
      </p:sp>
      <p:sp>
        <p:nvSpPr>
          <p:cNvPr id="435" name="Google Shape;435;p32"/>
          <p:cNvSpPr txBox="1"/>
          <p:nvPr/>
        </p:nvSpPr>
        <p:spPr>
          <a:xfrm>
            <a:off x="7886680" y="1472013"/>
            <a:ext cx="48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FF0000"/>
                </a:solidFill>
              </a:rPr>
              <a:t>M</a:t>
            </a:r>
            <a:r>
              <a:rPr lang="en-GB" sz="1300" baseline="-25000">
                <a:solidFill>
                  <a:srgbClr val="FF0000"/>
                </a:solidFill>
              </a:rPr>
              <a:t>2</a:t>
            </a:r>
            <a:endParaRPr sz="900" baseline="-25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3CF0D4A-962D-1AB9-58E4-58FC1CBA1E7D}"/>
                  </a:ext>
                </a:extLst>
              </p:cNvPr>
              <p:cNvSpPr txBox="1"/>
              <p:nvPr/>
            </p:nvSpPr>
            <p:spPr>
              <a:xfrm>
                <a:off x="6339792" y="2453245"/>
                <a:ext cx="2647781" cy="24136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Sup>
                            <m:sSub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1600" dirty="0">
                  <a:solidFill>
                    <a:schemeClr val="tx1"/>
                  </a:solidFill>
                </a:endParaRPr>
              </a:p>
              <a:p>
                <a:endParaRPr lang="en-US" sz="16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sSubSup>
                            <m:sSubSup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e>
                      </m:func>
                    </m:oMath>
                  </m:oMathPara>
                </a14:m>
                <a:endParaRPr lang="en-US" sz="1600" b="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𝑎𝑥</m:t>
                          </m:r>
                        </m:fName>
                        <m:e>
                          <m:sSubSup>
                            <m:sSubSup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e>
                      </m:func>
                    </m:oMath>
                  </m:oMathPara>
                </a14:m>
                <a:endParaRPr 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3CF0D4A-962D-1AB9-58E4-58FC1CBA1E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9792" y="2453245"/>
                <a:ext cx="2647781" cy="241360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Putting it all together with Pre-activation bounds</a:t>
            </a:r>
          </a:p>
        </p:txBody>
      </p:sp>
      <p:sp>
        <p:nvSpPr>
          <p:cNvPr id="467" name="Google Shape;467;p34"/>
          <p:cNvSpPr txBox="1">
            <a:spLocks noGrp="1"/>
          </p:cNvSpPr>
          <p:nvPr>
            <p:ph type="body" idx="1"/>
          </p:nvPr>
        </p:nvSpPr>
        <p:spPr>
          <a:xfrm>
            <a:off x="311700" y="3910050"/>
            <a:ext cx="8665200" cy="94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We can use optimization to find these pre-activation bounds - the same formulation as our verification problem before, just changing the optimization variables.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8" name="Google Shape;468;p34"/>
              <p:cNvSpPr txBox="1"/>
              <p:nvPr/>
            </p:nvSpPr>
            <p:spPr>
              <a:xfrm>
                <a:off x="766225" y="1017725"/>
                <a:ext cx="4648200" cy="289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i="1" strike="sngStrike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𝑚𝑖𝑛</m:t>
                      </m:r>
                      <m:r>
                        <a:rPr lang="en-GB" sz="1800" i="1" strike="sngStrike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sz="1800" i="1" strike="sngStrike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sz="1800" i="1" strike="sngStrike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ar-AE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ar-AE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.    </m:t>
                      </m:r>
                      <m:r>
                        <a:rPr lang="ar-AE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ar-AE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sSup>
                        <m:sSupPr>
                          <m:ctrlPr>
                            <a:rPr lang="ar-AE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21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ar-AE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(3)</m:t>
                          </m:r>
                        </m:sup>
                      </m:sSup>
                      <m:r>
                        <a:rPr lang="ar-AE" sz="2100" i="1" baseline="30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ar-AE" sz="21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ar-AE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100" i="1" dirty="0" err="1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</m:oMath>
                  </m:oMathPara>
                </a14:m>
                <a:endParaRPr lang="ar-AE" sz="2100" i="1" baseline="30000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1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ar-AE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ar-AE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ar-AE" sz="1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0)    </m:t>
                      </m:r>
                    </m:oMath>
                  </m:oMathPara>
                </a14:m>
                <a:endParaRPr lang="ar-AE" sz="1800" i="1" dirty="0">
                  <a:solidFill>
                    <a:schemeClr val="dk2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err="1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ar-AE" sz="1800" i="1" baseline="30000" dirty="0">
                  <a:solidFill>
                    <a:schemeClr val="dk2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ar-AE" sz="1800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ar-AE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ar-AE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d>
                            <m:dPr>
                              <m:ctrlPr>
                                <a:rPr lang="ar-AE" sz="1800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1800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r>
                        <a:rPr lang="ar-AE" sz="18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ar-AE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0)</m:t>
                      </m:r>
                    </m:oMath>
                  </m:oMathPara>
                </a14:m>
                <a:endParaRPr lang="ar-AE" sz="1800" i="1" baseline="30000" dirty="0">
                  <a:solidFill>
                    <a:srgbClr val="FF0000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ar-AE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ar-AE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ar-AE" sz="1800" i="1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ar-AE" sz="2000" i="1" baseline="-25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ar-AE" sz="20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≤ </m:t>
                      </m:r>
                      <m:r>
                        <a:rPr lang="ar-AE" sz="2000" i="1" dirty="0" err="1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ar-AE" sz="2000" i="1" baseline="-25000" dirty="0" err="1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ar-AE" sz="2000" i="1" baseline="-25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ar-AE" sz="2000" i="1" baseline="-25000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ar-AE" sz="2000" i="1" baseline="-25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ar-AE" sz="20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ar-AE" sz="20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ar-AE" sz="20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ar-AE" sz="20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ar-AE" sz="1800" dirty="0">
                  <a:solidFill>
                    <a:schemeClr val="dk2"/>
                  </a:solidFill>
                </a:endParaRPr>
              </a:p>
            </p:txBody>
          </p:sp>
        </mc:Choice>
        <mc:Fallback xmlns="">
          <p:sp>
            <p:nvSpPr>
              <p:cNvPr id="468" name="Google Shape;468;p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225" y="1017725"/>
                <a:ext cx="4648200" cy="28986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004320F-2728-A472-6DE4-3B86643E1987}"/>
                  </a:ext>
                </a:extLst>
              </p:cNvPr>
              <p:cNvSpPr txBox="1"/>
              <p:nvPr/>
            </p:nvSpPr>
            <p:spPr>
              <a:xfrm>
                <a:off x="4644300" y="1017725"/>
                <a:ext cx="2090057" cy="6894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sSubSup>
                            <m:sSubSupPr>
                              <m:ctrlP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e>
                      </m:func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𝑎𝑥</m:t>
                          </m:r>
                        </m:fName>
                        <m:e>
                          <m:sSubSup>
                            <m:sSubSupPr>
                              <m:ctrlP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004320F-2728-A472-6DE4-3B86643E1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4300" y="1017725"/>
                <a:ext cx="2090057" cy="6894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Putting it all together with Pre-activation bounds</a:t>
            </a:r>
          </a:p>
        </p:txBody>
      </p:sp>
      <p:sp>
        <p:nvSpPr>
          <p:cNvPr id="467" name="Google Shape;467;p34"/>
          <p:cNvSpPr txBox="1">
            <a:spLocks noGrp="1"/>
          </p:cNvSpPr>
          <p:nvPr>
            <p:ph type="body" idx="1"/>
          </p:nvPr>
        </p:nvSpPr>
        <p:spPr>
          <a:xfrm>
            <a:off x="311700" y="4018868"/>
            <a:ext cx="8665200" cy="83858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We can use optimization to find these pre-activation bounds - the same formulation as our verification problem before, just changing the optimization variables.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8" name="Google Shape;468;p34"/>
              <p:cNvSpPr txBox="1"/>
              <p:nvPr/>
            </p:nvSpPr>
            <p:spPr>
              <a:xfrm>
                <a:off x="766225" y="1017725"/>
                <a:ext cx="4648200" cy="289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i="1" strike="sngStrike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𝑚𝑖𝑛</m:t>
                      </m:r>
                      <m:r>
                        <a:rPr lang="en-GB" sz="1800" i="1" strike="sngStrike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sz="1800" i="1" strike="sngStrike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sz="1800" i="1" strike="sngStrike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ar-AE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ar-AE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.    </m:t>
                      </m:r>
                      <m:r>
                        <a:rPr lang="ar-AE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ar-AE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sSup>
                        <m:sSupPr>
                          <m:ctrlPr>
                            <a:rPr lang="ar-AE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21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ar-AE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(3)</m:t>
                          </m:r>
                        </m:sup>
                      </m:sSup>
                      <m:r>
                        <a:rPr lang="ar-AE" sz="2100" i="1" baseline="30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ar-AE" sz="21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ar-AE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100" i="1" dirty="0" err="1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</m:oMath>
                  </m:oMathPara>
                </a14:m>
                <a:endParaRPr lang="ar-AE" sz="2100" i="1" baseline="30000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strike="sngStrike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1800" b="0" i="1" strike="sngStrike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strike="sngStrike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strike="sngStrike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ar-AE" sz="1800" i="1" strike="sngStrike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ar-AE" sz="1800" i="1" strike="sngStrike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strike="sngStrike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ar-AE" sz="1800" b="0" i="1" strike="sngStrike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strike="sngStrike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0)    </m:t>
                      </m:r>
                    </m:oMath>
                  </m:oMathPara>
                </a14:m>
                <a:endParaRPr lang="ar-AE" sz="1800" i="1" strike="sngStrike" dirty="0">
                  <a:solidFill>
                    <a:schemeClr val="dk2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err="1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ar-AE" sz="1800" i="1" baseline="30000" dirty="0">
                  <a:solidFill>
                    <a:schemeClr val="dk2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strike="sngStrike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1800" i="1" strike="sngStrike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strike="sngStrike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strike="sngStrike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ar-AE" sz="1800" i="1" strike="sngStrike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strike="sngStrike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ar-AE" sz="1800" i="1" strike="sngStrike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ar-AE" sz="1800" i="1" strike="sngStrike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strike="sngStrike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d>
                            <m:dPr>
                              <m:ctrlPr>
                                <a:rPr lang="ar-AE" sz="1800" b="0" i="1" strike="sngStrike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1800" b="0" i="1" strike="sngStrike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r>
                        <a:rPr lang="ar-AE" sz="1800" b="0" i="1" strike="sngStrike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ar-AE" sz="1800" i="1" strike="sngStrike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0)</m:t>
                      </m:r>
                    </m:oMath>
                  </m:oMathPara>
                </a14:m>
                <a:endParaRPr lang="ar-AE" sz="1800" i="1" strike="sngStrike" baseline="30000" dirty="0">
                  <a:solidFill>
                    <a:srgbClr val="FF0000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ar-AE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ar-AE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ar-AE" sz="1800" i="1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ar-AE" sz="2000" i="1" baseline="-25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ar-AE" sz="20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≤ </m:t>
                      </m:r>
                      <m:sSubSup>
                        <m:sSubSupPr>
                          <m:ctrlPr>
                            <a:rPr lang="en-US" sz="20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sz="2000" i="1" dirty="0" err="1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0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(0)</m:t>
                          </m:r>
                        </m:sup>
                      </m:sSubSup>
                    </m:oMath>
                  </m:oMathPara>
                </a14:m>
                <a:endParaRPr lang="ar-AE" sz="2000" i="1" baseline="-25000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ar-AE" sz="2000" i="1" baseline="-25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ar-AE" sz="20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ar-AE" sz="20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sz="20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sz="20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ar-AE" sz="20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(0)</m:t>
                          </m:r>
                        </m:sup>
                      </m:sSubSup>
                    </m:oMath>
                  </m:oMathPara>
                </a14:m>
                <a:endParaRPr lang="ar-AE" sz="1800" dirty="0">
                  <a:solidFill>
                    <a:schemeClr val="dk2"/>
                  </a:solidFill>
                </a:endParaRPr>
              </a:p>
            </p:txBody>
          </p:sp>
        </mc:Choice>
        <mc:Fallback xmlns="">
          <p:sp>
            <p:nvSpPr>
              <p:cNvPr id="468" name="Google Shape;468;p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225" y="1017725"/>
                <a:ext cx="4648200" cy="2898600"/>
              </a:xfrm>
              <a:prstGeom prst="rect">
                <a:avLst/>
              </a:prstGeom>
              <a:blipFill>
                <a:blip r:embed="rId3"/>
                <a:stretch>
                  <a:fillRect b="-305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004320F-2728-A472-6DE4-3B86643E1987}"/>
                  </a:ext>
                </a:extLst>
              </p:cNvPr>
              <p:cNvSpPr txBox="1"/>
              <p:nvPr/>
            </p:nvSpPr>
            <p:spPr>
              <a:xfrm>
                <a:off x="4572000" y="1017725"/>
                <a:ext cx="3080657" cy="30011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Each </a:t>
                </a:r>
                <a:r>
                  <a:rPr lang="en-US" sz="1600" dirty="0" err="1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ReLU</a:t>
                </a:r>
                <a:r>
                  <a:rPr lang="en-US" sz="16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is represented as</a:t>
                </a:r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sSubSup>
                            <m:sSubSup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e>
                      </m:func>
                    </m:oMath>
                  </m:oMathPara>
                </a14:m>
                <a:endParaRPr lang="en-US" sz="1600" b="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𝑎𝑥</m:t>
                          </m:r>
                        </m:fName>
                        <m:e>
                          <m:sSubSup>
                            <m:sSubSup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e>
                      </m:func>
                    </m:oMath>
                  </m:oMathPara>
                </a14:m>
                <a:endParaRPr lang="en-US" sz="1600" dirty="0"/>
              </a:p>
              <a:p>
                <a:endParaRPr lang="en-US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d>
                        <m:d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Sup>
                            <m:sSub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US" sz="1600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004320F-2728-A472-6DE4-3B86643E1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1017725"/>
                <a:ext cx="3080657" cy="3001143"/>
              </a:xfrm>
              <a:prstGeom prst="rect">
                <a:avLst/>
              </a:prstGeom>
              <a:blipFill>
                <a:blip r:embed="rId4"/>
                <a:stretch>
                  <a:fillRect l="-1235" t="-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9914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Putting it all together with Pre-activation bounds</a:t>
            </a:r>
          </a:p>
        </p:txBody>
      </p:sp>
      <p:sp>
        <p:nvSpPr>
          <p:cNvPr id="467" name="Google Shape;467;p34"/>
          <p:cNvSpPr txBox="1">
            <a:spLocks noGrp="1"/>
          </p:cNvSpPr>
          <p:nvPr>
            <p:ph type="body" idx="1"/>
          </p:nvPr>
        </p:nvSpPr>
        <p:spPr>
          <a:xfrm>
            <a:off x="311700" y="3910050"/>
            <a:ext cx="8665200" cy="94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Integer variables are still hard!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8" name="Google Shape;468;p34"/>
              <p:cNvSpPr txBox="1"/>
              <p:nvPr/>
            </p:nvSpPr>
            <p:spPr>
              <a:xfrm>
                <a:off x="766225" y="1017725"/>
                <a:ext cx="4648200" cy="289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i="1" strike="sngStrike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𝑚𝑖𝑛</m:t>
                      </m:r>
                      <m:r>
                        <a:rPr lang="en-GB" sz="1800" i="1" strike="sngStrike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sz="1800" i="1" strike="sngStrike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sz="1800" i="1" strike="sngStrike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1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ar-AE" sz="1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sz="1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ar-AE" sz="1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    </m:t>
                      </m:r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sSup>
                        <m:sSupPr>
                          <m:ctrlPr>
                            <a:rPr lang="ar-AE" sz="21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21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ar-AE" sz="21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(3)</m:t>
                          </m:r>
                        </m:sup>
                      </m:sSup>
                      <m:r>
                        <a:rPr lang="ar-AE" sz="2100" i="1" baseline="30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ar-AE" sz="21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ar-AE" sz="21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100" i="1" dirty="0" err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21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</m:oMath>
                  </m:oMathPara>
                </a14:m>
                <a:endParaRPr lang="ar-AE" sz="2100" i="1" baseline="30000" dirty="0">
                  <a:solidFill>
                    <a:schemeClr val="tx1"/>
                  </a:solidFill>
                </a:endParaRPr>
              </a:p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strike="sngStrike" baseline="30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strike="sngStrike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 0)    </m:t>
                      </m:r>
                    </m:oMath>
                  </m:oMathPara>
                </a14:m>
                <a:endParaRPr lang="ar-AE" sz="1800" i="1" strike="sngStrike" dirty="0">
                  <a:solidFill>
                    <a:schemeClr val="tx1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err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ar-AE" sz="1800" i="1" baseline="30000" dirty="0">
                  <a:solidFill>
                    <a:schemeClr val="tx1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1800" i="1" strike="sngStrike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strike="sngStrike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ar-AE" sz="1800" i="1" strike="sngStrike" baseline="30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strike="sngStrike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d>
                            <m:dPr>
                              <m:ctrlPr>
                                <a:rPr lang="ar-AE" sz="1800" b="0" i="1" strike="sngStrike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1800" b="0" i="1" strike="sngStrike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r>
                        <a:rPr lang="ar-AE" sz="1800" b="0" i="1" strike="sngStrike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0)</m:t>
                      </m:r>
                    </m:oMath>
                  </m:oMathPara>
                </a14:m>
                <a:endParaRPr lang="ar-AE" sz="1800" i="1" strike="sngStrike" baseline="30000" dirty="0">
                  <a:solidFill>
                    <a:schemeClr val="tx1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ar-AE" sz="1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ar-AE" sz="1800" i="1" dirty="0">
                  <a:solidFill>
                    <a:schemeClr val="tx1"/>
                  </a:solidFill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ar-AE" sz="2000" i="1" baseline="-25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ar-AE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≤ </m:t>
                      </m:r>
                      <m:sSubSup>
                        <m:sSubSupPr>
                          <m:ctrlPr>
                            <a:rPr 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sz="2000" i="1" dirty="0" err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(0)</m:t>
                          </m:r>
                        </m:sup>
                      </m:sSubSup>
                    </m:oMath>
                  </m:oMathPara>
                </a14:m>
                <a:endParaRPr lang="ar-AE" sz="2000" i="1" baseline="-25000" dirty="0">
                  <a:solidFill>
                    <a:schemeClr val="tx1"/>
                  </a:solidFill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ar-AE" sz="2000" i="1" baseline="-25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ar-AE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ar-AE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sz="20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ar-AE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(0)</m:t>
                          </m:r>
                        </m:sup>
                      </m:sSubSup>
                    </m:oMath>
                  </m:oMathPara>
                </a14:m>
                <a:endParaRPr lang="ar-AE" sz="1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8" name="Google Shape;468;p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225" y="1017725"/>
                <a:ext cx="4648200" cy="2898600"/>
              </a:xfrm>
              <a:prstGeom prst="rect">
                <a:avLst/>
              </a:prstGeom>
              <a:blipFill>
                <a:blip r:embed="rId3"/>
                <a:stretch>
                  <a:fillRect b="-305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004320F-2728-A472-6DE4-3B86643E1987}"/>
                  </a:ext>
                </a:extLst>
              </p:cNvPr>
              <p:cNvSpPr txBox="1"/>
              <p:nvPr/>
            </p:nvSpPr>
            <p:spPr>
              <a:xfrm>
                <a:off x="4572000" y="1256309"/>
                <a:ext cx="3418114" cy="30011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Each </a:t>
                </a:r>
                <a:r>
                  <a:rPr lang="en-US" sz="1600" dirty="0" err="1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ReLU</a:t>
                </a:r>
                <a:r>
                  <a:rPr lang="en-US" sz="16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is represented as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sSubSup>
                            <m:sSubSup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e>
                      </m:func>
                    </m:oMath>
                  </m:oMathPara>
                </a14:m>
                <a:endParaRPr lang="en-US" sz="1600" b="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𝑎𝑥</m:t>
                          </m:r>
                        </m:fName>
                        <m:e>
                          <m:sSubSup>
                            <m:sSubSup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e>
                      </m:func>
                    </m:oMath>
                  </m:oMathPara>
                </a14:m>
                <a:endParaRPr lang="en-US" sz="1600" dirty="0"/>
              </a:p>
              <a:p>
                <a:endParaRPr lang="en-US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d>
                        <m:d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Sup>
                            <m:sSub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US" sz="1600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004320F-2728-A472-6DE4-3B86643E1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1256309"/>
                <a:ext cx="3418114" cy="3001143"/>
              </a:xfrm>
              <a:prstGeom prst="rect">
                <a:avLst/>
              </a:prstGeom>
              <a:blipFill>
                <a:blip r:embed="rId4"/>
                <a:stretch>
                  <a:fillRect l="-1111" t="-4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3921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Putting it all together with Pre-activation bounds</a:t>
            </a:r>
          </a:p>
        </p:txBody>
      </p:sp>
      <p:sp>
        <p:nvSpPr>
          <p:cNvPr id="467" name="Google Shape;467;p34"/>
          <p:cNvSpPr txBox="1">
            <a:spLocks noGrp="1"/>
          </p:cNvSpPr>
          <p:nvPr>
            <p:ph type="body" idx="1"/>
          </p:nvPr>
        </p:nvSpPr>
        <p:spPr>
          <a:xfrm>
            <a:off x="311700" y="3910050"/>
            <a:ext cx="8665200" cy="94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Integer variables are still hard!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8" name="Google Shape;468;p34"/>
              <p:cNvSpPr txBox="1"/>
              <p:nvPr/>
            </p:nvSpPr>
            <p:spPr>
              <a:xfrm>
                <a:off x="766225" y="1017725"/>
                <a:ext cx="4648200" cy="289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𝑀𝐼𝐿𝑃</m:t>
                          </m:r>
                        </m:sub>
                        <m:sup>
                          <m:r>
                            <a:rPr lang="en-US" sz="1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8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min</m:t>
                      </m:r>
                      <m:r>
                        <m:rPr>
                          <m:nor/>
                        </m:rPr>
                        <a:rPr lang="en-US" sz="18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en-US" sz="1800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1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ar-AE" sz="1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sz="1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ar-AE" sz="1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    </m:t>
                      </m:r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sSup>
                        <m:sSupPr>
                          <m:ctrlPr>
                            <a:rPr lang="ar-AE" sz="21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21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ar-AE" sz="21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(3)</m:t>
                          </m:r>
                        </m:sup>
                      </m:sSup>
                      <m:r>
                        <a:rPr lang="ar-AE" sz="2100" i="1" baseline="30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ar-AE" sz="21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ar-AE" sz="21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100" i="1" dirty="0" err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21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</m:oMath>
                  </m:oMathPara>
                </a14:m>
                <a:endParaRPr lang="ar-AE" sz="2100" i="1" baseline="30000" dirty="0">
                  <a:solidFill>
                    <a:schemeClr val="tx1"/>
                  </a:solidFill>
                </a:endParaRPr>
              </a:p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strike="sngStrike" baseline="30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strike="sngStrike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 0)    </m:t>
                      </m:r>
                    </m:oMath>
                  </m:oMathPara>
                </a14:m>
                <a:endParaRPr lang="ar-AE" sz="1800" i="1" strike="sngStrike" dirty="0">
                  <a:solidFill>
                    <a:schemeClr val="tx1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err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ar-AE" sz="1800" i="1" baseline="30000" dirty="0">
                  <a:solidFill>
                    <a:schemeClr val="tx1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1800" i="1" strike="sngStrike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strike="sngStrike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ar-AE" sz="1800" i="1" strike="sngStrike" baseline="30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strike="sngStrike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d>
                            <m:dPr>
                              <m:ctrlPr>
                                <a:rPr lang="ar-AE" sz="1800" b="0" i="1" strike="sngStrike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1800" b="0" i="1" strike="sngStrike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r>
                        <a:rPr lang="ar-AE" sz="1800" b="0" i="1" strike="sngStrike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0)</m:t>
                      </m:r>
                    </m:oMath>
                  </m:oMathPara>
                </a14:m>
                <a:endParaRPr lang="ar-AE" sz="1800" i="1" strike="sngStrike" baseline="30000" dirty="0">
                  <a:solidFill>
                    <a:schemeClr val="tx1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ar-AE" sz="1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ar-AE" sz="1800" i="1" dirty="0">
                  <a:solidFill>
                    <a:schemeClr val="tx1"/>
                  </a:solidFill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ar-AE" sz="2000" i="1" baseline="-25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ar-AE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≤ </m:t>
                      </m:r>
                      <m:sSubSup>
                        <m:sSubSupPr>
                          <m:ctrlPr>
                            <a:rPr 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sz="2000" i="1" dirty="0" err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(0)</m:t>
                          </m:r>
                        </m:sup>
                      </m:sSubSup>
                    </m:oMath>
                  </m:oMathPara>
                </a14:m>
                <a:endParaRPr lang="ar-AE" sz="2000" i="1" baseline="-25000" dirty="0">
                  <a:solidFill>
                    <a:schemeClr val="tx1"/>
                  </a:solidFill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ar-AE" sz="2000" i="1" baseline="-25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ar-AE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ar-AE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sz="20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ar-AE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(0)</m:t>
                          </m:r>
                        </m:sup>
                      </m:sSubSup>
                    </m:oMath>
                  </m:oMathPara>
                </a14:m>
                <a:endParaRPr lang="ar-AE" sz="1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8" name="Google Shape;468;p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225" y="1017725"/>
                <a:ext cx="4648200" cy="2898600"/>
              </a:xfrm>
              <a:prstGeom prst="rect">
                <a:avLst/>
              </a:prstGeom>
              <a:blipFill>
                <a:blip r:embed="rId3"/>
                <a:stretch>
                  <a:fillRect b="-305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004320F-2728-A472-6DE4-3B86643E1987}"/>
                  </a:ext>
                </a:extLst>
              </p:cNvPr>
              <p:cNvSpPr txBox="1"/>
              <p:nvPr/>
            </p:nvSpPr>
            <p:spPr>
              <a:xfrm>
                <a:off x="4572000" y="1256309"/>
                <a:ext cx="3418114" cy="30011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Each </a:t>
                </a:r>
                <a:r>
                  <a:rPr lang="en-US" sz="1600" dirty="0" err="1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ReLU</a:t>
                </a:r>
                <a:r>
                  <a:rPr lang="en-US" sz="16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is represented as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sSubSup>
                            <m:sSubSup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e>
                      </m:func>
                    </m:oMath>
                  </m:oMathPara>
                </a14:m>
                <a:endParaRPr lang="en-US" sz="1600" b="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𝑎𝑥</m:t>
                          </m:r>
                        </m:fName>
                        <m:e>
                          <m:sSubSup>
                            <m:sSubSup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e>
                      </m:func>
                    </m:oMath>
                  </m:oMathPara>
                </a14:m>
                <a:endParaRPr lang="en-US" sz="1600" dirty="0"/>
              </a:p>
              <a:p>
                <a:endParaRPr lang="en-US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d>
                        <m:d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Sup>
                            <m:sSub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US" sz="1600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004320F-2728-A472-6DE4-3B86643E1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1256309"/>
                <a:ext cx="3418114" cy="3001143"/>
              </a:xfrm>
              <a:prstGeom prst="rect">
                <a:avLst/>
              </a:prstGeom>
              <a:blipFill>
                <a:blip r:embed="rId4"/>
                <a:stretch>
                  <a:fillRect l="-1111" t="-4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65760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Putting it all together with Pre-activation bounds</a:t>
            </a:r>
          </a:p>
        </p:txBody>
      </p:sp>
      <p:sp>
        <p:nvSpPr>
          <p:cNvPr id="467" name="Google Shape;467;p34"/>
          <p:cNvSpPr txBox="1">
            <a:spLocks noGrp="1"/>
          </p:cNvSpPr>
          <p:nvPr>
            <p:ph type="body" idx="1"/>
          </p:nvPr>
        </p:nvSpPr>
        <p:spPr>
          <a:xfrm>
            <a:off x="311700" y="3910050"/>
            <a:ext cx="8665200" cy="94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Linear relaxation of integer constraints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GB" dirty="0"/>
              <a:t>How does this affect the solution?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8" name="Google Shape;468;p34"/>
              <p:cNvSpPr txBox="1"/>
              <p:nvPr/>
            </p:nvSpPr>
            <p:spPr>
              <a:xfrm>
                <a:off x="766225" y="1017725"/>
                <a:ext cx="4648200" cy="289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𝐿𝑃</m:t>
                          </m:r>
                        </m:sub>
                        <m:sup>
                          <m:r>
                            <a:rPr lang="en-US" sz="1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8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min</m:t>
                      </m:r>
                      <m:r>
                        <m:rPr>
                          <m:nor/>
                        </m:rPr>
                        <a:rPr lang="en-US" sz="18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en-US" sz="1800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1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ar-AE" sz="1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sz="1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ar-AE" sz="1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    </m:t>
                      </m:r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sSup>
                        <m:sSupPr>
                          <m:ctrlPr>
                            <a:rPr lang="ar-AE" sz="21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21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ar-AE" sz="21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(3)</m:t>
                          </m:r>
                        </m:sup>
                      </m:sSup>
                      <m:r>
                        <a:rPr lang="ar-AE" sz="2100" i="1" baseline="30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ar-AE" sz="21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ar-AE" sz="21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100" i="1" dirty="0" err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21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</m:oMath>
                  </m:oMathPara>
                </a14:m>
                <a:endParaRPr lang="ar-AE" sz="2100" i="1" baseline="30000" dirty="0">
                  <a:solidFill>
                    <a:schemeClr val="tx1"/>
                  </a:solidFill>
                </a:endParaRPr>
              </a:p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strike="sngStrike" baseline="30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strike="sngStrike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 0)    </m:t>
                      </m:r>
                    </m:oMath>
                  </m:oMathPara>
                </a14:m>
                <a:endParaRPr lang="ar-AE" sz="1800" i="1" strike="sngStrike" dirty="0">
                  <a:solidFill>
                    <a:schemeClr val="tx1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err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ar-AE" sz="1800" i="1" baseline="30000" dirty="0">
                  <a:solidFill>
                    <a:schemeClr val="tx1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1800" i="1" strike="sngStrike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strike="sngStrike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ar-AE" sz="1800" i="1" strike="sngStrike" baseline="30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strike="sngStrike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d>
                            <m:dPr>
                              <m:ctrlPr>
                                <a:rPr lang="ar-AE" sz="1800" b="0" i="1" strike="sngStrike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1800" b="0" i="1" strike="sngStrike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r>
                        <a:rPr lang="ar-AE" sz="1800" b="0" i="1" strike="sngStrike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0)</m:t>
                      </m:r>
                    </m:oMath>
                  </m:oMathPara>
                </a14:m>
                <a:endParaRPr lang="ar-AE" sz="1800" i="1" strike="sngStrike" baseline="30000" dirty="0">
                  <a:solidFill>
                    <a:schemeClr val="tx1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ar-AE" sz="1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ar-AE" sz="1800" i="1" dirty="0">
                  <a:solidFill>
                    <a:schemeClr val="tx1"/>
                  </a:solidFill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ar-AE" sz="2000" i="1" baseline="-25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ar-AE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≤ </m:t>
                      </m:r>
                      <m:sSubSup>
                        <m:sSubSupPr>
                          <m:ctrlPr>
                            <a:rPr 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sz="2000" i="1" dirty="0" err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(0)</m:t>
                          </m:r>
                        </m:sup>
                      </m:sSubSup>
                    </m:oMath>
                  </m:oMathPara>
                </a14:m>
                <a:endParaRPr lang="ar-AE" sz="2000" i="1" baseline="-25000" dirty="0">
                  <a:solidFill>
                    <a:schemeClr val="tx1"/>
                  </a:solidFill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ar-AE" sz="2000" i="1" baseline="-25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ar-AE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ar-AE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sz="20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ar-AE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(0)</m:t>
                          </m:r>
                        </m:sup>
                      </m:sSubSup>
                    </m:oMath>
                  </m:oMathPara>
                </a14:m>
                <a:endParaRPr lang="ar-AE" sz="1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8" name="Google Shape;468;p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225" y="1017725"/>
                <a:ext cx="4648200" cy="2898600"/>
              </a:xfrm>
              <a:prstGeom prst="rect">
                <a:avLst/>
              </a:prstGeom>
              <a:blipFill>
                <a:blip r:embed="rId3"/>
                <a:stretch>
                  <a:fillRect b="-305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004320F-2728-A472-6DE4-3B86643E1987}"/>
                  </a:ext>
                </a:extLst>
              </p:cNvPr>
              <p:cNvSpPr txBox="1"/>
              <p:nvPr/>
            </p:nvSpPr>
            <p:spPr>
              <a:xfrm>
                <a:off x="4572000" y="1256309"/>
                <a:ext cx="3418114" cy="30011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Each </a:t>
                </a:r>
                <a:r>
                  <a:rPr lang="en-US" sz="1600" dirty="0" err="1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ReLU</a:t>
                </a:r>
                <a:r>
                  <a:rPr lang="en-US" sz="16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is represented as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sSubSup>
                            <m:sSubSup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e>
                      </m:func>
                    </m:oMath>
                  </m:oMathPara>
                </a14:m>
                <a:endParaRPr lang="en-US" sz="1600" b="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𝑎𝑥</m:t>
                          </m:r>
                        </m:fName>
                        <m:e>
                          <m:sSubSup>
                            <m:sSubSup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e>
                      </m:func>
                    </m:oMath>
                  </m:oMathPara>
                </a14:m>
                <a:endParaRPr lang="en-US" sz="1600" dirty="0"/>
              </a:p>
              <a:p>
                <a:endParaRPr lang="en-US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d>
                        <m:d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Sup>
                            <m:sSub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0≤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en-US" sz="1600" b="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004320F-2728-A472-6DE4-3B86643E1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1256309"/>
                <a:ext cx="3418114" cy="3001143"/>
              </a:xfrm>
              <a:prstGeom prst="rect">
                <a:avLst/>
              </a:prstGeom>
              <a:blipFill>
                <a:blip r:embed="rId4"/>
                <a:stretch>
                  <a:fillRect l="-1111" t="-4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8677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3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000"/>
              <a:buFont typeface="Arial" panose="020B0604020202020204"/>
              <a:buNone/>
            </a:pPr>
            <a:r>
              <a:rPr lang="en-GB" dirty="0"/>
              <a:t>MILP vs LP</a:t>
            </a:r>
          </a:p>
        </p:txBody>
      </p:sp>
      <p:sp>
        <p:nvSpPr>
          <p:cNvPr id="531" name="Google Shape;531;p38"/>
          <p:cNvSpPr txBox="1">
            <a:spLocks noGrp="1"/>
          </p:cNvSpPr>
          <p:nvPr>
            <p:ph type="body" idx="1"/>
          </p:nvPr>
        </p:nvSpPr>
        <p:spPr>
          <a:xfrm>
            <a:off x="311700" y="696227"/>
            <a:ext cx="8520600" cy="70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b="1" dirty="0">
                <a:solidFill>
                  <a:schemeClr val="dk1"/>
                </a:solidFill>
              </a:rPr>
              <a:t>y*</a:t>
            </a:r>
            <a:r>
              <a:rPr lang="en-GB" b="1" baseline="-25000" dirty="0">
                <a:solidFill>
                  <a:schemeClr val="dk1"/>
                </a:solidFill>
              </a:rPr>
              <a:t>LP  </a:t>
            </a:r>
            <a:r>
              <a:rPr lang="en-GB" sz="2000" dirty="0">
                <a:solidFill>
                  <a:schemeClr val="dk1"/>
                </a:solidFill>
              </a:rPr>
              <a:t>≤ </a:t>
            </a:r>
            <a:r>
              <a:rPr lang="en-GB" b="1" dirty="0">
                <a:solidFill>
                  <a:schemeClr val="dk1"/>
                </a:solidFill>
              </a:rPr>
              <a:t>y*</a:t>
            </a:r>
            <a:r>
              <a:rPr lang="en-GB" b="1" baseline="-25000" dirty="0">
                <a:solidFill>
                  <a:schemeClr val="dk1"/>
                </a:solidFill>
              </a:rPr>
              <a:t>MILP</a:t>
            </a:r>
            <a:endParaRPr b="1" dirty="0">
              <a:solidFill>
                <a:schemeClr val="dk1"/>
              </a:solidFill>
            </a:endParaRPr>
          </a:p>
        </p:txBody>
      </p:sp>
      <p:sp>
        <p:nvSpPr>
          <p:cNvPr id="532" name="Google Shape;532;p38"/>
          <p:cNvSpPr txBox="1">
            <a:spLocks noGrp="1"/>
          </p:cNvSpPr>
          <p:nvPr>
            <p:ph type="body" idx="1"/>
          </p:nvPr>
        </p:nvSpPr>
        <p:spPr>
          <a:xfrm>
            <a:off x="406950" y="1182695"/>
            <a:ext cx="8520600" cy="173561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/>
              <a:t>It’s not the original MILP solution, but it is a guaranteed lower bound</a:t>
            </a: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400" dirty="0"/>
              <a:t>Solving LP is (weakly) polynomial time. </a:t>
            </a: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400" dirty="0"/>
              <a:t>Simplex algorithm practically a few orders of magnitude faster</a:t>
            </a:r>
          </a:p>
        </p:txBody>
      </p:sp>
      <p:cxnSp>
        <p:nvCxnSpPr>
          <p:cNvPr id="533" name="Google Shape;533;p38"/>
          <p:cNvCxnSpPr/>
          <p:nvPr/>
        </p:nvCxnSpPr>
        <p:spPr>
          <a:xfrm>
            <a:off x="1983744" y="2800188"/>
            <a:ext cx="0" cy="1755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534" name="Google Shape;534;p38"/>
          <p:cNvCxnSpPr/>
          <p:nvPr/>
        </p:nvCxnSpPr>
        <p:spPr>
          <a:xfrm>
            <a:off x="1739150" y="4162288"/>
            <a:ext cx="2664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35" name="Google Shape;535;p38"/>
          <p:cNvSpPr/>
          <p:nvPr/>
        </p:nvSpPr>
        <p:spPr>
          <a:xfrm>
            <a:off x="1982832" y="3122467"/>
            <a:ext cx="2319243" cy="1062076"/>
          </a:xfrm>
          <a:custGeom>
            <a:avLst/>
            <a:gdLst/>
            <a:ahLst/>
            <a:cxnLst/>
            <a:rect l="l" t="t" r="r" b="b"/>
            <a:pathLst>
              <a:path w="134644" h="61659" extrusionOk="0">
                <a:moveTo>
                  <a:pt x="0" y="61659"/>
                </a:moveTo>
                <a:cubicBezTo>
                  <a:pt x="3006" y="56696"/>
                  <a:pt x="9788" y="35443"/>
                  <a:pt x="18037" y="31878"/>
                </a:cubicBezTo>
                <a:cubicBezTo>
                  <a:pt x="26286" y="28313"/>
                  <a:pt x="41735" y="40826"/>
                  <a:pt x="49495" y="40267"/>
                </a:cubicBezTo>
                <a:cubicBezTo>
                  <a:pt x="57255" y="39708"/>
                  <a:pt x="59003" y="29502"/>
                  <a:pt x="64596" y="28523"/>
                </a:cubicBezTo>
                <a:cubicBezTo>
                  <a:pt x="70189" y="27544"/>
                  <a:pt x="76829" y="37471"/>
                  <a:pt x="83051" y="34395"/>
                </a:cubicBezTo>
                <a:cubicBezTo>
                  <a:pt x="89273" y="31319"/>
                  <a:pt x="93328" y="15800"/>
                  <a:pt x="101927" y="10067"/>
                </a:cubicBezTo>
                <a:cubicBezTo>
                  <a:pt x="110526" y="4335"/>
                  <a:pt x="129191" y="1678"/>
                  <a:pt x="134644" y="0"/>
                </a:cubicBezTo>
              </a:path>
            </a:pathLst>
          </a:cu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536" name="Google Shape;536;p38"/>
          <p:cNvCxnSpPr/>
          <p:nvPr/>
        </p:nvCxnSpPr>
        <p:spPr>
          <a:xfrm rot="10800000">
            <a:off x="2386812" y="3205336"/>
            <a:ext cx="0" cy="9714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537" name="Google Shape;537;p38"/>
          <p:cNvCxnSpPr/>
          <p:nvPr/>
        </p:nvCxnSpPr>
        <p:spPr>
          <a:xfrm>
            <a:off x="2376200" y="4162283"/>
            <a:ext cx="1141800" cy="0"/>
          </a:xfrm>
          <a:prstGeom prst="straightConnector1">
            <a:avLst/>
          </a:prstGeom>
          <a:noFill/>
          <a:ln w="38100" cap="flat" cmpd="sng">
            <a:solidFill>
              <a:srgbClr val="A4C2F4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38" name="Google Shape;538;p38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4160466" y="4194333"/>
            <a:ext cx="97798" cy="113559"/>
          </a:xfrm>
          <a:prstGeom prst="rect">
            <a:avLst/>
          </a:prstGeom>
          <a:noFill/>
          <a:ln>
            <a:noFill/>
          </a:ln>
        </p:spPr>
      </p:pic>
      <p:sp>
        <p:nvSpPr>
          <p:cNvPr id="539" name="Google Shape;539;p38"/>
          <p:cNvSpPr/>
          <p:nvPr/>
        </p:nvSpPr>
        <p:spPr>
          <a:xfrm>
            <a:off x="2388850" y="3587638"/>
            <a:ext cx="1139300" cy="234175"/>
          </a:xfrm>
          <a:custGeom>
            <a:avLst/>
            <a:gdLst/>
            <a:ahLst/>
            <a:cxnLst/>
            <a:rect l="l" t="t" r="r" b="b"/>
            <a:pathLst>
              <a:path w="45572" h="9367" extrusionOk="0">
                <a:moveTo>
                  <a:pt x="0" y="3198"/>
                </a:moveTo>
                <a:cubicBezTo>
                  <a:pt x="644" y="3354"/>
                  <a:pt x="822" y="3109"/>
                  <a:pt x="3864" y="4131"/>
                </a:cubicBezTo>
                <a:cubicBezTo>
                  <a:pt x="6907" y="5153"/>
                  <a:pt x="14188" y="9842"/>
                  <a:pt x="18255" y="9328"/>
                </a:cubicBezTo>
                <a:cubicBezTo>
                  <a:pt x="22322" y="8814"/>
                  <a:pt x="24846" y="1667"/>
                  <a:pt x="28266" y="1045"/>
                </a:cubicBezTo>
                <a:cubicBezTo>
                  <a:pt x="31686" y="423"/>
                  <a:pt x="36292" y="5283"/>
                  <a:pt x="38776" y="5597"/>
                </a:cubicBezTo>
                <a:cubicBezTo>
                  <a:pt x="41261" y="5912"/>
                  <a:pt x="42040" y="3865"/>
                  <a:pt x="43173" y="2932"/>
                </a:cubicBezTo>
                <a:cubicBezTo>
                  <a:pt x="44306" y="1999"/>
                  <a:pt x="45172" y="489"/>
                  <a:pt x="45572" y="0"/>
                </a:cubicBezTo>
              </a:path>
            </a:pathLst>
          </a:custGeom>
          <a:noFill/>
          <a:ln w="19050" cap="flat" cmpd="sng">
            <a:solidFill>
              <a:srgbClr val="98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540" name="Google Shape;540;p38"/>
          <p:cNvCxnSpPr/>
          <p:nvPr/>
        </p:nvCxnSpPr>
        <p:spPr>
          <a:xfrm rot="10800000">
            <a:off x="3528162" y="3219023"/>
            <a:ext cx="0" cy="9714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541" name="Google Shape;541;p38" descr="f(x) &gt; 0, \forall x \in \mathcal{S}" title="MathEquation,#000000"/>
          <p:cNvPicPr preferRelativeResize="0"/>
          <p:nvPr/>
        </p:nvPicPr>
        <p:blipFill rotWithShape="1">
          <a:blip r:embed="rId4"/>
          <a:srcRect l="88467" r="-4" b="9057"/>
          <a:stretch>
            <a:fillRect/>
          </a:stretch>
        </p:blipFill>
        <p:spPr>
          <a:xfrm>
            <a:off x="2863584" y="4400075"/>
            <a:ext cx="172900" cy="223175"/>
          </a:xfrm>
          <a:prstGeom prst="rect">
            <a:avLst/>
          </a:prstGeom>
          <a:noFill/>
          <a:ln>
            <a:noFill/>
          </a:ln>
        </p:spPr>
      </p:pic>
      <p:sp>
        <p:nvSpPr>
          <p:cNvPr id="542" name="Google Shape;542;p38"/>
          <p:cNvSpPr/>
          <p:nvPr/>
        </p:nvSpPr>
        <p:spPr>
          <a:xfrm rot="-5400000">
            <a:off x="2869125" y="3730850"/>
            <a:ext cx="168300" cy="1139700"/>
          </a:xfrm>
          <a:prstGeom prst="leftBrace">
            <a:avLst>
              <a:gd name="adj1" fmla="val 50000"/>
              <a:gd name="adj2" fmla="val 50000"/>
            </a:avLst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3" name="Google Shape;543;p38"/>
          <p:cNvSpPr txBox="1"/>
          <p:nvPr/>
        </p:nvSpPr>
        <p:spPr>
          <a:xfrm>
            <a:off x="1178138" y="3554063"/>
            <a:ext cx="918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y*</a:t>
            </a:r>
            <a:r>
              <a:rPr lang="en-GB" sz="1800" baseline="-25000">
                <a:solidFill>
                  <a:schemeClr val="dk1"/>
                </a:solidFill>
              </a:rPr>
              <a:t>MILP</a:t>
            </a:r>
          </a:p>
        </p:txBody>
      </p:sp>
      <p:cxnSp>
        <p:nvCxnSpPr>
          <p:cNvPr id="544" name="Google Shape;544;p38"/>
          <p:cNvCxnSpPr/>
          <p:nvPr/>
        </p:nvCxnSpPr>
        <p:spPr>
          <a:xfrm>
            <a:off x="6508144" y="2906963"/>
            <a:ext cx="0" cy="1755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545" name="Google Shape;545;p38"/>
          <p:cNvCxnSpPr/>
          <p:nvPr/>
        </p:nvCxnSpPr>
        <p:spPr>
          <a:xfrm>
            <a:off x="6263550" y="4269063"/>
            <a:ext cx="2664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46" name="Google Shape;546;p38"/>
          <p:cNvSpPr/>
          <p:nvPr/>
        </p:nvSpPr>
        <p:spPr>
          <a:xfrm>
            <a:off x="6507232" y="3229242"/>
            <a:ext cx="2319243" cy="1062076"/>
          </a:xfrm>
          <a:custGeom>
            <a:avLst/>
            <a:gdLst/>
            <a:ahLst/>
            <a:cxnLst/>
            <a:rect l="l" t="t" r="r" b="b"/>
            <a:pathLst>
              <a:path w="134644" h="61659" extrusionOk="0">
                <a:moveTo>
                  <a:pt x="0" y="61659"/>
                </a:moveTo>
                <a:cubicBezTo>
                  <a:pt x="3006" y="56696"/>
                  <a:pt x="9788" y="35443"/>
                  <a:pt x="18037" y="31878"/>
                </a:cubicBezTo>
                <a:cubicBezTo>
                  <a:pt x="26286" y="28313"/>
                  <a:pt x="41735" y="40826"/>
                  <a:pt x="49495" y="40267"/>
                </a:cubicBezTo>
                <a:cubicBezTo>
                  <a:pt x="57255" y="39708"/>
                  <a:pt x="59003" y="29502"/>
                  <a:pt x="64596" y="28523"/>
                </a:cubicBezTo>
                <a:cubicBezTo>
                  <a:pt x="70189" y="27544"/>
                  <a:pt x="76829" y="37471"/>
                  <a:pt x="83051" y="34395"/>
                </a:cubicBezTo>
                <a:cubicBezTo>
                  <a:pt x="89273" y="31319"/>
                  <a:pt x="93328" y="15800"/>
                  <a:pt x="101927" y="10067"/>
                </a:cubicBezTo>
                <a:cubicBezTo>
                  <a:pt x="110526" y="4335"/>
                  <a:pt x="129191" y="1678"/>
                  <a:pt x="134644" y="0"/>
                </a:cubicBezTo>
              </a:path>
            </a:pathLst>
          </a:cu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547" name="Google Shape;547;p38"/>
          <p:cNvCxnSpPr/>
          <p:nvPr/>
        </p:nvCxnSpPr>
        <p:spPr>
          <a:xfrm rot="10800000">
            <a:off x="6911212" y="3312111"/>
            <a:ext cx="0" cy="9714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548" name="Google Shape;548;p38"/>
          <p:cNvCxnSpPr/>
          <p:nvPr/>
        </p:nvCxnSpPr>
        <p:spPr>
          <a:xfrm>
            <a:off x="6900600" y="4269058"/>
            <a:ext cx="1141800" cy="0"/>
          </a:xfrm>
          <a:prstGeom prst="straightConnector1">
            <a:avLst/>
          </a:prstGeom>
          <a:noFill/>
          <a:ln w="38100" cap="flat" cmpd="sng">
            <a:solidFill>
              <a:srgbClr val="A4C2F4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49" name="Google Shape;549;p38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8684866" y="4301108"/>
            <a:ext cx="97798" cy="113559"/>
          </a:xfrm>
          <a:prstGeom prst="rect">
            <a:avLst/>
          </a:prstGeom>
          <a:noFill/>
          <a:ln>
            <a:noFill/>
          </a:ln>
        </p:spPr>
      </p:pic>
      <p:sp>
        <p:nvSpPr>
          <p:cNvPr id="550" name="Google Shape;550;p38"/>
          <p:cNvSpPr/>
          <p:nvPr/>
        </p:nvSpPr>
        <p:spPr>
          <a:xfrm>
            <a:off x="6913250" y="3694413"/>
            <a:ext cx="1139300" cy="234175"/>
          </a:xfrm>
          <a:custGeom>
            <a:avLst/>
            <a:gdLst/>
            <a:ahLst/>
            <a:cxnLst/>
            <a:rect l="l" t="t" r="r" b="b"/>
            <a:pathLst>
              <a:path w="45572" h="9367" extrusionOk="0">
                <a:moveTo>
                  <a:pt x="0" y="3198"/>
                </a:moveTo>
                <a:cubicBezTo>
                  <a:pt x="644" y="3354"/>
                  <a:pt x="822" y="3109"/>
                  <a:pt x="3864" y="4131"/>
                </a:cubicBezTo>
                <a:cubicBezTo>
                  <a:pt x="6907" y="5153"/>
                  <a:pt x="14188" y="9842"/>
                  <a:pt x="18255" y="9328"/>
                </a:cubicBezTo>
                <a:cubicBezTo>
                  <a:pt x="22322" y="8814"/>
                  <a:pt x="24846" y="1667"/>
                  <a:pt x="28266" y="1045"/>
                </a:cubicBezTo>
                <a:cubicBezTo>
                  <a:pt x="31686" y="423"/>
                  <a:pt x="36292" y="5283"/>
                  <a:pt x="38776" y="5597"/>
                </a:cubicBezTo>
                <a:cubicBezTo>
                  <a:pt x="41261" y="5912"/>
                  <a:pt x="42040" y="3865"/>
                  <a:pt x="43173" y="2932"/>
                </a:cubicBezTo>
                <a:cubicBezTo>
                  <a:pt x="44306" y="1999"/>
                  <a:pt x="45172" y="489"/>
                  <a:pt x="45572" y="0"/>
                </a:cubicBezTo>
              </a:path>
            </a:pathLst>
          </a:custGeom>
          <a:noFill/>
          <a:ln w="19050" cap="flat" cmpd="sng">
            <a:solidFill>
              <a:srgbClr val="98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551" name="Google Shape;551;p38"/>
          <p:cNvCxnSpPr/>
          <p:nvPr/>
        </p:nvCxnSpPr>
        <p:spPr>
          <a:xfrm rot="10800000">
            <a:off x="8052562" y="3325798"/>
            <a:ext cx="0" cy="9714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552" name="Google Shape;552;p38" descr="f(x) &gt; 0, \forall x \in \mathcal{S}" title="MathEquation,#000000"/>
          <p:cNvPicPr preferRelativeResize="0"/>
          <p:nvPr/>
        </p:nvPicPr>
        <p:blipFill rotWithShape="1">
          <a:blip r:embed="rId4"/>
          <a:srcRect l="88467" r="-4" b="9057"/>
          <a:stretch>
            <a:fillRect/>
          </a:stretch>
        </p:blipFill>
        <p:spPr>
          <a:xfrm>
            <a:off x="7387984" y="4506850"/>
            <a:ext cx="172900" cy="223175"/>
          </a:xfrm>
          <a:prstGeom prst="rect">
            <a:avLst/>
          </a:prstGeom>
          <a:noFill/>
          <a:ln>
            <a:noFill/>
          </a:ln>
        </p:spPr>
      </p:pic>
      <p:sp>
        <p:nvSpPr>
          <p:cNvPr id="553" name="Google Shape;553;p38"/>
          <p:cNvSpPr/>
          <p:nvPr/>
        </p:nvSpPr>
        <p:spPr>
          <a:xfrm rot="-5400000">
            <a:off x="7393525" y="3837625"/>
            <a:ext cx="168300" cy="1139700"/>
          </a:xfrm>
          <a:prstGeom prst="leftBrace">
            <a:avLst>
              <a:gd name="adj1" fmla="val 50000"/>
              <a:gd name="adj2" fmla="val 50000"/>
            </a:avLst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4" name="Google Shape;554;p38"/>
          <p:cNvSpPr txBox="1"/>
          <p:nvPr/>
        </p:nvSpPr>
        <p:spPr>
          <a:xfrm>
            <a:off x="5696100" y="3821825"/>
            <a:ext cx="918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y*</a:t>
            </a:r>
            <a:r>
              <a:rPr lang="en-GB" sz="1800" baseline="-25000">
                <a:solidFill>
                  <a:schemeClr val="dk1"/>
                </a:solidFill>
              </a:rPr>
              <a:t>LP</a:t>
            </a:r>
          </a:p>
        </p:txBody>
      </p:sp>
      <p:cxnSp>
        <p:nvCxnSpPr>
          <p:cNvPr id="555" name="Google Shape;555;p38"/>
          <p:cNvCxnSpPr/>
          <p:nvPr/>
        </p:nvCxnSpPr>
        <p:spPr>
          <a:xfrm>
            <a:off x="1981200" y="3824825"/>
            <a:ext cx="1608600" cy="105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556" name="Google Shape;556;p38"/>
          <p:cNvCxnSpPr/>
          <p:nvPr/>
        </p:nvCxnSpPr>
        <p:spPr>
          <a:xfrm>
            <a:off x="6507225" y="4093588"/>
            <a:ext cx="1608600" cy="105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3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Sound but Incomplete Verification with a Lower Bound</a:t>
            </a:r>
          </a:p>
        </p:txBody>
      </p:sp>
      <p:cxnSp>
        <p:nvCxnSpPr>
          <p:cNvPr id="563" name="Google Shape;563;p39"/>
          <p:cNvCxnSpPr/>
          <p:nvPr/>
        </p:nvCxnSpPr>
        <p:spPr>
          <a:xfrm>
            <a:off x="1069344" y="2800188"/>
            <a:ext cx="0" cy="1755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564" name="Google Shape;564;p39"/>
          <p:cNvCxnSpPr/>
          <p:nvPr/>
        </p:nvCxnSpPr>
        <p:spPr>
          <a:xfrm>
            <a:off x="824750" y="4162288"/>
            <a:ext cx="2664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65" name="Google Shape;565;p39"/>
          <p:cNvSpPr/>
          <p:nvPr/>
        </p:nvSpPr>
        <p:spPr>
          <a:xfrm>
            <a:off x="1068432" y="3122467"/>
            <a:ext cx="2319243" cy="1062076"/>
          </a:xfrm>
          <a:custGeom>
            <a:avLst/>
            <a:gdLst/>
            <a:ahLst/>
            <a:cxnLst/>
            <a:rect l="l" t="t" r="r" b="b"/>
            <a:pathLst>
              <a:path w="134644" h="61659" extrusionOk="0">
                <a:moveTo>
                  <a:pt x="0" y="61659"/>
                </a:moveTo>
                <a:cubicBezTo>
                  <a:pt x="3006" y="56696"/>
                  <a:pt x="9788" y="35443"/>
                  <a:pt x="18037" y="31878"/>
                </a:cubicBezTo>
                <a:cubicBezTo>
                  <a:pt x="26286" y="28313"/>
                  <a:pt x="41735" y="40826"/>
                  <a:pt x="49495" y="40267"/>
                </a:cubicBezTo>
                <a:cubicBezTo>
                  <a:pt x="57255" y="39708"/>
                  <a:pt x="59003" y="29502"/>
                  <a:pt x="64596" y="28523"/>
                </a:cubicBezTo>
                <a:cubicBezTo>
                  <a:pt x="70189" y="27544"/>
                  <a:pt x="76829" y="37471"/>
                  <a:pt x="83051" y="34395"/>
                </a:cubicBezTo>
                <a:cubicBezTo>
                  <a:pt x="89273" y="31319"/>
                  <a:pt x="93328" y="15800"/>
                  <a:pt x="101927" y="10067"/>
                </a:cubicBezTo>
                <a:cubicBezTo>
                  <a:pt x="110526" y="4335"/>
                  <a:pt x="129191" y="1678"/>
                  <a:pt x="134644" y="0"/>
                </a:cubicBezTo>
              </a:path>
            </a:pathLst>
          </a:cu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566" name="Google Shape;566;p39"/>
          <p:cNvCxnSpPr/>
          <p:nvPr/>
        </p:nvCxnSpPr>
        <p:spPr>
          <a:xfrm rot="10800000">
            <a:off x="1472412" y="3205336"/>
            <a:ext cx="0" cy="9714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567" name="Google Shape;567;p39"/>
          <p:cNvCxnSpPr/>
          <p:nvPr/>
        </p:nvCxnSpPr>
        <p:spPr>
          <a:xfrm>
            <a:off x="1461800" y="4162283"/>
            <a:ext cx="1141800" cy="0"/>
          </a:xfrm>
          <a:prstGeom prst="straightConnector1">
            <a:avLst/>
          </a:prstGeom>
          <a:noFill/>
          <a:ln w="38100" cap="flat" cmpd="sng">
            <a:solidFill>
              <a:srgbClr val="A4C2F4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68" name="Google Shape;568;p39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246066" y="4194333"/>
            <a:ext cx="97798" cy="113559"/>
          </a:xfrm>
          <a:prstGeom prst="rect">
            <a:avLst/>
          </a:prstGeom>
          <a:noFill/>
          <a:ln>
            <a:noFill/>
          </a:ln>
        </p:spPr>
      </p:pic>
      <p:sp>
        <p:nvSpPr>
          <p:cNvPr id="569" name="Google Shape;569;p39"/>
          <p:cNvSpPr/>
          <p:nvPr/>
        </p:nvSpPr>
        <p:spPr>
          <a:xfrm>
            <a:off x="1474450" y="3587638"/>
            <a:ext cx="1139300" cy="234175"/>
          </a:xfrm>
          <a:custGeom>
            <a:avLst/>
            <a:gdLst/>
            <a:ahLst/>
            <a:cxnLst/>
            <a:rect l="l" t="t" r="r" b="b"/>
            <a:pathLst>
              <a:path w="45572" h="9367" extrusionOk="0">
                <a:moveTo>
                  <a:pt x="0" y="3198"/>
                </a:moveTo>
                <a:cubicBezTo>
                  <a:pt x="644" y="3354"/>
                  <a:pt x="822" y="3109"/>
                  <a:pt x="3864" y="4131"/>
                </a:cubicBezTo>
                <a:cubicBezTo>
                  <a:pt x="6907" y="5153"/>
                  <a:pt x="14188" y="9842"/>
                  <a:pt x="18255" y="9328"/>
                </a:cubicBezTo>
                <a:cubicBezTo>
                  <a:pt x="22322" y="8814"/>
                  <a:pt x="24846" y="1667"/>
                  <a:pt x="28266" y="1045"/>
                </a:cubicBezTo>
                <a:cubicBezTo>
                  <a:pt x="31686" y="423"/>
                  <a:pt x="36292" y="5283"/>
                  <a:pt x="38776" y="5597"/>
                </a:cubicBezTo>
                <a:cubicBezTo>
                  <a:pt x="41261" y="5912"/>
                  <a:pt x="42040" y="3865"/>
                  <a:pt x="43173" y="2932"/>
                </a:cubicBezTo>
                <a:cubicBezTo>
                  <a:pt x="44306" y="1999"/>
                  <a:pt x="45172" y="489"/>
                  <a:pt x="45572" y="0"/>
                </a:cubicBezTo>
              </a:path>
            </a:pathLst>
          </a:custGeom>
          <a:noFill/>
          <a:ln w="19050" cap="flat" cmpd="sng">
            <a:solidFill>
              <a:srgbClr val="98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570" name="Google Shape;570;p39"/>
          <p:cNvCxnSpPr/>
          <p:nvPr/>
        </p:nvCxnSpPr>
        <p:spPr>
          <a:xfrm rot="10800000">
            <a:off x="2613762" y="3219023"/>
            <a:ext cx="0" cy="9714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571" name="Google Shape;571;p39" descr="f(x) &gt; 0, \forall x \in \mathcal{S}" title="MathEquation,#000000"/>
          <p:cNvPicPr preferRelativeResize="0"/>
          <p:nvPr/>
        </p:nvPicPr>
        <p:blipFill rotWithShape="1">
          <a:blip r:embed="rId4"/>
          <a:srcRect l="88467" r="-4" b="9057"/>
          <a:stretch>
            <a:fillRect/>
          </a:stretch>
        </p:blipFill>
        <p:spPr>
          <a:xfrm>
            <a:off x="1949184" y="4400075"/>
            <a:ext cx="172900" cy="223175"/>
          </a:xfrm>
          <a:prstGeom prst="rect">
            <a:avLst/>
          </a:prstGeom>
          <a:noFill/>
          <a:ln>
            <a:noFill/>
          </a:ln>
        </p:spPr>
      </p:pic>
      <p:sp>
        <p:nvSpPr>
          <p:cNvPr id="572" name="Google Shape;572;p39"/>
          <p:cNvSpPr/>
          <p:nvPr/>
        </p:nvSpPr>
        <p:spPr>
          <a:xfrm rot="-5400000">
            <a:off x="1954725" y="3730850"/>
            <a:ext cx="168300" cy="1139700"/>
          </a:xfrm>
          <a:prstGeom prst="leftBrace">
            <a:avLst>
              <a:gd name="adj1" fmla="val 50000"/>
              <a:gd name="adj2" fmla="val 50000"/>
            </a:avLst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3" name="Google Shape;573;p39"/>
          <p:cNvSpPr txBox="1"/>
          <p:nvPr/>
        </p:nvSpPr>
        <p:spPr>
          <a:xfrm>
            <a:off x="-224368" y="3554075"/>
            <a:ext cx="140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y*</a:t>
            </a:r>
            <a:r>
              <a:rPr lang="en-GB" sz="1800" baseline="-25000">
                <a:solidFill>
                  <a:schemeClr val="dk1"/>
                </a:solidFill>
              </a:rPr>
              <a:t>MILP</a:t>
            </a:r>
            <a:r>
              <a:rPr lang="en-GB" sz="1800">
                <a:solidFill>
                  <a:schemeClr val="dk1"/>
                </a:solidFill>
              </a:rPr>
              <a:t>=y*</a:t>
            </a:r>
          </a:p>
        </p:txBody>
      </p:sp>
      <p:cxnSp>
        <p:nvCxnSpPr>
          <p:cNvPr id="574" name="Google Shape;574;p39"/>
          <p:cNvCxnSpPr/>
          <p:nvPr/>
        </p:nvCxnSpPr>
        <p:spPr>
          <a:xfrm>
            <a:off x="4450744" y="2906963"/>
            <a:ext cx="0" cy="1755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575" name="Google Shape;575;p39"/>
          <p:cNvCxnSpPr/>
          <p:nvPr/>
        </p:nvCxnSpPr>
        <p:spPr>
          <a:xfrm>
            <a:off x="4206150" y="4269063"/>
            <a:ext cx="2664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76" name="Google Shape;576;p39"/>
          <p:cNvSpPr/>
          <p:nvPr/>
        </p:nvSpPr>
        <p:spPr>
          <a:xfrm>
            <a:off x="4449832" y="3229242"/>
            <a:ext cx="2319243" cy="1062076"/>
          </a:xfrm>
          <a:custGeom>
            <a:avLst/>
            <a:gdLst/>
            <a:ahLst/>
            <a:cxnLst/>
            <a:rect l="l" t="t" r="r" b="b"/>
            <a:pathLst>
              <a:path w="134644" h="61659" extrusionOk="0">
                <a:moveTo>
                  <a:pt x="0" y="61659"/>
                </a:moveTo>
                <a:cubicBezTo>
                  <a:pt x="3006" y="56696"/>
                  <a:pt x="9788" y="35443"/>
                  <a:pt x="18037" y="31878"/>
                </a:cubicBezTo>
                <a:cubicBezTo>
                  <a:pt x="26286" y="28313"/>
                  <a:pt x="41735" y="40826"/>
                  <a:pt x="49495" y="40267"/>
                </a:cubicBezTo>
                <a:cubicBezTo>
                  <a:pt x="57255" y="39708"/>
                  <a:pt x="59003" y="29502"/>
                  <a:pt x="64596" y="28523"/>
                </a:cubicBezTo>
                <a:cubicBezTo>
                  <a:pt x="70189" y="27544"/>
                  <a:pt x="76829" y="37471"/>
                  <a:pt x="83051" y="34395"/>
                </a:cubicBezTo>
                <a:cubicBezTo>
                  <a:pt x="89273" y="31319"/>
                  <a:pt x="93328" y="15800"/>
                  <a:pt x="101927" y="10067"/>
                </a:cubicBezTo>
                <a:cubicBezTo>
                  <a:pt x="110526" y="4335"/>
                  <a:pt x="129191" y="1678"/>
                  <a:pt x="134644" y="0"/>
                </a:cubicBezTo>
              </a:path>
            </a:pathLst>
          </a:cu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577" name="Google Shape;577;p39"/>
          <p:cNvCxnSpPr/>
          <p:nvPr/>
        </p:nvCxnSpPr>
        <p:spPr>
          <a:xfrm rot="10800000">
            <a:off x="4853812" y="3312111"/>
            <a:ext cx="0" cy="9714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578" name="Google Shape;578;p39"/>
          <p:cNvCxnSpPr/>
          <p:nvPr/>
        </p:nvCxnSpPr>
        <p:spPr>
          <a:xfrm>
            <a:off x="4843200" y="4269058"/>
            <a:ext cx="1141800" cy="0"/>
          </a:xfrm>
          <a:prstGeom prst="straightConnector1">
            <a:avLst/>
          </a:prstGeom>
          <a:noFill/>
          <a:ln w="38100" cap="flat" cmpd="sng">
            <a:solidFill>
              <a:srgbClr val="A4C2F4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79" name="Google Shape;579;p39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6568191" y="4350696"/>
            <a:ext cx="97798" cy="113559"/>
          </a:xfrm>
          <a:prstGeom prst="rect">
            <a:avLst/>
          </a:prstGeom>
          <a:noFill/>
          <a:ln>
            <a:noFill/>
          </a:ln>
        </p:spPr>
      </p:pic>
      <p:sp>
        <p:nvSpPr>
          <p:cNvPr id="580" name="Google Shape;580;p39"/>
          <p:cNvSpPr/>
          <p:nvPr/>
        </p:nvSpPr>
        <p:spPr>
          <a:xfrm>
            <a:off x="4855850" y="3694413"/>
            <a:ext cx="1139300" cy="234175"/>
          </a:xfrm>
          <a:custGeom>
            <a:avLst/>
            <a:gdLst/>
            <a:ahLst/>
            <a:cxnLst/>
            <a:rect l="l" t="t" r="r" b="b"/>
            <a:pathLst>
              <a:path w="45572" h="9367" extrusionOk="0">
                <a:moveTo>
                  <a:pt x="0" y="3198"/>
                </a:moveTo>
                <a:cubicBezTo>
                  <a:pt x="644" y="3354"/>
                  <a:pt x="822" y="3109"/>
                  <a:pt x="3864" y="4131"/>
                </a:cubicBezTo>
                <a:cubicBezTo>
                  <a:pt x="6907" y="5153"/>
                  <a:pt x="14188" y="9842"/>
                  <a:pt x="18255" y="9328"/>
                </a:cubicBezTo>
                <a:cubicBezTo>
                  <a:pt x="22322" y="8814"/>
                  <a:pt x="24846" y="1667"/>
                  <a:pt x="28266" y="1045"/>
                </a:cubicBezTo>
                <a:cubicBezTo>
                  <a:pt x="31686" y="423"/>
                  <a:pt x="36292" y="5283"/>
                  <a:pt x="38776" y="5597"/>
                </a:cubicBezTo>
                <a:cubicBezTo>
                  <a:pt x="41261" y="5912"/>
                  <a:pt x="42040" y="3865"/>
                  <a:pt x="43173" y="2932"/>
                </a:cubicBezTo>
                <a:cubicBezTo>
                  <a:pt x="44306" y="1999"/>
                  <a:pt x="45172" y="489"/>
                  <a:pt x="45572" y="0"/>
                </a:cubicBezTo>
              </a:path>
            </a:pathLst>
          </a:custGeom>
          <a:noFill/>
          <a:ln w="19050" cap="flat" cmpd="sng">
            <a:solidFill>
              <a:srgbClr val="98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581" name="Google Shape;581;p39"/>
          <p:cNvCxnSpPr/>
          <p:nvPr/>
        </p:nvCxnSpPr>
        <p:spPr>
          <a:xfrm rot="10800000">
            <a:off x="5995162" y="3325798"/>
            <a:ext cx="0" cy="9714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582" name="Google Shape;582;p39" descr="f(x) &gt; 0, \forall x \in \mathcal{S}" title="MathEquation,#000000"/>
          <p:cNvPicPr preferRelativeResize="0"/>
          <p:nvPr/>
        </p:nvPicPr>
        <p:blipFill rotWithShape="1">
          <a:blip r:embed="rId4"/>
          <a:srcRect l="88467" r="-4" b="9057"/>
          <a:stretch>
            <a:fillRect/>
          </a:stretch>
        </p:blipFill>
        <p:spPr>
          <a:xfrm>
            <a:off x="5330584" y="4506850"/>
            <a:ext cx="172900" cy="223175"/>
          </a:xfrm>
          <a:prstGeom prst="rect">
            <a:avLst/>
          </a:prstGeom>
          <a:noFill/>
          <a:ln>
            <a:noFill/>
          </a:ln>
        </p:spPr>
      </p:pic>
      <p:sp>
        <p:nvSpPr>
          <p:cNvPr id="583" name="Google Shape;583;p39"/>
          <p:cNvSpPr/>
          <p:nvPr/>
        </p:nvSpPr>
        <p:spPr>
          <a:xfrm rot="-5400000">
            <a:off x="5336125" y="3837625"/>
            <a:ext cx="168300" cy="1139700"/>
          </a:xfrm>
          <a:prstGeom prst="leftBrace">
            <a:avLst>
              <a:gd name="adj1" fmla="val 50000"/>
              <a:gd name="adj2" fmla="val 50000"/>
            </a:avLst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4" name="Google Shape;584;p39"/>
          <p:cNvSpPr txBox="1"/>
          <p:nvPr/>
        </p:nvSpPr>
        <p:spPr>
          <a:xfrm>
            <a:off x="3225950" y="3821825"/>
            <a:ext cx="1608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y*</a:t>
            </a:r>
            <a:r>
              <a:rPr lang="en-GB" sz="1800" baseline="-25000">
                <a:solidFill>
                  <a:schemeClr val="dk1"/>
                </a:solidFill>
              </a:rPr>
              <a:t>LP</a:t>
            </a:r>
            <a:r>
              <a:rPr lang="en-GB" sz="2000">
                <a:solidFill>
                  <a:schemeClr val="dk1"/>
                </a:solidFill>
              </a:rPr>
              <a:t>≤</a:t>
            </a:r>
            <a:r>
              <a:rPr lang="en-GB" sz="1800">
                <a:solidFill>
                  <a:schemeClr val="dk1"/>
                </a:solidFill>
              </a:rPr>
              <a:t> y*</a:t>
            </a:r>
          </a:p>
        </p:txBody>
      </p:sp>
      <p:cxnSp>
        <p:nvCxnSpPr>
          <p:cNvPr id="585" name="Google Shape;585;p39"/>
          <p:cNvCxnSpPr/>
          <p:nvPr/>
        </p:nvCxnSpPr>
        <p:spPr>
          <a:xfrm>
            <a:off x="1066800" y="3824825"/>
            <a:ext cx="1608600" cy="105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586" name="Google Shape;586;p39"/>
          <p:cNvCxnSpPr/>
          <p:nvPr/>
        </p:nvCxnSpPr>
        <p:spPr>
          <a:xfrm>
            <a:off x="4449825" y="4093588"/>
            <a:ext cx="1608600" cy="105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587" name="Google Shape;587;p39"/>
          <p:cNvSpPr txBox="1"/>
          <p:nvPr/>
        </p:nvSpPr>
        <p:spPr>
          <a:xfrm>
            <a:off x="939524" y="1017713"/>
            <a:ext cx="7636785" cy="2154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Satisfiability problem: ∃ x ∈ S  ∧  y ≤ 0  ∧  y = f(x)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latin typeface="Calibri Light" panose="020F0302020204030204" pitchFamily="34" charset="0"/>
                <a:cs typeface="Calibri Light" panose="020F0302020204030204" pitchFamily="34" charset="0"/>
              </a:rPr>
              <a:t>If y*</a:t>
            </a:r>
            <a:r>
              <a:rPr lang="en-GB" sz="1800" baseline="-25000" dirty="0">
                <a:latin typeface="Calibri Light" panose="020F0302020204030204" pitchFamily="34" charset="0"/>
                <a:cs typeface="Calibri Light" panose="020F0302020204030204" pitchFamily="34" charset="0"/>
              </a:rPr>
              <a:t>LP </a:t>
            </a:r>
            <a:r>
              <a:rPr lang="en-GB" sz="1800" dirty="0">
                <a:latin typeface="Calibri Light" panose="020F0302020204030204" pitchFamily="34" charset="0"/>
                <a:cs typeface="Calibri Light" panose="020F0302020204030204" pitchFamily="34" charset="0"/>
              </a:rPr>
              <a:t> &gt; 0 =&gt; y* &gt; 0  =&gt; requirement verified (unsatisfiable)</a:t>
            </a: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800" dirty="0">
                <a:latin typeface="Calibri Light" panose="020F0302020204030204" pitchFamily="34" charset="0"/>
                <a:cs typeface="Calibri Light" panose="020F0302020204030204" pitchFamily="34" charset="0"/>
              </a:rPr>
              <a:t>y*</a:t>
            </a:r>
            <a:r>
              <a:rPr lang="en-GB" sz="1800" baseline="-25000" dirty="0">
                <a:latin typeface="Calibri Light" panose="020F0302020204030204" pitchFamily="34" charset="0"/>
                <a:cs typeface="Calibri Light" panose="020F0302020204030204" pitchFamily="34" charset="0"/>
              </a:rPr>
              <a:t>LP </a:t>
            </a:r>
            <a:r>
              <a:rPr lang="en-GB" sz="1800" dirty="0">
                <a:latin typeface="Calibri Light" panose="020F0302020204030204" pitchFamily="34" charset="0"/>
                <a:cs typeface="Calibri Light" panose="020F0302020204030204" pitchFamily="34" charset="0"/>
              </a:rPr>
              <a:t>≤ 0 =&gt; verification result unknown (incomplete)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cxnSp>
        <p:nvCxnSpPr>
          <p:cNvPr id="588" name="Google Shape;588;p39"/>
          <p:cNvCxnSpPr/>
          <p:nvPr/>
        </p:nvCxnSpPr>
        <p:spPr>
          <a:xfrm>
            <a:off x="7283219" y="2918538"/>
            <a:ext cx="0" cy="1755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589" name="Google Shape;589;p39"/>
          <p:cNvCxnSpPr/>
          <p:nvPr/>
        </p:nvCxnSpPr>
        <p:spPr>
          <a:xfrm>
            <a:off x="7038625" y="4280638"/>
            <a:ext cx="2664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90" name="Google Shape;590;p39"/>
          <p:cNvSpPr/>
          <p:nvPr/>
        </p:nvSpPr>
        <p:spPr>
          <a:xfrm>
            <a:off x="7282307" y="3240817"/>
            <a:ext cx="2319243" cy="1062076"/>
          </a:xfrm>
          <a:custGeom>
            <a:avLst/>
            <a:gdLst/>
            <a:ahLst/>
            <a:cxnLst/>
            <a:rect l="l" t="t" r="r" b="b"/>
            <a:pathLst>
              <a:path w="134644" h="61659" extrusionOk="0">
                <a:moveTo>
                  <a:pt x="0" y="61659"/>
                </a:moveTo>
                <a:cubicBezTo>
                  <a:pt x="3006" y="56696"/>
                  <a:pt x="9788" y="35443"/>
                  <a:pt x="18037" y="31878"/>
                </a:cubicBezTo>
                <a:cubicBezTo>
                  <a:pt x="26286" y="28313"/>
                  <a:pt x="41735" y="40826"/>
                  <a:pt x="49495" y="40267"/>
                </a:cubicBezTo>
                <a:cubicBezTo>
                  <a:pt x="57255" y="39708"/>
                  <a:pt x="59003" y="29502"/>
                  <a:pt x="64596" y="28523"/>
                </a:cubicBezTo>
                <a:cubicBezTo>
                  <a:pt x="70189" y="27544"/>
                  <a:pt x="76829" y="37471"/>
                  <a:pt x="83051" y="34395"/>
                </a:cubicBezTo>
                <a:cubicBezTo>
                  <a:pt x="89273" y="31319"/>
                  <a:pt x="93328" y="15800"/>
                  <a:pt x="101927" y="10067"/>
                </a:cubicBezTo>
                <a:cubicBezTo>
                  <a:pt x="110526" y="4335"/>
                  <a:pt x="129191" y="1678"/>
                  <a:pt x="134644" y="0"/>
                </a:cubicBezTo>
              </a:path>
            </a:pathLst>
          </a:cu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591" name="Google Shape;591;p39"/>
          <p:cNvCxnSpPr/>
          <p:nvPr/>
        </p:nvCxnSpPr>
        <p:spPr>
          <a:xfrm rot="10800000">
            <a:off x="7686287" y="3323686"/>
            <a:ext cx="0" cy="9714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592" name="Google Shape;592;p39"/>
          <p:cNvCxnSpPr/>
          <p:nvPr/>
        </p:nvCxnSpPr>
        <p:spPr>
          <a:xfrm>
            <a:off x="7675675" y="4280633"/>
            <a:ext cx="1141800" cy="0"/>
          </a:xfrm>
          <a:prstGeom prst="straightConnector1">
            <a:avLst/>
          </a:prstGeom>
          <a:noFill/>
          <a:ln w="38100" cap="flat" cmpd="sng">
            <a:solidFill>
              <a:srgbClr val="A4C2F4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93" name="Google Shape;593;p39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9400666" y="4362271"/>
            <a:ext cx="97798" cy="113559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39"/>
          <p:cNvSpPr/>
          <p:nvPr/>
        </p:nvSpPr>
        <p:spPr>
          <a:xfrm>
            <a:off x="7688325" y="3705988"/>
            <a:ext cx="1139300" cy="234175"/>
          </a:xfrm>
          <a:custGeom>
            <a:avLst/>
            <a:gdLst/>
            <a:ahLst/>
            <a:cxnLst/>
            <a:rect l="l" t="t" r="r" b="b"/>
            <a:pathLst>
              <a:path w="45572" h="9367" extrusionOk="0">
                <a:moveTo>
                  <a:pt x="0" y="3198"/>
                </a:moveTo>
                <a:cubicBezTo>
                  <a:pt x="644" y="3354"/>
                  <a:pt x="822" y="3109"/>
                  <a:pt x="3864" y="4131"/>
                </a:cubicBezTo>
                <a:cubicBezTo>
                  <a:pt x="6907" y="5153"/>
                  <a:pt x="14188" y="9842"/>
                  <a:pt x="18255" y="9328"/>
                </a:cubicBezTo>
                <a:cubicBezTo>
                  <a:pt x="22322" y="8814"/>
                  <a:pt x="24846" y="1667"/>
                  <a:pt x="28266" y="1045"/>
                </a:cubicBezTo>
                <a:cubicBezTo>
                  <a:pt x="31686" y="423"/>
                  <a:pt x="36292" y="5283"/>
                  <a:pt x="38776" y="5597"/>
                </a:cubicBezTo>
                <a:cubicBezTo>
                  <a:pt x="41261" y="5912"/>
                  <a:pt x="42040" y="3865"/>
                  <a:pt x="43173" y="2932"/>
                </a:cubicBezTo>
                <a:cubicBezTo>
                  <a:pt x="44306" y="1999"/>
                  <a:pt x="45172" y="489"/>
                  <a:pt x="45572" y="0"/>
                </a:cubicBezTo>
              </a:path>
            </a:pathLst>
          </a:custGeom>
          <a:noFill/>
          <a:ln w="19050" cap="flat" cmpd="sng">
            <a:solidFill>
              <a:srgbClr val="98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595" name="Google Shape;595;p39"/>
          <p:cNvCxnSpPr/>
          <p:nvPr/>
        </p:nvCxnSpPr>
        <p:spPr>
          <a:xfrm rot="10800000">
            <a:off x="8827637" y="3337373"/>
            <a:ext cx="0" cy="9714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596" name="Google Shape;596;p39" descr="f(x) &gt; 0, \forall x \in \mathcal{S}" title="MathEquation,#000000"/>
          <p:cNvPicPr preferRelativeResize="0"/>
          <p:nvPr/>
        </p:nvPicPr>
        <p:blipFill rotWithShape="1">
          <a:blip r:embed="rId4"/>
          <a:srcRect l="88467" r="-4" b="9057"/>
          <a:stretch>
            <a:fillRect/>
          </a:stretch>
        </p:blipFill>
        <p:spPr>
          <a:xfrm>
            <a:off x="8163059" y="4518425"/>
            <a:ext cx="172900" cy="223175"/>
          </a:xfrm>
          <a:prstGeom prst="rect">
            <a:avLst/>
          </a:prstGeom>
          <a:noFill/>
          <a:ln>
            <a:noFill/>
          </a:ln>
        </p:spPr>
      </p:pic>
      <p:sp>
        <p:nvSpPr>
          <p:cNvPr id="597" name="Google Shape;597;p39"/>
          <p:cNvSpPr/>
          <p:nvPr/>
        </p:nvSpPr>
        <p:spPr>
          <a:xfrm rot="-5400000">
            <a:off x="8168600" y="3849200"/>
            <a:ext cx="168300" cy="1139700"/>
          </a:xfrm>
          <a:prstGeom prst="leftBrace">
            <a:avLst>
              <a:gd name="adj1" fmla="val 50000"/>
              <a:gd name="adj2" fmla="val 50000"/>
            </a:avLst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598" name="Google Shape;598;p39"/>
          <p:cNvCxnSpPr/>
          <p:nvPr/>
        </p:nvCxnSpPr>
        <p:spPr>
          <a:xfrm>
            <a:off x="7282300" y="4535188"/>
            <a:ext cx="1608600" cy="105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599" name="Google Shape;599;p39"/>
          <p:cNvSpPr txBox="1"/>
          <p:nvPr/>
        </p:nvSpPr>
        <p:spPr>
          <a:xfrm>
            <a:off x="6032213" y="4383713"/>
            <a:ext cx="1608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y*</a:t>
            </a:r>
            <a:r>
              <a:rPr lang="en-GB" sz="1800" baseline="-25000">
                <a:solidFill>
                  <a:schemeClr val="dk1"/>
                </a:solidFill>
              </a:rPr>
              <a:t>LP</a:t>
            </a:r>
            <a:r>
              <a:rPr lang="en-GB" sz="2000">
                <a:solidFill>
                  <a:schemeClr val="dk1"/>
                </a:solidFill>
              </a:rPr>
              <a:t>≤</a:t>
            </a:r>
            <a:r>
              <a:rPr lang="en-GB" sz="1800">
                <a:solidFill>
                  <a:schemeClr val="dk1"/>
                </a:solidFill>
              </a:rPr>
              <a:t> y*</a:t>
            </a:r>
          </a:p>
        </p:txBody>
      </p:sp>
      <p:pic>
        <p:nvPicPr>
          <p:cNvPr id="600" name="Google Shape;600;p39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2720650" y="3615638"/>
            <a:ext cx="299850" cy="312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1" name="Google Shape;601;p39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6121125" y="3911888"/>
            <a:ext cx="299850" cy="31245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39"/>
          <p:cNvSpPr txBox="1"/>
          <p:nvPr/>
        </p:nvSpPr>
        <p:spPr>
          <a:xfrm>
            <a:off x="8576325" y="4464250"/>
            <a:ext cx="8244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>
                <a:solidFill>
                  <a:srgbClr val="FF0000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rPr>
              <a:t>?</a:t>
            </a:r>
            <a:endParaRPr sz="2300">
              <a:solidFill>
                <a:srgbClr val="FF0000"/>
              </a:solidFill>
              <a:latin typeface="Impact" panose="020B0806030902050204"/>
              <a:ea typeface="Impact" panose="020B0806030902050204"/>
              <a:cs typeface="Impact" panose="020B0806030902050204"/>
              <a:sym typeface="Impact" panose="020B0806030902050204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4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GB" dirty="0"/>
              <a:t>A closer look at the LP relaxation: </a:t>
            </a:r>
            <a:r>
              <a:rPr lang="en-GB" dirty="0">
                <a:solidFill>
                  <a:srgbClr val="4A86E8"/>
                </a:solidFill>
              </a:rPr>
              <a:t>“Triangle” relaxation</a:t>
            </a:r>
            <a:br>
              <a:rPr lang="en-GB" dirty="0">
                <a:solidFill>
                  <a:srgbClr val="4A86E8"/>
                </a:solidFill>
              </a:rPr>
            </a:br>
            <a:endParaRPr lang="en-GB" dirty="0"/>
          </a:p>
        </p:txBody>
      </p:sp>
      <p:sp>
        <p:nvSpPr>
          <p:cNvPr id="614" name="Google Shape;614;p40"/>
          <p:cNvSpPr txBox="1"/>
          <p:nvPr/>
        </p:nvSpPr>
        <p:spPr>
          <a:xfrm>
            <a:off x="2696100" y="4505150"/>
            <a:ext cx="5868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B7B7B7"/>
                </a:solidFill>
              </a:rPr>
              <a:t>(Please note that l</a:t>
            </a:r>
            <a:r>
              <a:rPr lang="en-GB" sz="1500" baseline="-25000">
                <a:solidFill>
                  <a:srgbClr val="B7B7B7"/>
                </a:solidFill>
              </a:rPr>
              <a:t>j</a:t>
            </a:r>
            <a:r>
              <a:rPr lang="en-GB" sz="1500" baseline="30000">
                <a:solidFill>
                  <a:srgbClr val="B7B7B7"/>
                </a:solidFill>
              </a:rPr>
              <a:t>(i) </a:t>
            </a:r>
            <a:r>
              <a:rPr lang="en-GB" sz="1500">
                <a:solidFill>
                  <a:srgbClr val="B7B7B7"/>
                </a:solidFill>
              </a:rPr>
              <a:t>is negative during the above derivation)</a:t>
            </a:r>
            <a:endParaRPr sz="1500">
              <a:solidFill>
                <a:srgbClr val="B7B7B7"/>
              </a:solidFill>
            </a:endParaRPr>
          </a:p>
        </p:txBody>
      </p:sp>
      <p:pic>
        <p:nvPicPr>
          <p:cNvPr id="615" name="Google Shape;615;p40" descr="p^{(i)}_j \leq \frac{\hat{z}^{(i)}_j - z_j^{(i)} + l_j^{(i)}}{l_j^{(i)}}" title="MathEquation,#00000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930738" y="1857306"/>
            <a:ext cx="1282526" cy="490546"/>
          </a:xfrm>
          <a:prstGeom prst="rect">
            <a:avLst/>
          </a:prstGeom>
          <a:noFill/>
          <a:ln>
            <a:noFill/>
          </a:ln>
        </p:spPr>
      </p:pic>
      <p:sp>
        <p:nvSpPr>
          <p:cNvPr id="616" name="Google Shape;616;p40"/>
          <p:cNvSpPr/>
          <p:nvPr/>
        </p:nvSpPr>
        <p:spPr>
          <a:xfrm>
            <a:off x="3240625" y="2347825"/>
            <a:ext cx="638400" cy="2499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7" name="Google Shape;617;p40"/>
          <p:cNvSpPr/>
          <p:nvPr/>
        </p:nvSpPr>
        <p:spPr>
          <a:xfrm>
            <a:off x="5264975" y="2347850"/>
            <a:ext cx="526200" cy="2499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18" name="Google Shape;618;p40" descr="p^{(i)}_j \geq \frac{\hat{z}^{(i)}_j}{u_j^{(i)}}" title="MathEquation,#000000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4106900" y="2495769"/>
            <a:ext cx="1023400" cy="665196"/>
          </a:xfrm>
          <a:prstGeom prst="rect">
            <a:avLst/>
          </a:prstGeom>
          <a:noFill/>
          <a:ln>
            <a:noFill/>
          </a:ln>
        </p:spPr>
      </p:pic>
      <p:pic>
        <p:nvPicPr>
          <p:cNvPr id="619" name="Google Shape;619;p40" descr="\hat{z}_j^{(i)} \leq \frac{u_j^{(i)}}{u_j^{(i)}-l_j^{(i)}} z_j^{(i)} - \frac{u_j^{(i)}l_j^{(i)}}{u_j^{(i)} - l_j^{(i)}}" title="MathEquation,#000000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5969525" y="2140173"/>
            <a:ext cx="2743058" cy="665200"/>
          </a:xfrm>
          <a:prstGeom prst="rect">
            <a:avLst/>
          </a:prstGeom>
          <a:noFill/>
          <a:ln>
            <a:noFill/>
          </a:ln>
        </p:spPr>
      </p:pic>
      <p:sp>
        <p:nvSpPr>
          <p:cNvPr id="620" name="Google Shape;620;p40"/>
          <p:cNvSpPr txBox="1"/>
          <p:nvPr/>
        </p:nvSpPr>
        <p:spPr>
          <a:xfrm>
            <a:off x="5537200" y="3272375"/>
            <a:ext cx="2222400" cy="24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621" name="Google Shape;621;p40"/>
          <p:cNvSpPr txBox="1"/>
          <p:nvPr/>
        </p:nvSpPr>
        <p:spPr>
          <a:xfrm>
            <a:off x="6722500" y="1583675"/>
            <a:ext cx="20532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Project out p</a:t>
            </a:r>
            <a:endParaRPr sz="1800">
              <a:solidFill>
                <a:schemeClr val="dk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8B8218A-D342-4FD3-C3D0-6FF267C7922A}"/>
                  </a:ext>
                </a:extLst>
              </p:cNvPr>
              <p:cNvSpPr txBox="1"/>
              <p:nvPr/>
            </p:nvSpPr>
            <p:spPr>
              <a:xfrm>
                <a:off x="188687" y="1327795"/>
                <a:ext cx="3418114" cy="30011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Each </a:t>
                </a:r>
                <a:r>
                  <a:rPr lang="en-US" sz="1600" dirty="0" err="1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ReLU</a:t>
                </a:r>
                <a:r>
                  <a:rPr lang="en-US" sz="16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is represented as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sSubSup>
                            <m:sSubSup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e>
                      </m:func>
                    </m:oMath>
                  </m:oMathPara>
                </a14:m>
                <a:endParaRPr lang="en-US" sz="1600" b="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𝑎𝑥</m:t>
                          </m:r>
                        </m:fName>
                        <m:e>
                          <m:sSubSup>
                            <m:sSubSup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e>
                      </m:func>
                    </m:oMath>
                  </m:oMathPara>
                </a14:m>
                <a:endParaRPr lang="en-US" sz="1600" dirty="0"/>
              </a:p>
              <a:p>
                <a:endParaRPr lang="en-US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d>
                        <m:d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Sup>
                            <m:sSub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0≤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en-US" sz="1600" b="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8B8218A-D342-4FD3-C3D0-6FF267C792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687" y="1327795"/>
                <a:ext cx="3418114" cy="3001143"/>
              </a:xfrm>
              <a:prstGeom prst="rect">
                <a:avLst/>
              </a:prstGeom>
              <a:blipFill>
                <a:blip r:embed="rId6"/>
                <a:stretch>
                  <a:fillRect l="-738" t="-4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6" grpId="0" animBg="1"/>
      <p:bldP spid="617" grpId="0" animBg="1"/>
      <p:bldP spid="621" grpId="0"/>
      <p:bldP spid="2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4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 closer look at the linear programming relaxation</a:t>
            </a:r>
          </a:p>
        </p:txBody>
      </p:sp>
      <p:grpSp>
        <p:nvGrpSpPr>
          <p:cNvPr id="628" name="Google Shape;628;p41"/>
          <p:cNvGrpSpPr/>
          <p:nvPr/>
        </p:nvGrpSpPr>
        <p:grpSpPr>
          <a:xfrm>
            <a:off x="4427925" y="2188838"/>
            <a:ext cx="1023396" cy="1002300"/>
            <a:chOff x="4668200" y="3620800"/>
            <a:chExt cx="1023396" cy="1002300"/>
          </a:xfrm>
        </p:grpSpPr>
        <p:pic>
          <p:nvPicPr>
            <p:cNvPr id="629" name="Google Shape;629;p41" descr="\hat{z}^{(i)}_j \geq z_j^{(i)}" title="MathEquation,#000000"/>
            <p:cNvPicPr preferRelativeResize="0"/>
            <p:nvPr/>
          </p:nvPicPr>
          <p:blipFill>
            <a:blip r:embed="rId3"/>
            <a:stretch>
              <a:fillRect/>
            </a:stretch>
          </p:blipFill>
          <p:spPr>
            <a:xfrm>
              <a:off x="4668200" y="3620800"/>
              <a:ext cx="1023396" cy="417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0" name="Google Shape;630;p41" descr="\hat{z}^{(i)}_j \geq 0" title="MathEquation,#000000"/>
            <p:cNvPicPr preferRelativeResize="0"/>
            <p:nvPr/>
          </p:nvPicPr>
          <p:blipFill>
            <a:blip r:embed="rId4"/>
            <a:stretch>
              <a:fillRect/>
            </a:stretch>
          </p:blipFill>
          <p:spPr>
            <a:xfrm>
              <a:off x="4668200" y="4206075"/>
              <a:ext cx="811722" cy="41702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31" name="Google Shape;631;p41"/>
          <p:cNvSpPr txBox="1"/>
          <p:nvPr/>
        </p:nvSpPr>
        <p:spPr>
          <a:xfrm>
            <a:off x="481825" y="1370300"/>
            <a:ext cx="33972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Each ReLU is represented by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632" name="Google Shape;632;p41" descr="\hat{z}^{(i)}_j \leq z_j^{(i)} - l_j^{(i)} (1 - p^{(i)}_j)" title="MathEquation,#000000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798437" y="1964663"/>
            <a:ext cx="2376070" cy="38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3" name="Google Shape;633;p41" descr="\hat{z}^{(i)}_j \leq u^{(i)}_j p^{(i)}_j" title="MathEquation,#000000"/>
          <p:cNvPicPr preferRelativeResize="0"/>
          <p:nvPr/>
        </p:nvPicPr>
        <p:blipFill>
          <a:blip r:embed="rId6"/>
          <a:stretch>
            <a:fillRect/>
          </a:stretch>
        </p:blipFill>
        <p:spPr>
          <a:xfrm>
            <a:off x="798450" y="2495775"/>
            <a:ext cx="1282518" cy="383150"/>
          </a:xfrm>
          <a:prstGeom prst="rect">
            <a:avLst/>
          </a:prstGeom>
          <a:noFill/>
          <a:ln>
            <a:noFill/>
          </a:ln>
        </p:spPr>
      </p:pic>
      <p:sp>
        <p:nvSpPr>
          <p:cNvPr id="634" name="Google Shape;634;p41"/>
          <p:cNvSpPr/>
          <p:nvPr/>
        </p:nvSpPr>
        <p:spPr>
          <a:xfrm>
            <a:off x="3240625" y="2347825"/>
            <a:ext cx="638400" cy="2499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35" name="Google Shape;635;p41" descr="\hat{z}_j^{(i)} \leq \frac{u_j^{(i)}}{u_j^{(i)}-l_j^{(i)}} z_j^{(i)} - \frac{u_j^{(i)}l_j^{(i)}}{u_j^{(i)} - l_j^{(i)}}" title="MathEquation,#000000"/>
          <p:cNvPicPr preferRelativeResize="0"/>
          <p:nvPr/>
        </p:nvPicPr>
        <p:blipFill>
          <a:blip r:embed="rId7"/>
          <a:stretch>
            <a:fillRect/>
          </a:stretch>
        </p:blipFill>
        <p:spPr>
          <a:xfrm>
            <a:off x="4375000" y="1516723"/>
            <a:ext cx="2743058" cy="665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36" name="Google Shape;636;p41"/>
          <p:cNvGrpSpPr/>
          <p:nvPr/>
        </p:nvGrpSpPr>
        <p:grpSpPr>
          <a:xfrm>
            <a:off x="5650625" y="3191150"/>
            <a:ext cx="2604000" cy="1721575"/>
            <a:chOff x="1988800" y="2213825"/>
            <a:chExt cx="2604000" cy="1721575"/>
          </a:xfrm>
        </p:grpSpPr>
        <p:grpSp>
          <p:nvGrpSpPr>
            <p:cNvPr id="637" name="Google Shape;637;p41"/>
            <p:cNvGrpSpPr/>
            <p:nvPr/>
          </p:nvGrpSpPr>
          <p:grpSpPr>
            <a:xfrm>
              <a:off x="1991775" y="2213825"/>
              <a:ext cx="2601025" cy="1466522"/>
              <a:chOff x="6206725" y="3167975"/>
              <a:chExt cx="2601025" cy="1466522"/>
            </a:xfrm>
          </p:grpSpPr>
          <p:grpSp>
            <p:nvGrpSpPr>
              <p:cNvPr id="638" name="Google Shape;638;p41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639" name="Google Shape;639;p41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640" name="Google Shape;640;p41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641" name="Google Shape;641;p41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642" name="Google Shape;642;p41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643" name="Google Shape;643;p41"/>
              <p:cNvSpPr txBox="1"/>
              <p:nvPr/>
            </p:nvSpPr>
            <p:spPr>
              <a:xfrm>
                <a:off x="6950675" y="3167975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644" name="Google Shape;644;p41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645" name="Google Shape;645;p41"/>
            <p:cNvCxnSpPr/>
            <p:nvPr/>
          </p:nvCxnSpPr>
          <p:spPr>
            <a:xfrm rot="10800000">
              <a:off x="2229850" y="2512375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6" name="Google Shape;646;p41"/>
            <p:cNvCxnSpPr/>
            <p:nvPr/>
          </p:nvCxnSpPr>
          <p:spPr>
            <a:xfrm rot="10800000">
              <a:off x="4001500" y="2439125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47" name="Google Shape;647;p41"/>
            <p:cNvSpPr txBox="1"/>
            <p:nvPr/>
          </p:nvSpPr>
          <p:spPr>
            <a:xfrm>
              <a:off x="1988800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l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  <p:sp>
          <p:nvSpPr>
            <p:cNvPr id="648" name="Google Shape;648;p41"/>
            <p:cNvSpPr txBox="1"/>
            <p:nvPr/>
          </p:nvSpPr>
          <p:spPr>
            <a:xfrm>
              <a:off x="376043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u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</p:grpSp>
      <p:cxnSp>
        <p:nvCxnSpPr>
          <p:cNvPr id="649" name="Google Shape;649;p41"/>
          <p:cNvCxnSpPr/>
          <p:nvPr/>
        </p:nvCxnSpPr>
        <p:spPr>
          <a:xfrm>
            <a:off x="5209125" y="4269325"/>
            <a:ext cx="3164400" cy="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0" name="Google Shape;650;p41"/>
          <p:cNvCxnSpPr/>
          <p:nvPr/>
        </p:nvCxnSpPr>
        <p:spPr>
          <a:xfrm rot="10800000" flipH="1">
            <a:off x="5954375" y="3147600"/>
            <a:ext cx="1996500" cy="19959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1" name="Google Shape;651;p41"/>
          <p:cNvCxnSpPr/>
          <p:nvPr/>
        </p:nvCxnSpPr>
        <p:spPr>
          <a:xfrm rot="10800000" flipH="1">
            <a:off x="5346700" y="3285050"/>
            <a:ext cx="2624700" cy="12171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2" name="Google Shape;652;p41"/>
          <p:cNvSpPr txBox="1"/>
          <p:nvPr/>
        </p:nvSpPr>
        <p:spPr>
          <a:xfrm>
            <a:off x="5897025" y="2650075"/>
            <a:ext cx="2476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A86E8"/>
                </a:solidFill>
              </a:rPr>
              <a:t>“Triangle” relaxation</a:t>
            </a:r>
            <a:endParaRPr sz="1800">
              <a:solidFill>
                <a:srgbClr val="4A86E8"/>
              </a:solidFill>
            </a:endParaRPr>
          </a:p>
        </p:txBody>
      </p:sp>
      <p:grpSp>
        <p:nvGrpSpPr>
          <p:cNvPr id="653" name="Google Shape;653;p41"/>
          <p:cNvGrpSpPr/>
          <p:nvPr/>
        </p:nvGrpSpPr>
        <p:grpSpPr>
          <a:xfrm>
            <a:off x="798450" y="3026863"/>
            <a:ext cx="1023396" cy="1002300"/>
            <a:chOff x="1112825" y="3768750"/>
            <a:chExt cx="1023396" cy="1002300"/>
          </a:xfrm>
        </p:grpSpPr>
        <p:pic>
          <p:nvPicPr>
            <p:cNvPr id="654" name="Google Shape;654;p41" descr="\hat{z}^{(i)}_j \geq z_j^{(i)}" title="MathEquation,#000000"/>
            <p:cNvPicPr preferRelativeResize="0"/>
            <p:nvPr/>
          </p:nvPicPr>
          <p:blipFill>
            <a:blip r:embed="rId3"/>
            <a:stretch>
              <a:fillRect/>
            </a:stretch>
          </p:blipFill>
          <p:spPr>
            <a:xfrm>
              <a:off x="1112825" y="3768750"/>
              <a:ext cx="1023396" cy="417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55" name="Google Shape;655;p41" descr="\hat{z}^{(i)}_j \geq 0" title="MathEquation,#000000"/>
            <p:cNvPicPr preferRelativeResize="0"/>
            <p:nvPr/>
          </p:nvPicPr>
          <p:blipFill>
            <a:blip r:embed="rId4"/>
            <a:stretch>
              <a:fillRect/>
            </a:stretch>
          </p:blipFill>
          <p:spPr>
            <a:xfrm>
              <a:off x="1112825" y="4354025"/>
              <a:ext cx="811722" cy="41702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4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 closer look at the linear programming relaxation</a:t>
            </a:r>
          </a:p>
        </p:txBody>
      </p:sp>
      <p:grpSp>
        <p:nvGrpSpPr>
          <p:cNvPr id="661" name="Google Shape;661;p42"/>
          <p:cNvGrpSpPr/>
          <p:nvPr/>
        </p:nvGrpSpPr>
        <p:grpSpPr>
          <a:xfrm>
            <a:off x="903675" y="3322188"/>
            <a:ext cx="1023396" cy="1002300"/>
            <a:chOff x="4668200" y="3620800"/>
            <a:chExt cx="1023396" cy="1002300"/>
          </a:xfrm>
        </p:grpSpPr>
        <p:pic>
          <p:nvPicPr>
            <p:cNvPr id="662" name="Google Shape;662;p42" descr="\hat{z}^{(i)}_j \geq z_j^{(i)}" title="MathEquation,#000000"/>
            <p:cNvPicPr preferRelativeResize="0"/>
            <p:nvPr/>
          </p:nvPicPr>
          <p:blipFill>
            <a:blip r:embed="rId3"/>
            <a:stretch>
              <a:fillRect/>
            </a:stretch>
          </p:blipFill>
          <p:spPr>
            <a:xfrm>
              <a:off x="4668200" y="3620800"/>
              <a:ext cx="1023396" cy="417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63" name="Google Shape;663;p42" descr="\hat{z}^{(i)}_j \geq 0" title="MathEquation,#000000"/>
            <p:cNvPicPr preferRelativeResize="0"/>
            <p:nvPr/>
          </p:nvPicPr>
          <p:blipFill>
            <a:blip r:embed="rId4"/>
            <a:stretch>
              <a:fillRect/>
            </a:stretch>
          </p:blipFill>
          <p:spPr>
            <a:xfrm>
              <a:off x="4668200" y="4206075"/>
              <a:ext cx="811722" cy="41702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664" name="Google Shape;664;p42" descr="\hat{z}_j^{(i)} \leq \frac{u_j^{(i)}}{u_j^{(i)}-l_j^{(i)}} z_j^{(i)} - \frac{u_j^{(i)}l_j^{(i)}}{u_j^{(i)} - l_j^{(i)}}" title="MathEquation,#000000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850750" y="2650073"/>
            <a:ext cx="2743058" cy="665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65" name="Google Shape;665;p42"/>
          <p:cNvGrpSpPr/>
          <p:nvPr/>
        </p:nvGrpSpPr>
        <p:grpSpPr>
          <a:xfrm>
            <a:off x="5650625" y="3191150"/>
            <a:ext cx="2604000" cy="1721575"/>
            <a:chOff x="1988800" y="2213825"/>
            <a:chExt cx="2604000" cy="1721575"/>
          </a:xfrm>
        </p:grpSpPr>
        <p:grpSp>
          <p:nvGrpSpPr>
            <p:cNvPr id="666" name="Google Shape;666;p42"/>
            <p:cNvGrpSpPr/>
            <p:nvPr/>
          </p:nvGrpSpPr>
          <p:grpSpPr>
            <a:xfrm>
              <a:off x="1991775" y="2213825"/>
              <a:ext cx="2601025" cy="1466522"/>
              <a:chOff x="6206725" y="3167975"/>
              <a:chExt cx="2601025" cy="1466522"/>
            </a:xfrm>
          </p:grpSpPr>
          <p:grpSp>
            <p:nvGrpSpPr>
              <p:cNvPr id="667" name="Google Shape;667;p42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668" name="Google Shape;668;p42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669" name="Google Shape;669;p42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670" name="Google Shape;670;p42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671" name="Google Shape;671;p42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672" name="Google Shape;672;p42"/>
              <p:cNvSpPr txBox="1"/>
              <p:nvPr/>
            </p:nvSpPr>
            <p:spPr>
              <a:xfrm>
                <a:off x="6950675" y="3167975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673" name="Google Shape;673;p42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674" name="Google Shape;674;p42"/>
            <p:cNvCxnSpPr/>
            <p:nvPr/>
          </p:nvCxnSpPr>
          <p:spPr>
            <a:xfrm rot="10800000">
              <a:off x="2229850" y="2512375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75" name="Google Shape;675;p42"/>
            <p:cNvCxnSpPr/>
            <p:nvPr/>
          </p:nvCxnSpPr>
          <p:spPr>
            <a:xfrm rot="10800000">
              <a:off x="4001500" y="2439125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76" name="Google Shape;676;p42"/>
            <p:cNvSpPr txBox="1"/>
            <p:nvPr/>
          </p:nvSpPr>
          <p:spPr>
            <a:xfrm>
              <a:off x="1988800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l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  <p:sp>
          <p:nvSpPr>
            <p:cNvPr id="677" name="Google Shape;677;p42"/>
            <p:cNvSpPr txBox="1"/>
            <p:nvPr/>
          </p:nvSpPr>
          <p:spPr>
            <a:xfrm>
              <a:off x="376043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u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</p:grpSp>
      <p:cxnSp>
        <p:nvCxnSpPr>
          <p:cNvPr id="678" name="Google Shape;678;p42"/>
          <p:cNvCxnSpPr/>
          <p:nvPr/>
        </p:nvCxnSpPr>
        <p:spPr>
          <a:xfrm>
            <a:off x="5209125" y="4269325"/>
            <a:ext cx="3164400" cy="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9" name="Google Shape;679;p42"/>
          <p:cNvCxnSpPr/>
          <p:nvPr/>
        </p:nvCxnSpPr>
        <p:spPr>
          <a:xfrm rot="10800000" flipH="1">
            <a:off x="5954375" y="3147600"/>
            <a:ext cx="1996500" cy="19959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0" name="Google Shape;680;p42"/>
          <p:cNvCxnSpPr/>
          <p:nvPr/>
        </p:nvCxnSpPr>
        <p:spPr>
          <a:xfrm rot="10800000" flipH="1">
            <a:off x="5346700" y="3285050"/>
            <a:ext cx="2624700" cy="12171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1" name="Google Shape;681;p42"/>
          <p:cNvSpPr txBox="1"/>
          <p:nvPr/>
        </p:nvSpPr>
        <p:spPr>
          <a:xfrm>
            <a:off x="393700" y="1136650"/>
            <a:ext cx="7651800" cy="83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MILP: solutions are constrained on </a:t>
            </a:r>
            <a:r>
              <a:rPr lang="en-GB" sz="1800">
                <a:solidFill>
                  <a:srgbClr val="980000"/>
                </a:solidFill>
              </a:rPr>
              <a:t>ReLU function</a:t>
            </a:r>
            <a:r>
              <a:rPr lang="en-GB" sz="1800">
                <a:solidFill>
                  <a:schemeClr val="dk2"/>
                </a:solidFill>
              </a:rPr>
              <a:t> 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Linear programming: solutions are constrained on the </a:t>
            </a:r>
            <a:r>
              <a:rPr lang="en-GB" sz="1800">
                <a:solidFill>
                  <a:srgbClr val="4A86E8"/>
                </a:solidFill>
              </a:rPr>
              <a:t>triangle</a:t>
            </a:r>
            <a:endParaRPr sz="1800">
              <a:solidFill>
                <a:srgbClr val="4A86E8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4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 closer look at the linear programming relaxation</a:t>
            </a:r>
          </a:p>
        </p:txBody>
      </p:sp>
      <p:grpSp>
        <p:nvGrpSpPr>
          <p:cNvPr id="687" name="Google Shape;687;p43"/>
          <p:cNvGrpSpPr/>
          <p:nvPr/>
        </p:nvGrpSpPr>
        <p:grpSpPr>
          <a:xfrm>
            <a:off x="708225" y="2905400"/>
            <a:ext cx="2604000" cy="1721575"/>
            <a:chOff x="1988800" y="2213825"/>
            <a:chExt cx="2604000" cy="1721575"/>
          </a:xfrm>
        </p:grpSpPr>
        <p:grpSp>
          <p:nvGrpSpPr>
            <p:cNvPr id="688" name="Google Shape;688;p43"/>
            <p:cNvGrpSpPr/>
            <p:nvPr/>
          </p:nvGrpSpPr>
          <p:grpSpPr>
            <a:xfrm>
              <a:off x="1991775" y="2213825"/>
              <a:ext cx="2601025" cy="1466522"/>
              <a:chOff x="6206725" y="3167975"/>
              <a:chExt cx="2601025" cy="1466522"/>
            </a:xfrm>
          </p:grpSpPr>
          <p:grpSp>
            <p:nvGrpSpPr>
              <p:cNvPr id="689" name="Google Shape;689;p43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690" name="Google Shape;690;p43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691" name="Google Shape;691;p43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692" name="Google Shape;692;p43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693" name="Google Shape;693;p43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694" name="Google Shape;694;p43"/>
              <p:cNvSpPr txBox="1"/>
              <p:nvPr/>
            </p:nvSpPr>
            <p:spPr>
              <a:xfrm>
                <a:off x="6950675" y="3167975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695" name="Google Shape;695;p43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696" name="Google Shape;696;p43"/>
            <p:cNvCxnSpPr/>
            <p:nvPr/>
          </p:nvCxnSpPr>
          <p:spPr>
            <a:xfrm rot="10800000">
              <a:off x="2229850" y="2512375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97" name="Google Shape;697;p43"/>
            <p:cNvCxnSpPr/>
            <p:nvPr/>
          </p:nvCxnSpPr>
          <p:spPr>
            <a:xfrm rot="10800000">
              <a:off x="4001500" y="2439125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98" name="Google Shape;698;p43"/>
            <p:cNvSpPr txBox="1"/>
            <p:nvPr/>
          </p:nvSpPr>
          <p:spPr>
            <a:xfrm>
              <a:off x="1988800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l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  <p:sp>
          <p:nvSpPr>
            <p:cNvPr id="699" name="Google Shape;699;p43"/>
            <p:cNvSpPr txBox="1"/>
            <p:nvPr/>
          </p:nvSpPr>
          <p:spPr>
            <a:xfrm>
              <a:off x="376043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u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</p:grpSp>
      <p:cxnSp>
        <p:nvCxnSpPr>
          <p:cNvPr id="700" name="Google Shape;700;p43"/>
          <p:cNvCxnSpPr/>
          <p:nvPr/>
        </p:nvCxnSpPr>
        <p:spPr>
          <a:xfrm>
            <a:off x="266725" y="3983575"/>
            <a:ext cx="3164400" cy="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1" name="Google Shape;701;p43"/>
          <p:cNvCxnSpPr/>
          <p:nvPr/>
        </p:nvCxnSpPr>
        <p:spPr>
          <a:xfrm rot="10800000" flipH="1">
            <a:off x="1011975" y="2861850"/>
            <a:ext cx="1996500" cy="19959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2" name="Google Shape;702;p43"/>
          <p:cNvCxnSpPr/>
          <p:nvPr/>
        </p:nvCxnSpPr>
        <p:spPr>
          <a:xfrm rot="10800000" flipH="1">
            <a:off x="404300" y="2999300"/>
            <a:ext cx="2624700" cy="12171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03" name="Google Shape;703;p43"/>
          <p:cNvSpPr txBox="1"/>
          <p:nvPr/>
        </p:nvSpPr>
        <p:spPr>
          <a:xfrm>
            <a:off x="393700" y="1136650"/>
            <a:ext cx="7651800" cy="83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MILP: solutions are constrained on </a:t>
            </a:r>
            <a:r>
              <a:rPr lang="en-GB" sz="1800">
                <a:solidFill>
                  <a:srgbClr val="980000"/>
                </a:solidFill>
              </a:rPr>
              <a:t>ReLU function</a:t>
            </a:r>
            <a:r>
              <a:rPr lang="en-GB" sz="1800">
                <a:solidFill>
                  <a:schemeClr val="dk2"/>
                </a:solidFill>
              </a:rPr>
              <a:t> 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Linear programming: solutions are constrained on the </a:t>
            </a:r>
            <a:r>
              <a:rPr lang="en-GB" sz="1800">
                <a:solidFill>
                  <a:srgbClr val="4A86E8"/>
                </a:solidFill>
              </a:rPr>
              <a:t>triangle</a:t>
            </a:r>
            <a:endParaRPr sz="1800">
              <a:solidFill>
                <a:srgbClr val="4A86E8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4A86E8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We want the triangle to be as small as possible! So tight pre-activation bounds are necessary.</a:t>
            </a:r>
            <a:endParaRPr sz="1800">
              <a:solidFill>
                <a:schemeClr val="dk1"/>
              </a:solidFill>
            </a:endParaRPr>
          </a:p>
        </p:txBody>
      </p:sp>
      <p:grpSp>
        <p:nvGrpSpPr>
          <p:cNvPr id="704" name="Google Shape;704;p43"/>
          <p:cNvGrpSpPr/>
          <p:nvPr/>
        </p:nvGrpSpPr>
        <p:grpSpPr>
          <a:xfrm>
            <a:off x="5615525" y="3029175"/>
            <a:ext cx="2601025" cy="1721575"/>
            <a:chOff x="1991775" y="2213825"/>
            <a:chExt cx="2601025" cy="1721575"/>
          </a:xfrm>
        </p:grpSpPr>
        <p:grpSp>
          <p:nvGrpSpPr>
            <p:cNvPr id="705" name="Google Shape;705;p43"/>
            <p:cNvGrpSpPr/>
            <p:nvPr/>
          </p:nvGrpSpPr>
          <p:grpSpPr>
            <a:xfrm>
              <a:off x="1991775" y="2213825"/>
              <a:ext cx="2601025" cy="1466522"/>
              <a:chOff x="6206725" y="3167975"/>
              <a:chExt cx="2601025" cy="1466522"/>
            </a:xfrm>
          </p:grpSpPr>
          <p:grpSp>
            <p:nvGrpSpPr>
              <p:cNvPr id="706" name="Google Shape;706;p43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707" name="Google Shape;707;p43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708" name="Google Shape;708;p43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709" name="Google Shape;709;p43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10" name="Google Shape;710;p43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711" name="Google Shape;711;p43"/>
              <p:cNvSpPr txBox="1"/>
              <p:nvPr/>
            </p:nvSpPr>
            <p:spPr>
              <a:xfrm>
                <a:off x="6950675" y="3167975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712" name="Google Shape;712;p43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713" name="Google Shape;713;p43"/>
            <p:cNvCxnSpPr/>
            <p:nvPr/>
          </p:nvCxnSpPr>
          <p:spPr>
            <a:xfrm rot="10800000">
              <a:off x="2600275" y="2531950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14" name="Google Shape;714;p43"/>
            <p:cNvCxnSpPr/>
            <p:nvPr/>
          </p:nvCxnSpPr>
          <p:spPr>
            <a:xfrm rot="10800000">
              <a:off x="3590675" y="2479450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15" name="Google Shape;715;p43"/>
            <p:cNvSpPr txBox="1"/>
            <p:nvPr/>
          </p:nvSpPr>
          <p:spPr>
            <a:xfrm>
              <a:off x="2369800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l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  <p:sp>
          <p:nvSpPr>
            <p:cNvPr id="716" name="Google Shape;716;p43"/>
            <p:cNvSpPr txBox="1"/>
            <p:nvPr/>
          </p:nvSpPr>
          <p:spPr>
            <a:xfrm>
              <a:off x="345563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u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</p:grpSp>
      <p:cxnSp>
        <p:nvCxnSpPr>
          <p:cNvPr id="717" name="Google Shape;717;p43"/>
          <p:cNvCxnSpPr/>
          <p:nvPr/>
        </p:nvCxnSpPr>
        <p:spPr>
          <a:xfrm>
            <a:off x="5171050" y="4107350"/>
            <a:ext cx="3164400" cy="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8" name="Google Shape;718;p43"/>
          <p:cNvCxnSpPr/>
          <p:nvPr/>
        </p:nvCxnSpPr>
        <p:spPr>
          <a:xfrm rot="10800000" flipH="1">
            <a:off x="5916300" y="2985625"/>
            <a:ext cx="1996500" cy="19959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9" name="Google Shape;719;p43"/>
          <p:cNvCxnSpPr/>
          <p:nvPr/>
        </p:nvCxnSpPr>
        <p:spPr>
          <a:xfrm rot="10800000" flipH="1">
            <a:off x="5420775" y="3281475"/>
            <a:ext cx="2644800" cy="11868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4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Stable vs. unstable neurons</a:t>
            </a:r>
          </a:p>
        </p:txBody>
      </p:sp>
      <p:sp>
        <p:nvSpPr>
          <p:cNvPr id="725" name="Google Shape;725;p44"/>
          <p:cNvSpPr txBox="1"/>
          <p:nvPr/>
        </p:nvSpPr>
        <p:spPr>
          <a:xfrm>
            <a:off x="393700" y="1136650"/>
            <a:ext cx="7651800" cy="83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If bounds are tight enough so l</a:t>
            </a:r>
            <a:r>
              <a:rPr lang="en-GB" sz="1800" baseline="-25000">
                <a:solidFill>
                  <a:schemeClr val="dk2"/>
                </a:solidFill>
              </a:rPr>
              <a:t>j</a:t>
            </a:r>
            <a:r>
              <a:rPr lang="en-GB" sz="1800" baseline="30000">
                <a:solidFill>
                  <a:schemeClr val="dk2"/>
                </a:solidFill>
              </a:rPr>
              <a:t>(i)</a:t>
            </a:r>
            <a:r>
              <a:rPr lang="en-GB" sz="1800">
                <a:solidFill>
                  <a:schemeClr val="dk2"/>
                </a:solidFill>
              </a:rPr>
              <a:t> ≥</a:t>
            </a:r>
            <a:r>
              <a:rPr lang="en-GB" sz="2000">
                <a:solidFill>
                  <a:schemeClr val="dk2"/>
                </a:solidFill>
              </a:rPr>
              <a:t> 0 or </a:t>
            </a:r>
            <a:r>
              <a:rPr lang="en-GB" sz="1800">
                <a:solidFill>
                  <a:schemeClr val="dk2"/>
                </a:solidFill>
              </a:rPr>
              <a:t>u</a:t>
            </a:r>
            <a:r>
              <a:rPr lang="en-GB" sz="1800" baseline="-25000">
                <a:solidFill>
                  <a:schemeClr val="dk2"/>
                </a:solidFill>
              </a:rPr>
              <a:t>j</a:t>
            </a:r>
            <a:r>
              <a:rPr lang="en-GB" sz="1800" baseline="30000">
                <a:solidFill>
                  <a:schemeClr val="dk2"/>
                </a:solidFill>
              </a:rPr>
              <a:t>(i)</a:t>
            </a:r>
            <a:r>
              <a:rPr lang="en-GB" sz="1800">
                <a:solidFill>
                  <a:schemeClr val="dk2"/>
                </a:solidFill>
              </a:rPr>
              <a:t> </a:t>
            </a:r>
            <a:r>
              <a:rPr lang="en-GB" sz="2000">
                <a:solidFill>
                  <a:schemeClr val="dk2"/>
                </a:solidFill>
              </a:rPr>
              <a:t>≤</a:t>
            </a:r>
            <a:r>
              <a:rPr lang="en-GB" sz="1800">
                <a:solidFill>
                  <a:schemeClr val="dk2"/>
                </a:solidFill>
              </a:rPr>
              <a:t> 0, it is called stable neurons (active or inactive); otherwise it is a unstable neuron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In stable neuron cases, a binary variable in MILP or relaxation in LP is not needed - ReLU becomes a linear function.</a:t>
            </a:r>
            <a:endParaRPr sz="1800">
              <a:solidFill>
                <a:schemeClr val="dk2"/>
              </a:solidFill>
            </a:endParaRPr>
          </a:p>
        </p:txBody>
      </p:sp>
      <p:grpSp>
        <p:nvGrpSpPr>
          <p:cNvPr id="726" name="Google Shape;726;p44"/>
          <p:cNvGrpSpPr/>
          <p:nvPr/>
        </p:nvGrpSpPr>
        <p:grpSpPr>
          <a:xfrm>
            <a:off x="-52925" y="3082075"/>
            <a:ext cx="2601025" cy="1721575"/>
            <a:chOff x="1991775" y="2213825"/>
            <a:chExt cx="2601025" cy="1721575"/>
          </a:xfrm>
        </p:grpSpPr>
        <p:grpSp>
          <p:nvGrpSpPr>
            <p:cNvPr id="727" name="Google Shape;727;p44"/>
            <p:cNvGrpSpPr/>
            <p:nvPr/>
          </p:nvGrpSpPr>
          <p:grpSpPr>
            <a:xfrm>
              <a:off x="1991775" y="2213825"/>
              <a:ext cx="2601025" cy="1466522"/>
              <a:chOff x="6206725" y="3167975"/>
              <a:chExt cx="2601025" cy="1466522"/>
            </a:xfrm>
          </p:grpSpPr>
          <p:grpSp>
            <p:nvGrpSpPr>
              <p:cNvPr id="728" name="Google Shape;728;p44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729" name="Google Shape;729;p44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730" name="Google Shape;730;p44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731" name="Google Shape;731;p44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32" name="Google Shape;732;p44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733" name="Google Shape;733;p44"/>
              <p:cNvSpPr txBox="1"/>
              <p:nvPr/>
            </p:nvSpPr>
            <p:spPr>
              <a:xfrm>
                <a:off x="6950675" y="3167975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734" name="Google Shape;734;p44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735" name="Google Shape;735;p44"/>
            <p:cNvCxnSpPr/>
            <p:nvPr/>
          </p:nvCxnSpPr>
          <p:spPr>
            <a:xfrm rot="10800000">
              <a:off x="2600275" y="2531950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36" name="Google Shape;736;p44"/>
            <p:cNvCxnSpPr/>
            <p:nvPr/>
          </p:nvCxnSpPr>
          <p:spPr>
            <a:xfrm rot="10800000">
              <a:off x="3590675" y="2479450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37" name="Google Shape;737;p44"/>
            <p:cNvSpPr txBox="1"/>
            <p:nvPr/>
          </p:nvSpPr>
          <p:spPr>
            <a:xfrm>
              <a:off x="2369800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l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  <p:sp>
          <p:nvSpPr>
            <p:cNvPr id="738" name="Google Shape;738;p44"/>
            <p:cNvSpPr txBox="1"/>
            <p:nvPr/>
          </p:nvSpPr>
          <p:spPr>
            <a:xfrm>
              <a:off x="345563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u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</p:grpSp>
      <p:cxnSp>
        <p:nvCxnSpPr>
          <p:cNvPr id="739" name="Google Shape;739;p44"/>
          <p:cNvCxnSpPr/>
          <p:nvPr/>
        </p:nvCxnSpPr>
        <p:spPr>
          <a:xfrm>
            <a:off x="-497400" y="4160250"/>
            <a:ext cx="3164400" cy="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0" name="Google Shape;740;p44"/>
          <p:cNvCxnSpPr/>
          <p:nvPr/>
        </p:nvCxnSpPr>
        <p:spPr>
          <a:xfrm rot="10800000" flipH="1">
            <a:off x="247850" y="3038525"/>
            <a:ext cx="1996500" cy="19959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1" name="Google Shape;741;p44"/>
          <p:cNvCxnSpPr/>
          <p:nvPr/>
        </p:nvCxnSpPr>
        <p:spPr>
          <a:xfrm rot="10800000" flipH="1">
            <a:off x="-247675" y="3334375"/>
            <a:ext cx="2644800" cy="11868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42" name="Google Shape;742;p44"/>
          <p:cNvGrpSpPr/>
          <p:nvPr/>
        </p:nvGrpSpPr>
        <p:grpSpPr>
          <a:xfrm>
            <a:off x="3168650" y="3082075"/>
            <a:ext cx="2601025" cy="1721575"/>
            <a:chOff x="1991775" y="2213825"/>
            <a:chExt cx="2601025" cy="1721575"/>
          </a:xfrm>
        </p:grpSpPr>
        <p:grpSp>
          <p:nvGrpSpPr>
            <p:cNvPr id="743" name="Google Shape;743;p44"/>
            <p:cNvGrpSpPr/>
            <p:nvPr/>
          </p:nvGrpSpPr>
          <p:grpSpPr>
            <a:xfrm>
              <a:off x="1991775" y="2213825"/>
              <a:ext cx="2601025" cy="1466522"/>
              <a:chOff x="6206725" y="3167975"/>
              <a:chExt cx="2601025" cy="1466522"/>
            </a:xfrm>
          </p:grpSpPr>
          <p:grpSp>
            <p:nvGrpSpPr>
              <p:cNvPr id="744" name="Google Shape;744;p44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745" name="Google Shape;745;p44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746" name="Google Shape;746;p44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747" name="Google Shape;747;p44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48" name="Google Shape;748;p44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749" name="Google Shape;749;p44"/>
              <p:cNvSpPr txBox="1"/>
              <p:nvPr/>
            </p:nvSpPr>
            <p:spPr>
              <a:xfrm>
                <a:off x="6950675" y="3167975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750" name="Google Shape;750;p44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751" name="Google Shape;751;p44"/>
            <p:cNvCxnSpPr/>
            <p:nvPr/>
          </p:nvCxnSpPr>
          <p:spPr>
            <a:xfrm rot="10800000">
              <a:off x="2600275" y="2531950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52" name="Google Shape;752;p44"/>
            <p:cNvCxnSpPr/>
            <p:nvPr/>
          </p:nvCxnSpPr>
          <p:spPr>
            <a:xfrm rot="10800000">
              <a:off x="3019175" y="2479450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53" name="Google Shape;753;p44"/>
            <p:cNvSpPr txBox="1"/>
            <p:nvPr/>
          </p:nvSpPr>
          <p:spPr>
            <a:xfrm>
              <a:off x="2369800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l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  <p:sp>
          <p:nvSpPr>
            <p:cNvPr id="754" name="Google Shape;754;p44"/>
            <p:cNvSpPr txBox="1"/>
            <p:nvPr/>
          </p:nvSpPr>
          <p:spPr>
            <a:xfrm>
              <a:off x="286108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u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</p:grpSp>
      <p:cxnSp>
        <p:nvCxnSpPr>
          <p:cNvPr id="755" name="Google Shape;755;p44"/>
          <p:cNvCxnSpPr/>
          <p:nvPr/>
        </p:nvCxnSpPr>
        <p:spPr>
          <a:xfrm>
            <a:off x="2724175" y="4160250"/>
            <a:ext cx="3164400" cy="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56" name="Google Shape;756;p44"/>
          <p:cNvCxnSpPr/>
          <p:nvPr/>
        </p:nvCxnSpPr>
        <p:spPr>
          <a:xfrm>
            <a:off x="3011938" y="4160250"/>
            <a:ext cx="2381400" cy="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57" name="Google Shape;757;p44"/>
          <p:cNvGrpSpPr/>
          <p:nvPr/>
        </p:nvGrpSpPr>
        <p:grpSpPr>
          <a:xfrm>
            <a:off x="6355675" y="3205850"/>
            <a:ext cx="2601025" cy="1721575"/>
            <a:chOff x="1991775" y="2213825"/>
            <a:chExt cx="2601025" cy="1721575"/>
          </a:xfrm>
        </p:grpSpPr>
        <p:grpSp>
          <p:nvGrpSpPr>
            <p:cNvPr id="758" name="Google Shape;758;p44"/>
            <p:cNvGrpSpPr/>
            <p:nvPr/>
          </p:nvGrpSpPr>
          <p:grpSpPr>
            <a:xfrm>
              <a:off x="1991775" y="2213825"/>
              <a:ext cx="2601025" cy="1466522"/>
              <a:chOff x="6206725" y="3167975"/>
              <a:chExt cx="2601025" cy="1466522"/>
            </a:xfrm>
          </p:grpSpPr>
          <p:grpSp>
            <p:nvGrpSpPr>
              <p:cNvPr id="759" name="Google Shape;759;p44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760" name="Google Shape;760;p44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761" name="Google Shape;761;p44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762" name="Google Shape;762;p44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63" name="Google Shape;763;p44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764" name="Google Shape;764;p44"/>
              <p:cNvSpPr txBox="1"/>
              <p:nvPr/>
            </p:nvSpPr>
            <p:spPr>
              <a:xfrm>
                <a:off x="6950675" y="3167975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765" name="Google Shape;765;p44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766" name="Google Shape;766;p44"/>
            <p:cNvCxnSpPr/>
            <p:nvPr/>
          </p:nvCxnSpPr>
          <p:spPr>
            <a:xfrm rot="10800000">
              <a:off x="3290800" y="2551475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67" name="Google Shape;767;p44"/>
            <p:cNvCxnSpPr/>
            <p:nvPr/>
          </p:nvCxnSpPr>
          <p:spPr>
            <a:xfrm rot="10800000">
              <a:off x="3590675" y="2479450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68" name="Google Shape;768;p44"/>
            <p:cNvSpPr txBox="1"/>
            <p:nvPr/>
          </p:nvSpPr>
          <p:spPr>
            <a:xfrm>
              <a:off x="3108575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l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  <p:sp>
          <p:nvSpPr>
            <p:cNvPr id="769" name="Google Shape;769;p44"/>
            <p:cNvSpPr txBox="1"/>
            <p:nvPr/>
          </p:nvSpPr>
          <p:spPr>
            <a:xfrm>
              <a:off x="345563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u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</p:grpSp>
      <p:cxnSp>
        <p:nvCxnSpPr>
          <p:cNvPr id="770" name="Google Shape;770;p44"/>
          <p:cNvCxnSpPr/>
          <p:nvPr/>
        </p:nvCxnSpPr>
        <p:spPr>
          <a:xfrm rot="10800000" flipH="1">
            <a:off x="6656450" y="3162300"/>
            <a:ext cx="1996500" cy="19959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71" name="Google Shape;771;p44"/>
          <p:cNvSpPr txBox="1"/>
          <p:nvPr/>
        </p:nvSpPr>
        <p:spPr>
          <a:xfrm>
            <a:off x="6948325" y="4696500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active</a:t>
            </a:r>
          </a:p>
        </p:txBody>
      </p:sp>
      <p:sp>
        <p:nvSpPr>
          <p:cNvPr id="772" name="Google Shape;772;p44"/>
          <p:cNvSpPr txBox="1"/>
          <p:nvPr/>
        </p:nvSpPr>
        <p:spPr>
          <a:xfrm>
            <a:off x="3555413" y="4624225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inactive</a:t>
            </a:r>
          </a:p>
        </p:txBody>
      </p:sp>
      <p:sp>
        <p:nvSpPr>
          <p:cNvPr id="773" name="Google Shape;773;p44"/>
          <p:cNvSpPr txBox="1"/>
          <p:nvPr/>
        </p:nvSpPr>
        <p:spPr>
          <a:xfrm>
            <a:off x="454400" y="4572725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unstable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4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Stable vs. unstable neurons</a:t>
            </a:r>
          </a:p>
        </p:txBody>
      </p:sp>
      <p:grpSp>
        <p:nvGrpSpPr>
          <p:cNvPr id="779" name="Google Shape;779;p45"/>
          <p:cNvGrpSpPr/>
          <p:nvPr/>
        </p:nvGrpSpPr>
        <p:grpSpPr>
          <a:xfrm>
            <a:off x="-52925" y="3082075"/>
            <a:ext cx="2601025" cy="1721575"/>
            <a:chOff x="1991775" y="2213825"/>
            <a:chExt cx="2601025" cy="1721575"/>
          </a:xfrm>
        </p:grpSpPr>
        <p:grpSp>
          <p:nvGrpSpPr>
            <p:cNvPr id="780" name="Google Shape;780;p45"/>
            <p:cNvGrpSpPr/>
            <p:nvPr/>
          </p:nvGrpSpPr>
          <p:grpSpPr>
            <a:xfrm>
              <a:off x="1991775" y="2213825"/>
              <a:ext cx="2601025" cy="1466522"/>
              <a:chOff x="6206725" y="3167975"/>
              <a:chExt cx="2601025" cy="1466522"/>
            </a:xfrm>
          </p:grpSpPr>
          <p:grpSp>
            <p:nvGrpSpPr>
              <p:cNvPr id="781" name="Google Shape;781;p45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782" name="Google Shape;782;p45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783" name="Google Shape;783;p45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784" name="Google Shape;784;p45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85" name="Google Shape;785;p45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786" name="Google Shape;786;p45"/>
              <p:cNvSpPr txBox="1"/>
              <p:nvPr/>
            </p:nvSpPr>
            <p:spPr>
              <a:xfrm>
                <a:off x="6950675" y="3167975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787" name="Google Shape;787;p45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788" name="Google Shape;788;p45"/>
            <p:cNvCxnSpPr/>
            <p:nvPr/>
          </p:nvCxnSpPr>
          <p:spPr>
            <a:xfrm rot="10800000">
              <a:off x="2600275" y="2531950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89" name="Google Shape;789;p45"/>
            <p:cNvCxnSpPr/>
            <p:nvPr/>
          </p:nvCxnSpPr>
          <p:spPr>
            <a:xfrm rot="10800000">
              <a:off x="3590675" y="2479450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90" name="Google Shape;790;p45"/>
            <p:cNvSpPr txBox="1"/>
            <p:nvPr/>
          </p:nvSpPr>
          <p:spPr>
            <a:xfrm>
              <a:off x="2369800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l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  <p:sp>
          <p:nvSpPr>
            <p:cNvPr id="791" name="Google Shape;791;p45"/>
            <p:cNvSpPr txBox="1"/>
            <p:nvPr/>
          </p:nvSpPr>
          <p:spPr>
            <a:xfrm>
              <a:off x="345563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u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</p:grpSp>
      <p:cxnSp>
        <p:nvCxnSpPr>
          <p:cNvPr id="792" name="Google Shape;792;p45"/>
          <p:cNvCxnSpPr/>
          <p:nvPr/>
        </p:nvCxnSpPr>
        <p:spPr>
          <a:xfrm>
            <a:off x="-497400" y="4160250"/>
            <a:ext cx="3164400" cy="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3" name="Google Shape;793;p45"/>
          <p:cNvCxnSpPr/>
          <p:nvPr/>
        </p:nvCxnSpPr>
        <p:spPr>
          <a:xfrm rot="10800000" flipH="1">
            <a:off x="247850" y="3038525"/>
            <a:ext cx="1996500" cy="19959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4" name="Google Shape;794;p45"/>
          <p:cNvCxnSpPr/>
          <p:nvPr/>
        </p:nvCxnSpPr>
        <p:spPr>
          <a:xfrm rot="10800000" flipH="1">
            <a:off x="-247675" y="3334375"/>
            <a:ext cx="2644800" cy="11868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95" name="Google Shape;795;p45"/>
          <p:cNvGrpSpPr/>
          <p:nvPr/>
        </p:nvGrpSpPr>
        <p:grpSpPr>
          <a:xfrm>
            <a:off x="3168650" y="3082075"/>
            <a:ext cx="2601025" cy="1721575"/>
            <a:chOff x="1991775" y="2213825"/>
            <a:chExt cx="2601025" cy="1721575"/>
          </a:xfrm>
        </p:grpSpPr>
        <p:grpSp>
          <p:nvGrpSpPr>
            <p:cNvPr id="796" name="Google Shape;796;p45"/>
            <p:cNvGrpSpPr/>
            <p:nvPr/>
          </p:nvGrpSpPr>
          <p:grpSpPr>
            <a:xfrm>
              <a:off x="1991775" y="2213825"/>
              <a:ext cx="2601025" cy="1466522"/>
              <a:chOff x="6206725" y="3167975"/>
              <a:chExt cx="2601025" cy="1466522"/>
            </a:xfrm>
          </p:grpSpPr>
          <p:grpSp>
            <p:nvGrpSpPr>
              <p:cNvPr id="797" name="Google Shape;797;p45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798" name="Google Shape;798;p45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799" name="Google Shape;799;p45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800" name="Google Shape;800;p45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01" name="Google Shape;801;p45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802" name="Google Shape;802;p45"/>
              <p:cNvSpPr txBox="1"/>
              <p:nvPr/>
            </p:nvSpPr>
            <p:spPr>
              <a:xfrm>
                <a:off x="6950675" y="3167975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803" name="Google Shape;803;p45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804" name="Google Shape;804;p45"/>
            <p:cNvCxnSpPr/>
            <p:nvPr/>
          </p:nvCxnSpPr>
          <p:spPr>
            <a:xfrm rot="10800000">
              <a:off x="2600275" y="2531950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05" name="Google Shape;805;p45"/>
            <p:cNvCxnSpPr/>
            <p:nvPr/>
          </p:nvCxnSpPr>
          <p:spPr>
            <a:xfrm rot="10800000">
              <a:off x="3019175" y="2479450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06" name="Google Shape;806;p45"/>
            <p:cNvSpPr txBox="1"/>
            <p:nvPr/>
          </p:nvSpPr>
          <p:spPr>
            <a:xfrm>
              <a:off x="2369800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l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  <p:sp>
          <p:nvSpPr>
            <p:cNvPr id="807" name="Google Shape;807;p45"/>
            <p:cNvSpPr txBox="1"/>
            <p:nvPr/>
          </p:nvSpPr>
          <p:spPr>
            <a:xfrm>
              <a:off x="286108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u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</p:grpSp>
      <p:cxnSp>
        <p:nvCxnSpPr>
          <p:cNvPr id="808" name="Google Shape;808;p45"/>
          <p:cNvCxnSpPr/>
          <p:nvPr/>
        </p:nvCxnSpPr>
        <p:spPr>
          <a:xfrm>
            <a:off x="2724175" y="4160250"/>
            <a:ext cx="3164400" cy="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09" name="Google Shape;809;p45"/>
          <p:cNvCxnSpPr/>
          <p:nvPr/>
        </p:nvCxnSpPr>
        <p:spPr>
          <a:xfrm>
            <a:off x="3011938" y="4160250"/>
            <a:ext cx="2381400" cy="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10" name="Google Shape;810;p45"/>
          <p:cNvGrpSpPr/>
          <p:nvPr/>
        </p:nvGrpSpPr>
        <p:grpSpPr>
          <a:xfrm>
            <a:off x="6355675" y="3205850"/>
            <a:ext cx="2601025" cy="1721575"/>
            <a:chOff x="1991775" y="2213825"/>
            <a:chExt cx="2601025" cy="1721575"/>
          </a:xfrm>
        </p:grpSpPr>
        <p:grpSp>
          <p:nvGrpSpPr>
            <p:cNvPr id="811" name="Google Shape;811;p45"/>
            <p:cNvGrpSpPr/>
            <p:nvPr/>
          </p:nvGrpSpPr>
          <p:grpSpPr>
            <a:xfrm>
              <a:off x="1991775" y="2213825"/>
              <a:ext cx="2601025" cy="1466522"/>
              <a:chOff x="6206725" y="3167975"/>
              <a:chExt cx="2601025" cy="1466522"/>
            </a:xfrm>
          </p:grpSpPr>
          <p:grpSp>
            <p:nvGrpSpPr>
              <p:cNvPr id="812" name="Google Shape;812;p45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813" name="Google Shape;813;p45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814" name="Google Shape;814;p45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815" name="Google Shape;815;p45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16" name="Google Shape;816;p45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817" name="Google Shape;817;p45"/>
              <p:cNvSpPr txBox="1"/>
              <p:nvPr/>
            </p:nvSpPr>
            <p:spPr>
              <a:xfrm>
                <a:off x="6950675" y="3167975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818" name="Google Shape;818;p45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819" name="Google Shape;819;p45"/>
            <p:cNvCxnSpPr/>
            <p:nvPr/>
          </p:nvCxnSpPr>
          <p:spPr>
            <a:xfrm rot="10800000">
              <a:off x="3290800" y="2551475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0" name="Google Shape;820;p45"/>
            <p:cNvCxnSpPr/>
            <p:nvPr/>
          </p:nvCxnSpPr>
          <p:spPr>
            <a:xfrm rot="10800000">
              <a:off x="3590675" y="2479450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21" name="Google Shape;821;p45"/>
            <p:cNvSpPr txBox="1"/>
            <p:nvPr/>
          </p:nvSpPr>
          <p:spPr>
            <a:xfrm>
              <a:off x="3108575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l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  <p:sp>
          <p:nvSpPr>
            <p:cNvPr id="822" name="Google Shape;822;p45"/>
            <p:cNvSpPr txBox="1"/>
            <p:nvPr/>
          </p:nvSpPr>
          <p:spPr>
            <a:xfrm>
              <a:off x="345563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u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</p:grpSp>
      <p:cxnSp>
        <p:nvCxnSpPr>
          <p:cNvPr id="823" name="Google Shape;823;p45"/>
          <p:cNvCxnSpPr/>
          <p:nvPr/>
        </p:nvCxnSpPr>
        <p:spPr>
          <a:xfrm rot="10800000" flipH="1">
            <a:off x="6656450" y="3162300"/>
            <a:ext cx="1996500" cy="19959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24" name="Google Shape;824;p45"/>
          <p:cNvSpPr txBox="1"/>
          <p:nvPr/>
        </p:nvSpPr>
        <p:spPr>
          <a:xfrm>
            <a:off x="6948325" y="4696500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active</a:t>
            </a:r>
          </a:p>
        </p:txBody>
      </p:sp>
      <p:sp>
        <p:nvSpPr>
          <p:cNvPr id="825" name="Google Shape;825;p45"/>
          <p:cNvSpPr txBox="1"/>
          <p:nvPr/>
        </p:nvSpPr>
        <p:spPr>
          <a:xfrm>
            <a:off x="3555413" y="4624225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inactive</a:t>
            </a:r>
          </a:p>
        </p:txBody>
      </p:sp>
      <p:sp>
        <p:nvSpPr>
          <p:cNvPr id="826" name="Google Shape;826;p45"/>
          <p:cNvSpPr txBox="1"/>
          <p:nvPr/>
        </p:nvSpPr>
        <p:spPr>
          <a:xfrm>
            <a:off x="454400" y="4572725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unstable</a:t>
            </a:r>
          </a:p>
        </p:txBody>
      </p:sp>
      <p:pic>
        <p:nvPicPr>
          <p:cNvPr id="827" name="Google Shape;827;p45" descr="\hat{z}^{(i)}_j = z_j^{(i)}" title="MathEquation,#00000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7196650" y="1972451"/>
            <a:ext cx="1133028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8" name="Google Shape;828;p45" descr="\hat{z}^{(i)}_j = 0" title="MathEquation,#000000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4060300" y="2066975"/>
            <a:ext cx="898680" cy="461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29" name="Google Shape;829;p45"/>
          <p:cNvGrpSpPr/>
          <p:nvPr/>
        </p:nvGrpSpPr>
        <p:grpSpPr>
          <a:xfrm>
            <a:off x="630700" y="2040238"/>
            <a:ext cx="1023396" cy="849900"/>
            <a:chOff x="1112825" y="3768750"/>
            <a:chExt cx="1023396" cy="849900"/>
          </a:xfrm>
        </p:grpSpPr>
        <p:pic>
          <p:nvPicPr>
            <p:cNvPr id="830" name="Google Shape;830;p45" descr="\hat{z}^{(i)}_j \geq z_j^{(i)}" title="MathEquation,#000000"/>
            <p:cNvPicPr preferRelativeResize="0"/>
            <p:nvPr/>
          </p:nvPicPr>
          <p:blipFill>
            <a:blip r:embed="rId5"/>
            <a:stretch>
              <a:fillRect/>
            </a:stretch>
          </p:blipFill>
          <p:spPr>
            <a:xfrm>
              <a:off x="1112825" y="3768750"/>
              <a:ext cx="1023396" cy="417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31" name="Google Shape;831;p45" descr="\hat{z}^{(i)}_j \geq 0" title="MathEquation,#000000"/>
            <p:cNvPicPr preferRelativeResize="0"/>
            <p:nvPr/>
          </p:nvPicPr>
          <p:blipFill>
            <a:blip r:embed="rId6"/>
            <a:stretch>
              <a:fillRect/>
            </a:stretch>
          </p:blipFill>
          <p:spPr>
            <a:xfrm>
              <a:off x="1112825" y="4201625"/>
              <a:ext cx="811722" cy="41702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32" name="Google Shape;832;p45" descr="\hat{z}^{(i)}_j \leq z_j^{(i)} - l_j^{(i)} (1 - p^{(i)}_j)" title="MathEquation,#000000"/>
          <p:cNvPicPr preferRelativeResize="0"/>
          <p:nvPr/>
        </p:nvPicPr>
        <p:blipFill>
          <a:blip r:embed="rId7"/>
          <a:stretch>
            <a:fillRect/>
          </a:stretch>
        </p:blipFill>
        <p:spPr>
          <a:xfrm>
            <a:off x="630687" y="1130438"/>
            <a:ext cx="2376070" cy="38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33" name="Google Shape;833;p45" descr="\hat{z}^{(i)}_j \leq u^{(i)}_j p^{(i)}_j" title="MathEquation,#000000"/>
          <p:cNvPicPr preferRelativeResize="0"/>
          <p:nvPr/>
        </p:nvPicPr>
        <p:blipFill>
          <a:blip r:embed="rId8"/>
          <a:stretch>
            <a:fillRect/>
          </a:stretch>
        </p:blipFill>
        <p:spPr>
          <a:xfrm>
            <a:off x="630700" y="1585350"/>
            <a:ext cx="1282518" cy="383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46"/>
          <p:cNvSpPr txBox="1">
            <a:spLocks noGrp="1"/>
          </p:cNvSpPr>
          <p:nvPr>
            <p:ph type="title"/>
          </p:nvPr>
        </p:nvSpPr>
        <p:spPr>
          <a:xfrm>
            <a:off x="311700" y="205539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Summary: MILP vs LP vs DPLL(T) in Neural Network Verification</a:t>
            </a:r>
          </a:p>
        </p:txBody>
      </p:sp>
      <p:sp>
        <p:nvSpPr>
          <p:cNvPr id="839" name="Google Shape;839;p46"/>
          <p:cNvSpPr txBox="1"/>
          <p:nvPr/>
        </p:nvSpPr>
        <p:spPr>
          <a:xfrm>
            <a:off x="171300" y="931161"/>
            <a:ext cx="8661000" cy="40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MILP:</a:t>
            </a:r>
            <a:endParaRPr sz="1800" dirty="0">
              <a:solidFill>
                <a:schemeClr val="dk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 dirty="0">
                <a:solidFill>
                  <a:schemeClr val="dk2"/>
                </a:solidFill>
              </a:rPr>
              <a:t>Branch and bound is used to make decisions only on certain number of binary variables</a:t>
            </a:r>
            <a:endParaRPr sz="1800" dirty="0">
              <a:solidFill>
                <a:schemeClr val="dk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 dirty="0">
                <a:solidFill>
                  <a:schemeClr val="dk2"/>
                </a:solidFill>
              </a:rPr>
              <a:t>No decision needed on stable neurons (with the help of pre-activation bounds)</a:t>
            </a:r>
            <a:endParaRPr sz="1800" dirty="0">
              <a:solidFill>
                <a:schemeClr val="dk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 dirty="0">
                <a:solidFill>
                  <a:schemeClr val="dk2"/>
                </a:solidFill>
              </a:rPr>
              <a:t>Specialized methods to accelerate solving (e.g., branching heuristics, cutting planes)</a:t>
            </a:r>
            <a:endParaRPr sz="1800" dirty="0">
              <a:solidFill>
                <a:schemeClr val="dk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 dirty="0">
                <a:solidFill>
                  <a:schemeClr val="dk2"/>
                </a:solidFill>
              </a:rPr>
              <a:t>Complete (solve y* exactly)</a:t>
            </a:r>
            <a:endParaRPr sz="1800" dirty="0">
              <a:solidFill>
                <a:schemeClr val="dk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 dirty="0">
                <a:solidFill>
                  <a:schemeClr val="dk2"/>
                </a:solidFill>
              </a:rPr>
              <a:t>Typically scales much better than DPLL(T)</a:t>
            </a: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Linear programming:</a:t>
            </a:r>
            <a:endParaRPr sz="1800" dirty="0">
              <a:solidFill>
                <a:schemeClr val="dk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 dirty="0">
                <a:solidFill>
                  <a:schemeClr val="dk2"/>
                </a:solidFill>
              </a:rPr>
              <a:t>No integer variables</a:t>
            </a:r>
            <a:endParaRPr sz="1800" dirty="0">
              <a:solidFill>
                <a:schemeClr val="dk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 dirty="0">
                <a:solidFill>
                  <a:schemeClr val="dk2"/>
                </a:solidFill>
              </a:rPr>
              <a:t>No variable decisions needed (no exponential time search)</a:t>
            </a:r>
            <a:endParaRPr sz="1800" dirty="0">
              <a:solidFill>
                <a:schemeClr val="dk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 dirty="0">
                <a:solidFill>
                  <a:schemeClr val="dk2"/>
                </a:solidFill>
              </a:rPr>
              <a:t>Simplex algorithm can solve it relatively fast, a few thousands neurons are ok</a:t>
            </a:r>
            <a:endParaRPr sz="1800" dirty="0">
              <a:solidFill>
                <a:schemeClr val="dk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 dirty="0">
                <a:solidFill>
                  <a:schemeClr val="dk2"/>
                </a:solidFill>
              </a:rPr>
              <a:t>Incomplete (has to return unknown in some cases)</a:t>
            </a:r>
            <a:endParaRPr sz="1800" dirty="0">
              <a:solidFill>
                <a:schemeClr val="dk2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7226</TotalTime>
  <Words>5242</Words>
  <Application>Microsoft Macintosh PowerPoint</Application>
  <PresentationFormat>On-screen Show (16:9)</PresentationFormat>
  <Paragraphs>530</Paragraphs>
  <Slides>38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6" baseType="lpstr">
      <vt:lpstr>Arial</vt:lpstr>
      <vt:lpstr>Calibri</vt:lpstr>
      <vt:lpstr>Calibri Light</vt:lpstr>
      <vt:lpstr>Cambria Math</vt:lpstr>
      <vt:lpstr>Georgia</vt:lpstr>
      <vt:lpstr>Impact</vt:lpstr>
      <vt:lpstr>Lucida Grande</vt:lpstr>
      <vt:lpstr>Simple Light</vt:lpstr>
      <vt:lpstr>Neural Network Verification Integer and Linear Programming Formulations</vt:lpstr>
      <vt:lpstr>Review: Neural network verification as a satisfiability problem</vt:lpstr>
      <vt:lpstr>Verification of neural networks</vt:lpstr>
      <vt:lpstr>Reluplex: Decision Procedure for ReLU NNs</vt:lpstr>
      <vt:lpstr>Reluplex Decision Procedure for ReLU NNs</vt:lpstr>
      <vt:lpstr>Reluplex</vt:lpstr>
      <vt:lpstr>Reluplex</vt:lpstr>
      <vt:lpstr>Termination</vt:lpstr>
      <vt:lpstr>Performance of Reluplex on ACAS </vt:lpstr>
      <vt:lpstr>Review: Neural network verification as a satisfiability problem</vt:lpstr>
      <vt:lpstr>Verification of neural networks</vt:lpstr>
      <vt:lpstr>How does a SMT solver solve this problem?</vt:lpstr>
      <vt:lpstr>How does a SMT solver solve this problem?</vt:lpstr>
      <vt:lpstr>How does a SMT solver solve this problem?</vt:lpstr>
      <vt:lpstr>Why using a SMT solver is very slow?</vt:lpstr>
      <vt:lpstr>Mathematical optimization problems</vt:lpstr>
      <vt:lpstr>Some optimization problems are hard, some are easy</vt:lpstr>
      <vt:lpstr>Verification Problem as an optimization problem</vt:lpstr>
      <vt:lpstr>Verification Problem as an optimization problem</vt:lpstr>
      <vt:lpstr>Verification Problem as an optimization problem</vt:lpstr>
      <vt:lpstr>Optimization formulation for ReLU neurons</vt:lpstr>
      <vt:lpstr>Optimization formulation for ReLU neurons</vt:lpstr>
      <vt:lpstr>Optimization formulation for ReLU neurons</vt:lpstr>
      <vt:lpstr>Pre-activation bounds</vt:lpstr>
      <vt:lpstr>Putting it all together with Pre-activation bounds</vt:lpstr>
      <vt:lpstr>Putting it all together with Pre-activation bounds</vt:lpstr>
      <vt:lpstr>Putting it all together with Pre-activation bounds</vt:lpstr>
      <vt:lpstr>Putting it all together with Pre-activation bounds</vt:lpstr>
      <vt:lpstr>Putting it all together with Pre-activation bounds</vt:lpstr>
      <vt:lpstr>MILP vs LP</vt:lpstr>
      <vt:lpstr>Sound but Incomplete Verification with a Lower Bound</vt:lpstr>
      <vt:lpstr>A closer look at the LP relaxation: “Triangle” relaxation </vt:lpstr>
      <vt:lpstr>A closer look at the linear programming relaxation</vt:lpstr>
      <vt:lpstr>A closer look at the linear programming relaxation</vt:lpstr>
      <vt:lpstr>A closer look at the linear programming relaxation</vt:lpstr>
      <vt:lpstr>Stable vs. unstable neurons</vt:lpstr>
      <vt:lpstr>Stable vs. unstable neurons</vt:lpstr>
      <vt:lpstr>Summary: MILP vs LP vs DPLL(T) in Neural Network Verification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2: Integer and Linear Programming Formulations for Neural Network Verification</dc:title>
  <dc:creator/>
  <cp:lastModifiedBy>Mitra, Sayan</cp:lastModifiedBy>
  <cp:revision>36</cp:revision>
  <dcterms:created xsi:type="dcterms:W3CDTF">2025-06-23T20:00:24Z</dcterms:created>
  <dcterms:modified xsi:type="dcterms:W3CDTF">2025-09-25T02:49:45Z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</Properties>
</file>