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15"/>
  </p:notesMasterIdLst>
  <p:sldIdLst>
    <p:sldId id="256" r:id="rId2"/>
    <p:sldId id="294" r:id="rId3"/>
    <p:sldId id="382" r:id="rId4"/>
    <p:sldId id="305" r:id="rId5"/>
    <p:sldId id="306" r:id="rId6"/>
    <p:sldId id="307" r:id="rId7"/>
    <p:sldId id="309" r:id="rId8"/>
    <p:sldId id="310" r:id="rId9"/>
    <p:sldId id="311" r:id="rId10"/>
    <p:sldId id="381" r:id="rId11"/>
    <p:sldId id="293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376" r:id="rId23"/>
    <p:sldId id="271" r:id="rId24"/>
    <p:sldId id="272" r:id="rId25"/>
    <p:sldId id="274" r:id="rId26"/>
    <p:sldId id="377" r:id="rId27"/>
    <p:sldId id="378" r:id="rId28"/>
    <p:sldId id="379" r:id="rId29"/>
    <p:sldId id="380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321" r:id="rId47"/>
    <p:sldId id="322" r:id="rId48"/>
    <p:sldId id="323" r:id="rId49"/>
    <p:sldId id="324" r:id="rId50"/>
    <p:sldId id="325" r:id="rId51"/>
    <p:sldId id="326" r:id="rId52"/>
    <p:sldId id="327" r:id="rId53"/>
    <p:sldId id="328" r:id="rId54"/>
    <p:sldId id="329" r:id="rId55"/>
    <p:sldId id="330" r:id="rId56"/>
    <p:sldId id="331" r:id="rId57"/>
    <p:sldId id="332" r:id="rId58"/>
    <p:sldId id="333" r:id="rId59"/>
    <p:sldId id="334" r:id="rId60"/>
    <p:sldId id="335" r:id="rId61"/>
    <p:sldId id="336" r:id="rId62"/>
    <p:sldId id="337" r:id="rId63"/>
    <p:sldId id="338" r:id="rId64"/>
    <p:sldId id="339" r:id="rId65"/>
    <p:sldId id="340" r:id="rId66"/>
    <p:sldId id="288" r:id="rId67"/>
    <p:sldId id="289" r:id="rId68"/>
    <p:sldId id="290" r:id="rId69"/>
    <p:sldId id="341" r:id="rId70"/>
    <p:sldId id="292" r:id="rId71"/>
    <p:sldId id="342" r:id="rId72"/>
    <p:sldId id="343" r:id="rId73"/>
    <p:sldId id="295" r:id="rId74"/>
    <p:sldId id="296" r:id="rId75"/>
    <p:sldId id="297" r:id="rId76"/>
    <p:sldId id="298" r:id="rId77"/>
    <p:sldId id="299" r:id="rId78"/>
    <p:sldId id="300" r:id="rId79"/>
    <p:sldId id="301" r:id="rId80"/>
    <p:sldId id="302" r:id="rId81"/>
    <p:sldId id="259" r:id="rId82"/>
    <p:sldId id="344" r:id="rId83"/>
    <p:sldId id="345" r:id="rId84"/>
    <p:sldId id="346" r:id="rId85"/>
    <p:sldId id="347" r:id="rId86"/>
    <p:sldId id="348" r:id="rId87"/>
    <p:sldId id="349" r:id="rId88"/>
    <p:sldId id="350" r:id="rId89"/>
    <p:sldId id="351" r:id="rId90"/>
    <p:sldId id="352" r:id="rId91"/>
    <p:sldId id="353" r:id="rId92"/>
    <p:sldId id="354" r:id="rId93"/>
    <p:sldId id="355" r:id="rId94"/>
    <p:sldId id="356" r:id="rId95"/>
    <p:sldId id="357" r:id="rId96"/>
    <p:sldId id="358" r:id="rId97"/>
    <p:sldId id="359" r:id="rId98"/>
    <p:sldId id="360" r:id="rId99"/>
    <p:sldId id="361" r:id="rId100"/>
    <p:sldId id="362" r:id="rId101"/>
    <p:sldId id="363" r:id="rId102"/>
    <p:sldId id="364" r:id="rId103"/>
    <p:sldId id="365" r:id="rId104"/>
    <p:sldId id="366" r:id="rId105"/>
    <p:sldId id="367" r:id="rId106"/>
    <p:sldId id="368" r:id="rId107"/>
    <p:sldId id="369" r:id="rId108"/>
    <p:sldId id="370" r:id="rId109"/>
    <p:sldId id="371" r:id="rId110"/>
    <p:sldId id="372" r:id="rId111"/>
    <p:sldId id="373" r:id="rId112"/>
    <p:sldId id="374" r:id="rId113"/>
    <p:sldId id="375" r:id="rId1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76338"/>
  </p:normalViewPr>
  <p:slideViewPr>
    <p:cSldViewPr snapToGrid="0">
      <p:cViewPr varScale="1">
        <p:scale>
          <a:sx n="117" d="100"/>
          <a:sy n="117" d="100"/>
        </p:scale>
        <p:origin x="1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8775fbbc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8775fbbc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30c363d770_0_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30c363d770_0_7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30c363d770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30c363d770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8751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algorithm tries to </a:t>
            </a:r>
            <a:r>
              <a:rPr lang="en-US" b="1" dirty="0"/>
              <a:t>repair the violation</a:t>
            </a:r>
            <a:r>
              <a:rPr lang="en-US" dirty="0"/>
              <a:t> without branching, by nudging the current assignment using pivoting or direct reassignment.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If xi is a basic variable:</a:t>
            </a:r>
            <a:br>
              <a:rPr lang="en-US" dirty="0"/>
            </a:br>
            <a:r>
              <a:rPr lang="en-US" dirty="0"/>
              <a:t>Pivot it with some non-basic variable </a:t>
            </a:r>
            <a:r>
              <a:rPr lang="en-US" dirty="0" err="1"/>
              <a:t>xk</a:t>
            </a:r>
            <a:r>
              <a:rPr lang="en-US" dirty="0"/>
              <a:t>. This frees xi​ so that its value can be recomputed consistently with </a:t>
            </a:r>
            <a:r>
              <a:rPr lang="en-US" dirty="0" err="1"/>
              <a:t>relu</a:t>
            </a:r>
            <a:r>
              <a:rPr lang="en-US" dirty="0"/>
              <a:t>(</a:t>
            </a:r>
            <a:r>
              <a:rPr lang="en-US" dirty="0" err="1"/>
              <a:t>x_j</a:t>
            </a:r>
            <a:r>
              <a:rPr lang="en-US" dirty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If </a:t>
            </a:r>
            <a:r>
              <a:rPr lang="en-US" b="1" dirty="0" err="1"/>
              <a:t>xj</a:t>
            </a:r>
            <a:r>
              <a:rPr lang="en-US" b="1" dirty="0"/>
              <a:t> is a basic variable: </a:t>
            </a:r>
            <a:r>
              <a:rPr lang="en-US" dirty="0"/>
              <a:t>Similarly, pivot </a:t>
            </a:r>
            <a:r>
              <a:rPr lang="en-US" dirty="0" err="1"/>
              <a:t>xj</a:t>
            </a:r>
            <a:r>
              <a:rPr lang="en-US" dirty="0"/>
              <a:t> with some non-basic variable </a:t>
            </a:r>
            <a:r>
              <a:rPr lang="en-US" dirty="0" err="1"/>
              <a:t>xk</a:t>
            </a:r>
            <a:r>
              <a:rPr lang="en-US" dirty="0"/>
              <a:t>. This frees </a:t>
            </a:r>
            <a:r>
              <a:rPr lang="en-US" dirty="0" err="1"/>
              <a:t>xj</a:t>
            </a:r>
            <a:r>
              <a:rPr lang="en-US" dirty="0"/>
              <a:t> so that it can be recomputed consistently.</a:t>
            </a:r>
          </a:p>
          <a:p>
            <a:pPr lvl="1"/>
            <a:r>
              <a:rPr lang="en-US" dirty="0"/>
              <a:t>After pivoting, enforce the </a:t>
            </a:r>
            <a:r>
              <a:rPr lang="en-US" dirty="0" err="1"/>
              <a:t>ReLU</a:t>
            </a:r>
            <a:r>
              <a:rPr lang="en-US" dirty="0"/>
              <a:t> equation in one of two ways:</a:t>
            </a:r>
          </a:p>
          <a:p>
            <a:pPr lvl="2"/>
            <a:r>
              <a:rPr lang="en-US" dirty="0"/>
              <a:t>Set xi:=</a:t>
            </a:r>
            <a:r>
              <a:rPr lang="en-US" dirty="0" err="1"/>
              <a:t>ReLU</a:t>
            </a:r>
            <a:r>
              <a:rPr lang="en-US" dirty="0"/>
              <a:t>(</a:t>
            </a:r>
            <a:r>
              <a:rPr lang="en-US" dirty="0" err="1"/>
              <a:t>xj</a:t>
            </a:r>
            <a:r>
              <a:rPr lang="en-US" dirty="0"/>
              <a:t>) (i.e., update the output to match the </a:t>
            </a:r>
            <a:r>
              <a:rPr lang="en-US" dirty="0" err="1"/>
              <a:t>ReLU</a:t>
            </a:r>
            <a:r>
              <a:rPr lang="en-US" dirty="0"/>
              <a:t> of the input).</a:t>
            </a:r>
          </a:p>
          <a:p>
            <a:pPr lvl="2"/>
            <a:r>
              <a:rPr lang="en-US" dirty="0"/>
              <a:t>Or set </a:t>
            </a:r>
            <a:r>
              <a:rPr lang="en-US" dirty="0" err="1"/>
              <a:t>xj</a:t>
            </a:r>
            <a:r>
              <a:rPr lang="en-US" dirty="0"/>
              <a:t>:=xi (i.e., adjust the input to be consistent with the output).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 particular </a:t>
            </a:r>
            <a:r>
              <a:rPr lang="en-US" dirty="0" err="1"/>
              <a:t>ReLU</a:t>
            </a:r>
            <a:r>
              <a:rPr lang="en-US" dirty="0"/>
              <a:t> constraint keeps getting violated </a:t>
            </a:r>
            <a:r>
              <a:rPr lang="en-US" b="1" dirty="0"/>
              <a:t>too many times</a:t>
            </a:r>
            <a:r>
              <a:rPr lang="en-US" dirty="0"/>
              <a:t> (&gt; </a:t>
            </a:r>
            <a:r>
              <a:rPr lang="el-GR" dirty="0"/>
              <a:t>τ </a:t>
            </a:r>
            <a:r>
              <a:rPr lang="en-US" dirty="0"/>
              <a:t>in the pseudocode), then </a:t>
            </a:r>
            <a:r>
              <a:rPr lang="en-US" dirty="0" err="1"/>
              <a:t>Reluplex</a:t>
            </a:r>
            <a:r>
              <a:rPr lang="en-US" dirty="0"/>
              <a:t> gives up on repairing it incrementally and performs a </a:t>
            </a:r>
            <a:r>
              <a:rPr lang="en-US" b="1" dirty="0"/>
              <a:t>case split</a:t>
            </a:r>
            <a:r>
              <a:rPr lang="en-US" dirty="0"/>
              <a:t>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99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30c363d770_0_7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30c363d770_0_7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069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30c363d770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30c363d770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b77f6ca0a8_1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b77f6ca0a8_1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Each </a:t>
            </a:r>
            <a:r>
              <a:rPr lang="en-US" dirty="0" err="1"/>
              <a:t>ReLU</a:t>
            </a:r>
            <a:r>
              <a:rPr lang="en-US" dirty="0"/>
              <a:t> neuron introduces a disjunctive clause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b77f6ca0a8_1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b77f6ca0a8_1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b77f6ca0a8_1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b77f6ca0a8_1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b77f6ca0a8_1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b77f6ca0a8_1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b77f6ca0a8_1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b77f6ca0a8_1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b77f6ca0a8_1_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b77f6ca0a8_1_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b77f6ca0a8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b77f6ca0a8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\displaystyle </a:t>
            </a:r>
            <a:r>
              <a:rPr lang="en-GB"/>
              <a:t>f^* = \min_{x \in \mathcal{S}} f(x)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b77f6ca0a8_1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b77f6ca0a8_1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b77f6ca0a8_1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b77f6ca0a8_1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b77f6ca0a8_1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b77f6ca0a8_1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M_1 (1 - p^{(i)}_j)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\hat{z}^{(i)}_j \leq M_2 p^{(i)}_j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\hat{z}^{(i)}_j \leq z_j^{(i)}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b77f6ca0a8_1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b77f6ca0a8_1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M_1 (1 - p^{(i)}_j)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\hat{z}^{(i)}_j \leq M_2 p^{(i)}_j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\hat{z}^{(i)}_j \leq z_j^{(i)}</a:t>
            </a:r>
          </a:p>
        </p:txBody>
      </p:sp>
    </p:spTree>
    <p:extLst>
      <p:ext uri="{BB962C8B-B14F-4D97-AF65-F5344CB8AC3E}">
        <p14:creationId xmlns:p14="http://schemas.microsoft.com/office/powerpoint/2010/main" val="17418974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b77f6ca0a8_1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b77f6ca0a8_1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b77f6ca0a8_1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b77f6ca0a8_1_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b77f6ca0a8_1_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b77f6ca0a8_1_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l_j^{(i)} := \min z_j^{(i)}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u_j^{(i)} := \max z_j^{(i)}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b77f6ca0a8_1_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b77f6ca0a8_1_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l_j^{(i)} := \min z_j^{(i)}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u_j^{(i)} := \max z_j^{(i)}</a:t>
            </a:r>
          </a:p>
        </p:txBody>
      </p:sp>
    </p:spTree>
    <p:extLst>
      <p:ext uri="{BB962C8B-B14F-4D97-AF65-F5344CB8AC3E}">
        <p14:creationId xmlns:p14="http://schemas.microsoft.com/office/powerpoint/2010/main" val="18510306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b77f6ca0a8_1_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b77f6ca0a8_1_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l_j</a:t>
            </a:r>
            <a:r>
              <a:rPr lang="en-GB" dirty="0"/>
              <a:t>^{(</a:t>
            </a:r>
            <a:r>
              <a:rPr lang="en-GB" dirty="0" err="1"/>
              <a:t>i</a:t>
            </a:r>
            <a:r>
              <a:rPr lang="en-GB" dirty="0"/>
              <a:t>)} := \min </a:t>
            </a:r>
            <a:r>
              <a:rPr lang="en-GB" dirty="0" err="1"/>
              <a:t>z_j</a:t>
            </a:r>
            <a:r>
              <a:rPr lang="en-GB" dirty="0"/>
              <a:t>^{(</a:t>
            </a:r>
            <a:r>
              <a:rPr lang="en-GB" dirty="0" err="1"/>
              <a:t>i</a:t>
            </a:r>
            <a:r>
              <a:rPr lang="en-GB" dirty="0"/>
              <a:t>)}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u_j</a:t>
            </a:r>
            <a:r>
              <a:rPr lang="en-GB" dirty="0"/>
              <a:t>^{(</a:t>
            </a:r>
            <a:r>
              <a:rPr lang="en-GB" dirty="0" err="1"/>
              <a:t>i</a:t>
            </a:r>
            <a:r>
              <a:rPr lang="en-GB" dirty="0"/>
              <a:t>)} := \max </a:t>
            </a:r>
            <a:r>
              <a:rPr lang="en-GB" dirty="0" err="1"/>
              <a:t>z_j</a:t>
            </a:r>
            <a:r>
              <a:rPr lang="en-GB" dirty="0"/>
              <a:t>^{(</a:t>
            </a:r>
            <a:r>
              <a:rPr lang="en-GB" dirty="0" err="1"/>
              <a:t>i</a:t>
            </a:r>
            <a:r>
              <a:rPr lang="en-GB" dirty="0"/>
              <a:t>)}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>
              <a:buFont typeface="+mj-lt"/>
              <a:buAutoNum type="arabicPeriod"/>
            </a:pPr>
            <a:r>
              <a:rPr lang="en-US" b="1" dirty="0"/>
              <a:t>Compute </a:t>
            </a:r>
            <a:r>
              <a:rPr lang="en-US" b="1" dirty="0" err="1"/>
              <a:t>preactivation</a:t>
            </a:r>
            <a:r>
              <a:rPr lang="en-US" b="1" dirty="0"/>
              <a:t> bounds per neuron (offline, before MILP).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interval propagation, LP relaxations, or stronger methods.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tighter the bounds, the stronger the MILP encoding (fewer useless branch-and-bounds).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Build the MILP</a:t>
            </a:r>
            <a:r>
              <a:rPr lang="en-US" dirty="0"/>
              <a:t> with those bounds “hard-coded” into the big-M constraints.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Solve the MILP once</a:t>
            </a:r>
            <a:r>
              <a:rPr lang="en-US" dirty="0"/>
              <a:t> with an optimizer (e.g., </a:t>
            </a:r>
            <a:r>
              <a:rPr lang="en-US" dirty="0" err="1"/>
              <a:t>Gurobi</a:t>
            </a:r>
            <a:r>
              <a:rPr lang="en-US" dirty="0"/>
              <a:t>, CPLEX, SCIP).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12844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b77f6ca0a8_1_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b77f6ca0a8_1_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l_j^{(i)} := \min z_j^{(i)}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u_j^{(i)} := \max z_j^{(i)}</a:t>
            </a:r>
          </a:p>
        </p:txBody>
      </p:sp>
    </p:spTree>
    <p:extLst>
      <p:ext uri="{BB962C8B-B14F-4D97-AF65-F5344CB8AC3E}">
        <p14:creationId xmlns:p14="http://schemas.microsoft.com/office/powerpoint/2010/main" val="31375180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b77f6ca0a8_1_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b77f6ca0a8_1_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l_j^{(i)} := \min z_j^{(i)}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u_j^{(i)} := \max z_j^{(i)}</a:t>
            </a:r>
          </a:p>
        </p:txBody>
      </p:sp>
    </p:spTree>
    <p:extLst>
      <p:ext uri="{BB962C8B-B14F-4D97-AF65-F5344CB8AC3E}">
        <p14:creationId xmlns:p14="http://schemas.microsoft.com/office/powerpoint/2010/main" val="16045445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b77f6ca0a8_1_8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b77f6ca0a8_1_8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b77f6ca0a8_1_1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b77f6ca0a8_1_1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Resume here.</a:t>
            </a: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b77f6ca0a8_1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b77f6ca0a8_1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b77f6ca0a8_1_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2b77f6ca0a8_1_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b77f6ca0a8_1_10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b77f6ca0a8_1_10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b77f6ca0a8_1_1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b77f6ca0a8_1_1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b77f6ca0a8_1_1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b77f6ca0a8_1_1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77f6ca0a8_1_1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77f6ca0a8_1_1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b77f6ca0a8_1_1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b77f6ca0a8_1_1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b8905ab013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b8905ab013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b8905ab01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b8905ab01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b8905ab013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b8905ab013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x_1 \in [-1, 2], \ x_2 \in [-2,1]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b8905ab013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b8905ab013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z_1 = x_1 - x_2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z_2 = 2x_1 - x_2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b8905ab013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b8905ab013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\underline{z}_1 = -1 - 1 = -2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\overline{z}_1 = 2 - (-2) = 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\overline{z}_2 = 2 \times 2 - (-2) = 6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b8905ab013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b8905ab013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\displaystyle \sum_{i \in \{i| w_i \geq 0\}} w_i l_i + \sum_{i \in \{i| w_i &lt; 0\}} w_i u_i \leq \sum_{i} w_i x_i \leq \sum_{i \in \{i| w_i \geq 0\}} w_i u_i + \sum_{i \in \{i| w_i &lt; 0\}} w_i l_i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b8905ab013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b8905ab013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z_1 \in [ -2, 4 ]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z_2 \in [ -3, 6 ]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b8905ab013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b8905ab013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b8905ab013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b8905ab013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b8905ab013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b8905ab013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b8905ab013_0_6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2b8905ab013_0_6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\geq x_1 - x_2 - (2x_1 - x_2)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b8905ab013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b8905ab013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\geq x_1 - x_2 - (2x_1 - x_2)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b8905ab013_0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b8905ab013_0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\geq x_1 - x_2 - (2x_1 - x_2)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b8905ab013_0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b8905ab013_0_7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\frac{2}{3}z_1 \leq \text{ReLU}(z_1) \leq \frac{2}{3} z_1 + \frac{4}{3}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b8905ab013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2b8905ab013_0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\frac{2}{3}z_2 \leq \text{ReLU}(z_2) \leq \frac{2}{3} z_2 + 2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b8905ab013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b8905ab013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\frac{2}{3}z_1 - \frac{2}{3} z_2 - 2 \leq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= \text{ReLU}(z_1) - \text{ReLU}(z_2)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\leq (\frac{2}{3}z_1</a:t>
            </a:r>
            <a:r>
              <a:rPr lang="en-GB">
                <a:solidFill>
                  <a:schemeClr val="dk1"/>
                </a:solidFill>
              </a:rPr>
              <a:t>+ \frac{4}{3})</a:t>
            </a:r>
            <a:r>
              <a:rPr lang="en-GB"/>
              <a:t> - \frac{2}{3} z_2  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b8905ab013_0_8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b8905ab013_0_8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\frac{2}{3}z_1 - (\frac{2}{3} z_2 + 2) \leq y \leq \frac{2}{3}z_1+ \frac{4}{3}) - \frac{2}{3} z_2  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b8905ab013_0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b8905ab013_0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\frac{2}{3}z_1 - (\frac{2}{3} z_2 + 2) \leq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= \text{ReLU}(z_1) - \text{ReLU}(z_2)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\leq \frac{2}{3}z_1 - (\frac{2}{3} z_2 + \frac{4}{3})  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b8905ab013_0_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b8905ab013_0_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\frac{2}{3}z_1 - (\frac{2}{3} z_2 + 2) \leq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= \text{ReLU}(z_1) - \text{ReLU}(z_2)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\leq \frac{2}{3}z_1 - (\frac{2}{3} z_2 + \frac{4}{3})  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8905ab013_0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8905ab013_0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z_1 \leq \text{ReLU}(z_1) \leq \frac{2}{3} z_1 + \frac{4}{3}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b8905ab013_0_9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b8905ab013_0_9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-\frac{1}{3} x_1 -\frac{1}{3} x_2 - 2\leq y \leq -\frac{4}{3} x_1 + \frac{1}{3} x_2 + \frac{4}{3}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b8905ab013_0_1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b8905ab013_0_1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-\frac{1}{3} x_1 -\frac{1}{3} x_2 - 2\leq y \leq -\frac{4}{3} x_1 + \frac{1}{3} x_2 + \frac{4}{3}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b8905ab013_0_1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b8905ab013_0_1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\frac{2}{3}z_2 \leq \text{ReLU}(z_2) \leq \frac{2}{3} z_2 + 2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b8905ab013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b8905ab013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b8905ab013_0_1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b8905ab013_0_1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\alpha_2 z_2 \leq \text{ReLU}(z_2) \leq \frac{2}{3} z_2 + 2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\alpha_1 z_2 \leq \text{ReLU}(z_2) \leq \frac{2}{3} z_2 + \frac{4}{3}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b8905ab013_0_1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b8905ab013_0_1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b8905ab013_0_1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b8905ab013_0_1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b8905ab013_0_1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b8905ab013_0_1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b8905ab013_0_1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b8905ab013_0_1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b8905ab013_0_1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b8905ab013_0_1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b8905ab013_0_1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b8905ab013_0_1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b8905ab013_0_1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b8905ab013_0_1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2b8905ab013_0_1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2b8905ab013_0_1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b8905ab013_0_18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b8905ab013_0_18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2b8905ab013_0_1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2b8905ab013_0_1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2b8905ab013_0_1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2b8905ab013_0_19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2b8905ab013_0_1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2b8905ab013_0_1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f(x) \geq a^\top W_2 z_2 + 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\displaystyle f(x) \geq \sum_{j} \left [ (a^\top W_2)_j \cdot z_{2,j} \right ] + 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(a^\top W_2)_j &lt; 0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2b8905ab013_0_20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2b8905ab013_0_20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b8905ab013_0_2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2b8905ab013_0_2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2b8905ab013_0_2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2b8905ab013_0_2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g2b8905ab013_0_2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8" name="Google Shape;2028;g2b8905ab013_0_2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2b77f6ca0a8_1_1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2b77f6ca0a8_1_1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z_j^{(i)} - l_j^{(i)} (1 - p^{(i)}_j)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\hat{z}^{(i)}_j \leq u^{(i)}_j p^{(i)}_j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\leq \frac{\hat{z}^{(i)}_j - z_j^{(i)} + l_j^{(i)}}{l_j^{(i)}}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p^{(i)}_j \geq \frac{\hat{z}^{(i)}_j}{u_j^{(i)}}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\hat{z}_j^{(i)} \leq \frac{u_j^{(i)}}{u_j^{(i)}-l_j^{(i)}} z_j^{(i)} - \frac{u_j^{(i)}l_j^{(i)}}{u_j^{(i)} - l_j^{(i)}}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942b4bc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6942b4bc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6942b4bc3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6942b4bc3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6942b4bc3c_0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6942b4bc3c_0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6942b4bc3c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6942b4bc3c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6942b4bc3c_0_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6942b4bc3c_0_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6942b4bc3c_0_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6942b4bc3c_0_8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6942b4bc3c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6942b4bc3c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694518d9d8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694518d9d8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6942b4bc3c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6942b4bc3c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S_3 \cup S_4 \cup S_2 = S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6942b4bc3c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6942b4bc3c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6942b4bc3c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6942b4bc3c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6942b4bc3c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26942b4bc3c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6942b4bc3c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6942b4bc3c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6942b4bc3c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26942b4bc3c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6942b4bc3c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6942b4bc3c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6942b4bc3c_0_1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26942b4bc3c_0_1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6942b4bc3c_0_1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26942b4bc3c_0_1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6942b4bc3c_0_1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6942b4bc3c_0_1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6942b4bc3c_0_1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6942b4bc3c_0_1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694518d9d8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694518d9d8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694518d9d8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694518d9d8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694518d9d8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694518d9d8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\displaystyle \min_{x_1, x_2} -\frac{4}{3}x_1 + \frac{2}{3}x_2 - 2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694518d9d8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694518d9d8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694518d9d8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694518d9d8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694518d9d8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694518d9d8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\geq -\frac{2}{3}z_2 - 2 + \beta z_1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694518d9d8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694518d9d8_1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\geq (\beta - \frac{4}{3}) x_1 + (\frac{2}{3} - \beta) x_2 - 2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694518d9d8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694518d9d8_1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 \leq \beta \leq \frac{2}{3}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\frac{2}{3} \leq \beta \leq \frac{4}{3}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\beta \geq \frac{4}{3}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694518d9d8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694518d9d8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\geq (\beta - \frac{4}{3}) \cdot 2 + (\frac{2}{3} - \beta) \cdot (-2) - 2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\geq (\beta - \frac{4}{3}) \cdot 2 + (\frac{2}{3} - \beta) \cdot 1 - 2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 \geq (\beta - \frac{4}{3}) \cdot (-1) + (\frac{2}{3} - \beta) \cdot 1 - 2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694518d9d8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694518d9d8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\displaystyle \min_{x_1, x_2} -\frac{4}{3}x_1 + \frac{2}{3}x_2 - 2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694518d9d8_1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694518d9d8_1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694518d9d8_1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694518d9d8_1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6942b4bc3c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6942b4bc3c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6942b4bc3c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6942b4bc3c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Traditional theory often have strong assumptions, and if neural network is used, you often can hardly get formal guarantees.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 beyond just neural networks, applying verification to more general settings!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3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EF72-8FCF-AD49-A29F-EEF80E6CE4D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53732-753D-0646-8EE7-BFF50FC4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55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5">
  <p:cSld name="Title and body 5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2574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7">
  <p:cSld name="Title and body 7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606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 and body 6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71003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8">
  <p:cSld name="Title and body 8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/>
          <p:nvPr/>
        </p:nvSpPr>
        <p:spPr>
          <a:xfrm>
            <a:off x="0" y="228600"/>
            <a:ext cx="91440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84525"/>
              </a:buClr>
              <a:buSzPts val="3000"/>
              <a:buNone/>
              <a:defRPr sz="3000">
                <a:solidFill>
                  <a:srgbClr val="F8452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1950" rtl="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97" name="Google Shape;97;p20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335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itras@Illinoi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search/cs?searchtype=author&amp;query=Kochenderfer,+M" TargetMode="External"/><Relationship Id="rId3" Type="http://schemas.openxmlformats.org/officeDocument/2006/relationships/image" Target="../media/image49.png"/><Relationship Id="rId7" Type="http://schemas.openxmlformats.org/officeDocument/2006/relationships/hyperlink" Target="https://arxiv.org/search/cs?searchtype=author&amp;query=Julian,+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arxiv.org/search/cs?searchtype=author&amp;query=Dill,+D" TargetMode="External"/><Relationship Id="rId5" Type="http://schemas.openxmlformats.org/officeDocument/2006/relationships/hyperlink" Target="https://arxiv.org/search/cs?searchtype=author&amp;query=Barrett,+C" TargetMode="External"/><Relationship Id="rId4" Type="http://schemas.openxmlformats.org/officeDocument/2006/relationships/hyperlink" Target="https://arxiv.org/search/cs?searchtype=author&amp;query=Katz,+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6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6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8.png"/><Relationship Id="rId10" Type="http://schemas.openxmlformats.org/officeDocument/2006/relationships/image" Target="../media/image55.png"/><Relationship Id="rId4" Type="http://schemas.openxmlformats.org/officeDocument/2006/relationships/image" Target="../media/image47.png"/><Relationship Id="rId9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67.png"/><Relationship Id="rId4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8.png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47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4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2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70.png"/><Relationship Id="rId4" Type="http://schemas.openxmlformats.org/officeDocument/2006/relationships/image" Target="../media/image61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5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1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10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1.png"/><Relationship Id="rId9" Type="http://schemas.openxmlformats.org/officeDocument/2006/relationships/image" Target="../media/image8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10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7.png"/><Relationship Id="rId10" Type="http://schemas.openxmlformats.org/officeDocument/2006/relationships/image" Target="../media/image81.png"/><Relationship Id="rId4" Type="http://schemas.openxmlformats.org/officeDocument/2006/relationships/image" Target="../media/image1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10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66.xml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7.png"/><Relationship Id="rId10" Type="http://schemas.openxmlformats.org/officeDocument/2006/relationships/image" Target="../media/image81.png"/><Relationship Id="rId4" Type="http://schemas.openxmlformats.org/officeDocument/2006/relationships/image" Target="../media/image1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9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8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4.png"/><Relationship Id="rId3" Type="http://schemas.openxmlformats.org/officeDocument/2006/relationships/image" Target="../media/image10.png"/><Relationship Id="rId7" Type="http://schemas.openxmlformats.org/officeDocument/2006/relationships/image" Target="../media/image76.png"/><Relationship Id="rId12" Type="http://schemas.openxmlformats.org/officeDocument/2006/relationships/image" Target="../media/image83.png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69.xml"/><Relationship Id="rId16" Type="http://schemas.openxmlformats.org/officeDocument/2006/relationships/image" Target="../media/image8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png"/><Relationship Id="rId11" Type="http://schemas.openxmlformats.org/officeDocument/2006/relationships/image" Target="../media/image80.png"/><Relationship Id="rId5" Type="http://schemas.openxmlformats.org/officeDocument/2006/relationships/image" Target="../media/image82.png"/><Relationship Id="rId15" Type="http://schemas.openxmlformats.org/officeDocument/2006/relationships/image" Target="../media/image91.png"/><Relationship Id="rId10" Type="http://schemas.openxmlformats.org/officeDocument/2006/relationships/image" Target="../media/image79.png"/><Relationship Id="rId4" Type="http://schemas.openxmlformats.org/officeDocument/2006/relationships/image" Target="../media/image81.png"/><Relationship Id="rId9" Type="http://schemas.openxmlformats.org/officeDocument/2006/relationships/image" Target="../media/image78.png"/><Relationship Id="rId14" Type="http://schemas.openxmlformats.org/officeDocument/2006/relationships/image" Target="../media/image9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91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91.png"/><Relationship Id="rId9" Type="http://schemas.openxmlformats.org/officeDocument/2006/relationships/image" Target="../media/image94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0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9.png"/><Relationship Id="rId11" Type="http://schemas.openxmlformats.org/officeDocument/2006/relationships/image" Target="../media/image99.png"/><Relationship Id="rId5" Type="http://schemas.openxmlformats.org/officeDocument/2006/relationships/image" Target="../media/image88.png"/><Relationship Id="rId10" Type="http://schemas.openxmlformats.org/officeDocument/2006/relationships/image" Target="../media/image98.png"/><Relationship Id="rId4" Type="http://schemas.openxmlformats.org/officeDocument/2006/relationships/image" Target="../media/image91.png"/><Relationship Id="rId9" Type="http://schemas.openxmlformats.org/officeDocument/2006/relationships/image" Target="../media/image97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78.png"/><Relationship Id="rId1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1.png"/><Relationship Id="rId12" Type="http://schemas.openxmlformats.org/officeDocument/2006/relationships/image" Target="../media/image77.pn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73.xml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11" Type="http://schemas.openxmlformats.org/officeDocument/2006/relationships/image" Target="../media/image76.png"/><Relationship Id="rId5" Type="http://schemas.openxmlformats.org/officeDocument/2006/relationships/image" Target="../media/image10.png"/><Relationship Id="rId15" Type="http://schemas.openxmlformats.org/officeDocument/2006/relationships/image" Target="../media/image103.png"/><Relationship Id="rId10" Type="http://schemas.openxmlformats.org/officeDocument/2006/relationships/image" Target="../media/image79.png"/><Relationship Id="rId4" Type="http://schemas.openxmlformats.org/officeDocument/2006/relationships/image" Target="../media/image89.png"/><Relationship Id="rId9" Type="http://schemas.openxmlformats.org/officeDocument/2006/relationships/image" Target="../media/image102.png"/><Relationship Id="rId14" Type="http://schemas.openxmlformats.org/officeDocument/2006/relationships/image" Target="../media/image84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7.png"/><Relationship Id="rId3" Type="http://schemas.openxmlformats.org/officeDocument/2006/relationships/image" Target="../media/image101.png"/><Relationship Id="rId7" Type="http://schemas.openxmlformats.org/officeDocument/2006/relationships/image" Target="../media/image11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11" Type="http://schemas.openxmlformats.org/officeDocument/2006/relationships/image" Target="../media/image78.png"/><Relationship Id="rId5" Type="http://schemas.openxmlformats.org/officeDocument/2006/relationships/image" Target="../media/image10.png"/><Relationship Id="rId15" Type="http://schemas.openxmlformats.org/officeDocument/2006/relationships/image" Target="../media/image109.png"/><Relationship Id="rId10" Type="http://schemas.openxmlformats.org/officeDocument/2006/relationships/image" Target="../media/image77.png"/><Relationship Id="rId4" Type="http://schemas.openxmlformats.org/officeDocument/2006/relationships/image" Target="../media/image89.png"/><Relationship Id="rId9" Type="http://schemas.openxmlformats.org/officeDocument/2006/relationships/image" Target="../media/image76.png"/><Relationship Id="rId14" Type="http://schemas.openxmlformats.org/officeDocument/2006/relationships/image" Target="../media/image108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0.png"/><Relationship Id="rId5" Type="http://schemas.openxmlformats.org/officeDocument/2006/relationships/image" Target="../media/image11.png"/><Relationship Id="rId10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89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papercode.cc/AutoLiRPA-Demo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4.png"/><Relationship Id="rId5" Type="http://schemas.openxmlformats.org/officeDocument/2006/relationships/hyperlink" Target="http://papercode.cc/AutoLiRPA" TargetMode="External"/><Relationship Id="rId4" Type="http://schemas.openxmlformats.org/officeDocument/2006/relationships/image" Target="../media/image11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46.png"/><Relationship Id="rId4" Type="http://schemas.openxmlformats.org/officeDocument/2006/relationships/image" Target="../media/image48.png"/><Relationship Id="rId9" Type="http://schemas.openxmlformats.org/officeDocument/2006/relationships/image" Target="../media/image1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3.png"/><Relationship Id="rId4" Type="http://schemas.openxmlformats.org/officeDocument/2006/relationships/image" Target="../media/image46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2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70.png"/><Relationship Id="rId4" Type="http://schemas.openxmlformats.org/officeDocument/2006/relationships/image" Target="../media/image61.png"/><Relationship Id="rId9" Type="http://schemas.openxmlformats.org/officeDocument/2006/relationships/image" Target="../media/image115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9.png"/><Relationship Id="rId11" Type="http://schemas.openxmlformats.org/officeDocument/2006/relationships/image" Target="../media/image10.png"/><Relationship Id="rId5" Type="http://schemas.openxmlformats.org/officeDocument/2006/relationships/image" Target="../media/image118.png"/><Relationship Id="rId15" Type="http://schemas.openxmlformats.org/officeDocument/2006/relationships/image" Target="../media/image126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5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9" Type="http://schemas.openxmlformats.org/officeDocument/2006/relationships/image" Target="../media/image12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8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47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4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135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3.png"/><Relationship Id="rId4" Type="http://schemas.openxmlformats.org/officeDocument/2006/relationships/image" Target="../media/image4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4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3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4.png"/><Relationship Id="rId5" Type="http://schemas.openxmlformats.org/officeDocument/2006/relationships/image" Target="../media/image142.png"/><Relationship Id="rId4" Type="http://schemas.openxmlformats.org/officeDocument/2006/relationships/image" Target="../media/image4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46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8.png"/><Relationship Id="rId5" Type="http://schemas.openxmlformats.org/officeDocument/2006/relationships/image" Target="../media/image145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36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00" dirty="0"/>
              <a:t>Neural Network Verification</a:t>
            </a:r>
            <a:br>
              <a:rPr lang="en-GB" sz="3000" dirty="0"/>
            </a:br>
            <a:r>
              <a:rPr lang="en-GB" sz="3000" dirty="0"/>
              <a:t>Integer and Linear Programming Formulations</a:t>
            </a:r>
            <a:endParaRPr sz="3000"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6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Prof. Sayan Mitra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hlinkClick r:id="rId3"/>
              </a:rPr>
              <a:t>mitras@Illinois.edu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1"/>
          <p:cNvSpPr txBox="1">
            <a:spLocks noGrp="1"/>
          </p:cNvSpPr>
          <p:nvPr>
            <p:ph type="title"/>
          </p:nvPr>
        </p:nvSpPr>
        <p:spPr>
          <a:xfrm>
            <a:off x="65350" y="224420"/>
            <a:ext cx="87484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Review: Neural network verification as a satisfiability problem</a:t>
            </a:r>
          </a:p>
        </p:txBody>
      </p:sp>
      <p:sp>
        <p:nvSpPr>
          <p:cNvPr id="961" name="Google Shape;961;p51"/>
          <p:cNvSpPr txBox="1"/>
          <p:nvPr/>
        </p:nvSpPr>
        <p:spPr>
          <a:xfrm>
            <a:off x="4348375" y="1509425"/>
            <a:ext cx="6534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z</a:t>
            </a:r>
            <a:r>
              <a:rPr lang="en-GB" sz="1800" baseline="30000">
                <a:solidFill>
                  <a:schemeClr val="dk2"/>
                </a:solidFill>
              </a:rPr>
              <a:t>(2)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962" name="Google Shape;962;p51"/>
          <p:cNvGrpSpPr/>
          <p:nvPr/>
        </p:nvGrpSpPr>
        <p:grpSpPr>
          <a:xfrm>
            <a:off x="1251850" y="1852138"/>
            <a:ext cx="1691250" cy="1518400"/>
            <a:chOff x="949900" y="2149850"/>
            <a:chExt cx="1691250" cy="1518400"/>
          </a:xfrm>
        </p:grpSpPr>
        <p:grpSp>
          <p:nvGrpSpPr>
            <p:cNvPr id="963" name="Google Shape;963;p51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964" name="Google Shape;964;p51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51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51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51"/>
              <p:cNvSpPr/>
              <p:nvPr/>
            </p:nvSpPr>
            <p:spPr>
              <a:xfrm>
                <a:off x="2294125" y="23127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51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69" name="Google Shape;969;p51"/>
              <p:cNvCxnSpPr>
                <a:stCxn id="964" idx="6"/>
                <a:endCxn id="966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0" name="Google Shape;970;p51"/>
              <p:cNvCxnSpPr>
                <a:stCxn id="964" idx="6"/>
                <a:endCxn id="967" idx="2"/>
              </p:cNvCxnSpPr>
              <p:nvPr/>
            </p:nvCxnSpPr>
            <p:spPr>
              <a:xfrm>
                <a:off x="1498800" y="2080600"/>
                <a:ext cx="795300" cy="34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1" name="Google Shape;971;p51"/>
              <p:cNvCxnSpPr>
                <a:stCxn id="965" idx="6"/>
                <a:endCxn id="966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2" name="Google Shape;972;p51"/>
              <p:cNvCxnSpPr>
                <a:stCxn id="965" idx="6"/>
                <a:endCxn id="967" idx="2"/>
              </p:cNvCxnSpPr>
              <p:nvPr/>
            </p:nvCxnSpPr>
            <p:spPr>
              <a:xfrm rot="10800000" flipH="1">
                <a:off x="1498800" y="2428800"/>
                <a:ext cx="795300" cy="25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3" name="Google Shape;973;p51"/>
              <p:cNvCxnSpPr>
                <a:stCxn id="965" idx="6"/>
                <a:endCxn id="968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4" name="Google Shape;974;p51"/>
              <p:cNvCxnSpPr>
                <a:stCxn id="964" idx="6"/>
                <a:endCxn id="968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75" name="Google Shape;975;p51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976" name="Google Shape;976;p51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</p:grpSp>
      <p:grpSp>
        <p:nvGrpSpPr>
          <p:cNvPr id="977" name="Google Shape;977;p51"/>
          <p:cNvGrpSpPr/>
          <p:nvPr/>
        </p:nvGrpSpPr>
        <p:grpSpPr>
          <a:xfrm>
            <a:off x="5150088" y="1904825"/>
            <a:ext cx="1113500" cy="1465725"/>
            <a:chOff x="3458500" y="1732750"/>
            <a:chExt cx="1113500" cy="1465725"/>
          </a:xfrm>
        </p:grpSpPr>
        <p:sp>
          <p:nvSpPr>
            <p:cNvPr id="978" name="Google Shape;978;p51"/>
            <p:cNvSpPr/>
            <p:nvPr/>
          </p:nvSpPr>
          <p:spPr>
            <a:xfrm>
              <a:off x="3458500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51"/>
            <p:cNvSpPr/>
            <p:nvPr/>
          </p:nvSpPr>
          <p:spPr>
            <a:xfrm>
              <a:off x="3458500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51"/>
            <p:cNvSpPr/>
            <p:nvPr/>
          </p:nvSpPr>
          <p:spPr>
            <a:xfrm>
              <a:off x="3458500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51"/>
            <p:cNvSpPr/>
            <p:nvPr/>
          </p:nvSpPr>
          <p:spPr>
            <a:xfrm>
              <a:off x="4340100" y="229960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82" name="Google Shape;982;p51"/>
            <p:cNvCxnSpPr>
              <a:stCxn id="978" idx="6"/>
              <a:endCxn id="981" idx="2"/>
            </p:cNvCxnSpPr>
            <p:nvPr/>
          </p:nvCxnSpPr>
          <p:spPr>
            <a:xfrm>
              <a:off x="3690400" y="1848700"/>
              <a:ext cx="649800" cy="567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3" name="Google Shape;983;p51"/>
            <p:cNvCxnSpPr>
              <a:stCxn id="979" idx="6"/>
              <a:endCxn id="981" idx="2"/>
            </p:cNvCxnSpPr>
            <p:nvPr/>
          </p:nvCxnSpPr>
          <p:spPr>
            <a:xfrm rot="10800000" flipH="1">
              <a:off x="3690400" y="2415525"/>
              <a:ext cx="649800" cy="1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4" name="Google Shape;984;p51"/>
            <p:cNvCxnSpPr>
              <a:stCxn id="980" idx="6"/>
              <a:endCxn id="981" idx="2"/>
            </p:cNvCxnSpPr>
            <p:nvPr/>
          </p:nvCxnSpPr>
          <p:spPr>
            <a:xfrm rot="10800000" flipH="1">
              <a:off x="3690400" y="2415625"/>
              <a:ext cx="649800" cy="66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85" name="Google Shape;985;p51"/>
          <p:cNvGrpSpPr/>
          <p:nvPr/>
        </p:nvGrpSpPr>
        <p:grpSpPr>
          <a:xfrm>
            <a:off x="3559075" y="2020700"/>
            <a:ext cx="932400" cy="1233975"/>
            <a:chOff x="2526100" y="1848625"/>
            <a:chExt cx="932400" cy="1233975"/>
          </a:xfrm>
        </p:grpSpPr>
        <p:cxnSp>
          <p:nvCxnSpPr>
            <p:cNvPr id="986" name="Google Shape;986;p51"/>
            <p:cNvCxnSpPr/>
            <p:nvPr/>
          </p:nvCxnSpPr>
          <p:spPr>
            <a:xfrm>
              <a:off x="2526100" y="1848700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7" name="Google Shape;987;p51"/>
            <p:cNvCxnSpPr/>
            <p:nvPr/>
          </p:nvCxnSpPr>
          <p:spPr>
            <a:xfrm>
              <a:off x="2526100" y="2415550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8" name="Google Shape;988;p51"/>
            <p:cNvCxnSpPr/>
            <p:nvPr/>
          </p:nvCxnSpPr>
          <p:spPr>
            <a:xfrm>
              <a:off x="2526100" y="3082525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9" name="Google Shape;989;p51"/>
            <p:cNvCxnSpPr/>
            <p:nvPr/>
          </p:nvCxnSpPr>
          <p:spPr>
            <a:xfrm>
              <a:off x="2526100" y="1848825"/>
              <a:ext cx="932400" cy="57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0" name="Google Shape;990;p51"/>
            <p:cNvCxnSpPr/>
            <p:nvPr/>
          </p:nvCxnSpPr>
          <p:spPr>
            <a:xfrm>
              <a:off x="2526100" y="1848625"/>
              <a:ext cx="932400" cy="123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1" name="Google Shape;991;p51"/>
            <p:cNvCxnSpPr/>
            <p:nvPr/>
          </p:nvCxnSpPr>
          <p:spPr>
            <a:xfrm rot="10800000" flipH="1">
              <a:off x="2526100" y="1848700"/>
              <a:ext cx="932400" cy="57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2" name="Google Shape;992;p51"/>
            <p:cNvCxnSpPr/>
            <p:nvPr/>
          </p:nvCxnSpPr>
          <p:spPr>
            <a:xfrm rot="10800000" flipH="1">
              <a:off x="2526100" y="1848700"/>
              <a:ext cx="932400" cy="123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3" name="Google Shape;993;p51"/>
            <p:cNvCxnSpPr/>
            <p:nvPr/>
          </p:nvCxnSpPr>
          <p:spPr>
            <a:xfrm>
              <a:off x="2526100" y="2428825"/>
              <a:ext cx="932400" cy="65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4" name="Google Shape;994;p51"/>
            <p:cNvCxnSpPr/>
            <p:nvPr/>
          </p:nvCxnSpPr>
          <p:spPr>
            <a:xfrm rot="10800000" flipH="1">
              <a:off x="2526100" y="2428725"/>
              <a:ext cx="932400" cy="65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95" name="Google Shape;995;p51"/>
          <p:cNvGrpSpPr/>
          <p:nvPr/>
        </p:nvGrpSpPr>
        <p:grpSpPr>
          <a:xfrm>
            <a:off x="2608575" y="1502100"/>
            <a:ext cx="1306800" cy="1766950"/>
            <a:chOff x="2460350" y="1264125"/>
            <a:chExt cx="1306800" cy="1766950"/>
          </a:xfrm>
        </p:grpSpPr>
        <p:sp>
          <p:nvSpPr>
            <p:cNvPr id="996" name="Google Shape;996;p51"/>
            <p:cNvSpPr txBox="1"/>
            <p:nvPr/>
          </p:nvSpPr>
          <p:spPr>
            <a:xfrm>
              <a:off x="3113750" y="13022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1</a:t>
              </a:r>
              <a:r>
                <a:rPr lang="en-GB" sz="1800" baseline="30000">
                  <a:solidFill>
                    <a:srgbClr val="0000FF"/>
                  </a:solidFill>
                </a:rPr>
                <a:t>(1)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997" name="Google Shape;997;p51"/>
            <p:cNvSpPr txBox="1"/>
            <p:nvPr/>
          </p:nvSpPr>
          <p:spPr>
            <a:xfrm>
              <a:off x="3113750" y="18269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2</a:t>
              </a:r>
              <a:r>
                <a:rPr lang="en-GB" sz="1800" baseline="30000">
                  <a:solidFill>
                    <a:srgbClr val="0000FF"/>
                  </a:solidFill>
                </a:rPr>
                <a:t>(1)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998" name="Google Shape;998;p51"/>
            <p:cNvSpPr txBox="1"/>
            <p:nvPr/>
          </p:nvSpPr>
          <p:spPr>
            <a:xfrm>
              <a:off x="3113750" y="25039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rgbClr val="0000FF"/>
                  </a:solidFill>
                </a:rPr>
                <a:t>ẑ</a:t>
              </a:r>
              <a:r>
                <a:rPr lang="en-GB" sz="1800" baseline="-25000" dirty="0">
                  <a:solidFill>
                    <a:srgbClr val="0000FF"/>
                  </a:solidFill>
                </a:rPr>
                <a:t>3</a:t>
              </a:r>
              <a:r>
                <a:rPr lang="en-GB" sz="1800" baseline="30000" dirty="0">
                  <a:solidFill>
                    <a:srgbClr val="0000FF"/>
                  </a:solidFill>
                </a:rPr>
                <a:t>(1)</a:t>
              </a:r>
              <a:endParaRPr sz="1800" dirty="0">
                <a:solidFill>
                  <a:srgbClr val="0000FF"/>
                </a:solidFill>
              </a:endParaRPr>
            </a:p>
          </p:txBody>
        </p:sp>
        <p:sp>
          <p:nvSpPr>
            <p:cNvPr id="999" name="Google Shape;999;p51"/>
            <p:cNvSpPr txBox="1"/>
            <p:nvPr/>
          </p:nvSpPr>
          <p:spPr>
            <a:xfrm>
              <a:off x="2460350" y="24658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rgbClr val="FF0000"/>
                  </a:solidFill>
                </a:rPr>
                <a:t>z</a:t>
              </a:r>
              <a:r>
                <a:rPr lang="en-GB" sz="1800" baseline="-25000" dirty="0">
                  <a:solidFill>
                    <a:srgbClr val="FF0000"/>
                  </a:solidFill>
                </a:rPr>
                <a:t>3</a:t>
              </a:r>
              <a:r>
                <a:rPr lang="en-GB" sz="1800" baseline="30000" dirty="0">
                  <a:solidFill>
                    <a:srgbClr val="FF0000"/>
                  </a:solidFill>
                </a:rPr>
                <a:t>(1)</a:t>
              </a:r>
              <a:endParaRPr sz="1800" dirty="0">
                <a:solidFill>
                  <a:srgbClr val="FF0000"/>
                </a:solidFill>
              </a:endParaRPr>
            </a:p>
          </p:txBody>
        </p:sp>
        <p:sp>
          <p:nvSpPr>
            <p:cNvPr id="1000" name="Google Shape;1000;p51"/>
            <p:cNvSpPr txBox="1"/>
            <p:nvPr/>
          </p:nvSpPr>
          <p:spPr>
            <a:xfrm>
              <a:off x="2460350" y="17888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1001" name="Google Shape;1001;p51"/>
            <p:cNvSpPr txBox="1"/>
            <p:nvPr/>
          </p:nvSpPr>
          <p:spPr>
            <a:xfrm>
              <a:off x="2460350" y="12641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1002" name="Google Shape;1002;p51"/>
          <p:cNvGrpSpPr/>
          <p:nvPr/>
        </p:nvGrpSpPr>
        <p:grpSpPr>
          <a:xfrm>
            <a:off x="3327163" y="1904813"/>
            <a:ext cx="231900" cy="1465725"/>
            <a:chOff x="2294125" y="1732750"/>
            <a:chExt cx="231900" cy="1465725"/>
          </a:xfrm>
        </p:grpSpPr>
        <p:sp>
          <p:nvSpPr>
            <p:cNvPr id="1003" name="Google Shape;1003;p51"/>
            <p:cNvSpPr/>
            <p:nvPr/>
          </p:nvSpPr>
          <p:spPr>
            <a:xfrm>
              <a:off x="2294125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51"/>
            <p:cNvSpPr/>
            <p:nvPr/>
          </p:nvSpPr>
          <p:spPr>
            <a:xfrm>
              <a:off x="2294125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51"/>
            <p:cNvSpPr/>
            <p:nvPr/>
          </p:nvSpPr>
          <p:spPr>
            <a:xfrm>
              <a:off x="2294125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6" name="Google Shape;1006;p51"/>
          <p:cNvGrpSpPr/>
          <p:nvPr/>
        </p:nvGrpSpPr>
        <p:grpSpPr>
          <a:xfrm>
            <a:off x="4466063" y="1904825"/>
            <a:ext cx="231900" cy="1465725"/>
            <a:chOff x="2294125" y="1732750"/>
            <a:chExt cx="231900" cy="1465725"/>
          </a:xfrm>
        </p:grpSpPr>
        <p:sp>
          <p:nvSpPr>
            <p:cNvPr id="1007" name="Google Shape;1007;p51"/>
            <p:cNvSpPr/>
            <p:nvPr/>
          </p:nvSpPr>
          <p:spPr>
            <a:xfrm>
              <a:off x="2294125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51"/>
            <p:cNvSpPr/>
            <p:nvPr/>
          </p:nvSpPr>
          <p:spPr>
            <a:xfrm>
              <a:off x="2294125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51"/>
            <p:cNvSpPr/>
            <p:nvPr/>
          </p:nvSpPr>
          <p:spPr>
            <a:xfrm>
              <a:off x="2294125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10" name="Google Shape;1010;p51"/>
          <p:cNvCxnSpPr>
            <a:stCxn id="966" idx="6"/>
            <a:endCxn id="1003" idx="2"/>
          </p:cNvCxnSpPr>
          <p:nvPr/>
        </p:nvCxnSpPr>
        <p:spPr>
          <a:xfrm>
            <a:off x="2943100" y="2020763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1" name="Google Shape;1011;p51"/>
          <p:cNvCxnSpPr>
            <a:stCxn id="967" idx="6"/>
            <a:endCxn id="1004" idx="2"/>
          </p:cNvCxnSpPr>
          <p:nvPr/>
        </p:nvCxnSpPr>
        <p:spPr>
          <a:xfrm>
            <a:off x="2943100" y="2600788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2" name="Google Shape;1012;p51"/>
          <p:cNvCxnSpPr>
            <a:stCxn id="968" idx="6"/>
            <a:endCxn id="1005" idx="2"/>
          </p:cNvCxnSpPr>
          <p:nvPr/>
        </p:nvCxnSpPr>
        <p:spPr>
          <a:xfrm>
            <a:off x="2943100" y="3254588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3" name="Google Shape;1013;p51"/>
          <p:cNvCxnSpPr>
            <a:stCxn id="1007" idx="6"/>
            <a:endCxn id="978" idx="2"/>
          </p:cNvCxnSpPr>
          <p:nvPr/>
        </p:nvCxnSpPr>
        <p:spPr>
          <a:xfrm>
            <a:off x="4697963" y="2020775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4" name="Google Shape;1014;p51"/>
          <p:cNvCxnSpPr>
            <a:stCxn id="1008" idx="6"/>
            <a:endCxn id="979" idx="2"/>
          </p:cNvCxnSpPr>
          <p:nvPr/>
        </p:nvCxnSpPr>
        <p:spPr>
          <a:xfrm>
            <a:off x="4697963" y="2600800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5" name="Google Shape;1015;p51"/>
          <p:cNvCxnSpPr>
            <a:stCxn id="1009" idx="6"/>
            <a:endCxn id="980" idx="2"/>
          </p:cNvCxnSpPr>
          <p:nvPr/>
        </p:nvCxnSpPr>
        <p:spPr>
          <a:xfrm>
            <a:off x="4697963" y="3254600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6" name="Google Shape;1016;p51"/>
          <p:cNvSpPr txBox="1"/>
          <p:nvPr/>
        </p:nvSpPr>
        <p:spPr>
          <a:xfrm>
            <a:off x="5096225" y="1509413"/>
            <a:ext cx="6534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ẑ</a:t>
            </a:r>
            <a:r>
              <a:rPr lang="en-GB" sz="1800" baseline="30000">
                <a:solidFill>
                  <a:schemeClr val="dk1"/>
                </a:solidFill>
              </a:rPr>
              <a:t>(2)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17" name="Google Shape;1017;p51"/>
          <p:cNvSpPr txBox="1"/>
          <p:nvPr/>
        </p:nvSpPr>
        <p:spPr>
          <a:xfrm>
            <a:off x="6263625" y="2292725"/>
            <a:ext cx="85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y=f(x)</a:t>
            </a:r>
          </a:p>
        </p:txBody>
      </p:sp>
      <p:sp>
        <p:nvSpPr>
          <p:cNvPr id="1018" name="Google Shape;1018;p51"/>
          <p:cNvSpPr txBox="1"/>
          <p:nvPr/>
        </p:nvSpPr>
        <p:spPr>
          <a:xfrm>
            <a:off x="197625" y="3542599"/>
            <a:ext cx="6128700" cy="1098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595959"/>
                </a:solidFill>
              </a:rPr>
              <a:t>To verify for all x ∈ S,    y &gt; 0  ∧  y = f(x) we solve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595959"/>
                </a:solidFill>
              </a:rPr>
              <a:t>Does there exist x, </a:t>
            </a:r>
            <a:r>
              <a:rPr lang="en-GB" sz="2000" dirty="0" err="1">
                <a:solidFill>
                  <a:srgbClr val="595959"/>
                </a:solidFill>
              </a:rPr>
              <a:t>s.t.</a:t>
            </a:r>
            <a:r>
              <a:rPr lang="en-GB" sz="2000" dirty="0">
                <a:solidFill>
                  <a:srgbClr val="595959"/>
                </a:solidFill>
              </a:rPr>
              <a:t>  x ∈ S  ∧  y ≤ 0  ∧  y = f(x) </a:t>
            </a:r>
            <a:endParaRPr sz="2000" dirty="0">
              <a:solidFill>
                <a:srgbClr val="595959"/>
              </a:solidFill>
            </a:endParaRPr>
          </a:p>
        </p:txBody>
      </p:sp>
      <p:sp>
        <p:nvSpPr>
          <p:cNvPr id="1019" name="Google Shape;1019;p51"/>
          <p:cNvSpPr txBox="1"/>
          <p:nvPr/>
        </p:nvSpPr>
        <p:spPr>
          <a:xfrm>
            <a:off x="3717113" y="4466659"/>
            <a:ext cx="241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Negation of the desired property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020" name="Google Shape;1020;p51"/>
          <p:cNvSpPr txBox="1"/>
          <p:nvPr/>
        </p:nvSpPr>
        <p:spPr>
          <a:xfrm>
            <a:off x="5934764" y="4147280"/>
            <a:ext cx="180171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Defines the neural network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021" name="Google Shape;1021;p51"/>
          <p:cNvSpPr txBox="1"/>
          <p:nvPr/>
        </p:nvSpPr>
        <p:spPr>
          <a:xfrm>
            <a:off x="911579" y="4485122"/>
            <a:ext cx="241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Input domain under consideration</a:t>
            </a: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022" name="Google Shape;1022;p51"/>
          <p:cNvCxnSpPr>
            <a:cxnSpLocks/>
            <a:stCxn id="1021" idx="0"/>
          </p:cNvCxnSpPr>
          <p:nvPr/>
        </p:nvCxnSpPr>
        <p:spPr>
          <a:xfrm flipV="1">
            <a:off x="2118479" y="4265637"/>
            <a:ext cx="1090758" cy="21948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3" name="Google Shape;1023;p51"/>
          <p:cNvCxnSpPr>
            <a:cxnSpLocks/>
          </p:cNvCxnSpPr>
          <p:nvPr/>
        </p:nvCxnSpPr>
        <p:spPr>
          <a:xfrm flipH="1" flipV="1">
            <a:off x="4229939" y="4319556"/>
            <a:ext cx="177861" cy="20629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4" name="Google Shape;1024;p51"/>
          <p:cNvCxnSpPr/>
          <p:nvPr/>
        </p:nvCxnSpPr>
        <p:spPr>
          <a:xfrm rot="10800000">
            <a:off x="5819639" y="4146155"/>
            <a:ext cx="1132500" cy="17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25" name="Google Shape;1025;p51"/>
          <p:cNvPicPr preferRelativeResize="0"/>
          <p:nvPr/>
        </p:nvPicPr>
        <p:blipFill rotWithShape="1">
          <a:blip r:embed="rId3"/>
          <a:srcRect l="14039" t="9153" r="55651" b="45213"/>
          <a:stretch>
            <a:fillRect/>
          </a:stretch>
        </p:blipFill>
        <p:spPr>
          <a:xfrm>
            <a:off x="65350" y="2149108"/>
            <a:ext cx="653399" cy="6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51"/>
          <p:cNvSpPr/>
          <p:nvPr/>
        </p:nvSpPr>
        <p:spPr>
          <a:xfrm>
            <a:off x="326074" y="2577622"/>
            <a:ext cx="184200" cy="90900"/>
          </a:xfrm>
          <a:prstGeom prst="rect">
            <a:avLst/>
          </a:prstGeom>
          <a:gradFill>
            <a:gsLst>
              <a:gs pos="0">
                <a:srgbClr val="FFFF00"/>
              </a:gs>
              <a:gs pos="100000">
                <a:srgbClr val="4A86E8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FF00"/>
              </a:solidFill>
            </a:endParaRPr>
          </a:p>
        </p:txBody>
      </p:sp>
      <p:grpSp>
        <p:nvGrpSpPr>
          <p:cNvPr id="1027" name="Google Shape;1027;p51"/>
          <p:cNvGrpSpPr/>
          <p:nvPr/>
        </p:nvGrpSpPr>
        <p:grpSpPr>
          <a:xfrm>
            <a:off x="7118059" y="1335925"/>
            <a:ext cx="1427550" cy="1873725"/>
            <a:chOff x="5659759" y="914325"/>
            <a:chExt cx="1427550" cy="1873725"/>
          </a:xfrm>
        </p:grpSpPr>
        <p:grpSp>
          <p:nvGrpSpPr>
            <p:cNvPr id="1028" name="Google Shape;1028;p51"/>
            <p:cNvGrpSpPr/>
            <p:nvPr/>
          </p:nvGrpSpPr>
          <p:grpSpPr>
            <a:xfrm>
              <a:off x="6177300" y="1265650"/>
              <a:ext cx="791100" cy="776775"/>
              <a:chOff x="5901775" y="3443650"/>
              <a:chExt cx="791100" cy="776775"/>
            </a:xfrm>
          </p:grpSpPr>
          <p:cxnSp>
            <p:nvCxnSpPr>
              <p:cNvPr id="1029" name="Google Shape;1029;p51"/>
              <p:cNvCxnSpPr/>
              <p:nvPr/>
            </p:nvCxnSpPr>
            <p:spPr>
              <a:xfrm>
                <a:off x="5901775" y="3443650"/>
                <a:ext cx="7911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0" name="Google Shape;1030;p51"/>
              <p:cNvCxnSpPr/>
              <p:nvPr/>
            </p:nvCxnSpPr>
            <p:spPr>
              <a:xfrm>
                <a:off x="5921600" y="4220425"/>
                <a:ext cx="771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1" name="Google Shape;1031;p51"/>
              <p:cNvCxnSpPr/>
              <p:nvPr/>
            </p:nvCxnSpPr>
            <p:spPr>
              <a:xfrm>
                <a:off x="6097825" y="3451325"/>
                <a:ext cx="0" cy="76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1032" name="Google Shape;1032;p51"/>
            <p:cNvSpPr txBox="1"/>
            <p:nvPr/>
          </p:nvSpPr>
          <p:spPr>
            <a:xfrm>
              <a:off x="6265609" y="2203050"/>
              <a:ext cx="8217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000000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Speed Limit</a:t>
              </a:r>
              <a:endParaRPr sz="13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grpSp>
          <p:nvGrpSpPr>
            <p:cNvPr id="1033" name="Google Shape;1033;p51"/>
            <p:cNvGrpSpPr/>
            <p:nvPr/>
          </p:nvGrpSpPr>
          <p:grpSpPr>
            <a:xfrm>
              <a:off x="5719109" y="1258075"/>
              <a:ext cx="1005412" cy="1346825"/>
              <a:chOff x="551310" y="2116700"/>
              <a:chExt cx="897850" cy="1346825"/>
            </a:xfrm>
          </p:grpSpPr>
          <p:sp>
            <p:nvSpPr>
              <p:cNvPr id="1034" name="Google Shape;1034;p51"/>
              <p:cNvSpPr/>
              <p:nvPr/>
            </p:nvSpPr>
            <p:spPr>
              <a:xfrm>
                <a:off x="1263460" y="2906705"/>
                <a:ext cx="185700" cy="165000"/>
              </a:xfrm>
              <a:prstGeom prst="rect">
                <a:avLst/>
              </a:pr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5" name="Google Shape;1035;p51"/>
              <p:cNvGrpSpPr/>
              <p:nvPr/>
            </p:nvGrpSpPr>
            <p:grpSpPr>
              <a:xfrm>
                <a:off x="551310" y="2116700"/>
                <a:ext cx="644100" cy="1346825"/>
                <a:chOff x="551310" y="2116700"/>
                <a:chExt cx="644100" cy="1346825"/>
              </a:xfrm>
            </p:grpSpPr>
            <p:sp>
              <p:nvSpPr>
                <p:cNvPr id="1036" name="Google Shape;1036;p51"/>
                <p:cNvSpPr/>
                <p:nvPr/>
              </p:nvSpPr>
              <p:spPr>
                <a:xfrm>
                  <a:off x="780510" y="2116700"/>
                  <a:ext cx="185700" cy="961800"/>
                </a:xfrm>
                <a:prstGeom prst="rect">
                  <a:avLst/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7" name="Google Shape;1037;p51"/>
                <p:cNvSpPr txBox="1"/>
                <p:nvPr/>
              </p:nvSpPr>
              <p:spPr>
                <a:xfrm>
                  <a:off x="551310" y="3078625"/>
                  <a:ext cx="644100" cy="384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300" b="1">
                      <a:solidFill>
                        <a:srgbClr val="000000"/>
                      </a:solidFill>
                      <a:latin typeface="Georgia" panose="02040502050405020303"/>
                      <a:ea typeface="Georgia" panose="02040502050405020303"/>
                      <a:cs typeface="Georgia" panose="02040502050405020303"/>
                      <a:sym typeface="Georgia" panose="02040502050405020303"/>
                    </a:rPr>
                    <a:t>Stop</a:t>
                  </a:r>
                  <a:endParaRPr sz="1300">
                    <a:latin typeface="Georgia" panose="02040502050405020303"/>
                    <a:ea typeface="Georgia" panose="02040502050405020303"/>
                    <a:cs typeface="Georgia" panose="02040502050405020303"/>
                    <a:sym typeface="Georgia" panose="02040502050405020303"/>
                  </a:endParaRPr>
                </a:p>
              </p:txBody>
            </p:sp>
          </p:grpSp>
        </p:grpSp>
        <p:sp>
          <p:nvSpPr>
            <p:cNvPr id="1038" name="Google Shape;1038;p51"/>
            <p:cNvSpPr txBox="1"/>
            <p:nvPr/>
          </p:nvSpPr>
          <p:spPr>
            <a:xfrm>
              <a:off x="5659759" y="914325"/>
              <a:ext cx="78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0.9</a:t>
              </a:r>
              <a:endParaRPr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sp>
          <p:nvSpPr>
            <p:cNvPr id="1039" name="Google Shape;1039;p51"/>
            <p:cNvSpPr txBox="1"/>
            <p:nvPr/>
          </p:nvSpPr>
          <p:spPr>
            <a:xfrm>
              <a:off x="6278174" y="1706363"/>
              <a:ext cx="72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0.1</a:t>
              </a:r>
              <a:endParaRPr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pic>
        <p:nvPicPr>
          <p:cNvPr id="2" name="Google Shape;943;p49">
            <a:extLst>
              <a:ext uri="{FF2B5EF4-FFF2-40B4-BE49-F238E27FC236}">
                <a16:creationId xmlns:a16="http://schemas.microsoft.com/office/drawing/2014/main" id="{1E99D9BC-FFFF-22D9-3342-44B6B7F4B62B}"/>
              </a:ext>
            </a:extLst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31150" y="3191926"/>
            <a:ext cx="1002725" cy="78389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6F5C47-B9DC-5EF6-9D74-ED5562BF51EE}"/>
                  </a:ext>
                </a:extLst>
              </p:cNvPr>
              <p:cNvSpPr txBox="1"/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6F5C47-B9DC-5EF6-9D74-ED5562BF5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blipFill>
                <a:blip r:embed="rId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998;p51">
                <a:extLst>
                  <a:ext uri="{FF2B5EF4-FFF2-40B4-BE49-F238E27FC236}">
                    <a16:creationId xmlns:a16="http://schemas.microsoft.com/office/drawing/2014/main" id="{2EA269C8-BE8E-9D54-40FC-95FB6EFF61D8}"/>
                  </a:ext>
                </a:extLst>
              </p:cNvPr>
              <p:cNvSpPr txBox="1"/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sz="12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5" name="Google Shape;998;p51">
                <a:extLst>
                  <a:ext uri="{FF2B5EF4-FFF2-40B4-BE49-F238E27FC236}">
                    <a16:creationId xmlns:a16="http://schemas.microsoft.com/office/drawing/2014/main" id="{2EA269C8-BE8E-9D54-40FC-95FB6EFF6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8" grpId="0"/>
      <p:bldP spid="1019" grpId="0"/>
      <p:bldP spid="1020" grpId="0"/>
      <p:bldP spid="10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0"/>
          <p:cNvSpPr/>
          <p:nvPr/>
        </p:nvSpPr>
        <p:spPr>
          <a:xfrm>
            <a:off x="912725" y="1637050"/>
            <a:ext cx="6741300" cy="15174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49" name="Google Shape;949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Verification of neural networks</a:t>
            </a:r>
          </a:p>
        </p:txBody>
      </p:sp>
      <p:sp>
        <p:nvSpPr>
          <p:cNvPr id="950" name="Google Shape;950;p50"/>
          <p:cNvSpPr txBox="1"/>
          <p:nvPr/>
        </p:nvSpPr>
        <p:spPr>
          <a:xfrm>
            <a:off x="939525" y="1017713"/>
            <a:ext cx="6531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Satisfiability problem: ∃ x ∈ S  ∧  y ≤ 0  ∧  y = f(x) </a:t>
            </a:r>
            <a:endParaRPr sz="2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1" name="Google Shape;951;p50"/>
          <p:cNvSpPr txBox="1"/>
          <p:nvPr/>
        </p:nvSpPr>
        <p:spPr>
          <a:xfrm>
            <a:off x="939525" y="2042425"/>
            <a:ext cx="754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((z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 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≥ 0 ∧ ẑ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 z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r>
              <a:rPr lang="en-GB" sz="1800">
                <a:solidFill>
                  <a:srgbClr val="BD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∨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(z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0 ∧ ẑ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 0))  for each ReLU neuron</a:t>
            </a:r>
            <a:endParaRPr sz="180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2" name="Google Shape;952;p50"/>
          <p:cNvSpPr txBox="1"/>
          <p:nvPr/>
        </p:nvSpPr>
        <p:spPr>
          <a:xfrm>
            <a:off x="939525" y="2646500"/>
            <a:ext cx="7164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z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=W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(1)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x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     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z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(2)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=W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(2)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ẑ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(1)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y=w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(3)T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ẑ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(2)  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   y ≤ 0 </a:t>
            </a:r>
            <a:endParaRPr sz="2100" baseline="30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3" name="Google Shape;953;p50"/>
          <p:cNvSpPr txBox="1"/>
          <p:nvPr/>
        </p:nvSpPr>
        <p:spPr>
          <a:xfrm>
            <a:off x="939525" y="3254913"/>
            <a:ext cx="6531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Add all clauses to the formula and solve using DPLL(T) with Linear Real Arithmetic.</a:t>
            </a:r>
            <a:endParaRPr sz="2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4" name="Google Shape;954;p50"/>
          <p:cNvSpPr txBox="1"/>
          <p:nvPr/>
        </p:nvSpPr>
        <p:spPr>
          <a:xfrm>
            <a:off x="939525" y="3998063"/>
            <a:ext cx="65313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 general this is very slow! </a:t>
            </a:r>
            <a:endParaRPr sz="20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5" name="Google Shape;955;p50"/>
          <p:cNvSpPr txBox="1"/>
          <p:nvPr/>
        </p:nvSpPr>
        <p:spPr>
          <a:xfrm>
            <a:off x="957125" y="1565450"/>
            <a:ext cx="54135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x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≤ u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 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 x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18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≥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l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 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each dimension of x</a:t>
            </a:r>
            <a:endParaRPr sz="180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aseline="-25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Google Shape;943;p49">
            <a:extLst>
              <a:ext uri="{FF2B5EF4-FFF2-40B4-BE49-F238E27FC236}">
                <a16:creationId xmlns:a16="http://schemas.microsoft.com/office/drawing/2014/main" id="{3DA676A5-91F2-44ED-39C0-AB1DFDDA06CE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31150" y="3191926"/>
            <a:ext cx="1002725" cy="78389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EF5B0C-588F-E8DD-5C0C-A7EA29447A28}"/>
                  </a:ext>
                </a:extLst>
              </p:cNvPr>
              <p:cNvSpPr txBox="1"/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EF5B0C-588F-E8DD-5C0C-A7EA29447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blipFill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998;p51">
                <a:extLst>
                  <a:ext uri="{FF2B5EF4-FFF2-40B4-BE49-F238E27FC236}">
                    <a16:creationId xmlns:a16="http://schemas.microsoft.com/office/drawing/2014/main" id="{90289886-8EAD-4ACB-60C3-40D5D1584001}"/>
                  </a:ext>
                </a:extLst>
              </p:cNvPr>
              <p:cNvSpPr txBox="1"/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sz="12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4" name="Google Shape;998;p51">
                <a:extLst>
                  <a:ext uri="{FF2B5EF4-FFF2-40B4-BE49-F238E27FC236}">
                    <a16:creationId xmlns:a16="http://schemas.microsoft.com/office/drawing/2014/main" id="{90289886-8EAD-4ACB-60C3-40D5D1584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139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Reluplex</a:t>
            </a:r>
            <a:r>
              <a:rPr lang="en-US" dirty="0"/>
              <a:t>: Decision Procedure for </a:t>
            </a:r>
            <a:r>
              <a:rPr lang="en-US" dirty="0" err="1"/>
              <a:t>ReLU</a:t>
            </a:r>
            <a:r>
              <a:rPr lang="en-US" dirty="0"/>
              <a:t> 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Input: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in </a:t>
                </a:r>
                <a:r>
                  <a:rPr lang="en-US" dirty="0" err="1"/>
                  <a:t>Reluplex</a:t>
                </a:r>
                <a:r>
                  <a:rPr lang="en-US" dirty="0"/>
                  <a:t> form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Delay case splitting on </a:t>
                </a:r>
                <a:r>
                  <a:rPr lang="en-US" dirty="0" err="1"/>
                  <a:t>ReLUs</a:t>
                </a:r>
                <a:endParaRPr lang="en-US" dirty="0"/>
              </a:p>
              <a:p>
                <a:r>
                  <a:rPr lang="en-US" dirty="0"/>
                  <a:t>In the worst case it is still exponential, but has been shown to be empirically better than DPLL</a:t>
                </a:r>
                <a:r>
                  <a:rPr lang="en-US" baseline="30000" dirty="0"/>
                  <a:t>LRA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6F68BD8-7DDE-5C58-E4A9-E5D433B0C613}"/>
              </a:ext>
            </a:extLst>
          </p:cNvPr>
          <p:cNvSpPr txBox="1"/>
          <p:nvPr/>
        </p:nvSpPr>
        <p:spPr>
          <a:xfrm>
            <a:off x="311700" y="4487334"/>
            <a:ext cx="524053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i="0" dirty="0" err="1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Reluplex</a:t>
            </a:r>
            <a:r>
              <a:rPr lang="en-US" sz="1100" b="1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: An Efficient SMT Solver for Verifying Deep Neural Networks</a:t>
            </a:r>
          </a:p>
          <a:p>
            <a:pPr algn="l"/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4"/>
              </a:rPr>
              <a:t>Guy Katz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, 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5"/>
              </a:rPr>
              <a:t>Clark Barrett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, 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6"/>
              </a:rPr>
              <a:t>David Dill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, 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7"/>
              </a:rPr>
              <a:t>Kyle Julian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, 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8"/>
              </a:rPr>
              <a:t>Mykel Kochenderfer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, 2017</a:t>
            </a:r>
            <a:endParaRPr lang="en-US" sz="1100" b="0" i="0" dirty="0">
              <a:solidFill>
                <a:srgbClr val="000000"/>
              </a:solidFill>
              <a:effectLst/>
              <a:latin typeface="Lucida Grande" panose="020B0600040502020204" pitchFamily="34" charset="0"/>
            </a:endParaRPr>
          </a:p>
          <a:p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Reluplex</a:t>
            </a:r>
            <a:r>
              <a:rPr lang="en-US" dirty="0"/>
              <a:t> Decision Procedure for </a:t>
            </a:r>
            <a:r>
              <a:rPr lang="en-US" dirty="0" err="1"/>
              <a:t>ReLU</a:t>
            </a:r>
            <a:r>
              <a:rPr lang="en-US" dirty="0"/>
              <a:t> NNs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Input: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in </a:t>
                </a:r>
                <a:r>
                  <a:rPr lang="en-US" dirty="0" err="1"/>
                  <a:t>Reluplex</a:t>
                </a:r>
                <a:r>
                  <a:rPr lang="en-US" dirty="0"/>
                  <a:t> form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Reluplex</a:t>
                </a:r>
                <a:r>
                  <a:rPr lang="en-US" dirty="0"/>
                  <a:t> form (Recall Simplex form)</a:t>
                </a:r>
              </a:p>
              <a:p>
                <a:r>
                  <a:rPr lang="en-US" dirty="0"/>
                  <a:t>Equations (same as Simplex)</a:t>
                </a:r>
              </a:p>
              <a:p>
                <a:r>
                  <a:rPr lang="en-US" dirty="0"/>
                  <a:t>Bounds (same as Simplex)</a:t>
                </a:r>
              </a:p>
              <a:p>
                <a:r>
                  <a:rPr lang="en-US" dirty="0" err="1"/>
                  <a:t>Relu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𝑟𝑒𝑙𝑢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Given conjunction of inequalities and </a:t>
                </a:r>
                <a:r>
                  <a:rPr lang="en-US" dirty="0" err="1"/>
                  <a:t>ReLU</a:t>
                </a:r>
                <a:r>
                  <a:rPr lang="en-US" dirty="0"/>
                  <a:t> constraints we can convert them to </a:t>
                </a:r>
                <a:r>
                  <a:rPr lang="en-US" dirty="0" err="1"/>
                  <a:t>Reluplex</a:t>
                </a:r>
                <a:r>
                  <a:rPr lang="en-US" dirty="0"/>
                  <a:t> form and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9489"/>
            <a:ext cx="7886700" cy="52819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Reluplex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76574"/>
                <a:ext cx="6671053" cy="466692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Input</a:t>
                </a:r>
                <a:r>
                  <a:rPr lang="en-US" sz="1350" dirty="0"/>
                  <a:t>: A formula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1350" dirty="0"/>
                  <a:t> in </a:t>
                </a:r>
                <a:r>
                  <a:rPr lang="en-US" sz="1350" dirty="0" err="1"/>
                  <a:t>Reluplex</a:t>
                </a:r>
                <a:r>
                  <a:rPr lang="en-US" sz="1350" dirty="0"/>
                  <a:t> form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Output</a:t>
                </a:r>
                <a:r>
                  <a:rPr lang="en-US" sz="1350" dirty="0"/>
                  <a:t>: </a:t>
                </a:r>
                <a14:m>
                  <m:oMath xmlns:m="http://schemas.openxmlformats.org/officeDocument/2006/math">
                    <m:r>
                      <a:rPr lang="en-US" sz="135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1350" dirty="0"/>
                  <a:t> or UNSAT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35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350" b="1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latin typeface="Cambria Math" panose="02040503050406030204" pitchFamily="18" charset="0"/>
                      </a:rPr>
                      <m:t>↦0⟩</m:t>
                    </m:r>
                  </m:oMath>
                </a14:m>
                <a:r>
                  <a:rPr lang="en-US" sz="1350" dirty="0"/>
                  <a:t>;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350" dirty="0"/>
                  <a:t>:= non </a:t>
                </a:r>
                <a:r>
                  <a:rPr lang="en-US" sz="1350" dirty="0" err="1"/>
                  <a:t>ReLU</a:t>
                </a:r>
                <a:r>
                  <a:rPr lang="en-US" sz="1350" dirty="0"/>
                  <a:t> part of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135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while</a:t>
                </a:r>
                <a:r>
                  <a:rPr lang="en-US" sz="1350" dirty="0"/>
                  <a:t> true </a:t>
                </a:r>
                <a:r>
                  <a:rPr lang="en-US" sz="1350" b="1" dirty="0"/>
                  <a:t>do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/>
                  <a:t>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𝑆𝑖𝑚𝑝𝑙𝑒𝑥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3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35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35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  if</a:t>
                </a:r>
                <a:r>
                  <a:rPr lang="en-US" sz="13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5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sz="1350" b="1" dirty="0"/>
                  <a:t> is </a:t>
                </a:r>
                <a:r>
                  <a:rPr lang="en-US" sz="1350" b="1" dirty="0" err="1"/>
                  <a:t>unsat</a:t>
                </a:r>
                <a:r>
                  <a:rPr lang="en-US" sz="1350" b="1" dirty="0"/>
                  <a:t> then return UNSAT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  else if 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350" b="1" i="1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1350" dirty="0"/>
                  <a:t> </a:t>
                </a:r>
                <a:r>
                  <a:rPr lang="en-US" sz="1350" b="1" dirty="0"/>
                  <a:t>then return</a:t>
                </a:r>
                <a:r>
                  <a:rPr lang="en-US" sz="1350" dirty="0"/>
                  <a:t>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135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rgbClr val="00B050"/>
                    </a:solidFill>
                  </a:rPr>
                  <a:t>// Handle violated </a:t>
                </a:r>
                <a:r>
                  <a:rPr lang="en-US" sz="1350" dirty="0" err="1">
                    <a:solidFill>
                      <a:srgbClr val="00B050"/>
                    </a:solidFill>
                  </a:rPr>
                  <a:t>ReLU</a:t>
                </a:r>
                <a:r>
                  <a:rPr lang="en-US" sz="1350" dirty="0">
                    <a:solidFill>
                      <a:srgbClr val="00B050"/>
                    </a:solidFill>
                  </a:rPr>
                  <a:t> constraints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/>
                  <a:t>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𝑟𝑒𝑙𝑢</m:t>
                    </m:r>
                    <m:d>
                      <m:d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35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135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350" b="1" i="1">
                            <a:latin typeface="Cambria Math" panose="02040503050406030204" pitchFamily="18" charset="0"/>
                          </a:rPr>
                          <m:t>⌈</m:t>
                        </m:r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𝑟𝑒𝑙𝑢</m:t>
                    </m:r>
                    <m:d>
                      <m:d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5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350" b="1" i="1">
                            <a:latin typeface="Cambria Math" panose="02040503050406030204" pitchFamily="18" charset="0"/>
                          </a:rPr>
                          <m:t>⌈</m:t>
                        </m:r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135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>
                    <a:solidFill>
                      <a:schemeClr val="bg1"/>
                    </a:solidFill>
                  </a:rPr>
                  <a:t>  if</a:t>
                </a:r>
                <a:r>
                  <a:rPr lang="en-US" sz="135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chemeClr val="bg1"/>
                    </a:solidFill>
                  </a:rPr>
                  <a:t> is basic </a:t>
                </a:r>
                <a:r>
                  <a:rPr lang="en-US" sz="1350" b="1" dirty="0">
                    <a:solidFill>
                      <a:schemeClr val="bg1"/>
                    </a:solidFill>
                  </a:rPr>
                  <a:t>then </a:t>
                </a:r>
                <a:r>
                  <a:rPr lang="en-US" sz="1350" dirty="0">
                    <a:solidFill>
                      <a:schemeClr val="bg1"/>
                    </a:solidFill>
                  </a:rPr>
                  <a:t>pivot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chemeClr val="bg1"/>
                    </a:solidFill>
                  </a:rPr>
                  <a:t> with non-basic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chemeClr val="bg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35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135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>
                    <a:solidFill>
                      <a:schemeClr val="bg1"/>
                    </a:solidFill>
                  </a:rPr>
                  <a:t>  if</a:t>
                </a:r>
                <a:r>
                  <a:rPr lang="en-US" sz="135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chemeClr val="bg1"/>
                    </a:solidFill>
                  </a:rPr>
                  <a:t> is basic </a:t>
                </a:r>
                <a:r>
                  <a:rPr lang="en-US" sz="1350" b="1" dirty="0">
                    <a:solidFill>
                      <a:schemeClr val="bg1"/>
                    </a:solidFill>
                  </a:rPr>
                  <a:t>then </a:t>
                </a:r>
                <a:r>
                  <a:rPr lang="en-US" sz="1350" dirty="0">
                    <a:solidFill>
                      <a:schemeClr val="bg1"/>
                    </a:solidFill>
                  </a:rPr>
                  <a:t>pivot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chemeClr val="bg1"/>
                    </a:solidFill>
                  </a:rPr>
                  <a:t> with non-basic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chemeClr val="bg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35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135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chemeClr val="bg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35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⌈</m:t>
                        </m:r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𝑟𝑒𝑙𝑢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35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⌈</m:t>
                    </m:r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50" b="1" dirty="0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35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⌈</m:t>
                        </m:r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35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35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⌈</m:t>
                    </m:r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350" b="1" dirty="0">
                    <a:solidFill>
                      <a:schemeClr val="bg1"/>
                    </a:solidFill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rgbClr val="00B050"/>
                    </a:solidFill>
                  </a:rPr>
                  <a:t>// Case split</a:t>
                </a:r>
                <a:endParaRPr lang="en-US" sz="1350" b="1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sz="135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35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𝑟𝑒𝑙𝑢</m:t>
                    </m:r>
                    <m:d>
                      <m:d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350" dirty="0"/>
                  <a:t> considered &gt;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350" dirty="0"/>
                  <a:t> times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𝑅𝑒𝑙𝑢𝑝𝑙𝑒𝑥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≥0∧</m:t>
                    </m:r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35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chemeClr val="bg1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𝑅𝑒𝑙𝑢𝑝𝑙𝑒𝑥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0∧</m:t>
                    </m:r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35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chemeClr val="bg1"/>
                    </a:solidFill>
                  </a:rPr>
                  <a:t>     </a:t>
                </a:r>
                <a:r>
                  <a:rPr lang="en-US" sz="1350" b="1" dirty="0">
                    <a:solidFill>
                      <a:schemeClr val="bg1"/>
                    </a:solidFill>
                  </a:rPr>
                  <a:t>if </a:t>
                </a:r>
                <a:r>
                  <a:rPr lang="en-US" sz="135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350" dirty="0">
                    <a:solidFill>
                      <a:schemeClr val="bg1"/>
                    </a:solidFill>
                  </a:rPr>
                  <a:t> </a:t>
                </a:r>
                <a:r>
                  <a:rPr lang="en-US" sz="1350" dirty="0" err="1">
                    <a:solidFill>
                      <a:schemeClr val="bg1"/>
                    </a:solidFill>
                  </a:rPr>
                  <a:t>unsat</a:t>
                </a:r>
                <a:r>
                  <a:rPr lang="en-US" sz="1350" dirty="0">
                    <a:solidFill>
                      <a:schemeClr val="bg1"/>
                    </a:solidFill>
                  </a:rPr>
                  <a:t> then </a:t>
                </a:r>
                <a:r>
                  <a:rPr lang="en-US" sz="1350" b="1" dirty="0">
                    <a:solidFill>
                      <a:schemeClr val="bg1"/>
                    </a:solidFill>
                  </a:rPr>
                  <a:t>return </a:t>
                </a:r>
                <a:r>
                  <a:rPr lang="en-US" sz="1350" dirty="0">
                    <a:solidFill>
                      <a:schemeClr val="bg1"/>
                    </a:solidFill>
                  </a:rPr>
                  <a:t>UNSAT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chemeClr val="bg1"/>
                    </a:solidFill>
                  </a:rPr>
                  <a:t>     </a:t>
                </a:r>
                <a:r>
                  <a:rPr lang="en-US" sz="1350" b="1" dirty="0">
                    <a:solidFill>
                      <a:schemeClr val="bg1"/>
                    </a:solidFill>
                  </a:rPr>
                  <a:t>else  </a:t>
                </a:r>
                <a:r>
                  <a:rPr lang="en-US" sz="1350" dirty="0">
                    <a:solidFill>
                      <a:schemeClr val="bg1"/>
                    </a:solidFill>
                  </a:rPr>
                  <a:t> i</a:t>
                </a:r>
                <a:r>
                  <a:rPr lang="en-US" sz="1350" b="1" dirty="0">
                    <a:solidFill>
                      <a:schemeClr val="bg1"/>
                    </a:solidFill>
                  </a:rPr>
                  <a:t>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𝑢𝑛𝑠𝑎𝑡</m:t>
                    </m:r>
                  </m:oMath>
                </a14:m>
                <a:r>
                  <a:rPr lang="en-US" sz="1350" b="1" dirty="0">
                    <a:solidFill>
                      <a:schemeClr val="bg1"/>
                    </a:solidFill>
                  </a:rPr>
                  <a:t> then return </a:t>
                </a:r>
                <a:r>
                  <a:rPr lang="en-US" sz="135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350" b="1" dirty="0">
                    <a:solidFill>
                      <a:schemeClr val="bg1"/>
                    </a:solidFill>
                  </a:rPr>
                  <a:t> else return </a:t>
                </a:r>
                <a:r>
                  <a:rPr lang="en-US" sz="135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35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76574"/>
                <a:ext cx="6671053" cy="4666927"/>
              </a:xfrm>
              <a:blipFill>
                <a:blip r:embed="rId2"/>
                <a:stretch>
                  <a:fillRect l="-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9489"/>
            <a:ext cx="7886700" cy="52819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Reluplex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76574"/>
                <a:ext cx="6671053" cy="466692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Input</a:t>
                </a:r>
                <a:r>
                  <a:rPr lang="en-US" sz="1350" dirty="0"/>
                  <a:t>: A formula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1350" dirty="0"/>
                  <a:t> in </a:t>
                </a:r>
                <a:r>
                  <a:rPr lang="en-US" sz="1350" dirty="0" err="1"/>
                  <a:t>Reluplex</a:t>
                </a:r>
                <a:r>
                  <a:rPr lang="en-US" sz="1350" dirty="0"/>
                  <a:t> form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Output</a:t>
                </a:r>
                <a:r>
                  <a:rPr lang="en-US" sz="1350" dirty="0"/>
                  <a:t>: </a:t>
                </a:r>
                <a14:m>
                  <m:oMath xmlns:m="http://schemas.openxmlformats.org/officeDocument/2006/math">
                    <m:r>
                      <a:rPr lang="en-US" sz="135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1350" dirty="0"/>
                  <a:t> or UNSAT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35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350" b="1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latin typeface="Cambria Math" panose="02040503050406030204" pitchFamily="18" charset="0"/>
                      </a:rPr>
                      <m:t>↦0⟩</m:t>
                    </m:r>
                  </m:oMath>
                </a14:m>
                <a:r>
                  <a:rPr lang="en-US" sz="1350" dirty="0"/>
                  <a:t>;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350" dirty="0"/>
                  <a:t>:= non </a:t>
                </a:r>
                <a:r>
                  <a:rPr lang="en-US" sz="1350" dirty="0" err="1"/>
                  <a:t>ReLU</a:t>
                </a:r>
                <a:r>
                  <a:rPr lang="en-US" sz="1350" dirty="0"/>
                  <a:t> part of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135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while</a:t>
                </a:r>
                <a:r>
                  <a:rPr lang="en-US" sz="1350" dirty="0"/>
                  <a:t> true </a:t>
                </a:r>
                <a:r>
                  <a:rPr lang="en-US" sz="1350" b="1" dirty="0"/>
                  <a:t>do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/>
                  <a:t>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𝑆𝑖𝑚𝑝𝑙𝑒𝑥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3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35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35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  if</a:t>
                </a:r>
                <a:r>
                  <a:rPr lang="en-US" sz="13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35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sz="1350" b="1" dirty="0"/>
                  <a:t> is </a:t>
                </a:r>
                <a:r>
                  <a:rPr lang="en-US" sz="1350" b="1" dirty="0" err="1"/>
                  <a:t>unsat</a:t>
                </a:r>
                <a:r>
                  <a:rPr lang="en-US" sz="1350" b="1" dirty="0"/>
                  <a:t> then return UNSAT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  else if 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350" b="1" i="1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1350" dirty="0"/>
                  <a:t> </a:t>
                </a:r>
                <a:r>
                  <a:rPr lang="en-US" sz="1350" b="1" dirty="0"/>
                  <a:t>then return</a:t>
                </a:r>
                <a:r>
                  <a:rPr lang="en-US" sz="1350" dirty="0"/>
                  <a:t>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135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rgbClr val="00B050"/>
                    </a:solidFill>
                  </a:rPr>
                  <a:t>// Handle violated </a:t>
                </a:r>
                <a:r>
                  <a:rPr lang="en-US" sz="1350" dirty="0" err="1">
                    <a:solidFill>
                      <a:srgbClr val="00B050"/>
                    </a:solidFill>
                  </a:rPr>
                  <a:t>ReLU</a:t>
                </a:r>
                <a:r>
                  <a:rPr lang="en-US" sz="1350" dirty="0">
                    <a:solidFill>
                      <a:srgbClr val="00B050"/>
                    </a:solidFill>
                  </a:rPr>
                  <a:t> constraints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/>
                  <a:t>  </a:t>
                </a:r>
                <a:r>
                  <a:rPr lang="en-US" sz="1350" dirty="0">
                    <a:solidFill>
                      <a:srgbClr val="C00000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𝑟𝑒𝑙𝑢</m:t>
                    </m:r>
                    <m:d>
                      <m:dPr>
                        <m:ctrlPr>
                          <a:rPr lang="en-US" sz="13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3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13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3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1350" dirty="0">
                    <a:solidFill>
                      <a:srgbClr val="C00000"/>
                    </a:solidFill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3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3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3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𝑟𝑒𝑙𝑢</m:t>
                    </m:r>
                    <m:d>
                      <m:dPr>
                        <m:ctrlPr>
                          <a:rPr lang="en-US" sz="13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5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3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en-US" sz="13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3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sz="135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>
                    <a:solidFill>
                      <a:srgbClr val="0070C0"/>
                    </a:solidFill>
                  </a:rPr>
                  <a:t>  if</a:t>
                </a:r>
                <a:r>
                  <a:rPr lang="en-US" sz="135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0070C0"/>
                    </a:solidFill>
                  </a:rPr>
                  <a:t> is basic </a:t>
                </a:r>
                <a:r>
                  <a:rPr lang="en-US" sz="1350" b="1" dirty="0">
                    <a:solidFill>
                      <a:srgbClr val="0070C0"/>
                    </a:solidFill>
                  </a:rPr>
                  <a:t>then </a:t>
                </a:r>
                <a:r>
                  <a:rPr lang="en-US" sz="1350" dirty="0">
                    <a:solidFill>
                      <a:srgbClr val="0070C0"/>
                    </a:solidFill>
                  </a:rPr>
                  <a:t>pivot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0070C0"/>
                    </a:solidFill>
                  </a:rPr>
                  <a:t> with non-basic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0070C0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350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135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>
                    <a:solidFill>
                      <a:srgbClr val="0070C0"/>
                    </a:solidFill>
                  </a:rPr>
                  <a:t>  if</a:t>
                </a:r>
                <a:r>
                  <a:rPr lang="en-US" sz="135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0070C0"/>
                    </a:solidFill>
                  </a:rPr>
                  <a:t> is basic </a:t>
                </a:r>
                <a:r>
                  <a:rPr lang="en-US" sz="1350" b="1" dirty="0">
                    <a:solidFill>
                      <a:srgbClr val="0070C0"/>
                    </a:solidFill>
                  </a:rPr>
                  <a:t>then </a:t>
                </a:r>
                <a:r>
                  <a:rPr lang="en-US" sz="1350" dirty="0">
                    <a:solidFill>
                      <a:srgbClr val="0070C0"/>
                    </a:solidFill>
                  </a:rPr>
                  <a:t>pivot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0070C0"/>
                    </a:solidFill>
                  </a:rPr>
                  <a:t> with non-basic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0070C0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350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135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rgbClr val="0070C0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35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𝑟𝑒𝑙𝑢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35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50" b="1" dirty="0">
                    <a:solidFill>
                      <a:srgbClr val="0070C0"/>
                    </a:solidFill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35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35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35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350" b="1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rgbClr val="00B050"/>
                    </a:solidFill>
                  </a:rPr>
                  <a:t>// Case split</a:t>
                </a:r>
                <a:endParaRPr lang="en-US" sz="1350" b="1" dirty="0">
                  <a:solidFill>
                    <a:srgbClr val="00B05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b="1" dirty="0"/>
                  <a:t>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sz="135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35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latin typeface="Cambria Math" panose="02040503050406030204" pitchFamily="18" charset="0"/>
                      </a:rPr>
                      <m:t>𝑟𝑒𝑙𝑢</m:t>
                    </m:r>
                    <m:d>
                      <m:dPr>
                        <m:ctrlPr>
                          <a:rPr lang="en-US" sz="13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35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350" dirty="0"/>
                  <a:t> considered &gt; </a:t>
                </a:r>
                <a14:m>
                  <m:oMath xmlns:m="http://schemas.openxmlformats.org/officeDocument/2006/math">
                    <m:r>
                      <a:rPr lang="en-US" sz="135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350" dirty="0"/>
                  <a:t> times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rgbClr val="0070C0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𝑅𝑒𝑙𝑢𝑝𝑙𝑒𝑥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≥0∧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35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rgbClr val="0070C0"/>
                    </a:solidFill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𝑅𝑒𝑙𝑢𝑝𝑙𝑒𝑥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0∧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35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rgbClr val="0070C0"/>
                    </a:solidFill>
                  </a:rPr>
                  <a:t>     </a:t>
                </a:r>
                <a:r>
                  <a:rPr lang="en-US" sz="1350" b="1" dirty="0">
                    <a:solidFill>
                      <a:srgbClr val="0070C0"/>
                    </a:solidFill>
                  </a:rPr>
                  <a:t>if </a:t>
                </a:r>
                <a:r>
                  <a:rPr lang="en-US" sz="135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350" dirty="0">
                    <a:solidFill>
                      <a:srgbClr val="0070C0"/>
                    </a:solidFill>
                  </a:rPr>
                  <a:t> </a:t>
                </a:r>
                <a:r>
                  <a:rPr lang="en-US" sz="1350" dirty="0" err="1">
                    <a:solidFill>
                      <a:srgbClr val="0070C0"/>
                    </a:solidFill>
                  </a:rPr>
                  <a:t>unsat</a:t>
                </a:r>
                <a:r>
                  <a:rPr lang="en-US" sz="1350" dirty="0">
                    <a:solidFill>
                      <a:srgbClr val="0070C0"/>
                    </a:solidFill>
                  </a:rPr>
                  <a:t> then </a:t>
                </a:r>
                <a:r>
                  <a:rPr lang="en-US" sz="1350" b="1" dirty="0">
                    <a:solidFill>
                      <a:srgbClr val="0070C0"/>
                    </a:solidFill>
                  </a:rPr>
                  <a:t>return </a:t>
                </a:r>
                <a:r>
                  <a:rPr lang="en-US" sz="1350" dirty="0">
                    <a:solidFill>
                      <a:srgbClr val="0070C0"/>
                    </a:solidFill>
                  </a:rPr>
                  <a:t>UNSAT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350" dirty="0">
                    <a:solidFill>
                      <a:srgbClr val="0070C0"/>
                    </a:solidFill>
                  </a:rPr>
                  <a:t>     </a:t>
                </a:r>
                <a:r>
                  <a:rPr lang="en-US" sz="1350" b="1" dirty="0">
                    <a:solidFill>
                      <a:srgbClr val="0070C0"/>
                    </a:solidFill>
                  </a:rPr>
                  <a:t>else  </a:t>
                </a:r>
                <a:r>
                  <a:rPr lang="en-US" sz="1350" dirty="0">
                    <a:solidFill>
                      <a:srgbClr val="0070C0"/>
                    </a:solidFill>
                  </a:rPr>
                  <a:t> i</a:t>
                </a:r>
                <a:r>
                  <a:rPr lang="en-US" sz="1350" b="1" dirty="0">
                    <a:solidFill>
                      <a:srgbClr val="0070C0"/>
                    </a:solidFill>
                  </a:rPr>
                  <a:t>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𝑠𝑎𝑡</m:t>
                    </m:r>
                  </m:oMath>
                </a14:m>
                <a:r>
                  <a:rPr lang="en-US" sz="1350" b="1" dirty="0">
                    <a:solidFill>
                      <a:srgbClr val="0070C0"/>
                    </a:solidFill>
                  </a:rPr>
                  <a:t> then return </a:t>
                </a:r>
                <a:r>
                  <a:rPr lang="en-US" sz="135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350" b="1" dirty="0">
                    <a:solidFill>
                      <a:srgbClr val="0070C0"/>
                    </a:solidFill>
                  </a:rPr>
                  <a:t> else return </a:t>
                </a:r>
                <a:r>
                  <a:rPr lang="en-US" sz="135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35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35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76574"/>
                <a:ext cx="6671053" cy="4666927"/>
              </a:xfrm>
              <a:blipFill>
                <a:blip r:embed="rId3"/>
                <a:stretch>
                  <a:fillRect l="-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Termination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last part of the algorithm ensures termination</a:t>
                </a:r>
              </a:p>
              <a:p>
                <a:r>
                  <a:rPr lang="en-US" dirty="0"/>
                  <a:t>Otherwise, the algorithm could loop forever between fixing </a:t>
                </a:r>
                <a:r>
                  <a:rPr lang="en-US" dirty="0" err="1"/>
                  <a:t>relu</a:t>
                </a:r>
                <a:r>
                  <a:rPr lang="en-US" dirty="0"/>
                  <a:t> constraints and Simplex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𝑟𝑒𝑙𝑢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split into two cases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≡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≡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)∨(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Performance of </a:t>
            </a:r>
            <a:r>
              <a:rPr lang="en-US" dirty="0" err="1"/>
              <a:t>Reluplex</a:t>
            </a:r>
            <a:r>
              <a:rPr lang="en-US" dirty="0"/>
              <a:t> on ACAS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7" y="1456765"/>
            <a:ext cx="5715000" cy="2752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111" y="1076920"/>
            <a:ext cx="3372833" cy="21907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1"/>
          <p:cNvSpPr txBox="1">
            <a:spLocks noGrp="1"/>
          </p:cNvSpPr>
          <p:nvPr>
            <p:ph type="title"/>
          </p:nvPr>
        </p:nvSpPr>
        <p:spPr>
          <a:xfrm>
            <a:off x="65350" y="224420"/>
            <a:ext cx="87484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Review: Neural network verification as a satisfiability problem</a:t>
            </a:r>
          </a:p>
        </p:txBody>
      </p:sp>
      <p:sp>
        <p:nvSpPr>
          <p:cNvPr id="961" name="Google Shape;961;p51"/>
          <p:cNvSpPr txBox="1"/>
          <p:nvPr/>
        </p:nvSpPr>
        <p:spPr>
          <a:xfrm>
            <a:off x="4348375" y="1509425"/>
            <a:ext cx="6534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z</a:t>
            </a:r>
            <a:r>
              <a:rPr lang="en-GB" sz="1800" baseline="30000">
                <a:solidFill>
                  <a:schemeClr val="dk2"/>
                </a:solidFill>
              </a:rPr>
              <a:t>(2)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962" name="Google Shape;962;p51"/>
          <p:cNvGrpSpPr/>
          <p:nvPr/>
        </p:nvGrpSpPr>
        <p:grpSpPr>
          <a:xfrm>
            <a:off x="1251850" y="1852138"/>
            <a:ext cx="1691250" cy="1518400"/>
            <a:chOff x="949900" y="2149850"/>
            <a:chExt cx="1691250" cy="1518400"/>
          </a:xfrm>
        </p:grpSpPr>
        <p:grpSp>
          <p:nvGrpSpPr>
            <p:cNvPr id="963" name="Google Shape;963;p51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964" name="Google Shape;964;p51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51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51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51"/>
              <p:cNvSpPr/>
              <p:nvPr/>
            </p:nvSpPr>
            <p:spPr>
              <a:xfrm>
                <a:off x="2294125" y="23127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51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69" name="Google Shape;969;p51"/>
              <p:cNvCxnSpPr>
                <a:stCxn id="964" idx="6"/>
                <a:endCxn id="966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0" name="Google Shape;970;p51"/>
              <p:cNvCxnSpPr>
                <a:stCxn id="964" idx="6"/>
                <a:endCxn id="967" idx="2"/>
              </p:cNvCxnSpPr>
              <p:nvPr/>
            </p:nvCxnSpPr>
            <p:spPr>
              <a:xfrm>
                <a:off x="1498800" y="2080600"/>
                <a:ext cx="795300" cy="34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1" name="Google Shape;971;p51"/>
              <p:cNvCxnSpPr>
                <a:stCxn id="965" idx="6"/>
                <a:endCxn id="966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2" name="Google Shape;972;p51"/>
              <p:cNvCxnSpPr>
                <a:stCxn id="965" idx="6"/>
                <a:endCxn id="967" idx="2"/>
              </p:cNvCxnSpPr>
              <p:nvPr/>
            </p:nvCxnSpPr>
            <p:spPr>
              <a:xfrm rot="10800000" flipH="1">
                <a:off x="1498800" y="2428800"/>
                <a:ext cx="795300" cy="25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3" name="Google Shape;973;p51"/>
              <p:cNvCxnSpPr>
                <a:stCxn id="965" idx="6"/>
                <a:endCxn id="968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4" name="Google Shape;974;p51"/>
              <p:cNvCxnSpPr>
                <a:stCxn id="964" idx="6"/>
                <a:endCxn id="968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75" name="Google Shape;975;p51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976" name="Google Shape;976;p51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</p:grpSp>
      <p:grpSp>
        <p:nvGrpSpPr>
          <p:cNvPr id="977" name="Google Shape;977;p51"/>
          <p:cNvGrpSpPr/>
          <p:nvPr/>
        </p:nvGrpSpPr>
        <p:grpSpPr>
          <a:xfrm>
            <a:off x="5150088" y="1904825"/>
            <a:ext cx="1113500" cy="1465725"/>
            <a:chOff x="3458500" y="1732750"/>
            <a:chExt cx="1113500" cy="1465725"/>
          </a:xfrm>
        </p:grpSpPr>
        <p:sp>
          <p:nvSpPr>
            <p:cNvPr id="978" name="Google Shape;978;p51"/>
            <p:cNvSpPr/>
            <p:nvPr/>
          </p:nvSpPr>
          <p:spPr>
            <a:xfrm>
              <a:off x="3458500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51"/>
            <p:cNvSpPr/>
            <p:nvPr/>
          </p:nvSpPr>
          <p:spPr>
            <a:xfrm>
              <a:off x="3458500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51"/>
            <p:cNvSpPr/>
            <p:nvPr/>
          </p:nvSpPr>
          <p:spPr>
            <a:xfrm>
              <a:off x="3458500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51"/>
            <p:cNvSpPr/>
            <p:nvPr/>
          </p:nvSpPr>
          <p:spPr>
            <a:xfrm>
              <a:off x="4340100" y="229960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82" name="Google Shape;982;p51"/>
            <p:cNvCxnSpPr>
              <a:stCxn id="978" idx="6"/>
              <a:endCxn id="981" idx="2"/>
            </p:cNvCxnSpPr>
            <p:nvPr/>
          </p:nvCxnSpPr>
          <p:spPr>
            <a:xfrm>
              <a:off x="3690400" y="1848700"/>
              <a:ext cx="649800" cy="567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3" name="Google Shape;983;p51"/>
            <p:cNvCxnSpPr>
              <a:stCxn id="979" idx="6"/>
              <a:endCxn id="981" idx="2"/>
            </p:cNvCxnSpPr>
            <p:nvPr/>
          </p:nvCxnSpPr>
          <p:spPr>
            <a:xfrm rot="10800000" flipH="1">
              <a:off x="3690400" y="2415525"/>
              <a:ext cx="649800" cy="1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4" name="Google Shape;984;p51"/>
            <p:cNvCxnSpPr>
              <a:stCxn id="980" idx="6"/>
              <a:endCxn id="981" idx="2"/>
            </p:cNvCxnSpPr>
            <p:nvPr/>
          </p:nvCxnSpPr>
          <p:spPr>
            <a:xfrm rot="10800000" flipH="1">
              <a:off x="3690400" y="2415625"/>
              <a:ext cx="649800" cy="66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85" name="Google Shape;985;p51"/>
          <p:cNvGrpSpPr/>
          <p:nvPr/>
        </p:nvGrpSpPr>
        <p:grpSpPr>
          <a:xfrm>
            <a:off x="3559075" y="2020700"/>
            <a:ext cx="932400" cy="1233975"/>
            <a:chOff x="2526100" y="1848625"/>
            <a:chExt cx="932400" cy="1233975"/>
          </a:xfrm>
        </p:grpSpPr>
        <p:cxnSp>
          <p:nvCxnSpPr>
            <p:cNvPr id="986" name="Google Shape;986;p51"/>
            <p:cNvCxnSpPr/>
            <p:nvPr/>
          </p:nvCxnSpPr>
          <p:spPr>
            <a:xfrm>
              <a:off x="2526100" y="1848700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7" name="Google Shape;987;p51"/>
            <p:cNvCxnSpPr/>
            <p:nvPr/>
          </p:nvCxnSpPr>
          <p:spPr>
            <a:xfrm>
              <a:off x="2526100" y="2415550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8" name="Google Shape;988;p51"/>
            <p:cNvCxnSpPr/>
            <p:nvPr/>
          </p:nvCxnSpPr>
          <p:spPr>
            <a:xfrm>
              <a:off x="2526100" y="3082525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9" name="Google Shape;989;p51"/>
            <p:cNvCxnSpPr/>
            <p:nvPr/>
          </p:nvCxnSpPr>
          <p:spPr>
            <a:xfrm>
              <a:off x="2526100" y="1848825"/>
              <a:ext cx="932400" cy="57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0" name="Google Shape;990;p51"/>
            <p:cNvCxnSpPr/>
            <p:nvPr/>
          </p:nvCxnSpPr>
          <p:spPr>
            <a:xfrm>
              <a:off x="2526100" y="1848625"/>
              <a:ext cx="932400" cy="123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1" name="Google Shape;991;p51"/>
            <p:cNvCxnSpPr/>
            <p:nvPr/>
          </p:nvCxnSpPr>
          <p:spPr>
            <a:xfrm rot="10800000" flipH="1">
              <a:off x="2526100" y="1848700"/>
              <a:ext cx="932400" cy="57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2" name="Google Shape;992;p51"/>
            <p:cNvCxnSpPr/>
            <p:nvPr/>
          </p:nvCxnSpPr>
          <p:spPr>
            <a:xfrm rot="10800000" flipH="1">
              <a:off x="2526100" y="1848700"/>
              <a:ext cx="932400" cy="123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3" name="Google Shape;993;p51"/>
            <p:cNvCxnSpPr/>
            <p:nvPr/>
          </p:nvCxnSpPr>
          <p:spPr>
            <a:xfrm>
              <a:off x="2526100" y="2428825"/>
              <a:ext cx="932400" cy="65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4" name="Google Shape;994;p51"/>
            <p:cNvCxnSpPr/>
            <p:nvPr/>
          </p:nvCxnSpPr>
          <p:spPr>
            <a:xfrm rot="10800000" flipH="1">
              <a:off x="2526100" y="2428725"/>
              <a:ext cx="932400" cy="65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95" name="Google Shape;995;p51"/>
          <p:cNvGrpSpPr/>
          <p:nvPr/>
        </p:nvGrpSpPr>
        <p:grpSpPr>
          <a:xfrm>
            <a:off x="2608575" y="1502100"/>
            <a:ext cx="1306800" cy="1766950"/>
            <a:chOff x="2460350" y="1264125"/>
            <a:chExt cx="1306800" cy="1766950"/>
          </a:xfrm>
        </p:grpSpPr>
        <p:sp>
          <p:nvSpPr>
            <p:cNvPr id="996" name="Google Shape;996;p51"/>
            <p:cNvSpPr txBox="1"/>
            <p:nvPr/>
          </p:nvSpPr>
          <p:spPr>
            <a:xfrm>
              <a:off x="3113750" y="13022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1</a:t>
              </a:r>
              <a:r>
                <a:rPr lang="en-GB" sz="1800" baseline="30000">
                  <a:solidFill>
                    <a:srgbClr val="0000FF"/>
                  </a:solidFill>
                </a:rPr>
                <a:t>(1)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997" name="Google Shape;997;p51"/>
            <p:cNvSpPr txBox="1"/>
            <p:nvPr/>
          </p:nvSpPr>
          <p:spPr>
            <a:xfrm>
              <a:off x="3113750" y="18269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2</a:t>
              </a:r>
              <a:r>
                <a:rPr lang="en-GB" sz="1800" baseline="30000">
                  <a:solidFill>
                    <a:srgbClr val="0000FF"/>
                  </a:solidFill>
                </a:rPr>
                <a:t>(1)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998" name="Google Shape;998;p51"/>
            <p:cNvSpPr txBox="1"/>
            <p:nvPr/>
          </p:nvSpPr>
          <p:spPr>
            <a:xfrm>
              <a:off x="3113750" y="25039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rgbClr val="0000FF"/>
                  </a:solidFill>
                </a:rPr>
                <a:t>ẑ</a:t>
              </a:r>
              <a:r>
                <a:rPr lang="en-GB" sz="1800" baseline="-25000" dirty="0">
                  <a:solidFill>
                    <a:srgbClr val="0000FF"/>
                  </a:solidFill>
                </a:rPr>
                <a:t>3</a:t>
              </a:r>
              <a:r>
                <a:rPr lang="en-GB" sz="1800" baseline="30000" dirty="0">
                  <a:solidFill>
                    <a:srgbClr val="0000FF"/>
                  </a:solidFill>
                </a:rPr>
                <a:t>(1)</a:t>
              </a:r>
              <a:endParaRPr sz="1800" dirty="0">
                <a:solidFill>
                  <a:srgbClr val="0000FF"/>
                </a:solidFill>
              </a:endParaRPr>
            </a:p>
          </p:txBody>
        </p:sp>
        <p:sp>
          <p:nvSpPr>
            <p:cNvPr id="999" name="Google Shape;999;p51"/>
            <p:cNvSpPr txBox="1"/>
            <p:nvPr/>
          </p:nvSpPr>
          <p:spPr>
            <a:xfrm>
              <a:off x="2460350" y="24658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dirty="0">
                  <a:solidFill>
                    <a:srgbClr val="FF0000"/>
                  </a:solidFill>
                </a:rPr>
                <a:t>z</a:t>
              </a:r>
              <a:r>
                <a:rPr lang="en-GB" sz="1800" baseline="-25000" dirty="0">
                  <a:solidFill>
                    <a:srgbClr val="FF0000"/>
                  </a:solidFill>
                </a:rPr>
                <a:t>3</a:t>
              </a:r>
              <a:r>
                <a:rPr lang="en-GB" sz="1800" baseline="30000" dirty="0">
                  <a:solidFill>
                    <a:srgbClr val="FF0000"/>
                  </a:solidFill>
                </a:rPr>
                <a:t>(1)</a:t>
              </a:r>
              <a:endParaRPr sz="1800" dirty="0">
                <a:solidFill>
                  <a:srgbClr val="FF0000"/>
                </a:solidFill>
              </a:endParaRPr>
            </a:p>
          </p:txBody>
        </p:sp>
        <p:sp>
          <p:nvSpPr>
            <p:cNvPr id="1000" name="Google Shape;1000;p51"/>
            <p:cNvSpPr txBox="1"/>
            <p:nvPr/>
          </p:nvSpPr>
          <p:spPr>
            <a:xfrm>
              <a:off x="2460350" y="17888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1001" name="Google Shape;1001;p51"/>
            <p:cNvSpPr txBox="1"/>
            <p:nvPr/>
          </p:nvSpPr>
          <p:spPr>
            <a:xfrm>
              <a:off x="2460350" y="12641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1002" name="Google Shape;1002;p51"/>
          <p:cNvGrpSpPr/>
          <p:nvPr/>
        </p:nvGrpSpPr>
        <p:grpSpPr>
          <a:xfrm>
            <a:off x="3327163" y="1904813"/>
            <a:ext cx="231900" cy="1465725"/>
            <a:chOff x="2294125" y="1732750"/>
            <a:chExt cx="231900" cy="1465725"/>
          </a:xfrm>
        </p:grpSpPr>
        <p:sp>
          <p:nvSpPr>
            <p:cNvPr id="1003" name="Google Shape;1003;p51"/>
            <p:cNvSpPr/>
            <p:nvPr/>
          </p:nvSpPr>
          <p:spPr>
            <a:xfrm>
              <a:off x="2294125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51"/>
            <p:cNvSpPr/>
            <p:nvPr/>
          </p:nvSpPr>
          <p:spPr>
            <a:xfrm>
              <a:off x="2294125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51"/>
            <p:cNvSpPr/>
            <p:nvPr/>
          </p:nvSpPr>
          <p:spPr>
            <a:xfrm>
              <a:off x="2294125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6" name="Google Shape;1006;p51"/>
          <p:cNvGrpSpPr/>
          <p:nvPr/>
        </p:nvGrpSpPr>
        <p:grpSpPr>
          <a:xfrm>
            <a:off x="4466063" y="1904825"/>
            <a:ext cx="231900" cy="1465725"/>
            <a:chOff x="2294125" y="1732750"/>
            <a:chExt cx="231900" cy="1465725"/>
          </a:xfrm>
        </p:grpSpPr>
        <p:sp>
          <p:nvSpPr>
            <p:cNvPr id="1007" name="Google Shape;1007;p51"/>
            <p:cNvSpPr/>
            <p:nvPr/>
          </p:nvSpPr>
          <p:spPr>
            <a:xfrm>
              <a:off x="2294125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51"/>
            <p:cNvSpPr/>
            <p:nvPr/>
          </p:nvSpPr>
          <p:spPr>
            <a:xfrm>
              <a:off x="2294125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51"/>
            <p:cNvSpPr/>
            <p:nvPr/>
          </p:nvSpPr>
          <p:spPr>
            <a:xfrm>
              <a:off x="2294125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10" name="Google Shape;1010;p51"/>
          <p:cNvCxnSpPr>
            <a:stCxn id="966" idx="6"/>
            <a:endCxn id="1003" idx="2"/>
          </p:cNvCxnSpPr>
          <p:nvPr/>
        </p:nvCxnSpPr>
        <p:spPr>
          <a:xfrm>
            <a:off x="2943100" y="2020763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1" name="Google Shape;1011;p51"/>
          <p:cNvCxnSpPr>
            <a:stCxn id="967" idx="6"/>
            <a:endCxn id="1004" idx="2"/>
          </p:cNvCxnSpPr>
          <p:nvPr/>
        </p:nvCxnSpPr>
        <p:spPr>
          <a:xfrm>
            <a:off x="2943100" y="2600788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2" name="Google Shape;1012;p51"/>
          <p:cNvCxnSpPr>
            <a:stCxn id="968" idx="6"/>
            <a:endCxn id="1005" idx="2"/>
          </p:cNvCxnSpPr>
          <p:nvPr/>
        </p:nvCxnSpPr>
        <p:spPr>
          <a:xfrm>
            <a:off x="2943100" y="3254588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3" name="Google Shape;1013;p51"/>
          <p:cNvCxnSpPr>
            <a:stCxn id="1007" idx="6"/>
            <a:endCxn id="978" idx="2"/>
          </p:cNvCxnSpPr>
          <p:nvPr/>
        </p:nvCxnSpPr>
        <p:spPr>
          <a:xfrm>
            <a:off x="4697963" y="2020775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4" name="Google Shape;1014;p51"/>
          <p:cNvCxnSpPr>
            <a:stCxn id="1008" idx="6"/>
            <a:endCxn id="979" idx="2"/>
          </p:cNvCxnSpPr>
          <p:nvPr/>
        </p:nvCxnSpPr>
        <p:spPr>
          <a:xfrm>
            <a:off x="4697963" y="2600800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5" name="Google Shape;1015;p51"/>
          <p:cNvCxnSpPr>
            <a:stCxn id="1009" idx="6"/>
            <a:endCxn id="980" idx="2"/>
          </p:cNvCxnSpPr>
          <p:nvPr/>
        </p:nvCxnSpPr>
        <p:spPr>
          <a:xfrm>
            <a:off x="4697963" y="3254600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6" name="Google Shape;1016;p51"/>
          <p:cNvSpPr txBox="1"/>
          <p:nvPr/>
        </p:nvSpPr>
        <p:spPr>
          <a:xfrm>
            <a:off x="5096225" y="1509413"/>
            <a:ext cx="6534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ẑ</a:t>
            </a:r>
            <a:r>
              <a:rPr lang="en-GB" sz="1800" baseline="30000">
                <a:solidFill>
                  <a:schemeClr val="dk1"/>
                </a:solidFill>
              </a:rPr>
              <a:t>(2)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17" name="Google Shape;1017;p51"/>
          <p:cNvSpPr txBox="1"/>
          <p:nvPr/>
        </p:nvSpPr>
        <p:spPr>
          <a:xfrm>
            <a:off x="6263625" y="2292725"/>
            <a:ext cx="85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y=f(x)</a:t>
            </a:r>
          </a:p>
        </p:txBody>
      </p:sp>
      <p:sp>
        <p:nvSpPr>
          <p:cNvPr id="1018" name="Google Shape;1018;p51"/>
          <p:cNvSpPr txBox="1"/>
          <p:nvPr/>
        </p:nvSpPr>
        <p:spPr>
          <a:xfrm>
            <a:off x="197625" y="3542600"/>
            <a:ext cx="61287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595959"/>
                </a:solidFill>
              </a:rPr>
              <a:t>Does there exist x, s.t.  x ∈ S  ∧  y ≤ 0  ∧  y = f(x) </a:t>
            </a:r>
            <a:endParaRPr sz="2000">
              <a:solidFill>
                <a:srgbClr val="595959"/>
              </a:solidFill>
            </a:endParaRPr>
          </a:p>
        </p:txBody>
      </p:sp>
      <p:sp>
        <p:nvSpPr>
          <p:cNvPr id="1019" name="Google Shape;1019;p51"/>
          <p:cNvSpPr txBox="1"/>
          <p:nvPr/>
        </p:nvSpPr>
        <p:spPr>
          <a:xfrm>
            <a:off x="3717125" y="4356350"/>
            <a:ext cx="241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Negation of the desired property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0" name="Google Shape;1020;p51"/>
          <p:cNvSpPr txBox="1"/>
          <p:nvPr/>
        </p:nvSpPr>
        <p:spPr>
          <a:xfrm>
            <a:off x="5922199" y="3740100"/>
            <a:ext cx="180171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Defines the neural network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021" name="Google Shape;1021;p51"/>
          <p:cNvSpPr txBox="1"/>
          <p:nvPr/>
        </p:nvSpPr>
        <p:spPr>
          <a:xfrm>
            <a:off x="890575" y="4204975"/>
            <a:ext cx="241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Input domain under consideration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22" name="Google Shape;1022;p51"/>
          <p:cNvCxnSpPr/>
          <p:nvPr/>
        </p:nvCxnSpPr>
        <p:spPr>
          <a:xfrm rot="10800000" flipH="1">
            <a:off x="2700325" y="3903875"/>
            <a:ext cx="421500" cy="4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3" name="Google Shape;1023;p51"/>
          <p:cNvCxnSpPr/>
          <p:nvPr/>
        </p:nvCxnSpPr>
        <p:spPr>
          <a:xfrm rot="10800000">
            <a:off x="4075400" y="3972050"/>
            <a:ext cx="332400" cy="55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4" name="Google Shape;1024;p51"/>
          <p:cNvCxnSpPr/>
          <p:nvPr/>
        </p:nvCxnSpPr>
        <p:spPr>
          <a:xfrm rot="10800000">
            <a:off x="5807074" y="3738975"/>
            <a:ext cx="1132500" cy="17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25" name="Google Shape;1025;p51"/>
          <p:cNvPicPr preferRelativeResize="0"/>
          <p:nvPr/>
        </p:nvPicPr>
        <p:blipFill rotWithShape="1">
          <a:blip r:embed="rId3"/>
          <a:srcRect l="14039" t="9153" r="55651" b="45213"/>
          <a:stretch>
            <a:fillRect/>
          </a:stretch>
        </p:blipFill>
        <p:spPr>
          <a:xfrm>
            <a:off x="65350" y="2149108"/>
            <a:ext cx="653399" cy="65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51"/>
          <p:cNvSpPr/>
          <p:nvPr/>
        </p:nvSpPr>
        <p:spPr>
          <a:xfrm>
            <a:off x="326074" y="2577622"/>
            <a:ext cx="184200" cy="90900"/>
          </a:xfrm>
          <a:prstGeom prst="rect">
            <a:avLst/>
          </a:prstGeom>
          <a:gradFill>
            <a:gsLst>
              <a:gs pos="0">
                <a:srgbClr val="FFFF00"/>
              </a:gs>
              <a:gs pos="100000">
                <a:srgbClr val="4A86E8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FF00"/>
              </a:solidFill>
            </a:endParaRPr>
          </a:p>
        </p:txBody>
      </p:sp>
      <p:grpSp>
        <p:nvGrpSpPr>
          <p:cNvPr id="1027" name="Google Shape;1027;p51"/>
          <p:cNvGrpSpPr/>
          <p:nvPr/>
        </p:nvGrpSpPr>
        <p:grpSpPr>
          <a:xfrm>
            <a:off x="7118059" y="1335925"/>
            <a:ext cx="1427550" cy="1873725"/>
            <a:chOff x="5659759" y="914325"/>
            <a:chExt cx="1427550" cy="1873725"/>
          </a:xfrm>
        </p:grpSpPr>
        <p:grpSp>
          <p:nvGrpSpPr>
            <p:cNvPr id="1028" name="Google Shape;1028;p51"/>
            <p:cNvGrpSpPr/>
            <p:nvPr/>
          </p:nvGrpSpPr>
          <p:grpSpPr>
            <a:xfrm>
              <a:off x="6177300" y="1265650"/>
              <a:ext cx="791100" cy="776775"/>
              <a:chOff x="5901775" y="3443650"/>
              <a:chExt cx="791100" cy="776775"/>
            </a:xfrm>
          </p:grpSpPr>
          <p:cxnSp>
            <p:nvCxnSpPr>
              <p:cNvPr id="1029" name="Google Shape;1029;p51"/>
              <p:cNvCxnSpPr/>
              <p:nvPr/>
            </p:nvCxnSpPr>
            <p:spPr>
              <a:xfrm>
                <a:off x="5901775" y="3443650"/>
                <a:ext cx="7911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0" name="Google Shape;1030;p51"/>
              <p:cNvCxnSpPr/>
              <p:nvPr/>
            </p:nvCxnSpPr>
            <p:spPr>
              <a:xfrm>
                <a:off x="5921600" y="4220425"/>
                <a:ext cx="771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1" name="Google Shape;1031;p51"/>
              <p:cNvCxnSpPr/>
              <p:nvPr/>
            </p:nvCxnSpPr>
            <p:spPr>
              <a:xfrm>
                <a:off x="6097825" y="3451325"/>
                <a:ext cx="0" cy="76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1032" name="Google Shape;1032;p51"/>
            <p:cNvSpPr txBox="1"/>
            <p:nvPr/>
          </p:nvSpPr>
          <p:spPr>
            <a:xfrm>
              <a:off x="6265609" y="2203050"/>
              <a:ext cx="8217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000000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Speed Limit</a:t>
              </a:r>
              <a:endParaRPr sz="13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grpSp>
          <p:nvGrpSpPr>
            <p:cNvPr id="1033" name="Google Shape;1033;p51"/>
            <p:cNvGrpSpPr/>
            <p:nvPr/>
          </p:nvGrpSpPr>
          <p:grpSpPr>
            <a:xfrm>
              <a:off x="5719109" y="1258075"/>
              <a:ext cx="1005412" cy="1346825"/>
              <a:chOff x="551310" y="2116700"/>
              <a:chExt cx="897850" cy="1346825"/>
            </a:xfrm>
          </p:grpSpPr>
          <p:sp>
            <p:nvSpPr>
              <p:cNvPr id="1034" name="Google Shape;1034;p51"/>
              <p:cNvSpPr/>
              <p:nvPr/>
            </p:nvSpPr>
            <p:spPr>
              <a:xfrm>
                <a:off x="1263460" y="2906705"/>
                <a:ext cx="185700" cy="165000"/>
              </a:xfrm>
              <a:prstGeom prst="rect">
                <a:avLst/>
              </a:prstGeom>
              <a:solidFill>
                <a:srgbClr val="F9CB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5" name="Google Shape;1035;p51"/>
              <p:cNvGrpSpPr/>
              <p:nvPr/>
            </p:nvGrpSpPr>
            <p:grpSpPr>
              <a:xfrm>
                <a:off x="551310" y="2116700"/>
                <a:ext cx="644100" cy="1346825"/>
                <a:chOff x="551310" y="2116700"/>
                <a:chExt cx="644100" cy="1346825"/>
              </a:xfrm>
            </p:grpSpPr>
            <p:sp>
              <p:nvSpPr>
                <p:cNvPr id="1036" name="Google Shape;1036;p51"/>
                <p:cNvSpPr/>
                <p:nvPr/>
              </p:nvSpPr>
              <p:spPr>
                <a:xfrm>
                  <a:off x="780510" y="2116700"/>
                  <a:ext cx="185700" cy="961800"/>
                </a:xfrm>
                <a:prstGeom prst="rect">
                  <a:avLst/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7" name="Google Shape;1037;p51"/>
                <p:cNvSpPr txBox="1"/>
                <p:nvPr/>
              </p:nvSpPr>
              <p:spPr>
                <a:xfrm>
                  <a:off x="551310" y="3078625"/>
                  <a:ext cx="644100" cy="384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300" b="1">
                      <a:solidFill>
                        <a:srgbClr val="000000"/>
                      </a:solidFill>
                      <a:latin typeface="Georgia" panose="02040502050405020303"/>
                      <a:ea typeface="Georgia" panose="02040502050405020303"/>
                      <a:cs typeface="Georgia" panose="02040502050405020303"/>
                      <a:sym typeface="Georgia" panose="02040502050405020303"/>
                    </a:rPr>
                    <a:t>Stop</a:t>
                  </a:r>
                  <a:endParaRPr sz="1300">
                    <a:latin typeface="Georgia" panose="02040502050405020303"/>
                    <a:ea typeface="Georgia" panose="02040502050405020303"/>
                    <a:cs typeface="Georgia" panose="02040502050405020303"/>
                    <a:sym typeface="Georgia" panose="02040502050405020303"/>
                  </a:endParaRPr>
                </a:p>
              </p:txBody>
            </p:sp>
          </p:grpSp>
        </p:grpSp>
        <p:sp>
          <p:nvSpPr>
            <p:cNvPr id="1038" name="Google Shape;1038;p51"/>
            <p:cNvSpPr txBox="1"/>
            <p:nvPr/>
          </p:nvSpPr>
          <p:spPr>
            <a:xfrm>
              <a:off x="5659759" y="914325"/>
              <a:ext cx="78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0.9</a:t>
              </a:r>
              <a:endParaRPr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sp>
          <p:nvSpPr>
            <p:cNvPr id="1039" name="Google Shape;1039;p51"/>
            <p:cNvSpPr txBox="1"/>
            <p:nvPr/>
          </p:nvSpPr>
          <p:spPr>
            <a:xfrm>
              <a:off x="6278174" y="1706363"/>
              <a:ext cx="72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0.1</a:t>
              </a:r>
              <a:endParaRPr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pic>
        <p:nvPicPr>
          <p:cNvPr id="2" name="Google Shape;943;p49">
            <a:extLst>
              <a:ext uri="{FF2B5EF4-FFF2-40B4-BE49-F238E27FC236}">
                <a16:creationId xmlns:a16="http://schemas.microsoft.com/office/drawing/2014/main" id="{1E99D9BC-FFFF-22D9-3342-44B6B7F4B62B}"/>
              </a:ext>
            </a:extLst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031150" y="3191926"/>
            <a:ext cx="1002725" cy="78389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6F5C47-B9DC-5EF6-9D74-ED5562BF51EE}"/>
                  </a:ext>
                </a:extLst>
              </p:cNvPr>
              <p:cNvSpPr txBox="1"/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6F5C47-B9DC-5EF6-9D74-ED5562BF5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blipFill>
                <a:blip r:embed="rId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998;p51">
                <a:extLst>
                  <a:ext uri="{FF2B5EF4-FFF2-40B4-BE49-F238E27FC236}">
                    <a16:creationId xmlns:a16="http://schemas.microsoft.com/office/drawing/2014/main" id="{2EA269C8-BE8E-9D54-40FC-95FB6EFF61D8}"/>
                  </a:ext>
                </a:extLst>
              </p:cNvPr>
              <p:cNvSpPr txBox="1"/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sz="12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5" name="Google Shape;998;p51">
                <a:extLst>
                  <a:ext uri="{FF2B5EF4-FFF2-40B4-BE49-F238E27FC236}">
                    <a16:creationId xmlns:a16="http://schemas.microsoft.com/office/drawing/2014/main" id="{2EA269C8-BE8E-9D54-40FC-95FB6EFF6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302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0"/>
          <p:cNvSpPr/>
          <p:nvPr/>
        </p:nvSpPr>
        <p:spPr>
          <a:xfrm>
            <a:off x="912725" y="1637050"/>
            <a:ext cx="6741300" cy="15174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49" name="Google Shape;949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 Light" panose="020F0302020204030204" pitchFamily="34" charset="0"/>
                <a:cs typeface="Calibri Light" panose="020F0302020204030204" pitchFamily="34" charset="0"/>
              </a:rPr>
              <a:t>Verification of neural networks</a:t>
            </a:r>
          </a:p>
        </p:txBody>
      </p:sp>
      <p:sp>
        <p:nvSpPr>
          <p:cNvPr id="950" name="Google Shape;950;p50"/>
          <p:cNvSpPr txBox="1"/>
          <p:nvPr/>
        </p:nvSpPr>
        <p:spPr>
          <a:xfrm>
            <a:off x="939525" y="1017713"/>
            <a:ext cx="6531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Satisfiability problem: ∃ x ∈ S  ∧  y ≤ 0  ∧  y = f(x) </a:t>
            </a:r>
            <a:endParaRPr sz="2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1" name="Google Shape;951;p50"/>
          <p:cNvSpPr txBox="1"/>
          <p:nvPr/>
        </p:nvSpPr>
        <p:spPr>
          <a:xfrm>
            <a:off x="939525" y="2042425"/>
            <a:ext cx="754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((z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 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≥ 0 ∧ ẑ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 z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r>
              <a:rPr lang="en-GB" sz="1800">
                <a:solidFill>
                  <a:srgbClr val="BD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∨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(z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0 ∧ ẑ</a:t>
            </a:r>
            <a:r>
              <a:rPr lang="en-GB" sz="1800" baseline="-25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(i)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 0))  for each ReLU neuron</a:t>
            </a:r>
            <a:endParaRPr sz="180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2" name="Google Shape;952;p50"/>
          <p:cNvSpPr txBox="1"/>
          <p:nvPr/>
        </p:nvSpPr>
        <p:spPr>
          <a:xfrm>
            <a:off x="939525" y="2646500"/>
            <a:ext cx="7164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z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=W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(1)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x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     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z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(2)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=W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(2)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ẑ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(1)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</a:t>
            </a:r>
            <a:r>
              <a:rPr lang="en-GB" sz="21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  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y=w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(3)T</a:t>
            </a:r>
            <a:r>
              <a:rPr lang="en-GB" sz="21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ẑ</a:t>
            </a:r>
            <a:r>
              <a:rPr lang="en-GB" sz="2100" baseline="30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(2)  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   y ≤ 0 </a:t>
            </a:r>
            <a:endParaRPr sz="2100" baseline="30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3" name="Google Shape;953;p50"/>
          <p:cNvSpPr txBox="1"/>
          <p:nvPr/>
        </p:nvSpPr>
        <p:spPr>
          <a:xfrm>
            <a:off x="939525" y="3254913"/>
            <a:ext cx="6531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Add all clauses to the formula and solve using DPLL(T) with Linear Real Arithmetic.</a:t>
            </a:r>
            <a:endParaRPr sz="2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4" name="Google Shape;954;p50"/>
          <p:cNvSpPr txBox="1"/>
          <p:nvPr/>
        </p:nvSpPr>
        <p:spPr>
          <a:xfrm>
            <a:off x="939525" y="3998063"/>
            <a:ext cx="65313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 general this is very slow! </a:t>
            </a:r>
            <a:endParaRPr sz="20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55" name="Google Shape;955;p50"/>
          <p:cNvSpPr txBox="1"/>
          <p:nvPr/>
        </p:nvSpPr>
        <p:spPr>
          <a:xfrm>
            <a:off x="957125" y="1565450"/>
            <a:ext cx="54135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x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≤ u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  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∧ x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18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≥</a:t>
            </a:r>
            <a:r>
              <a:rPr lang="en-GB" sz="2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l</a:t>
            </a:r>
            <a:r>
              <a:rPr lang="en-GB" sz="2000" baseline="-2500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 </a:t>
            </a:r>
            <a:r>
              <a:rPr lang="en-GB" sz="180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each dimension of x</a:t>
            </a:r>
            <a:endParaRPr sz="1800">
              <a:solidFill>
                <a:schemeClr val="dk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aseline="-2500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Google Shape;943;p49">
            <a:extLst>
              <a:ext uri="{FF2B5EF4-FFF2-40B4-BE49-F238E27FC236}">
                <a16:creationId xmlns:a16="http://schemas.microsoft.com/office/drawing/2014/main" id="{3DA676A5-91F2-44ED-39C0-AB1DFDDA06CE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31150" y="3191926"/>
            <a:ext cx="1002725" cy="78389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EF5B0C-588F-E8DD-5C0C-A7EA29447A28}"/>
                  </a:ext>
                </a:extLst>
              </p:cNvPr>
              <p:cNvSpPr txBox="1"/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GB" sz="1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EF5B0C-588F-E8DD-5C0C-A7EA29447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7825" y="3981199"/>
                <a:ext cx="856175" cy="390876"/>
              </a:xfrm>
              <a:prstGeom prst="rect">
                <a:avLst/>
              </a:prstGeom>
              <a:blipFill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998;p51">
                <a:extLst>
                  <a:ext uri="{FF2B5EF4-FFF2-40B4-BE49-F238E27FC236}">
                    <a16:creationId xmlns:a16="http://schemas.microsoft.com/office/drawing/2014/main" id="{90289886-8EAD-4ACB-60C3-40D5D1584001}"/>
                  </a:ext>
                </a:extLst>
              </p:cNvPr>
              <p:cNvSpPr txBox="1"/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sz="12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4" name="Google Shape;998;p51">
                <a:extLst>
                  <a:ext uri="{FF2B5EF4-FFF2-40B4-BE49-F238E27FC236}">
                    <a16:creationId xmlns:a16="http://schemas.microsoft.com/office/drawing/2014/main" id="{90289886-8EAD-4ACB-60C3-40D5D1584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327" y="3350258"/>
                <a:ext cx="653400" cy="52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/>
          <p:nvPr/>
        </p:nvSpPr>
        <p:spPr>
          <a:xfrm>
            <a:off x="912725" y="1637050"/>
            <a:ext cx="6741300" cy="15174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1"/>
          <p:cNvSpPr txBox="1">
            <a:spLocks noGrp="1"/>
          </p:cNvSpPr>
          <p:nvPr>
            <p:ph type="title"/>
          </p:nvPr>
        </p:nvSpPr>
        <p:spPr>
          <a:xfrm>
            <a:off x="44275" y="445025"/>
            <a:ext cx="903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does a SMT solver solve this problem?</a:t>
            </a:r>
          </a:p>
        </p:txBody>
      </p:sp>
      <p:sp>
        <p:nvSpPr>
          <p:cNvPr id="256" name="Google Shape;256;p21"/>
          <p:cNvSpPr txBox="1"/>
          <p:nvPr/>
        </p:nvSpPr>
        <p:spPr>
          <a:xfrm>
            <a:off x="939525" y="1017713"/>
            <a:ext cx="6531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Obtain the abstract version of the problem</a:t>
            </a:r>
            <a:endParaRPr sz="2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2"/>
              </a:solidFill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939525" y="2042425"/>
            <a:ext cx="754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((</a:t>
            </a:r>
            <a:r>
              <a:rPr lang="en-GB" sz="1800" dirty="0" err="1">
                <a:solidFill>
                  <a:schemeClr val="dk2"/>
                </a:solidFill>
              </a:rPr>
              <a:t>z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2"/>
                </a:solidFill>
              </a:rPr>
              <a:t>≥ 0 ∧ </a:t>
            </a:r>
            <a:r>
              <a:rPr lang="en-GB" sz="1800" dirty="0" err="1">
                <a:solidFill>
                  <a:schemeClr val="dk2"/>
                </a:solidFill>
              </a:rPr>
              <a:t>ẑ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= </a:t>
            </a:r>
            <a:r>
              <a:rPr lang="en-GB" sz="1800" dirty="0" err="1">
                <a:solidFill>
                  <a:schemeClr val="dk2"/>
                </a:solidFill>
              </a:rPr>
              <a:t>z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 ∨ (</a:t>
            </a:r>
            <a:r>
              <a:rPr lang="en-GB" sz="1800" dirty="0" err="1">
                <a:solidFill>
                  <a:schemeClr val="dk2"/>
                </a:solidFill>
              </a:rPr>
              <a:t>z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2000" dirty="0">
                <a:solidFill>
                  <a:schemeClr val="dk2"/>
                </a:solidFill>
              </a:rPr>
              <a:t>&lt;</a:t>
            </a:r>
            <a:r>
              <a:rPr lang="en-GB" sz="1800" dirty="0">
                <a:solidFill>
                  <a:schemeClr val="dk2"/>
                </a:solidFill>
              </a:rPr>
              <a:t> 0 ∧ </a:t>
            </a:r>
            <a:r>
              <a:rPr lang="en-GB" sz="1800" dirty="0" err="1">
                <a:solidFill>
                  <a:schemeClr val="dk2"/>
                </a:solidFill>
              </a:rPr>
              <a:t>ẑ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= 0))  for each </a:t>
            </a:r>
            <a:r>
              <a:rPr lang="en-GB" sz="1800" dirty="0" err="1">
                <a:solidFill>
                  <a:schemeClr val="dk2"/>
                </a:solidFill>
              </a:rPr>
              <a:t>ReLU</a:t>
            </a:r>
            <a:r>
              <a:rPr lang="en-GB" sz="1800" dirty="0">
                <a:solidFill>
                  <a:schemeClr val="dk2"/>
                </a:solidFill>
              </a:rPr>
              <a:t> neuron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939525" y="2646500"/>
            <a:ext cx="7164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solidFill>
                  <a:schemeClr val="dk2"/>
                </a:solidFill>
              </a:rPr>
              <a:t>z</a:t>
            </a:r>
            <a:r>
              <a:rPr lang="en-GB" sz="2100" baseline="-25000" dirty="0">
                <a:solidFill>
                  <a:schemeClr val="dk2"/>
                </a:solidFill>
              </a:rPr>
              <a:t>1</a:t>
            </a:r>
            <a:r>
              <a:rPr lang="en-GB" sz="2100" dirty="0">
                <a:solidFill>
                  <a:schemeClr val="dk2"/>
                </a:solidFill>
              </a:rPr>
              <a:t> =W</a:t>
            </a:r>
            <a:r>
              <a:rPr lang="en-GB" sz="2100" baseline="30000" dirty="0">
                <a:solidFill>
                  <a:schemeClr val="dk2"/>
                </a:solidFill>
              </a:rPr>
              <a:t>(1)</a:t>
            </a:r>
            <a:r>
              <a:rPr lang="en-GB" sz="2100" dirty="0">
                <a:solidFill>
                  <a:schemeClr val="dk2"/>
                </a:solidFill>
              </a:rPr>
              <a:t> x</a:t>
            </a:r>
            <a:r>
              <a:rPr lang="en-GB" sz="2100" baseline="30000" dirty="0">
                <a:solidFill>
                  <a:schemeClr val="dk2"/>
                </a:solidFill>
              </a:rPr>
              <a:t>    </a:t>
            </a:r>
            <a:r>
              <a:rPr lang="en-GB" sz="2100" baseline="-25000" dirty="0">
                <a:solidFill>
                  <a:schemeClr val="dk2"/>
                </a:solidFill>
              </a:rPr>
              <a:t> </a:t>
            </a:r>
            <a:r>
              <a:rPr lang="en-GB" sz="2000" dirty="0">
                <a:solidFill>
                  <a:schemeClr val="dk2"/>
                </a:solidFill>
              </a:rPr>
              <a:t>∧</a:t>
            </a:r>
            <a:r>
              <a:rPr lang="en-GB" sz="2100" baseline="-25000" dirty="0">
                <a:solidFill>
                  <a:schemeClr val="dk2"/>
                </a:solidFill>
              </a:rPr>
              <a:t>         </a:t>
            </a:r>
            <a:r>
              <a:rPr lang="en-GB" sz="2100" dirty="0">
                <a:solidFill>
                  <a:schemeClr val="dk2"/>
                </a:solidFill>
              </a:rPr>
              <a:t>z</a:t>
            </a:r>
            <a:r>
              <a:rPr lang="en-GB" sz="2100" baseline="30000" dirty="0">
                <a:solidFill>
                  <a:schemeClr val="dk2"/>
                </a:solidFill>
              </a:rPr>
              <a:t>(2)</a:t>
            </a:r>
            <a:r>
              <a:rPr lang="en-GB" sz="2100" dirty="0">
                <a:solidFill>
                  <a:schemeClr val="dk2"/>
                </a:solidFill>
              </a:rPr>
              <a:t> =W</a:t>
            </a:r>
            <a:r>
              <a:rPr lang="en-GB" sz="2100" baseline="30000" dirty="0">
                <a:solidFill>
                  <a:schemeClr val="dk2"/>
                </a:solidFill>
              </a:rPr>
              <a:t>(2)</a:t>
            </a:r>
            <a:r>
              <a:rPr lang="en-GB" sz="2100" dirty="0">
                <a:solidFill>
                  <a:schemeClr val="dk2"/>
                </a:solidFill>
              </a:rPr>
              <a:t> </a:t>
            </a:r>
            <a:r>
              <a:rPr lang="en-GB" sz="2100" dirty="0" err="1">
                <a:solidFill>
                  <a:schemeClr val="dk2"/>
                </a:solidFill>
              </a:rPr>
              <a:t>ẑ</a:t>
            </a:r>
            <a:r>
              <a:rPr lang="en-GB" sz="2100" baseline="30000" dirty="0">
                <a:solidFill>
                  <a:schemeClr val="dk2"/>
                </a:solidFill>
              </a:rPr>
              <a:t>(1)</a:t>
            </a:r>
            <a:r>
              <a:rPr lang="en-GB" sz="2100" baseline="-25000" dirty="0">
                <a:solidFill>
                  <a:schemeClr val="dk2"/>
                </a:solidFill>
              </a:rPr>
              <a:t>     </a:t>
            </a:r>
            <a:r>
              <a:rPr lang="en-GB" sz="2000" dirty="0">
                <a:solidFill>
                  <a:schemeClr val="dk2"/>
                </a:solidFill>
              </a:rPr>
              <a:t>∧</a:t>
            </a:r>
            <a:r>
              <a:rPr lang="en-GB" sz="2100" baseline="-25000" dirty="0">
                <a:solidFill>
                  <a:schemeClr val="dk2"/>
                </a:solidFill>
              </a:rPr>
              <a:t>    </a:t>
            </a:r>
            <a:r>
              <a:rPr lang="en-GB" sz="2100" dirty="0">
                <a:solidFill>
                  <a:schemeClr val="dk2"/>
                </a:solidFill>
              </a:rPr>
              <a:t> y=w</a:t>
            </a:r>
            <a:r>
              <a:rPr lang="en-GB" sz="2100" baseline="30000" dirty="0">
                <a:solidFill>
                  <a:schemeClr val="dk2"/>
                </a:solidFill>
              </a:rPr>
              <a:t>(3)T</a:t>
            </a:r>
            <a:r>
              <a:rPr lang="en-GB" sz="2100" dirty="0">
                <a:solidFill>
                  <a:schemeClr val="dk2"/>
                </a:solidFill>
              </a:rPr>
              <a:t> </a:t>
            </a:r>
            <a:r>
              <a:rPr lang="en-GB" sz="2100" dirty="0" err="1">
                <a:solidFill>
                  <a:schemeClr val="dk2"/>
                </a:solidFill>
              </a:rPr>
              <a:t>ẑ</a:t>
            </a:r>
            <a:r>
              <a:rPr lang="en-GB" sz="2100" baseline="30000" dirty="0">
                <a:solidFill>
                  <a:schemeClr val="dk2"/>
                </a:solidFill>
              </a:rPr>
              <a:t>(2)   </a:t>
            </a:r>
            <a:r>
              <a:rPr lang="en-GB" sz="2000" dirty="0">
                <a:solidFill>
                  <a:schemeClr val="dk2"/>
                </a:solidFill>
              </a:rPr>
              <a:t>∧   y ≤ 0 </a:t>
            </a:r>
            <a:endParaRPr sz="2100" baseline="30000" dirty="0">
              <a:solidFill>
                <a:schemeClr val="dk2"/>
              </a:solidFill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957125" y="1565450"/>
            <a:ext cx="754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x</a:t>
            </a:r>
            <a:r>
              <a:rPr lang="en-GB" sz="2000" baseline="-25000">
                <a:solidFill>
                  <a:schemeClr val="dk2"/>
                </a:solidFill>
              </a:rPr>
              <a:t>i</a:t>
            </a:r>
            <a:r>
              <a:rPr lang="en-GB" sz="2000">
                <a:solidFill>
                  <a:schemeClr val="dk2"/>
                </a:solidFill>
              </a:rPr>
              <a:t> ≤ u</a:t>
            </a:r>
            <a:r>
              <a:rPr lang="en-GB" sz="2000" baseline="-25000">
                <a:solidFill>
                  <a:schemeClr val="dk2"/>
                </a:solidFill>
              </a:rPr>
              <a:t>i  </a:t>
            </a:r>
            <a:r>
              <a:rPr lang="en-GB" sz="2000">
                <a:solidFill>
                  <a:schemeClr val="dk2"/>
                </a:solidFill>
              </a:rPr>
              <a:t>∧ x</a:t>
            </a:r>
            <a:r>
              <a:rPr lang="en-GB" sz="2000" baseline="-25000">
                <a:solidFill>
                  <a:schemeClr val="dk2"/>
                </a:solidFill>
              </a:rPr>
              <a:t>i</a:t>
            </a:r>
            <a:r>
              <a:rPr lang="en-GB" sz="2000">
                <a:solidFill>
                  <a:schemeClr val="dk2"/>
                </a:solidFill>
              </a:rPr>
              <a:t> </a:t>
            </a:r>
            <a:r>
              <a:rPr lang="en-GB" sz="1800">
                <a:solidFill>
                  <a:schemeClr val="dk2"/>
                </a:solidFill>
              </a:rPr>
              <a:t>≥</a:t>
            </a:r>
            <a:r>
              <a:rPr lang="en-GB" sz="2000">
                <a:solidFill>
                  <a:schemeClr val="dk2"/>
                </a:solidFill>
              </a:rPr>
              <a:t> l</a:t>
            </a:r>
            <a:r>
              <a:rPr lang="en-GB" sz="2000" baseline="-25000">
                <a:solidFill>
                  <a:schemeClr val="dk2"/>
                </a:solidFill>
              </a:rPr>
              <a:t>i </a:t>
            </a:r>
            <a:r>
              <a:rPr lang="en-GB" sz="1800">
                <a:solidFill>
                  <a:schemeClr val="dk1"/>
                </a:solidFill>
              </a:rPr>
              <a:t>  </a:t>
            </a:r>
            <a:r>
              <a:rPr lang="en-GB" sz="2000">
                <a:solidFill>
                  <a:schemeClr val="dk2"/>
                </a:solidFill>
              </a:rPr>
              <a:t> (assuming box constraints)</a:t>
            </a:r>
            <a:endParaRPr sz="2000" baseline="-25000">
              <a:solidFill>
                <a:schemeClr val="dk2"/>
              </a:solidFill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813675" y="3319925"/>
            <a:ext cx="7775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2"/>
                </a:solidFill>
              </a:rPr>
              <a:t>For each </a:t>
            </a:r>
            <a:r>
              <a:rPr lang="en-GB" sz="2000" dirty="0" err="1">
                <a:solidFill>
                  <a:schemeClr val="dk2"/>
                </a:solidFill>
              </a:rPr>
              <a:t>ReLU</a:t>
            </a:r>
            <a:r>
              <a:rPr lang="en-GB" sz="2000" dirty="0">
                <a:solidFill>
                  <a:schemeClr val="dk2"/>
                </a:solidFill>
              </a:rPr>
              <a:t> neuron: </a:t>
            </a:r>
            <a:r>
              <a:rPr lang="en-GB" sz="1800" dirty="0">
                <a:solidFill>
                  <a:schemeClr val="dk2"/>
                </a:solidFill>
              </a:rPr>
              <a:t>((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2"/>
                </a:solidFill>
              </a:rPr>
              <a:t>∧ </a:t>
            </a:r>
            <a:r>
              <a:rPr lang="en-GB" sz="1800" dirty="0" err="1">
                <a:solidFill>
                  <a:schemeClr val="dk2"/>
                </a:solidFill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rgbClr val="FF0000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(¬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 ∧ </a:t>
            </a:r>
            <a:r>
              <a:rPr lang="en-GB" sz="1800" dirty="0" err="1">
                <a:solidFill>
                  <a:schemeClr val="dk2"/>
                </a:solidFill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))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2"/>
                </a:solidFill>
              </a:rPr>
              <a:t>All other clauses contain only a single literal, and must be set to True</a:t>
            </a:r>
            <a:endParaRPr sz="1800" b="1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>
            <a:spLocks noGrp="1"/>
          </p:cNvSpPr>
          <p:nvPr>
            <p:ph type="title"/>
          </p:nvPr>
        </p:nvSpPr>
        <p:spPr>
          <a:xfrm>
            <a:off x="44275" y="445025"/>
            <a:ext cx="903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does a SMT solver solve this problem?</a:t>
            </a:r>
          </a:p>
        </p:txBody>
      </p:sp>
      <p:sp>
        <p:nvSpPr>
          <p:cNvPr id="266" name="Google Shape;266;p22"/>
          <p:cNvSpPr txBox="1"/>
          <p:nvPr/>
        </p:nvSpPr>
        <p:spPr>
          <a:xfrm>
            <a:off x="939525" y="1017713"/>
            <a:ext cx="6531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2"/>
                </a:solidFill>
              </a:rPr>
              <a:t>Now convert to CNF form</a:t>
            </a:r>
            <a:endParaRPr sz="20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939525" y="1818125"/>
            <a:ext cx="78528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2"/>
                </a:solidFill>
              </a:rPr>
              <a:t>For each </a:t>
            </a:r>
            <a:r>
              <a:rPr lang="en-GB" sz="2000" dirty="0" err="1">
                <a:solidFill>
                  <a:schemeClr val="dk2"/>
                </a:solidFill>
              </a:rPr>
              <a:t>ReLU</a:t>
            </a:r>
            <a:r>
              <a:rPr lang="en-GB" sz="2000" dirty="0">
                <a:solidFill>
                  <a:schemeClr val="dk2"/>
                </a:solidFill>
              </a:rPr>
              <a:t> neuron: </a:t>
            </a:r>
            <a:r>
              <a:rPr lang="en-GB" sz="1800" dirty="0">
                <a:solidFill>
                  <a:schemeClr val="dk2"/>
                </a:solidFill>
              </a:rPr>
              <a:t>((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2"/>
                </a:solidFill>
              </a:rPr>
              <a:t>∧ </a:t>
            </a:r>
            <a:r>
              <a:rPr lang="en-GB" sz="1800" dirty="0" err="1">
                <a:solidFill>
                  <a:schemeClr val="dk2"/>
                </a:solidFill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rgbClr val="FF0000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(¬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 ∧ </a:t>
            </a:r>
            <a:r>
              <a:rPr lang="en-GB" sz="1800" dirty="0" err="1">
                <a:solidFill>
                  <a:schemeClr val="dk2"/>
                </a:solidFill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))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Distribution: ((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1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¬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 ∧ (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1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 err="1">
                <a:solidFill>
                  <a:schemeClr val="dk2"/>
                </a:solidFill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 ∧(</a:t>
            </a:r>
            <a:r>
              <a:rPr lang="en-GB" sz="1800" dirty="0" err="1">
                <a:solidFill>
                  <a:schemeClr val="dk2"/>
                </a:solidFill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1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¬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 ∧(</a:t>
            </a:r>
            <a:r>
              <a:rPr lang="en-GB" sz="1800" dirty="0" err="1">
                <a:solidFill>
                  <a:schemeClr val="dk2"/>
                </a:solidFill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>
                <a:solidFill>
                  <a:schemeClr val="dk1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 err="1">
                <a:solidFill>
                  <a:schemeClr val="dk2"/>
                </a:solidFill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))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Rewrite: (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1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 err="1">
                <a:solidFill>
                  <a:schemeClr val="dk2"/>
                </a:solidFill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 ∧(¬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>
                <a:solidFill>
                  <a:schemeClr val="dk1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 err="1">
                <a:solidFill>
                  <a:schemeClr val="dk2"/>
                </a:solidFill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2"/>
                </a:solidFill>
              </a:rPr>
              <a:t>) ∧(</a:t>
            </a:r>
            <a:r>
              <a:rPr lang="en-GB" sz="1800" dirty="0" err="1">
                <a:solidFill>
                  <a:schemeClr val="dk2"/>
                </a:solidFill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>
                <a:solidFill>
                  <a:schemeClr val="dk1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 err="1">
                <a:solidFill>
                  <a:schemeClr val="dk2"/>
                </a:solidFill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))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Observe that when 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1"/>
                </a:solidFill>
              </a:rPr>
              <a:t>=True, </a:t>
            </a:r>
            <a:r>
              <a:rPr lang="en-GB" sz="1800" dirty="0" err="1">
                <a:solidFill>
                  <a:schemeClr val="dk2"/>
                </a:solidFill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2"/>
                </a:solidFill>
              </a:rPr>
              <a:t>must be true; 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1"/>
                </a:solidFill>
              </a:rPr>
              <a:t>=False, </a:t>
            </a:r>
            <a:r>
              <a:rPr lang="en-GB" sz="1800" dirty="0" err="1">
                <a:solidFill>
                  <a:schemeClr val="dk2"/>
                </a:solidFill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2"/>
                </a:solidFill>
              </a:rPr>
              <a:t>must be true;</a:t>
            </a:r>
            <a:br>
              <a:rPr lang="en-GB" sz="1800" dirty="0">
                <a:solidFill>
                  <a:schemeClr val="dk2"/>
                </a:solidFill>
              </a:rPr>
            </a:b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So, the clause </a:t>
            </a:r>
            <a:r>
              <a:rPr lang="en-GB" sz="1800" dirty="0" err="1">
                <a:solidFill>
                  <a:schemeClr val="dk2"/>
                </a:solidFill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>
                <a:solidFill>
                  <a:schemeClr val="dk1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 err="1">
                <a:solidFill>
                  <a:schemeClr val="dk2"/>
                </a:solidFill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2"/>
                </a:solidFill>
              </a:rPr>
              <a:t>is redundant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"/>
          <p:cNvSpPr txBox="1">
            <a:spLocks noGrp="1"/>
          </p:cNvSpPr>
          <p:nvPr>
            <p:ph type="title"/>
          </p:nvPr>
        </p:nvSpPr>
        <p:spPr>
          <a:xfrm>
            <a:off x="44275" y="445025"/>
            <a:ext cx="903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does a SMT solver solve this problem?</a:t>
            </a:r>
          </a:p>
        </p:txBody>
      </p:sp>
      <p:sp>
        <p:nvSpPr>
          <p:cNvPr id="273" name="Google Shape;273;p23"/>
          <p:cNvSpPr txBox="1"/>
          <p:nvPr/>
        </p:nvSpPr>
        <p:spPr>
          <a:xfrm>
            <a:off x="939525" y="1017713"/>
            <a:ext cx="6531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dirty="0">
                <a:solidFill>
                  <a:schemeClr val="dk2"/>
                </a:solidFill>
              </a:rPr>
              <a:t>(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1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 err="1">
                <a:solidFill>
                  <a:schemeClr val="dk2"/>
                </a:solidFill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) ∧(¬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>
                <a:solidFill>
                  <a:schemeClr val="dk1"/>
                </a:solidFill>
              </a:rPr>
              <a:t>∨</a:t>
            </a:r>
            <a:r>
              <a:rPr lang="en-GB" sz="1800" dirty="0">
                <a:solidFill>
                  <a:schemeClr val="dk2"/>
                </a:solidFill>
              </a:rPr>
              <a:t> </a:t>
            </a:r>
            <a:r>
              <a:rPr lang="en-GB" sz="1800" dirty="0" err="1">
                <a:solidFill>
                  <a:schemeClr val="dk2"/>
                </a:solidFill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2"/>
                </a:solidFill>
              </a:rPr>
              <a:t>)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When 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1"/>
                </a:solidFill>
              </a:rPr>
              <a:t>=True, </a:t>
            </a:r>
            <a:r>
              <a:rPr lang="en-GB" sz="1800" dirty="0" err="1">
                <a:solidFill>
                  <a:schemeClr val="dk1"/>
                </a:solidFill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2"/>
                </a:solidFill>
              </a:rPr>
              <a:t>must be true; 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r>
              <a:rPr lang="en-GB" sz="1800" dirty="0">
                <a:solidFill>
                  <a:schemeClr val="dk1"/>
                </a:solidFill>
              </a:rPr>
              <a:t>=False, </a:t>
            </a:r>
            <a:r>
              <a:rPr lang="en-GB" sz="1800" dirty="0" err="1">
                <a:solidFill>
                  <a:schemeClr val="dk2"/>
                </a:solidFill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 </a:t>
            </a:r>
            <a:r>
              <a:rPr lang="en-GB" sz="1800" dirty="0">
                <a:solidFill>
                  <a:schemeClr val="dk2"/>
                </a:solidFill>
              </a:rPr>
              <a:t>must be true;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dirty="0">
                <a:solidFill>
                  <a:schemeClr val="dk2"/>
                </a:solidFill>
              </a:rPr>
              <a:t>SAT solver must try both cases of </a:t>
            </a:r>
            <a:r>
              <a:rPr lang="en-GB" sz="1800" dirty="0" err="1">
                <a:solidFill>
                  <a:schemeClr val="dk2"/>
                </a:solidFill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</a:rPr>
              <a:t>j</a:t>
            </a:r>
            <a:r>
              <a:rPr lang="en-GB" sz="1800" baseline="30000" dirty="0">
                <a:solidFill>
                  <a:schemeClr val="dk2"/>
                </a:solidFill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</a:rPr>
              <a:t>i</a:t>
            </a:r>
            <a:r>
              <a:rPr lang="en-GB" sz="1800" baseline="30000" dirty="0">
                <a:solidFill>
                  <a:schemeClr val="dk2"/>
                </a:solidFill>
              </a:rPr>
              <a:t>)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939525" y="28506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</a:t>
            </a:r>
            <a:r>
              <a:rPr lang="en-GB" sz="1800" baseline="-25000">
                <a:solidFill>
                  <a:schemeClr val="dk2"/>
                </a:solidFill>
              </a:rPr>
              <a:t>j</a:t>
            </a:r>
            <a:r>
              <a:rPr lang="en-GB" sz="1800" baseline="30000">
                <a:solidFill>
                  <a:schemeClr val="dk2"/>
                </a:solidFill>
              </a:rPr>
              <a:t>(i)</a:t>
            </a:r>
            <a:r>
              <a:rPr lang="en-GB" sz="1800">
                <a:solidFill>
                  <a:schemeClr val="dk2"/>
                </a:solidFill>
              </a:rPr>
              <a:t>=True  (z</a:t>
            </a:r>
            <a:r>
              <a:rPr lang="en-GB" sz="1800" baseline="-25000">
                <a:solidFill>
                  <a:schemeClr val="dk2"/>
                </a:solidFill>
              </a:rPr>
              <a:t>j</a:t>
            </a:r>
            <a:r>
              <a:rPr lang="en-GB" sz="1800" baseline="30000">
                <a:solidFill>
                  <a:schemeClr val="dk2"/>
                </a:solidFill>
              </a:rPr>
              <a:t>(i) </a:t>
            </a:r>
            <a:r>
              <a:rPr lang="en-GB" sz="1800">
                <a:solidFill>
                  <a:schemeClr val="dk2"/>
                </a:solidFill>
              </a:rPr>
              <a:t>≥ 0)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4470825" y="28506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</a:t>
            </a:r>
            <a:r>
              <a:rPr lang="en-GB" sz="1800" baseline="-25000">
                <a:solidFill>
                  <a:schemeClr val="dk2"/>
                </a:solidFill>
              </a:rPr>
              <a:t>j</a:t>
            </a:r>
            <a:r>
              <a:rPr lang="en-GB" sz="1800" baseline="30000">
                <a:solidFill>
                  <a:schemeClr val="dk2"/>
                </a:solidFill>
              </a:rPr>
              <a:t>(i)</a:t>
            </a:r>
            <a:r>
              <a:rPr lang="en-GB" sz="1800">
                <a:solidFill>
                  <a:schemeClr val="dk2"/>
                </a:solidFill>
              </a:rPr>
              <a:t>=False  (z</a:t>
            </a:r>
            <a:r>
              <a:rPr lang="en-GB" sz="1800" baseline="-25000">
                <a:solidFill>
                  <a:schemeClr val="dk2"/>
                </a:solidFill>
              </a:rPr>
              <a:t>j</a:t>
            </a:r>
            <a:r>
              <a:rPr lang="en-GB" sz="1800" baseline="30000">
                <a:solidFill>
                  <a:schemeClr val="dk2"/>
                </a:solidFill>
              </a:rPr>
              <a:t>(i) </a:t>
            </a:r>
            <a:r>
              <a:rPr lang="en-GB" sz="2000">
                <a:solidFill>
                  <a:schemeClr val="dk2"/>
                </a:solidFill>
              </a:rPr>
              <a:t>&lt;</a:t>
            </a:r>
            <a:r>
              <a:rPr lang="en-GB" sz="1800">
                <a:solidFill>
                  <a:schemeClr val="dk2"/>
                </a:solidFill>
              </a:rPr>
              <a:t> 0)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76" name="Google Shape;276;p23"/>
          <p:cNvGrpSpPr/>
          <p:nvPr/>
        </p:nvGrpSpPr>
        <p:grpSpPr>
          <a:xfrm>
            <a:off x="1625099" y="3587034"/>
            <a:ext cx="1925808" cy="1280700"/>
            <a:chOff x="3971450" y="691950"/>
            <a:chExt cx="2261400" cy="1707600"/>
          </a:xfrm>
        </p:grpSpPr>
        <p:cxnSp>
          <p:nvCxnSpPr>
            <p:cNvPr id="277" name="Google Shape;277;p23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8" name="Google Shape;278;p23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279" name="Google Shape;279;p23"/>
            <p:cNvCxnSpPr/>
            <p:nvPr/>
          </p:nvCxnSpPr>
          <p:spPr>
            <a:xfrm rot="10800000" flipH="1">
              <a:off x="5060625" y="929550"/>
              <a:ext cx="839400" cy="953100"/>
            </a:xfrm>
            <a:prstGeom prst="straightConnector1">
              <a:avLst/>
            </a:prstGeom>
            <a:noFill/>
            <a:ln w="28575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0" name="Google Shape;280;p23"/>
          <p:cNvGrpSpPr/>
          <p:nvPr/>
        </p:nvGrpSpPr>
        <p:grpSpPr>
          <a:xfrm>
            <a:off x="4960549" y="3587034"/>
            <a:ext cx="1925808" cy="1280700"/>
            <a:chOff x="3971450" y="691950"/>
            <a:chExt cx="2261400" cy="1707600"/>
          </a:xfrm>
        </p:grpSpPr>
        <p:cxnSp>
          <p:nvCxnSpPr>
            <p:cNvPr id="281" name="Google Shape;281;p23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2" name="Google Shape;282;p23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283" name="Google Shape;283;p23"/>
            <p:cNvCxnSpPr/>
            <p:nvPr/>
          </p:nvCxnSpPr>
          <p:spPr>
            <a:xfrm>
              <a:off x="4073025" y="188265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>
            <a:spLocks noGrp="1"/>
          </p:cNvSpPr>
          <p:nvPr>
            <p:ph type="title"/>
          </p:nvPr>
        </p:nvSpPr>
        <p:spPr>
          <a:xfrm>
            <a:off x="318325" y="445025"/>
            <a:ext cx="903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using a SMT solver is very slow?</a:t>
            </a:r>
          </a:p>
        </p:txBody>
      </p:sp>
      <p:sp>
        <p:nvSpPr>
          <p:cNvPr id="289" name="Google Shape;289;p24"/>
          <p:cNvSpPr txBox="1"/>
          <p:nvPr/>
        </p:nvSpPr>
        <p:spPr>
          <a:xfrm>
            <a:off x="939525" y="1017725"/>
            <a:ext cx="79479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r>
              <a:rPr lang="en-GB" sz="1800" dirty="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∨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18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∧(¬</a:t>
            </a:r>
            <a:r>
              <a:rPr lang="en-GB" sz="18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1800" dirty="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∨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18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When </a:t>
            </a:r>
            <a:r>
              <a:rPr lang="en-GB" sz="18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r>
              <a:rPr lang="en-GB" sz="1800" dirty="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=True, </a:t>
            </a:r>
            <a:r>
              <a:rPr lang="en-GB" sz="18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q</a:t>
            </a:r>
            <a:r>
              <a:rPr lang="en-GB" sz="1800" baseline="-25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must be true; </a:t>
            </a:r>
            <a:r>
              <a:rPr lang="en-GB" sz="18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r>
              <a:rPr lang="en-GB" sz="1800" dirty="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=False, </a:t>
            </a:r>
            <a:r>
              <a:rPr lang="en-GB" sz="18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n-GB" sz="1800" baseline="-25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 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must be true;</a:t>
            </a: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SAT solver must make decisions on </a:t>
            </a:r>
            <a:r>
              <a:rPr lang="en-GB" sz="18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 In a satisfiable solution from DPLL, each </a:t>
            </a:r>
            <a:r>
              <a:rPr lang="en-GB" sz="18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is set to True or False, then a theory solver (Simplex) invoked.</a:t>
            </a: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There are exponential number of cases here… and modern neural networks can have millions of neurons!</a:t>
            </a: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939525" y="3718200"/>
            <a:ext cx="74538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Can we solve the problem without setting every </a:t>
            </a:r>
            <a:r>
              <a:rPr lang="en-GB" sz="18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en-GB" sz="1800" baseline="-25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1800" baseline="30000" dirty="0" err="1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800" baseline="300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?</a:t>
            </a: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 will tack this problem from an optimization point of view</a:t>
            </a: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Mathematical optimization problems</a:t>
            </a:r>
          </a:p>
        </p:txBody>
      </p:sp>
      <p:sp>
        <p:nvSpPr>
          <p:cNvPr id="296" name="Google Shape;296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0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Given an </a:t>
            </a:r>
            <a:r>
              <a:rPr lang="en-GB" b="1" dirty="0"/>
              <a:t>objective function</a:t>
            </a:r>
            <a:r>
              <a:rPr lang="en-GB" dirty="0"/>
              <a:t> f: S → R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/>
              <a:t>Seek an </a:t>
            </a:r>
            <a:r>
              <a:rPr lang="en-GB" b="1" dirty="0"/>
              <a:t>optimal solution</a:t>
            </a:r>
            <a:r>
              <a:rPr lang="en-GB" dirty="0"/>
              <a:t> x</a:t>
            </a:r>
            <a:r>
              <a:rPr lang="en-GB" baseline="30000" dirty="0"/>
              <a:t>*</a:t>
            </a:r>
            <a:r>
              <a:rPr lang="en-GB" dirty="0"/>
              <a:t> such that f(x</a:t>
            </a:r>
            <a:r>
              <a:rPr lang="en-GB" baseline="30000" dirty="0"/>
              <a:t>*</a:t>
            </a:r>
            <a:r>
              <a:rPr lang="en-GB" dirty="0"/>
              <a:t>) ≤ f(x) for all x ∈ S</a:t>
            </a:r>
          </a:p>
        </p:txBody>
      </p:sp>
      <p:grpSp>
        <p:nvGrpSpPr>
          <p:cNvPr id="297" name="Google Shape;297;p25"/>
          <p:cNvGrpSpPr/>
          <p:nvPr/>
        </p:nvGrpSpPr>
        <p:grpSpPr>
          <a:xfrm>
            <a:off x="5087900" y="2754863"/>
            <a:ext cx="2664000" cy="1823063"/>
            <a:chOff x="3106375" y="2681138"/>
            <a:chExt cx="2664000" cy="1823063"/>
          </a:xfrm>
        </p:grpSpPr>
        <p:cxnSp>
          <p:nvCxnSpPr>
            <p:cNvPr id="298" name="Google Shape;298;p25"/>
            <p:cNvCxnSpPr/>
            <p:nvPr/>
          </p:nvCxnSpPr>
          <p:spPr>
            <a:xfrm>
              <a:off x="3350969" y="2681138"/>
              <a:ext cx="0" cy="1755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299" name="Google Shape;299;p25"/>
            <p:cNvCxnSpPr/>
            <p:nvPr/>
          </p:nvCxnSpPr>
          <p:spPr>
            <a:xfrm>
              <a:off x="3106375" y="4043238"/>
              <a:ext cx="2664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00" name="Google Shape;300;p25"/>
            <p:cNvSpPr/>
            <p:nvPr/>
          </p:nvSpPr>
          <p:spPr>
            <a:xfrm>
              <a:off x="3350057" y="3003417"/>
              <a:ext cx="2319243" cy="1062076"/>
            </a:xfrm>
            <a:custGeom>
              <a:avLst/>
              <a:gdLst/>
              <a:ahLst/>
              <a:cxnLst/>
              <a:rect l="l" t="t" r="r" b="b"/>
              <a:pathLst>
                <a:path w="134644" h="61659" extrusionOk="0">
                  <a:moveTo>
                    <a:pt x="0" y="61659"/>
                  </a:moveTo>
                  <a:cubicBezTo>
                    <a:pt x="3006" y="56696"/>
                    <a:pt x="9788" y="35443"/>
                    <a:pt x="18037" y="31878"/>
                  </a:cubicBezTo>
                  <a:cubicBezTo>
                    <a:pt x="26286" y="28313"/>
                    <a:pt x="41735" y="40826"/>
                    <a:pt x="49495" y="40267"/>
                  </a:cubicBezTo>
                  <a:cubicBezTo>
                    <a:pt x="57255" y="39708"/>
                    <a:pt x="59003" y="29502"/>
                    <a:pt x="64596" y="28523"/>
                  </a:cubicBezTo>
                  <a:cubicBezTo>
                    <a:pt x="70189" y="27544"/>
                    <a:pt x="76829" y="37471"/>
                    <a:pt x="83051" y="34395"/>
                  </a:cubicBezTo>
                  <a:cubicBezTo>
                    <a:pt x="89273" y="31319"/>
                    <a:pt x="93328" y="15800"/>
                    <a:pt x="101927" y="10067"/>
                  </a:cubicBezTo>
                  <a:cubicBezTo>
                    <a:pt x="110526" y="4335"/>
                    <a:pt x="129191" y="1678"/>
                    <a:pt x="134644" y="0"/>
                  </a:cubicBez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01" name="Google Shape;301;p25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3411058" y="2681138"/>
              <a:ext cx="332368" cy="21064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2" name="Google Shape;302;p25"/>
            <p:cNvCxnSpPr/>
            <p:nvPr/>
          </p:nvCxnSpPr>
          <p:spPr>
            <a:xfrm rot="10800000">
              <a:off x="3754037" y="3086286"/>
              <a:ext cx="0" cy="9714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03" name="Google Shape;303;p25"/>
            <p:cNvCxnSpPr/>
            <p:nvPr/>
          </p:nvCxnSpPr>
          <p:spPr>
            <a:xfrm>
              <a:off x="3743425" y="4043233"/>
              <a:ext cx="1141800" cy="0"/>
            </a:xfrm>
            <a:prstGeom prst="straightConnector1">
              <a:avLst/>
            </a:prstGeom>
            <a:noFill/>
            <a:ln w="38100" cap="flat" cmpd="sng">
              <a:solidFill>
                <a:srgbClr val="A4C2F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4" name="Google Shape;304;p25"/>
            <p:cNvSpPr/>
            <p:nvPr/>
          </p:nvSpPr>
          <p:spPr>
            <a:xfrm>
              <a:off x="3756075" y="3468588"/>
              <a:ext cx="1139300" cy="234175"/>
            </a:xfrm>
            <a:custGeom>
              <a:avLst/>
              <a:gdLst/>
              <a:ahLst/>
              <a:cxnLst/>
              <a:rect l="l" t="t" r="r" b="b"/>
              <a:pathLst>
                <a:path w="45572" h="9367" extrusionOk="0">
                  <a:moveTo>
                    <a:pt x="0" y="3198"/>
                  </a:moveTo>
                  <a:cubicBezTo>
                    <a:pt x="644" y="3354"/>
                    <a:pt x="822" y="3109"/>
                    <a:pt x="3864" y="4131"/>
                  </a:cubicBezTo>
                  <a:cubicBezTo>
                    <a:pt x="6907" y="5153"/>
                    <a:pt x="14188" y="9842"/>
                    <a:pt x="18255" y="9328"/>
                  </a:cubicBezTo>
                  <a:cubicBezTo>
                    <a:pt x="22322" y="8814"/>
                    <a:pt x="24846" y="1667"/>
                    <a:pt x="28266" y="1045"/>
                  </a:cubicBezTo>
                  <a:cubicBezTo>
                    <a:pt x="31686" y="423"/>
                    <a:pt x="36292" y="5283"/>
                    <a:pt x="38776" y="5597"/>
                  </a:cubicBezTo>
                  <a:cubicBezTo>
                    <a:pt x="41261" y="5912"/>
                    <a:pt x="42040" y="3865"/>
                    <a:pt x="43173" y="2932"/>
                  </a:cubicBezTo>
                  <a:cubicBezTo>
                    <a:pt x="44306" y="1999"/>
                    <a:pt x="45172" y="489"/>
                    <a:pt x="45572" y="0"/>
                  </a:cubicBezTo>
                </a:path>
              </a:pathLst>
            </a:cu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05" name="Google Shape;305;p25"/>
            <p:cNvCxnSpPr/>
            <p:nvPr/>
          </p:nvCxnSpPr>
          <p:spPr>
            <a:xfrm rot="10800000">
              <a:off x="4895387" y="3099973"/>
              <a:ext cx="0" cy="9714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306" name="Google Shape;306;p25" descr="f(x) &gt; 0, \forall x \in \mathcal{S}" title="MathEquation,#000000"/>
            <p:cNvPicPr preferRelativeResize="0"/>
            <p:nvPr/>
          </p:nvPicPr>
          <p:blipFill rotWithShape="1">
            <a:blip r:embed="rId4"/>
            <a:srcRect l="88467" r="-4" b="9057"/>
            <a:stretch>
              <a:fillRect/>
            </a:stretch>
          </p:blipFill>
          <p:spPr>
            <a:xfrm>
              <a:off x="4230809" y="4281025"/>
              <a:ext cx="172900" cy="223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5"/>
            <p:cNvSpPr/>
            <p:nvPr/>
          </p:nvSpPr>
          <p:spPr>
            <a:xfrm rot="-5400000">
              <a:off x="4236350" y="3611800"/>
              <a:ext cx="168300" cy="11397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8" name="Google Shape;308;p25"/>
          <p:cNvSpPr/>
          <p:nvPr/>
        </p:nvSpPr>
        <p:spPr>
          <a:xfrm>
            <a:off x="6133075" y="3745025"/>
            <a:ext cx="94800" cy="948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optimization problems are hard, some are easy</a:t>
            </a:r>
          </a:p>
        </p:txBody>
      </p:sp>
      <p:sp>
        <p:nvSpPr>
          <p:cNvPr id="314" name="Google Shape;31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Given an </a:t>
            </a:r>
            <a:r>
              <a:rPr lang="en-GB" b="1" dirty="0"/>
              <a:t>objective function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f</a:t>
            </a:r>
            <a:r>
              <a:rPr lang="en-GB" dirty="0"/>
              <a:t>: </a:t>
            </a:r>
            <a:r>
              <a:rPr lang="en-GB" dirty="0">
                <a:solidFill>
                  <a:srgbClr val="FF0000"/>
                </a:solidFill>
              </a:rPr>
              <a:t>S</a:t>
            </a:r>
            <a:r>
              <a:rPr lang="en-GB" dirty="0"/>
              <a:t> → R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Hardness depends on the properties of f and S. For tractable solving they cannot be arbitrary! 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Easy ones: convex optimization, linear programming, semidefinite programming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E.g., in linear programming, objective function and constraints must be linear functions</a:t>
            </a: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GB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Hard ones: integer programming, general quadratic programming, general nonlinear programming, 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Verification Problem as an optimization problem</a:t>
            </a:r>
          </a:p>
        </p:txBody>
      </p:sp>
      <p:sp>
        <p:nvSpPr>
          <p:cNvPr id="320" name="Google Shape;320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595959"/>
                </a:solidFill>
              </a:rPr>
              <a:t>∃ x ∈ S  ∧  y ≤ 0  ∧  y = f(x)</a:t>
            </a:r>
            <a:endParaRPr sz="20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595959"/>
                </a:solidFill>
              </a:rPr>
              <a:t>Can be solved with the following </a:t>
            </a:r>
            <a:r>
              <a:rPr lang="en-GB" sz="2000" b="1" dirty="0">
                <a:solidFill>
                  <a:srgbClr val="595959"/>
                </a:solidFill>
              </a:rPr>
              <a:t>minimization problem:</a:t>
            </a:r>
            <a:endParaRPr sz="2000" b="1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595959"/>
                </a:solidFill>
              </a:rPr>
              <a:t>If the optimal objective y*</a:t>
            </a:r>
            <a:r>
              <a:rPr lang="en-GB" sz="2000" dirty="0"/>
              <a:t>≤0, then the original</a:t>
            </a:r>
            <a:br>
              <a:rPr lang="en-GB" sz="2000" dirty="0"/>
            </a:br>
            <a:r>
              <a:rPr lang="en-GB" sz="2000" dirty="0"/>
              <a:t>Problem is satisfiable</a:t>
            </a:r>
            <a:endParaRPr sz="2000" b="1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595959"/>
              </a:solidFill>
            </a:endParaRPr>
          </a:p>
        </p:txBody>
      </p:sp>
      <p:cxnSp>
        <p:nvCxnSpPr>
          <p:cNvPr id="321" name="Google Shape;321;p27"/>
          <p:cNvCxnSpPr/>
          <p:nvPr/>
        </p:nvCxnSpPr>
        <p:spPr>
          <a:xfrm>
            <a:off x="6205594" y="2934063"/>
            <a:ext cx="0" cy="175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22" name="Google Shape;322;p27"/>
          <p:cNvCxnSpPr/>
          <p:nvPr/>
        </p:nvCxnSpPr>
        <p:spPr>
          <a:xfrm>
            <a:off x="5961000" y="4296163"/>
            <a:ext cx="266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3" name="Google Shape;323;p27"/>
          <p:cNvSpPr/>
          <p:nvPr/>
        </p:nvSpPr>
        <p:spPr>
          <a:xfrm>
            <a:off x="6204682" y="3256342"/>
            <a:ext cx="2319243" cy="1062076"/>
          </a:xfrm>
          <a:custGeom>
            <a:avLst/>
            <a:gdLst/>
            <a:ahLst/>
            <a:cxnLst/>
            <a:rect l="l" t="t" r="r" b="b"/>
            <a:pathLst>
              <a:path w="134644" h="61659" extrusionOk="0">
                <a:moveTo>
                  <a:pt x="0" y="61659"/>
                </a:moveTo>
                <a:cubicBezTo>
                  <a:pt x="3006" y="56696"/>
                  <a:pt x="9788" y="35443"/>
                  <a:pt x="18037" y="31878"/>
                </a:cubicBezTo>
                <a:cubicBezTo>
                  <a:pt x="26286" y="28313"/>
                  <a:pt x="41735" y="40826"/>
                  <a:pt x="49495" y="40267"/>
                </a:cubicBezTo>
                <a:cubicBezTo>
                  <a:pt x="57255" y="39708"/>
                  <a:pt x="59003" y="29502"/>
                  <a:pt x="64596" y="28523"/>
                </a:cubicBezTo>
                <a:cubicBezTo>
                  <a:pt x="70189" y="27544"/>
                  <a:pt x="76829" y="37471"/>
                  <a:pt x="83051" y="34395"/>
                </a:cubicBezTo>
                <a:cubicBezTo>
                  <a:pt x="89273" y="31319"/>
                  <a:pt x="93328" y="15800"/>
                  <a:pt x="101927" y="10067"/>
                </a:cubicBezTo>
                <a:cubicBezTo>
                  <a:pt x="110526" y="4335"/>
                  <a:pt x="129191" y="1678"/>
                  <a:pt x="134644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324" name="Google Shape;324;p2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265683" y="2934063"/>
            <a:ext cx="332368" cy="2106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5" name="Google Shape;325;p27"/>
          <p:cNvCxnSpPr/>
          <p:nvPr/>
        </p:nvCxnSpPr>
        <p:spPr>
          <a:xfrm rot="10800000">
            <a:off x="6608662" y="3339211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7"/>
          <p:cNvCxnSpPr/>
          <p:nvPr/>
        </p:nvCxnSpPr>
        <p:spPr>
          <a:xfrm>
            <a:off x="6598050" y="4296158"/>
            <a:ext cx="1141800" cy="0"/>
          </a:xfrm>
          <a:prstGeom prst="straightConnector1">
            <a:avLst/>
          </a:prstGeom>
          <a:noFill/>
          <a:ln w="38100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27" name="Google Shape;327;p2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382316" y="4328208"/>
            <a:ext cx="97798" cy="11355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7"/>
          <p:cNvSpPr/>
          <p:nvPr/>
        </p:nvSpPr>
        <p:spPr>
          <a:xfrm>
            <a:off x="6610700" y="3721513"/>
            <a:ext cx="1139300" cy="234175"/>
          </a:xfrm>
          <a:custGeom>
            <a:avLst/>
            <a:gdLst/>
            <a:ahLst/>
            <a:cxnLst/>
            <a:rect l="l" t="t" r="r" b="b"/>
            <a:pathLst>
              <a:path w="45572" h="9367" extrusionOk="0">
                <a:moveTo>
                  <a:pt x="0" y="3198"/>
                </a:moveTo>
                <a:cubicBezTo>
                  <a:pt x="644" y="3354"/>
                  <a:pt x="822" y="3109"/>
                  <a:pt x="3864" y="4131"/>
                </a:cubicBezTo>
                <a:cubicBezTo>
                  <a:pt x="6907" y="5153"/>
                  <a:pt x="14188" y="9842"/>
                  <a:pt x="18255" y="9328"/>
                </a:cubicBezTo>
                <a:cubicBezTo>
                  <a:pt x="22322" y="8814"/>
                  <a:pt x="24846" y="1667"/>
                  <a:pt x="28266" y="1045"/>
                </a:cubicBezTo>
                <a:cubicBezTo>
                  <a:pt x="31686" y="423"/>
                  <a:pt x="36292" y="5283"/>
                  <a:pt x="38776" y="5597"/>
                </a:cubicBezTo>
                <a:cubicBezTo>
                  <a:pt x="41261" y="5912"/>
                  <a:pt x="42040" y="3865"/>
                  <a:pt x="43173" y="2932"/>
                </a:cubicBezTo>
                <a:cubicBezTo>
                  <a:pt x="44306" y="1999"/>
                  <a:pt x="45172" y="489"/>
                  <a:pt x="45572" y="0"/>
                </a:cubicBezTo>
              </a:path>
            </a:pathLst>
          </a:cu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329" name="Google Shape;329;p27"/>
          <p:cNvCxnSpPr/>
          <p:nvPr/>
        </p:nvCxnSpPr>
        <p:spPr>
          <a:xfrm rot="10800000">
            <a:off x="7750012" y="3352898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0" name="Google Shape;330;p27"/>
          <p:cNvSpPr/>
          <p:nvPr/>
        </p:nvSpPr>
        <p:spPr>
          <a:xfrm>
            <a:off x="7021175" y="3933800"/>
            <a:ext cx="40500" cy="405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1" name="Google Shape;331;p27" descr="f(x) &gt; 0, \forall x \in \mathcal{S}" title="MathEquation,#000000"/>
          <p:cNvPicPr preferRelativeResize="0"/>
          <p:nvPr/>
        </p:nvPicPr>
        <p:blipFill rotWithShape="1">
          <a:blip r:embed="rId5"/>
          <a:srcRect l="88467" r="-4" b="9057"/>
          <a:stretch>
            <a:fillRect/>
          </a:stretch>
        </p:blipFill>
        <p:spPr>
          <a:xfrm>
            <a:off x="7085434" y="4533950"/>
            <a:ext cx="172900" cy="2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/>
          <p:nvPr/>
        </p:nvSpPr>
        <p:spPr>
          <a:xfrm rot="-5400000">
            <a:off x="7090975" y="3864725"/>
            <a:ext cx="168300" cy="1139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3" name="Google Shape;333;p27" descr=" \displaystyle y^* = \min_{x \in \mathcal{S}} f(x)&#10;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3158250" y="2448675"/>
            <a:ext cx="2400126" cy="6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 txBox="1"/>
          <p:nvPr/>
        </p:nvSpPr>
        <p:spPr>
          <a:xfrm>
            <a:off x="6921775" y="3857825"/>
            <a:ext cx="515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y*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Verification Problem as an optimization problem</a:t>
            </a:r>
          </a:p>
        </p:txBody>
      </p:sp>
      <p:sp>
        <p:nvSpPr>
          <p:cNvPr id="340" name="Google Shape;34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1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Now we rewrite the neural network verification problem as a </a:t>
            </a:r>
            <a:r>
              <a:rPr lang="en-GB" b="1"/>
              <a:t>constrained optimization problem</a:t>
            </a:r>
            <a:r>
              <a:rPr lang="en-GB"/>
              <a:t> (still using the simple network example):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1" name="Google Shape;341;p28"/>
              <p:cNvSpPr txBox="1"/>
              <p:nvPr/>
            </p:nvSpPr>
            <p:spPr>
              <a:xfrm>
                <a:off x="2067975" y="2017350"/>
                <a:ext cx="4648200" cy="28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800" i="1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GB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en-GB" sz="2100" i="1" baseline="30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1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dirty="0" err="1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en-US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n-GB" sz="2100" i="1" baseline="30000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GB" sz="1800" i="1" baseline="30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, 0)    </m:t>
                      </m:r>
                    </m:oMath>
                  </m:oMathPara>
                </a14:m>
                <a:endParaRPr lang="en-GB" sz="1800" i="1" dirty="0">
                  <a:solidFill>
                    <a:schemeClr val="dk2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err="1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GB" sz="1800" i="1" baseline="30000" dirty="0">
                  <a:solidFill>
                    <a:schemeClr val="dk2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1800" i="1" baseline="30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US" sz="1800" b="0" i="1" dirty="0" smtClean="0">
                                  <a:solidFill>
                                    <a:schemeClr val="dk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dirty="0" smtClean="0">
                                  <a:solidFill>
                                    <a:schemeClr val="dk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sz="1800" b="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0)</m:t>
                      </m:r>
                    </m:oMath>
                  </m:oMathPara>
                </a14:m>
                <a:endParaRPr lang="en-GB" sz="1800" i="1" baseline="30000" dirty="0">
                  <a:solidFill>
                    <a:schemeClr val="dk2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800" i="1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GB" sz="2000" i="1" dirty="0" err="1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2000" i="1" baseline="-25000" dirty="0" err="1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000" i="1" baseline="-25000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𝑙𝑖</m:t>
                      </m:r>
                      <m:r>
                        <a:rPr lang="en-GB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sz="1800" i="1" dirty="0">
                  <a:solidFill>
                    <a:schemeClr val="dk2"/>
                  </a:solidFill>
                </a:endParaRPr>
              </a:p>
            </p:txBody>
          </p:sp>
        </mc:Choice>
        <mc:Fallback>
          <p:sp>
            <p:nvSpPr>
              <p:cNvPr id="341" name="Google Shape;341;p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975" y="2017350"/>
                <a:ext cx="4648200" cy="2898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2" name="Google Shape;342;p28"/>
          <p:cNvSpPr txBox="1"/>
          <p:nvPr/>
        </p:nvSpPr>
        <p:spPr>
          <a:xfrm>
            <a:off x="5693675" y="2681350"/>
            <a:ext cx="21819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(ReLU activation)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3" name="Google Shape;343;p28"/>
          <p:cNvSpPr txBox="1"/>
          <p:nvPr/>
        </p:nvSpPr>
        <p:spPr>
          <a:xfrm>
            <a:off x="5366925" y="4130150"/>
            <a:ext cx="36729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(element-wise input bounds)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4" name="Google Shape;344;p28"/>
          <p:cNvSpPr txBox="1"/>
          <p:nvPr/>
        </p:nvSpPr>
        <p:spPr>
          <a:xfrm>
            <a:off x="5693675" y="2394675"/>
            <a:ext cx="21819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(linear layers)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Verification Problem as an optimization problem</a:t>
            </a:r>
          </a:p>
        </p:txBody>
      </p:sp>
      <p:sp>
        <p:nvSpPr>
          <p:cNvPr id="350" name="Google Shape;35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1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Now we rewrite the neural network verification problem as a </a:t>
            </a:r>
            <a:r>
              <a:rPr lang="en-GB" b="1"/>
              <a:t>constrained optimization problem</a:t>
            </a:r>
            <a:r>
              <a:rPr lang="en-GB"/>
              <a:t> (still using the simple network example):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1" name="Google Shape;351;p29"/>
              <p:cNvSpPr txBox="1"/>
              <p:nvPr/>
            </p:nvSpPr>
            <p:spPr>
              <a:xfrm>
                <a:off x="2067975" y="2017350"/>
                <a:ext cx="4648200" cy="28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800" i="1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GB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en-GB" sz="2100" i="1" baseline="30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21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dirty="0" err="1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en-US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n-GB" sz="2100" i="1" baseline="30000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GB" sz="1800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GB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GB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0)    </m:t>
                      </m:r>
                    </m:oMath>
                  </m:oMathPara>
                </a14:m>
                <a:endParaRPr lang="en-GB" sz="1800" i="1" dirty="0">
                  <a:solidFill>
                    <a:schemeClr val="dk2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err="1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GB" sz="1800" i="1" baseline="30000" dirty="0">
                  <a:solidFill>
                    <a:schemeClr val="dk2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1800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GB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sz="1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0)</m:t>
                      </m:r>
                    </m:oMath>
                  </m:oMathPara>
                </a14:m>
                <a:endParaRPr lang="en-GB" sz="1800" i="1" baseline="30000" dirty="0">
                  <a:solidFill>
                    <a:srgbClr val="FF0000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800" i="1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GB" sz="2000" i="1" dirty="0" err="1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2000" i="1" baseline="-25000" dirty="0" err="1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000" i="1" baseline="-25000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1800" dirty="0">
                  <a:solidFill>
                    <a:schemeClr val="dk2"/>
                  </a:solidFill>
                </a:endParaRPr>
              </a:p>
            </p:txBody>
          </p:sp>
        </mc:Choice>
        <mc:Fallback>
          <p:sp>
            <p:nvSpPr>
              <p:cNvPr id="351" name="Google Shape;351;p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975" y="2017350"/>
                <a:ext cx="4648200" cy="2898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" name="Google Shape;352;p29"/>
          <p:cNvSpPr txBox="1"/>
          <p:nvPr/>
        </p:nvSpPr>
        <p:spPr>
          <a:xfrm>
            <a:off x="5693675" y="2681350"/>
            <a:ext cx="30882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(</a:t>
            </a:r>
            <a:r>
              <a:rPr lang="en-GB" sz="1800">
                <a:solidFill>
                  <a:srgbClr val="FF0000"/>
                </a:solidFill>
              </a:rPr>
              <a:t>nonlinear</a:t>
            </a:r>
            <a:r>
              <a:rPr lang="en-GB" sz="1800">
                <a:solidFill>
                  <a:schemeClr val="dk2"/>
                </a:solidFill>
              </a:rPr>
              <a:t> constraints)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5108975" y="4109075"/>
            <a:ext cx="36729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(inputs bounds are also linear constraints)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5693675" y="2322850"/>
            <a:ext cx="21819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(linear constraints)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>
            <a:spLocks noGrp="1"/>
          </p:cNvSpPr>
          <p:nvPr>
            <p:ph type="title"/>
          </p:nvPr>
        </p:nvSpPr>
        <p:spPr>
          <a:xfrm>
            <a:off x="311700" y="24897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Optimization formulation for </a:t>
            </a:r>
            <a:r>
              <a:rPr lang="en-GB" dirty="0" err="1"/>
              <a:t>ReLU</a:t>
            </a:r>
            <a:r>
              <a:rPr lang="en-GB" dirty="0"/>
              <a:t> neurons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0" name="Google Shape;360;p3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940516"/>
                <a:ext cx="8520600" cy="208815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dirty="0"/>
                  <a:t>Let’s look at this constraint more carefully: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Sup>
                      <m:sSub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0)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(for all </a:t>
                </a:r>
                <a:r>
                  <a:rPr lang="en-GB" dirty="0" err="1">
                    <a:solidFill>
                      <a:schemeClr val="tx1"/>
                    </a:solidFill>
                  </a:rPr>
                  <a:t>i</a:t>
                </a:r>
                <a:r>
                  <a:rPr lang="en-GB" dirty="0">
                    <a:solidFill>
                      <a:schemeClr val="tx1"/>
                    </a:solidFill>
                  </a:rPr>
                  <a:t>, j)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dirty="0"/>
                  <a:t>One approach: </a:t>
                </a:r>
                <a:r>
                  <a:rPr lang="en-GB" b="1" dirty="0"/>
                  <a:t>mixed</a:t>
                </a:r>
                <a:r>
                  <a:rPr lang="en-GB" dirty="0"/>
                  <a:t> </a:t>
                </a:r>
                <a:r>
                  <a:rPr lang="en-GB" b="1" dirty="0"/>
                  <a:t>integer linear programming (MILP) </a:t>
                </a:r>
                <a:r>
                  <a:rPr lang="en-GB" dirty="0"/>
                  <a:t>formulation 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dirty="0"/>
                  <a:t>Create an </a:t>
                </a:r>
                <a:r>
                  <a:rPr lang="en-GB" b="1" dirty="0"/>
                  <a:t>integer variable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GB" sz="2000" i="1" dirty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dirty="0"/>
                  <a:t> and rewrite using “big” M number:</a:t>
                </a:r>
              </a:p>
            </p:txBody>
          </p:sp>
        </mc:Choice>
        <mc:Fallback>
          <p:sp>
            <p:nvSpPr>
              <p:cNvPr id="360" name="Google Shape;360;p3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940516"/>
                <a:ext cx="8520600" cy="2088156"/>
              </a:xfrm>
              <a:prstGeom prst="rect">
                <a:avLst/>
              </a:prstGeom>
              <a:blipFill>
                <a:blip r:embed="rId3"/>
                <a:stretch>
                  <a:fillRect l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1" name="Google Shape;361;p30"/>
          <p:cNvGrpSpPr/>
          <p:nvPr/>
        </p:nvGrpSpPr>
        <p:grpSpPr>
          <a:xfrm>
            <a:off x="6431475" y="3167975"/>
            <a:ext cx="2002650" cy="1496375"/>
            <a:chOff x="6431475" y="3167975"/>
            <a:chExt cx="2002650" cy="1496375"/>
          </a:xfrm>
        </p:grpSpPr>
        <p:grpSp>
          <p:nvGrpSpPr>
            <p:cNvPr id="362" name="Google Shape;362;p30"/>
            <p:cNvGrpSpPr/>
            <p:nvPr/>
          </p:nvGrpSpPr>
          <p:grpSpPr>
            <a:xfrm>
              <a:off x="6431475" y="3353797"/>
              <a:ext cx="1957257" cy="1280700"/>
              <a:chOff x="3934521" y="691950"/>
              <a:chExt cx="2298329" cy="1707600"/>
            </a:xfrm>
          </p:grpSpPr>
          <p:cxnSp>
            <p:nvCxnSpPr>
              <p:cNvPr id="363" name="Google Shape;363;p30"/>
              <p:cNvCxnSpPr/>
              <p:nvPr/>
            </p:nvCxnSpPr>
            <p:spPr>
              <a:xfrm>
                <a:off x="3971450" y="1882650"/>
                <a:ext cx="226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64" name="Google Shape;364;p30"/>
              <p:cNvCxnSpPr/>
              <p:nvPr/>
            </p:nvCxnSpPr>
            <p:spPr>
              <a:xfrm>
                <a:off x="5060625" y="691950"/>
                <a:ext cx="0" cy="1707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stealth" w="med" len="med"/>
                <a:tailEnd type="none" w="med" len="med"/>
              </a:ln>
            </p:spPr>
          </p:cxnSp>
          <p:cxnSp>
            <p:nvCxnSpPr>
              <p:cNvPr id="365" name="Google Shape;365;p30"/>
              <p:cNvCxnSpPr/>
              <p:nvPr/>
            </p:nvCxnSpPr>
            <p:spPr>
              <a:xfrm>
                <a:off x="3934521" y="1882638"/>
                <a:ext cx="1126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6" name="Google Shape;366;p30"/>
              <p:cNvCxnSpPr/>
              <p:nvPr/>
            </p:nvCxnSpPr>
            <p:spPr>
              <a:xfrm rot="10800000" flipH="1">
                <a:off x="5060625" y="775350"/>
                <a:ext cx="975000" cy="1107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67" name="Google Shape;367;p30"/>
            <p:cNvSpPr txBox="1"/>
            <p:nvPr/>
          </p:nvSpPr>
          <p:spPr>
            <a:xfrm>
              <a:off x="6950675" y="3167975"/>
              <a:ext cx="47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ẑ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8" name="Google Shape;368;p30"/>
            <p:cNvSpPr txBox="1"/>
            <p:nvPr/>
          </p:nvSpPr>
          <p:spPr>
            <a:xfrm>
              <a:off x="7962525" y="4202650"/>
              <a:ext cx="47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z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>
                <a:solidFill>
                  <a:schemeClr val="dk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A743EC-6508-42B8-A649-9284AAC20A25}"/>
                  </a:ext>
                </a:extLst>
              </p:cNvPr>
              <p:cNvSpPr txBox="1"/>
              <p:nvPr/>
            </p:nvSpPr>
            <p:spPr>
              <a:xfrm>
                <a:off x="397834" y="2892291"/>
                <a:ext cx="2647781" cy="1484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A743EC-6508-42B8-A649-9284AAC20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34" y="2892291"/>
                <a:ext cx="2647781" cy="14847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>
            <a:spLocks noGrp="1"/>
          </p:cNvSpPr>
          <p:nvPr>
            <p:ph type="title"/>
          </p:nvPr>
        </p:nvSpPr>
        <p:spPr>
          <a:xfrm>
            <a:off x="311700" y="24897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Optimization formulation for </a:t>
            </a:r>
            <a:r>
              <a:rPr lang="en-GB" dirty="0" err="1"/>
              <a:t>ReLU</a:t>
            </a:r>
            <a:r>
              <a:rPr lang="en-GB" dirty="0"/>
              <a:t> neurons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0" name="Google Shape;360;p3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699" y="940516"/>
                <a:ext cx="8662967" cy="208815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dirty="0"/>
                  <a:t>Let’s look at this constraint more carefully: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Sup>
                      <m:sSub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0)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(for all </a:t>
                </a:r>
                <a:r>
                  <a:rPr lang="en-GB" dirty="0" err="1">
                    <a:solidFill>
                      <a:schemeClr val="tx1"/>
                    </a:solidFill>
                  </a:rPr>
                  <a:t>i</a:t>
                </a:r>
                <a:r>
                  <a:rPr lang="en-GB" dirty="0">
                    <a:solidFill>
                      <a:schemeClr val="tx1"/>
                    </a:solidFill>
                  </a:rPr>
                  <a:t>, j)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GB" dirty="0" err="1"/>
                  <a:t>ReLU</a:t>
                </a:r>
                <a:r>
                  <a:rPr lang="en-GB" dirty="0"/>
                  <a:t> is active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GB" dirty="0"/>
                  <a:t>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 </a:t>
                </a:r>
                <a:r>
                  <a:rPr lang="en-GB" dirty="0"/>
                  <a:t>; for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≫0</m:t>
                    </m:r>
                  </m:oMath>
                </a14:m>
                <a:r>
                  <a:rPr lang="en-GB" dirty="0"/>
                  <a:t> this is no constraint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 err="1"/>
                  <a:t>ReLU</a:t>
                </a:r>
                <a:r>
                  <a:rPr lang="en-GB" dirty="0"/>
                  <a:t> is inactive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GB" dirty="0"/>
                  <a:t> 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 </a:t>
                </a:r>
                <a:r>
                  <a:rPr lang="en-GB" dirty="0"/>
                  <a:t>;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≪0</m:t>
                    </m:r>
                  </m:oMath>
                </a14:m>
                <a:r>
                  <a:rPr lang="en-GB" dirty="0"/>
                  <a:t> no constraint</a:t>
                </a:r>
              </a:p>
            </p:txBody>
          </p:sp>
        </mc:Choice>
        <mc:Fallback>
          <p:sp>
            <p:nvSpPr>
              <p:cNvPr id="360" name="Google Shape;360;p3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699" y="940516"/>
                <a:ext cx="8662967" cy="2088156"/>
              </a:xfrm>
              <a:prstGeom prst="rect">
                <a:avLst/>
              </a:prstGeom>
              <a:blipFill>
                <a:blip r:embed="rId3"/>
                <a:stretch>
                  <a:fillRect l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1" name="Google Shape;361;p30"/>
          <p:cNvGrpSpPr/>
          <p:nvPr/>
        </p:nvGrpSpPr>
        <p:grpSpPr>
          <a:xfrm>
            <a:off x="6475018" y="2571750"/>
            <a:ext cx="2002650" cy="1496375"/>
            <a:chOff x="6431475" y="3167975"/>
            <a:chExt cx="2002650" cy="1496375"/>
          </a:xfrm>
        </p:grpSpPr>
        <p:grpSp>
          <p:nvGrpSpPr>
            <p:cNvPr id="362" name="Google Shape;362;p30"/>
            <p:cNvGrpSpPr/>
            <p:nvPr/>
          </p:nvGrpSpPr>
          <p:grpSpPr>
            <a:xfrm>
              <a:off x="6431475" y="3353797"/>
              <a:ext cx="1957257" cy="1280700"/>
              <a:chOff x="3934521" y="691950"/>
              <a:chExt cx="2298329" cy="1707600"/>
            </a:xfrm>
          </p:grpSpPr>
          <p:cxnSp>
            <p:nvCxnSpPr>
              <p:cNvPr id="363" name="Google Shape;363;p30"/>
              <p:cNvCxnSpPr/>
              <p:nvPr/>
            </p:nvCxnSpPr>
            <p:spPr>
              <a:xfrm>
                <a:off x="3971450" y="1882650"/>
                <a:ext cx="226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64" name="Google Shape;364;p30"/>
              <p:cNvCxnSpPr/>
              <p:nvPr/>
            </p:nvCxnSpPr>
            <p:spPr>
              <a:xfrm>
                <a:off x="5060625" y="691950"/>
                <a:ext cx="0" cy="1707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stealth" w="med" len="med"/>
                <a:tailEnd type="none" w="med" len="med"/>
              </a:ln>
            </p:spPr>
          </p:cxnSp>
          <p:cxnSp>
            <p:nvCxnSpPr>
              <p:cNvPr id="365" name="Google Shape;365;p30"/>
              <p:cNvCxnSpPr/>
              <p:nvPr/>
            </p:nvCxnSpPr>
            <p:spPr>
              <a:xfrm>
                <a:off x="3934521" y="1882638"/>
                <a:ext cx="1126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6" name="Google Shape;366;p30"/>
              <p:cNvCxnSpPr/>
              <p:nvPr/>
            </p:nvCxnSpPr>
            <p:spPr>
              <a:xfrm rot="10800000" flipH="1">
                <a:off x="5060625" y="775350"/>
                <a:ext cx="975000" cy="1107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67" name="Google Shape;367;p30"/>
            <p:cNvSpPr txBox="1"/>
            <p:nvPr/>
          </p:nvSpPr>
          <p:spPr>
            <a:xfrm>
              <a:off x="6950675" y="3167975"/>
              <a:ext cx="47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ẑ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8" name="Google Shape;368;p30"/>
            <p:cNvSpPr txBox="1"/>
            <p:nvPr/>
          </p:nvSpPr>
          <p:spPr>
            <a:xfrm>
              <a:off x="7962525" y="4202650"/>
              <a:ext cx="47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z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>
                <a:solidFill>
                  <a:schemeClr val="dk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A743EC-6508-42B8-A649-9284AAC20A25}"/>
                  </a:ext>
                </a:extLst>
              </p:cNvPr>
              <p:cNvSpPr txBox="1"/>
              <p:nvPr/>
            </p:nvSpPr>
            <p:spPr>
              <a:xfrm>
                <a:off x="397834" y="3147511"/>
                <a:ext cx="2647781" cy="1484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A743EC-6508-42B8-A649-9284AAC20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34" y="3147511"/>
                <a:ext cx="2647781" cy="14847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396;p31">
            <a:extLst>
              <a:ext uri="{FF2B5EF4-FFF2-40B4-BE49-F238E27FC236}">
                <a16:creationId xmlns:a16="http://schemas.microsoft.com/office/drawing/2014/main" id="{599AD498-D2F2-DCD3-3184-AB4F8F4F1685}"/>
              </a:ext>
            </a:extLst>
          </p:cNvPr>
          <p:cNvSpPr txBox="1"/>
          <p:nvPr/>
        </p:nvSpPr>
        <p:spPr>
          <a:xfrm>
            <a:off x="4572000" y="4220200"/>
            <a:ext cx="437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GB" sz="1800" baseline="-25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needs to be small (negative) enough</a:t>
            </a: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GB" sz="1800" baseline="-25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needs to be large enough</a:t>
            </a: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9532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/>
              <a:t>Optimization formulation for ReLU neurons</a:t>
            </a:r>
          </a:p>
        </p:txBody>
      </p:sp>
      <p:sp>
        <p:nvSpPr>
          <p:cNvPr id="379" name="Google Shape;379;p31"/>
          <p:cNvSpPr txBox="1">
            <a:spLocks noGrp="1"/>
          </p:cNvSpPr>
          <p:nvPr>
            <p:ph type="body" idx="1"/>
          </p:nvPr>
        </p:nvSpPr>
        <p:spPr>
          <a:xfrm>
            <a:off x="3954600" y="1152475"/>
            <a:ext cx="4877700" cy="18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</a:t>
            </a:r>
            <a:r>
              <a:rPr lang="en-GB">
                <a:solidFill>
                  <a:schemeClr val="dk1"/>
                </a:solidFill>
              </a:rPr>
              <a:t>p</a:t>
            </a:r>
            <a:r>
              <a:rPr lang="en-GB" baseline="-25000">
                <a:solidFill>
                  <a:schemeClr val="dk1"/>
                </a:solidFill>
              </a:rPr>
              <a:t>j</a:t>
            </a:r>
            <a:r>
              <a:rPr lang="en-GB" baseline="30000">
                <a:solidFill>
                  <a:schemeClr val="dk1"/>
                </a:solidFill>
              </a:rPr>
              <a:t>(i)</a:t>
            </a:r>
            <a:r>
              <a:rPr lang="en-GB">
                <a:solidFill>
                  <a:schemeClr val="dk1"/>
                </a:solidFill>
              </a:rPr>
              <a:t> = 0: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When </a:t>
            </a:r>
            <a:r>
              <a:rPr lang="en-GB">
                <a:solidFill>
                  <a:schemeClr val="dk1"/>
                </a:solidFill>
              </a:rPr>
              <a:t>p</a:t>
            </a:r>
            <a:r>
              <a:rPr lang="en-GB" baseline="-25000">
                <a:solidFill>
                  <a:schemeClr val="dk1"/>
                </a:solidFill>
              </a:rPr>
              <a:t>j</a:t>
            </a:r>
            <a:r>
              <a:rPr lang="en-GB" baseline="30000">
                <a:solidFill>
                  <a:schemeClr val="dk1"/>
                </a:solidFill>
              </a:rPr>
              <a:t>(i)</a:t>
            </a:r>
            <a:r>
              <a:rPr lang="en-GB">
                <a:solidFill>
                  <a:schemeClr val="dk1"/>
                </a:solidFill>
              </a:rPr>
              <a:t> = 1: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80" name="Google Shape;380;p31" descr="\hat{z}^{(i)}_j \geq z_j^{(i)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881750" y="1802400"/>
            <a:ext cx="1023396" cy="41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1" descr="\hat{z}^{(i)}_j \geq 0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716225" y="1802400"/>
            <a:ext cx="811722" cy="41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1" descr="\hat{z}^{(i)}_j \leq 0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641475" y="1163150"/>
            <a:ext cx="961226" cy="493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31"/>
          <p:cNvGrpSpPr/>
          <p:nvPr/>
        </p:nvGrpSpPr>
        <p:grpSpPr>
          <a:xfrm>
            <a:off x="1951950" y="3568500"/>
            <a:ext cx="2002650" cy="1496375"/>
            <a:chOff x="6431475" y="3167975"/>
            <a:chExt cx="2002650" cy="1496375"/>
          </a:xfrm>
        </p:grpSpPr>
        <p:grpSp>
          <p:nvGrpSpPr>
            <p:cNvPr id="384" name="Google Shape;384;p31"/>
            <p:cNvGrpSpPr/>
            <p:nvPr/>
          </p:nvGrpSpPr>
          <p:grpSpPr>
            <a:xfrm>
              <a:off x="6431475" y="3353797"/>
              <a:ext cx="1957257" cy="1280700"/>
              <a:chOff x="3934521" y="691950"/>
              <a:chExt cx="2298329" cy="1707600"/>
            </a:xfrm>
          </p:grpSpPr>
          <p:cxnSp>
            <p:nvCxnSpPr>
              <p:cNvPr id="385" name="Google Shape;385;p31"/>
              <p:cNvCxnSpPr/>
              <p:nvPr/>
            </p:nvCxnSpPr>
            <p:spPr>
              <a:xfrm>
                <a:off x="3971450" y="1882650"/>
                <a:ext cx="226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86" name="Google Shape;386;p31"/>
              <p:cNvCxnSpPr/>
              <p:nvPr/>
            </p:nvCxnSpPr>
            <p:spPr>
              <a:xfrm>
                <a:off x="5060625" y="691950"/>
                <a:ext cx="0" cy="1707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stealth" w="med" len="med"/>
                <a:tailEnd type="none" w="med" len="med"/>
              </a:ln>
            </p:spPr>
          </p:cxnSp>
          <p:cxnSp>
            <p:nvCxnSpPr>
              <p:cNvPr id="387" name="Google Shape;387;p31"/>
              <p:cNvCxnSpPr/>
              <p:nvPr/>
            </p:nvCxnSpPr>
            <p:spPr>
              <a:xfrm>
                <a:off x="3934521" y="1882638"/>
                <a:ext cx="1126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8" name="Google Shape;388;p31"/>
              <p:cNvCxnSpPr/>
              <p:nvPr/>
            </p:nvCxnSpPr>
            <p:spPr>
              <a:xfrm rot="10800000" flipH="1">
                <a:off x="5060625" y="775350"/>
                <a:ext cx="975000" cy="1107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89" name="Google Shape;389;p31"/>
            <p:cNvSpPr txBox="1"/>
            <p:nvPr/>
          </p:nvSpPr>
          <p:spPr>
            <a:xfrm>
              <a:off x="6950675" y="3167975"/>
              <a:ext cx="47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ẑ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0" name="Google Shape;390;p31"/>
            <p:cNvSpPr txBox="1"/>
            <p:nvPr/>
          </p:nvSpPr>
          <p:spPr>
            <a:xfrm>
              <a:off x="7962525" y="4202650"/>
              <a:ext cx="47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z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391" name="Google Shape;391;p31" descr="\hat{z}^{(i)}_j \leq z_j^{(i)}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881763" y="2530112"/>
            <a:ext cx="1023376" cy="41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1" descr="\hat{z}^{(i)}_j \geq z_j^{(i)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908475" y="3202400"/>
            <a:ext cx="1023396" cy="41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1" descr="\hat{z}^{(i)}_j \geq 0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41475" y="3260787"/>
            <a:ext cx="811722" cy="41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1"/>
          <p:cNvSpPr/>
          <p:nvPr/>
        </p:nvSpPr>
        <p:spPr>
          <a:xfrm>
            <a:off x="5803788" y="1123713"/>
            <a:ext cx="1832400" cy="572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1"/>
          <p:cNvSpPr/>
          <p:nvPr/>
        </p:nvSpPr>
        <p:spPr>
          <a:xfrm>
            <a:off x="7638525" y="2453738"/>
            <a:ext cx="1116600" cy="572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1"/>
          <p:cNvSpPr txBox="1"/>
          <p:nvPr/>
        </p:nvSpPr>
        <p:spPr>
          <a:xfrm>
            <a:off x="4572000" y="4220200"/>
            <a:ext cx="437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GB" sz="1800" baseline="-25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needs to be small (negative) enough</a:t>
            </a: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GB" sz="1800" baseline="-25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needs to be large enough</a:t>
            </a: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397" name="Google Shape;397;p31"/>
          <p:cNvGrpSpPr/>
          <p:nvPr/>
        </p:nvGrpSpPr>
        <p:grpSpPr>
          <a:xfrm>
            <a:off x="4411790" y="1618583"/>
            <a:ext cx="1023510" cy="680479"/>
            <a:chOff x="3971450" y="691950"/>
            <a:chExt cx="2261400" cy="1707600"/>
          </a:xfrm>
        </p:grpSpPr>
        <p:cxnSp>
          <p:nvCxnSpPr>
            <p:cNvPr id="398" name="Google Shape;398;p31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9" name="Google Shape;399;p31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400" name="Google Shape;400;p31"/>
            <p:cNvCxnSpPr/>
            <p:nvPr/>
          </p:nvCxnSpPr>
          <p:spPr>
            <a:xfrm>
              <a:off x="4073025" y="188265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1" name="Google Shape;401;p31"/>
          <p:cNvGrpSpPr/>
          <p:nvPr/>
        </p:nvGrpSpPr>
        <p:grpSpPr>
          <a:xfrm>
            <a:off x="4373190" y="3039589"/>
            <a:ext cx="1116679" cy="742635"/>
            <a:chOff x="3971450" y="691950"/>
            <a:chExt cx="2261400" cy="1707600"/>
          </a:xfrm>
        </p:grpSpPr>
        <p:cxnSp>
          <p:nvCxnSpPr>
            <p:cNvPr id="402" name="Google Shape;402;p31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3" name="Google Shape;403;p31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404" name="Google Shape;404;p31"/>
            <p:cNvCxnSpPr/>
            <p:nvPr/>
          </p:nvCxnSpPr>
          <p:spPr>
            <a:xfrm rot="10800000" flipH="1">
              <a:off x="5060625" y="929550"/>
              <a:ext cx="839400" cy="953100"/>
            </a:xfrm>
            <a:prstGeom prst="straightConnector1">
              <a:avLst/>
            </a:prstGeom>
            <a:noFill/>
            <a:ln w="28575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05" name="Google Shape;405;p31"/>
          <p:cNvCxnSpPr/>
          <p:nvPr/>
        </p:nvCxnSpPr>
        <p:spPr>
          <a:xfrm rot="10800000" flipH="1">
            <a:off x="4203150" y="1501150"/>
            <a:ext cx="826800" cy="826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6" name="Google Shape;406;p31"/>
          <p:cNvCxnSpPr/>
          <p:nvPr/>
        </p:nvCxnSpPr>
        <p:spPr>
          <a:xfrm rot="10800000">
            <a:off x="5320175" y="2997475"/>
            <a:ext cx="0" cy="702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12" name="Google Shape;412;p31" descr="\hat{z}^{(i)}_j \leq z_j^{(i)} - M_1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5881750" y="1201550"/>
            <a:ext cx="1676482" cy="417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1"/>
          <p:cNvSpPr txBox="1"/>
          <p:nvPr/>
        </p:nvSpPr>
        <p:spPr>
          <a:xfrm>
            <a:off x="5143288" y="3568500"/>
            <a:ext cx="48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M</a:t>
            </a:r>
            <a:r>
              <a:rPr lang="en-GB" sz="1300" baseline="-25000">
                <a:solidFill>
                  <a:srgbClr val="FF0000"/>
                </a:solidFill>
              </a:rPr>
              <a:t>2</a:t>
            </a:r>
            <a:endParaRPr sz="900" baseline="-25000"/>
          </a:p>
        </p:txBody>
      </p:sp>
      <p:sp>
        <p:nvSpPr>
          <p:cNvPr id="414" name="Google Shape;414;p31"/>
          <p:cNvSpPr txBox="1"/>
          <p:nvPr/>
        </p:nvSpPr>
        <p:spPr>
          <a:xfrm>
            <a:off x="4295550" y="1992050"/>
            <a:ext cx="48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M</a:t>
            </a:r>
            <a:r>
              <a:rPr lang="en-GB" sz="1300" baseline="-25000">
                <a:solidFill>
                  <a:srgbClr val="FF0000"/>
                </a:solidFill>
              </a:rPr>
              <a:t>1</a:t>
            </a:r>
            <a:endParaRPr sz="900" baseline="-25000"/>
          </a:p>
        </p:txBody>
      </p:sp>
      <p:sp>
        <p:nvSpPr>
          <p:cNvPr id="415" name="Google Shape;415;p31"/>
          <p:cNvSpPr/>
          <p:nvPr/>
        </p:nvSpPr>
        <p:spPr>
          <a:xfrm>
            <a:off x="4430925" y="2057208"/>
            <a:ext cx="60600" cy="60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1"/>
          <p:cNvSpPr/>
          <p:nvPr/>
        </p:nvSpPr>
        <p:spPr>
          <a:xfrm>
            <a:off x="5289875" y="3533583"/>
            <a:ext cx="60600" cy="60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7" name="Google Shape;417;p31" descr="\hat{z}^{(i)}_j \leq M_2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7716225" y="2545770"/>
            <a:ext cx="961224" cy="38569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CA319A-D4A7-307E-EE1E-4A39B7C0D649}"/>
                  </a:ext>
                </a:extLst>
              </p:cNvPr>
              <p:cNvSpPr txBox="1"/>
              <p:nvPr/>
            </p:nvSpPr>
            <p:spPr>
              <a:xfrm>
                <a:off x="284898" y="1326628"/>
                <a:ext cx="2949915" cy="1658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CA319A-D4A7-307E-EE1E-4A39B7C0D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98" y="1326628"/>
                <a:ext cx="2949915" cy="1658531"/>
              </a:xfrm>
              <a:prstGeom prst="rect">
                <a:avLst/>
              </a:prstGeom>
              <a:blipFill>
                <a:blip r:embed="rId9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Pre-activation bounds</a:t>
            </a:r>
          </a:p>
        </p:txBody>
      </p:sp>
      <p:sp>
        <p:nvSpPr>
          <p:cNvPr id="423" name="Google Shape;423;p32"/>
          <p:cNvSpPr txBox="1">
            <a:spLocks noGrp="1"/>
          </p:cNvSpPr>
          <p:nvPr>
            <p:ph type="body" idx="1"/>
          </p:nvPr>
        </p:nvSpPr>
        <p:spPr>
          <a:xfrm>
            <a:off x="311700" y="1020150"/>
            <a:ext cx="5562293" cy="39413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For this to work, </a:t>
            </a:r>
            <a:r>
              <a:rPr lang="en-GB" dirty="0">
                <a:solidFill>
                  <a:srgbClr val="FF0000"/>
                </a:solidFill>
              </a:rPr>
              <a:t>M</a:t>
            </a:r>
            <a:r>
              <a:rPr lang="en-GB" baseline="-25000" dirty="0">
                <a:solidFill>
                  <a:srgbClr val="FF0000"/>
                </a:solidFill>
              </a:rPr>
              <a:t>1 </a:t>
            </a:r>
            <a:r>
              <a:rPr lang="en-GB" dirty="0"/>
              <a:t>and </a:t>
            </a:r>
            <a:r>
              <a:rPr lang="en-GB" dirty="0">
                <a:solidFill>
                  <a:srgbClr val="FF0000"/>
                </a:solidFill>
              </a:rPr>
              <a:t>M</a:t>
            </a:r>
            <a:r>
              <a:rPr lang="en-GB" baseline="-25000" dirty="0">
                <a:solidFill>
                  <a:srgbClr val="FF0000"/>
                </a:solidFill>
              </a:rPr>
              <a:t>2</a:t>
            </a:r>
            <a:r>
              <a:rPr lang="en-GB" dirty="0"/>
              <a:t> must be properly selected.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If set too conservatively, like M</a:t>
            </a:r>
            <a:r>
              <a:rPr lang="en-GB" sz="1800" baseline="-25000" dirty="0">
                <a:solidFill>
                  <a:schemeClr val="dk2"/>
                </a:solidFill>
              </a:rPr>
              <a:t>1 </a:t>
            </a:r>
            <a:r>
              <a:rPr lang="en-GB" sz="1800" dirty="0">
                <a:solidFill>
                  <a:schemeClr val="dk2"/>
                </a:solidFill>
              </a:rPr>
              <a:t>= -100000 and M</a:t>
            </a:r>
            <a:r>
              <a:rPr lang="en-GB" sz="1800" baseline="-25000" dirty="0">
                <a:solidFill>
                  <a:schemeClr val="dk2"/>
                </a:solidFill>
              </a:rPr>
              <a:t>2 </a:t>
            </a:r>
            <a:r>
              <a:rPr lang="en-GB" sz="1800" dirty="0">
                <a:solidFill>
                  <a:schemeClr val="dk2"/>
                </a:solidFill>
              </a:rPr>
              <a:t>= 100000, too many constraints will </a:t>
            </a:r>
            <a:r>
              <a:rPr lang="en-GB" dirty="0"/>
              <a:t>be “active” slowing the solver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How to find appropriate M1 and M2?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 can use optimization to find these pre-activation bounds - the same formulation as our verification problem before, just changing the optimization variables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/>
              <a:t>MILP, LP, or more efficient methods can be used</a:t>
            </a:r>
          </a:p>
          <a:p>
            <a:pPr marL="0" indent="0">
              <a:spcAft>
                <a:spcPts val="1200"/>
              </a:spcAft>
              <a:buNone/>
            </a:pPr>
            <a:endParaRPr lang="en-GB"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GB" dirty="0"/>
          </a:p>
        </p:txBody>
      </p:sp>
      <p:grpSp>
        <p:nvGrpSpPr>
          <p:cNvPr id="424" name="Google Shape;424;p32"/>
          <p:cNvGrpSpPr/>
          <p:nvPr/>
        </p:nvGrpSpPr>
        <p:grpSpPr>
          <a:xfrm>
            <a:off x="6115042" y="284464"/>
            <a:ext cx="2601025" cy="1466522"/>
            <a:chOff x="6206725" y="3167975"/>
            <a:chExt cx="2601025" cy="1466522"/>
          </a:xfrm>
        </p:grpSpPr>
        <p:grpSp>
          <p:nvGrpSpPr>
            <p:cNvPr id="425" name="Google Shape;425;p32"/>
            <p:cNvGrpSpPr/>
            <p:nvPr/>
          </p:nvGrpSpPr>
          <p:grpSpPr>
            <a:xfrm>
              <a:off x="6206725" y="3353797"/>
              <a:ext cx="2381074" cy="1280700"/>
              <a:chOff x="3670606" y="691950"/>
              <a:chExt cx="2796000" cy="1707600"/>
            </a:xfrm>
          </p:grpSpPr>
          <p:cxnSp>
            <p:nvCxnSpPr>
              <p:cNvPr id="426" name="Google Shape;426;p32"/>
              <p:cNvCxnSpPr/>
              <p:nvPr/>
            </p:nvCxnSpPr>
            <p:spPr>
              <a:xfrm>
                <a:off x="3670606" y="1882654"/>
                <a:ext cx="279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27" name="Google Shape;427;p32"/>
              <p:cNvCxnSpPr/>
              <p:nvPr/>
            </p:nvCxnSpPr>
            <p:spPr>
              <a:xfrm>
                <a:off x="5060625" y="691950"/>
                <a:ext cx="0" cy="1707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stealth" w="med" len="med"/>
                <a:tailEnd type="none" w="med" len="med"/>
              </a:ln>
            </p:spPr>
          </p:cxnSp>
          <p:cxnSp>
            <p:nvCxnSpPr>
              <p:cNvPr id="428" name="Google Shape;428;p32"/>
              <p:cNvCxnSpPr/>
              <p:nvPr/>
            </p:nvCxnSpPr>
            <p:spPr>
              <a:xfrm>
                <a:off x="3934521" y="1882638"/>
                <a:ext cx="1126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9" name="Google Shape;429;p32"/>
              <p:cNvCxnSpPr/>
              <p:nvPr/>
            </p:nvCxnSpPr>
            <p:spPr>
              <a:xfrm rot="10800000" flipH="1">
                <a:off x="5060625" y="775350"/>
                <a:ext cx="975000" cy="1107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30" name="Google Shape;430;p32"/>
            <p:cNvSpPr txBox="1"/>
            <p:nvPr/>
          </p:nvSpPr>
          <p:spPr>
            <a:xfrm>
              <a:off x="6950675" y="3167975"/>
              <a:ext cx="47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ẑ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1" name="Google Shape;431;p32"/>
            <p:cNvSpPr txBox="1"/>
            <p:nvPr/>
          </p:nvSpPr>
          <p:spPr>
            <a:xfrm>
              <a:off x="8336150" y="3763300"/>
              <a:ext cx="47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z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>
                <a:solidFill>
                  <a:schemeClr val="dk1"/>
                </a:solidFill>
              </a:endParaRPr>
            </a:p>
          </p:txBody>
        </p:sp>
      </p:grpSp>
      <p:cxnSp>
        <p:nvCxnSpPr>
          <p:cNvPr id="432" name="Google Shape;432;p32"/>
          <p:cNvCxnSpPr/>
          <p:nvPr/>
        </p:nvCxnSpPr>
        <p:spPr>
          <a:xfrm rot="10800000">
            <a:off x="6356092" y="510688"/>
            <a:ext cx="0" cy="1016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3" name="Google Shape;433;p32"/>
          <p:cNvCxnSpPr/>
          <p:nvPr/>
        </p:nvCxnSpPr>
        <p:spPr>
          <a:xfrm rot="10800000">
            <a:off x="8127742" y="437438"/>
            <a:ext cx="0" cy="1121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4" name="Google Shape;434;p32"/>
          <p:cNvSpPr txBox="1"/>
          <p:nvPr/>
        </p:nvSpPr>
        <p:spPr>
          <a:xfrm>
            <a:off x="6115042" y="1472013"/>
            <a:ext cx="48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M</a:t>
            </a:r>
            <a:r>
              <a:rPr lang="en-GB" sz="1300" baseline="-25000">
                <a:solidFill>
                  <a:srgbClr val="FF0000"/>
                </a:solidFill>
              </a:rPr>
              <a:t>1</a:t>
            </a:r>
            <a:endParaRPr sz="900" baseline="-25000"/>
          </a:p>
        </p:txBody>
      </p:sp>
      <p:sp>
        <p:nvSpPr>
          <p:cNvPr id="435" name="Google Shape;435;p32"/>
          <p:cNvSpPr txBox="1"/>
          <p:nvPr/>
        </p:nvSpPr>
        <p:spPr>
          <a:xfrm>
            <a:off x="7886680" y="1472013"/>
            <a:ext cx="48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0000"/>
                </a:solidFill>
              </a:rPr>
              <a:t>M</a:t>
            </a:r>
            <a:r>
              <a:rPr lang="en-GB" sz="1300" baseline="-25000">
                <a:solidFill>
                  <a:srgbClr val="FF0000"/>
                </a:solidFill>
              </a:rPr>
              <a:t>2</a:t>
            </a:r>
            <a:endParaRPr sz="900" baseline="-25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CF0D4A-962D-1AB9-58E4-58FC1CBA1E7D}"/>
                  </a:ext>
                </a:extLst>
              </p:cNvPr>
              <p:cNvSpPr txBox="1"/>
              <p:nvPr/>
            </p:nvSpPr>
            <p:spPr>
              <a:xfrm>
                <a:off x="6339792" y="2453245"/>
                <a:ext cx="2647781" cy="2413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CF0D4A-962D-1AB9-58E4-58FC1CBA1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792" y="2453245"/>
                <a:ext cx="2647781" cy="24136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Putting it all together with Pre-activation bounds</a:t>
            </a:r>
          </a:p>
        </p:txBody>
      </p:sp>
      <p:sp>
        <p:nvSpPr>
          <p:cNvPr id="467" name="Google Shape;467;p34"/>
          <p:cNvSpPr txBox="1">
            <a:spLocks noGrp="1"/>
          </p:cNvSpPr>
          <p:nvPr>
            <p:ph type="body" idx="1"/>
          </p:nvPr>
        </p:nvSpPr>
        <p:spPr>
          <a:xfrm>
            <a:off x="311700" y="3910050"/>
            <a:ext cx="8665200" cy="9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We can use optimization to find these pre-activation bounds - the same formulation as our verification problem before, just changing the optimization variables.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Google Shape;468;p34"/>
              <p:cNvSpPr txBox="1"/>
              <p:nvPr/>
            </p:nvSpPr>
            <p:spPr>
              <a:xfrm>
                <a:off x="766225" y="1017725"/>
                <a:ext cx="4648200" cy="28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strike="sngStrike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GB" sz="1800" i="1" strike="sngStrike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sz="1800" i="1" strike="sngStrike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800" i="1" strike="sngStrike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ar-AE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ar-AE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1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ar-AE" sz="2100" i="1" baseline="30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ar-AE" sz="21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dirty="0" err="1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ar-AE" sz="2100" i="1" baseline="30000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AE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ar-AE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0)    </m:t>
                      </m:r>
                    </m:oMath>
                  </m:oMathPara>
                </a14:m>
                <a:endParaRPr lang="ar-AE" sz="1800" i="1" dirty="0">
                  <a:solidFill>
                    <a:schemeClr val="dk2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err="1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ar-AE" sz="1800" i="1" baseline="30000" dirty="0">
                  <a:solidFill>
                    <a:schemeClr val="dk2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AE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ar-AE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ar-AE" sz="1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sz="1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0)</m:t>
                      </m:r>
                    </m:oMath>
                  </m:oMathPara>
                </a14:m>
                <a:endParaRPr lang="ar-AE" sz="1800" i="1" baseline="30000" dirty="0">
                  <a:solidFill>
                    <a:srgbClr val="FF0000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1800" i="1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ar-AE" sz="2000" i="1" dirty="0" err="1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ar-AE" sz="2000" i="1" baseline="-25000" dirty="0" err="1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2000" i="1" baseline="-25000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ar-AE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0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ar-AE" sz="20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sz="1800" dirty="0">
                  <a:solidFill>
                    <a:schemeClr val="dk2"/>
                  </a:solidFill>
                </a:endParaRPr>
              </a:p>
            </p:txBody>
          </p:sp>
        </mc:Choice>
        <mc:Fallback>
          <p:sp>
            <p:nvSpPr>
              <p:cNvPr id="468" name="Google Shape;468;p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25" y="1017725"/>
                <a:ext cx="4648200" cy="2898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4320F-2728-A472-6DE4-3B86643E1987}"/>
                  </a:ext>
                </a:extLst>
              </p:cNvPr>
              <p:cNvSpPr txBox="1"/>
              <p:nvPr/>
            </p:nvSpPr>
            <p:spPr>
              <a:xfrm>
                <a:off x="4644300" y="1017725"/>
                <a:ext cx="2090057" cy="689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4320F-2728-A472-6DE4-3B86643E1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300" y="1017725"/>
                <a:ext cx="2090057" cy="6894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Putting it all together with Pre-activation bounds</a:t>
            </a:r>
          </a:p>
        </p:txBody>
      </p:sp>
      <p:sp>
        <p:nvSpPr>
          <p:cNvPr id="467" name="Google Shape;467;p34"/>
          <p:cNvSpPr txBox="1">
            <a:spLocks noGrp="1"/>
          </p:cNvSpPr>
          <p:nvPr>
            <p:ph type="body" idx="1"/>
          </p:nvPr>
        </p:nvSpPr>
        <p:spPr>
          <a:xfrm>
            <a:off x="311700" y="4018868"/>
            <a:ext cx="8665200" cy="8385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We can use optimization to find these pre-activation bounds - the same formulation as our verification problem before, just changing the optimization variables.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Google Shape;468;p34"/>
              <p:cNvSpPr txBox="1"/>
              <p:nvPr/>
            </p:nvSpPr>
            <p:spPr>
              <a:xfrm>
                <a:off x="766225" y="1017725"/>
                <a:ext cx="4648200" cy="28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strike="sngStrike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GB" sz="1800" i="1" strike="sngStrike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sz="1800" i="1" strike="sngStrike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800" i="1" strike="sngStrike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ar-AE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ar-AE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1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ar-AE" sz="2100" i="1" baseline="30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ar-AE" sz="21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dirty="0" err="1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21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ar-AE" sz="2100" i="1" baseline="30000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strike="sngStrike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b="0" i="1" strike="sngStrike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strike="sngStrike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AE" sz="1800" i="1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ar-AE" sz="1800" i="1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strike="sngStrike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b="0" i="1" strike="sngStrike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0)    </m:t>
                      </m:r>
                    </m:oMath>
                  </m:oMathPara>
                </a14:m>
                <a:endParaRPr lang="ar-AE" sz="1800" i="1" strike="sngStrike" dirty="0">
                  <a:solidFill>
                    <a:schemeClr val="dk2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err="1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ar-AE" sz="1800" i="1" baseline="30000" dirty="0">
                  <a:solidFill>
                    <a:schemeClr val="dk2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strike="sngStrike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i="1" strike="sngStrike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strike="sngStrike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strike="sngStrike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strike="sngStrike" baseline="30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AE" sz="1800" i="1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ar-AE" sz="1800" i="1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strike="sngStrike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ar-AE" sz="1800" b="0" i="1" strike="sngStrike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b="0" i="1" strike="sngStrike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sz="1800" b="0" i="1" strike="sngStrike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1800" i="1" strike="sngStrike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0)</m:t>
                      </m:r>
                    </m:oMath>
                  </m:oMathPara>
                </a14:m>
                <a:endParaRPr lang="ar-AE" sz="1800" i="1" strike="sngStrike" baseline="30000" dirty="0">
                  <a:solidFill>
                    <a:srgbClr val="FF0000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1800" i="1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sSubSup>
                        <m:sSubSupPr>
                          <m:ctrlPr>
                            <a:rPr lang="en-US" sz="20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000" i="1" dirty="0" err="1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ar-AE" sz="2000" i="1" baseline="-25000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 i="1" baseline="-25000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ar-AE" sz="2000" i="1" dirty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20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000" i="1" dirty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ar-AE" sz="2000" b="0" i="1" dirty="0" smtClean="0">
                              <a:solidFill>
                                <a:schemeClr val="dk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ar-AE" sz="1800" dirty="0">
                  <a:solidFill>
                    <a:schemeClr val="dk2"/>
                  </a:solidFill>
                </a:endParaRPr>
              </a:p>
            </p:txBody>
          </p:sp>
        </mc:Choice>
        <mc:Fallback>
          <p:sp>
            <p:nvSpPr>
              <p:cNvPr id="468" name="Google Shape;468;p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25" y="1017725"/>
                <a:ext cx="4648200" cy="2898600"/>
              </a:xfrm>
              <a:prstGeom prst="rect">
                <a:avLst/>
              </a:prstGeom>
              <a:blipFill>
                <a:blip r:embed="rId3"/>
                <a:stretch>
                  <a:fillRect b="-30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4320F-2728-A472-6DE4-3B86643E1987}"/>
                  </a:ext>
                </a:extLst>
              </p:cNvPr>
              <p:cNvSpPr txBox="1"/>
              <p:nvPr/>
            </p:nvSpPr>
            <p:spPr>
              <a:xfrm>
                <a:off x="4572000" y="1017725"/>
                <a:ext cx="3080657" cy="3001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Each 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ReLU</a:t>
                </a:r>
                <a:r>
                  <a:rPr lang="en-US" sz="16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represented as</a:t>
                </a:r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/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4320F-2728-A472-6DE4-3B86643E1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017725"/>
                <a:ext cx="3080657" cy="3001143"/>
              </a:xfrm>
              <a:prstGeom prst="rect">
                <a:avLst/>
              </a:prstGeom>
              <a:blipFill>
                <a:blip r:embed="rId4"/>
                <a:stretch>
                  <a:fillRect l="-1235" t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91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Putting it all together with Pre-activation bounds</a:t>
            </a:r>
          </a:p>
        </p:txBody>
      </p:sp>
      <p:sp>
        <p:nvSpPr>
          <p:cNvPr id="467" name="Google Shape;467;p34"/>
          <p:cNvSpPr txBox="1">
            <a:spLocks noGrp="1"/>
          </p:cNvSpPr>
          <p:nvPr>
            <p:ph type="body" idx="1"/>
          </p:nvPr>
        </p:nvSpPr>
        <p:spPr>
          <a:xfrm>
            <a:off x="311700" y="3910050"/>
            <a:ext cx="8665200" cy="9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Integer variables are still hard!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Google Shape;468;p34"/>
              <p:cNvSpPr txBox="1"/>
              <p:nvPr/>
            </p:nvSpPr>
            <p:spPr>
              <a:xfrm>
                <a:off x="766225" y="1017725"/>
                <a:ext cx="4648200" cy="28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strike="sngStrike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GB" sz="1800" i="1" strike="sngStrike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sz="1800" i="1" strike="sngStrike" dirty="0" smtClean="0">
                          <a:solidFill>
                            <a:schemeClr val="dk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800" i="1" strike="sngStrike" dirty="0">
                  <a:solidFill>
                    <a:schemeClr val="dk2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1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ar-AE" sz="2100" i="1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ar-AE" sz="21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ar-AE" sz="2100" i="1" baseline="30000" dirty="0">
                  <a:solidFill>
                    <a:schemeClr val="tx1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strike="sngStrike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0)    </m:t>
                      </m:r>
                    </m:oMath>
                  </m:oMathPara>
                </a14:m>
                <a:endParaRPr lang="ar-AE" sz="1800" i="1" strike="sngStrike" dirty="0">
                  <a:solidFill>
                    <a:schemeClr val="tx1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ar-AE" sz="1800" i="1" baseline="30000" dirty="0">
                  <a:solidFill>
                    <a:schemeClr val="tx1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strike="sngStrike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ar-AE" sz="1800" b="0" i="1" strike="sngStrike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b="0" i="1" strike="sngStrike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sz="1800" b="0" i="1" strike="sngStrike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0)</m:t>
                      </m:r>
                    </m:oMath>
                  </m:oMathPara>
                </a14:m>
                <a:endParaRPr lang="ar-AE" sz="1800" i="1" strike="sngStrike" baseline="30000" dirty="0">
                  <a:solidFill>
                    <a:schemeClr val="tx1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1800" i="1" dirty="0">
                  <a:solidFill>
                    <a:schemeClr val="tx1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sSubSup>
                        <m:sSubSup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0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ar-AE" sz="2000" i="1" baseline="-25000" dirty="0">
                  <a:solidFill>
                    <a:schemeClr val="tx1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ar-AE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ar-AE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8" name="Google Shape;468;p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25" y="1017725"/>
                <a:ext cx="4648200" cy="2898600"/>
              </a:xfrm>
              <a:prstGeom prst="rect">
                <a:avLst/>
              </a:prstGeom>
              <a:blipFill>
                <a:blip r:embed="rId3"/>
                <a:stretch>
                  <a:fillRect b="-30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4320F-2728-A472-6DE4-3B86643E1987}"/>
                  </a:ext>
                </a:extLst>
              </p:cNvPr>
              <p:cNvSpPr txBox="1"/>
              <p:nvPr/>
            </p:nvSpPr>
            <p:spPr>
              <a:xfrm>
                <a:off x="4572000" y="1256309"/>
                <a:ext cx="3418114" cy="3001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6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Each 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ReLU</a:t>
                </a:r>
                <a:r>
                  <a:rPr lang="en-US" sz="16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represented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/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4320F-2728-A472-6DE4-3B86643E1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256309"/>
                <a:ext cx="3418114" cy="3001143"/>
              </a:xfrm>
              <a:prstGeom prst="rect">
                <a:avLst/>
              </a:prstGeom>
              <a:blipFill>
                <a:blip r:embed="rId4"/>
                <a:stretch>
                  <a:fillRect l="-1111" t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921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Putting it all together with Pre-activation bounds</a:t>
            </a:r>
          </a:p>
        </p:txBody>
      </p:sp>
      <p:sp>
        <p:nvSpPr>
          <p:cNvPr id="467" name="Google Shape;467;p34"/>
          <p:cNvSpPr txBox="1">
            <a:spLocks noGrp="1"/>
          </p:cNvSpPr>
          <p:nvPr>
            <p:ph type="body" idx="1"/>
          </p:nvPr>
        </p:nvSpPr>
        <p:spPr>
          <a:xfrm>
            <a:off x="311700" y="3910050"/>
            <a:ext cx="8665200" cy="9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Integer variables are still hard!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Google Shape;468;p34"/>
              <p:cNvSpPr txBox="1"/>
              <p:nvPr/>
            </p:nvSpPr>
            <p:spPr>
              <a:xfrm>
                <a:off x="766225" y="1017725"/>
                <a:ext cx="4648200" cy="28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𝑀𝐼𝐿𝑃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sz="18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1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ar-AE" sz="2100" i="1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ar-AE" sz="21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ar-AE" sz="2100" i="1" baseline="30000" dirty="0">
                  <a:solidFill>
                    <a:schemeClr val="tx1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strike="sngStrike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0)    </m:t>
                      </m:r>
                    </m:oMath>
                  </m:oMathPara>
                </a14:m>
                <a:endParaRPr lang="ar-AE" sz="1800" i="1" strike="sngStrike" dirty="0">
                  <a:solidFill>
                    <a:schemeClr val="tx1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ar-AE" sz="1800" i="1" baseline="30000" dirty="0">
                  <a:solidFill>
                    <a:schemeClr val="tx1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strike="sngStrike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ar-AE" sz="1800" b="0" i="1" strike="sngStrike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b="0" i="1" strike="sngStrike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sz="1800" b="0" i="1" strike="sngStrike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0)</m:t>
                      </m:r>
                    </m:oMath>
                  </m:oMathPara>
                </a14:m>
                <a:endParaRPr lang="ar-AE" sz="1800" i="1" strike="sngStrike" baseline="30000" dirty="0">
                  <a:solidFill>
                    <a:schemeClr val="tx1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1800" i="1" dirty="0">
                  <a:solidFill>
                    <a:schemeClr val="tx1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sSubSup>
                        <m:sSubSup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0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ar-AE" sz="2000" i="1" baseline="-25000" dirty="0">
                  <a:solidFill>
                    <a:schemeClr val="tx1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ar-AE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ar-AE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8" name="Google Shape;468;p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25" y="1017725"/>
                <a:ext cx="4648200" cy="2898600"/>
              </a:xfrm>
              <a:prstGeom prst="rect">
                <a:avLst/>
              </a:prstGeom>
              <a:blipFill>
                <a:blip r:embed="rId3"/>
                <a:stretch>
                  <a:fillRect b="-30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4320F-2728-A472-6DE4-3B86643E1987}"/>
                  </a:ext>
                </a:extLst>
              </p:cNvPr>
              <p:cNvSpPr txBox="1"/>
              <p:nvPr/>
            </p:nvSpPr>
            <p:spPr>
              <a:xfrm>
                <a:off x="4572000" y="1256309"/>
                <a:ext cx="3418114" cy="3001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6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Each 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ReLU</a:t>
                </a:r>
                <a:r>
                  <a:rPr lang="en-US" sz="16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represented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/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4320F-2728-A472-6DE4-3B86643E1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256309"/>
                <a:ext cx="3418114" cy="3001143"/>
              </a:xfrm>
              <a:prstGeom prst="rect">
                <a:avLst/>
              </a:prstGeom>
              <a:blipFill>
                <a:blip r:embed="rId4"/>
                <a:stretch>
                  <a:fillRect l="-1111" t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576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Putting it all together with Pre-activation bounds</a:t>
            </a:r>
          </a:p>
        </p:txBody>
      </p:sp>
      <p:sp>
        <p:nvSpPr>
          <p:cNvPr id="467" name="Google Shape;467;p34"/>
          <p:cNvSpPr txBox="1">
            <a:spLocks noGrp="1"/>
          </p:cNvSpPr>
          <p:nvPr>
            <p:ph type="body" idx="1"/>
          </p:nvPr>
        </p:nvSpPr>
        <p:spPr>
          <a:xfrm>
            <a:off x="311700" y="3910050"/>
            <a:ext cx="8665200" cy="9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Linear relaxation of integer constraints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GB" dirty="0"/>
              <a:t>How does this affect the solution?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Google Shape;468;p34"/>
              <p:cNvSpPr txBox="1"/>
              <p:nvPr/>
            </p:nvSpPr>
            <p:spPr>
              <a:xfrm>
                <a:off x="766225" y="1017725"/>
                <a:ext cx="4648200" cy="28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𝐿𝑃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sz="18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  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1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ar-AE" sz="2100" i="1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ar-AE" sz="21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ar-AE" sz="2100" i="1" baseline="30000" dirty="0">
                  <a:solidFill>
                    <a:schemeClr val="tx1"/>
                  </a:solidFill>
                </a:endParaRPr>
              </a:p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strike="sngStrike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0)    </m:t>
                      </m:r>
                    </m:oMath>
                  </m:oMathPara>
                </a14:m>
                <a:endParaRPr lang="ar-AE" sz="1800" i="1" strike="sngStrike" dirty="0">
                  <a:solidFill>
                    <a:schemeClr val="tx1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ar-AE" sz="1800" i="1" baseline="30000" dirty="0">
                  <a:solidFill>
                    <a:schemeClr val="tx1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ẑ</m:t>
                          </m:r>
                        </m:e>
                        <m:sup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strike="sngStrike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ar-AE" sz="1800" b="0" i="1" strike="sngStrike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strike="sngStrike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ar-AE" sz="1800" b="0" i="1" strike="sngStrike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b="0" i="1" strike="sngStrike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ar-AE" sz="1800" b="0" i="1" strike="sngStrike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1800" i="1" strike="sngStrike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0)</m:t>
                      </m:r>
                    </m:oMath>
                  </m:oMathPara>
                </a14:m>
                <a:endParaRPr lang="ar-AE" sz="1800" i="1" strike="sngStrike" baseline="30000" dirty="0">
                  <a:solidFill>
                    <a:schemeClr val="tx1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1800" i="1" dirty="0">
                  <a:solidFill>
                    <a:schemeClr val="tx1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sSubSup>
                        <m:sSubSup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0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ar-AE" sz="2000" i="1" baseline="-25000" dirty="0">
                  <a:solidFill>
                    <a:schemeClr val="tx1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00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ar-AE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ar-AE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lang="ar-AE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8" name="Google Shape;468;p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25" y="1017725"/>
                <a:ext cx="4648200" cy="2898600"/>
              </a:xfrm>
              <a:prstGeom prst="rect">
                <a:avLst/>
              </a:prstGeom>
              <a:blipFill>
                <a:blip r:embed="rId3"/>
                <a:stretch>
                  <a:fillRect b="-30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4320F-2728-A472-6DE4-3B86643E1987}"/>
                  </a:ext>
                </a:extLst>
              </p:cNvPr>
              <p:cNvSpPr txBox="1"/>
              <p:nvPr/>
            </p:nvSpPr>
            <p:spPr>
              <a:xfrm>
                <a:off x="4572000" y="1256309"/>
                <a:ext cx="3418114" cy="3001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6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Each 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ReLU</a:t>
                </a:r>
                <a:r>
                  <a:rPr lang="en-US" sz="16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represented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/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1600" b="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4320F-2728-A472-6DE4-3B86643E1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256309"/>
                <a:ext cx="3418114" cy="3001143"/>
              </a:xfrm>
              <a:prstGeom prst="rect">
                <a:avLst/>
              </a:prstGeom>
              <a:blipFill>
                <a:blip r:embed="rId4"/>
                <a:stretch>
                  <a:fillRect l="-1111" t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67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 dirty="0"/>
              <a:t>MILP vs LP</a:t>
            </a:r>
          </a:p>
        </p:txBody>
      </p:sp>
      <p:sp>
        <p:nvSpPr>
          <p:cNvPr id="531" name="Google Shape;531;p38"/>
          <p:cNvSpPr txBox="1">
            <a:spLocks noGrp="1"/>
          </p:cNvSpPr>
          <p:nvPr>
            <p:ph type="body" idx="1"/>
          </p:nvPr>
        </p:nvSpPr>
        <p:spPr>
          <a:xfrm>
            <a:off x="311700" y="696227"/>
            <a:ext cx="8520600" cy="7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 dirty="0">
                <a:solidFill>
                  <a:schemeClr val="dk1"/>
                </a:solidFill>
              </a:rPr>
              <a:t>y*</a:t>
            </a:r>
            <a:r>
              <a:rPr lang="en-GB" b="1" baseline="-25000" dirty="0">
                <a:solidFill>
                  <a:schemeClr val="dk1"/>
                </a:solidFill>
              </a:rPr>
              <a:t>LP  </a:t>
            </a:r>
            <a:r>
              <a:rPr lang="en-GB" sz="2000" dirty="0">
                <a:solidFill>
                  <a:schemeClr val="dk1"/>
                </a:solidFill>
              </a:rPr>
              <a:t>≤ </a:t>
            </a:r>
            <a:r>
              <a:rPr lang="en-GB" b="1" dirty="0">
                <a:solidFill>
                  <a:schemeClr val="dk1"/>
                </a:solidFill>
              </a:rPr>
              <a:t>y*</a:t>
            </a:r>
            <a:r>
              <a:rPr lang="en-GB" b="1" baseline="-25000" dirty="0">
                <a:solidFill>
                  <a:schemeClr val="dk1"/>
                </a:solidFill>
              </a:rPr>
              <a:t>MILP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532" name="Google Shape;532;p38"/>
          <p:cNvSpPr txBox="1">
            <a:spLocks noGrp="1"/>
          </p:cNvSpPr>
          <p:nvPr>
            <p:ph type="body" idx="1"/>
          </p:nvPr>
        </p:nvSpPr>
        <p:spPr>
          <a:xfrm>
            <a:off x="406950" y="1182695"/>
            <a:ext cx="8520600" cy="17356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It’s not the original MILP solution, but it is a guaranteed lower bound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 dirty="0"/>
              <a:t>Solving LP is (weakly) polynomial time. 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 dirty="0"/>
              <a:t>Simplex algorithm practically a few orders of magnitude faster</a:t>
            </a:r>
          </a:p>
        </p:txBody>
      </p:sp>
      <p:cxnSp>
        <p:nvCxnSpPr>
          <p:cNvPr id="533" name="Google Shape;533;p38"/>
          <p:cNvCxnSpPr/>
          <p:nvPr/>
        </p:nvCxnSpPr>
        <p:spPr>
          <a:xfrm>
            <a:off x="1983744" y="2800188"/>
            <a:ext cx="0" cy="175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34" name="Google Shape;534;p38"/>
          <p:cNvCxnSpPr/>
          <p:nvPr/>
        </p:nvCxnSpPr>
        <p:spPr>
          <a:xfrm>
            <a:off x="1739150" y="4162288"/>
            <a:ext cx="266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5" name="Google Shape;535;p38"/>
          <p:cNvSpPr/>
          <p:nvPr/>
        </p:nvSpPr>
        <p:spPr>
          <a:xfrm>
            <a:off x="1982832" y="3122467"/>
            <a:ext cx="2319243" cy="1062076"/>
          </a:xfrm>
          <a:custGeom>
            <a:avLst/>
            <a:gdLst/>
            <a:ahLst/>
            <a:cxnLst/>
            <a:rect l="l" t="t" r="r" b="b"/>
            <a:pathLst>
              <a:path w="134644" h="61659" extrusionOk="0">
                <a:moveTo>
                  <a:pt x="0" y="61659"/>
                </a:moveTo>
                <a:cubicBezTo>
                  <a:pt x="3006" y="56696"/>
                  <a:pt x="9788" y="35443"/>
                  <a:pt x="18037" y="31878"/>
                </a:cubicBezTo>
                <a:cubicBezTo>
                  <a:pt x="26286" y="28313"/>
                  <a:pt x="41735" y="40826"/>
                  <a:pt x="49495" y="40267"/>
                </a:cubicBezTo>
                <a:cubicBezTo>
                  <a:pt x="57255" y="39708"/>
                  <a:pt x="59003" y="29502"/>
                  <a:pt x="64596" y="28523"/>
                </a:cubicBezTo>
                <a:cubicBezTo>
                  <a:pt x="70189" y="27544"/>
                  <a:pt x="76829" y="37471"/>
                  <a:pt x="83051" y="34395"/>
                </a:cubicBezTo>
                <a:cubicBezTo>
                  <a:pt x="89273" y="31319"/>
                  <a:pt x="93328" y="15800"/>
                  <a:pt x="101927" y="10067"/>
                </a:cubicBezTo>
                <a:cubicBezTo>
                  <a:pt x="110526" y="4335"/>
                  <a:pt x="129191" y="1678"/>
                  <a:pt x="134644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36" name="Google Shape;536;p38"/>
          <p:cNvCxnSpPr/>
          <p:nvPr/>
        </p:nvCxnSpPr>
        <p:spPr>
          <a:xfrm rot="10800000">
            <a:off x="2386812" y="3205336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38"/>
          <p:cNvCxnSpPr/>
          <p:nvPr/>
        </p:nvCxnSpPr>
        <p:spPr>
          <a:xfrm>
            <a:off x="2376200" y="4162283"/>
            <a:ext cx="1141800" cy="0"/>
          </a:xfrm>
          <a:prstGeom prst="straightConnector1">
            <a:avLst/>
          </a:prstGeom>
          <a:noFill/>
          <a:ln w="38100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38" name="Google Shape;538;p3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160466" y="4194333"/>
            <a:ext cx="97798" cy="113559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8"/>
          <p:cNvSpPr/>
          <p:nvPr/>
        </p:nvSpPr>
        <p:spPr>
          <a:xfrm>
            <a:off x="2388850" y="3587638"/>
            <a:ext cx="1139300" cy="234175"/>
          </a:xfrm>
          <a:custGeom>
            <a:avLst/>
            <a:gdLst/>
            <a:ahLst/>
            <a:cxnLst/>
            <a:rect l="l" t="t" r="r" b="b"/>
            <a:pathLst>
              <a:path w="45572" h="9367" extrusionOk="0">
                <a:moveTo>
                  <a:pt x="0" y="3198"/>
                </a:moveTo>
                <a:cubicBezTo>
                  <a:pt x="644" y="3354"/>
                  <a:pt x="822" y="3109"/>
                  <a:pt x="3864" y="4131"/>
                </a:cubicBezTo>
                <a:cubicBezTo>
                  <a:pt x="6907" y="5153"/>
                  <a:pt x="14188" y="9842"/>
                  <a:pt x="18255" y="9328"/>
                </a:cubicBezTo>
                <a:cubicBezTo>
                  <a:pt x="22322" y="8814"/>
                  <a:pt x="24846" y="1667"/>
                  <a:pt x="28266" y="1045"/>
                </a:cubicBezTo>
                <a:cubicBezTo>
                  <a:pt x="31686" y="423"/>
                  <a:pt x="36292" y="5283"/>
                  <a:pt x="38776" y="5597"/>
                </a:cubicBezTo>
                <a:cubicBezTo>
                  <a:pt x="41261" y="5912"/>
                  <a:pt x="42040" y="3865"/>
                  <a:pt x="43173" y="2932"/>
                </a:cubicBezTo>
                <a:cubicBezTo>
                  <a:pt x="44306" y="1999"/>
                  <a:pt x="45172" y="489"/>
                  <a:pt x="45572" y="0"/>
                </a:cubicBezTo>
              </a:path>
            </a:pathLst>
          </a:cu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40" name="Google Shape;540;p38"/>
          <p:cNvCxnSpPr/>
          <p:nvPr/>
        </p:nvCxnSpPr>
        <p:spPr>
          <a:xfrm rot="10800000">
            <a:off x="3528162" y="3219023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41" name="Google Shape;541;p38" descr="f(x) &gt; 0, \forall x \in \mathcal{S}" title="MathEquation,#000000"/>
          <p:cNvPicPr preferRelativeResize="0"/>
          <p:nvPr/>
        </p:nvPicPr>
        <p:blipFill rotWithShape="1">
          <a:blip r:embed="rId4"/>
          <a:srcRect l="88467" r="-4" b="9057"/>
          <a:stretch>
            <a:fillRect/>
          </a:stretch>
        </p:blipFill>
        <p:spPr>
          <a:xfrm>
            <a:off x="2863584" y="4400075"/>
            <a:ext cx="172900" cy="2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8"/>
          <p:cNvSpPr/>
          <p:nvPr/>
        </p:nvSpPr>
        <p:spPr>
          <a:xfrm rot="-5400000">
            <a:off x="2869125" y="3730850"/>
            <a:ext cx="168300" cy="1139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38"/>
          <p:cNvSpPr txBox="1"/>
          <p:nvPr/>
        </p:nvSpPr>
        <p:spPr>
          <a:xfrm>
            <a:off x="1178138" y="3554063"/>
            <a:ext cx="91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y*</a:t>
            </a:r>
            <a:r>
              <a:rPr lang="en-GB" sz="1800" baseline="-25000">
                <a:solidFill>
                  <a:schemeClr val="dk1"/>
                </a:solidFill>
              </a:rPr>
              <a:t>MILP</a:t>
            </a:r>
          </a:p>
        </p:txBody>
      </p:sp>
      <p:cxnSp>
        <p:nvCxnSpPr>
          <p:cNvPr id="544" name="Google Shape;544;p38"/>
          <p:cNvCxnSpPr/>
          <p:nvPr/>
        </p:nvCxnSpPr>
        <p:spPr>
          <a:xfrm>
            <a:off x="6508144" y="2906963"/>
            <a:ext cx="0" cy="175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45" name="Google Shape;545;p38"/>
          <p:cNvCxnSpPr/>
          <p:nvPr/>
        </p:nvCxnSpPr>
        <p:spPr>
          <a:xfrm>
            <a:off x="6263550" y="4269063"/>
            <a:ext cx="266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6" name="Google Shape;546;p38"/>
          <p:cNvSpPr/>
          <p:nvPr/>
        </p:nvSpPr>
        <p:spPr>
          <a:xfrm>
            <a:off x="6507232" y="3229242"/>
            <a:ext cx="2319243" cy="1062076"/>
          </a:xfrm>
          <a:custGeom>
            <a:avLst/>
            <a:gdLst/>
            <a:ahLst/>
            <a:cxnLst/>
            <a:rect l="l" t="t" r="r" b="b"/>
            <a:pathLst>
              <a:path w="134644" h="61659" extrusionOk="0">
                <a:moveTo>
                  <a:pt x="0" y="61659"/>
                </a:moveTo>
                <a:cubicBezTo>
                  <a:pt x="3006" y="56696"/>
                  <a:pt x="9788" y="35443"/>
                  <a:pt x="18037" y="31878"/>
                </a:cubicBezTo>
                <a:cubicBezTo>
                  <a:pt x="26286" y="28313"/>
                  <a:pt x="41735" y="40826"/>
                  <a:pt x="49495" y="40267"/>
                </a:cubicBezTo>
                <a:cubicBezTo>
                  <a:pt x="57255" y="39708"/>
                  <a:pt x="59003" y="29502"/>
                  <a:pt x="64596" y="28523"/>
                </a:cubicBezTo>
                <a:cubicBezTo>
                  <a:pt x="70189" y="27544"/>
                  <a:pt x="76829" y="37471"/>
                  <a:pt x="83051" y="34395"/>
                </a:cubicBezTo>
                <a:cubicBezTo>
                  <a:pt x="89273" y="31319"/>
                  <a:pt x="93328" y="15800"/>
                  <a:pt x="101927" y="10067"/>
                </a:cubicBezTo>
                <a:cubicBezTo>
                  <a:pt x="110526" y="4335"/>
                  <a:pt x="129191" y="1678"/>
                  <a:pt x="134644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47" name="Google Shape;547;p38"/>
          <p:cNvCxnSpPr/>
          <p:nvPr/>
        </p:nvCxnSpPr>
        <p:spPr>
          <a:xfrm rot="10800000">
            <a:off x="6911212" y="3312111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48" name="Google Shape;548;p38"/>
          <p:cNvCxnSpPr/>
          <p:nvPr/>
        </p:nvCxnSpPr>
        <p:spPr>
          <a:xfrm>
            <a:off x="6900600" y="4269058"/>
            <a:ext cx="1141800" cy="0"/>
          </a:xfrm>
          <a:prstGeom prst="straightConnector1">
            <a:avLst/>
          </a:prstGeom>
          <a:noFill/>
          <a:ln w="38100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49" name="Google Shape;549;p3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684866" y="4301108"/>
            <a:ext cx="97798" cy="11355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8"/>
          <p:cNvSpPr/>
          <p:nvPr/>
        </p:nvSpPr>
        <p:spPr>
          <a:xfrm>
            <a:off x="6913250" y="3694413"/>
            <a:ext cx="1139300" cy="234175"/>
          </a:xfrm>
          <a:custGeom>
            <a:avLst/>
            <a:gdLst/>
            <a:ahLst/>
            <a:cxnLst/>
            <a:rect l="l" t="t" r="r" b="b"/>
            <a:pathLst>
              <a:path w="45572" h="9367" extrusionOk="0">
                <a:moveTo>
                  <a:pt x="0" y="3198"/>
                </a:moveTo>
                <a:cubicBezTo>
                  <a:pt x="644" y="3354"/>
                  <a:pt x="822" y="3109"/>
                  <a:pt x="3864" y="4131"/>
                </a:cubicBezTo>
                <a:cubicBezTo>
                  <a:pt x="6907" y="5153"/>
                  <a:pt x="14188" y="9842"/>
                  <a:pt x="18255" y="9328"/>
                </a:cubicBezTo>
                <a:cubicBezTo>
                  <a:pt x="22322" y="8814"/>
                  <a:pt x="24846" y="1667"/>
                  <a:pt x="28266" y="1045"/>
                </a:cubicBezTo>
                <a:cubicBezTo>
                  <a:pt x="31686" y="423"/>
                  <a:pt x="36292" y="5283"/>
                  <a:pt x="38776" y="5597"/>
                </a:cubicBezTo>
                <a:cubicBezTo>
                  <a:pt x="41261" y="5912"/>
                  <a:pt x="42040" y="3865"/>
                  <a:pt x="43173" y="2932"/>
                </a:cubicBezTo>
                <a:cubicBezTo>
                  <a:pt x="44306" y="1999"/>
                  <a:pt x="45172" y="489"/>
                  <a:pt x="45572" y="0"/>
                </a:cubicBezTo>
              </a:path>
            </a:pathLst>
          </a:cu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51" name="Google Shape;551;p38"/>
          <p:cNvCxnSpPr/>
          <p:nvPr/>
        </p:nvCxnSpPr>
        <p:spPr>
          <a:xfrm rot="10800000">
            <a:off x="8052562" y="3325798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52" name="Google Shape;552;p38" descr="f(x) &gt; 0, \forall x \in \mathcal{S}" title="MathEquation,#000000"/>
          <p:cNvPicPr preferRelativeResize="0"/>
          <p:nvPr/>
        </p:nvPicPr>
        <p:blipFill rotWithShape="1">
          <a:blip r:embed="rId4"/>
          <a:srcRect l="88467" r="-4" b="9057"/>
          <a:stretch>
            <a:fillRect/>
          </a:stretch>
        </p:blipFill>
        <p:spPr>
          <a:xfrm>
            <a:off x="7387984" y="4506850"/>
            <a:ext cx="172900" cy="2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8"/>
          <p:cNvSpPr/>
          <p:nvPr/>
        </p:nvSpPr>
        <p:spPr>
          <a:xfrm rot="-5400000">
            <a:off x="7393525" y="3837625"/>
            <a:ext cx="168300" cy="1139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8"/>
          <p:cNvSpPr txBox="1"/>
          <p:nvPr/>
        </p:nvSpPr>
        <p:spPr>
          <a:xfrm>
            <a:off x="5696100" y="3821825"/>
            <a:ext cx="91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y*</a:t>
            </a:r>
            <a:r>
              <a:rPr lang="en-GB" sz="1800" baseline="-25000">
                <a:solidFill>
                  <a:schemeClr val="dk1"/>
                </a:solidFill>
              </a:rPr>
              <a:t>LP</a:t>
            </a:r>
          </a:p>
        </p:txBody>
      </p:sp>
      <p:cxnSp>
        <p:nvCxnSpPr>
          <p:cNvPr id="555" name="Google Shape;555;p38"/>
          <p:cNvCxnSpPr/>
          <p:nvPr/>
        </p:nvCxnSpPr>
        <p:spPr>
          <a:xfrm>
            <a:off x="1981200" y="3824825"/>
            <a:ext cx="1608600" cy="10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56" name="Google Shape;556;p38"/>
          <p:cNvCxnSpPr/>
          <p:nvPr/>
        </p:nvCxnSpPr>
        <p:spPr>
          <a:xfrm>
            <a:off x="6507225" y="4093588"/>
            <a:ext cx="1608600" cy="10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Sound but Incomplete Verification with a Lower Bound</a:t>
            </a:r>
          </a:p>
        </p:txBody>
      </p:sp>
      <p:cxnSp>
        <p:nvCxnSpPr>
          <p:cNvPr id="563" name="Google Shape;563;p39"/>
          <p:cNvCxnSpPr/>
          <p:nvPr/>
        </p:nvCxnSpPr>
        <p:spPr>
          <a:xfrm>
            <a:off x="1069344" y="2800188"/>
            <a:ext cx="0" cy="175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64" name="Google Shape;564;p39"/>
          <p:cNvCxnSpPr/>
          <p:nvPr/>
        </p:nvCxnSpPr>
        <p:spPr>
          <a:xfrm>
            <a:off x="824750" y="4162288"/>
            <a:ext cx="266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5" name="Google Shape;565;p39"/>
          <p:cNvSpPr/>
          <p:nvPr/>
        </p:nvSpPr>
        <p:spPr>
          <a:xfrm>
            <a:off x="1068432" y="3122467"/>
            <a:ext cx="2319243" cy="1062076"/>
          </a:xfrm>
          <a:custGeom>
            <a:avLst/>
            <a:gdLst/>
            <a:ahLst/>
            <a:cxnLst/>
            <a:rect l="l" t="t" r="r" b="b"/>
            <a:pathLst>
              <a:path w="134644" h="61659" extrusionOk="0">
                <a:moveTo>
                  <a:pt x="0" y="61659"/>
                </a:moveTo>
                <a:cubicBezTo>
                  <a:pt x="3006" y="56696"/>
                  <a:pt x="9788" y="35443"/>
                  <a:pt x="18037" y="31878"/>
                </a:cubicBezTo>
                <a:cubicBezTo>
                  <a:pt x="26286" y="28313"/>
                  <a:pt x="41735" y="40826"/>
                  <a:pt x="49495" y="40267"/>
                </a:cubicBezTo>
                <a:cubicBezTo>
                  <a:pt x="57255" y="39708"/>
                  <a:pt x="59003" y="29502"/>
                  <a:pt x="64596" y="28523"/>
                </a:cubicBezTo>
                <a:cubicBezTo>
                  <a:pt x="70189" y="27544"/>
                  <a:pt x="76829" y="37471"/>
                  <a:pt x="83051" y="34395"/>
                </a:cubicBezTo>
                <a:cubicBezTo>
                  <a:pt x="89273" y="31319"/>
                  <a:pt x="93328" y="15800"/>
                  <a:pt x="101927" y="10067"/>
                </a:cubicBezTo>
                <a:cubicBezTo>
                  <a:pt x="110526" y="4335"/>
                  <a:pt x="129191" y="1678"/>
                  <a:pt x="134644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66" name="Google Shape;566;p39"/>
          <p:cNvCxnSpPr/>
          <p:nvPr/>
        </p:nvCxnSpPr>
        <p:spPr>
          <a:xfrm rot="10800000">
            <a:off x="1472412" y="3205336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67" name="Google Shape;567;p39"/>
          <p:cNvCxnSpPr/>
          <p:nvPr/>
        </p:nvCxnSpPr>
        <p:spPr>
          <a:xfrm>
            <a:off x="1461800" y="4162283"/>
            <a:ext cx="1141800" cy="0"/>
          </a:xfrm>
          <a:prstGeom prst="straightConnector1">
            <a:avLst/>
          </a:prstGeom>
          <a:noFill/>
          <a:ln w="38100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68" name="Google Shape;568;p3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46066" y="4194333"/>
            <a:ext cx="97798" cy="11355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9"/>
          <p:cNvSpPr/>
          <p:nvPr/>
        </p:nvSpPr>
        <p:spPr>
          <a:xfrm>
            <a:off x="1474450" y="3587638"/>
            <a:ext cx="1139300" cy="234175"/>
          </a:xfrm>
          <a:custGeom>
            <a:avLst/>
            <a:gdLst/>
            <a:ahLst/>
            <a:cxnLst/>
            <a:rect l="l" t="t" r="r" b="b"/>
            <a:pathLst>
              <a:path w="45572" h="9367" extrusionOk="0">
                <a:moveTo>
                  <a:pt x="0" y="3198"/>
                </a:moveTo>
                <a:cubicBezTo>
                  <a:pt x="644" y="3354"/>
                  <a:pt x="822" y="3109"/>
                  <a:pt x="3864" y="4131"/>
                </a:cubicBezTo>
                <a:cubicBezTo>
                  <a:pt x="6907" y="5153"/>
                  <a:pt x="14188" y="9842"/>
                  <a:pt x="18255" y="9328"/>
                </a:cubicBezTo>
                <a:cubicBezTo>
                  <a:pt x="22322" y="8814"/>
                  <a:pt x="24846" y="1667"/>
                  <a:pt x="28266" y="1045"/>
                </a:cubicBezTo>
                <a:cubicBezTo>
                  <a:pt x="31686" y="423"/>
                  <a:pt x="36292" y="5283"/>
                  <a:pt x="38776" y="5597"/>
                </a:cubicBezTo>
                <a:cubicBezTo>
                  <a:pt x="41261" y="5912"/>
                  <a:pt x="42040" y="3865"/>
                  <a:pt x="43173" y="2932"/>
                </a:cubicBezTo>
                <a:cubicBezTo>
                  <a:pt x="44306" y="1999"/>
                  <a:pt x="45172" y="489"/>
                  <a:pt x="45572" y="0"/>
                </a:cubicBezTo>
              </a:path>
            </a:pathLst>
          </a:cu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70" name="Google Shape;570;p39"/>
          <p:cNvCxnSpPr/>
          <p:nvPr/>
        </p:nvCxnSpPr>
        <p:spPr>
          <a:xfrm rot="10800000">
            <a:off x="2613762" y="3219023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71" name="Google Shape;571;p39" descr="f(x) &gt; 0, \forall x \in \mathcal{S}" title="MathEquation,#000000"/>
          <p:cNvPicPr preferRelativeResize="0"/>
          <p:nvPr/>
        </p:nvPicPr>
        <p:blipFill rotWithShape="1">
          <a:blip r:embed="rId4"/>
          <a:srcRect l="88467" r="-4" b="9057"/>
          <a:stretch>
            <a:fillRect/>
          </a:stretch>
        </p:blipFill>
        <p:spPr>
          <a:xfrm>
            <a:off x="1949184" y="4400075"/>
            <a:ext cx="172900" cy="2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39"/>
          <p:cNvSpPr/>
          <p:nvPr/>
        </p:nvSpPr>
        <p:spPr>
          <a:xfrm rot="-5400000">
            <a:off x="1954725" y="3730850"/>
            <a:ext cx="168300" cy="1139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9"/>
          <p:cNvSpPr txBox="1"/>
          <p:nvPr/>
        </p:nvSpPr>
        <p:spPr>
          <a:xfrm>
            <a:off x="-224368" y="3554075"/>
            <a:ext cx="140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y*</a:t>
            </a:r>
            <a:r>
              <a:rPr lang="en-GB" sz="1800" baseline="-25000">
                <a:solidFill>
                  <a:schemeClr val="dk1"/>
                </a:solidFill>
              </a:rPr>
              <a:t>MILP</a:t>
            </a:r>
            <a:r>
              <a:rPr lang="en-GB" sz="1800">
                <a:solidFill>
                  <a:schemeClr val="dk1"/>
                </a:solidFill>
              </a:rPr>
              <a:t>=y*</a:t>
            </a:r>
          </a:p>
        </p:txBody>
      </p:sp>
      <p:cxnSp>
        <p:nvCxnSpPr>
          <p:cNvPr id="574" name="Google Shape;574;p39"/>
          <p:cNvCxnSpPr/>
          <p:nvPr/>
        </p:nvCxnSpPr>
        <p:spPr>
          <a:xfrm>
            <a:off x="4450744" y="2906963"/>
            <a:ext cx="0" cy="175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75" name="Google Shape;575;p39"/>
          <p:cNvCxnSpPr/>
          <p:nvPr/>
        </p:nvCxnSpPr>
        <p:spPr>
          <a:xfrm>
            <a:off x="4206150" y="4269063"/>
            <a:ext cx="266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6" name="Google Shape;576;p39"/>
          <p:cNvSpPr/>
          <p:nvPr/>
        </p:nvSpPr>
        <p:spPr>
          <a:xfrm>
            <a:off x="4449832" y="3229242"/>
            <a:ext cx="2319243" cy="1062076"/>
          </a:xfrm>
          <a:custGeom>
            <a:avLst/>
            <a:gdLst/>
            <a:ahLst/>
            <a:cxnLst/>
            <a:rect l="l" t="t" r="r" b="b"/>
            <a:pathLst>
              <a:path w="134644" h="61659" extrusionOk="0">
                <a:moveTo>
                  <a:pt x="0" y="61659"/>
                </a:moveTo>
                <a:cubicBezTo>
                  <a:pt x="3006" y="56696"/>
                  <a:pt x="9788" y="35443"/>
                  <a:pt x="18037" y="31878"/>
                </a:cubicBezTo>
                <a:cubicBezTo>
                  <a:pt x="26286" y="28313"/>
                  <a:pt x="41735" y="40826"/>
                  <a:pt x="49495" y="40267"/>
                </a:cubicBezTo>
                <a:cubicBezTo>
                  <a:pt x="57255" y="39708"/>
                  <a:pt x="59003" y="29502"/>
                  <a:pt x="64596" y="28523"/>
                </a:cubicBezTo>
                <a:cubicBezTo>
                  <a:pt x="70189" y="27544"/>
                  <a:pt x="76829" y="37471"/>
                  <a:pt x="83051" y="34395"/>
                </a:cubicBezTo>
                <a:cubicBezTo>
                  <a:pt x="89273" y="31319"/>
                  <a:pt x="93328" y="15800"/>
                  <a:pt x="101927" y="10067"/>
                </a:cubicBezTo>
                <a:cubicBezTo>
                  <a:pt x="110526" y="4335"/>
                  <a:pt x="129191" y="1678"/>
                  <a:pt x="134644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77" name="Google Shape;577;p39"/>
          <p:cNvCxnSpPr/>
          <p:nvPr/>
        </p:nvCxnSpPr>
        <p:spPr>
          <a:xfrm rot="10800000">
            <a:off x="4853812" y="3312111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78" name="Google Shape;578;p39"/>
          <p:cNvCxnSpPr/>
          <p:nvPr/>
        </p:nvCxnSpPr>
        <p:spPr>
          <a:xfrm>
            <a:off x="4843200" y="4269058"/>
            <a:ext cx="1141800" cy="0"/>
          </a:xfrm>
          <a:prstGeom prst="straightConnector1">
            <a:avLst/>
          </a:prstGeom>
          <a:noFill/>
          <a:ln w="38100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9" name="Google Shape;579;p3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568191" y="4350696"/>
            <a:ext cx="97798" cy="113559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39"/>
          <p:cNvSpPr/>
          <p:nvPr/>
        </p:nvSpPr>
        <p:spPr>
          <a:xfrm>
            <a:off x="4855850" y="3694413"/>
            <a:ext cx="1139300" cy="234175"/>
          </a:xfrm>
          <a:custGeom>
            <a:avLst/>
            <a:gdLst/>
            <a:ahLst/>
            <a:cxnLst/>
            <a:rect l="l" t="t" r="r" b="b"/>
            <a:pathLst>
              <a:path w="45572" h="9367" extrusionOk="0">
                <a:moveTo>
                  <a:pt x="0" y="3198"/>
                </a:moveTo>
                <a:cubicBezTo>
                  <a:pt x="644" y="3354"/>
                  <a:pt x="822" y="3109"/>
                  <a:pt x="3864" y="4131"/>
                </a:cubicBezTo>
                <a:cubicBezTo>
                  <a:pt x="6907" y="5153"/>
                  <a:pt x="14188" y="9842"/>
                  <a:pt x="18255" y="9328"/>
                </a:cubicBezTo>
                <a:cubicBezTo>
                  <a:pt x="22322" y="8814"/>
                  <a:pt x="24846" y="1667"/>
                  <a:pt x="28266" y="1045"/>
                </a:cubicBezTo>
                <a:cubicBezTo>
                  <a:pt x="31686" y="423"/>
                  <a:pt x="36292" y="5283"/>
                  <a:pt x="38776" y="5597"/>
                </a:cubicBezTo>
                <a:cubicBezTo>
                  <a:pt x="41261" y="5912"/>
                  <a:pt x="42040" y="3865"/>
                  <a:pt x="43173" y="2932"/>
                </a:cubicBezTo>
                <a:cubicBezTo>
                  <a:pt x="44306" y="1999"/>
                  <a:pt x="45172" y="489"/>
                  <a:pt x="45572" y="0"/>
                </a:cubicBezTo>
              </a:path>
            </a:pathLst>
          </a:cu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81" name="Google Shape;581;p39"/>
          <p:cNvCxnSpPr/>
          <p:nvPr/>
        </p:nvCxnSpPr>
        <p:spPr>
          <a:xfrm rot="10800000">
            <a:off x="5995162" y="3325798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82" name="Google Shape;582;p39" descr="f(x) &gt; 0, \forall x \in \mathcal{S}" title="MathEquation,#000000"/>
          <p:cNvPicPr preferRelativeResize="0"/>
          <p:nvPr/>
        </p:nvPicPr>
        <p:blipFill rotWithShape="1">
          <a:blip r:embed="rId4"/>
          <a:srcRect l="88467" r="-4" b="9057"/>
          <a:stretch>
            <a:fillRect/>
          </a:stretch>
        </p:blipFill>
        <p:spPr>
          <a:xfrm>
            <a:off x="5330584" y="4506850"/>
            <a:ext cx="172900" cy="2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39"/>
          <p:cNvSpPr/>
          <p:nvPr/>
        </p:nvSpPr>
        <p:spPr>
          <a:xfrm rot="-5400000">
            <a:off x="5336125" y="3837625"/>
            <a:ext cx="168300" cy="1139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39"/>
          <p:cNvSpPr txBox="1"/>
          <p:nvPr/>
        </p:nvSpPr>
        <p:spPr>
          <a:xfrm>
            <a:off x="3225950" y="3821825"/>
            <a:ext cx="1608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y*</a:t>
            </a:r>
            <a:r>
              <a:rPr lang="en-GB" sz="1800" baseline="-25000">
                <a:solidFill>
                  <a:schemeClr val="dk1"/>
                </a:solidFill>
              </a:rPr>
              <a:t>LP</a:t>
            </a:r>
            <a:r>
              <a:rPr lang="en-GB" sz="2000">
                <a:solidFill>
                  <a:schemeClr val="dk1"/>
                </a:solidFill>
              </a:rPr>
              <a:t>≤</a:t>
            </a:r>
            <a:r>
              <a:rPr lang="en-GB" sz="1800">
                <a:solidFill>
                  <a:schemeClr val="dk1"/>
                </a:solidFill>
              </a:rPr>
              <a:t> y*</a:t>
            </a:r>
          </a:p>
        </p:txBody>
      </p:sp>
      <p:cxnSp>
        <p:nvCxnSpPr>
          <p:cNvPr id="585" name="Google Shape;585;p39"/>
          <p:cNvCxnSpPr/>
          <p:nvPr/>
        </p:nvCxnSpPr>
        <p:spPr>
          <a:xfrm>
            <a:off x="1066800" y="3824825"/>
            <a:ext cx="1608600" cy="10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86" name="Google Shape;586;p39"/>
          <p:cNvCxnSpPr/>
          <p:nvPr/>
        </p:nvCxnSpPr>
        <p:spPr>
          <a:xfrm>
            <a:off x="4449825" y="4093588"/>
            <a:ext cx="1608600" cy="10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87" name="Google Shape;587;p39"/>
          <p:cNvSpPr txBox="1"/>
          <p:nvPr/>
        </p:nvSpPr>
        <p:spPr>
          <a:xfrm>
            <a:off x="939524" y="1017713"/>
            <a:ext cx="7636785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Satisfiability problem: ∃ x ∈ S  ∧  y ≤ 0  ∧  y = f(x)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If y*</a:t>
            </a:r>
            <a:r>
              <a:rPr lang="en-GB" sz="18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LP </a:t>
            </a:r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 &gt; 0 =&gt; y* &gt; 0  =&gt; requirement verified (unsatisfiable)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y*</a:t>
            </a:r>
            <a:r>
              <a:rPr lang="en-GB" sz="18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LP </a:t>
            </a:r>
            <a:r>
              <a:rPr lang="en-GB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≤ 0 =&gt; verification result unknown (incomplete)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88" name="Google Shape;588;p39"/>
          <p:cNvCxnSpPr/>
          <p:nvPr/>
        </p:nvCxnSpPr>
        <p:spPr>
          <a:xfrm>
            <a:off x="7283219" y="2918538"/>
            <a:ext cx="0" cy="175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589" name="Google Shape;589;p39"/>
          <p:cNvCxnSpPr/>
          <p:nvPr/>
        </p:nvCxnSpPr>
        <p:spPr>
          <a:xfrm>
            <a:off x="7038625" y="4280638"/>
            <a:ext cx="2664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0" name="Google Shape;590;p39"/>
          <p:cNvSpPr/>
          <p:nvPr/>
        </p:nvSpPr>
        <p:spPr>
          <a:xfrm>
            <a:off x="7282307" y="3240817"/>
            <a:ext cx="2319243" cy="1062076"/>
          </a:xfrm>
          <a:custGeom>
            <a:avLst/>
            <a:gdLst/>
            <a:ahLst/>
            <a:cxnLst/>
            <a:rect l="l" t="t" r="r" b="b"/>
            <a:pathLst>
              <a:path w="134644" h="61659" extrusionOk="0">
                <a:moveTo>
                  <a:pt x="0" y="61659"/>
                </a:moveTo>
                <a:cubicBezTo>
                  <a:pt x="3006" y="56696"/>
                  <a:pt x="9788" y="35443"/>
                  <a:pt x="18037" y="31878"/>
                </a:cubicBezTo>
                <a:cubicBezTo>
                  <a:pt x="26286" y="28313"/>
                  <a:pt x="41735" y="40826"/>
                  <a:pt x="49495" y="40267"/>
                </a:cubicBezTo>
                <a:cubicBezTo>
                  <a:pt x="57255" y="39708"/>
                  <a:pt x="59003" y="29502"/>
                  <a:pt x="64596" y="28523"/>
                </a:cubicBezTo>
                <a:cubicBezTo>
                  <a:pt x="70189" y="27544"/>
                  <a:pt x="76829" y="37471"/>
                  <a:pt x="83051" y="34395"/>
                </a:cubicBezTo>
                <a:cubicBezTo>
                  <a:pt x="89273" y="31319"/>
                  <a:pt x="93328" y="15800"/>
                  <a:pt x="101927" y="10067"/>
                </a:cubicBezTo>
                <a:cubicBezTo>
                  <a:pt x="110526" y="4335"/>
                  <a:pt x="129191" y="1678"/>
                  <a:pt x="134644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91" name="Google Shape;591;p39"/>
          <p:cNvCxnSpPr/>
          <p:nvPr/>
        </p:nvCxnSpPr>
        <p:spPr>
          <a:xfrm rot="10800000">
            <a:off x="7686287" y="3323686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39"/>
          <p:cNvCxnSpPr/>
          <p:nvPr/>
        </p:nvCxnSpPr>
        <p:spPr>
          <a:xfrm>
            <a:off x="7675675" y="4280633"/>
            <a:ext cx="1141800" cy="0"/>
          </a:xfrm>
          <a:prstGeom prst="straightConnector1">
            <a:avLst/>
          </a:prstGeom>
          <a:noFill/>
          <a:ln w="38100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93" name="Google Shape;593;p3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400666" y="4362271"/>
            <a:ext cx="97798" cy="11355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9"/>
          <p:cNvSpPr/>
          <p:nvPr/>
        </p:nvSpPr>
        <p:spPr>
          <a:xfrm>
            <a:off x="7688325" y="3705988"/>
            <a:ext cx="1139300" cy="234175"/>
          </a:xfrm>
          <a:custGeom>
            <a:avLst/>
            <a:gdLst/>
            <a:ahLst/>
            <a:cxnLst/>
            <a:rect l="l" t="t" r="r" b="b"/>
            <a:pathLst>
              <a:path w="45572" h="9367" extrusionOk="0">
                <a:moveTo>
                  <a:pt x="0" y="3198"/>
                </a:moveTo>
                <a:cubicBezTo>
                  <a:pt x="644" y="3354"/>
                  <a:pt x="822" y="3109"/>
                  <a:pt x="3864" y="4131"/>
                </a:cubicBezTo>
                <a:cubicBezTo>
                  <a:pt x="6907" y="5153"/>
                  <a:pt x="14188" y="9842"/>
                  <a:pt x="18255" y="9328"/>
                </a:cubicBezTo>
                <a:cubicBezTo>
                  <a:pt x="22322" y="8814"/>
                  <a:pt x="24846" y="1667"/>
                  <a:pt x="28266" y="1045"/>
                </a:cubicBezTo>
                <a:cubicBezTo>
                  <a:pt x="31686" y="423"/>
                  <a:pt x="36292" y="5283"/>
                  <a:pt x="38776" y="5597"/>
                </a:cubicBezTo>
                <a:cubicBezTo>
                  <a:pt x="41261" y="5912"/>
                  <a:pt x="42040" y="3865"/>
                  <a:pt x="43173" y="2932"/>
                </a:cubicBezTo>
                <a:cubicBezTo>
                  <a:pt x="44306" y="1999"/>
                  <a:pt x="45172" y="489"/>
                  <a:pt x="45572" y="0"/>
                </a:cubicBezTo>
              </a:path>
            </a:pathLst>
          </a:custGeom>
          <a:noFill/>
          <a:ln w="19050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95" name="Google Shape;595;p39"/>
          <p:cNvCxnSpPr/>
          <p:nvPr/>
        </p:nvCxnSpPr>
        <p:spPr>
          <a:xfrm rot="10800000">
            <a:off x="8827637" y="3337373"/>
            <a:ext cx="0" cy="97140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96" name="Google Shape;596;p39" descr="f(x) &gt; 0, \forall x \in \mathcal{S}" title="MathEquation,#000000"/>
          <p:cNvPicPr preferRelativeResize="0"/>
          <p:nvPr/>
        </p:nvPicPr>
        <p:blipFill rotWithShape="1">
          <a:blip r:embed="rId4"/>
          <a:srcRect l="88467" r="-4" b="9057"/>
          <a:stretch>
            <a:fillRect/>
          </a:stretch>
        </p:blipFill>
        <p:spPr>
          <a:xfrm>
            <a:off x="8163059" y="4518425"/>
            <a:ext cx="172900" cy="2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9"/>
          <p:cNvSpPr/>
          <p:nvPr/>
        </p:nvSpPr>
        <p:spPr>
          <a:xfrm rot="-5400000">
            <a:off x="8168600" y="3849200"/>
            <a:ext cx="168300" cy="1139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8" name="Google Shape;598;p39"/>
          <p:cNvCxnSpPr/>
          <p:nvPr/>
        </p:nvCxnSpPr>
        <p:spPr>
          <a:xfrm>
            <a:off x="7282300" y="4535188"/>
            <a:ext cx="1608600" cy="10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99" name="Google Shape;599;p39"/>
          <p:cNvSpPr txBox="1"/>
          <p:nvPr/>
        </p:nvSpPr>
        <p:spPr>
          <a:xfrm>
            <a:off x="6032213" y="4383713"/>
            <a:ext cx="1608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y*</a:t>
            </a:r>
            <a:r>
              <a:rPr lang="en-GB" sz="1800" baseline="-25000">
                <a:solidFill>
                  <a:schemeClr val="dk1"/>
                </a:solidFill>
              </a:rPr>
              <a:t>LP</a:t>
            </a:r>
            <a:r>
              <a:rPr lang="en-GB" sz="2000">
                <a:solidFill>
                  <a:schemeClr val="dk1"/>
                </a:solidFill>
              </a:rPr>
              <a:t>≤</a:t>
            </a:r>
            <a:r>
              <a:rPr lang="en-GB" sz="1800">
                <a:solidFill>
                  <a:schemeClr val="dk1"/>
                </a:solidFill>
              </a:rPr>
              <a:t> y*</a:t>
            </a:r>
          </a:p>
        </p:txBody>
      </p:sp>
      <p:pic>
        <p:nvPicPr>
          <p:cNvPr id="600" name="Google Shape;600;p39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720650" y="3615638"/>
            <a:ext cx="299850" cy="31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39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121125" y="3911888"/>
            <a:ext cx="299850" cy="31245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9"/>
          <p:cNvSpPr txBox="1"/>
          <p:nvPr/>
        </p:nvSpPr>
        <p:spPr>
          <a:xfrm>
            <a:off x="8576325" y="4464250"/>
            <a:ext cx="824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0000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rPr>
              <a:t>?</a:t>
            </a:r>
            <a:endParaRPr sz="2300">
              <a:solidFill>
                <a:srgbClr val="FF0000"/>
              </a:solidFill>
              <a:latin typeface="Impact" panose="020B0806030902050204"/>
              <a:ea typeface="Impact" panose="020B0806030902050204"/>
              <a:cs typeface="Impact" panose="020B0806030902050204"/>
              <a:sym typeface="Impact" panose="020B080603090205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dirty="0"/>
              <a:t>A closer look at the LP relaxation: </a:t>
            </a:r>
            <a:r>
              <a:rPr lang="en-GB" dirty="0">
                <a:solidFill>
                  <a:srgbClr val="4A86E8"/>
                </a:solidFill>
              </a:rPr>
              <a:t>“Triangle” relaxation</a:t>
            </a:r>
            <a:br>
              <a:rPr lang="en-GB" dirty="0">
                <a:solidFill>
                  <a:srgbClr val="4A86E8"/>
                </a:solidFill>
              </a:rPr>
            </a:br>
            <a:endParaRPr lang="en-GB" dirty="0"/>
          </a:p>
        </p:txBody>
      </p:sp>
      <p:sp>
        <p:nvSpPr>
          <p:cNvPr id="614" name="Google Shape;614;p40"/>
          <p:cNvSpPr txBox="1"/>
          <p:nvPr/>
        </p:nvSpPr>
        <p:spPr>
          <a:xfrm>
            <a:off x="2696100" y="4505150"/>
            <a:ext cx="5868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B7B7B7"/>
                </a:solidFill>
              </a:rPr>
              <a:t>(Please note that l</a:t>
            </a:r>
            <a:r>
              <a:rPr lang="en-GB" sz="1500" baseline="-25000">
                <a:solidFill>
                  <a:srgbClr val="B7B7B7"/>
                </a:solidFill>
              </a:rPr>
              <a:t>j</a:t>
            </a:r>
            <a:r>
              <a:rPr lang="en-GB" sz="1500" baseline="30000">
                <a:solidFill>
                  <a:srgbClr val="B7B7B7"/>
                </a:solidFill>
              </a:rPr>
              <a:t>(i) </a:t>
            </a:r>
            <a:r>
              <a:rPr lang="en-GB" sz="1500">
                <a:solidFill>
                  <a:srgbClr val="B7B7B7"/>
                </a:solidFill>
              </a:rPr>
              <a:t>is negative during the above derivation)</a:t>
            </a:r>
            <a:endParaRPr sz="1500">
              <a:solidFill>
                <a:srgbClr val="B7B7B7"/>
              </a:solidFill>
            </a:endParaRPr>
          </a:p>
        </p:txBody>
      </p:sp>
      <p:pic>
        <p:nvPicPr>
          <p:cNvPr id="615" name="Google Shape;615;p40" descr="p^{(i)}_j \leq \frac{\hat{z}^{(i)}_j - z_j^{(i)} + l_j^{(i)}}{l_j^{(i)}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30738" y="1857306"/>
            <a:ext cx="1282526" cy="4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0"/>
          <p:cNvSpPr/>
          <p:nvPr/>
        </p:nvSpPr>
        <p:spPr>
          <a:xfrm>
            <a:off x="3240625" y="2347825"/>
            <a:ext cx="638400" cy="249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0"/>
          <p:cNvSpPr/>
          <p:nvPr/>
        </p:nvSpPr>
        <p:spPr>
          <a:xfrm>
            <a:off x="5264975" y="2347850"/>
            <a:ext cx="526200" cy="249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8" name="Google Shape;618;p40" descr="p^{(i)}_j \geq \frac{\hat{z}^{(i)}_j}{u_j^{(i)}}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106900" y="2495769"/>
            <a:ext cx="1023400" cy="665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0" descr="\hat{z}_j^{(i)} \leq \frac{u_j^{(i)}}{u_j^{(i)}-l_j^{(i)}} z_j^{(i)} - \frac{u_j^{(i)}l_j^{(i)}}{u_j^{(i)} - l_j^{(i)}}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969525" y="2140173"/>
            <a:ext cx="2743058" cy="6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0"/>
          <p:cNvSpPr txBox="1"/>
          <p:nvPr/>
        </p:nvSpPr>
        <p:spPr>
          <a:xfrm>
            <a:off x="5537200" y="3272375"/>
            <a:ext cx="22224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621" name="Google Shape;621;p40"/>
          <p:cNvSpPr txBox="1"/>
          <p:nvPr/>
        </p:nvSpPr>
        <p:spPr>
          <a:xfrm>
            <a:off x="6722500" y="1583675"/>
            <a:ext cx="2053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Project out p</a:t>
            </a:r>
            <a:endParaRPr sz="1800">
              <a:solidFill>
                <a:schemeClr val="dk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B8218A-D342-4FD3-C3D0-6FF267C7922A}"/>
                  </a:ext>
                </a:extLst>
              </p:cNvPr>
              <p:cNvSpPr txBox="1"/>
              <p:nvPr/>
            </p:nvSpPr>
            <p:spPr>
              <a:xfrm>
                <a:off x="188687" y="1327795"/>
                <a:ext cx="3418114" cy="3001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6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Each </a:t>
                </a:r>
                <a:r>
                  <a:rPr lang="en-US" sz="1600" dirty="0" err="1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ReLU</a:t>
                </a:r>
                <a:r>
                  <a:rPr lang="en-US" sz="1600" dirty="0">
                    <a:solidFill>
                      <a:schemeClr val="tx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is represented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fName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/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0≤</m:t>
                      </m:r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1600" b="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B8218A-D342-4FD3-C3D0-6FF267C79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87" y="1327795"/>
                <a:ext cx="3418114" cy="3001143"/>
              </a:xfrm>
              <a:prstGeom prst="rect">
                <a:avLst/>
              </a:prstGeom>
              <a:blipFill>
                <a:blip r:embed="rId6"/>
                <a:stretch>
                  <a:fillRect l="-738" t="-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" grpId="0" animBg="1"/>
      <p:bldP spid="617" grpId="0" animBg="1"/>
      <p:bldP spid="621" grpId="0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closer look at the linear programming relaxation</a:t>
            </a:r>
          </a:p>
        </p:txBody>
      </p:sp>
      <p:grpSp>
        <p:nvGrpSpPr>
          <p:cNvPr id="628" name="Google Shape;628;p41"/>
          <p:cNvGrpSpPr/>
          <p:nvPr/>
        </p:nvGrpSpPr>
        <p:grpSpPr>
          <a:xfrm>
            <a:off x="4427925" y="2188838"/>
            <a:ext cx="1023396" cy="1002300"/>
            <a:chOff x="4668200" y="3620800"/>
            <a:chExt cx="1023396" cy="1002300"/>
          </a:xfrm>
        </p:grpSpPr>
        <p:pic>
          <p:nvPicPr>
            <p:cNvPr id="629" name="Google Shape;629;p41" descr="\hat{z}^{(i)}_j \geq z_j^{(i)}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4668200" y="3620800"/>
              <a:ext cx="1023396" cy="41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0" name="Google Shape;630;p41" descr="\hat{z}^{(i)}_j \geq 0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4668200" y="4206075"/>
              <a:ext cx="811722" cy="417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1" name="Google Shape;631;p41"/>
          <p:cNvSpPr txBox="1"/>
          <p:nvPr/>
        </p:nvSpPr>
        <p:spPr>
          <a:xfrm>
            <a:off x="481825" y="1370300"/>
            <a:ext cx="3397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Each ReLU is represented by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2" name="Google Shape;632;p41" descr="\hat{z}^{(i)}_j \leq z_j^{(i)} - l_j^{(i)} (1 - p^{(i)}_j)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98437" y="1964663"/>
            <a:ext cx="2376070" cy="3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41" descr="\hat{z}^{(i)}_j \leq u^{(i)}_j p^{(i)}_j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98450" y="2495775"/>
            <a:ext cx="1282518" cy="383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1"/>
          <p:cNvSpPr/>
          <p:nvPr/>
        </p:nvSpPr>
        <p:spPr>
          <a:xfrm>
            <a:off x="3240625" y="2347825"/>
            <a:ext cx="638400" cy="249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5" name="Google Shape;635;p41" descr="\hat{z}_j^{(i)} \leq \frac{u_j^{(i)}}{u_j^{(i)}-l_j^{(i)}} z_j^{(i)} - \frac{u_j^{(i)}l_j^{(i)}}{u_j^{(i)} - l_j^{(i)}}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375000" y="1516723"/>
            <a:ext cx="2743058" cy="665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6" name="Google Shape;636;p41"/>
          <p:cNvGrpSpPr/>
          <p:nvPr/>
        </p:nvGrpSpPr>
        <p:grpSpPr>
          <a:xfrm>
            <a:off x="5650625" y="3191150"/>
            <a:ext cx="2604000" cy="1721575"/>
            <a:chOff x="1988800" y="2213825"/>
            <a:chExt cx="2604000" cy="1721575"/>
          </a:xfrm>
        </p:grpSpPr>
        <p:grpSp>
          <p:nvGrpSpPr>
            <p:cNvPr id="637" name="Google Shape;637;p41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638" name="Google Shape;638;p41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639" name="Google Shape;639;p41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40" name="Google Shape;640;p41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641" name="Google Shape;641;p41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2" name="Google Shape;642;p41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643" name="Google Shape;643;p41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44" name="Google Shape;644;p41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645" name="Google Shape;645;p41"/>
            <p:cNvCxnSpPr/>
            <p:nvPr/>
          </p:nvCxnSpPr>
          <p:spPr>
            <a:xfrm rot="10800000">
              <a:off x="2229850" y="25123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41"/>
            <p:cNvCxnSpPr/>
            <p:nvPr/>
          </p:nvCxnSpPr>
          <p:spPr>
            <a:xfrm rot="10800000">
              <a:off x="4001500" y="24391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7" name="Google Shape;647;p41"/>
            <p:cNvSpPr txBox="1"/>
            <p:nvPr/>
          </p:nvSpPr>
          <p:spPr>
            <a:xfrm>
              <a:off x="1988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648" name="Google Shape;648;p41"/>
            <p:cNvSpPr txBox="1"/>
            <p:nvPr/>
          </p:nvSpPr>
          <p:spPr>
            <a:xfrm>
              <a:off x="37604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649" name="Google Shape;649;p41"/>
          <p:cNvCxnSpPr/>
          <p:nvPr/>
        </p:nvCxnSpPr>
        <p:spPr>
          <a:xfrm>
            <a:off x="5209125" y="4269325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41"/>
          <p:cNvCxnSpPr/>
          <p:nvPr/>
        </p:nvCxnSpPr>
        <p:spPr>
          <a:xfrm rot="10800000" flipH="1">
            <a:off x="5954375" y="3147600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1" name="Google Shape;651;p41"/>
          <p:cNvCxnSpPr/>
          <p:nvPr/>
        </p:nvCxnSpPr>
        <p:spPr>
          <a:xfrm rot="10800000" flipH="1">
            <a:off x="5346700" y="3285050"/>
            <a:ext cx="2624700" cy="12171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2" name="Google Shape;652;p41"/>
          <p:cNvSpPr txBox="1"/>
          <p:nvPr/>
        </p:nvSpPr>
        <p:spPr>
          <a:xfrm>
            <a:off x="5897025" y="2650075"/>
            <a:ext cx="2476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A86E8"/>
                </a:solidFill>
              </a:rPr>
              <a:t>“Triangle” relaxation</a:t>
            </a:r>
            <a:endParaRPr sz="1800">
              <a:solidFill>
                <a:srgbClr val="4A86E8"/>
              </a:solidFill>
            </a:endParaRPr>
          </a:p>
        </p:txBody>
      </p:sp>
      <p:grpSp>
        <p:nvGrpSpPr>
          <p:cNvPr id="653" name="Google Shape;653;p41"/>
          <p:cNvGrpSpPr/>
          <p:nvPr/>
        </p:nvGrpSpPr>
        <p:grpSpPr>
          <a:xfrm>
            <a:off x="798450" y="3026863"/>
            <a:ext cx="1023396" cy="1002300"/>
            <a:chOff x="1112825" y="3768750"/>
            <a:chExt cx="1023396" cy="1002300"/>
          </a:xfrm>
        </p:grpSpPr>
        <p:pic>
          <p:nvPicPr>
            <p:cNvPr id="654" name="Google Shape;654;p41" descr="\hat{z}^{(i)}_j \geq z_j^{(i)}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112825" y="3768750"/>
              <a:ext cx="1023396" cy="41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5" name="Google Shape;655;p41" descr="\hat{z}^{(i)}_j \geq 0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1112825" y="4354025"/>
              <a:ext cx="811722" cy="417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closer look at the linear programming relaxation</a:t>
            </a:r>
          </a:p>
        </p:txBody>
      </p:sp>
      <p:grpSp>
        <p:nvGrpSpPr>
          <p:cNvPr id="661" name="Google Shape;661;p42"/>
          <p:cNvGrpSpPr/>
          <p:nvPr/>
        </p:nvGrpSpPr>
        <p:grpSpPr>
          <a:xfrm>
            <a:off x="903675" y="3322188"/>
            <a:ext cx="1023396" cy="1002300"/>
            <a:chOff x="4668200" y="3620800"/>
            <a:chExt cx="1023396" cy="1002300"/>
          </a:xfrm>
        </p:grpSpPr>
        <p:pic>
          <p:nvPicPr>
            <p:cNvPr id="662" name="Google Shape;662;p42" descr="\hat{z}^{(i)}_j \geq z_j^{(i)}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4668200" y="3620800"/>
              <a:ext cx="1023396" cy="41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3" name="Google Shape;663;p42" descr="\hat{z}^{(i)}_j \geq 0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4668200" y="4206075"/>
              <a:ext cx="811722" cy="417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64" name="Google Shape;664;p42" descr="\hat{z}_j^{(i)} \leq \frac{u_j^{(i)}}{u_j^{(i)}-l_j^{(i)}} z_j^{(i)} - \frac{u_j^{(i)}l_j^{(i)}}{u_j^{(i)} - l_j^{(i)}}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850750" y="2650073"/>
            <a:ext cx="2743058" cy="665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5" name="Google Shape;665;p42"/>
          <p:cNvGrpSpPr/>
          <p:nvPr/>
        </p:nvGrpSpPr>
        <p:grpSpPr>
          <a:xfrm>
            <a:off x="5650625" y="3191150"/>
            <a:ext cx="2604000" cy="1721575"/>
            <a:chOff x="1988800" y="2213825"/>
            <a:chExt cx="2604000" cy="1721575"/>
          </a:xfrm>
        </p:grpSpPr>
        <p:grpSp>
          <p:nvGrpSpPr>
            <p:cNvPr id="666" name="Google Shape;666;p42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667" name="Google Shape;667;p42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668" name="Google Shape;668;p42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69" name="Google Shape;669;p42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670" name="Google Shape;670;p42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1" name="Google Shape;671;p42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672" name="Google Shape;672;p42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73" name="Google Shape;673;p42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674" name="Google Shape;674;p42"/>
            <p:cNvCxnSpPr/>
            <p:nvPr/>
          </p:nvCxnSpPr>
          <p:spPr>
            <a:xfrm rot="10800000">
              <a:off x="2229850" y="25123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42"/>
            <p:cNvCxnSpPr/>
            <p:nvPr/>
          </p:nvCxnSpPr>
          <p:spPr>
            <a:xfrm rot="10800000">
              <a:off x="4001500" y="24391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42"/>
            <p:cNvSpPr txBox="1"/>
            <p:nvPr/>
          </p:nvSpPr>
          <p:spPr>
            <a:xfrm>
              <a:off x="1988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677" name="Google Shape;677;p42"/>
            <p:cNvSpPr txBox="1"/>
            <p:nvPr/>
          </p:nvSpPr>
          <p:spPr>
            <a:xfrm>
              <a:off x="37604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678" name="Google Shape;678;p42"/>
          <p:cNvCxnSpPr/>
          <p:nvPr/>
        </p:nvCxnSpPr>
        <p:spPr>
          <a:xfrm>
            <a:off x="5209125" y="4269325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9" name="Google Shape;679;p42"/>
          <p:cNvCxnSpPr/>
          <p:nvPr/>
        </p:nvCxnSpPr>
        <p:spPr>
          <a:xfrm rot="10800000" flipH="1">
            <a:off x="5954375" y="3147600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0" name="Google Shape;680;p42"/>
          <p:cNvCxnSpPr/>
          <p:nvPr/>
        </p:nvCxnSpPr>
        <p:spPr>
          <a:xfrm rot="10800000" flipH="1">
            <a:off x="5346700" y="3285050"/>
            <a:ext cx="2624700" cy="12171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1" name="Google Shape;681;p42"/>
          <p:cNvSpPr txBox="1"/>
          <p:nvPr/>
        </p:nvSpPr>
        <p:spPr>
          <a:xfrm>
            <a:off x="393700" y="1136650"/>
            <a:ext cx="76518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MILP: solutions are constrained on </a:t>
            </a:r>
            <a:r>
              <a:rPr lang="en-GB" sz="1800">
                <a:solidFill>
                  <a:srgbClr val="980000"/>
                </a:solidFill>
              </a:rPr>
              <a:t>ReLU function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Linear programming: solutions are constrained on the </a:t>
            </a:r>
            <a:r>
              <a:rPr lang="en-GB" sz="1800">
                <a:solidFill>
                  <a:srgbClr val="4A86E8"/>
                </a:solidFill>
              </a:rPr>
              <a:t>triangle</a:t>
            </a:r>
            <a:endParaRPr sz="18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closer look at the linear programming relaxation</a:t>
            </a:r>
          </a:p>
        </p:txBody>
      </p:sp>
      <p:grpSp>
        <p:nvGrpSpPr>
          <p:cNvPr id="687" name="Google Shape;687;p43"/>
          <p:cNvGrpSpPr/>
          <p:nvPr/>
        </p:nvGrpSpPr>
        <p:grpSpPr>
          <a:xfrm>
            <a:off x="708225" y="2905400"/>
            <a:ext cx="2604000" cy="1721575"/>
            <a:chOff x="1988800" y="2213825"/>
            <a:chExt cx="2604000" cy="1721575"/>
          </a:xfrm>
        </p:grpSpPr>
        <p:grpSp>
          <p:nvGrpSpPr>
            <p:cNvPr id="688" name="Google Shape;688;p43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689" name="Google Shape;689;p43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690" name="Google Shape;690;p43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91" name="Google Shape;691;p43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692" name="Google Shape;692;p43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43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694" name="Google Shape;694;p43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95" name="Google Shape;695;p43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696" name="Google Shape;696;p43"/>
            <p:cNvCxnSpPr/>
            <p:nvPr/>
          </p:nvCxnSpPr>
          <p:spPr>
            <a:xfrm rot="10800000">
              <a:off x="2229850" y="25123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43"/>
            <p:cNvCxnSpPr/>
            <p:nvPr/>
          </p:nvCxnSpPr>
          <p:spPr>
            <a:xfrm rot="10800000">
              <a:off x="4001500" y="24391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8" name="Google Shape;698;p43"/>
            <p:cNvSpPr txBox="1"/>
            <p:nvPr/>
          </p:nvSpPr>
          <p:spPr>
            <a:xfrm>
              <a:off x="1988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699" name="Google Shape;699;p43"/>
            <p:cNvSpPr txBox="1"/>
            <p:nvPr/>
          </p:nvSpPr>
          <p:spPr>
            <a:xfrm>
              <a:off x="37604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00" name="Google Shape;700;p43"/>
          <p:cNvCxnSpPr/>
          <p:nvPr/>
        </p:nvCxnSpPr>
        <p:spPr>
          <a:xfrm>
            <a:off x="266725" y="3983575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p43"/>
          <p:cNvCxnSpPr/>
          <p:nvPr/>
        </p:nvCxnSpPr>
        <p:spPr>
          <a:xfrm rot="10800000" flipH="1">
            <a:off x="1011975" y="2861850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2" name="Google Shape;702;p43"/>
          <p:cNvCxnSpPr/>
          <p:nvPr/>
        </p:nvCxnSpPr>
        <p:spPr>
          <a:xfrm rot="10800000" flipH="1">
            <a:off x="404300" y="2999300"/>
            <a:ext cx="2624700" cy="12171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p43"/>
          <p:cNvSpPr txBox="1"/>
          <p:nvPr/>
        </p:nvSpPr>
        <p:spPr>
          <a:xfrm>
            <a:off x="393700" y="1136650"/>
            <a:ext cx="76518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MILP: solutions are constrained on </a:t>
            </a:r>
            <a:r>
              <a:rPr lang="en-GB" sz="1800">
                <a:solidFill>
                  <a:srgbClr val="980000"/>
                </a:solidFill>
              </a:rPr>
              <a:t>ReLU function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Linear programming: solutions are constrained on the </a:t>
            </a:r>
            <a:r>
              <a:rPr lang="en-GB" sz="1800">
                <a:solidFill>
                  <a:srgbClr val="4A86E8"/>
                </a:solidFill>
              </a:rPr>
              <a:t>triangle</a:t>
            </a:r>
            <a:endParaRPr sz="1800">
              <a:solidFill>
                <a:srgbClr val="4A86E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A86E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We want the triangle to be as small as possible! So tight pre-activation bounds are necessary.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704" name="Google Shape;704;p43"/>
          <p:cNvGrpSpPr/>
          <p:nvPr/>
        </p:nvGrpSpPr>
        <p:grpSpPr>
          <a:xfrm>
            <a:off x="5615525" y="3029175"/>
            <a:ext cx="2601025" cy="1721575"/>
            <a:chOff x="1991775" y="2213825"/>
            <a:chExt cx="2601025" cy="1721575"/>
          </a:xfrm>
        </p:grpSpPr>
        <p:grpSp>
          <p:nvGrpSpPr>
            <p:cNvPr id="705" name="Google Shape;705;p43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06" name="Google Shape;706;p43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07" name="Google Shape;707;p43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08" name="Google Shape;708;p43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09" name="Google Shape;709;p43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0" name="Google Shape;710;p43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11" name="Google Shape;711;p43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12" name="Google Shape;712;p43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13" name="Google Shape;713;p43"/>
            <p:cNvCxnSpPr/>
            <p:nvPr/>
          </p:nvCxnSpPr>
          <p:spPr>
            <a:xfrm rot="10800000">
              <a:off x="2600275" y="2531950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4" name="Google Shape;714;p43"/>
            <p:cNvCxnSpPr/>
            <p:nvPr/>
          </p:nvCxnSpPr>
          <p:spPr>
            <a:xfrm rot="10800000">
              <a:off x="35906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5" name="Google Shape;715;p43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716" name="Google Shape;716;p43"/>
            <p:cNvSpPr txBox="1"/>
            <p:nvPr/>
          </p:nvSpPr>
          <p:spPr>
            <a:xfrm>
              <a:off x="34556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17" name="Google Shape;717;p43"/>
          <p:cNvCxnSpPr/>
          <p:nvPr/>
        </p:nvCxnSpPr>
        <p:spPr>
          <a:xfrm>
            <a:off x="5171050" y="4107350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" name="Google Shape;718;p43"/>
          <p:cNvCxnSpPr/>
          <p:nvPr/>
        </p:nvCxnSpPr>
        <p:spPr>
          <a:xfrm rot="10800000" flipH="1">
            <a:off x="5916300" y="2985625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9" name="Google Shape;719;p43"/>
          <p:cNvCxnSpPr/>
          <p:nvPr/>
        </p:nvCxnSpPr>
        <p:spPr>
          <a:xfrm rot="10800000" flipH="1">
            <a:off x="5420775" y="3281475"/>
            <a:ext cx="2644800" cy="11868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Stable vs. unstable neurons</a:t>
            </a:r>
          </a:p>
        </p:txBody>
      </p:sp>
      <p:sp>
        <p:nvSpPr>
          <p:cNvPr id="725" name="Google Shape;725;p44"/>
          <p:cNvSpPr txBox="1"/>
          <p:nvPr/>
        </p:nvSpPr>
        <p:spPr>
          <a:xfrm>
            <a:off x="393700" y="1136650"/>
            <a:ext cx="7651800" cy="8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If bounds are tight enough so l</a:t>
            </a:r>
            <a:r>
              <a:rPr lang="en-GB" sz="1800" baseline="-25000">
                <a:solidFill>
                  <a:schemeClr val="dk2"/>
                </a:solidFill>
              </a:rPr>
              <a:t>j</a:t>
            </a:r>
            <a:r>
              <a:rPr lang="en-GB" sz="1800" baseline="30000">
                <a:solidFill>
                  <a:schemeClr val="dk2"/>
                </a:solidFill>
              </a:rPr>
              <a:t>(i)</a:t>
            </a:r>
            <a:r>
              <a:rPr lang="en-GB" sz="1800">
                <a:solidFill>
                  <a:schemeClr val="dk2"/>
                </a:solidFill>
              </a:rPr>
              <a:t> ≥</a:t>
            </a:r>
            <a:r>
              <a:rPr lang="en-GB" sz="2000">
                <a:solidFill>
                  <a:schemeClr val="dk2"/>
                </a:solidFill>
              </a:rPr>
              <a:t> 0 or </a:t>
            </a:r>
            <a:r>
              <a:rPr lang="en-GB" sz="1800">
                <a:solidFill>
                  <a:schemeClr val="dk2"/>
                </a:solidFill>
              </a:rPr>
              <a:t>u</a:t>
            </a:r>
            <a:r>
              <a:rPr lang="en-GB" sz="1800" baseline="-25000">
                <a:solidFill>
                  <a:schemeClr val="dk2"/>
                </a:solidFill>
              </a:rPr>
              <a:t>j</a:t>
            </a:r>
            <a:r>
              <a:rPr lang="en-GB" sz="1800" baseline="30000">
                <a:solidFill>
                  <a:schemeClr val="dk2"/>
                </a:solidFill>
              </a:rPr>
              <a:t>(i)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2000">
                <a:solidFill>
                  <a:schemeClr val="dk2"/>
                </a:solidFill>
              </a:rPr>
              <a:t>≤</a:t>
            </a:r>
            <a:r>
              <a:rPr lang="en-GB" sz="1800">
                <a:solidFill>
                  <a:schemeClr val="dk2"/>
                </a:solidFill>
              </a:rPr>
              <a:t> 0, it is called stable neurons (active or inactive); otherwise it is a unstable neuron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 stable neuron cases, a binary variable in MILP or relaxation in LP is not needed - ReLU becomes a linear function.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726" name="Google Shape;726;p44"/>
          <p:cNvGrpSpPr/>
          <p:nvPr/>
        </p:nvGrpSpPr>
        <p:grpSpPr>
          <a:xfrm>
            <a:off x="-52925" y="3082075"/>
            <a:ext cx="2601025" cy="1721575"/>
            <a:chOff x="1991775" y="2213825"/>
            <a:chExt cx="2601025" cy="1721575"/>
          </a:xfrm>
        </p:grpSpPr>
        <p:grpSp>
          <p:nvGrpSpPr>
            <p:cNvPr id="727" name="Google Shape;727;p44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28" name="Google Shape;728;p44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29" name="Google Shape;729;p44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30" name="Google Shape;730;p44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31" name="Google Shape;731;p44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2" name="Google Shape;732;p44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33" name="Google Shape;733;p44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34" name="Google Shape;734;p44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35" name="Google Shape;735;p44"/>
            <p:cNvCxnSpPr/>
            <p:nvPr/>
          </p:nvCxnSpPr>
          <p:spPr>
            <a:xfrm rot="10800000">
              <a:off x="2600275" y="2531950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6" name="Google Shape;736;p44"/>
            <p:cNvCxnSpPr/>
            <p:nvPr/>
          </p:nvCxnSpPr>
          <p:spPr>
            <a:xfrm rot="10800000">
              <a:off x="35906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37" name="Google Shape;737;p44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738" name="Google Shape;738;p44"/>
            <p:cNvSpPr txBox="1"/>
            <p:nvPr/>
          </p:nvSpPr>
          <p:spPr>
            <a:xfrm>
              <a:off x="34556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39" name="Google Shape;739;p44"/>
          <p:cNvCxnSpPr/>
          <p:nvPr/>
        </p:nvCxnSpPr>
        <p:spPr>
          <a:xfrm>
            <a:off x="-497400" y="4160250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0" name="Google Shape;740;p44"/>
          <p:cNvCxnSpPr/>
          <p:nvPr/>
        </p:nvCxnSpPr>
        <p:spPr>
          <a:xfrm rot="10800000" flipH="1">
            <a:off x="247850" y="3038525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1" name="Google Shape;741;p44"/>
          <p:cNvCxnSpPr/>
          <p:nvPr/>
        </p:nvCxnSpPr>
        <p:spPr>
          <a:xfrm rot="10800000" flipH="1">
            <a:off x="-247675" y="3334375"/>
            <a:ext cx="2644800" cy="11868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42" name="Google Shape;742;p44"/>
          <p:cNvGrpSpPr/>
          <p:nvPr/>
        </p:nvGrpSpPr>
        <p:grpSpPr>
          <a:xfrm>
            <a:off x="3168650" y="3082075"/>
            <a:ext cx="2601025" cy="1721575"/>
            <a:chOff x="1991775" y="2213825"/>
            <a:chExt cx="2601025" cy="1721575"/>
          </a:xfrm>
        </p:grpSpPr>
        <p:grpSp>
          <p:nvGrpSpPr>
            <p:cNvPr id="743" name="Google Shape;743;p44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44" name="Google Shape;744;p44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45" name="Google Shape;745;p44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46" name="Google Shape;746;p44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47" name="Google Shape;747;p44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8" name="Google Shape;748;p44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49" name="Google Shape;749;p44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50" name="Google Shape;750;p44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51" name="Google Shape;751;p44"/>
            <p:cNvCxnSpPr/>
            <p:nvPr/>
          </p:nvCxnSpPr>
          <p:spPr>
            <a:xfrm rot="10800000">
              <a:off x="2600275" y="2531950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2" name="Google Shape;752;p44"/>
            <p:cNvCxnSpPr/>
            <p:nvPr/>
          </p:nvCxnSpPr>
          <p:spPr>
            <a:xfrm rot="10800000">
              <a:off x="30191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3" name="Google Shape;753;p44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754" name="Google Shape;754;p44"/>
            <p:cNvSpPr txBox="1"/>
            <p:nvPr/>
          </p:nvSpPr>
          <p:spPr>
            <a:xfrm>
              <a:off x="286108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55" name="Google Shape;755;p44"/>
          <p:cNvCxnSpPr/>
          <p:nvPr/>
        </p:nvCxnSpPr>
        <p:spPr>
          <a:xfrm>
            <a:off x="2724175" y="4160250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6" name="Google Shape;756;p44"/>
          <p:cNvCxnSpPr/>
          <p:nvPr/>
        </p:nvCxnSpPr>
        <p:spPr>
          <a:xfrm>
            <a:off x="3011938" y="4160250"/>
            <a:ext cx="2381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57" name="Google Shape;757;p44"/>
          <p:cNvGrpSpPr/>
          <p:nvPr/>
        </p:nvGrpSpPr>
        <p:grpSpPr>
          <a:xfrm>
            <a:off x="6355675" y="3205850"/>
            <a:ext cx="2601025" cy="1721575"/>
            <a:chOff x="1991775" y="2213825"/>
            <a:chExt cx="2601025" cy="1721575"/>
          </a:xfrm>
        </p:grpSpPr>
        <p:grpSp>
          <p:nvGrpSpPr>
            <p:cNvPr id="758" name="Google Shape;758;p44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59" name="Google Shape;759;p44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60" name="Google Shape;760;p44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61" name="Google Shape;761;p44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62" name="Google Shape;762;p44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3" name="Google Shape;763;p44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64" name="Google Shape;764;p44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65" name="Google Shape;765;p44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66" name="Google Shape;766;p44"/>
            <p:cNvCxnSpPr/>
            <p:nvPr/>
          </p:nvCxnSpPr>
          <p:spPr>
            <a:xfrm rot="10800000">
              <a:off x="32908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7" name="Google Shape;767;p44"/>
            <p:cNvCxnSpPr/>
            <p:nvPr/>
          </p:nvCxnSpPr>
          <p:spPr>
            <a:xfrm rot="10800000">
              <a:off x="35906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68" name="Google Shape;768;p44"/>
            <p:cNvSpPr txBox="1"/>
            <p:nvPr/>
          </p:nvSpPr>
          <p:spPr>
            <a:xfrm>
              <a:off x="3108575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769" name="Google Shape;769;p44"/>
            <p:cNvSpPr txBox="1"/>
            <p:nvPr/>
          </p:nvSpPr>
          <p:spPr>
            <a:xfrm>
              <a:off x="34556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70" name="Google Shape;770;p44"/>
          <p:cNvCxnSpPr/>
          <p:nvPr/>
        </p:nvCxnSpPr>
        <p:spPr>
          <a:xfrm rot="10800000" flipH="1">
            <a:off x="6656450" y="3162300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1" name="Google Shape;771;p44"/>
          <p:cNvSpPr txBox="1"/>
          <p:nvPr/>
        </p:nvSpPr>
        <p:spPr>
          <a:xfrm>
            <a:off x="6948325" y="4696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active</a:t>
            </a:r>
          </a:p>
        </p:txBody>
      </p:sp>
      <p:sp>
        <p:nvSpPr>
          <p:cNvPr id="772" name="Google Shape;772;p44"/>
          <p:cNvSpPr txBox="1"/>
          <p:nvPr/>
        </p:nvSpPr>
        <p:spPr>
          <a:xfrm>
            <a:off x="3555413" y="4624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inactive</a:t>
            </a:r>
          </a:p>
        </p:txBody>
      </p:sp>
      <p:sp>
        <p:nvSpPr>
          <p:cNvPr id="773" name="Google Shape;773;p44"/>
          <p:cNvSpPr txBox="1"/>
          <p:nvPr/>
        </p:nvSpPr>
        <p:spPr>
          <a:xfrm>
            <a:off x="454400" y="4572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unstable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Stable vs. unstable neurons</a:t>
            </a:r>
          </a:p>
        </p:txBody>
      </p:sp>
      <p:grpSp>
        <p:nvGrpSpPr>
          <p:cNvPr id="779" name="Google Shape;779;p45"/>
          <p:cNvGrpSpPr/>
          <p:nvPr/>
        </p:nvGrpSpPr>
        <p:grpSpPr>
          <a:xfrm>
            <a:off x="-52925" y="3082075"/>
            <a:ext cx="2601025" cy="1721575"/>
            <a:chOff x="1991775" y="2213825"/>
            <a:chExt cx="2601025" cy="1721575"/>
          </a:xfrm>
        </p:grpSpPr>
        <p:grpSp>
          <p:nvGrpSpPr>
            <p:cNvPr id="780" name="Google Shape;780;p45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81" name="Google Shape;781;p45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82" name="Google Shape;782;p45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83" name="Google Shape;783;p45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84" name="Google Shape;784;p45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5" name="Google Shape;785;p45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86" name="Google Shape;786;p45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87" name="Google Shape;787;p45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88" name="Google Shape;788;p45"/>
            <p:cNvCxnSpPr/>
            <p:nvPr/>
          </p:nvCxnSpPr>
          <p:spPr>
            <a:xfrm rot="10800000">
              <a:off x="2600275" y="2531950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9" name="Google Shape;789;p45"/>
            <p:cNvCxnSpPr/>
            <p:nvPr/>
          </p:nvCxnSpPr>
          <p:spPr>
            <a:xfrm rot="10800000">
              <a:off x="35906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90" name="Google Shape;790;p45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791" name="Google Shape;791;p45"/>
            <p:cNvSpPr txBox="1"/>
            <p:nvPr/>
          </p:nvSpPr>
          <p:spPr>
            <a:xfrm>
              <a:off x="34556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792" name="Google Shape;792;p45"/>
          <p:cNvCxnSpPr/>
          <p:nvPr/>
        </p:nvCxnSpPr>
        <p:spPr>
          <a:xfrm>
            <a:off x="-497400" y="4160250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3" name="Google Shape;793;p45"/>
          <p:cNvCxnSpPr/>
          <p:nvPr/>
        </p:nvCxnSpPr>
        <p:spPr>
          <a:xfrm rot="10800000" flipH="1">
            <a:off x="247850" y="3038525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4" name="Google Shape;794;p45"/>
          <p:cNvCxnSpPr/>
          <p:nvPr/>
        </p:nvCxnSpPr>
        <p:spPr>
          <a:xfrm rot="10800000" flipH="1">
            <a:off x="-247675" y="3334375"/>
            <a:ext cx="2644800" cy="11868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95" name="Google Shape;795;p45"/>
          <p:cNvGrpSpPr/>
          <p:nvPr/>
        </p:nvGrpSpPr>
        <p:grpSpPr>
          <a:xfrm>
            <a:off x="3168650" y="3082075"/>
            <a:ext cx="2601025" cy="1721575"/>
            <a:chOff x="1991775" y="2213825"/>
            <a:chExt cx="2601025" cy="1721575"/>
          </a:xfrm>
        </p:grpSpPr>
        <p:grpSp>
          <p:nvGrpSpPr>
            <p:cNvPr id="796" name="Google Shape;796;p45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797" name="Google Shape;797;p45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98" name="Google Shape;798;p45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99" name="Google Shape;799;p45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800" name="Google Shape;800;p45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1" name="Google Shape;801;p45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02" name="Google Shape;802;p45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03" name="Google Shape;803;p45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804" name="Google Shape;804;p45"/>
            <p:cNvCxnSpPr/>
            <p:nvPr/>
          </p:nvCxnSpPr>
          <p:spPr>
            <a:xfrm rot="10800000">
              <a:off x="2600275" y="2531950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5" name="Google Shape;805;p45"/>
            <p:cNvCxnSpPr/>
            <p:nvPr/>
          </p:nvCxnSpPr>
          <p:spPr>
            <a:xfrm rot="10800000">
              <a:off x="30191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6" name="Google Shape;806;p45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807" name="Google Shape;807;p45"/>
            <p:cNvSpPr txBox="1"/>
            <p:nvPr/>
          </p:nvSpPr>
          <p:spPr>
            <a:xfrm>
              <a:off x="286108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808" name="Google Shape;808;p45"/>
          <p:cNvCxnSpPr/>
          <p:nvPr/>
        </p:nvCxnSpPr>
        <p:spPr>
          <a:xfrm>
            <a:off x="2724175" y="4160250"/>
            <a:ext cx="3164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9" name="Google Shape;809;p45"/>
          <p:cNvCxnSpPr/>
          <p:nvPr/>
        </p:nvCxnSpPr>
        <p:spPr>
          <a:xfrm>
            <a:off x="3011938" y="4160250"/>
            <a:ext cx="2381400" cy="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10" name="Google Shape;810;p45"/>
          <p:cNvGrpSpPr/>
          <p:nvPr/>
        </p:nvGrpSpPr>
        <p:grpSpPr>
          <a:xfrm>
            <a:off x="6355675" y="3205850"/>
            <a:ext cx="2601025" cy="1721575"/>
            <a:chOff x="1991775" y="2213825"/>
            <a:chExt cx="2601025" cy="1721575"/>
          </a:xfrm>
        </p:grpSpPr>
        <p:grpSp>
          <p:nvGrpSpPr>
            <p:cNvPr id="811" name="Google Shape;811;p45"/>
            <p:cNvGrpSpPr/>
            <p:nvPr/>
          </p:nvGrpSpPr>
          <p:grpSpPr>
            <a:xfrm>
              <a:off x="1991775" y="2213825"/>
              <a:ext cx="2601025" cy="1466522"/>
              <a:chOff x="6206725" y="3167975"/>
              <a:chExt cx="2601025" cy="1466522"/>
            </a:xfrm>
          </p:grpSpPr>
          <p:grpSp>
            <p:nvGrpSpPr>
              <p:cNvPr id="812" name="Google Shape;812;p45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813" name="Google Shape;813;p45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814" name="Google Shape;814;p45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815" name="Google Shape;815;p45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6" name="Google Shape;816;p45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17" name="Google Shape;817;p45"/>
              <p:cNvSpPr txBox="1"/>
              <p:nvPr/>
            </p:nvSpPr>
            <p:spPr>
              <a:xfrm>
                <a:off x="6950675" y="3167975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18" name="Google Shape;818;p45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j</a:t>
                </a:r>
                <a:r>
                  <a:rPr lang="en-GB" sz="1800" baseline="30000">
                    <a:solidFill>
                      <a:schemeClr val="dk1"/>
                    </a:solidFill>
                  </a:rPr>
                  <a:t>(i)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819" name="Google Shape;819;p45"/>
            <p:cNvCxnSpPr/>
            <p:nvPr/>
          </p:nvCxnSpPr>
          <p:spPr>
            <a:xfrm rot="10800000">
              <a:off x="32908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" name="Google Shape;820;p45"/>
            <p:cNvCxnSpPr/>
            <p:nvPr/>
          </p:nvCxnSpPr>
          <p:spPr>
            <a:xfrm rot="10800000">
              <a:off x="3590675" y="2479450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21" name="Google Shape;821;p45"/>
            <p:cNvSpPr txBox="1"/>
            <p:nvPr/>
          </p:nvSpPr>
          <p:spPr>
            <a:xfrm>
              <a:off x="3108575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  <p:sp>
          <p:nvSpPr>
            <p:cNvPr id="822" name="Google Shape;822;p45"/>
            <p:cNvSpPr txBox="1"/>
            <p:nvPr/>
          </p:nvSpPr>
          <p:spPr>
            <a:xfrm>
              <a:off x="34556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u</a:t>
              </a:r>
              <a:r>
                <a:rPr lang="en-GB" sz="1800" baseline="-25000">
                  <a:solidFill>
                    <a:schemeClr val="dk1"/>
                  </a:solidFill>
                </a:rPr>
                <a:t>j</a:t>
              </a:r>
              <a:r>
                <a:rPr lang="en-GB" sz="1800" baseline="30000">
                  <a:solidFill>
                    <a:schemeClr val="dk1"/>
                  </a:solidFill>
                </a:rPr>
                <a:t>(i)</a:t>
              </a:r>
              <a:endParaRPr sz="900" baseline="-25000"/>
            </a:p>
          </p:txBody>
        </p:sp>
      </p:grpSp>
      <p:cxnSp>
        <p:nvCxnSpPr>
          <p:cNvPr id="823" name="Google Shape;823;p45"/>
          <p:cNvCxnSpPr/>
          <p:nvPr/>
        </p:nvCxnSpPr>
        <p:spPr>
          <a:xfrm rot="10800000" flipH="1">
            <a:off x="6656450" y="3162300"/>
            <a:ext cx="1996500" cy="1995900"/>
          </a:xfrm>
          <a:prstGeom prst="straightConnector1">
            <a:avLst/>
          </a:prstGeom>
          <a:noFill/>
          <a:ln w="952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4" name="Google Shape;824;p45"/>
          <p:cNvSpPr txBox="1"/>
          <p:nvPr/>
        </p:nvSpPr>
        <p:spPr>
          <a:xfrm>
            <a:off x="6948325" y="4696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active</a:t>
            </a:r>
          </a:p>
        </p:txBody>
      </p:sp>
      <p:sp>
        <p:nvSpPr>
          <p:cNvPr id="825" name="Google Shape;825;p45"/>
          <p:cNvSpPr txBox="1"/>
          <p:nvPr/>
        </p:nvSpPr>
        <p:spPr>
          <a:xfrm>
            <a:off x="3555413" y="4624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inactive</a:t>
            </a:r>
          </a:p>
        </p:txBody>
      </p:sp>
      <p:sp>
        <p:nvSpPr>
          <p:cNvPr id="826" name="Google Shape;826;p45"/>
          <p:cNvSpPr txBox="1"/>
          <p:nvPr/>
        </p:nvSpPr>
        <p:spPr>
          <a:xfrm>
            <a:off x="454400" y="4572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unstable</a:t>
            </a:r>
          </a:p>
        </p:txBody>
      </p:sp>
      <p:pic>
        <p:nvPicPr>
          <p:cNvPr id="827" name="Google Shape;827;p45" descr="\hat{z}^{(i)}_j = z_j^{(i)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96650" y="1972451"/>
            <a:ext cx="1133028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45" descr="\hat{z}^{(i)}_j = 0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060300" y="2066975"/>
            <a:ext cx="898680" cy="461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9" name="Google Shape;829;p45"/>
          <p:cNvGrpSpPr/>
          <p:nvPr/>
        </p:nvGrpSpPr>
        <p:grpSpPr>
          <a:xfrm>
            <a:off x="630700" y="2040238"/>
            <a:ext cx="1023396" cy="849900"/>
            <a:chOff x="1112825" y="3768750"/>
            <a:chExt cx="1023396" cy="849900"/>
          </a:xfrm>
        </p:grpSpPr>
        <p:pic>
          <p:nvPicPr>
            <p:cNvPr id="830" name="Google Shape;830;p45" descr="\hat{z}^{(i)}_j \geq z_j^{(i)}" title="MathEquation,#000000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1112825" y="3768750"/>
              <a:ext cx="1023396" cy="41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1" name="Google Shape;831;p45" descr="\hat{z}^{(i)}_j \geq 0" title="MathEquation,#000000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1112825" y="4201625"/>
              <a:ext cx="811722" cy="417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32" name="Google Shape;832;p45" descr="\hat{z}^{(i)}_j \leq z_j^{(i)} - l_j^{(i)} (1 - p^{(i)}_j)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630687" y="1130438"/>
            <a:ext cx="2376070" cy="3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45" descr="\hat{z}^{(i)}_j \leq u^{(i)}_j p^{(i)}_j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630700" y="1585350"/>
            <a:ext cx="1282518" cy="3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6"/>
          <p:cNvSpPr txBox="1">
            <a:spLocks noGrp="1"/>
          </p:cNvSpPr>
          <p:nvPr>
            <p:ph type="title"/>
          </p:nvPr>
        </p:nvSpPr>
        <p:spPr>
          <a:xfrm>
            <a:off x="311700" y="20553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Summary: MILP vs LP vs DPLL(T) in Neural Network Verification</a:t>
            </a:r>
          </a:p>
        </p:txBody>
      </p:sp>
      <p:sp>
        <p:nvSpPr>
          <p:cNvPr id="839" name="Google Shape;839;p46"/>
          <p:cNvSpPr txBox="1"/>
          <p:nvPr/>
        </p:nvSpPr>
        <p:spPr>
          <a:xfrm>
            <a:off x="171300" y="931161"/>
            <a:ext cx="8661000" cy="40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MILP: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Branch and bound is used to make decisions only on certain number of binary variables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No decision needed on stable neurons (with the help of pre-activation bounds)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Specialized methods to accelerate solving (e.g., branching heuristics, cutting planes)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Complete (solve y* exactly)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Typically scales much better than DPLL(T)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Linear programming: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No integer variables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No variable decisions needed (no exponential time search)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Simplex algorithm can solve it relatively fast, a few thousands neurons are ok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 dirty="0">
                <a:solidFill>
                  <a:schemeClr val="dk2"/>
                </a:solidFill>
              </a:rPr>
              <a:t>Incomplete (has to return unknown in some cases)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Today: more efficient algorithms for NN verification</a:t>
            </a:r>
          </a:p>
        </p:txBody>
      </p:sp>
      <p:sp>
        <p:nvSpPr>
          <p:cNvPr id="352" name="Google Shape;35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0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neural network verification using SMT solvers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Solving neural network verification using optimization (MIP/LP)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Solving neural network verification using </a:t>
            </a:r>
            <a:r>
              <a:rPr lang="en-GB" b="1"/>
              <a:t>bound propagation (this lecture!)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Interval bound propagation (IBP)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Linear (symbolic) bound propagation (CROWN)</a:t>
            </a:r>
          </a:p>
        </p:txBody>
      </p:sp>
      <p:sp>
        <p:nvSpPr>
          <p:cNvPr id="353" name="Google Shape;353;p25"/>
          <p:cNvSpPr txBox="1"/>
          <p:nvPr/>
        </p:nvSpPr>
        <p:spPr>
          <a:xfrm>
            <a:off x="508000" y="3417500"/>
            <a:ext cx="24348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Efficient methods are typically incomplete (solving a lower bound, as tight as possible)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54" name="Google Shape;354;p25"/>
          <p:cNvGrpSpPr/>
          <p:nvPr/>
        </p:nvGrpSpPr>
        <p:grpSpPr>
          <a:xfrm>
            <a:off x="3194325" y="3240963"/>
            <a:ext cx="2664050" cy="1823063"/>
            <a:chOff x="3194325" y="3012363"/>
            <a:chExt cx="2664050" cy="1823063"/>
          </a:xfrm>
        </p:grpSpPr>
        <p:cxnSp>
          <p:nvCxnSpPr>
            <p:cNvPr id="355" name="Google Shape;355;p25"/>
            <p:cNvCxnSpPr/>
            <p:nvPr/>
          </p:nvCxnSpPr>
          <p:spPr>
            <a:xfrm>
              <a:off x="3438919" y="3012363"/>
              <a:ext cx="0" cy="1755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356" name="Google Shape;356;p25"/>
            <p:cNvCxnSpPr/>
            <p:nvPr/>
          </p:nvCxnSpPr>
          <p:spPr>
            <a:xfrm>
              <a:off x="3194325" y="4374463"/>
              <a:ext cx="2664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57" name="Google Shape;357;p25"/>
            <p:cNvSpPr/>
            <p:nvPr/>
          </p:nvSpPr>
          <p:spPr>
            <a:xfrm>
              <a:off x="3438007" y="3334642"/>
              <a:ext cx="2319243" cy="1062076"/>
            </a:xfrm>
            <a:custGeom>
              <a:avLst/>
              <a:gdLst/>
              <a:ahLst/>
              <a:cxnLst/>
              <a:rect l="l" t="t" r="r" b="b"/>
              <a:pathLst>
                <a:path w="134644" h="61659" extrusionOk="0">
                  <a:moveTo>
                    <a:pt x="0" y="61659"/>
                  </a:moveTo>
                  <a:cubicBezTo>
                    <a:pt x="3006" y="56696"/>
                    <a:pt x="9788" y="35443"/>
                    <a:pt x="18037" y="31878"/>
                  </a:cubicBezTo>
                  <a:cubicBezTo>
                    <a:pt x="26286" y="28313"/>
                    <a:pt x="41735" y="40826"/>
                    <a:pt x="49495" y="40267"/>
                  </a:cubicBezTo>
                  <a:cubicBezTo>
                    <a:pt x="57255" y="39708"/>
                    <a:pt x="59003" y="29502"/>
                    <a:pt x="64596" y="28523"/>
                  </a:cubicBezTo>
                  <a:cubicBezTo>
                    <a:pt x="70189" y="27544"/>
                    <a:pt x="76829" y="37471"/>
                    <a:pt x="83051" y="34395"/>
                  </a:cubicBezTo>
                  <a:cubicBezTo>
                    <a:pt x="89273" y="31319"/>
                    <a:pt x="93328" y="15800"/>
                    <a:pt x="101927" y="10067"/>
                  </a:cubicBezTo>
                  <a:cubicBezTo>
                    <a:pt x="110526" y="4335"/>
                    <a:pt x="129191" y="1678"/>
                    <a:pt x="134644" y="0"/>
                  </a:cubicBez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58" name="Google Shape;358;p25"/>
            <p:cNvCxnSpPr/>
            <p:nvPr/>
          </p:nvCxnSpPr>
          <p:spPr>
            <a:xfrm rot="10800000">
              <a:off x="3841987" y="3417511"/>
              <a:ext cx="0" cy="9714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59" name="Google Shape;359;p25"/>
            <p:cNvCxnSpPr/>
            <p:nvPr/>
          </p:nvCxnSpPr>
          <p:spPr>
            <a:xfrm>
              <a:off x="3831375" y="4374458"/>
              <a:ext cx="1141800" cy="0"/>
            </a:xfrm>
            <a:prstGeom prst="straightConnector1">
              <a:avLst/>
            </a:prstGeom>
            <a:noFill/>
            <a:ln w="38100" cap="flat" cmpd="sng">
              <a:solidFill>
                <a:srgbClr val="A4C2F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0" name="Google Shape;360;p25"/>
            <p:cNvSpPr/>
            <p:nvPr/>
          </p:nvSpPr>
          <p:spPr>
            <a:xfrm>
              <a:off x="3844025" y="3799813"/>
              <a:ext cx="1139300" cy="234175"/>
            </a:xfrm>
            <a:custGeom>
              <a:avLst/>
              <a:gdLst/>
              <a:ahLst/>
              <a:cxnLst/>
              <a:rect l="l" t="t" r="r" b="b"/>
              <a:pathLst>
                <a:path w="45572" h="9367" extrusionOk="0">
                  <a:moveTo>
                    <a:pt x="0" y="3198"/>
                  </a:moveTo>
                  <a:cubicBezTo>
                    <a:pt x="644" y="3354"/>
                    <a:pt x="822" y="3109"/>
                    <a:pt x="3864" y="4131"/>
                  </a:cubicBezTo>
                  <a:cubicBezTo>
                    <a:pt x="6907" y="5153"/>
                    <a:pt x="14188" y="9842"/>
                    <a:pt x="18255" y="9328"/>
                  </a:cubicBezTo>
                  <a:cubicBezTo>
                    <a:pt x="22322" y="8814"/>
                    <a:pt x="24846" y="1667"/>
                    <a:pt x="28266" y="1045"/>
                  </a:cubicBezTo>
                  <a:cubicBezTo>
                    <a:pt x="31686" y="423"/>
                    <a:pt x="36292" y="5283"/>
                    <a:pt x="38776" y="5597"/>
                  </a:cubicBezTo>
                  <a:cubicBezTo>
                    <a:pt x="41261" y="5912"/>
                    <a:pt x="42040" y="3865"/>
                    <a:pt x="43173" y="2932"/>
                  </a:cubicBezTo>
                  <a:cubicBezTo>
                    <a:pt x="44306" y="1999"/>
                    <a:pt x="45172" y="489"/>
                    <a:pt x="45572" y="0"/>
                  </a:cubicBezTo>
                </a:path>
              </a:pathLst>
            </a:cu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61" name="Google Shape;361;p25"/>
            <p:cNvCxnSpPr/>
            <p:nvPr/>
          </p:nvCxnSpPr>
          <p:spPr>
            <a:xfrm rot="10800000">
              <a:off x="4983337" y="3431198"/>
              <a:ext cx="0" cy="9714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362" name="Google Shape;362;p25" descr="f(x) &gt; 0, \forall x \in \mathcal{S}" title="MathEquation,#000000"/>
            <p:cNvPicPr preferRelativeResize="0"/>
            <p:nvPr/>
          </p:nvPicPr>
          <p:blipFill rotWithShape="1">
            <a:blip r:embed="rId3"/>
            <a:srcRect l="88467" r="-4" b="9057"/>
            <a:stretch>
              <a:fillRect/>
            </a:stretch>
          </p:blipFill>
          <p:spPr>
            <a:xfrm>
              <a:off x="4318759" y="4612250"/>
              <a:ext cx="172900" cy="223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" name="Google Shape;363;p25"/>
            <p:cNvSpPr/>
            <p:nvPr/>
          </p:nvSpPr>
          <p:spPr>
            <a:xfrm rot="-5400000">
              <a:off x="4324300" y="3943025"/>
              <a:ext cx="168300" cy="11397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4" name="Google Shape;364;p25"/>
            <p:cNvCxnSpPr/>
            <p:nvPr/>
          </p:nvCxnSpPr>
          <p:spPr>
            <a:xfrm>
              <a:off x="3438000" y="4198988"/>
              <a:ext cx="1608600" cy="105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365" name="Google Shape;365;p25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5109300" y="4017288"/>
              <a:ext cx="299850" cy="31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25"/>
            <p:cNvSpPr txBox="1"/>
            <p:nvPr/>
          </p:nvSpPr>
          <p:spPr>
            <a:xfrm>
              <a:off x="5285375" y="3012375"/>
              <a:ext cx="57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2"/>
                  </a:solidFill>
                </a:rPr>
                <a:t>f(x)</a:t>
              </a:r>
            </a:p>
          </p:txBody>
        </p:sp>
      </p:grpSp>
      <p:pic>
        <p:nvPicPr>
          <p:cNvPr id="367" name="Google Shape;367;p25" descr=" \displaystyle y^* = \min_{x \in \mathcal{S}} f(x)&#10;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727925" y="3527853"/>
            <a:ext cx="1817680" cy="5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faster ways to calculate the bounds on f(x)?</a:t>
            </a:r>
          </a:p>
        </p:txBody>
      </p:sp>
      <p:grpSp>
        <p:nvGrpSpPr>
          <p:cNvPr id="373" name="Google Shape;373;p26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grpSp>
          <p:nvGrpSpPr>
            <p:cNvPr id="374" name="Google Shape;374;p26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375" name="Google Shape;375;p26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6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6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6"/>
              <p:cNvSpPr/>
              <p:nvPr/>
            </p:nvSpPr>
            <p:spPr>
              <a:xfrm>
                <a:off x="2294125" y="23127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6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0" name="Google Shape;380;p26"/>
              <p:cNvCxnSpPr>
                <a:stCxn id="375" idx="6"/>
                <a:endCxn id="377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1" name="Google Shape;381;p26"/>
              <p:cNvCxnSpPr>
                <a:stCxn id="375" idx="6"/>
                <a:endCxn id="378" idx="2"/>
              </p:cNvCxnSpPr>
              <p:nvPr/>
            </p:nvCxnSpPr>
            <p:spPr>
              <a:xfrm>
                <a:off x="1498800" y="2080600"/>
                <a:ext cx="795300" cy="34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2" name="Google Shape;382;p26"/>
              <p:cNvCxnSpPr>
                <a:stCxn id="376" idx="6"/>
                <a:endCxn id="377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3" name="Google Shape;383;p26"/>
              <p:cNvCxnSpPr>
                <a:stCxn id="376" idx="6"/>
                <a:endCxn id="378" idx="2"/>
              </p:cNvCxnSpPr>
              <p:nvPr/>
            </p:nvCxnSpPr>
            <p:spPr>
              <a:xfrm rot="10800000" flipH="1">
                <a:off x="1498800" y="2428800"/>
                <a:ext cx="795300" cy="25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26"/>
              <p:cNvCxnSpPr>
                <a:stCxn id="376" idx="6"/>
                <a:endCxn id="379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26"/>
              <p:cNvCxnSpPr>
                <a:stCxn id="375" idx="6"/>
                <a:endCxn id="379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86" name="Google Shape;386;p26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387" name="Google Shape;387;p26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</p:grpSp>
      <p:grpSp>
        <p:nvGrpSpPr>
          <p:cNvPr id="388" name="Google Shape;388;p26"/>
          <p:cNvGrpSpPr/>
          <p:nvPr/>
        </p:nvGrpSpPr>
        <p:grpSpPr>
          <a:xfrm>
            <a:off x="5283838" y="1420450"/>
            <a:ext cx="1113500" cy="1465725"/>
            <a:chOff x="3458500" y="1732750"/>
            <a:chExt cx="1113500" cy="1465725"/>
          </a:xfrm>
        </p:grpSpPr>
        <p:sp>
          <p:nvSpPr>
            <p:cNvPr id="389" name="Google Shape;389;p26"/>
            <p:cNvSpPr/>
            <p:nvPr/>
          </p:nvSpPr>
          <p:spPr>
            <a:xfrm>
              <a:off x="3458500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3458500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3458500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4340100" y="229960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3" name="Google Shape;393;p26"/>
            <p:cNvCxnSpPr>
              <a:stCxn id="389" idx="6"/>
              <a:endCxn id="392" idx="2"/>
            </p:cNvCxnSpPr>
            <p:nvPr/>
          </p:nvCxnSpPr>
          <p:spPr>
            <a:xfrm>
              <a:off x="3690400" y="1848700"/>
              <a:ext cx="649800" cy="567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26"/>
            <p:cNvCxnSpPr>
              <a:stCxn id="390" idx="6"/>
              <a:endCxn id="392" idx="2"/>
            </p:cNvCxnSpPr>
            <p:nvPr/>
          </p:nvCxnSpPr>
          <p:spPr>
            <a:xfrm rot="10800000" flipH="1">
              <a:off x="3690400" y="2415525"/>
              <a:ext cx="649800" cy="1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26"/>
            <p:cNvCxnSpPr>
              <a:stCxn id="391" idx="6"/>
              <a:endCxn id="392" idx="2"/>
            </p:cNvCxnSpPr>
            <p:nvPr/>
          </p:nvCxnSpPr>
          <p:spPr>
            <a:xfrm rot="10800000" flipH="1">
              <a:off x="3690400" y="2415625"/>
              <a:ext cx="649800" cy="66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96" name="Google Shape;396;p26"/>
          <p:cNvGrpSpPr/>
          <p:nvPr/>
        </p:nvGrpSpPr>
        <p:grpSpPr>
          <a:xfrm>
            <a:off x="3692825" y="1536325"/>
            <a:ext cx="932400" cy="1233975"/>
            <a:chOff x="2526100" y="1848625"/>
            <a:chExt cx="932400" cy="1233975"/>
          </a:xfrm>
        </p:grpSpPr>
        <p:cxnSp>
          <p:nvCxnSpPr>
            <p:cNvPr id="397" name="Google Shape;397;p26"/>
            <p:cNvCxnSpPr/>
            <p:nvPr/>
          </p:nvCxnSpPr>
          <p:spPr>
            <a:xfrm>
              <a:off x="2526100" y="1848700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26"/>
            <p:cNvCxnSpPr/>
            <p:nvPr/>
          </p:nvCxnSpPr>
          <p:spPr>
            <a:xfrm>
              <a:off x="2526100" y="2415550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26"/>
            <p:cNvCxnSpPr/>
            <p:nvPr/>
          </p:nvCxnSpPr>
          <p:spPr>
            <a:xfrm>
              <a:off x="2526100" y="3082525"/>
              <a:ext cx="932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26"/>
            <p:cNvCxnSpPr/>
            <p:nvPr/>
          </p:nvCxnSpPr>
          <p:spPr>
            <a:xfrm>
              <a:off x="2526100" y="1848825"/>
              <a:ext cx="932400" cy="57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26"/>
            <p:cNvCxnSpPr/>
            <p:nvPr/>
          </p:nvCxnSpPr>
          <p:spPr>
            <a:xfrm>
              <a:off x="2526100" y="1848625"/>
              <a:ext cx="932400" cy="123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p26"/>
            <p:cNvCxnSpPr/>
            <p:nvPr/>
          </p:nvCxnSpPr>
          <p:spPr>
            <a:xfrm rot="10800000" flipH="1">
              <a:off x="2526100" y="1848700"/>
              <a:ext cx="932400" cy="579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3" name="Google Shape;403;p26"/>
            <p:cNvCxnSpPr/>
            <p:nvPr/>
          </p:nvCxnSpPr>
          <p:spPr>
            <a:xfrm rot="10800000" flipH="1">
              <a:off x="2526100" y="1848700"/>
              <a:ext cx="932400" cy="123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Google Shape;404;p26"/>
            <p:cNvCxnSpPr/>
            <p:nvPr/>
          </p:nvCxnSpPr>
          <p:spPr>
            <a:xfrm>
              <a:off x="2526100" y="2428825"/>
              <a:ext cx="932400" cy="65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26"/>
            <p:cNvCxnSpPr/>
            <p:nvPr/>
          </p:nvCxnSpPr>
          <p:spPr>
            <a:xfrm rot="10800000" flipH="1">
              <a:off x="2526100" y="2428725"/>
              <a:ext cx="932400" cy="653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6" name="Google Shape;406;p26"/>
          <p:cNvGrpSpPr/>
          <p:nvPr/>
        </p:nvGrpSpPr>
        <p:grpSpPr>
          <a:xfrm>
            <a:off x="3460913" y="1420438"/>
            <a:ext cx="231900" cy="1465725"/>
            <a:chOff x="2294125" y="1732750"/>
            <a:chExt cx="231900" cy="1465725"/>
          </a:xfrm>
        </p:grpSpPr>
        <p:sp>
          <p:nvSpPr>
            <p:cNvPr id="407" name="Google Shape;407;p26"/>
            <p:cNvSpPr/>
            <p:nvPr/>
          </p:nvSpPr>
          <p:spPr>
            <a:xfrm>
              <a:off x="2294125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2294125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2294125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0" name="Google Shape;410;p26"/>
          <p:cNvGrpSpPr/>
          <p:nvPr/>
        </p:nvGrpSpPr>
        <p:grpSpPr>
          <a:xfrm>
            <a:off x="4599813" y="1420450"/>
            <a:ext cx="231900" cy="1465725"/>
            <a:chOff x="2294125" y="1732750"/>
            <a:chExt cx="231900" cy="1465725"/>
          </a:xfrm>
        </p:grpSpPr>
        <p:sp>
          <p:nvSpPr>
            <p:cNvPr id="411" name="Google Shape;411;p26"/>
            <p:cNvSpPr/>
            <p:nvPr/>
          </p:nvSpPr>
          <p:spPr>
            <a:xfrm>
              <a:off x="2294125" y="1732750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2294125" y="23127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2294125" y="2966575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14" name="Google Shape;414;p26"/>
          <p:cNvCxnSpPr>
            <a:stCxn id="377" idx="6"/>
            <a:endCxn id="407" idx="2"/>
          </p:cNvCxnSpPr>
          <p:nvPr/>
        </p:nvCxnSpPr>
        <p:spPr>
          <a:xfrm>
            <a:off x="3076850" y="1536388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26"/>
          <p:cNvCxnSpPr>
            <a:stCxn id="378" idx="6"/>
            <a:endCxn id="408" idx="2"/>
          </p:cNvCxnSpPr>
          <p:nvPr/>
        </p:nvCxnSpPr>
        <p:spPr>
          <a:xfrm>
            <a:off x="3076850" y="2116413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26"/>
          <p:cNvCxnSpPr>
            <a:stCxn id="379" idx="6"/>
            <a:endCxn id="409" idx="2"/>
          </p:cNvCxnSpPr>
          <p:nvPr/>
        </p:nvCxnSpPr>
        <p:spPr>
          <a:xfrm>
            <a:off x="3076850" y="2770213"/>
            <a:ext cx="38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26"/>
          <p:cNvCxnSpPr>
            <a:stCxn id="411" idx="6"/>
            <a:endCxn id="389" idx="2"/>
          </p:cNvCxnSpPr>
          <p:nvPr/>
        </p:nvCxnSpPr>
        <p:spPr>
          <a:xfrm>
            <a:off x="4831713" y="1536400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8" name="Google Shape;418;p26"/>
          <p:cNvCxnSpPr>
            <a:stCxn id="412" idx="6"/>
            <a:endCxn id="390" idx="2"/>
          </p:cNvCxnSpPr>
          <p:nvPr/>
        </p:nvCxnSpPr>
        <p:spPr>
          <a:xfrm>
            <a:off x="4831713" y="2116425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p26"/>
          <p:cNvCxnSpPr>
            <a:stCxn id="413" idx="6"/>
            <a:endCxn id="391" idx="2"/>
          </p:cNvCxnSpPr>
          <p:nvPr/>
        </p:nvCxnSpPr>
        <p:spPr>
          <a:xfrm>
            <a:off x="4831713" y="2770225"/>
            <a:ext cx="45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0" name="Google Shape;420;p26"/>
          <p:cNvSpPr txBox="1"/>
          <p:nvPr/>
        </p:nvSpPr>
        <p:spPr>
          <a:xfrm>
            <a:off x="6397375" y="1808350"/>
            <a:ext cx="85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y=f(x)</a:t>
            </a:r>
          </a:p>
        </p:txBody>
      </p:sp>
      <p:grpSp>
        <p:nvGrpSpPr>
          <p:cNvPr id="421" name="Google Shape;421;p26"/>
          <p:cNvGrpSpPr/>
          <p:nvPr/>
        </p:nvGrpSpPr>
        <p:grpSpPr>
          <a:xfrm>
            <a:off x="3194325" y="3240963"/>
            <a:ext cx="2664050" cy="1823063"/>
            <a:chOff x="3194325" y="3012363"/>
            <a:chExt cx="2664050" cy="1823063"/>
          </a:xfrm>
        </p:grpSpPr>
        <p:cxnSp>
          <p:nvCxnSpPr>
            <p:cNvPr id="422" name="Google Shape;422;p26"/>
            <p:cNvCxnSpPr/>
            <p:nvPr/>
          </p:nvCxnSpPr>
          <p:spPr>
            <a:xfrm>
              <a:off x="3438919" y="3012363"/>
              <a:ext cx="0" cy="1755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423" name="Google Shape;423;p26"/>
            <p:cNvCxnSpPr/>
            <p:nvPr/>
          </p:nvCxnSpPr>
          <p:spPr>
            <a:xfrm>
              <a:off x="3194325" y="4374463"/>
              <a:ext cx="2664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24" name="Google Shape;424;p26"/>
            <p:cNvSpPr/>
            <p:nvPr/>
          </p:nvSpPr>
          <p:spPr>
            <a:xfrm>
              <a:off x="3438007" y="3334642"/>
              <a:ext cx="2319243" cy="1062076"/>
            </a:xfrm>
            <a:custGeom>
              <a:avLst/>
              <a:gdLst/>
              <a:ahLst/>
              <a:cxnLst/>
              <a:rect l="l" t="t" r="r" b="b"/>
              <a:pathLst>
                <a:path w="134644" h="61659" extrusionOk="0">
                  <a:moveTo>
                    <a:pt x="0" y="61659"/>
                  </a:moveTo>
                  <a:cubicBezTo>
                    <a:pt x="3006" y="56696"/>
                    <a:pt x="9788" y="35443"/>
                    <a:pt x="18037" y="31878"/>
                  </a:cubicBezTo>
                  <a:cubicBezTo>
                    <a:pt x="26286" y="28313"/>
                    <a:pt x="41735" y="40826"/>
                    <a:pt x="49495" y="40267"/>
                  </a:cubicBezTo>
                  <a:cubicBezTo>
                    <a:pt x="57255" y="39708"/>
                    <a:pt x="59003" y="29502"/>
                    <a:pt x="64596" y="28523"/>
                  </a:cubicBezTo>
                  <a:cubicBezTo>
                    <a:pt x="70189" y="27544"/>
                    <a:pt x="76829" y="37471"/>
                    <a:pt x="83051" y="34395"/>
                  </a:cubicBezTo>
                  <a:cubicBezTo>
                    <a:pt x="89273" y="31319"/>
                    <a:pt x="93328" y="15800"/>
                    <a:pt x="101927" y="10067"/>
                  </a:cubicBezTo>
                  <a:cubicBezTo>
                    <a:pt x="110526" y="4335"/>
                    <a:pt x="129191" y="1678"/>
                    <a:pt x="134644" y="0"/>
                  </a:cubicBezTo>
                </a:path>
              </a:pathLst>
            </a:cu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25" name="Google Shape;425;p26"/>
            <p:cNvCxnSpPr/>
            <p:nvPr/>
          </p:nvCxnSpPr>
          <p:spPr>
            <a:xfrm rot="10800000">
              <a:off x="3841987" y="3417511"/>
              <a:ext cx="0" cy="9714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26"/>
            <p:cNvCxnSpPr/>
            <p:nvPr/>
          </p:nvCxnSpPr>
          <p:spPr>
            <a:xfrm>
              <a:off x="3831375" y="4374458"/>
              <a:ext cx="1141800" cy="0"/>
            </a:xfrm>
            <a:prstGeom prst="straightConnector1">
              <a:avLst/>
            </a:prstGeom>
            <a:noFill/>
            <a:ln w="38100" cap="flat" cmpd="sng">
              <a:solidFill>
                <a:srgbClr val="A4C2F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7" name="Google Shape;427;p26"/>
            <p:cNvSpPr/>
            <p:nvPr/>
          </p:nvSpPr>
          <p:spPr>
            <a:xfrm>
              <a:off x="3844025" y="3799813"/>
              <a:ext cx="1139300" cy="234175"/>
            </a:xfrm>
            <a:custGeom>
              <a:avLst/>
              <a:gdLst/>
              <a:ahLst/>
              <a:cxnLst/>
              <a:rect l="l" t="t" r="r" b="b"/>
              <a:pathLst>
                <a:path w="45572" h="9367" extrusionOk="0">
                  <a:moveTo>
                    <a:pt x="0" y="3198"/>
                  </a:moveTo>
                  <a:cubicBezTo>
                    <a:pt x="644" y="3354"/>
                    <a:pt x="822" y="3109"/>
                    <a:pt x="3864" y="4131"/>
                  </a:cubicBezTo>
                  <a:cubicBezTo>
                    <a:pt x="6907" y="5153"/>
                    <a:pt x="14188" y="9842"/>
                    <a:pt x="18255" y="9328"/>
                  </a:cubicBezTo>
                  <a:cubicBezTo>
                    <a:pt x="22322" y="8814"/>
                    <a:pt x="24846" y="1667"/>
                    <a:pt x="28266" y="1045"/>
                  </a:cubicBezTo>
                  <a:cubicBezTo>
                    <a:pt x="31686" y="423"/>
                    <a:pt x="36292" y="5283"/>
                    <a:pt x="38776" y="5597"/>
                  </a:cubicBezTo>
                  <a:cubicBezTo>
                    <a:pt x="41261" y="5912"/>
                    <a:pt x="42040" y="3865"/>
                    <a:pt x="43173" y="2932"/>
                  </a:cubicBezTo>
                  <a:cubicBezTo>
                    <a:pt x="44306" y="1999"/>
                    <a:pt x="45172" y="489"/>
                    <a:pt x="45572" y="0"/>
                  </a:cubicBezTo>
                </a:path>
              </a:pathLst>
            </a:custGeom>
            <a:noFill/>
            <a:ln w="19050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28" name="Google Shape;428;p26"/>
            <p:cNvCxnSpPr/>
            <p:nvPr/>
          </p:nvCxnSpPr>
          <p:spPr>
            <a:xfrm rot="10800000">
              <a:off x="4983337" y="3431198"/>
              <a:ext cx="0" cy="971400"/>
            </a:xfrm>
            <a:prstGeom prst="straightConnector1">
              <a:avLst/>
            </a:prstGeom>
            <a:noFill/>
            <a:ln w="19050" cap="flat" cmpd="sng">
              <a:solidFill>
                <a:srgbClr val="B7B7B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429" name="Google Shape;429;p26" descr="f(x) &gt; 0, \forall x \in \mathcal{S}" title="MathEquation,#000000"/>
            <p:cNvPicPr preferRelativeResize="0"/>
            <p:nvPr/>
          </p:nvPicPr>
          <p:blipFill rotWithShape="1">
            <a:blip r:embed="rId3"/>
            <a:srcRect l="88467" r="-4" b="9057"/>
            <a:stretch>
              <a:fillRect/>
            </a:stretch>
          </p:blipFill>
          <p:spPr>
            <a:xfrm>
              <a:off x="4318759" y="4612250"/>
              <a:ext cx="172900" cy="223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26"/>
            <p:cNvSpPr/>
            <p:nvPr/>
          </p:nvSpPr>
          <p:spPr>
            <a:xfrm rot="-5400000">
              <a:off x="4324300" y="3943025"/>
              <a:ext cx="168300" cy="11397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1" name="Google Shape;431;p26"/>
            <p:cNvCxnSpPr/>
            <p:nvPr/>
          </p:nvCxnSpPr>
          <p:spPr>
            <a:xfrm>
              <a:off x="3438000" y="4198988"/>
              <a:ext cx="1608600" cy="105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432" name="Google Shape;432;p26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5109300" y="4017288"/>
              <a:ext cx="299850" cy="31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26"/>
            <p:cNvSpPr txBox="1"/>
            <p:nvPr/>
          </p:nvSpPr>
          <p:spPr>
            <a:xfrm>
              <a:off x="5285375" y="3012375"/>
              <a:ext cx="573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2"/>
                  </a:solidFill>
                </a:rPr>
                <a:t>f(x)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look at one layer first</a:t>
            </a:r>
          </a:p>
        </p:txBody>
      </p:sp>
      <p:grpSp>
        <p:nvGrpSpPr>
          <p:cNvPr id="439" name="Google Shape;439;p27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grpSp>
          <p:nvGrpSpPr>
            <p:cNvPr id="440" name="Google Shape;440;p27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441" name="Google Shape;441;p27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7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7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7"/>
              <p:cNvSpPr/>
              <p:nvPr/>
            </p:nvSpPr>
            <p:spPr>
              <a:xfrm>
                <a:off x="2294125" y="23127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7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46" name="Google Shape;446;p27"/>
              <p:cNvCxnSpPr>
                <a:stCxn id="441" idx="6"/>
                <a:endCxn id="443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7" name="Google Shape;447;p27"/>
              <p:cNvCxnSpPr>
                <a:stCxn id="441" idx="6"/>
                <a:endCxn id="444" idx="2"/>
              </p:cNvCxnSpPr>
              <p:nvPr/>
            </p:nvCxnSpPr>
            <p:spPr>
              <a:xfrm>
                <a:off x="1498800" y="2080600"/>
                <a:ext cx="795300" cy="34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8" name="Google Shape;448;p27"/>
              <p:cNvCxnSpPr>
                <a:stCxn id="442" idx="6"/>
                <a:endCxn id="443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9" name="Google Shape;449;p27"/>
              <p:cNvCxnSpPr>
                <a:stCxn id="442" idx="6"/>
                <a:endCxn id="444" idx="2"/>
              </p:cNvCxnSpPr>
              <p:nvPr/>
            </p:nvCxnSpPr>
            <p:spPr>
              <a:xfrm rot="10800000" flipH="1">
                <a:off x="1498800" y="2428800"/>
                <a:ext cx="795300" cy="25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0" name="Google Shape;450;p27"/>
              <p:cNvCxnSpPr>
                <a:stCxn id="442" idx="6"/>
                <a:endCxn id="445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1" name="Google Shape;451;p27"/>
              <p:cNvCxnSpPr>
                <a:stCxn id="441" idx="6"/>
                <a:endCxn id="445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52" name="Google Shape;452;p27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453" name="Google Shape;453;p27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</p:grpSp>
      <p:grpSp>
        <p:nvGrpSpPr>
          <p:cNvPr id="454" name="Google Shape;454;p27"/>
          <p:cNvGrpSpPr/>
          <p:nvPr/>
        </p:nvGrpSpPr>
        <p:grpSpPr>
          <a:xfrm>
            <a:off x="2721250" y="1066525"/>
            <a:ext cx="653400" cy="1728850"/>
            <a:chOff x="2460350" y="1264125"/>
            <a:chExt cx="653400" cy="1728850"/>
          </a:xfrm>
        </p:grpSpPr>
        <p:sp>
          <p:nvSpPr>
            <p:cNvPr id="455" name="Google Shape;455;p27"/>
            <p:cNvSpPr txBox="1"/>
            <p:nvPr/>
          </p:nvSpPr>
          <p:spPr>
            <a:xfrm>
              <a:off x="2460350" y="24658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3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456" name="Google Shape;456;p27"/>
            <p:cNvSpPr txBox="1"/>
            <p:nvPr/>
          </p:nvSpPr>
          <p:spPr>
            <a:xfrm>
              <a:off x="2460350" y="17888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457" name="Google Shape;457;p27"/>
            <p:cNvSpPr txBox="1"/>
            <p:nvPr/>
          </p:nvSpPr>
          <p:spPr>
            <a:xfrm>
              <a:off x="2460350" y="12641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r>
                <a:rPr lang="en-GB" sz="1800" baseline="30000">
                  <a:solidFill>
                    <a:srgbClr val="FF0000"/>
                  </a:solidFill>
                </a:rPr>
                <a:t>(1)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458" name="Google Shape;458;p27"/>
          <p:cNvSpPr txBox="1"/>
          <p:nvPr/>
        </p:nvSpPr>
        <p:spPr>
          <a:xfrm>
            <a:off x="4572000" y="1131975"/>
            <a:ext cx="3762900" cy="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Given bounds on x, can we calculate the bounds on z?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59" name="Google Shape;459;p27" descr="x_1 \in [-1, 2], \ x_2 \in [-2,1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53463" y="1967288"/>
            <a:ext cx="2933576" cy="36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look at one layer first</a:t>
            </a:r>
          </a:p>
        </p:txBody>
      </p:sp>
      <p:sp>
        <p:nvSpPr>
          <p:cNvPr id="465" name="Google Shape;465;p28"/>
          <p:cNvSpPr txBox="1"/>
          <p:nvPr/>
        </p:nvSpPr>
        <p:spPr>
          <a:xfrm>
            <a:off x="4572000" y="1131975"/>
            <a:ext cx="3762900" cy="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Given bounds on x, can we calculate the bounds on z?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66" name="Google Shape;466;p28" descr="x_1 \in [-1, 2], \ x_2 \in [-2,1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53463" y="1967288"/>
            <a:ext cx="2933576" cy="363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28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sp>
          <p:nvSpPr>
            <p:cNvPr id="468" name="Google Shape;468;p28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469" name="Google Shape;469;p28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grpSp>
          <p:nvGrpSpPr>
            <p:cNvPr id="470" name="Google Shape;470;p28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471" name="Google Shape;471;p28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8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8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74" name="Google Shape;474;p28"/>
              <p:cNvCxnSpPr>
                <a:stCxn id="471" idx="6"/>
                <a:endCxn id="473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5" name="Google Shape;475;p28"/>
              <p:cNvCxnSpPr>
                <a:stCxn id="472" idx="6"/>
                <a:endCxn id="473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6" name="Google Shape;476;p28"/>
              <p:cNvCxnSpPr>
                <a:stCxn id="472" idx="6"/>
                <a:endCxn id="477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8" name="Google Shape;478;p28"/>
              <p:cNvCxnSpPr>
                <a:stCxn id="471" idx="6"/>
                <a:endCxn id="477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77" name="Google Shape;477;p28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9" name="Google Shape;479;p28"/>
          <p:cNvGrpSpPr/>
          <p:nvPr/>
        </p:nvGrpSpPr>
        <p:grpSpPr>
          <a:xfrm>
            <a:off x="2721250" y="1066525"/>
            <a:ext cx="653400" cy="1728850"/>
            <a:chOff x="2460350" y="1264125"/>
            <a:chExt cx="653400" cy="1728850"/>
          </a:xfrm>
        </p:grpSpPr>
        <p:sp>
          <p:nvSpPr>
            <p:cNvPr id="480" name="Google Shape;480;p28"/>
            <p:cNvSpPr txBox="1"/>
            <p:nvPr/>
          </p:nvSpPr>
          <p:spPr>
            <a:xfrm>
              <a:off x="2460350" y="12641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481" name="Google Shape;481;p28"/>
            <p:cNvSpPr txBox="1"/>
            <p:nvPr/>
          </p:nvSpPr>
          <p:spPr>
            <a:xfrm>
              <a:off x="2460350" y="24658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482" name="Google Shape;482;p28"/>
          <p:cNvSpPr txBox="1"/>
          <p:nvPr/>
        </p:nvSpPr>
        <p:spPr>
          <a:xfrm>
            <a:off x="4155750" y="2571750"/>
            <a:ext cx="459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As an illustration, suppose we have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83" name="Google Shape;483;p28" descr="z_1 = 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57800" y="3177150"/>
            <a:ext cx="2146774" cy="3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8" descr="z_2 = 2x_1 - x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157788" y="3613900"/>
            <a:ext cx="2252076" cy="3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8"/>
          <p:cNvSpPr txBox="1"/>
          <p:nvPr/>
        </p:nvSpPr>
        <p:spPr>
          <a:xfrm>
            <a:off x="4021075" y="4081950"/>
            <a:ext cx="502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Can you infer bounds on z given bounds on x?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Interval Bound Propagation (IBP)</a:t>
            </a:r>
          </a:p>
        </p:txBody>
      </p:sp>
      <p:pic>
        <p:nvPicPr>
          <p:cNvPr id="491" name="Google Shape;491;p29" descr="x_1 \in [-1, 2], \ x_2 \in [-2,1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971738" y="1111988"/>
            <a:ext cx="2933576" cy="3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9" descr="z_1 = 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365175" y="1654025"/>
            <a:ext cx="2146774" cy="3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9" descr="z_2 = 2x_1 - x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365163" y="2090775"/>
            <a:ext cx="2252076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9" descr="\underline{z}_1 = -1 - 1 = -2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834500" y="3282059"/>
            <a:ext cx="2645526" cy="44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9" descr="\overline{z}_1 = 2 - (-2) = 4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5242475" y="3312175"/>
            <a:ext cx="2510500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9" descr="\overline{z}_2 = 2 \times 2 - (-2) = 6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5242475" y="3867850"/>
            <a:ext cx="3116276" cy="3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 descr="\underline{z}_2 = -1 \times 2 - 1 = -3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834500" y="3914775"/>
            <a:ext cx="3087450" cy="424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9"/>
          <p:cNvSpPr txBox="1"/>
          <p:nvPr/>
        </p:nvSpPr>
        <p:spPr>
          <a:xfrm>
            <a:off x="1003400" y="2660275"/>
            <a:ext cx="25104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Lower bounds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9" name="Google Shape;499;p29"/>
          <p:cNvSpPr txBox="1"/>
          <p:nvPr/>
        </p:nvSpPr>
        <p:spPr>
          <a:xfrm>
            <a:off x="5545413" y="2717088"/>
            <a:ext cx="25104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Upper bounds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Interval Bound Propagation (IBP)</a:t>
            </a:r>
          </a:p>
        </p:txBody>
      </p:sp>
      <p:pic>
        <p:nvPicPr>
          <p:cNvPr id="505" name="Google Shape;505;p30" descr="x_1 \in [-1, 2], \ x_2 \in [-2,1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46438" y="1154363"/>
            <a:ext cx="2933576" cy="3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0" descr="z_1 = 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950825" y="1160113"/>
            <a:ext cx="2146774" cy="3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0" descr="z_2 = 2x_1 - x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739488" y="1144463"/>
            <a:ext cx="2252076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0" descr="\underline{z}_1 = -1 - 1 = -2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385175" y="1817522"/>
            <a:ext cx="2645526" cy="44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0" descr="\overline{z}_1 = 2 - (-2) = 4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972975" y="1847638"/>
            <a:ext cx="2510500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0" descr="\overline{z}_2 = 2 \times 2 - (-2) = 6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4972975" y="2376988"/>
            <a:ext cx="3116276" cy="3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0" descr="\underline{z}_2 = -1 \times 2 - 1 = -3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1385175" y="2387838"/>
            <a:ext cx="3087450" cy="42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0" descr="\displaystyle \sum_{i \in \{i| w_i \geq 0\}} w_i l_i + \sum_{i \in \{i| w_i &lt; 0\}} w_i u_i \leq \sum_{i} w_i x_i \leq \sum_{i \in \{i| w_i \geq 0\}} w_i u_i + \sum_{i \in \{i| w_i &lt; 0\}} w_i l_i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1218500" y="3688550"/>
            <a:ext cx="6941914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0"/>
          <p:cNvSpPr txBox="1"/>
          <p:nvPr/>
        </p:nvSpPr>
        <p:spPr>
          <a:xfrm>
            <a:off x="564725" y="3039225"/>
            <a:ext cx="338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 general: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4" name="Google Shape;514;p30"/>
          <p:cNvSpPr txBox="1"/>
          <p:nvPr/>
        </p:nvSpPr>
        <p:spPr>
          <a:xfrm>
            <a:off x="758138" y="4585800"/>
            <a:ext cx="4839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Elements lower and upper bounds of x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15" name="Google Shape;515;p30"/>
          <p:cNvCxnSpPr/>
          <p:nvPr/>
        </p:nvCxnSpPr>
        <p:spPr>
          <a:xfrm rot="10800000">
            <a:off x="2310550" y="3953025"/>
            <a:ext cx="46800" cy="57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6" name="Google Shape;516;p30"/>
          <p:cNvCxnSpPr/>
          <p:nvPr/>
        </p:nvCxnSpPr>
        <p:spPr>
          <a:xfrm rot="10800000" flipH="1">
            <a:off x="3693000" y="3953100"/>
            <a:ext cx="129000" cy="63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Interval Bound Propagation: continue to the next layer</a:t>
            </a:r>
          </a:p>
        </p:txBody>
      </p:sp>
      <p:grpSp>
        <p:nvGrpSpPr>
          <p:cNvPr id="522" name="Google Shape;522;p31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sp>
          <p:nvSpPr>
            <p:cNvPr id="523" name="Google Shape;523;p31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524" name="Google Shape;524;p31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grpSp>
          <p:nvGrpSpPr>
            <p:cNvPr id="525" name="Google Shape;525;p31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526" name="Google Shape;526;p31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1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1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29" name="Google Shape;529;p31"/>
              <p:cNvCxnSpPr>
                <a:stCxn id="526" idx="6"/>
                <a:endCxn id="528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31"/>
              <p:cNvCxnSpPr>
                <a:stCxn id="527" idx="6"/>
                <a:endCxn id="528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31"/>
              <p:cNvCxnSpPr>
                <a:stCxn id="527" idx="6"/>
                <a:endCxn id="532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31"/>
              <p:cNvCxnSpPr>
                <a:stCxn id="526" idx="6"/>
                <a:endCxn id="532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32" name="Google Shape;532;p31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4" name="Google Shape;534;p31"/>
          <p:cNvGrpSpPr/>
          <p:nvPr/>
        </p:nvGrpSpPr>
        <p:grpSpPr>
          <a:xfrm>
            <a:off x="2721250" y="949375"/>
            <a:ext cx="653400" cy="1627350"/>
            <a:chOff x="2460350" y="1146975"/>
            <a:chExt cx="653400" cy="1627350"/>
          </a:xfrm>
        </p:grpSpPr>
        <p:sp>
          <p:nvSpPr>
            <p:cNvPr id="535" name="Google Shape;535;p31"/>
            <p:cNvSpPr txBox="1"/>
            <p:nvPr/>
          </p:nvSpPr>
          <p:spPr>
            <a:xfrm>
              <a:off x="2460350" y="11469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536" name="Google Shape;536;p31"/>
            <p:cNvSpPr txBox="1"/>
            <p:nvPr/>
          </p:nvSpPr>
          <p:spPr>
            <a:xfrm>
              <a:off x="2460350" y="22472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537" name="Google Shape;537;p31"/>
          <p:cNvSpPr/>
          <p:nvPr/>
        </p:nvSpPr>
        <p:spPr>
          <a:xfrm>
            <a:off x="3762600" y="2011013"/>
            <a:ext cx="231900" cy="231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8" name="Google Shape;538;p31"/>
          <p:cNvCxnSpPr>
            <a:stCxn id="528" idx="6"/>
            <a:endCxn id="537" idx="2"/>
          </p:cNvCxnSpPr>
          <p:nvPr/>
        </p:nvCxnSpPr>
        <p:spPr>
          <a:xfrm>
            <a:off x="3076850" y="1536388"/>
            <a:ext cx="685800" cy="5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9" name="Google Shape;539;p31"/>
          <p:cNvCxnSpPr>
            <a:stCxn id="532" idx="5"/>
            <a:endCxn id="537" idx="2"/>
          </p:cNvCxnSpPr>
          <p:nvPr/>
        </p:nvCxnSpPr>
        <p:spPr>
          <a:xfrm rot="10800000" flipH="1">
            <a:off x="3042889" y="2127102"/>
            <a:ext cx="719700" cy="72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0" name="Google Shape;540;p31"/>
          <p:cNvSpPr txBox="1"/>
          <p:nvPr/>
        </p:nvSpPr>
        <p:spPr>
          <a:xfrm>
            <a:off x="3974200" y="1703575"/>
            <a:ext cx="3750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1" name="Google Shape;541;p31"/>
          <p:cNvSpPr txBox="1"/>
          <p:nvPr/>
        </p:nvSpPr>
        <p:spPr>
          <a:xfrm>
            <a:off x="4548300" y="1252350"/>
            <a:ext cx="4007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Let’s say   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also know that: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542" name="Google Shape;542;p31" descr="z_1 \in [ -2, 4 ]&#10;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48301" y="2457400"/>
            <a:ext cx="1611400" cy="39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1" descr="z_2 \in [ -3, 6 ]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666625" y="2457400"/>
            <a:ext cx="1611402" cy="3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1"/>
          <p:cNvSpPr txBox="1"/>
          <p:nvPr/>
        </p:nvSpPr>
        <p:spPr>
          <a:xfrm>
            <a:off x="1385600" y="3466850"/>
            <a:ext cx="6518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what can we conclude about y?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545" name="Google Shape;545;p31" descr="y \in [-8, 7]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974199" y="4113050"/>
            <a:ext cx="1828476" cy="49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1" descr="y = z_1 - z_2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802675" y="1338128"/>
            <a:ext cx="1691250" cy="334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Interval Bound Propagation: limitations</a:t>
            </a:r>
          </a:p>
        </p:txBody>
      </p:sp>
      <p:sp>
        <p:nvSpPr>
          <p:cNvPr id="552" name="Google Shape;552;p32"/>
          <p:cNvSpPr txBox="1">
            <a:spLocks noGrp="1"/>
          </p:cNvSpPr>
          <p:nvPr>
            <p:ph type="body" idx="1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Apply IBP we obtain</a:t>
            </a:r>
            <a:br>
              <a:rPr lang="en-GB"/>
            </a:br>
            <a:r>
              <a:rPr lang="en-GB"/>
              <a:t>for this simple linear network.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However observe that</a:t>
            </a:r>
          </a:p>
        </p:txBody>
      </p:sp>
      <p:grpSp>
        <p:nvGrpSpPr>
          <p:cNvPr id="553" name="Google Shape;553;p32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sp>
          <p:nvSpPr>
            <p:cNvPr id="554" name="Google Shape;554;p32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555" name="Google Shape;555;p32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grpSp>
          <p:nvGrpSpPr>
            <p:cNvPr id="556" name="Google Shape;556;p32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557" name="Google Shape;557;p32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2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2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0" name="Google Shape;560;p32"/>
              <p:cNvCxnSpPr>
                <a:stCxn id="557" idx="6"/>
                <a:endCxn id="559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1" name="Google Shape;561;p32"/>
              <p:cNvCxnSpPr>
                <a:stCxn id="558" idx="6"/>
                <a:endCxn id="559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2" name="Google Shape;562;p32"/>
              <p:cNvCxnSpPr>
                <a:stCxn id="558" idx="6"/>
                <a:endCxn id="563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4" name="Google Shape;564;p32"/>
              <p:cNvCxnSpPr>
                <a:stCxn id="557" idx="6"/>
                <a:endCxn id="563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63" name="Google Shape;563;p32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5" name="Google Shape;565;p32"/>
          <p:cNvGrpSpPr/>
          <p:nvPr/>
        </p:nvGrpSpPr>
        <p:grpSpPr>
          <a:xfrm>
            <a:off x="2721250" y="949375"/>
            <a:ext cx="653400" cy="1627350"/>
            <a:chOff x="2460350" y="1146975"/>
            <a:chExt cx="653400" cy="1627350"/>
          </a:xfrm>
        </p:grpSpPr>
        <p:sp>
          <p:nvSpPr>
            <p:cNvPr id="566" name="Google Shape;566;p32"/>
            <p:cNvSpPr txBox="1"/>
            <p:nvPr/>
          </p:nvSpPr>
          <p:spPr>
            <a:xfrm>
              <a:off x="2460350" y="11469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567" name="Google Shape;567;p32"/>
            <p:cNvSpPr txBox="1"/>
            <p:nvPr/>
          </p:nvSpPr>
          <p:spPr>
            <a:xfrm>
              <a:off x="2460350" y="224722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568" name="Google Shape;568;p32"/>
          <p:cNvSpPr/>
          <p:nvPr/>
        </p:nvSpPr>
        <p:spPr>
          <a:xfrm>
            <a:off x="3762600" y="2011013"/>
            <a:ext cx="231900" cy="231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69" name="Google Shape;569;p32"/>
          <p:cNvCxnSpPr>
            <a:stCxn id="559" idx="6"/>
            <a:endCxn id="568" idx="2"/>
          </p:cNvCxnSpPr>
          <p:nvPr/>
        </p:nvCxnSpPr>
        <p:spPr>
          <a:xfrm>
            <a:off x="3076850" y="1536388"/>
            <a:ext cx="685800" cy="59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0" name="Google Shape;570;p32"/>
          <p:cNvCxnSpPr>
            <a:stCxn id="563" idx="5"/>
            <a:endCxn id="568" idx="2"/>
          </p:cNvCxnSpPr>
          <p:nvPr/>
        </p:nvCxnSpPr>
        <p:spPr>
          <a:xfrm rot="10800000" flipH="1">
            <a:off x="3042889" y="2127102"/>
            <a:ext cx="719700" cy="72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1" name="Google Shape;571;p32"/>
          <p:cNvSpPr txBox="1"/>
          <p:nvPr/>
        </p:nvSpPr>
        <p:spPr>
          <a:xfrm>
            <a:off x="3974200" y="1703575"/>
            <a:ext cx="3750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72" name="Google Shape;572;p32" descr="y \in [-8, 7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786125" y="1153625"/>
            <a:ext cx="1469018" cy="39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2" descr="z_1 = 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274982" y="2755350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2" descr="z_2 = 2x_1 - x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274972" y="3100178"/>
            <a:ext cx="1778074" cy="30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2" descr="y = z_1 - z_2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276825" y="3469728"/>
            <a:ext cx="1691250" cy="334022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2"/>
          <p:cNvSpPr txBox="1"/>
          <p:nvPr/>
        </p:nvSpPr>
        <p:spPr>
          <a:xfrm>
            <a:off x="2964350" y="4240575"/>
            <a:ext cx="57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actual bounds is [-2, 1], much tighter than [-8, 7]</a:t>
            </a:r>
          </a:p>
        </p:txBody>
      </p:sp>
      <p:pic>
        <p:nvPicPr>
          <p:cNvPr id="577" name="Google Shape;577;p32" descr="y = x_1 - x_2 - (2x_1 - x_2) = -x_1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227525" y="3855152"/>
            <a:ext cx="3872972" cy="3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32" descr="x_1 \in [-1, 2], \ x_2 \in [-2,1]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404445" y="2784111"/>
            <a:ext cx="1778074" cy="220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Better Idea: Keep the correlations between x and z</a:t>
            </a:r>
          </a:p>
        </p:txBody>
      </p:sp>
      <p:pic>
        <p:nvPicPr>
          <p:cNvPr id="584" name="Google Shape;584;p33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22132" y="1173625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33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822122" y="1518453"/>
            <a:ext cx="1778074" cy="30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33" descr="y = z_1 - z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823975" y="1888003"/>
            <a:ext cx="1691250" cy="334022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33"/>
          <p:cNvSpPr txBox="1"/>
          <p:nvPr/>
        </p:nvSpPr>
        <p:spPr>
          <a:xfrm>
            <a:off x="1511500" y="2658850"/>
            <a:ext cx="57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actual bounds is [-2, 1], much tighter than [-8, 7]</a:t>
            </a:r>
          </a:p>
        </p:txBody>
      </p:sp>
      <p:sp>
        <p:nvSpPr>
          <p:cNvPr id="588" name="Google Shape;588;p33"/>
          <p:cNvSpPr txBox="1"/>
          <p:nvPr/>
        </p:nvSpPr>
        <p:spPr>
          <a:xfrm>
            <a:off x="740700" y="3273550"/>
            <a:ext cx="7662600" cy="11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 is important to keep the correlations between z and x to obtain this tighter result!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treat z as a </a:t>
            </a:r>
            <a:r>
              <a:rPr lang="en-GB" sz="1800" b="1">
                <a:solidFill>
                  <a:schemeClr val="dk2"/>
                </a:solidFill>
              </a:rPr>
              <a:t>symbolic function of x</a:t>
            </a:r>
            <a:r>
              <a:rPr lang="en-GB" sz="1800">
                <a:solidFill>
                  <a:schemeClr val="dk2"/>
                </a:solidFill>
              </a:rPr>
              <a:t>, rather than intervals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89" name="Google Shape;589;p33" descr="y = x_1 - x_2 - (2x_1 - x_2) = -x_1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2774675" y="2273427"/>
            <a:ext cx="3872972" cy="3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Better Idea: linear bound propagation</a:t>
            </a:r>
          </a:p>
        </p:txBody>
      </p:sp>
      <p:pic>
        <p:nvPicPr>
          <p:cNvPr id="595" name="Google Shape;595;p34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22132" y="1173625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4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822122" y="1518453"/>
            <a:ext cx="1778074" cy="30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4" descr="y = z_1 - z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823975" y="1888003"/>
            <a:ext cx="1691250" cy="334022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4"/>
          <p:cNvSpPr txBox="1"/>
          <p:nvPr/>
        </p:nvSpPr>
        <p:spPr>
          <a:xfrm>
            <a:off x="1511500" y="2658850"/>
            <a:ext cx="57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actual bounds is [-2, 1], much tighter than [-8, 7]</a:t>
            </a:r>
          </a:p>
        </p:txBody>
      </p:sp>
      <p:sp>
        <p:nvSpPr>
          <p:cNvPr id="599" name="Google Shape;599;p34"/>
          <p:cNvSpPr txBox="1"/>
          <p:nvPr/>
        </p:nvSpPr>
        <p:spPr>
          <a:xfrm>
            <a:off x="740700" y="3273550"/>
            <a:ext cx="7662600" cy="11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 is important to keep the correlations between z and x to obtain this tighter result!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treat z as a </a:t>
            </a:r>
            <a:r>
              <a:rPr lang="en-GB" sz="1800" b="1">
                <a:solidFill>
                  <a:srgbClr val="0000FF"/>
                </a:solidFill>
              </a:rPr>
              <a:t>linear</a:t>
            </a:r>
            <a:r>
              <a:rPr lang="en-GB" sz="1800" b="1">
                <a:solidFill>
                  <a:schemeClr val="dk2"/>
                </a:solidFill>
              </a:rPr>
              <a:t> function of x</a:t>
            </a:r>
            <a:r>
              <a:rPr lang="en-GB" sz="1800">
                <a:solidFill>
                  <a:schemeClr val="dk2"/>
                </a:solidFill>
              </a:rPr>
              <a:t>, rather than intervals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00" name="Google Shape;600;p34" descr="y = x_1 - x_2 - (2x_1 - x_2) = -x_1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2774675" y="2273427"/>
            <a:ext cx="3872972" cy="3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Better Idea: linear bound propagation</a:t>
            </a:r>
          </a:p>
        </p:txBody>
      </p:sp>
      <p:pic>
        <p:nvPicPr>
          <p:cNvPr id="606" name="Google Shape;606;p35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086832" y="2037300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5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086822" y="2382128"/>
            <a:ext cx="1778074" cy="302272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35"/>
          <p:cNvSpPr txBox="1"/>
          <p:nvPr/>
        </p:nvSpPr>
        <p:spPr>
          <a:xfrm>
            <a:off x="740700" y="3273550"/>
            <a:ext cx="7662600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treat z as a </a:t>
            </a:r>
            <a:r>
              <a:rPr lang="en-GB" sz="1800" b="1">
                <a:solidFill>
                  <a:srgbClr val="0000FF"/>
                </a:solidFill>
              </a:rPr>
              <a:t>linear</a:t>
            </a:r>
            <a:r>
              <a:rPr lang="en-GB" sz="1800" b="1">
                <a:solidFill>
                  <a:schemeClr val="dk2"/>
                </a:solidFill>
              </a:rPr>
              <a:t> function of x</a:t>
            </a:r>
            <a:r>
              <a:rPr lang="en-GB" sz="1800">
                <a:solidFill>
                  <a:schemeClr val="dk2"/>
                </a:solidFill>
              </a:rPr>
              <a:t>, rather than concrete intervals.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After we plug in linear functions (z w.r.t. x), we still get a linear function (y w.r.t. x)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9" name="Google Shape;609;p35"/>
          <p:cNvSpPr/>
          <p:nvPr/>
        </p:nvSpPr>
        <p:spPr>
          <a:xfrm>
            <a:off x="3083750" y="1398950"/>
            <a:ext cx="1640400" cy="210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35"/>
          <p:cNvSpPr txBox="1"/>
          <p:nvPr/>
        </p:nvSpPr>
        <p:spPr>
          <a:xfrm>
            <a:off x="3400575" y="1667625"/>
            <a:ext cx="17781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Plug in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1" name="Google Shape;611;p35" descr="y = z_1 - z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316650" y="1322628"/>
            <a:ext cx="1691250" cy="334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5" descr="y = x_1 - x_2 - (2x_1 - x_2) = -x_1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864900" y="1355852"/>
            <a:ext cx="3872972" cy="3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Bound propagation: how about nonlinear functions?</a:t>
            </a:r>
          </a:p>
        </p:txBody>
      </p:sp>
      <p:grpSp>
        <p:nvGrpSpPr>
          <p:cNvPr id="618" name="Google Shape;618;p36"/>
          <p:cNvGrpSpPr/>
          <p:nvPr/>
        </p:nvGrpSpPr>
        <p:grpSpPr>
          <a:xfrm>
            <a:off x="1385600" y="1367763"/>
            <a:ext cx="1691250" cy="1518400"/>
            <a:chOff x="949900" y="2149850"/>
            <a:chExt cx="1691250" cy="1518400"/>
          </a:xfrm>
        </p:grpSpPr>
        <p:sp>
          <p:nvSpPr>
            <p:cNvPr id="619" name="Google Shape;619;p36"/>
            <p:cNvSpPr txBox="1"/>
            <p:nvPr/>
          </p:nvSpPr>
          <p:spPr>
            <a:xfrm>
              <a:off x="949900" y="2149850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620" name="Google Shape;620;p36"/>
            <p:cNvSpPr txBox="1"/>
            <p:nvPr/>
          </p:nvSpPr>
          <p:spPr>
            <a:xfrm>
              <a:off x="949900" y="3041525"/>
              <a:ext cx="4320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grpSp>
          <p:nvGrpSpPr>
            <p:cNvPr id="621" name="Google Shape;621;p36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622" name="Google Shape;622;p36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6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6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25" name="Google Shape;625;p36"/>
              <p:cNvCxnSpPr>
                <a:stCxn id="622" idx="6"/>
                <a:endCxn id="624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6" name="Google Shape;626;p36"/>
              <p:cNvCxnSpPr>
                <a:stCxn id="623" idx="6"/>
                <a:endCxn id="624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7" name="Google Shape;627;p36"/>
              <p:cNvCxnSpPr>
                <a:stCxn id="623" idx="6"/>
                <a:endCxn id="628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9" name="Google Shape;629;p36"/>
              <p:cNvCxnSpPr>
                <a:stCxn id="622" idx="6"/>
                <a:endCxn id="628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28" name="Google Shape;628;p36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0" name="Google Shape;630;p36"/>
          <p:cNvGrpSpPr/>
          <p:nvPr/>
        </p:nvGrpSpPr>
        <p:grpSpPr>
          <a:xfrm>
            <a:off x="2492650" y="949375"/>
            <a:ext cx="415500" cy="1762800"/>
            <a:chOff x="2307950" y="1146975"/>
            <a:chExt cx="415500" cy="1762800"/>
          </a:xfrm>
        </p:grpSpPr>
        <p:sp>
          <p:nvSpPr>
            <p:cNvPr id="631" name="Google Shape;631;p36"/>
            <p:cNvSpPr txBox="1"/>
            <p:nvPr/>
          </p:nvSpPr>
          <p:spPr>
            <a:xfrm>
              <a:off x="2307950" y="1146975"/>
              <a:ext cx="4155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1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632" name="Google Shape;632;p36"/>
            <p:cNvSpPr txBox="1"/>
            <p:nvPr/>
          </p:nvSpPr>
          <p:spPr>
            <a:xfrm>
              <a:off x="2307950" y="2382675"/>
              <a:ext cx="4155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</a:rPr>
                <a:t>z</a:t>
              </a:r>
              <a:r>
                <a:rPr lang="en-GB" sz="1800" baseline="-25000">
                  <a:solidFill>
                    <a:srgbClr val="FF0000"/>
                  </a:solidFill>
                </a:rPr>
                <a:t>2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633" name="Google Shape;633;p36"/>
          <p:cNvGrpSpPr/>
          <p:nvPr/>
        </p:nvGrpSpPr>
        <p:grpSpPr>
          <a:xfrm>
            <a:off x="3076750" y="949375"/>
            <a:ext cx="1822975" cy="1936788"/>
            <a:chOff x="3076750" y="949375"/>
            <a:chExt cx="1822975" cy="1936788"/>
          </a:xfrm>
        </p:grpSpPr>
        <p:sp>
          <p:nvSpPr>
            <p:cNvPr id="634" name="Google Shape;634;p36"/>
            <p:cNvSpPr/>
            <p:nvPr/>
          </p:nvSpPr>
          <p:spPr>
            <a:xfrm>
              <a:off x="4340100" y="2011013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5" name="Google Shape;635;p36"/>
            <p:cNvGrpSpPr/>
            <p:nvPr/>
          </p:nvGrpSpPr>
          <p:grpSpPr>
            <a:xfrm>
              <a:off x="3374650" y="1420438"/>
              <a:ext cx="231900" cy="1465725"/>
              <a:chOff x="2294125" y="1732750"/>
              <a:chExt cx="231900" cy="1465725"/>
            </a:xfrm>
          </p:grpSpPr>
          <p:sp>
            <p:nvSpPr>
              <p:cNvPr id="636" name="Google Shape;636;p36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6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38" name="Google Shape;638;p36"/>
            <p:cNvCxnSpPr>
              <a:stCxn id="636" idx="6"/>
              <a:endCxn id="634" idx="2"/>
            </p:cNvCxnSpPr>
            <p:nvPr/>
          </p:nvCxnSpPr>
          <p:spPr>
            <a:xfrm>
              <a:off x="3606550" y="1536388"/>
              <a:ext cx="733500" cy="590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9" name="Google Shape;639;p36"/>
            <p:cNvCxnSpPr>
              <a:stCxn id="637" idx="6"/>
              <a:endCxn id="634" idx="2"/>
            </p:cNvCxnSpPr>
            <p:nvPr/>
          </p:nvCxnSpPr>
          <p:spPr>
            <a:xfrm rot="10800000" flipH="1">
              <a:off x="3606550" y="2127013"/>
              <a:ext cx="733500" cy="64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36"/>
            <p:cNvCxnSpPr>
              <a:stCxn id="636" idx="2"/>
              <a:endCxn id="624" idx="6"/>
            </p:cNvCxnSpPr>
            <p:nvPr/>
          </p:nvCxnSpPr>
          <p:spPr>
            <a:xfrm rot="10800000">
              <a:off x="3076750" y="1536388"/>
              <a:ext cx="29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1" name="Google Shape;641;p36"/>
            <p:cNvCxnSpPr>
              <a:stCxn id="637" idx="2"/>
              <a:endCxn id="628" idx="6"/>
            </p:cNvCxnSpPr>
            <p:nvPr/>
          </p:nvCxnSpPr>
          <p:spPr>
            <a:xfrm rot="10800000">
              <a:off x="3076750" y="2770213"/>
              <a:ext cx="29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2" name="Google Shape;642;p36"/>
            <p:cNvSpPr txBox="1"/>
            <p:nvPr/>
          </p:nvSpPr>
          <p:spPr>
            <a:xfrm>
              <a:off x="3163900" y="9493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1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643" name="Google Shape;643;p36"/>
            <p:cNvSpPr txBox="1"/>
            <p:nvPr/>
          </p:nvSpPr>
          <p:spPr>
            <a:xfrm>
              <a:off x="3163900" y="21851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2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644" name="Google Shape;644;p36"/>
            <p:cNvSpPr txBox="1"/>
            <p:nvPr/>
          </p:nvSpPr>
          <p:spPr>
            <a:xfrm>
              <a:off x="4407725" y="1657225"/>
              <a:ext cx="492000" cy="4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y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645" name="Google Shape;645;p36"/>
          <p:cNvSpPr txBox="1"/>
          <p:nvPr/>
        </p:nvSpPr>
        <p:spPr>
          <a:xfrm>
            <a:off x="4841225" y="1398950"/>
            <a:ext cx="4253100" cy="21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Instead of y = 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 - 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Now we have y = ReLU(z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) - 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From IBP we already know that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∈[-2, 4],  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∈[-3, 6],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6" name="Google Shape;646;p36"/>
          <p:cNvSpPr txBox="1"/>
          <p:nvPr/>
        </p:nvSpPr>
        <p:spPr>
          <a:xfrm>
            <a:off x="236675" y="3449300"/>
            <a:ext cx="4042200" cy="9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Can we improve IBP using symbolic linear bounds?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7" name="Google Shape;647;p36"/>
          <p:cNvSpPr txBox="1"/>
          <p:nvPr/>
        </p:nvSpPr>
        <p:spPr>
          <a:xfrm>
            <a:off x="4991175" y="4386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 ∈ [-6, 4]</a:t>
            </a:r>
          </a:p>
        </p:txBody>
      </p:sp>
      <p:sp>
        <p:nvSpPr>
          <p:cNvPr id="648" name="Google Shape;648;p36"/>
          <p:cNvSpPr txBox="1"/>
          <p:nvPr/>
        </p:nvSpPr>
        <p:spPr>
          <a:xfrm>
            <a:off x="4899725" y="3663350"/>
            <a:ext cx="380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ReLU(z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) ∈[0, 4],  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 ∈[0, 6]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sp>
        <p:nvSpPr>
          <p:cNvPr id="654" name="Google Shape;654;p37"/>
          <p:cNvSpPr txBox="1"/>
          <p:nvPr/>
        </p:nvSpPr>
        <p:spPr>
          <a:xfrm>
            <a:off x="4841225" y="1398950"/>
            <a:ext cx="4253100" cy="21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Instead of y = 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 - 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Now we have y = ReLU(z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) - 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already know that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z</a:t>
            </a:r>
            <a:r>
              <a:rPr lang="en-GB" sz="1800" baseline="-25000">
                <a:solidFill>
                  <a:srgbClr val="0000FF"/>
                </a:solidFill>
              </a:rPr>
              <a:t>1</a:t>
            </a:r>
            <a:r>
              <a:rPr lang="en-GB" sz="1800">
                <a:solidFill>
                  <a:srgbClr val="0000FF"/>
                </a:solidFill>
              </a:rPr>
              <a:t>∈[-2, 4]</a:t>
            </a:r>
            <a:r>
              <a:rPr lang="en-GB" sz="1800">
                <a:solidFill>
                  <a:schemeClr val="dk2"/>
                </a:solidFill>
              </a:rPr>
              <a:t>,  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∈[-3, 6],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655" name="Google Shape;655;p37"/>
          <p:cNvGrpSpPr/>
          <p:nvPr/>
        </p:nvGrpSpPr>
        <p:grpSpPr>
          <a:xfrm>
            <a:off x="1001425" y="1608925"/>
            <a:ext cx="2601025" cy="1941075"/>
            <a:chOff x="1991775" y="1994325"/>
            <a:chExt cx="2601025" cy="1941075"/>
          </a:xfrm>
        </p:grpSpPr>
        <p:grpSp>
          <p:nvGrpSpPr>
            <p:cNvPr id="656" name="Google Shape;656;p37"/>
            <p:cNvGrpSpPr/>
            <p:nvPr/>
          </p:nvGrpSpPr>
          <p:grpSpPr>
            <a:xfrm>
              <a:off x="1991775" y="1994325"/>
              <a:ext cx="2601025" cy="1686022"/>
              <a:chOff x="6206725" y="2948475"/>
              <a:chExt cx="2601025" cy="1686022"/>
            </a:xfrm>
          </p:grpSpPr>
          <p:grpSp>
            <p:nvGrpSpPr>
              <p:cNvPr id="657" name="Google Shape;657;p37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658" name="Google Shape;658;p37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59" name="Google Shape;659;p37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660" name="Google Shape;660;p37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1" name="Google Shape;661;p37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662" name="Google Shape;662;p37"/>
              <p:cNvSpPr txBox="1"/>
              <p:nvPr/>
            </p:nvSpPr>
            <p:spPr>
              <a:xfrm>
                <a:off x="6774925" y="2948475"/>
                <a:ext cx="1729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=ReLU(z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63" name="Google Shape;663;p37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664" name="Google Shape;664;p37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5" name="Google Shape;665;p37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6" name="Google Shape;666;p37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-2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  <p:sp>
          <p:nvSpPr>
            <p:cNvPr id="667" name="Google Shape;667;p37"/>
            <p:cNvSpPr txBox="1"/>
            <p:nvPr/>
          </p:nvSpPr>
          <p:spPr>
            <a:xfrm>
              <a:off x="37332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4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</p:grpSp>
      <p:sp>
        <p:nvSpPr>
          <p:cNvPr id="668" name="Google Shape;668;p37"/>
          <p:cNvSpPr txBox="1"/>
          <p:nvPr/>
        </p:nvSpPr>
        <p:spPr>
          <a:xfrm>
            <a:off x="4946675" y="3566475"/>
            <a:ext cx="290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(Preactivation bounds)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grpSp>
        <p:nvGrpSpPr>
          <p:cNvPr id="674" name="Google Shape;674;p38"/>
          <p:cNvGrpSpPr/>
          <p:nvPr/>
        </p:nvGrpSpPr>
        <p:grpSpPr>
          <a:xfrm>
            <a:off x="1001425" y="1608925"/>
            <a:ext cx="2601025" cy="1941075"/>
            <a:chOff x="1991775" y="1994325"/>
            <a:chExt cx="2601025" cy="1941075"/>
          </a:xfrm>
        </p:grpSpPr>
        <p:grpSp>
          <p:nvGrpSpPr>
            <p:cNvPr id="675" name="Google Shape;675;p38"/>
            <p:cNvGrpSpPr/>
            <p:nvPr/>
          </p:nvGrpSpPr>
          <p:grpSpPr>
            <a:xfrm>
              <a:off x="1991775" y="1994325"/>
              <a:ext cx="2601025" cy="1686022"/>
              <a:chOff x="6206725" y="2948475"/>
              <a:chExt cx="2601025" cy="1686022"/>
            </a:xfrm>
          </p:grpSpPr>
          <p:grpSp>
            <p:nvGrpSpPr>
              <p:cNvPr id="676" name="Google Shape;676;p38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677" name="Google Shape;677;p38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78" name="Google Shape;678;p38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679" name="Google Shape;679;p38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0" name="Google Shape;680;p38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681" name="Google Shape;681;p38"/>
              <p:cNvSpPr txBox="1"/>
              <p:nvPr/>
            </p:nvSpPr>
            <p:spPr>
              <a:xfrm>
                <a:off x="6774925" y="2948475"/>
                <a:ext cx="1729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=ReLU(z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82" name="Google Shape;682;p38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683" name="Google Shape;683;p38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4" name="Google Shape;684;p38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5" name="Google Shape;685;p38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-2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  <p:sp>
          <p:nvSpPr>
            <p:cNvPr id="686" name="Google Shape;686;p38"/>
            <p:cNvSpPr txBox="1"/>
            <p:nvPr/>
          </p:nvSpPr>
          <p:spPr>
            <a:xfrm>
              <a:off x="37332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4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</p:grpSp>
      <p:cxnSp>
        <p:nvCxnSpPr>
          <p:cNvPr id="687" name="Google Shape;687;p38"/>
          <p:cNvCxnSpPr/>
          <p:nvPr/>
        </p:nvCxnSpPr>
        <p:spPr>
          <a:xfrm rot="10800000" flipH="1">
            <a:off x="1001425" y="2160650"/>
            <a:ext cx="2367300" cy="15264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38"/>
          <p:cNvCxnSpPr/>
          <p:nvPr/>
        </p:nvCxnSpPr>
        <p:spPr>
          <a:xfrm rot="10800000" flipH="1">
            <a:off x="892800" y="1891050"/>
            <a:ext cx="2436900" cy="1511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9" name="Google Shape;689;p38"/>
          <p:cNvSpPr txBox="1"/>
          <p:nvPr/>
        </p:nvSpPr>
        <p:spPr>
          <a:xfrm>
            <a:off x="3728150" y="1176325"/>
            <a:ext cx="47919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Linear </a:t>
            </a:r>
            <a:r>
              <a:rPr lang="en-GB" sz="1800">
                <a:solidFill>
                  <a:srgbClr val="0000FF"/>
                </a:solidFill>
              </a:rPr>
              <a:t>upper bound</a:t>
            </a:r>
            <a:r>
              <a:rPr lang="en-GB" sz="1800">
                <a:solidFill>
                  <a:schemeClr val="dk2"/>
                </a:solidFill>
              </a:rPr>
              <a:t> (same as the one of triangle relaxation in LP)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>
                <a:solidFill>
                  <a:schemeClr val="dk2"/>
                </a:solidFill>
              </a:rPr>
              <a:t>Linear </a:t>
            </a:r>
            <a:r>
              <a:rPr lang="en-GB" sz="1800">
                <a:solidFill>
                  <a:srgbClr val="38761D"/>
                </a:solidFill>
              </a:rPr>
              <a:t>lower bound</a:t>
            </a:r>
            <a:r>
              <a:rPr lang="en-GB" sz="1800">
                <a:solidFill>
                  <a:schemeClr val="dk2"/>
                </a:solidFill>
              </a:rPr>
              <a:t> (actually not unique)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0" name="Google Shape;690;p38"/>
          <p:cNvSpPr/>
          <p:nvPr/>
        </p:nvSpPr>
        <p:spPr>
          <a:xfrm>
            <a:off x="6176900" y="2846325"/>
            <a:ext cx="961200" cy="5577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8"/>
          <p:cNvSpPr/>
          <p:nvPr/>
        </p:nvSpPr>
        <p:spPr>
          <a:xfrm>
            <a:off x="4009350" y="2846325"/>
            <a:ext cx="492600" cy="5577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2" name="Google Shape;692;p38" descr="\frac{2}{3}z_1 \leq \text{ReLU}(z_1) \leq \frac{2}{3} z_1 + \frac{4}{3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88425" y="2940275"/>
            <a:ext cx="3049810" cy="3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grpSp>
        <p:nvGrpSpPr>
          <p:cNvPr id="698" name="Google Shape;698;p39"/>
          <p:cNvGrpSpPr/>
          <p:nvPr/>
        </p:nvGrpSpPr>
        <p:grpSpPr>
          <a:xfrm>
            <a:off x="1001425" y="1608925"/>
            <a:ext cx="2601025" cy="1941075"/>
            <a:chOff x="1991775" y="1994325"/>
            <a:chExt cx="2601025" cy="1941075"/>
          </a:xfrm>
        </p:grpSpPr>
        <p:grpSp>
          <p:nvGrpSpPr>
            <p:cNvPr id="699" name="Google Shape;699;p39"/>
            <p:cNvGrpSpPr/>
            <p:nvPr/>
          </p:nvGrpSpPr>
          <p:grpSpPr>
            <a:xfrm>
              <a:off x="1991775" y="1994325"/>
              <a:ext cx="2601025" cy="1686022"/>
              <a:chOff x="6206725" y="2948475"/>
              <a:chExt cx="2601025" cy="1686022"/>
            </a:xfrm>
          </p:grpSpPr>
          <p:grpSp>
            <p:nvGrpSpPr>
              <p:cNvPr id="700" name="Google Shape;700;p39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01" name="Google Shape;701;p39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02" name="Google Shape;702;p39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03" name="Google Shape;703;p39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4" name="Google Shape;704;p39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05" name="Google Shape;705;p39"/>
              <p:cNvSpPr txBox="1"/>
              <p:nvPr/>
            </p:nvSpPr>
            <p:spPr>
              <a:xfrm>
                <a:off x="6774925" y="2948475"/>
                <a:ext cx="1729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r>
                  <a:rPr lang="en-GB" sz="1800">
                    <a:solidFill>
                      <a:schemeClr val="dk1"/>
                    </a:solidFill>
                  </a:rPr>
                  <a:t>=ReLU(z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r>
                  <a:rPr lang="en-GB" sz="1800">
                    <a:solidFill>
                      <a:schemeClr val="dk1"/>
                    </a:solidFill>
                  </a:rPr>
                  <a:t>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06" name="Google Shape;706;p39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07" name="Google Shape;707;p39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8" name="Google Shape;708;p39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9" name="Google Shape;709;p39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-3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  <p:sp>
          <p:nvSpPr>
            <p:cNvPr id="710" name="Google Shape;710;p39"/>
            <p:cNvSpPr txBox="1"/>
            <p:nvPr/>
          </p:nvSpPr>
          <p:spPr>
            <a:xfrm>
              <a:off x="37332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6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</p:grpSp>
      <p:cxnSp>
        <p:nvCxnSpPr>
          <p:cNvPr id="711" name="Google Shape;711;p39"/>
          <p:cNvCxnSpPr/>
          <p:nvPr/>
        </p:nvCxnSpPr>
        <p:spPr>
          <a:xfrm rot="10800000" flipH="1">
            <a:off x="1001425" y="2160650"/>
            <a:ext cx="2367300" cy="15264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2" name="Google Shape;712;p39"/>
          <p:cNvCxnSpPr/>
          <p:nvPr/>
        </p:nvCxnSpPr>
        <p:spPr>
          <a:xfrm rot="10800000" flipH="1">
            <a:off x="892800" y="1891050"/>
            <a:ext cx="2436900" cy="1511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39"/>
          <p:cNvSpPr txBox="1"/>
          <p:nvPr/>
        </p:nvSpPr>
        <p:spPr>
          <a:xfrm>
            <a:off x="3602450" y="1176325"/>
            <a:ext cx="53589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 can be bounded using linear functions similarly.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Now let’s consider y = ReLU(z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) - 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). How to bound it using linear functions of 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 and 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grpSp>
        <p:nvGrpSpPr>
          <p:cNvPr id="714" name="Google Shape;714;p39"/>
          <p:cNvGrpSpPr/>
          <p:nvPr/>
        </p:nvGrpSpPr>
        <p:grpSpPr>
          <a:xfrm>
            <a:off x="807825" y="3926475"/>
            <a:ext cx="3049810" cy="979025"/>
            <a:chOff x="807825" y="3926475"/>
            <a:chExt cx="3049810" cy="979025"/>
          </a:xfrm>
        </p:grpSpPr>
        <p:pic>
          <p:nvPicPr>
            <p:cNvPr id="715" name="Google Shape;715;p39" descr="\frac{2}{3}z_2 \leq \text{ReLU}(z_2) \leq \frac{2}{3} z_2 + 2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807825" y="4535708"/>
              <a:ext cx="2988226" cy="3697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6" name="Google Shape;716;p39" descr="\frac{2}{3}z_1 \leq \text{ReLU}(z_1) \leq \frac{2}{3} z_1 + \frac{4}{3}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807825" y="3926475"/>
              <a:ext cx="3049810" cy="369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pic>
        <p:nvPicPr>
          <p:cNvPr id="722" name="Google Shape;722;p40" descr="\frac{2}{3}z_2 \leq \text{ReLU}(z_2) \leq \frac{2}{3} z_2 + 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967175" y="1531558"/>
            <a:ext cx="2988226" cy="369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0" descr="\frac{2}{3}z_1 \leq \text{ReLU}(z_1) \leq \frac{2}{3} z_1 + \frac{4}{3}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63450" y="1531550"/>
            <a:ext cx="3049810" cy="36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40" descr="y = \text{ReLU}(z_1) - \text{ReLU}(z_2)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374325" y="3220075"/>
            <a:ext cx="3114144" cy="36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40" descr="\frac{2}{3}z_1 - (\frac{2}{3} z_2 + 2) \leq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380150" y="2672950"/>
            <a:ext cx="2533100" cy="4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0"/>
          <p:cNvSpPr txBox="1"/>
          <p:nvPr/>
        </p:nvSpPr>
        <p:spPr>
          <a:xfrm>
            <a:off x="1654500" y="2031625"/>
            <a:ext cx="2917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Negative coefficient, take upper bound 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727" name="Google Shape;727;p40"/>
          <p:cNvSpPr txBox="1"/>
          <p:nvPr/>
        </p:nvSpPr>
        <p:spPr>
          <a:xfrm>
            <a:off x="-149725" y="3220025"/>
            <a:ext cx="2917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</a:rPr>
              <a:t>positive coefficient, take lower bound 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728" name="Google Shape;728;p40"/>
          <p:cNvSpPr/>
          <p:nvPr/>
        </p:nvSpPr>
        <p:spPr>
          <a:xfrm>
            <a:off x="7067325" y="1457525"/>
            <a:ext cx="1066200" cy="5727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40"/>
          <p:cNvSpPr/>
          <p:nvPr/>
        </p:nvSpPr>
        <p:spPr>
          <a:xfrm>
            <a:off x="740475" y="1430100"/>
            <a:ext cx="562500" cy="5727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40"/>
          <p:cNvSpPr/>
          <p:nvPr/>
        </p:nvSpPr>
        <p:spPr>
          <a:xfrm>
            <a:off x="2226100" y="2672950"/>
            <a:ext cx="1361400" cy="5472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0"/>
          <p:cNvSpPr/>
          <p:nvPr/>
        </p:nvSpPr>
        <p:spPr>
          <a:xfrm>
            <a:off x="1302975" y="2660200"/>
            <a:ext cx="562500" cy="5727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2" name="Google Shape;732;p40" descr="\leq (\frac{2}{3}z_1+ \frac{4}{3}) - \frac{2}{3} z_2  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825013" y="3735375"/>
            <a:ext cx="327254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sp>
        <p:nvSpPr>
          <p:cNvPr id="738" name="Google Shape;738;p41"/>
          <p:cNvSpPr txBox="1"/>
          <p:nvPr/>
        </p:nvSpPr>
        <p:spPr>
          <a:xfrm>
            <a:off x="787350" y="2066775"/>
            <a:ext cx="8201400" cy="14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Now we have linear inequalities for y w.r.t. z!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Next step we can simply plug in, as in the linear (y=z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-z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 case.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9" name="Google Shape;739;p41" descr="\frac{2}{3}z_1 - (\frac{2}{3} z_2 + 2) \leq y \leq (\frac{2}{3}z_1+ \frac{4}{3}) - \frac{2}{3} z_2  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26800" y="1275350"/>
            <a:ext cx="6373722" cy="5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pic>
        <p:nvPicPr>
          <p:cNvPr id="745" name="Google Shape;745;p42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505782" y="1924650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42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505772" y="2269478"/>
            <a:ext cx="1778074" cy="30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42" descr="-\frac{2}{3} x_1 -  2 \leq y \leq -\frac{2}{3} x_1 +  \frac{4}{3}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661050" y="3278275"/>
            <a:ext cx="3390056" cy="4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2"/>
          <p:cNvSpPr/>
          <p:nvPr/>
        </p:nvSpPr>
        <p:spPr>
          <a:xfrm>
            <a:off x="4138225" y="2734600"/>
            <a:ext cx="328200" cy="492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2"/>
          <p:cNvSpPr txBox="1"/>
          <p:nvPr/>
        </p:nvSpPr>
        <p:spPr>
          <a:xfrm>
            <a:off x="4618600" y="2793200"/>
            <a:ext cx="26010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Plug in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50" name="Google Shape;750;p42" descr="\frac{2}{3}z_1 - (\frac{2}{3} z_2 + 2) \leq y \leq (\frac{2}{3}z_1+ \frac{4}{3}) - \frac{2}{3} z_2  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915562" y="1263550"/>
            <a:ext cx="4958502" cy="4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for ReLU function (CROWN)</a:t>
            </a:r>
          </a:p>
        </p:txBody>
      </p:sp>
      <p:pic>
        <p:nvPicPr>
          <p:cNvPr id="756" name="Google Shape;756;p43" descr="-\frac{2}{3} x_1 -  2 \leq y \leq -\frac{2}{3} x_1 +  \frac{4}{3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567325" y="1930875"/>
            <a:ext cx="3390056" cy="41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43" descr="x_1 \in [-1, 2], \ x_2 \in [-2,1]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141125" y="2433000"/>
            <a:ext cx="2437224" cy="3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3"/>
          <p:cNvSpPr/>
          <p:nvPr/>
        </p:nvSpPr>
        <p:spPr>
          <a:xfrm>
            <a:off x="4098250" y="2926900"/>
            <a:ext cx="328200" cy="492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43"/>
          <p:cNvSpPr txBox="1"/>
          <p:nvPr/>
        </p:nvSpPr>
        <p:spPr>
          <a:xfrm>
            <a:off x="1080250" y="1258350"/>
            <a:ext cx="72057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now have symbolic linear bounds for y w.r.t. 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0" name="Google Shape;760;p43"/>
          <p:cNvSpPr txBox="1"/>
          <p:nvPr/>
        </p:nvSpPr>
        <p:spPr>
          <a:xfrm>
            <a:off x="2829138" y="4168650"/>
            <a:ext cx="3061200" cy="4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Concrete interval bounds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1" name="Google Shape;761;p43"/>
          <p:cNvSpPr/>
          <p:nvPr/>
        </p:nvSpPr>
        <p:spPr>
          <a:xfrm>
            <a:off x="2567325" y="1852175"/>
            <a:ext cx="1231200" cy="5727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43"/>
          <p:cNvSpPr/>
          <p:nvPr/>
        </p:nvSpPr>
        <p:spPr>
          <a:xfrm>
            <a:off x="4698275" y="1864913"/>
            <a:ext cx="1361400" cy="5472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43"/>
          <p:cNvSpPr txBox="1"/>
          <p:nvPr/>
        </p:nvSpPr>
        <p:spPr>
          <a:xfrm>
            <a:off x="822750" y="2911950"/>
            <a:ext cx="2917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</a:rPr>
              <a:t>Take lower bound given x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764" name="Google Shape;764;p43"/>
          <p:cNvSpPr txBox="1"/>
          <p:nvPr/>
        </p:nvSpPr>
        <p:spPr>
          <a:xfrm>
            <a:off x="4784450" y="2987950"/>
            <a:ext cx="2917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Take upper bound given x</a:t>
            </a:r>
            <a:endParaRPr sz="1800">
              <a:solidFill>
                <a:srgbClr val="0000FF"/>
              </a:solidFill>
            </a:endParaRPr>
          </a:p>
        </p:txBody>
      </p:sp>
      <p:cxnSp>
        <p:nvCxnSpPr>
          <p:cNvPr id="765" name="Google Shape;765;p43"/>
          <p:cNvCxnSpPr/>
          <p:nvPr/>
        </p:nvCxnSpPr>
        <p:spPr>
          <a:xfrm flipH="1">
            <a:off x="2638425" y="2512000"/>
            <a:ext cx="129000" cy="44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6" name="Google Shape;766;p43"/>
          <p:cNvCxnSpPr/>
          <p:nvPr/>
        </p:nvCxnSpPr>
        <p:spPr>
          <a:xfrm>
            <a:off x="2626825" y="3285275"/>
            <a:ext cx="1417800" cy="51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7" name="Google Shape;767;p43"/>
          <p:cNvCxnSpPr/>
          <p:nvPr/>
        </p:nvCxnSpPr>
        <p:spPr>
          <a:xfrm>
            <a:off x="5921950" y="2477438"/>
            <a:ext cx="290100" cy="58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8" name="Google Shape;768;p43"/>
          <p:cNvCxnSpPr/>
          <p:nvPr/>
        </p:nvCxnSpPr>
        <p:spPr>
          <a:xfrm flipH="1">
            <a:off x="4794300" y="3418888"/>
            <a:ext cx="1362000" cy="39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69" name="Google Shape;769;p43" descr="y \in [-\frac{10}{3}, 2]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224588" y="3768925"/>
            <a:ext cx="1653786" cy="4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43"/>
          <p:cNvSpPr txBox="1"/>
          <p:nvPr/>
        </p:nvSpPr>
        <p:spPr>
          <a:xfrm>
            <a:off x="2193300" y="4522475"/>
            <a:ext cx="5085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 lot more tighter than IBP bounds y ∈ [-6, 4]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do even better?</a:t>
            </a:r>
          </a:p>
        </p:txBody>
      </p:sp>
      <p:sp>
        <p:nvSpPr>
          <p:cNvPr id="776" name="Google Shape;776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7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Let’s recall that when we linearly bound the ReLU function, there are some flexibilities</a:t>
            </a:r>
          </a:p>
        </p:txBody>
      </p:sp>
      <p:grpSp>
        <p:nvGrpSpPr>
          <p:cNvPr id="777" name="Google Shape;777;p44"/>
          <p:cNvGrpSpPr/>
          <p:nvPr/>
        </p:nvGrpSpPr>
        <p:grpSpPr>
          <a:xfrm>
            <a:off x="1060000" y="2429075"/>
            <a:ext cx="2601025" cy="1941075"/>
            <a:chOff x="1991775" y="1994325"/>
            <a:chExt cx="2601025" cy="1941075"/>
          </a:xfrm>
        </p:grpSpPr>
        <p:grpSp>
          <p:nvGrpSpPr>
            <p:cNvPr id="778" name="Google Shape;778;p44"/>
            <p:cNvGrpSpPr/>
            <p:nvPr/>
          </p:nvGrpSpPr>
          <p:grpSpPr>
            <a:xfrm>
              <a:off x="1991775" y="1994325"/>
              <a:ext cx="2601025" cy="1686022"/>
              <a:chOff x="6206725" y="2948475"/>
              <a:chExt cx="2601025" cy="1686022"/>
            </a:xfrm>
          </p:grpSpPr>
          <p:grpSp>
            <p:nvGrpSpPr>
              <p:cNvPr id="779" name="Google Shape;779;p44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780" name="Google Shape;780;p44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81" name="Google Shape;781;p44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782" name="Google Shape;782;p44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3" name="Google Shape;783;p44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84" name="Google Shape;784;p44"/>
              <p:cNvSpPr txBox="1"/>
              <p:nvPr/>
            </p:nvSpPr>
            <p:spPr>
              <a:xfrm>
                <a:off x="6774925" y="2948475"/>
                <a:ext cx="1729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=ReLU(z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r>
                  <a:rPr lang="en-GB" sz="1800">
                    <a:solidFill>
                      <a:schemeClr val="dk1"/>
                    </a:solidFill>
                  </a:rPr>
                  <a:t>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785" name="Google Shape;785;p44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1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86" name="Google Shape;786;p44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7" name="Google Shape;787;p44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8" name="Google Shape;788;p44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-2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  <p:sp>
          <p:nvSpPr>
            <p:cNvPr id="789" name="Google Shape;789;p44"/>
            <p:cNvSpPr txBox="1"/>
            <p:nvPr/>
          </p:nvSpPr>
          <p:spPr>
            <a:xfrm>
              <a:off x="37332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4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</p:grpSp>
      <p:cxnSp>
        <p:nvCxnSpPr>
          <p:cNvPr id="790" name="Google Shape;790;p44"/>
          <p:cNvCxnSpPr/>
          <p:nvPr/>
        </p:nvCxnSpPr>
        <p:spPr>
          <a:xfrm rot="10800000" flipH="1">
            <a:off x="1060000" y="2980800"/>
            <a:ext cx="2367300" cy="15264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1" name="Google Shape;791;p44"/>
          <p:cNvCxnSpPr/>
          <p:nvPr/>
        </p:nvCxnSpPr>
        <p:spPr>
          <a:xfrm rot="10800000" flipH="1">
            <a:off x="951375" y="2711200"/>
            <a:ext cx="2436900" cy="1511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2" name="Google Shape;792;p44"/>
          <p:cNvSpPr txBox="1"/>
          <p:nvPr/>
        </p:nvSpPr>
        <p:spPr>
          <a:xfrm>
            <a:off x="3786725" y="1996475"/>
            <a:ext cx="47919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Linear </a:t>
            </a:r>
            <a:r>
              <a:rPr lang="en-GB" sz="1800">
                <a:solidFill>
                  <a:srgbClr val="0000FF"/>
                </a:solidFill>
              </a:rPr>
              <a:t>upper bound</a:t>
            </a:r>
            <a:r>
              <a:rPr lang="en-GB" sz="1800">
                <a:solidFill>
                  <a:schemeClr val="dk2"/>
                </a:solidFill>
              </a:rPr>
              <a:t> (same as the one of triangle relaxation in LP)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Linear </a:t>
            </a:r>
            <a:r>
              <a:rPr lang="en-GB" sz="1800">
                <a:solidFill>
                  <a:srgbClr val="38761D"/>
                </a:solidFill>
              </a:rPr>
              <a:t>lower bound</a:t>
            </a:r>
            <a:r>
              <a:rPr lang="en-GB" sz="1800">
                <a:solidFill>
                  <a:schemeClr val="dk2"/>
                </a:solidFill>
              </a:rPr>
              <a:t> (actually </a:t>
            </a:r>
            <a:r>
              <a:rPr lang="en-GB" sz="1800">
                <a:solidFill>
                  <a:srgbClr val="FF0000"/>
                </a:solidFill>
              </a:rPr>
              <a:t>not unique</a:t>
            </a:r>
            <a:r>
              <a:rPr lang="en-GB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3" name="Google Shape;793;p44" descr="\frac{2}{3}z_1 \leq \text{ReLU}(z_1) \leq \frac{2}{3} z_1 + \frac{4}{3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147000" y="3760425"/>
            <a:ext cx="3049810" cy="369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4" name="Google Shape;794;p44"/>
          <p:cNvCxnSpPr/>
          <p:nvPr/>
        </p:nvCxnSpPr>
        <p:spPr>
          <a:xfrm rot="10800000" flipH="1">
            <a:off x="1291150" y="2711200"/>
            <a:ext cx="1956600" cy="1944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95" name="Google Shape;795;p44"/>
          <p:cNvSpPr txBox="1"/>
          <p:nvPr/>
        </p:nvSpPr>
        <p:spPr>
          <a:xfrm>
            <a:off x="3503300" y="4382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Also valid:</a:t>
            </a:r>
          </a:p>
        </p:txBody>
      </p:sp>
      <p:sp>
        <p:nvSpPr>
          <p:cNvPr id="796" name="Google Shape;796;p44"/>
          <p:cNvSpPr/>
          <p:nvPr/>
        </p:nvSpPr>
        <p:spPr>
          <a:xfrm>
            <a:off x="4674850" y="4305775"/>
            <a:ext cx="389100" cy="547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7" name="Google Shape;797;p44" descr="z_1 \leq \text{ReLU}(z_1) \leq \frac{2}{3} z_1 + \frac{4}{3}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746550" y="4382775"/>
            <a:ext cx="2872238" cy="3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 different linear bounds (α-CROWN)</a:t>
            </a:r>
          </a:p>
        </p:txBody>
      </p:sp>
      <p:grpSp>
        <p:nvGrpSpPr>
          <p:cNvPr id="803" name="Google Shape;803;p45"/>
          <p:cNvGrpSpPr/>
          <p:nvPr/>
        </p:nvGrpSpPr>
        <p:grpSpPr>
          <a:xfrm>
            <a:off x="1001425" y="1608925"/>
            <a:ext cx="2601025" cy="1941075"/>
            <a:chOff x="1991775" y="1994325"/>
            <a:chExt cx="2601025" cy="1941075"/>
          </a:xfrm>
        </p:grpSpPr>
        <p:grpSp>
          <p:nvGrpSpPr>
            <p:cNvPr id="804" name="Google Shape;804;p45"/>
            <p:cNvGrpSpPr/>
            <p:nvPr/>
          </p:nvGrpSpPr>
          <p:grpSpPr>
            <a:xfrm>
              <a:off x="1991775" y="1994325"/>
              <a:ext cx="2601025" cy="1686022"/>
              <a:chOff x="6206725" y="2948475"/>
              <a:chExt cx="2601025" cy="1686022"/>
            </a:xfrm>
          </p:grpSpPr>
          <p:grpSp>
            <p:nvGrpSpPr>
              <p:cNvPr id="805" name="Google Shape;805;p45"/>
              <p:cNvGrpSpPr/>
              <p:nvPr/>
            </p:nvGrpSpPr>
            <p:grpSpPr>
              <a:xfrm>
                <a:off x="6206725" y="335379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806" name="Google Shape;806;p45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807" name="Google Shape;807;p45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808" name="Google Shape;808;p45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9" name="Google Shape;809;p45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10" name="Google Shape;810;p45"/>
              <p:cNvSpPr txBox="1"/>
              <p:nvPr/>
            </p:nvSpPr>
            <p:spPr>
              <a:xfrm>
                <a:off x="6774925" y="2948475"/>
                <a:ext cx="17292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ẑ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r>
                  <a:rPr lang="en-GB" sz="1800">
                    <a:solidFill>
                      <a:schemeClr val="dk1"/>
                    </a:solidFill>
                  </a:rPr>
                  <a:t>=ReLU(z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r>
                  <a:rPr lang="en-GB" sz="1800">
                    <a:solidFill>
                      <a:schemeClr val="dk1"/>
                    </a:solidFill>
                  </a:rPr>
                  <a:t>)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11" name="Google Shape;811;p45"/>
              <p:cNvSpPr txBox="1"/>
              <p:nvPr/>
            </p:nvSpPr>
            <p:spPr>
              <a:xfrm>
                <a:off x="8336150" y="3763300"/>
                <a:ext cx="471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</a:rPr>
                  <a:t>z</a:t>
                </a:r>
                <a:r>
                  <a:rPr lang="en-GB" sz="1800" baseline="-25000">
                    <a:solidFill>
                      <a:schemeClr val="dk1"/>
                    </a:solidFill>
                  </a:rPr>
                  <a:t>2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812" name="Google Shape;812;p45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3" name="Google Shape;813;p45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4" name="Google Shape;814;p45"/>
            <p:cNvSpPr txBox="1"/>
            <p:nvPr/>
          </p:nvSpPr>
          <p:spPr>
            <a:xfrm>
              <a:off x="2369800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-3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  <p:sp>
          <p:nvSpPr>
            <p:cNvPr id="815" name="Google Shape;815;p45"/>
            <p:cNvSpPr txBox="1"/>
            <p:nvPr/>
          </p:nvSpPr>
          <p:spPr>
            <a:xfrm>
              <a:off x="3733238" y="3473700"/>
              <a:ext cx="482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6</a:t>
              </a:r>
              <a:endParaRPr sz="900" baseline="-25000">
                <a:solidFill>
                  <a:srgbClr val="0000FF"/>
                </a:solidFill>
              </a:endParaRPr>
            </a:p>
          </p:txBody>
        </p:sp>
      </p:grpSp>
      <p:cxnSp>
        <p:nvCxnSpPr>
          <p:cNvPr id="816" name="Google Shape;816;p45"/>
          <p:cNvCxnSpPr/>
          <p:nvPr/>
        </p:nvCxnSpPr>
        <p:spPr>
          <a:xfrm rot="10800000" flipH="1">
            <a:off x="1256000" y="1867625"/>
            <a:ext cx="2003400" cy="1944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7" name="Google Shape;817;p45"/>
          <p:cNvCxnSpPr/>
          <p:nvPr/>
        </p:nvCxnSpPr>
        <p:spPr>
          <a:xfrm rot="10800000" flipH="1">
            <a:off x="892800" y="1891050"/>
            <a:ext cx="2436900" cy="1511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8" name="Google Shape;818;p45"/>
          <p:cNvSpPr txBox="1"/>
          <p:nvPr/>
        </p:nvSpPr>
        <p:spPr>
          <a:xfrm>
            <a:off x="3919825" y="1211475"/>
            <a:ext cx="49125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Now what are the linear bounds of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 = ReLU(z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) - ReLU(z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)?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19" name="Google Shape;819;p45" descr="z_2 \leq \text{ReLU}(z_2) \leq \frac{2}{3} z_2 + 2&#10;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94913" y="4532275"/>
            <a:ext cx="2995812" cy="39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45" descr="z_1 \leq \text{ReLU}(z_1) \leq \frac{2}{3} z_1 + \frac{4}{3}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65825" y="3975800"/>
            <a:ext cx="3053998" cy="39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45" descr="z_1 - (\frac{2}{3} z_2 + 2) \leq y \leq (\frac{2}{3}z_1+ \frac{4}{3}) - z_2  &#10;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711149" y="2045494"/>
            <a:ext cx="5121150" cy="467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 different linear bounds (α-CROWN)</a:t>
            </a:r>
          </a:p>
        </p:txBody>
      </p:sp>
      <p:pic>
        <p:nvPicPr>
          <p:cNvPr id="827" name="Google Shape;827;p46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730720" y="1912938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46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730722" y="2320066"/>
            <a:ext cx="1778074" cy="302272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46"/>
          <p:cNvSpPr/>
          <p:nvPr/>
        </p:nvSpPr>
        <p:spPr>
          <a:xfrm>
            <a:off x="4063100" y="1813550"/>
            <a:ext cx="316500" cy="902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0" name="Google Shape;830;p46" descr="z_1 - (\frac{2}{3} z_2 + 2) \leq y \leq (\frac{2}{3}z_1+ \frac{4}{3}) - z_2  &#10;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613899" y="1186894"/>
            <a:ext cx="5121150" cy="467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46" descr="-\frac{1}{3} x_1 -\frac{1}{3} x_2 - 2\leq y \leq -\frac{4}{3} x_1 + \frac{1}{3} x_2 + \frac{4}{3}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895659" y="2875000"/>
            <a:ext cx="4839392" cy="3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46"/>
          <p:cNvSpPr txBox="1"/>
          <p:nvPr/>
        </p:nvSpPr>
        <p:spPr>
          <a:xfrm>
            <a:off x="6727550" y="2113475"/>
            <a:ext cx="13356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Plug 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3" name="Google Shape;833;p46"/>
          <p:cNvSpPr/>
          <p:nvPr/>
        </p:nvSpPr>
        <p:spPr>
          <a:xfrm>
            <a:off x="4063100" y="3348475"/>
            <a:ext cx="316500" cy="902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46"/>
          <p:cNvSpPr txBox="1"/>
          <p:nvPr/>
        </p:nvSpPr>
        <p:spPr>
          <a:xfrm>
            <a:off x="5203750" y="3717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Concretize</a:t>
            </a:r>
          </a:p>
        </p:txBody>
      </p:sp>
      <p:pic>
        <p:nvPicPr>
          <p:cNvPr id="835" name="Google Shape;835;p46" descr="x_1 \in [-1, 2], \ x_2 \in [-2,1]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730725" y="3415925"/>
            <a:ext cx="2437224" cy="3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46" descr="y \in [-3, 3]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3600450" y="4384850"/>
            <a:ext cx="1335600" cy="35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lower bounds for ReLU function matters!</a:t>
            </a:r>
          </a:p>
        </p:txBody>
      </p:sp>
      <p:grpSp>
        <p:nvGrpSpPr>
          <p:cNvPr id="842" name="Google Shape;842;p47"/>
          <p:cNvGrpSpPr/>
          <p:nvPr/>
        </p:nvGrpSpPr>
        <p:grpSpPr>
          <a:xfrm>
            <a:off x="822500" y="1223125"/>
            <a:ext cx="2489699" cy="1796000"/>
            <a:chOff x="822500" y="1223125"/>
            <a:chExt cx="2489699" cy="1796000"/>
          </a:xfrm>
        </p:grpSpPr>
        <p:grpSp>
          <p:nvGrpSpPr>
            <p:cNvPr id="843" name="Google Shape;843;p47"/>
            <p:cNvGrpSpPr/>
            <p:nvPr/>
          </p:nvGrpSpPr>
          <p:grpSpPr>
            <a:xfrm>
              <a:off x="931125" y="1346322"/>
              <a:ext cx="2381074" cy="1280700"/>
              <a:chOff x="1991775" y="2399647"/>
              <a:chExt cx="2381074" cy="1280700"/>
            </a:xfrm>
          </p:grpSpPr>
          <p:grpSp>
            <p:nvGrpSpPr>
              <p:cNvPr id="844" name="Google Shape;844;p47"/>
              <p:cNvGrpSpPr/>
              <p:nvPr/>
            </p:nvGrpSpPr>
            <p:grpSpPr>
              <a:xfrm>
                <a:off x="1991775" y="239964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845" name="Google Shape;845;p47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846" name="Google Shape;846;p47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847" name="Google Shape;847;p47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8" name="Google Shape;848;p47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849" name="Google Shape;849;p47"/>
              <p:cNvCxnSpPr/>
              <p:nvPr/>
            </p:nvCxnSpPr>
            <p:spPr>
              <a:xfrm rot="10800000">
                <a:off x="2694000" y="2551475"/>
                <a:ext cx="0" cy="101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0" name="Google Shape;850;p47"/>
              <p:cNvCxnSpPr/>
              <p:nvPr/>
            </p:nvCxnSpPr>
            <p:spPr>
              <a:xfrm rot="10800000">
                <a:off x="3977325" y="2456025"/>
                <a:ext cx="0" cy="1121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51" name="Google Shape;851;p47"/>
            <p:cNvCxnSpPr/>
            <p:nvPr/>
          </p:nvCxnSpPr>
          <p:spPr>
            <a:xfrm rot="10800000" flipH="1">
              <a:off x="931125" y="1492725"/>
              <a:ext cx="2367300" cy="1526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2" name="Google Shape;852;p47"/>
            <p:cNvCxnSpPr/>
            <p:nvPr/>
          </p:nvCxnSpPr>
          <p:spPr>
            <a:xfrm rot="10800000" flipH="1">
              <a:off x="822500" y="1223125"/>
              <a:ext cx="2436900" cy="15114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853" name="Google Shape;853;p47" descr="\frac{2}{3}z_2 \leq \text{ReLU}(z_2) \leq \frac{2}{3} z_2 + 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56588" y="3700908"/>
            <a:ext cx="2988226" cy="369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47" descr="\frac{2}{3}z_1 \leq \text{ReLU}(z_1) \leq \frac{2}{3} z_1 + \frac{4}{3}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25800" y="3255700"/>
            <a:ext cx="3049810" cy="36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5" name="Google Shape;855;p47"/>
          <p:cNvGrpSpPr/>
          <p:nvPr/>
        </p:nvGrpSpPr>
        <p:grpSpPr>
          <a:xfrm>
            <a:off x="5295625" y="1323647"/>
            <a:ext cx="2381074" cy="1280700"/>
            <a:chOff x="1991775" y="2399647"/>
            <a:chExt cx="2381074" cy="1280700"/>
          </a:xfrm>
        </p:grpSpPr>
        <p:grpSp>
          <p:nvGrpSpPr>
            <p:cNvPr id="856" name="Google Shape;856;p47"/>
            <p:cNvGrpSpPr/>
            <p:nvPr/>
          </p:nvGrpSpPr>
          <p:grpSpPr>
            <a:xfrm>
              <a:off x="1991775" y="2399647"/>
              <a:ext cx="2381074" cy="1280700"/>
              <a:chOff x="3670606" y="691950"/>
              <a:chExt cx="2796000" cy="1707600"/>
            </a:xfrm>
          </p:grpSpPr>
          <p:cxnSp>
            <p:nvCxnSpPr>
              <p:cNvPr id="857" name="Google Shape;857;p47"/>
              <p:cNvCxnSpPr/>
              <p:nvPr/>
            </p:nvCxnSpPr>
            <p:spPr>
              <a:xfrm>
                <a:off x="3670606" y="1882654"/>
                <a:ext cx="279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858" name="Google Shape;858;p47"/>
              <p:cNvCxnSpPr/>
              <p:nvPr/>
            </p:nvCxnSpPr>
            <p:spPr>
              <a:xfrm>
                <a:off x="5060625" y="691950"/>
                <a:ext cx="0" cy="1707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stealth" w="med" len="med"/>
                <a:tailEnd type="none" w="med" len="med"/>
              </a:ln>
            </p:spPr>
          </p:cxnSp>
          <p:cxnSp>
            <p:nvCxnSpPr>
              <p:cNvPr id="859" name="Google Shape;859;p47"/>
              <p:cNvCxnSpPr/>
              <p:nvPr/>
            </p:nvCxnSpPr>
            <p:spPr>
              <a:xfrm>
                <a:off x="3934521" y="1882638"/>
                <a:ext cx="1126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0" name="Google Shape;860;p47"/>
              <p:cNvCxnSpPr/>
              <p:nvPr/>
            </p:nvCxnSpPr>
            <p:spPr>
              <a:xfrm rot="10800000" flipH="1">
                <a:off x="5060625" y="775350"/>
                <a:ext cx="975000" cy="1107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61" name="Google Shape;861;p47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2" name="Google Shape;862;p47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863" name="Google Shape;863;p47" descr="z_2 \leq \text{ReLU}(z_2) \leq \frac{2}{3} z_2 + 2&#10;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988250" y="3677475"/>
            <a:ext cx="2946100" cy="38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47" descr="z_1 \leq \text{ReLU}(z_1) \leq \frac{2}{3} z_1 + \frac{4}{3}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959163" y="3121012"/>
            <a:ext cx="3053998" cy="39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5" name="Google Shape;865;p47"/>
          <p:cNvCxnSpPr/>
          <p:nvPr/>
        </p:nvCxnSpPr>
        <p:spPr>
          <a:xfrm rot="10800000" flipH="1">
            <a:off x="5160025" y="1195425"/>
            <a:ext cx="2436900" cy="1511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6" name="Google Shape;866;p47"/>
          <p:cNvCxnSpPr/>
          <p:nvPr/>
        </p:nvCxnSpPr>
        <p:spPr>
          <a:xfrm rot="10800000" flipH="1">
            <a:off x="5796225" y="1129250"/>
            <a:ext cx="1780800" cy="17574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67" name="Google Shape;867;p47" descr="y \in [-3, 3]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6110050" y="4664425"/>
            <a:ext cx="1335600" cy="358943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47"/>
          <p:cNvSpPr/>
          <p:nvPr/>
        </p:nvSpPr>
        <p:spPr>
          <a:xfrm>
            <a:off x="6652450" y="4077950"/>
            <a:ext cx="250800" cy="572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9" name="Google Shape;869;p47" descr="y \in [-\frac{10}{3}, 2]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1525713" y="4579875"/>
            <a:ext cx="1653786" cy="4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47"/>
          <p:cNvSpPr/>
          <p:nvPr/>
        </p:nvSpPr>
        <p:spPr>
          <a:xfrm>
            <a:off x="2227213" y="4077950"/>
            <a:ext cx="250800" cy="572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47"/>
          <p:cNvSpPr txBox="1"/>
          <p:nvPr/>
        </p:nvSpPr>
        <p:spPr>
          <a:xfrm>
            <a:off x="3474550" y="45950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Which one is correct?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lower bounds for ReLU function matters!</a:t>
            </a:r>
          </a:p>
        </p:txBody>
      </p:sp>
      <p:sp>
        <p:nvSpPr>
          <p:cNvPr id="877" name="Google Shape;877;p48"/>
          <p:cNvSpPr txBox="1"/>
          <p:nvPr/>
        </p:nvSpPr>
        <p:spPr>
          <a:xfrm>
            <a:off x="864750" y="1233350"/>
            <a:ext cx="7148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Both results are correct! But we want the bounds to be as tight as possible! So best result is </a:t>
            </a:r>
            <a:r>
              <a:rPr lang="en-GB" sz="1800" b="1">
                <a:solidFill>
                  <a:schemeClr val="dk2"/>
                </a:solidFill>
              </a:rPr>
              <a:t>y ∈ [-3, 2]</a:t>
            </a:r>
            <a:endParaRPr sz="18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 general, the slope of the linear lower bound for every ReLU neuron can be optimized to find the best result.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lower bounds for ReLU function matters!</a:t>
            </a:r>
          </a:p>
        </p:txBody>
      </p:sp>
      <p:sp>
        <p:nvSpPr>
          <p:cNvPr id="883" name="Google Shape;883;p49"/>
          <p:cNvSpPr txBox="1"/>
          <p:nvPr/>
        </p:nvSpPr>
        <p:spPr>
          <a:xfrm>
            <a:off x="864750" y="1233350"/>
            <a:ext cx="714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 general, the slope of the linear lower bound for every ReLU neuron can be optimized to find the best result.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84" name="Google Shape;884;p49" descr="\alpha_1 z_2 \leq \text{ReLU}(z_2) \leq \frac{2}{3} z_2 + \frac{4}{3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144075" y="2084711"/>
            <a:ext cx="3708994" cy="43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49" descr="\alpha_2 z_2 \leq \text{ReLU}(z_2) \leq \frac{2}{3} z_2 + 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144067" y="2632975"/>
            <a:ext cx="3631826" cy="4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49"/>
          <p:cNvSpPr txBox="1"/>
          <p:nvPr/>
        </p:nvSpPr>
        <p:spPr>
          <a:xfrm>
            <a:off x="864750" y="3181250"/>
            <a:ext cx="76788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optimal lower bound of y, set α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=1, α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=1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optimal upper bound of y, set α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=⅔, α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=⅔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(note that the optimal α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 and α</a:t>
            </a:r>
            <a:r>
              <a:rPr lang="en-GB" sz="1800" baseline="-25000">
                <a:solidFill>
                  <a:schemeClr val="dk2"/>
                </a:solidFill>
              </a:rPr>
              <a:t>2 </a:t>
            </a:r>
            <a:r>
              <a:rPr lang="en-GB" sz="1800">
                <a:solidFill>
                  <a:schemeClr val="dk2"/>
                </a:solidFill>
              </a:rPr>
              <a:t> do not equal in general)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bound propagation method (CROWN)</a:t>
            </a:r>
          </a:p>
        </p:txBody>
      </p:sp>
      <p:sp>
        <p:nvSpPr>
          <p:cNvPr id="892" name="Google Shape;892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Obtain all pre-activation bounds (can be done via CROWN recursively)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Start from the output layer, form the initial linear (in)equality y = y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Recursively propagate linear inequality y &lt;= a</a:t>
            </a:r>
            <a:r>
              <a:rPr lang="en-GB" baseline="30000"/>
              <a:t>T</a:t>
            </a:r>
            <a:r>
              <a:rPr lang="en-GB"/>
              <a:t>z + b through each layer: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For a linear layer, z=Wz’, directly plug in a</a:t>
            </a:r>
            <a:r>
              <a:rPr lang="en-GB" baseline="30000"/>
              <a:t>T</a:t>
            </a:r>
            <a:r>
              <a:rPr lang="en-GB"/>
              <a:t>z + b to get a linear bound of z’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/>
              <a:t>For a non-linear layer (e.g., z=ReLU(z’)), we first form the linear inequalities to bound the nonlinear layer itself. Then multiply either the lower or upper bound based on the sign of element in 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When the linear inequality propagates to the input layer, we can concretize the linear bound using bounds on input layer.</a:t>
            </a:r>
          </a:p>
        </p:txBody>
      </p:sp>
      <p:grpSp>
        <p:nvGrpSpPr>
          <p:cNvPr id="893" name="Google Shape;893;p50"/>
          <p:cNvGrpSpPr/>
          <p:nvPr/>
        </p:nvGrpSpPr>
        <p:grpSpPr>
          <a:xfrm>
            <a:off x="5075501" y="3928775"/>
            <a:ext cx="1740451" cy="1214727"/>
            <a:chOff x="465587" y="2149842"/>
            <a:chExt cx="2175563" cy="1518408"/>
          </a:xfrm>
        </p:grpSpPr>
        <p:sp>
          <p:nvSpPr>
            <p:cNvPr id="894" name="Google Shape;894;p50"/>
            <p:cNvSpPr txBox="1"/>
            <p:nvPr/>
          </p:nvSpPr>
          <p:spPr>
            <a:xfrm>
              <a:off x="465645" y="2149842"/>
              <a:ext cx="9162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895" name="Google Shape;895;p50"/>
            <p:cNvSpPr txBox="1"/>
            <p:nvPr/>
          </p:nvSpPr>
          <p:spPr>
            <a:xfrm>
              <a:off x="465587" y="3041529"/>
              <a:ext cx="9162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grpSp>
          <p:nvGrpSpPr>
            <p:cNvPr id="896" name="Google Shape;896;p50"/>
            <p:cNvGrpSpPr/>
            <p:nvPr/>
          </p:nvGrpSpPr>
          <p:grpSpPr>
            <a:xfrm>
              <a:off x="1382025" y="2202525"/>
              <a:ext cx="1259125" cy="1465725"/>
              <a:chOff x="1266900" y="1732750"/>
              <a:chExt cx="1259125" cy="1465725"/>
            </a:xfrm>
          </p:grpSpPr>
          <p:sp>
            <p:nvSpPr>
              <p:cNvPr id="897" name="Google Shape;897;p50"/>
              <p:cNvSpPr/>
              <p:nvPr/>
            </p:nvSpPr>
            <p:spPr>
              <a:xfrm>
                <a:off x="1266900" y="19646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50"/>
              <p:cNvSpPr/>
              <p:nvPr/>
            </p:nvSpPr>
            <p:spPr>
              <a:xfrm>
                <a:off x="1266900" y="2571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50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00" name="Google Shape;900;p50"/>
              <p:cNvCxnSpPr>
                <a:stCxn id="897" idx="6"/>
                <a:endCxn id="899" idx="2"/>
              </p:cNvCxnSpPr>
              <p:nvPr/>
            </p:nvCxnSpPr>
            <p:spPr>
              <a:xfrm rot="10800000" flipH="1">
                <a:off x="1498800" y="1848700"/>
                <a:ext cx="795300" cy="23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1" name="Google Shape;901;p50"/>
              <p:cNvCxnSpPr>
                <a:stCxn id="898" idx="6"/>
                <a:endCxn id="899" idx="2"/>
              </p:cNvCxnSpPr>
              <p:nvPr/>
            </p:nvCxnSpPr>
            <p:spPr>
              <a:xfrm rot="10800000" flipH="1">
                <a:off x="1498800" y="1848600"/>
                <a:ext cx="7953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2" name="Google Shape;902;p50"/>
              <p:cNvCxnSpPr>
                <a:stCxn id="898" idx="6"/>
                <a:endCxn id="903" idx="2"/>
              </p:cNvCxnSpPr>
              <p:nvPr/>
            </p:nvCxnSpPr>
            <p:spPr>
              <a:xfrm>
                <a:off x="1498800" y="2687700"/>
                <a:ext cx="795300" cy="39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4" name="Google Shape;904;p50"/>
              <p:cNvCxnSpPr>
                <a:stCxn id="897" idx="6"/>
                <a:endCxn id="903" idx="2"/>
              </p:cNvCxnSpPr>
              <p:nvPr/>
            </p:nvCxnSpPr>
            <p:spPr>
              <a:xfrm>
                <a:off x="1498800" y="2080600"/>
                <a:ext cx="795300" cy="10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03" name="Google Shape;903;p50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5" name="Google Shape;905;p50"/>
          <p:cNvGrpSpPr/>
          <p:nvPr/>
        </p:nvGrpSpPr>
        <p:grpSpPr>
          <a:xfrm>
            <a:off x="6815884" y="3594049"/>
            <a:ext cx="1516955" cy="1549430"/>
            <a:chOff x="3076750" y="949375"/>
            <a:chExt cx="1896194" cy="1936788"/>
          </a:xfrm>
        </p:grpSpPr>
        <p:sp>
          <p:nvSpPr>
            <p:cNvPr id="906" name="Google Shape;906;p50"/>
            <p:cNvSpPr/>
            <p:nvPr/>
          </p:nvSpPr>
          <p:spPr>
            <a:xfrm>
              <a:off x="4340100" y="2011013"/>
              <a:ext cx="231900" cy="2319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7" name="Google Shape;907;p50"/>
            <p:cNvGrpSpPr/>
            <p:nvPr/>
          </p:nvGrpSpPr>
          <p:grpSpPr>
            <a:xfrm>
              <a:off x="3374650" y="1420438"/>
              <a:ext cx="231900" cy="1465725"/>
              <a:chOff x="2294125" y="1732750"/>
              <a:chExt cx="231900" cy="1465725"/>
            </a:xfrm>
          </p:grpSpPr>
          <p:sp>
            <p:nvSpPr>
              <p:cNvPr id="908" name="Google Shape;908;p50"/>
              <p:cNvSpPr/>
              <p:nvPr/>
            </p:nvSpPr>
            <p:spPr>
              <a:xfrm>
                <a:off x="2294125" y="1732750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50"/>
              <p:cNvSpPr/>
              <p:nvPr/>
            </p:nvSpPr>
            <p:spPr>
              <a:xfrm>
                <a:off x="2294125" y="2966575"/>
                <a:ext cx="231900" cy="231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910" name="Google Shape;910;p50"/>
            <p:cNvCxnSpPr>
              <a:stCxn id="908" idx="6"/>
              <a:endCxn id="906" idx="2"/>
            </p:cNvCxnSpPr>
            <p:nvPr/>
          </p:nvCxnSpPr>
          <p:spPr>
            <a:xfrm>
              <a:off x="3606550" y="1536388"/>
              <a:ext cx="733500" cy="590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1" name="Google Shape;911;p50"/>
            <p:cNvCxnSpPr>
              <a:stCxn id="909" idx="6"/>
              <a:endCxn id="906" idx="2"/>
            </p:cNvCxnSpPr>
            <p:nvPr/>
          </p:nvCxnSpPr>
          <p:spPr>
            <a:xfrm rot="10800000" flipH="1">
              <a:off x="3606550" y="2127013"/>
              <a:ext cx="733500" cy="64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2" name="Google Shape;912;p50"/>
            <p:cNvCxnSpPr>
              <a:stCxn id="908" idx="2"/>
              <a:endCxn id="899" idx="6"/>
            </p:cNvCxnSpPr>
            <p:nvPr/>
          </p:nvCxnSpPr>
          <p:spPr>
            <a:xfrm rot="10800000">
              <a:off x="3076750" y="1536388"/>
              <a:ext cx="29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3" name="Google Shape;913;p50"/>
            <p:cNvCxnSpPr>
              <a:stCxn id="909" idx="2"/>
              <a:endCxn id="903" idx="6"/>
            </p:cNvCxnSpPr>
            <p:nvPr/>
          </p:nvCxnSpPr>
          <p:spPr>
            <a:xfrm rot="10800000">
              <a:off x="3076750" y="2770213"/>
              <a:ext cx="29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4" name="Google Shape;914;p50"/>
            <p:cNvSpPr txBox="1"/>
            <p:nvPr/>
          </p:nvSpPr>
          <p:spPr>
            <a:xfrm>
              <a:off x="3163900" y="949375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1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915" name="Google Shape;915;p50"/>
            <p:cNvSpPr txBox="1"/>
            <p:nvPr/>
          </p:nvSpPr>
          <p:spPr>
            <a:xfrm>
              <a:off x="3163900" y="2185100"/>
              <a:ext cx="6534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FF"/>
                  </a:solidFill>
                </a:rPr>
                <a:t>ẑ</a:t>
              </a:r>
              <a:r>
                <a:rPr lang="en-GB" sz="1800" baseline="-25000">
                  <a:solidFill>
                    <a:srgbClr val="0000FF"/>
                  </a:solidFill>
                </a:rPr>
                <a:t>2</a:t>
              </a:r>
              <a:endParaRPr sz="1800">
                <a:solidFill>
                  <a:srgbClr val="0000FF"/>
                </a:solidFill>
              </a:endParaRPr>
            </a:p>
          </p:txBody>
        </p:sp>
        <p:sp>
          <p:nvSpPr>
            <p:cNvPr id="916" name="Google Shape;916;p50"/>
            <p:cNvSpPr txBox="1"/>
            <p:nvPr/>
          </p:nvSpPr>
          <p:spPr>
            <a:xfrm>
              <a:off x="4480944" y="1682866"/>
              <a:ext cx="492000" cy="4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y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22" name="Google Shape;922;p51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923" name="Google Shape;923;p51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65</a:t>
            </a:fld>
            <a:endParaRPr lang="en-GB"/>
          </a:p>
        </p:txBody>
      </p:sp>
      <p:grpSp>
        <p:nvGrpSpPr>
          <p:cNvPr id="924" name="Google Shape;924;p51"/>
          <p:cNvGrpSpPr/>
          <p:nvPr/>
        </p:nvGrpSpPr>
        <p:grpSpPr>
          <a:xfrm>
            <a:off x="1029508" y="2275914"/>
            <a:ext cx="508753" cy="510491"/>
            <a:chOff x="2708099" y="2963363"/>
            <a:chExt cx="1021798" cy="1025289"/>
          </a:xfrm>
        </p:grpSpPr>
        <p:pic>
          <p:nvPicPr>
            <p:cNvPr id="925" name="Google Shape;925;p51"/>
            <p:cNvPicPr preferRelativeResize="0"/>
            <p:nvPr/>
          </p:nvPicPr>
          <p:blipFill rotWithShape="1">
            <a:blip r:embed="rId3"/>
            <a:srcRect l="14039" t="9153" r="55651" b="45213"/>
            <a:stretch>
              <a:fillRect/>
            </a:stretch>
          </p:blipFill>
          <p:spPr>
            <a:xfrm>
              <a:off x="2708099" y="2963363"/>
              <a:ext cx="1021798" cy="10252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6" name="Google Shape;926;p51"/>
            <p:cNvSpPr/>
            <p:nvPr/>
          </p:nvSpPr>
          <p:spPr>
            <a:xfrm>
              <a:off x="3130675" y="3637138"/>
              <a:ext cx="288000" cy="1422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4A86E8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FF00"/>
                </a:solidFill>
              </a:endParaRPr>
            </a:p>
          </p:txBody>
        </p:sp>
      </p:grpSp>
      <p:grpSp>
        <p:nvGrpSpPr>
          <p:cNvPr id="927" name="Google Shape;927;p51"/>
          <p:cNvGrpSpPr/>
          <p:nvPr/>
        </p:nvGrpSpPr>
        <p:grpSpPr>
          <a:xfrm>
            <a:off x="2470425" y="1121288"/>
            <a:ext cx="2667850" cy="975375"/>
            <a:chOff x="2470425" y="1121288"/>
            <a:chExt cx="2667850" cy="975375"/>
          </a:xfrm>
        </p:grpSpPr>
        <p:sp>
          <p:nvSpPr>
            <p:cNvPr id="928" name="Google Shape;928;p51"/>
            <p:cNvSpPr txBox="1"/>
            <p:nvPr/>
          </p:nvSpPr>
          <p:spPr>
            <a:xfrm>
              <a:off x="3797275" y="1696463"/>
              <a:ext cx="134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highlight>
                    <a:srgbClr val="D9EAD3"/>
                  </a:highlight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Linear layer</a:t>
              </a:r>
              <a:endParaRPr>
                <a:highlight>
                  <a:srgbClr val="D9EAD3"/>
                </a:highlight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sp>
          <p:nvSpPr>
            <p:cNvPr id="929" name="Google Shape;929;p51"/>
            <p:cNvSpPr txBox="1"/>
            <p:nvPr/>
          </p:nvSpPr>
          <p:spPr>
            <a:xfrm>
              <a:off x="2470425" y="1121288"/>
              <a:ext cx="1725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highlight>
                    <a:srgbClr val="F9E2CB"/>
                  </a:highlight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Non-linear (activation) layer</a:t>
              </a:r>
              <a:endParaRPr>
                <a:highlight>
                  <a:srgbClr val="F9E2CB"/>
                </a:highlight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grpSp>
        <p:nvGrpSpPr>
          <p:cNvPr id="930" name="Google Shape;930;p51"/>
          <p:cNvGrpSpPr/>
          <p:nvPr/>
        </p:nvGrpSpPr>
        <p:grpSpPr>
          <a:xfrm>
            <a:off x="1634649" y="1944214"/>
            <a:ext cx="6311950" cy="1173443"/>
            <a:chOff x="673858" y="1657897"/>
            <a:chExt cx="8272542" cy="1537933"/>
          </a:xfrm>
        </p:grpSpPr>
        <p:grpSp>
          <p:nvGrpSpPr>
            <p:cNvPr id="931" name="Google Shape;931;p51"/>
            <p:cNvGrpSpPr/>
            <p:nvPr/>
          </p:nvGrpSpPr>
          <p:grpSpPr>
            <a:xfrm>
              <a:off x="2743321" y="1657897"/>
              <a:ext cx="497753" cy="1526841"/>
              <a:chOff x="2935225" y="1755650"/>
              <a:chExt cx="617100" cy="1892700"/>
            </a:xfrm>
          </p:grpSpPr>
          <p:sp>
            <p:nvSpPr>
              <p:cNvPr id="932" name="Google Shape;932;p51"/>
              <p:cNvSpPr/>
              <p:nvPr/>
            </p:nvSpPr>
            <p:spPr>
              <a:xfrm>
                <a:off x="2935225" y="1755650"/>
                <a:ext cx="617100" cy="1892700"/>
              </a:xfrm>
              <a:prstGeom prst="roundRect">
                <a:avLst>
                  <a:gd name="adj" fmla="val 16667"/>
                </a:avLst>
              </a:pr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33" name="Google Shape;933;p51"/>
              <p:cNvGrpSpPr/>
              <p:nvPr/>
            </p:nvGrpSpPr>
            <p:grpSpPr>
              <a:xfrm>
                <a:off x="3051944" y="1865291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34" name="Google Shape;934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35" name="Google Shape;935;p51"/>
                <p:cNvCxnSpPr>
                  <a:stCxn id="934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6" name="Google Shape;936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37" name="Google Shape;937;p51"/>
              <p:cNvGrpSpPr/>
              <p:nvPr/>
            </p:nvGrpSpPr>
            <p:grpSpPr>
              <a:xfrm>
                <a:off x="3051944" y="2470316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38" name="Google Shape;938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39" name="Google Shape;939;p51"/>
                <p:cNvCxnSpPr>
                  <a:stCxn id="93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0" name="Google Shape;940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41" name="Google Shape;941;p51"/>
              <p:cNvGrpSpPr/>
              <p:nvPr/>
            </p:nvGrpSpPr>
            <p:grpSpPr>
              <a:xfrm>
                <a:off x="3051944" y="3075341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42" name="Google Shape;942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43" name="Google Shape;943;p51"/>
                <p:cNvCxnSpPr>
                  <a:stCxn id="942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45" name="Google Shape;945;p51"/>
            <p:cNvGrpSpPr/>
            <p:nvPr/>
          </p:nvGrpSpPr>
          <p:grpSpPr>
            <a:xfrm>
              <a:off x="5500094" y="1668989"/>
              <a:ext cx="497753" cy="1526841"/>
              <a:chOff x="2935225" y="1755650"/>
              <a:chExt cx="617100" cy="1892700"/>
            </a:xfrm>
          </p:grpSpPr>
          <p:sp>
            <p:nvSpPr>
              <p:cNvPr id="946" name="Google Shape;946;p51"/>
              <p:cNvSpPr/>
              <p:nvPr/>
            </p:nvSpPr>
            <p:spPr>
              <a:xfrm>
                <a:off x="2935225" y="1755650"/>
                <a:ext cx="617100" cy="1892700"/>
              </a:xfrm>
              <a:prstGeom prst="roundRect">
                <a:avLst>
                  <a:gd name="adj" fmla="val 16667"/>
                </a:avLst>
              </a:pr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47" name="Google Shape;947;p51"/>
              <p:cNvGrpSpPr/>
              <p:nvPr/>
            </p:nvGrpSpPr>
            <p:grpSpPr>
              <a:xfrm>
                <a:off x="3051944" y="1865291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48" name="Google Shape;948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49" name="Google Shape;949;p51"/>
                <p:cNvCxnSpPr>
                  <a:stCxn id="94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0" name="Google Shape;950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51" name="Google Shape;951;p51"/>
              <p:cNvGrpSpPr/>
              <p:nvPr/>
            </p:nvGrpSpPr>
            <p:grpSpPr>
              <a:xfrm>
                <a:off x="3051944" y="2470316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52" name="Google Shape;952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53" name="Google Shape;953;p51"/>
                <p:cNvCxnSpPr>
                  <a:stCxn id="952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4" name="Google Shape;954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55" name="Google Shape;955;p51"/>
              <p:cNvGrpSpPr/>
              <p:nvPr/>
            </p:nvGrpSpPr>
            <p:grpSpPr>
              <a:xfrm>
                <a:off x="3051944" y="3075341"/>
                <a:ext cx="411361" cy="411361"/>
                <a:chOff x="4869175" y="1865375"/>
                <a:chExt cx="2537700" cy="2537700"/>
              </a:xfrm>
            </p:grpSpPr>
            <p:sp>
              <p:nvSpPr>
                <p:cNvPr id="956" name="Google Shape;956;p51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57" name="Google Shape;957;p51"/>
                <p:cNvCxnSpPr>
                  <a:stCxn id="956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8" name="Google Shape;958;p51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959" name="Google Shape;959;p51"/>
            <p:cNvSpPr/>
            <p:nvPr/>
          </p:nvSpPr>
          <p:spPr>
            <a:xfrm>
              <a:off x="7639270" y="2172463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0" name="Google Shape;960;p51"/>
            <p:cNvGrpSpPr/>
            <p:nvPr/>
          </p:nvGrpSpPr>
          <p:grpSpPr>
            <a:xfrm>
              <a:off x="1220447" y="2078349"/>
              <a:ext cx="885163" cy="708121"/>
              <a:chOff x="1591075" y="1810500"/>
              <a:chExt cx="1097400" cy="877800"/>
            </a:xfrm>
          </p:grpSpPr>
          <p:sp>
            <p:nvSpPr>
              <p:cNvPr id="961" name="Google Shape;961;p51"/>
              <p:cNvSpPr/>
              <p:nvPr/>
            </p:nvSpPr>
            <p:spPr>
              <a:xfrm>
                <a:off x="1591075" y="1810500"/>
                <a:ext cx="1097400" cy="8778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962" name="Google Shape;962;p51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9750" y="2073000"/>
                <a:ext cx="480050" cy="3528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63" name="Google Shape;963;p51"/>
            <p:cNvGrpSpPr/>
            <p:nvPr/>
          </p:nvGrpSpPr>
          <p:grpSpPr>
            <a:xfrm>
              <a:off x="3937528" y="2039554"/>
              <a:ext cx="885163" cy="763542"/>
              <a:chOff x="4218325" y="1741925"/>
              <a:chExt cx="1097400" cy="946500"/>
            </a:xfrm>
          </p:grpSpPr>
          <p:sp>
            <p:nvSpPr>
              <p:cNvPr id="964" name="Google Shape;964;p51"/>
              <p:cNvSpPr/>
              <p:nvPr/>
            </p:nvSpPr>
            <p:spPr>
              <a:xfrm>
                <a:off x="4218325" y="1741925"/>
                <a:ext cx="1097400" cy="9465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965" name="Google Shape;965;p51" descr="W_2" title="MathEquation,#000000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26025" y="2073000"/>
                <a:ext cx="480050" cy="3528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66" name="Google Shape;966;p51"/>
            <p:cNvGrpSpPr/>
            <p:nvPr/>
          </p:nvGrpSpPr>
          <p:grpSpPr>
            <a:xfrm>
              <a:off x="6675247" y="2050639"/>
              <a:ext cx="885163" cy="763542"/>
              <a:chOff x="7416274" y="1776150"/>
              <a:chExt cx="1097400" cy="946500"/>
            </a:xfrm>
          </p:grpSpPr>
          <p:sp>
            <p:nvSpPr>
              <p:cNvPr id="967" name="Google Shape;967;p51"/>
              <p:cNvSpPr/>
              <p:nvPr/>
            </p:nvSpPr>
            <p:spPr>
              <a:xfrm>
                <a:off x="7416274" y="1776150"/>
                <a:ext cx="1097400" cy="9465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968" name="Google Shape;968;p51" descr="W_3" title="MathEquation,#000000"/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32699" y="2072988"/>
                <a:ext cx="480050" cy="3528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69" name="Google Shape;969;p51"/>
            <p:cNvSpPr/>
            <p:nvPr/>
          </p:nvSpPr>
          <p:spPr>
            <a:xfrm>
              <a:off x="6063245" y="2183550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0" name="Google Shape;970;p51" descr="z_4" title="MathEquation,#000000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6141050" y="1877925"/>
              <a:ext cx="279444" cy="239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51"/>
            <p:cNvSpPr/>
            <p:nvPr/>
          </p:nvSpPr>
          <p:spPr>
            <a:xfrm>
              <a:off x="4888108" y="2172463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2" name="Google Shape;972;p51" descr="z_4" title="MathEquation,#000000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4973050" y="1877925"/>
              <a:ext cx="279444" cy="239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51" descr="z_3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3399875" y="1877919"/>
              <a:ext cx="279450" cy="2392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51"/>
            <p:cNvSpPr/>
            <p:nvPr/>
          </p:nvSpPr>
          <p:spPr>
            <a:xfrm>
              <a:off x="3325533" y="2172463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51"/>
            <p:cNvSpPr/>
            <p:nvPr/>
          </p:nvSpPr>
          <p:spPr>
            <a:xfrm>
              <a:off x="2151158" y="2183563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51"/>
            <p:cNvSpPr/>
            <p:nvPr/>
          </p:nvSpPr>
          <p:spPr>
            <a:xfrm>
              <a:off x="673858" y="2172463"/>
              <a:ext cx="546600" cy="497700"/>
            </a:xfrm>
            <a:prstGeom prst="rightArrow">
              <a:avLst>
                <a:gd name="adj1" fmla="val 50000"/>
                <a:gd name="adj2" fmla="val 36658"/>
              </a:avLst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7" name="Google Shape;977;p51" descr="z_1" title="MathEquation,#000000"/>
            <p:cNvPicPr preferRelativeResize="0"/>
            <p:nvPr/>
          </p:nvPicPr>
          <p:blipFill>
            <a:blip r:embed="rId10"/>
            <a:stretch>
              <a:fillRect/>
            </a:stretch>
          </p:blipFill>
          <p:spPr>
            <a:xfrm>
              <a:off x="2207525" y="1877919"/>
              <a:ext cx="279450" cy="2392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8" name="Google Shape;978;p51" descr="x" title="MathEquation,#000000"/>
            <p:cNvPicPr preferRelativeResize="0"/>
            <p:nvPr/>
          </p:nvPicPr>
          <p:blipFill>
            <a:blip r:embed="rId11"/>
            <a:stretch>
              <a:fillRect/>
            </a:stretch>
          </p:blipFill>
          <p:spPr>
            <a:xfrm>
              <a:off x="732556" y="1877925"/>
              <a:ext cx="182296" cy="212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51" descr="f(x)" title="MathEquation,#000000"/>
            <p:cNvPicPr preferRelativeResize="0"/>
            <p:nvPr/>
          </p:nvPicPr>
          <p:blipFill>
            <a:blip r:embed="rId12"/>
            <a:stretch>
              <a:fillRect/>
            </a:stretch>
          </p:blipFill>
          <p:spPr>
            <a:xfrm>
              <a:off x="8264750" y="2204900"/>
              <a:ext cx="681650" cy="4328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80" name="Google Shape;980;p51" descr="z_3 = W_2 z_2" title="MathEquation,#000000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3964113" y="2878497"/>
            <a:ext cx="1063374" cy="239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1" name="Google Shape;981;p51"/>
          <p:cNvGrpSpPr/>
          <p:nvPr/>
        </p:nvGrpSpPr>
        <p:grpSpPr>
          <a:xfrm>
            <a:off x="2516288" y="3260550"/>
            <a:ext cx="1556439" cy="1403002"/>
            <a:chOff x="2516288" y="3260550"/>
            <a:chExt cx="1556439" cy="1403002"/>
          </a:xfrm>
        </p:grpSpPr>
        <p:grpSp>
          <p:nvGrpSpPr>
            <p:cNvPr id="982" name="Google Shape;982;p51"/>
            <p:cNvGrpSpPr/>
            <p:nvPr/>
          </p:nvGrpSpPr>
          <p:grpSpPr>
            <a:xfrm>
              <a:off x="2546627" y="3728371"/>
              <a:ext cx="1526100" cy="935180"/>
              <a:chOff x="370077" y="3547259"/>
              <a:chExt cx="1526100" cy="935180"/>
            </a:xfrm>
          </p:grpSpPr>
          <p:cxnSp>
            <p:nvCxnSpPr>
              <p:cNvPr id="983" name="Google Shape;983;p51"/>
              <p:cNvCxnSpPr/>
              <p:nvPr/>
            </p:nvCxnSpPr>
            <p:spPr>
              <a:xfrm>
                <a:off x="1081875" y="3628039"/>
                <a:ext cx="8100" cy="85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984" name="Google Shape;984;p51"/>
              <p:cNvCxnSpPr/>
              <p:nvPr/>
            </p:nvCxnSpPr>
            <p:spPr>
              <a:xfrm rot="10800000" flipH="1">
                <a:off x="370077" y="4121451"/>
                <a:ext cx="1526100" cy="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985" name="Google Shape;985;p51"/>
              <p:cNvCxnSpPr/>
              <p:nvPr/>
            </p:nvCxnSpPr>
            <p:spPr>
              <a:xfrm rot="10800000" flipH="1">
                <a:off x="1089939" y="3718238"/>
                <a:ext cx="470700" cy="408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6" name="Google Shape;986;p51"/>
              <p:cNvCxnSpPr/>
              <p:nvPr/>
            </p:nvCxnSpPr>
            <p:spPr>
              <a:xfrm>
                <a:off x="494153" y="4122863"/>
                <a:ext cx="597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987" name="Google Shape;987;p51" descr="z_3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3330" y="3547259"/>
                <a:ext cx="219358" cy="1878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8" name="Google Shape;988;p51" descr="z_1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15452" y="4121452"/>
                <a:ext cx="219358" cy="1878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89" name="Google Shape;989;p51" descr="z_2 = \text{ReLU}(z_1)" title="MathEquation,#000000"/>
            <p:cNvPicPr preferRelativeResize="0"/>
            <p:nvPr/>
          </p:nvPicPr>
          <p:blipFill>
            <a:blip r:embed="rId14"/>
            <a:stretch>
              <a:fillRect/>
            </a:stretch>
          </p:blipFill>
          <p:spPr>
            <a:xfrm>
              <a:off x="2516288" y="3260550"/>
              <a:ext cx="1441576" cy="304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0" name="Google Shape;990;p51"/>
          <p:cNvSpPr txBox="1"/>
          <p:nvPr/>
        </p:nvSpPr>
        <p:spPr>
          <a:xfrm>
            <a:off x="4301325" y="3304875"/>
            <a:ext cx="4812900" cy="14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Steps:</a:t>
            </a:r>
            <a:endParaRPr sz="180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• </a:t>
            </a:r>
            <a:r>
              <a:rPr lang="en-GB"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Propagate bounds through </a:t>
            </a:r>
            <a:r>
              <a:rPr lang="en-GB" sz="1800">
                <a:highlight>
                  <a:srgbClr val="D9EAD3"/>
                </a:highlight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linear</a:t>
            </a:r>
            <a:r>
              <a:rPr lang="en-GB"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layers</a:t>
            </a:r>
            <a:endParaRPr sz="180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• </a:t>
            </a:r>
            <a:r>
              <a:rPr lang="en-GB" sz="18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Propagate bounds through </a:t>
            </a:r>
            <a:r>
              <a:rPr lang="en-GB" sz="1800">
                <a:solidFill>
                  <a:schemeClr val="dk1"/>
                </a:solidFill>
                <a:highlight>
                  <a:srgbClr val="F9E2CB"/>
                </a:highlight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non-linear</a:t>
            </a:r>
            <a:r>
              <a:rPr lang="en-GB" sz="1800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layers</a:t>
            </a:r>
            <a:endParaRPr sz="180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96" name="Google Shape;996;p52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997" name="Google Shape;997;p52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66</a:t>
            </a:fld>
            <a:endParaRPr lang="en-GB"/>
          </a:p>
        </p:txBody>
      </p:sp>
      <p:sp>
        <p:nvSpPr>
          <p:cNvPr id="998" name="Google Shape;998;p52"/>
          <p:cNvSpPr txBox="1"/>
          <p:nvPr/>
        </p:nvSpPr>
        <p:spPr>
          <a:xfrm>
            <a:off x="1768025" y="1242750"/>
            <a:ext cx="311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 linear lower bound for an intermediate layer</a:t>
            </a:r>
            <a:endParaRPr sz="180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grpSp>
        <p:nvGrpSpPr>
          <p:cNvPr id="999" name="Google Shape;999;p52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000" name="Google Shape;1000;p52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001" name="Google Shape;1001;p52"/>
              <p:cNvPicPr preferRelativeResize="0"/>
              <p:nvPr/>
            </p:nvPicPr>
            <p:blipFill rotWithShape="1">
              <a:blip r:embed="rId3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2" name="Google Shape;1002;p52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003" name="Google Shape;1003;p52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004" name="Google Shape;1004;p52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005" name="Google Shape;1005;p52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06" name="Google Shape;1006;p52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07" name="Google Shape;1007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08" name="Google Shape;1008;p52"/>
                  <p:cNvCxnSpPr>
                    <a:stCxn id="1007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09" name="Google Shape;1009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10" name="Google Shape;1010;p52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11" name="Google Shape;1011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12" name="Google Shape;1012;p52"/>
                  <p:cNvCxnSpPr>
                    <a:stCxn id="1011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13" name="Google Shape;1013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14" name="Google Shape;1014;p52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15" name="Google Shape;1015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16" name="Google Shape;1016;p52"/>
                  <p:cNvCxnSpPr>
                    <a:stCxn id="1015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17" name="Google Shape;1017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018" name="Google Shape;1018;p52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019" name="Google Shape;1019;p52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20" name="Google Shape;1020;p52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21" name="Google Shape;1021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22" name="Google Shape;1022;p52"/>
                  <p:cNvCxnSpPr>
                    <a:stCxn id="1021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3" name="Google Shape;1023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24" name="Google Shape;1024;p52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25" name="Google Shape;1025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26" name="Google Shape;1026;p52"/>
                  <p:cNvCxnSpPr>
                    <a:stCxn id="1025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7" name="Google Shape;1027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28" name="Google Shape;1028;p52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29" name="Google Shape;1029;p52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30" name="Google Shape;1030;p52"/>
                  <p:cNvCxnSpPr>
                    <a:stCxn id="1029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31" name="Google Shape;1031;p52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032" name="Google Shape;1032;p52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3" name="Google Shape;1033;p52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034" name="Google Shape;1034;p52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035" name="Google Shape;1035;p52"/>
                <p:cNvPicPr preferRelativeResize="0"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36" name="Google Shape;1036;p52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037" name="Google Shape;1037;p52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038" name="Google Shape;1038;p52" descr="W_2" title="MathEquation,#000000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39" name="Google Shape;1039;p52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040" name="Google Shape;1040;p52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041" name="Google Shape;1041;p52" descr="W_3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042" name="Google Shape;1042;p52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43" name="Google Shape;1043;p52" descr="z_4" title="MathEquation,#000000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44" name="Google Shape;1044;p52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45" name="Google Shape;1045;p52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6" name="Google Shape;1046;p52" descr="z_3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47" name="Google Shape;1047;p52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52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52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0" name="Google Shape;1050;p52" descr="z_1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1" name="Google Shape;1051;p52" descr="x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2" name="Google Shape;1052;p52" descr="f(x)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53" name="Google Shape;1053;p52"/>
          <p:cNvGrpSpPr/>
          <p:nvPr/>
        </p:nvGrpSpPr>
        <p:grpSpPr>
          <a:xfrm>
            <a:off x="5216175" y="1021396"/>
            <a:ext cx="1981532" cy="1060036"/>
            <a:chOff x="4987575" y="1021396"/>
            <a:chExt cx="1981532" cy="1060036"/>
          </a:xfrm>
        </p:grpSpPr>
        <p:grpSp>
          <p:nvGrpSpPr>
            <p:cNvPr id="1054" name="Google Shape;1054;p52"/>
            <p:cNvGrpSpPr/>
            <p:nvPr/>
          </p:nvGrpSpPr>
          <p:grpSpPr>
            <a:xfrm>
              <a:off x="4987575" y="1021396"/>
              <a:ext cx="1981532" cy="1060036"/>
              <a:chOff x="6105475" y="1308321"/>
              <a:chExt cx="1981532" cy="1060036"/>
            </a:xfrm>
          </p:grpSpPr>
          <p:grpSp>
            <p:nvGrpSpPr>
              <p:cNvPr id="1055" name="Google Shape;1055;p52"/>
              <p:cNvGrpSpPr/>
              <p:nvPr/>
            </p:nvGrpSpPr>
            <p:grpSpPr>
              <a:xfrm>
                <a:off x="6105475" y="1308321"/>
                <a:ext cx="1981532" cy="1060036"/>
                <a:chOff x="5966461" y="2682481"/>
                <a:chExt cx="2302500" cy="1231741"/>
              </a:xfrm>
            </p:grpSpPr>
            <p:cxnSp>
              <p:nvCxnSpPr>
                <p:cNvPr id="1056" name="Google Shape;1056;p52"/>
                <p:cNvCxnSpPr/>
                <p:nvPr/>
              </p:nvCxnSpPr>
              <p:spPr>
                <a:xfrm>
                  <a:off x="6784698" y="2755341"/>
                  <a:ext cx="0" cy="1125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057" name="Google Shape;1057;p52"/>
                <p:cNvCxnSpPr/>
                <p:nvPr/>
              </p:nvCxnSpPr>
              <p:spPr>
                <a:xfrm>
                  <a:off x="5966461" y="3617676"/>
                  <a:ext cx="2302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pic>
              <p:nvPicPr>
                <p:cNvPr id="1058" name="Google Shape;1058;p52"/>
                <p:cNvPicPr preferRelativeResize="0"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18811" y="2682481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059" name="Google Shape;1059;p52"/>
                <p:cNvCxnSpPr/>
                <p:nvPr/>
              </p:nvCxnSpPr>
              <p:spPr>
                <a:xfrm>
                  <a:off x="6101454" y="2950322"/>
                  <a:ext cx="1285200" cy="963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60" name="Google Shape;1060;p52"/>
              <p:cNvSpPr/>
              <p:nvPr/>
            </p:nvSpPr>
            <p:spPr>
              <a:xfrm>
                <a:off x="6475450" y="1461050"/>
                <a:ext cx="1077571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061" name="Google Shape;1061;p52" descr="z_4" title="MathEquation,#000000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6612025" y="1620725"/>
              <a:ext cx="213800" cy="183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2" name="Google Shape;1062;p52"/>
          <p:cNvSpPr txBox="1"/>
          <p:nvPr/>
        </p:nvSpPr>
        <p:spPr>
          <a:xfrm>
            <a:off x="6765900" y="1038375"/>
            <a:ext cx="2199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9999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1-D case for illustration.</a:t>
            </a:r>
            <a:endParaRPr>
              <a:solidFill>
                <a:srgbClr val="999999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9999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Generally it’s a linear hyperplane</a:t>
            </a:r>
            <a:endParaRPr>
              <a:solidFill>
                <a:srgbClr val="999999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3" name="Google Shape;1063;p52"/>
          <p:cNvSpPr/>
          <p:nvPr/>
        </p:nvSpPr>
        <p:spPr>
          <a:xfrm>
            <a:off x="5434425" y="2131425"/>
            <a:ext cx="24834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52"/>
          <p:cNvSpPr/>
          <p:nvPr/>
        </p:nvSpPr>
        <p:spPr>
          <a:xfrm>
            <a:off x="332100" y="2088975"/>
            <a:ext cx="3173100" cy="15285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5" name="Google Shape;1065;p52" descr="f(x) \geq a^\top z_3 + b" title="MathEquation,#000000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5174250" y="3906850"/>
            <a:ext cx="1786100" cy="3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0" name="Google Shape;1070;p53"/>
          <p:cNvGrpSpPr/>
          <p:nvPr/>
        </p:nvGrpSpPr>
        <p:grpSpPr>
          <a:xfrm>
            <a:off x="2952863" y="1385236"/>
            <a:ext cx="4290325" cy="1354867"/>
            <a:chOff x="2724263" y="1385236"/>
            <a:chExt cx="4290325" cy="1354867"/>
          </a:xfrm>
        </p:grpSpPr>
        <p:sp>
          <p:nvSpPr>
            <p:cNvPr id="1071" name="Google Shape;1071;p53"/>
            <p:cNvSpPr/>
            <p:nvPr/>
          </p:nvSpPr>
          <p:spPr>
            <a:xfrm>
              <a:off x="4671372" y="2267602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53"/>
            <p:cNvSpPr/>
            <p:nvPr/>
          </p:nvSpPr>
          <p:spPr>
            <a:xfrm>
              <a:off x="3240647" y="2256227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53"/>
            <p:cNvSpPr/>
            <p:nvPr/>
          </p:nvSpPr>
          <p:spPr>
            <a:xfrm>
              <a:off x="6442188" y="1385248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53"/>
            <p:cNvSpPr/>
            <p:nvPr/>
          </p:nvSpPr>
          <p:spPr>
            <a:xfrm>
              <a:off x="2724263" y="1385236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75" name="Google Shape;1075;p53"/>
            <p:cNvCxnSpPr>
              <a:stCxn id="1076" idx="0"/>
              <a:endCxn id="1077" idx="0"/>
            </p:cNvCxnSpPr>
            <p:nvPr/>
          </p:nvCxnSpPr>
          <p:spPr>
            <a:xfrm rot="5400000">
              <a:off x="4189679" y="1682275"/>
              <a:ext cx="600" cy="1415100"/>
            </a:xfrm>
            <a:prstGeom prst="curvedConnector3">
              <a:avLst>
                <a:gd name="adj1" fmla="val -39688389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078" name="Google Shape;1078;p53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079" name="Google Shape;1079;p53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080" name="Google Shape;1080;p53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67</a:t>
            </a:fld>
            <a:endParaRPr lang="en-GB"/>
          </a:p>
        </p:txBody>
      </p:sp>
      <p:sp>
        <p:nvSpPr>
          <p:cNvPr id="1081" name="Google Shape;1081;p53"/>
          <p:cNvSpPr/>
          <p:nvPr/>
        </p:nvSpPr>
        <p:spPr>
          <a:xfrm>
            <a:off x="3952200" y="1458113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2" name="Google Shape;1082;p53"/>
          <p:cNvGrpSpPr/>
          <p:nvPr/>
        </p:nvGrpSpPr>
        <p:grpSpPr>
          <a:xfrm>
            <a:off x="857675" y="1082590"/>
            <a:ext cx="2438277" cy="993310"/>
            <a:chOff x="629075" y="2301790"/>
            <a:chExt cx="2438277" cy="993310"/>
          </a:xfrm>
        </p:grpSpPr>
        <p:cxnSp>
          <p:nvCxnSpPr>
            <p:cNvPr id="1083" name="Google Shape;1083;p53"/>
            <p:cNvCxnSpPr/>
            <p:nvPr/>
          </p:nvCxnSpPr>
          <p:spPr>
            <a:xfrm>
              <a:off x="1670225" y="2301800"/>
              <a:ext cx="0" cy="99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084" name="Google Shape;1084;p53"/>
            <p:cNvCxnSpPr/>
            <p:nvPr/>
          </p:nvCxnSpPr>
          <p:spPr>
            <a:xfrm>
              <a:off x="792152" y="3049628"/>
              <a:ext cx="2275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1085" name="Google Shape;1085;p53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787819" y="2301790"/>
              <a:ext cx="283848" cy="1798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53"/>
            <p:cNvSpPr/>
            <p:nvPr/>
          </p:nvSpPr>
          <p:spPr>
            <a:xfrm>
              <a:off x="1064725" y="2443551"/>
              <a:ext cx="1817483" cy="602966"/>
            </a:xfrm>
            <a:custGeom>
              <a:avLst/>
              <a:gdLst/>
              <a:ahLst/>
              <a:cxnLst/>
              <a:rect l="l" t="t" r="r" b="b"/>
              <a:pathLst>
                <a:path w="93276" h="27561" extrusionOk="0">
                  <a:moveTo>
                    <a:pt x="0" y="0"/>
                  </a:moveTo>
                  <a:cubicBezTo>
                    <a:pt x="1955" y="2221"/>
                    <a:pt x="7552" y="11726"/>
                    <a:pt x="11727" y="13325"/>
                  </a:cubicBezTo>
                  <a:cubicBezTo>
                    <a:pt x="15902" y="14924"/>
                    <a:pt x="20788" y="8262"/>
                    <a:pt x="25052" y="9594"/>
                  </a:cubicBezTo>
                  <a:cubicBezTo>
                    <a:pt x="29316" y="10927"/>
                    <a:pt x="32781" y="20521"/>
                    <a:pt x="37311" y="21320"/>
                  </a:cubicBezTo>
                  <a:cubicBezTo>
                    <a:pt x="41842" y="22120"/>
                    <a:pt x="47882" y="13414"/>
                    <a:pt x="52235" y="14391"/>
                  </a:cubicBezTo>
                  <a:cubicBezTo>
                    <a:pt x="56588" y="15368"/>
                    <a:pt x="56588" y="25673"/>
                    <a:pt x="63428" y="27183"/>
                  </a:cubicBezTo>
                  <a:cubicBezTo>
                    <a:pt x="70268" y="28693"/>
                    <a:pt x="88301" y="24074"/>
                    <a:pt x="93276" y="23452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087" name="Google Shape;1087;p53"/>
            <p:cNvCxnSpPr/>
            <p:nvPr/>
          </p:nvCxnSpPr>
          <p:spPr>
            <a:xfrm>
              <a:off x="629075" y="2679120"/>
              <a:ext cx="2082300" cy="603000"/>
            </a:xfrm>
            <a:prstGeom prst="straightConnector1">
              <a:avLst/>
            </a:prstGeom>
            <a:noFill/>
            <a:ln w="19050" cap="flat" cmpd="sng">
              <a:solidFill>
                <a:srgbClr val="C9DAF8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088" name="Google Shape;1088;p53"/>
          <p:cNvSpPr txBox="1"/>
          <p:nvPr/>
        </p:nvSpPr>
        <p:spPr>
          <a:xfrm>
            <a:off x="2001900" y="1730075"/>
            <a:ext cx="3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?</a:t>
            </a:r>
            <a:endParaRPr>
              <a:solidFill>
                <a:srgbClr val="0000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089" name="Google Shape;1089;p53"/>
          <p:cNvSpPr txBox="1"/>
          <p:nvPr/>
        </p:nvSpPr>
        <p:spPr>
          <a:xfrm>
            <a:off x="1948975" y="3635950"/>
            <a:ext cx="49428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Propagate it to one layer before,</a:t>
            </a:r>
            <a:endParaRPr sz="180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while keeping the lower bound valid</a:t>
            </a:r>
            <a:endParaRPr sz="1800"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grpSp>
        <p:nvGrpSpPr>
          <p:cNvPr id="1090" name="Google Shape;1090;p53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091" name="Google Shape;1091;p53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092" name="Google Shape;1092;p53"/>
              <p:cNvPicPr preferRelativeResize="0"/>
              <p:nvPr/>
            </p:nvPicPr>
            <p:blipFill rotWithShape="1">
              <a:blip r:embed="rId4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3" name="Google Shape;1093;p53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094" name="Google Shape;1094;p53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095" name="Google Shape;1095;p53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096" name="Google Shape;1096;p53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7" name="Google Shape;1097;p53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098" name="Google Shape;1098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099" name="Google Shape;1099;p53"/>
                  <p:cNvCxnSpPr>
                    <a:stCxn id="1098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00" name="Google Shape;1100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01" name="Google Shape;1101;p53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02" name="Google Shape;1102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03" name="Google Shape;1103;p53"/>
                  <p:cNvCxnSpPr>
                    <a:stCxn id="1102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04" name="Google Shape;1104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05" name="Google Shape;1105;p53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06" name="Google Shape;1106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07" name="Google Shape;1107;p53"/>
                  <p:cNvCxnSpPr>
                    <a:stCxn id="1106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08" name="Google Shape;1108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109" name="Google Shape;1109;p53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110" name="Google Shape;1110;p53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11" name="Google Shape;1111;p53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12" name="Google Shape;1112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13" name="Google Shape;1113;p53"/>
                  <p:cNvCxnSpPr>
                    <a:stCxn id="1112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14" name="Google Shape;1114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15" name="Google Shape;1115;p53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16" name="Google Shape;1116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17" name="Google Shape;1117;p53"/>
                  <p:cNvCxnSpPr>
                    <a:stCxn id="1116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18" name="Google Shape;1118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19" name="Google Shape;1119;p53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20" name="Google Shape;1120;p53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21" name="Google Shape;1121;p53"/>
                  <p:cNvCxnSpPr>
                    <a:stCxn id="1120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22" name="Google Shape;1122;p53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123" name="Google Shape;1123;p53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24" name="Google Shape;1124;p53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125" name="Google Shape;1125;p53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126" name="Google Shape;1126;p53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27" name="Google Shape;1127;p53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128" name="Google Shape;1128;p53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129" name="Google Shape;1129;p53" descr="W_2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30" name="Google Shape;1130;p53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131" name="Google Shape;1131;p53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132" name="Google Shape;1132;p53" descr="W_3" title="MathEquation,#000000"/>
                <p:cNvPicPr preferRelativeResize="0"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133" name="Google Shape;1133;p53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134" name="Google Shape;1134;p53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5" name="Google Shape;1135;p53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76" name="Google Shape;1076;p53" descr="z_4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7" name="Google Shape;1077;p53" descr="z_3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6" name="Google Shape;1136;p53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3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3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139" name="Google Shape;1139;p53" descr="z_1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0" name="Google Shape;1140;p53" descr="x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1" name="Google Shape;1141;p53" descr="f(x)" title="MathEquation,#000000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142" name="Google Shape;1142;p53" descr="z_3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3136125" y="1592450"/>
            <a:ext cx="217934" cy="186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3" name="Google Shape;1143;p53"/>
          <p:cNvGrpSpPr/>
          <p:nvPr/>
        </p:nvGrpSpPr>
        <p:grpSpPr>
          <a:xfrm>
            <a:off x="5216175" y="1021396"/>
            <a:ext cx="1981532" cy="1060036"/>
            <a:chOff x="4987575" y="1021396"/>
            <a:chExt cx="1981532" cy="1060036"/>
          </a:xfrm>
        </p:grpSpPr>
        <p:grpSp>
          <p:nvGrpSpPr>
            <p:cNvPr id="1144" name="Google Shape;1144;p53"/>
            <p:cNvGrpSpPr/>
            <p:nvPr/>
          </p:nvGrpSpPr>
          <p:grpSpPr>
            <a:xfrm>
              <a:off x="4987575" y="1021396"/>
              <a:ext cx="1981532" cy="1060036"/>
              <a:chOff x="6105475" y="1308321"/>
              <a:chExt cx="1981532" cy="1060036"/>
            </a:xfrm>
          </p:grpSpPr>
          <p:grpSp>
            <p:nvGrpSpPr>
              <p:cNvPr id="1145" name="Google Shape;1145;p53"/>
              <p:cNvGrpSpPr/>
              <p:nvPr/>
            </p:nvGrpSpPr>
            <p:grpSpPr>
              <a:xfrm>
                <a:off x="6105475" y="1308321"/>
                <a:ext cx="1981532" cy="1060036"/>
                <a:chOff x="5966461" y="2682481"/>
                <a:chExt cx="2302500" cy="1231741"/>
              </a:xfrm>
            </p:grpSpPr>
            <p:cxnSp>
              <p:nvCxnSpPr>
                <p:cNvPr id="1146" name="Google Shape;1146;p53"/>
                <p:cNvCxnSpPr/>
                <p:nvPr/>
              </p:nvCxnSpPr>
              <p:spPr>
                <a:xfrm>
                  <a:off x="6784698" y="2755341"/>
                  <a:ext cx="0" cy="1125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147" name="Google Shape;1147;p53"/>
                <p:cNvCxnSpPr/>
                <p:nvPr/>
              </p:nvCxnSpPr>
              <p:spPr>
                <a:xfrm>
                  <a:off x="5966461" y="3617676"/>
                  <a:ext cx="2302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pic>
              <p:nvPicPr>
                <p:cNvPr id="1148" name="Google Shape;1148;p53"/>
                <p:cNvPicPr preferRelativeResize="0"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18811" y="2682481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149" name="Google Shape;1149;p53"/>
                <p:cNvCxnSpPr/>
                <p:nvPr/>
              </p:nvCxnSpPr>
              <p:spPr>
                <a:xfrm>
                  <a:off x="6101454" y="2950322"/>
                  <a:ext cx="1285200" cy="963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150" name="Google Shape;1150;p53"/>
              <p:cNvSpPr/>
              <p:nvPr/>
            </p:nvSpPr>
            <p:spPr>
              <a:xfrm>
                <a:off x="6475450" y="1461050"/>
                <a:ext cx="1077571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151" name="Google Shape;1151;p53" descr="z_4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6612025" y="1620725"/>
              <a:ext cx="213800" cy="183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2" name="Google Shape;1152;p53"/>
          <p:cNvSpPr/>
          <p:nvPr/>
        </p:nvSpPr>
        <p:spPr>
          <a:xfrm>
            <a:off x="359225" y="2166300"/>
            <a:ext cx="3118200" cy="15459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53"/>
          <p:cNvSpPr/>
          <p:nvPr/>
        </p:nvSpPr>
        <p:spPr>
          <a:xfrm>
            <a:off x="5427525" y="2131425"/>
            <a:ext cx="24834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54"/>
          <p:cNvGrpSpPr/>
          <p:nvPr/>
        </p:nvGrpSpPr>
        <p:grpSpPr>
          <a:xfrm>
            <a:off x="2952863" y="1385236"/>
            <a:ext cx="4290325" cy="1354867"/>
            <a:chOff x="2724263" y="1385236"/>
            <a:chExt cx="4290325" cy="1354867"/>
          </a:xfrm>
        </p:grpSpPr>
        <p:sp>
          <p:nvSpPr>
            <p:cNvPr id="1159" name="Google Shape;1159;p54"/>
            <p:cNvSpPr/>
            <p:nvPr/>
          </p:nvSpPr>
          <p:spPr>
            <a:xfrm>
              <a:off x="4671372" y="2267602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54"/>
            <p:cNvSpPr/>
            <p:nvPr/>
          </p:nvSpPr>
          <p:spPr>
            <a:xfrm>
              <a:off x="3240647" y="2256227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54"/>
            <p:cNvSpPr/>
            <p:nvPr/>
          </p:nvSpPr>
          <p:spPr>
            <a:xfrm>
              <a:off x="6442188" y="1385248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54"/>
            <p:cNvSpPr/>
            <p:nvPr/>
          </p:nvSpPr>
          <p:spPr>
            <a:xfrm>
              <a:off x="2724263" y="1385236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3" name="Google Shape;1163;p54"/>
            <p:cNvCxnSpPr>
              <a:stCxn id="1164" idx="0"/>
              <a:endCxn id="1165" idx="0"/>
            </p:cNvCxnSpPr>
            <p:nvPr/>
          </p:nvCxnSpPr>
          <p:spPr>
            <a:xfrm rot="5400000">
              <a:off x="4189679" y="1682275"/>
              <a:ext cx="600" cy="1415100"/>
            </a:xfrm>
            <a:prstGeom prst="curvedConnector3">
              <a:avLst>
                <a:gd name="adj1" fmla="val -39688389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166" name="Google Shape;1166;p5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167" name="Google Shape;1167;p54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168" name="Google Shape;1168;p54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68</a:t>
            </a:fld>
            <a:endParaRPr lang="en-GB"/>
          </a:p>
        </p:txBody>
      </p:sp>
      <p:sp>
        <p:nvSpPr>
          <p:cNvPr id="1169" name="Google Shape;1169;p54"/>
          <p:cNvSpPr/>
          <p:nvPr/>
        </p:nvSpPr>
        <p:spPr>
          <a:xfrm>
            <a:off x="3952200" y="1458113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0" name="Google Shape;1170;p54"/>
          <p:cNvGrpSpPr/>
          <p:nvPr/>
        </p:nvGrpSpPr>
        <p:grpSpPr>
          <a:xfrm>
            <a:off x="857675" y="1082590"/>
            <a:ext cx="2438277" cy="993310"/>
            <a:chOff x="629075" y="2301790"/>
            <a:chExt cx="2438277" cy="993310"/>
          </a:xfrm>
        </p:grpSpPr>
        <p:cxnSp>
          <p:nvCxnSpPr>
            <p:cNvPr id="1171" name="Google Shape;1171;p54"/>
            <p:cNvCxnSpPr/>
            <p:nvPr/>
          </p:nvCxnSpPr>
          <p:spPr>
            <a:xfrm>
              <a:off x="1670225" y="2301800"/>
              <a:ext cx="0" cy="99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172" name="Google Shape;1172;p54"/>
            <p:cNvCxnSpPr/>
            <p:nvPr/>
          </p:nvCxnSpPr>
          <p:spPr>
            <a:xfrm>
              <a:off x="792152" y="3049628"/>
              <a:ext cx="2275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1173" name="Google Shape;1173;p54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787819" y="2301790"/>
              <a:ext cx="283848" cy="1798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54"/>
            <p:cNvSpPr/>
            <p:nvPr/>
          </p:nvSpPr>
          <p:spPr>
            <a:xfrm>
              <a:off x="1064725" y="2443551"/>
              <a:ext cx="1817483" cy="602966"/>
            </a:xfrm>
            <a:custGeom>
              <a:avLst/>
              <a:gdLst/>
              <a:ahLst/>
              <a:cxnLst/>
              <a:rect l="l" t="t" r="r" b="b"/>
              <a:pathLst>
                <a:path w="93276" h="27561" extrusionOk="0">
                  <a:moveTo>
                    <a:pt x="0" y="0"/>
                  </a:moveTo>
                  <a:cubicBezTo>
                    <a:pt x="1955" y="2221"/>
                    <a:pt x="7552" y="11726"/>
                    <a:pt x="11727" y="13325"/>
                  </a:cubicBezTo>
                  <a:cubicBezTo>
                    <a:pt x="15902" y="14924"/>
                    <a:pt x="20788" y="8262"/>
                    <a:pt x="25052" y="9594"/>
                  </a:cubicBezTo>
                  <a:cubicBezTo>
                    <a:pt x="29316" y="10927"/>
                    <a:pt x="32781" y="20521"/>
                    <a:pt x="37311" y="21320"/>
                  </a:cubicBezTo>
                  <a:cubicBezTo>
                    <a:pt x="41842" y="22120"/>
                    <a:pt x="47882" y="13414"/>
                    <a:pt x="52235" y="14391"/>
                  </a:cubicBezTo>
                  <a:cubicBezTo>
                    <a:pt x="56588" y="15368"/>
                    <a:pt x="56588" y="25673"/>
                    <a:pt x="63428" y="27183"/>
                  </a:cubicBezTo>
                  <a:cubicBezTo>
                    <a:pt x="70268" y="28693"/>
                    <a:pt x="88301" y="24074"/>
                    <a:pt x="93276" y="23452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75" name="Google Shape;1175;p54"/>
            <p:cNvCxnSpPr/>
            <p:nvPr/>
          </p:nvCxnSpPr>
          <p:spPr>
            <a:xfrm>
              <a:off x="629075" y="2679120"/>
              <a:ext cx="2082300" cy="603000"/>
            </a:xfrm>
            <a:prstGeom prst="straightConnector1">
              <a:avLst/>
            </a:prstGeom>
            <a:noFill/>
            <a:ln w="19050" cap="flat" cmpd="sng">
              <a:solidFill>
                <a:srgbClr val="C9DAF8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176" name="Google Shape;1176;p54"/>
          <p:cNvSpPr txBox="1"/>
          <p:nvPr/>
        </p:nvSpPr>
        <p:spPr>
          <a:xfrm>
            <a:off x="2001900" y="1730075"/>
            <a:ext cx="3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?</a:t>
            </a:r>
            <a:endParaRPr>
              <a:solidFill>
                <a:srgbClr val="0000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1177" name="Google Shape;1177;p54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178" name="Google Shape;1178;p54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179" name="Google Shape;1179;p54"/>
              <p:cNvPicPr preferRelativeResize="0"/>
              <p:nvPr/>
            </p:nvPicPr>
            <p:blipFill rotWithShape="1">
              <a:blip r:embed="rId4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0" name="Google Shape;1180;p54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181" name="Google Shape;1181;p54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182" name="Google Shape;1182;p54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183" name="Google Shape;1183;p54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84" name="Google Shape;1184;p54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85" name="Google Shape;1185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86" name="Google Shape;1186;p54"/>
                  <p:cNvCxnSpPr>
                    <a:stCxn id="1185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87" name="Google Shape;1187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88" name="Google Shape;1188;p54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89" name="Google Shape;1189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90" name="Google Shape;1190;p54"/>
                  <p:cNvCxnSpPr>
                    <a:stCxn id="1189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91" name="Google Shape;1191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92" name="Google Shape;1192;p54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93" name="Google Shape;1193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194" name="Google Shape;1194;p54"/>
                  <p:cNvCxnSpPr>
                    <a:stCxn id="1193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95" name="Google Shape;1195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196" name="Google Shape;1196;p54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197" name="Google Shape;1197;p54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8" name="Google Shape;1198;p54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199" name="Google Shape;1199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00" name="Google Shape;1200;p54"/>
                  <p:cNvCxnSpPr>
                    <a:stCxn id="1199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01" name="Google Shape;1201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02" name="Google Shape;1202;p54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03" name="Google Shape;1203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04" name="Google Shape;1204;p54"/>
                  <p:cNvCxnSpPr>
                    <a:stCxn id="1203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05" name="Google Shape;1205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06" name="Google Shape;1206;p54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07" name="Google Shape;1207;p54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08" name="Google Shape;1208;p54"/>
                  <p:cNvCxnSpPr>
                    <a:stCxn id="1207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09" name="Google Shape;1209;p54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210" name="Google Shape;1210;p54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11" name="Google Shape;1211;p54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212" name="Google Shape;1212;p54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213" name="Google Shape;1213;p54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214" name="Google Shape;1214;p54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215" name="Google Shape;1215;p54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216" name="Google Shape;1216;p54" descr="W_2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217" name="Google Shape;1217;p54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218" name="Google Shape;1218;p54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219" name="Google Shape;1219;p54" descr="W_3" title="MathEquation,#000000"/>
                <p:cNvPicPr preferRelativeResize="0"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220" name="Google Shape;1220;p54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21" name="Google Shape;1221;p54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2" name="Google Shape;1222;p54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164" name="Google Shape;1164;p54" descr="z_4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5" name="Google Shape;1165;p54" descr="z_3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3" name="Google Shape;1223;p54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54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54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26" name="Google Shape;1226;p54" descr="z_1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27" name="Google Shape;1227;p54" descr="x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28" name="Google Shape;1228;p54" descr="f(x)" title="MathEquation,#000000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229" name="Google Shape;1229;p54" descr="z_3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3136125" y="1592450"/>
            <a:ext cx="217934" cy="186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0" name="Google Shape;1230;p54"/>
          <p:cNvGrpSpPr/>
          <p:nvPr/>
        </p:nvGrpSpPr>
        <p:grpSpPr>
          <a:xfrm>
            <a:off x="5216175" y="1021396"/>
            <a:ext cx="1981532" cy="1060036"/>
            <a:chOff x="4987575" y="1021396"/>
            <a:chExt cx="1981532" cy="1060036"/>
          </a:xfrm>
        </p:grpSpPr>
        <p:grpSp>
          <p:nvGrpSpPr>
            <p:cNvPr id="1231" name="Google Shape;1231;p54"/>
            <p:cNvGrpSpPr/>
            <p:nvPr/>
          </p:nvGrpSpPr>
          <p:grpSpPr>
            <a:xfrm>
              <a:off x="4987575" y="1021396"/>
              <a:ext cx="1981532" cy="1060036"/>
              <a:chOff x="6105475" y="1308321"/>
              <a:chExt cx="1981532" cy="1060036"/>
            </a:xfrm>
          </p:grpSpPr>
          <p:grpSp>
            <p:nvGrpSpPr>
              <p:cNvPr id="1232" name="Google Shape;1232;p54"/>
              <p:cNvGrpSpPr/>
              <p:nvPr/>
            </p:nvGrpSpPr>
            <p:grpSpPr>
              <a:xfrm>
                <a:off x="6105475" y="1308321"/>
                <a:ext cx="1981532" cy="1060036"/>
                <a:chOff x="5966461" y="2682481"/>
                <a:chExt cx="2302500" cy="1231741"/>
              </a:xfrm>
            </p:grpSpPr>
            <p:cxnSp>
              <p:nvCxnSpPr>
                <p:cNvPr id="1233" name="Google Shape;1233;p54"/>
                <p:cNvCxnSpPr/>
                <p:nvPr/>
              </p:nvCxnSpPr>
              <p:spPr>
                <a:xfrm>
                  <a:off x="6784698" y="2755341"/>
                  <a:ext cx="0" cy="1125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234" name="Google Shape;1234;p54"/>
                <p:cNvCxnSpPr/>
                <p:nvPr/>
              </p:nvCxnSpPr>
              <p:spPr>
                <a:xfrm>
                  <a:off x="5966461" y="3617676"/>
                  <a:ext cx="2302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pic>
              <p:nvPicPr>
                <p:cNvPr id="1235" name="Google Shape;1235;p54"/>
                <p:cNvPicPr preferRelativeResize="0"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18811" y="2682481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236" name="Google Shape;1236;p54"/>
                <p:cNvCxnSpPr/>
                <p:nvPr/>
              </p:nvCxnSpPr>
              <p:spPr>
                <a:xfrm>
                  <a:off x="6101454" y="2950322"/>
                  <a:ext cx="1285200" cy="963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237" name="Google Shape;1237;p54"/>
              <p:cNvSpPr/>
              <p:nvPr/>
            </p:nvSpPr>
            <p:spPr>
              <a:xfrm>
                <a:off x="6475450" y="1461050"/>
                <a:ext cx="1077571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238" name="Google Shape;1238;p54" descr="z_4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6612025" y="1620725"/>
              <a:ext cx="213800" cy="183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39" name="Google Shape;1239;p54" descr="z_3 = W_2 z_2" title="MathEquation,#000000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3965450" y="3335697"/>
            <a:ext cx="1063374" cy="23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54"/>
          <p:cNvSpPr/>
          <p:nvPr/>
        </p:nvSpPr>
        <p:spPr>
          <a:xfrm>
            <a:off x="3952200" y="3972713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1" name="Google Shape;1241;p54" descr="f(x) \geq a^\top z_3 + b" title="MathEquation,#000000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5174250" y="3906850"/>
            <a:ext cx="1786100" cy="32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54"/>
          <p:cNvSpPr/>
          <p:nvPr/>
        </p:nvSpPr>
        <p:spPr>
          <a:xfrm>
            <a:off x="333250" y="2166300"/>
            <a:ext cx="3144300" cy="15690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54"/>
          <p:cNvSpPr/>
          <p:nvPr/>
        </p:nvSpPr>
        <p:spPr>
          <a:xfrm>
            <a:off x="5427525" y="2131425"/>
            <a:ext cx="24834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8" name="Google Shape;1248;p55"/>
          <p:cNvGrpSpPr/>
          <p:nvPr/>
        </p:nvGrpSpPr>
        <p:grpSpPr>
          <a:xfrm>
            <a:off x="2952863" y="1385236"/>
            <a:ext cx="4290325" cy="1354867"/>
            <a:chOff x="2724263" y="1385236"/>
            <a:chExt cx="4290325" cy="1354867"/>
          </a:xfrm>
        </p:grpSpPr>
        <p:sp>
          <p:nvSpPr>
            <p:cNvPr id="1249" name="Google Shape;1249;p55"/>
            <p:cNvSpPr/>
            <p:nvPr/>
          </p:nvSpPr>
          <p:spPr>
            <a:xfrm>
              <a:off x="4671372" y="2267602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55"/>
            <p:cNvSpPr/>
            <p:nvPr/>
          </p:nvSpPr>
          <p:spPr>
            <a:xfrm>
              <a:off x="3240647" y="2256227"/>
              <a:ext cx="472500" cy="4725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55"/>
            <p:cNvSpPr/>
            <p:nvPr/>
          </p:nvSpPr>
          <p:spPr>
            <a:xfrm>
              <a:off x="6442188" y="1385248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55"/>
            <p:cNvSpPr/>
            <p:nvPr/>
          </p:nvSpPr>
          <p:spPr>
            <a:xfrm>
              <a:off x="2724263" y="1385236"/>
              <a:ext cx="572400" cy="572400"/>
            </a:xfrm>
            <a:prstGeom prst="ellipse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53" name="Google Shape;1253;p55"/>
            <p:cNvCxnSpPr>
              <a:stCxn id="1254" idx="0"/>
              <a:endCxn id="1255" idx="0"/>
            </p:cNvCxnSpPr>
            <p:nvPr/>
          </p:nvCxnSpPr>
          <p:spPr>
            <a:xfrm rot="5400000">
              <a:off x="4189679" y="1682275"/>
              <a:ext cx="600" cy="1415100"/>
            </a:xfrm>
            <a:prstGeom prst="curvedConnector3">
              <a:avLst>
                <a:gd name="adj1" fmla="val -39688389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256" name="Google Shape;1256;p5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257" name="Google Shape;1257;p55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258" name="Google Shape;1258;p55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69</a:t>
            </a:fld>
            <a:endParaRPr lang="en-GB"/>
          </a:p>
        </p:txBody>
      </p:sp>
      <p:sp>
        <p:nvSpPr>
          <p:cNvPr id="1259" name="Google Shape;1259;p55"/>
          <p:cNvSpPr/>
          <p:nvPr/>
        </p:nvSpPr>
        <p:spPr>
          <a:xfrm>
            <a:off x="3952200" y="1458113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0" name="Google Shape;1260;p55"/>
          <p:cNvGrpSpPr/>
          <p:nvPr/>
        </p:nvGrpSpPr>
        <p:grpSpPr>
          <a:xfrm>
            <a:off x="857675" y="1082590"/>
            <a:ext cx="2438277" cy="993310"/>
            <a:chOff x="629075" y="2301790"/>
            <a:chExt cx="2438277" cy="993310"/>
          </a:xfrm>
        </p:grpSpPr>
        <p:cxnSp>
          <p:nvCxnSpPr>
            <p:cNvPr id="1261" name="Google Shape;1261;p55"/>
            <p:cNvCxnSpPr/>
            <p:nvPr/>
          </p:nvCxnSpPr>
          <p:spPr>
            <a:xfrm>
              <a:off x="1670225" y="2301800"/>
              <a:ext cx="0" cy="99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262" name="Google Shape;1262;p55"/>
            <p:cNvCxnSpPr/>
            <p:nvPr/>
          </p:nvCxnSpPr>
          <p:spPr>
            <a:xfrm>
              <a:off x="792152" y="3049628"/>
              <a:ext cx="2275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1263" name="Google Shape;1263;p55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787819" y="2301790"/>
              <a:ext cx="283848" cy="1798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4" name="Google Shape;1264;p55"/>
            <p:cNvSpPr/>
            <p:nvPr/>
          </p:nvSpPr>
          <p:spPr>
            <a:xfrm>
              <a:off x="1064725" y="2443551"/>
              <a:ext cx="1817483" cy="602966"/>
            </a:xfrm>
            <a:custGeom>
              <a:avLst/>
              <a:gdLst/>
              <a:ahLst/>
              <a:cxnLst/>
              <a:rect l="l" t="t" r="r" b="b"/>
              <a:pathLst>
                <a:path w="93276" h="27561" extrusionOk="0">
                  <a:moveTo>
                    <a:pt x="0" y="0"/>
                  </a:moveTo>
                  <a:cubicBezTo>
                    <a:pt x="1955" y="2221"/>
                    <a:pt x="7552" y="11726"/>
                    <a:pt x="11727" y="13325"/>
                  </a:cubicBezTo>
                  <a:cubicBezTo>
                    <a:pt x="15902" y="14924"/>
                    <a:pt x="20788" y="8262"/>
                    <a:pt x="25052" y="9594"/>
                  </a:cubicBezTo>
                  <a:cubicBezTo>
                    <a:pt x="29316" y="10927"/>
                    <a:pt x="32781" y="20521"/>
                    <a:pt x="37311" y="21320"/>
                  </a:cubicBezTo>
                  <a:cubicBezTo>
                    <a:pt x="41842" y="22120"/>
                    <a:pt x="47882" y="13414"/>
                    <a:pt x="52235" y="14391"/>
                  </a:cubicBezTo>
                  <a:cubicBezTo>
                    <a:pt x="56588" y="15368"/>
                    <a:pt x="56588" y="25673"/>
                    <a:pt x="63428" y="27183"/>
                  </a:cubicBezTo>
                  <a:cubicBezTo>
                    <a:pt x="70268" y="28693"/>
                    <a:pt x="88301" y="24074"/>
                    <a:pt x="93276" y="23452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265" name="Google Shape;1265;p55"/>
            <p:cNvCxnSpPr/>
            <p:nvPr/>
          </p:nvCxnSpPr>
          <p:spPr>
            <a:xfrm>
              <a:off x="629075" y="2679120"/>
              <a:ext cx="2082300" cy="6030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66" name="Google Shape;1266;p55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267" name="Google Shape;1267;p55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268" name="Google Shape;1268;p55"/>
              <p:cNvPicPr preferRelativeResize="0"/>
              <p:nvPr/>
            </p:nvPicPr>
            <p:blipFill rotWithShape="1">
              <a:blip r:embed="rId4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9" name="Google Shape;1269;p55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270" name="Google Shape;1270;p55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271" name="Google Shape;1271;p55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272" name="Google Shape;1272;p55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73" name="Google Shape;1273;p55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74" name="Google Shape;1274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75" name="Google Shape;1275;p55"/>
                  <p:cNvCxnSpPr>
                    <a:stCxn id="1274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76" name="Google Shape;1276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77" name="Google Shape;1277;p55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78" name="Google Shape;1278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79" name="Google Shape;1279;p55"/>
                  <p:cNvCxnSpPr>
                    <a:stCxn id="1278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80" name="Google Shape;1280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81" name="Google Shape;1281;p55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82" name="Google Shape;1282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83" name="Google Shape;1283;p55"/>
                  <p:cNvCxnSpPr>
                    <a:stCxn id="1282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84" name="Google Shape;1284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285" name="Google Shape;1285;p55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286" name="Google Shape;1286;p55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87" name="Google Shape;1287;p55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88" name="Google Shape;1288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89" name="Google Shape;1289;p55"/>
                  <p:cNvCxnSpPr>
                    <a:stCxn id="1288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90" name="Google Shape;1290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91" name="Google Shape;1291;p55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92" name="Google Shape;1292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93" name="Google Shape;1293;p55"/>
                  <p:cNvCxnSpPr>
                    <a:stCxn id="1292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94" name="Google Shape;1294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95" name="Google Shape;1295;p55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296" name="Google Shape;1296;p55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297" name="Google Shape;1297;p55"/>
                  <p:cNvCxnSpPr>
                    <a:stCxn id="1296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98" name="Google Shape;1298;p55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299" name="Google Shape;1299;p55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00" name="Google Shape;1300;p55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301" name="Google Shape;1301;p55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02" name="Google Shape;1302;p55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03" name="Google Shape;1303;p55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304" name="Google Shape;1304;p55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05" name="Google Shape;1305;p55" descr="W_2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06" name="Google Shape;1306;p55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307" name="Google Shape;1307;p55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08" name="Google Shape;1308;p55" descr="W_3" title="MathEquation,#000000"/>
                <p:cNvPicPr preferRelativeResize="0"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309" name="Google Shape;1309;p55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10" name="Google Shape;1310;p55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1" name="Google Shape;1311;p55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54" name="Google Shape;1254;p55" descr="z_4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55" name="Google Shape;1255;p55" descr="z_3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2" name="Google Shape;1312;p55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55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55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15" name="Google Shape;1315;p55" descr="z_1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16" name="Google Shape;1316;p55" descr="x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17" name="Google Shape;1317;p55" descr="f(x)" title="MathEquation,#000000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318" name="Google Shape;1318;p55" descr="z_3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3136125" y="1592450"/>
            <a:ext cx="217934" cy="186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9" name="Google Shape;1319;p55"/>
          <p:cNvGrpSpPr/>
          <p:nvPr/>
        </p:nvGrpSpPr>
        <p:grpSpPr>
          <a:xfrm>
            <a:off x="5216175" y="1021396"/>
            <a:ext cx="1981532" cy="1060036"/>
            <a:chOff x="4987575" y="1021396"/>
            <a:chExt cx="1981532" cy="1060036"/>
          </a:xfrm>
        </p:grpSpPr>
        <p:grpSp>
          <p:nvGrpSpPr>
            <p:cNvPr id="1320" name="Google Shape;1320;p55"/>
            <p:cNvGrpSpPr/>
            <p:nvPr/>
          </p:nvGrpSpPr>
          <p:grpSpPr>
            <a:xfrm>
              <a:off x="4987575" y="1021396"/>
              <a:ext cx="1981532" cy="1060036"/>
              <a:chOff x="6105475" y="1308321"/>
              <a:chExt cx="1981532" cy="1060036"/>
            </a:xfrm>
          </p:grpSpPr>
          <p:grpSp>
            <p:nvGrpSpPr>
              <p:cNvPr id="1321" name="Google Shape;1321;p55"/>
              <p:cNvGrpSpPr/>
              <p:nvPr/>
            </p:nvGrpSpPr>
            <p:grpSpPr>
              <a:xfrm>
                <a:off x="6105475" y="1308321"/>
                <a:ext cx="1981532" cy="1060036"/>
                <a:chOff x="5966461" y="2682481"/>
                <a:chExt cx="2302500" cy="1231741"/>
              </a:xfrm>
            </p:grpSpPr>
            <p:cxnSp>
              <p:nvCxnSpPr>
                <p:cNvPr id="1322" name="Google Shape;1322;p55"/>
                <p:cNvCxnSpPr/>
                <p:nvPr/>
              </p:nvCxnSpPr>
              <p:spPr>
                <a:xfrm>
                  <a:off x="6784698" y="2755341"/>
                  <a:ext cx="0" cy="1125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323" name="Google Shape;1323;p55"/>
                <p:cNvCxnSpPr/>
                <p:nvPr/>
              </p:nvCxnSpPr>
              <p:spPr>
                <a:xfrm>
                  <a:off x="5966461" y="3617676"/>
                  <a:ext cx="2302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pic>
              <p:nvPicPr>
                <p:cNvPr id="1324" name="Google Shape;1324;p55"/>
                <p:cNvPicPr preferRelativeResize="0"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18811" y="2682481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325" name="Google Shape;1325;p55"/>
                <p:cNvCxnSpPr/>
                <p:nvPr/>
              </p:nvCxnSpPr>
              <p:spPr>
                <a:xfrm>
                  <a:off x="6101454" y="2950322"/>
                  <a:ext cx="1285200" cy="963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326" name="Google Shape;1326;p55"/>
              <p:cNvSpPr/>
              <p:nvPr/>
            </p:nvSpPr>
            <p:spPr>
              <a:xfrm>
                <a:off x="6475450" y="1461050"/>
                <a:ext cx="1077571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327" name="Google Shape;1327;p55" descr="z_4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6612025" y="1620725"/>
              <a:ext cx="213800" cy="1830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28" name="Google Shape;1328;p55" descr="z_3 = W_2 z_2" title="MathEquation,#000000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3965450" y="3335697"/>
            <a:ext cx="1063374" cy="239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9" name="Google Shape;1329;p55"/>
          <p:cNvGrpSpPr/>
          <p:nvPr/>
        </p:nvGrpSpPr>
        <p:grpSpPr>
          <a:xfrm>
            <a:off x="2415150" y="3893675"/>
            <a:ext cx="3890049" cy="769400"/>
            <a:chOff x="2415150" y="3893675"/>
            <a:chExt cx="3890049" cy="769400"/>
          </a:xfrm>
        </p:grpSpPr>
        <p:sp>
          <p:nvSpPr>
            <p:cNvPr id="1330" name="Google Shape;1330;p55"/>
            <p:cNvSpPr/>
            <p:nvPr/>
          </p:nvSpPr>
          <p:spPr>
            <a:xfrm>
              <a:off x="5967998" y="3893675"/>
              <a:ext cx="337200" cy="3432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55"/>
            <p:cNvSpPr/>
            <p:nvPr/>
          </p:nvSpPr>
          <p:spPr>
            <a:xfrm>
              <a:off x="2415150" y="3894425"/>
              <a:ext cx="720900" cy="3432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55"/>
            <p:cNvSpPr txBox="1"/>
            <p:nvPr/>
          </p:nvSpPr>
          <p:spPr>
            <a:xfrm>
              <a:off x="2905500" y="4262875"/>
              <a:ext cx="3333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Inequality updated after propagation</a:t>
              </a:r>
              <a:endParaRPr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sp>
        <p:nvSpPr>
          <p:cNvPr id="1333" name="Google Shape;1333;p55"/>
          <p:cNvSpPr/>
          <p:nvPr/>
        </p:nvSpPr>
        <p:spPr>
          <a:xfrm>
            <a:off x="3952200" y="3972713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4" name="Google Shape;1334;p55" descr="f(x) \geq a^\top z_3 + b" title="MathEquation,#000000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5174250" y="3906850"/>
            <a:ext cx="1786100" cy="32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5" name="Google Shape;1335;p55" descr="f(x) \geq a^\top W_2 z_2 + b" title="MathEquation,#000000"/>
          <p:cNvPicPr preferRelativeResize="0"/>
          <p:nvPr/>
        </p:nvPicPr>
        <p:blipFill>
          <a:blip r:embed="rId16"/>
          <a:stretch>
            <a:fillRect/>
          </a:stretch>
        </p:blipFill>
        <p:spPr>
          <a:xfrm>
            <a:off x="1629150" y="3925525"/>
            <a:ext cx="2140496" cy="323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6" name="Google Shape;1336;p55"/>
          <p:cNvCxnSpPr>
            <a:endCxn id="1328" idx="3"/>
          </p:cNvCxnSpPr>
          <p:nvPr/>
        </p:nvCxnSpPr>
        <p:spPr>
          <a:xfrm rot="10800000">
            <a:off x="5028824" y="3455335"/>
            <a:ext cx="1404300" cy="50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7" name="Google Shape;1337;p55"/>
          <p:cNvCxnSpPr>
            <a:stCxn id="1328" idx="1"/>
          </p:cNvCxnSpPr>
          <p:nvPr/>
        </p:nvCxnSpPr>
        <p:spPr>
          <a:xfrm flipH="1">
            <a:off x="3245450" y="3455335"/>
            <a:ext cx="720000" cy="529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8" name="Google Shape;1338;p55"/>
          <p:cNvSpPr/>
          <p:nvPr/>
        </p:nvSpPr>
        <p:spPr>
          <a:xfrm>
            <a:off x="318750" y="2090100"/>
            <a:ext cx="3158700" cy="15588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55"/>
          <p:cNvSpPr/>
          <p:nvPr/>
        </p:nvSpPr>
        <p:spPr>
          <a:xfrm>
            <a:off x="5427525" y="2131425"/>
            <a:ext cx="24834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56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345" name="Google Shape;1345;p56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346" name="Google Shape;1346;p56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70</a:t>
            </a:fld>
            <a:endParaRPr lang="en-GB"/>
          </a:p>
        </p:txBody>
      </p:sp>
      <p:grpSp>
        <p:nvGrpSpPr>
          <p:cNvPr id="1347" name="Google Shape;1347;p56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348" name="Google Shape;1348;p56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349" name="Google Shape;1349;p56"/>
              <p:cNvPicPr preferRelativeResize="0"/>
              <p:nvPr/>
            </p:nvPicPr>
            <p:blipFill rotWithShape="1">
              <a:blip r:embed="rId3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0" name="Google Shape;1350;p56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351" name="Google Shape;1351;p56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352" name="Google Shape;1352;p56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353" name="Google Shape;1353;p56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54" name="Google Shape;1354;p56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55" name="Google Shape;1355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56" name="Google Shape;1356;p56"/>
                  <p:cNvCxnSpPr>
                    <a:stCxn id="1355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57" name="Google Shape;1357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58" name="Google Shape;1358;p56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59" name="Google Shape;1359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60" name="Google Shape;1360;p56"/>
                  <p:cNvCxnSpPr>
                    <a:stCxn id="1359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61" name="Google Shape;1361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62" name="Google Shape;1362;p56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63" name="Google Shape;1363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64" name="Google Shape;1364;p56"/>
                  <p:cNvCxnSpPr>
                    <a:stCxn id="1363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65" name="Google Shape;1365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366" name="Google Shape;1366;p56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367" name="Google Shape;1367;p56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68" name="Google Shape;1368;p56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69" name="Google Shape;1369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70" name="Google Shape;1370;p56"/>
                  <p:cNvCxnSpPr>
                    <a:stCxn id="1369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1" name="Google Shape;1371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72" name="Google Shape;1372;p56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73" name="Google Shape;1373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74" name="Google Shape;1374;p56"/>
                  <p:cNvCxnSpPr>
                    <a:stCxn id="1373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5" name="Google Shape;1375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76" name="Google Shape;1376;p56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377" name="Google Shape;1377;p56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378" name="Google Shape;1378;p56"/>
                  <p:cNvCxnSpPr>
                    <a:stCxn id="1377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9" name="Google Shape;1379;p56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380" name="Google Shape;1380;p56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1" name="Google Shape;1381;p56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382" name="Google Shape;1382;p56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83" name="Google Shape;1383;p56"/>
                <p:cNvPicPr preferRelativeResize="0"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84" name="Google Shape;1384;p56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385" name="Google Shape;1385;p56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86" name="Google Shape;1386;p56" descr="W_2" title="MathEquation,#000000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387" name="Google Shape;1387;p56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388" name="Google Shape;1388;p56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389" name="Google Shape;1389;p56" descr="W_3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390" name="Google Shape;1390;p56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91" name="Google Shape;1391;p56" descr="z_4" title="MathEquation,#000000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2" name="Google Shape;1392;p56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93" name="Google Shape;1393;p56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4" name="Google Shape;1394;p56" descr="z_3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5" name="Google Shape;1395;p56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56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56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98" name="Google Shape;1398;p56" descr="z_1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9" name="Google Shape;1399;p56" descr="x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00" name="Google Shape;1400;p56" descr="f(x)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01" name="Google Shape;1401;p56"/>
          <p:cNvGrpSpPr/>
          <p:nvPr/>
        </p:nvGrpSpPr>
        <p:grpSpPr>
          <a:xfrm>
            <a:off x="3905675" y="1082590"/>
            <a:ext cx="2496384" cy="993310"/>
            <a:chOff x="857675" y="1082590"/>
            <a:chExt cx="2496384" cy="993310"/>
          </a:xfrm>
        </p:grpSpPr>
        <p:grpSp>
          <p:nvGrpSpPr>
            <p:cNvPr id="1402" name="Google Shape;1402;p56"/>
            <p:cNvGrpSpPr/>
            <p:nvPr/>
          </p:nvGrpSpPr>
          <p:grpSpPr>
            <a:xfrm>
              <a:off x="857675" y="1082590"/>
              <a:ext cx="2438277" cy="993310"/>
              <a:chOff x="629075" y="2301790"/>
              <a:chExt cx="2438277" cy="993310"/>
            </a:xfrm>
          </p:grpSpPr>
          <p:cxnSp>
            <p:nvCxnSpPr>
              <p:cNvPr id="1403" name="Google Shape;1403;p56"/>
              <p:cNvCxnSpPr/>
              <p:nvPr/>
            </p:nvCxnSpPr>
            <p:spPr>
              <a:xfrm>
                <a:off x="1670225" y="2301800"/>
                <a:ext cx="0" cy="993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404" name="Google Shape;1404;p56"/>
              <p:cNvCxnSpPr/>
              <p:nvPr/>
            </p:nvCxnSpPr>
            <p:spPr>
              <a:xfrm>
                <a:off x="792152" y="3049628"/>
                <a:ext cx="2275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405" name="Google Shape;1405;p56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87819" y="2301790"/>
                <a:ext cx="283848" cy="1798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06" name="Google Shape;1406;p56"/>
              <p:cNvSpPr/>
              <p:nvPr/>
            </p:nvSpPr>
            <p:spPr>
              <a:xfrm>
                <a:off x="1064725" y="2443551"/>
                <a:ext cx="1817483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407" name="Google Shape;1407;p56"/>
              <p:cNvCxnSpPr/>
              <p:nvPr/>
            </p:nvCxnSpPr>
            <p:spPr>
              <a:xfrm>
                <a:off x="629075" y="2679120"/>
                <a:ext cx="2082300" cy="603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1408" name="Google Shape;1408;p56" descr="z_3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3136125" y="1592450"/>
              <a:ext cx="217934" cy="186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9" name="Google Shape;1409;p56"/>
          <p:cNvSpPr/>
          <p:nvPr/>
        </p:nvSpPr>
        <p:spPr>
          <a:xfrm>
            <a:off x="347725" y="2242500"/>
            <a:ext cx="20748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56"/>
          <p:cNvSpPr/>
          <p:nvPr/>
        </p:nvSpPr>
        <p:spPr>
          <a:xfrm>
            <a:off x="4027875" y="2131425"/>
            <a:ext cx="38829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56"/>
          <p:cNvSpPr/>
          <p:nvPr/>
        </p:nvSpPr>
        <p:spPr>
          <a:xfrm>
            <a:off x="2730150" y="1485938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2" name="Google Shape;1412;p56"/>
          <p:cNvGrpSpPr/>
          <p:nvPr/>
        </p:nvGrpSpPr>
        <p:grpSpPr>
          <a:xfrm>
            <a:off x="419800" y="1000196"/>
            <a:ext cx="1981532" cy="1224828"/>
            <a:chOff x="466675" y="1079721"/>
            <a:chExt cx="1981532" cy="1224828"/>
          </a:xfrm>
        </p:grpSpPr>
        <p:grpSp>
          <p:nvGrpSpPr>
            <p:cNvPr id="1413" name="Google Shape;1413;p56"/>
            <p:cNvGrpSpPr/>
            <p:nvPr/>
          </p:nvGrpSpPr>
          <p:grpSpPr>
            <a:xfrm>
              <a:off x="466675" y="1079721"/>
              <a:ext cx="1981532" cy="1224828"/>
              <a:chOff x="5966461" y="2682481"/>
              <a:chExt cx="2302500" cy="1423226"/>
            </a:xfrm>
          </p:grpSpPr>
          <p:cxnSp>
            <p:nvCxnSpPr>
              <p:cNvPr id="1414" name="Google Shape;1414;p56"/>
              <p:cNvCxnSpPr/>
              <p:nvPr/>
            </p:nvCxnSpPr>
            <p:spPr>
              <a:xfrm>
                <a:off x="6784698" y="2755341"/>
                <a:ext cx="0" cy="1125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415" name="Google Shape;1415;p56"/>
              <p:cNvCxnSpPr/>
              <p:nvPr/>
            </p:nvCxnSpPr>
            <p:spPr>
              <a:xfrm>
                <a:off x="5966461" y="3617676"/>
                <a:ext cx="2302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416" name="Google Shape;1416;p56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18811" y="2682481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417" name="Google Shape;1417;p56"/>
              <p:cNvCxnSpPr/>
              <p:nvPr/>
            </p:nvCxnSpPr>
            <p:spPr>
              <a:xfrm>
                <a:off x="6077633" y="3321807"/>
                <a:ext cx="1575300" cy="78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9DAF8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418" name="Google Shape;1418;p56"/>
            <p:cNvSpPr/>
            <p:nvPr/>
          </p:nvSpPr>
          <p:spPr>
            <a:xfrm>
              <a:off x="562355" y="1553450"/>
              <a:ext cx="1699246" cy="310800"/>
            </a:xfrm>
            <a:custGeom>
              <a:avLst/>
              <a:gdLst/>
              <a:ahLst/>
              <a:cxnLst/>
              <a:rect l="l" t="t" r="r" b="b"/>
              <a:pathLst>
                <a:path w="49447" h="12432" extrusionOk="0">
                  <a:moveTo>
                    <a:pt x="0" y="126"/>
                  </a:moveTo>
                  <a:cubicBezTo>
                    <a:pt x="1961" y="112"/>
                    <a:pt x="8485" y="-83"/>
                    <a:pt x="11763" y="41"/>
                  </a:cubicBezTo>
                  <a:cubicBezTo>
                    <a:pt x="15041" y="165"/>
                    <a:pt x="17699" y="-296"/>
                    <a:pt x="19669" y="870"/>
                  </a:cubicBezTo>
                  <a:cubicBezTo>
                    <a:pt x="21639" y="2036"/>
                    <a:pt x="21783" y="7020"/>
                    <a:pt x="23585" y="7037"/>
                  </a:cubicBezTo>
                  <a:cubicBezTo>
                    <a:pt x="25387" y="7054"/>
                    <a:pt x="28471" y="119"/>
                    <a:pt x="30482" y="974"/>
                  </a:cubicBezTo>
                  <a:cubicBezTo>
                    <a:pt x="32494" y="1829"/>
                    <a:pt x="32493" y="10847"/>
                    <a:pt x="35654" y="12168"/>
                  </a:cubicBezTo>
                  <a:cubicBezTo>
                    <a:pt x="38815" y="13490"/>
                    <a:pt x="47148" y="9447"/>
                    <a:pt x="49447" y="8903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19" name="Google Shape;1419;p56"/>
          <p:cNvSpPr txBox="1"/>
          <p:nvPr/>
        </p:nvSpPr>
        <p:spPr>
          <a:xfrm>
            <a:off x="1241963" y="1915100"/>
            <a:ext cx="3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?</a:t>
            </a:r>
            <a:endParaRPr>
              <a:solidFill>
                <a:srgbClr val="0000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cxnSp>
        <p:nvCxnSpPr>
          <p:cNvPr id="1420" name="Google Shape;1420;p56"/>
          <p:cNvCxnSpPr/>
          <p:nvPr/>
        </p:nvCxnSpPr>
        <p:spPr>
          <a:xfrm>
            <a:off x="3200864" y="3705840"/>
            <a:ext cx="7800" cy="81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421" name="Google Shape;1421;p56"/>
          <p:cNvCxnSpPr/>
          <p:nvPr/>
        </p:nvCxnSpPr>
        <p:spPr>
          <a:xfrm rot="10800000" flipH="1">
            <a:off x="2521352" y="4177057"/>
            <a:ext cx="14571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2" name="Google Shape;1422;p56"/>
          <p:cNvCxnSpPr/>
          <p:nvPr/>
        </p:nvCxnSpPr>
        <p:spPr>
          <a:xfrm rot="10800000" flipH="1">
            <a:off x="3208562" y="3792049"/>
            <a:ext cx="449400" cy="38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3" name="Google Shape;1423;p56"/>
          <p:cNvCxnSpPr/>
          <p:nvPr/>
        </p:nvCxnSpPr>
        <p:spPr>
          <a:xfrm>
            <a:off x="2639800" y="4178227"/>
            <a:ext cx="570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4" name="Google Shape;1424;p56"/>
          <p:cNvSpPr txBox="1"/>
          <p:nvPr/>
        </p:nvSpPr>
        <p:spPr>
          <a:xfrm>
            <a:off x="4085707" y="3789000"/>
            <a:ext cx="432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ReLU is NOT a simple linear function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pic>
        <p:nvPicPr>
          <p:cNvPr id="1425" name="Google Shape;1425;p56" descr="z_1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2160324" y="1513348"/>
            <a:ext cx="205274" cy="1757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6" name="Google Shape;1426;p56"/>
          <p:cNvCxnSpPr>
            <a:stCxn id="1394" idx="0"/>
            <a:endCxn id="1398" idx="0"/>
          </p:cNvCxnSpPr>
          <p:nvPr/>
        </p:nvCxnSpPr>
        <p:spPr>
          <a:xfrm rot="5400000">
            <a:off x="3174511" y="1853570"/>
            <a:ext cx="600" cy="1072500"/>
          </a:xfrm>
          <a:prstGeom prst="curvedConnector3">
            <a:avLst>
              <a:gd name="adj1" fmla="val -396875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57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432" name="Google Shape;1432;p57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433" name="Google Shape;1433;p57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71</a:t>
            </a:fld>
            <a:endParaRPr lang="en-GB"/>
          </a:p>
        </p:txBody>
      </p:sp>
      <p:grpSp>
        <p:nvGrpSpPr>
          <p:cNvPr id="1434" name="Google Shape;1434;p57"/>
          <p:cNvGrpSpPr/>
          <p:nvPr/>
        </p:nvGrpSpPr>
        <p:grpSpPr>
          <a:xfrm>
            <a:off x="419804" y="2191610"/>
            <a:ext cx="8154673" cy="1383371"/>
            <a:chOff x="419804" y="2648810"/>
            <a:chExt cx="8154673" cy="1383371"/>
          </a:xfrm>
        </p:grpSpPr>
        <p:grpSp>
          <p:nvGrpSpPr>
            <p:cNvPr id="1435" name="Google Shape;1435;p57"/>
            <p:cNvGrpSpPr/>
            <p:nvPr/>
          </p:nvGrpSpPr>
          <p:grpSpPr>
            <a:xfrm>
              <a:off x="419804" y="3039624"/>
              <a:ext cx="599693" cy="601742"/>
              <a:chOff x="2708099" y="2963363"/>
              <a:chExt cx="1021798" cy="1025289"/>
            </a:xfrm>
          </p:grpSpPr>
          <p:pic>
            <p:nvPicPr>
              <p:cNvPr id="1436" name="Google Shape;1436;p57"/>
              <p:cNvPicPr preferRelativeResize="0"/>
              <p:nvPr/>
            </p:nvPicPr>
            <p:blipFill rotWithShape="1">
              <a:blip r:embed="rId3"/>
              <a:srcRect l="14039" t="9153" r="55651" b="45213"/>
              <a:stretch>
                <a:fillRect/>
              </a:stretch>
            </p:blipFill>
            <p:spPr>
              <a:xfrm>
                <a:off x="2708099" y="2963363"/>
                <a:ext cx="1021798" cy="10252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7" name="Google Shape;1437;p57"/>
              <p:cNvSpPr/>
              <p:nvPr/>
            </p:nvSpPr>
            <p:spPr>
              <a:xfrm>
                <a:off x="3130675" y="3637138"/>
                <a:ext cx="288000" cy="142200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4A86E8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00FF00"/>
                  </a:solidFill>
                </a:endParaRPr>
              </a:p>
            </p:txBody>
          </p:sp>
        </p:grpSp>
        <p:grpSp>
          <p:nvGrpSpPr>
            <p:cNvPr id="1438" name="Google Shape;1438;p57"/>
            <p:cNvGrpSpPr/>
            <p:nvPr/>
          </p:nvGrpSpPr>
          <p:grpSpPr>
            <a:xfrm>
              <a:off x="1133326" y="2648810"/>
              <a:ext cx="7441152" cy="1383371"/>
              <a:chOff x="673858" y="1657897"/>
              <a:chExt cx="8272542" cy="1537933"/>
            </a:xfrm>
          </p:grpSpPr>
          <p:grpSp>
            <p:nvGrpSpPr>
              <p:cNvPr id="1439" name="Google Shape;1439;p57"/>
              <p:cNvGrpSpPr/>
              <p:nvPr/>
            </p:nvGrpSpPr>
            <p:grpSpPr>
              <a:xfrm>
                <a:off x="2743321" y="1657897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440" name="Google Shape;1440;p57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441" name="Google Shape;1441;p57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42" name="Google Shape;1442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43" name="Google Shape;1443;p57"/>
                  <p:cNvCxnSpPr>
                    <a:stCxn id="1442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44" name="Google Shape;1444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445" name="Google Shape;1445;p57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46" name="Google Shape;1446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47" name="Google Shape;1447;p57"/>
                  <p:cNvCxnSpPr>
                    <a:stCxn id="1446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48" name="Google Shape;1448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449" name="Google Shape;1449;p57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50" name="Google Shape;1450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51" name="Google Shape;1451;p57"/>
                  <p:cNvCxnSpPr>
                    <a:stCxn id="1450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52" name="Google Shape;1452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453" name="Google Shape;1453;p57"/>
              <p:cNvGrpSpPr/>
              <p:nvPr/>
            </p:nvGrpSpPr>
            <p:grpSpPr>
              <a:xfrm>
                <a:off x="5500094" y="1668989"/>
                <a:ext cx="497753" cy="1526841"/>
                <a:chOff x="2935225" y="1755650"/>
                <a:chExt cx="617100" cy="1892700"/>
              </a:xfrm>
            </p:grpSpPr>
            <p:sp>
              <p:nvSpPr>
                <p:cNvPr id="1454" name="Google Shape;1454;p57"/>
                <p:cNvSpPr/>
                <p:nvPr/>
              </p:nvSpPr>
              <p:spPr>
                <a:xfrm>
                  <a:off x="2935225" y="1755650"/>
                  <a:ext cx="617100" cy="1892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5C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455" name="Google Shape;1455;p57"/>
                <p:cNvGrpSpPr/>
                <p:nvPr/>
              </p:nvGrpSpPr>
              <p:grpSpPr>
                <a:xfrm>
                  <a:off x="3051944" y="186529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56" name="Google Shape;1456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57" name="Google Shape;1457;p57"/>
                  <p:cNvCxnSpPr>
                    <a:stCxn id="1456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58" name="Google Shape;1458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459" name="Google Shape;1459;p57"/>
                <p:cNvGrpSpPr/>
                <p:nvPr/>
              </p:nvGrpSpPr>
              <p:grpSpPr>
                <a:xfrm>
                  <a:off x="3051944" y="2470316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60" name="Google Shape;1460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61" name="Google Shape;1461;p57"/>
                  <p:cNvCxnSpPr>
                    <a:stCxn id="1460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62" name="Google Shape;1462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463" name="Google Shape;1463;p57"/>
                <p:cNvGrpSpPr/>
                <p:nvPr/>
              </p:nvGrpSpPr>
              <p:grpSpPr>
                <a:xfrm>
                  <a:off x="3051944" y="3075341"/>
                  <a:ext cx="411361" cy="411361"/>
                  <a:chOff x="4869175" y="1865375"/>
                  <a:chExt cx="2537700" cy="2537700"/>
                </a:xfrm>
              </p:grpSpPr>
              <p:sp>
                <p:nvSpPr>
                  <p:cNvPr id="1464" name="Google Shape;1464;p57"/>
                  <p:cNvSpPr/>
                  <p:nvPr/>
                </p:nvSpPr>
                <p:spPr>
                  <a:xfrm>
                    <a:off x="4869175" y="1865375"/>
                    <a:ext cx="2537700" cy="2537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rgbClr val="999999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1465" name="Google Shape;1465;p57"/>
                  <p:cNvCxnSpPr>
                    <a:stCxn id="1464" idx="2"/>
                  </p:cNvCxnSpPr>
                  <p:nvPr/>
                </p:nvCxnSpPr>
                <p:spPr>
                  <a:xfrm>
                    <a:off x="4869175" y="3134225"/>
                    <a:ext cx="1234500" cy="342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466" name="Google Shape;1466;p57"/>
                  <p:cNvCxnSpPr/>
                  <p:nvPr/>
                </p:nvCxnSpPr>
                <p:spPr>
                  <a:xfrm rot="10800000" flipH="1">
                    <a:off x="6103625" y="2236900"/>
                    <a:ext cx="931500" cy="9315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467" name="Google Shape;1467;p57"/>
              <p:cNvSpPr/>
              <p:nvPr/>
            </p:nvSpPr>
            <p:spPr>
              <a:xfrm>
                <a:off x="7639270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68" name="Google Shape;1468;p57"/>
              <p:cNvGrpSpPr/>
              <p:nvPr/>
            </p:nvGrpSpPr>
            <p:grpSpPr>
              <a:xfrm>
                <a:off x="1220447" y="2078349"/>
                <a:ext cx="885163" cy="708121"/>
                <a:chOff x="1591075" y="1810500"/>
                <a:chExt cx="1097400" cy="877800"/>
              </a:xfrm>
            </p:grpSpPr>
            <p:sp>
              <p:nvSpPr>
                <p:cNvPr id="1469" name="Google Shape;1469;p57"/>
                <p:cNvSpPr/>
                <p:nvPr/>
              </p:nvSpPr>
              <p:spPr>
                <a:xfrm>
                  <a:off x="1591075" y="1810500"/>
                  <a:ext cx="1097400" cy="8778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470" name="Google Shape;1470;p57"/>
                <p:cNvPicPr preferRelativeResize="0"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99750" y="2073000"/>
                  <a:ext cx="480050" cy="3528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71" name="Google Shape;1471;p57"/>
              <p:cNvGrpSpPr/>
              <p:nvPr/>
            </p:nvGrpSpPr>
            <p:grpSpPr>
              <a:xfrm>
                <a:off x="3937528" y="2039554"/>
                <a:ext cx="885163" cy="763542"/>
                <a:chOff x="4218325" y="1741925"/>
                <a:chExt cx="1097400" cy="946500"/>
              </a:xfrm>
            </p:grpSpPr>
            <p:sp>
              <p:nvSpPr>
                <p:cNvPr id="1472" name="Google Shape;1472;p57"/>
                <p:cNvSpPr/>
                <p:nvPr/>
              </p:nvSpPr>
              <p:spPr>
                <a:xfrm>
                  <a:off x="4218325" y="1741925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473" name="Google Shape;1473;p57" descr="W_2" title="MathEquation,#000000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6025" y="2073000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474" name="Google Shape;1474;p57"/>
              <p:cNvGrpSpPr/>
              <p:nvPr/>
            </p:nvGrpSpPr>
            <p:grpSpPr>
              <a:xfrm>
                <a:off x="6675247" y="2050639"/>
                <a:ext cx="885163" cy="763542"/>
                <a:chOff x="7416274" y="1776150"/>
                <a:chExt cx="1097400" cy="946500"/>
              </a:xfrm>
            </p:grpSpPr>
            <p:sp>
              <p:nvSpPr>
                <p:cNvPr id="1475" name="Google Shape;1475;p57"/>
                <p:cNvSpPr/>
                <p:nvPr/>
              </p:nvSpPr>
              <p:spPr>
                <a:xfrm>
                  <a:off x="7416274" y="1776150"/>
                  <a:ext cx="1097400" cy="9465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476" name="Google Shape;1476;p57" descr="W_3" title="MathEquation,#000000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2699" y="2072988"/>
                  <a:ext cx="480050" cy="35283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477" name="Google Shape;1477;p57"/>
              <p:cNvSpPr/>
              <p:nvPr/>
            </p:nvSpPr>
            <p:spPr>
              <a:xfrm>
                <a:off x="6063245" y="2183550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478" name="Google Shape;1478;p57" descr="z_4" title="MathEquation,#000000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41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9" name="Google Shape;1479;p57"/>
              <p:cNvSpPr/>
              <p:nvPr/>
            </p:nvSpPr>
            <p:spPr>
              <a:xfrm>
                <a:off x="488810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480" name="Google Shape;1480;p57" descr="z_4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73050" y="1877925"/>
                <a:ext cx="279444" cy="23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81" name="Google Shape;1481;p57" descr="z_3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9987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2" name="Google Shape;1482;p57"/>
              <p:cNvSpPr/>
              <p:nvPr/>
            </p:nvSpPr>
            <p:spPr>
              <a:xfrm>
                <a:off x="3325533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57"/>
              <p:cNvSpPr/>
              <p:nvPr/>
            </p:nvSpPr>
            <p:spPr>
              <a:xfrm>
                <a:off x="2151158" y="21835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57"/>
              <p:cNvSpPr/>
              <p:nvPr/>
            </p:nvSpPr>
            <p:spPr>
              <a:xfrm>
                <a:off x="673858" y="2172463"/>
                <a:ext cx="546600" cy="497700"/>
              </a:xfrm>
              <a:prstGeom prst="rightArrow">
                <a:avLst>
                  <a:gd name="adj1" fmla="val 50000"/>
                  <a:gd name="adj2" fmla="val 36658"/>
                </a:avLst>
              </a:prstGeom>
              <a:solidFill>
                <a:srgbClr val="CFE2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485" name="Google Shape;1485;p57" descr="z_1" title="MathEquation,#000000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07525" y="1877919"/>
                <a:ext cx="279450" cy="2392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86" name="Google Shape;1486;p57" descr="x" title="MathEquation,#0000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2550" y="1877925"/>
                <a:ext cx="205600" cy="239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87" name="Google Shape;1487;p57" descr="f(x)" title="MathEquation,#000000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64750" y="2204900"/>
                <a:ext cx="681650" cy="432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88" name="Google Shape;1488;p57"/>
          <p:cNvGrpSpPr/>
          <p:nvPr/>
        </p:nvGrpSpPr>
        <p:grpSpPr>
          <a:xfrm>
            <a:off x="3905675" y="1082590"/>
            <a:ext cx="2496384" cy="993310"/>
            <a:chOff x="857675" y="1082590"/>
            <a:chExt cx="2496384" cy="993310"/>
          </a:xfrm>
        </p:grpSpPr>
        <p:grpSp>
          <p:nvGrpSpPr>
            <p:cNvPr id="1489" name="Google Shape;1489;p57"/>
            <p:cNvGrpSpPr/>
            <p:nvPr/>
          </p:nvGrpSpPr>
          <p:grpSpPr>
            <a:xfrm>
              <a:off x="857675" y="1082590"/>
              <a:ext cx="2438277" cy="993310"/>
              <a:chOff x="629075" y="2301790"/>
              <a:chExt cx="2438277" cy="993310"/>
            </a:xfrm>
          </p:grpSpPr>
          <p:cxnSp>
            <p:nvCxnSpPr>
              <p:cNvPr id="1490" name="Google Shape;1490;p57"/>
              <p:cNvCxnSpPr/>
              <p:nvPr/>
            </p:nvCxnSpPr>
            <p:spPr>
              <a:xfrm>
                <a:off x="1670225" y="2301800"/>
                <a:ext cx="0" cy="993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491" name="Google Shape;1491;p57"/>
              <p:cNvCxnSpPr/>
              <p:nvPr/>
            </p:nvCxnSpPr>
            <p:spPr>
              <a:xfrm>
                <a:off x="792152" y="3049628"/>
                <a:ext cx="2275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492" name="Google Shape;1492;p57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87819" y="2301790"/>
                <a:ext cx="283848" cy="1798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3" name="Google Shape;1493;p57"/>
              <p:cNvSpPr/>
              <p:nvPr/>
            </p:nvSpPr>
            <p:spPr>
              <a:xfrm>
                <a:off x="1064725" y="2443551"/>
                <a:ext cx="1817483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494" name="Google Shape;1494;p57"/>
              <p:cNvCxnSpPr/>
              <p:nvPr/>
            </p:nvCxnSpPr>
            <p:spPr>
              <a:xfrm>
                <a:off x="629075" y="2679120"/>
                <a:ext cx="2082300" cy="603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1495" name="Google Shape;1495;p57" descr="z_3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3136125" y="1592450"/>
              <a:ext cx="217934" cy="186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96" name="Google Shape;1496;p57"/>
          <p:cNvSpPr/>
          <p:nvPr/>
        </p:nvSpPr>
        <p:spPr>
          <a:xfrm>
            <a:off x="347725" y="2242500"/>
            <a:ext cx="20976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57"/>
          <p:cNvSpPr/>
          <p:nvPr/>
        </p:nvSpPr>
        <p:spPr>
          <a:xfrm>
            <a:off x="4027875" y="2131425"/>
            <a:ext cx="38829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p57"/>
          <p:cNvSpPr/>
          <p:nvPr/>
        </p:nvSpPr>
        <p:spPr>
          <a:xfrm>
            <a:off x="2730150" y="1485938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9" name="Google Shape;1499;p57"/>
          <p:cNvGrpSpPr/>
          <p:nvPr/>
        </p:nvGrpSpPr>
        <p:grpSpPr>
          <a:xfrm>
            <a:off x="419800" y="1000196"/>
            <a:ext cx="1981532" cy="1224828"/>
            <a:chOff x="466675" y="1079721"/>
            <a:chExt cx="1981532" cy="1224828"/>
          </a:xfrm>
        </p:grpSpPr>
        <p:grpSp>
          <p:nvGrpSpPr>
            <p:cNvPr id="1500" name="Google Shape;1500;p57"/>
            <p:cNvGrpSpPr/>
            <p:nvPr/>
          </p:nvGrpSpPr>
          <p:grpSpPr>
            <a:xfrm>
              <a:off x="466675" y="1079721"/>
              <a:ext cx="1981532" cy="1224828"/>
              <a:chOff x="5966461" y="2682481"/>
              <a:chExt cx="2302500" cy="1423226"/>
            </a:xfrm>
          </p:grpSpPr>
          <p:cxnSp>
            <p:nvCxnSpPr>
              <p:cNvPr id="1501" name="Google Shape;1501;p57"/>
              <p:cNvCxnSpPr/>
              <p:nvPr/>
            </p:nvCxnSpPr>
            <p:spPr>
              <a:xfrm>
                <a:off x="6784698" y="2755341"/>
                <a:ext cx="0" cy="1125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502" name="Google Shape;1502;p57"/>
              <p:cNvCxnSpPr/>
              <p:nvPr/>
            </p:nvCxnSpPr>
            <p:spPr>
              <a:xfrm>
                <a:off x="5966461" y="3617676"/>
                <a:ext cx="2302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503" name="Google Shape;1503;p57"/>
              <p:cNvPicPr preferRelativeResize="0"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18811" y="2682481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04" name="Google Shape;1504;p57"/>
              <p:cNvCxnSpPr/>
              <p:nvPr/>
            </p:nvCxnSpPr>
            <p:spPr>
              <a:xfrm>
                <a:off x="6077633" y="3321807"/>
                <a:ext cx="1575300" cy="78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9DAF8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05" name="Google Shape;1505;p57"/>
            <p:cNvSpPr/>
            <p:nvPr/>
          </p:nvSpPr>
          <p:spPr>
            <a:xfrm>
              <a:off x="562355" y="1553450"/>
              <a:ext cx="1699246" cy="310800"/>
            </a:xfrm>
            <a:custGeom>
              <a:avLst/>
              <a:gdLst/>
              <a:ahLst/>
              <a:cxnLst/>
              <a:rect l="l" t="t" r="r" b="b"/>
              <a:pathLst>
                <a:path w="49447" h="12432" extrusionOk="0">
                  <a:moveTo>
                    <a:pt x="0" y="126"/>
                  </a:moveTo>
                  <a:cubicBezTo>
                    <a:pt x="1961" y="112"/>
                    <a:pt x="8485" y="-83"/>
                    <a:pt x="11763" y="41"/>
                  </a:cubicBezTo>
                  <a:cubicBezTo>
                    <a:pt x="15041" y="165"/>
                    <a:pt x="17699" y="-296"/>
                    <a:pt x="19669" y="870"/>
                  </a:cubicBezTo>
                  <a:cubicBezTo>
                    <a:pt x="21639" y="2036"/>
                    <a:pt x="21783" y="7020"/>
                    <a:pt x="23585" y="7037"/>
                  </a:cubicBezTo>
                  <a:cubicBezTo>
                    <a:pt x="25387" y="7054"/>
                    <a:pt x="28471" y="119"/>
                    <a:pt x="30482" y="974"/>
                  </a:cubicBezTo>
                  <a:cubicBezTo>
                    <a:pt x="32494" y="1829"/>
                    <a:pt x="32493" y="10847"/>
                    <a:pt x="35654" y="12168"/>
                  </a:cubicBezTo>
                  <a:cubicBezTo>
                    <a:pt x="38815" y="13490"/>
                    <a:pt x="47148" y="9447"/>
                    <a:pt x="49447" y="8903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506" name="Google Shape;1506;p57" descr="z_1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2160324" y="1513348"/>
            <a:ext cx="205274" cy="1757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7" name="Google Shape;1507;p57"/>
          <p:cNvCxnSpPr/>
          <p:nvPr/>
        </p:nvCxnSpPr>
        <p:spPr>
          <a:xfrm rot="5400000">
            <a:off x="3174511" y="1853570"/>
            <a:ext cx="600" cy="1072500"/>
          </a:xfrm>
          <a:prstGeom prst="curvedConnector3">
            <a:avLst>
              <a:gd name="adj1" fmla="val -396875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8" name="Google Shape;1508;p57"/>
          <p:cNvSpPr txBox="1"/>
          <p:nvPr/>
        </p:nvSpPr>
        <p:spPr>
          <a:xfrm>
            <a:off x="1241963" y="1915100"/>
            <a:ext cx="3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?</a:t>
            </a:r>
            <a:endParaRPr>
              <a:solidFill>
                <a:srgbClr val="0000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1509" name="Google Shape;1509;p57"/>
          <p:cNvGrpSpPr/>
          <p:nvPr/>
        </p:nvGrpSpPr>
        <p:grpSpPr>
          <a:xfrm>
            <a:off x="3899004" y="4293338"/>
            <a:ext cx="4413370" cy="356850"/>
            <a:chOff x="4127604" y="4217138"/>
            <a:chExt cx="4413370" cy="356850"/>
          </a:xfrm>
        </p:grpSpPr>
        <p:pic>
          <p:nvPicPr>
            <p:cNvPr id="1510" name="Google Shape;1510;p57" descr="f(x) \geq a^\top W_2 z_2 + b" title="MathEquation,#000000"/>
            <p:cNvPicPr preferRelativeResize="0"/>
            <p:nvPr/>
          </p:nvPicPr>
          <p:blipFill>
            <a:blip r:embed="rId14"/>
            <a:stretch>
              <a:fillRect/>
            </a:stretch>
          </p:blipFill>
          <p:spPr>
            <a:xfrm>
              <a:off x="5323838" y="4233687"/>
              <a:ext cx="2140496" cy="323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1" name="Google Shape;1511;p57"/>
            <p:cNvSpPr/>
            <p:nvPr/>
          </p:nvSpPr>
          <p:spPr>
            <a:xfrm>
              <a:off x="4127604" y="4305338"/>
              <a:ext cx="1039500" cy="18660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12" name="Google Shape;1512;p57" descr="\forall x \in \mathcal{S}, \ f(x) &gt; 0" title="MathEquation,#000000"/>
            <p:cNvPicPr preferRelativeResize="0"/>
            <p:nvPr/>
          </p:nvPicPr>
          <p:blipFill rotWithShape="1">
            <a:blip r:embed="rId15"/>
            <a:srcRect r="59270"/>
            <a:stretch>
              <a:fillRect/>
            </a:stretch>
          </p:blipFill>
          <p:spPr>
            <a:xfrm>
              <a:off x="7727850" y="4217138"/>
              <a:ext cx="813124" cy="3568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5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518" name="Google Shape;1518;p58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519" name="Google Shape;1519;p58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72</a:t>
            </a:fld>
            <a:endParaRPr lang="en-GB"/>
          </a:p>
        </p:txBody>
      </p:sp>
      <p:grpSp>
        <p:nvGrpSpPr>
          <p:cNvPr id="1520" name="Google Shape;1520;p58"/>
          <p:cNvGrpSpPr/>
          <p:nvPr/>
        </p:nvGrpSpPr>
        <p:grpSpPr>
          <a:xfrm>
            <a:off x="3905675" y="1082590"/>
            <a:ext cx="2496384" cy="993310"/>
            <a:chOff x="857675" y="1082590"/>
            <a:chExt cx="2496384" cy="993310"/>
          </a:xfrm>
        </p:grpSpPr>
        <p:grpSp>
          <p:nvGrpSpPr>
            <p:cNvPr id="1521" name="Google Shape;1521;p58"/>
            <p:cNvGrpSpPr/>
            <p:nvPr/>
          </p:nvGrpSpPr>
          <p:grpSpPr>
            <a:xfrm>
              <a:off x="857675" y="1082590"/>
              <a:ext cx="2438277" cy="993310"/>
              <a:chOff x="629075" y="2301790"/>
              <a:chExt cx="2438277" cy="993310"/>
            </a:xfrm>
          </p:grpSpPr>
          <p:cxnSp>
            <p:nvCxnSpPr>
              <p:cNvPr id="1522" name="Google Shape;1522;p58"/>
              <p:cNvCxnSpPr/>
              <p:nvPr/>
            </p:nvCxnSpPr>
            <p:spPr>
              <a:xfrm>
                <a:off x="1670225" y="2301800"/>
                <a:ext cx="0" cy="993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523" name="Google Shape;1523;p58"/>
              <p:cNvCxnSpPr/>
              <p:nvPr/>
            </p:nvCxnSpPr>
            <p:spPr>
              <a:xfrm>
                <a:off x="792152" y="3049628"/>
                <a:ext cx="2275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524" name="Google Shape;1524;p58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7819" y="2301790"/>
                <a:ext cx="283848" cy="1798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5" name="Google Shape;1525;p58"/>
              <p:cNvSpPr/>
              <p:nvPr/>
            </p:nvSpPr>
            <p:spPr>
              <a:xfrm>
                <a:off x="1064725" y="2443551"/>
                <a:ext cx="1817483" cy="602966"/>
              </a:xfrm>
              <a:custGeom>
                <a:avLst/>
                <a:gdLst/>
                <a:ahLst/>
                <a:cxnLst/>
                <a:rect l="l" t="t" r="r" b="b"/>
                <a:pathLst>
                  <a:path w="93276" h="27561" extrusionOk="0">
                    <a:moveTo>
                      <a:pt x="0" y="0"/>
                    </a:moveTo>
                    <a:cubicBezTo>
                      <a:pt x="1955" y="2221"/>
                      <a:pt x="7552" y="11726"/>
                      <a:pt x="11727" y="13325"/>
                    </a:cubicBezTo>
                    <a:cubicBezTo>
                      <a:pt x="15902" y="14924"/>
                      <a:pt x="20788" y="8262"/>
                      <a:pt x="25052" y="9594"/>
                    </a:cubicBezTo>
                    <a:cubicBezTo>
                      <a:pt x="29316" y="10927"/>
                      <a:pt x="32781" y="20521"/>
                      <a:pt x="37311" y="21320"/>
                    </a:cubicBezTo>
                    <a:cubicBezTo>
                      <a:pt x="41842" y="22120"/>
                      <a:pt x="47882" y="13414"/>
                      <a:pt x="52235" y="14391"/>
                    </a:cubicBezTo>
                    <a:cubicBezTo>
                      <a:pt x="56588" y="15368"/>
                      <a:pt x="56588" y="25673"/>
                      <a:pt x="63428" y="27183"/>
                    </a:cubicBezTo>
                    <a:cubicBezTo>
                      <a:pt x="70268" y="28693"/>
                      <a:pt x="88301" y="24074"/>
                      <a:pt x="93276" y="23452"/>
                    </a:cubicBez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526" name="Google Shape;1526;p58"/>
              <p:cNvCxnSpPr/>
              <p:nvPr/>
            </p:nvCxnSpPr>
            <p:spPr>
              <a:xfrm>
                <a:off x="629075" y="2679120"/>
                <a:ext cx="2082300" cy="603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pic>
          <p:nvPicPr>
            <p:cNvPr id="1527" name="Google Shape;1527;p58" descr="z_3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3136125" y="1592450"/>
              <a:ext cx="217934" cy="186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8" name="Google Shape;1528;p58"/>
          <p:cNvSpPr/>
          <p:nvPr/>
        </p:nvSpPr>
        <p:spPr>
          <a:xfrm>
            <a:off x="347725" y="2090100"/>
            <a:ext cx="2067300" cy="1443600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58"/>
          <p:cNvSpPr/>
          <p:nvPr/>
        </p:nvSpPr>
        <p:spPr>
          <a:xfrm>
            <a:off x="4027875" y="2131425"/>
            <a:ext cx="3882900" cy="1443600"/>
          </a:xfrm>
          <a:prstGeom prst="rect">
            <a:avLst/>
          </a:prstGeom>
          <a:solidFill>
            <a:srgbClr val="FFFFFF">
              <a:alpha val="690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58"/>
          <p:cNvSpPr/>
          <p:nvPr/>
        </p:nvSpPr>
        <p:spPr>
          <a:xfrm>
            <a:off x="2730150" y="1485938"/>
            <a:ext cx="1039500" cy="1866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1" name="Google Shape;1531;p58" descr="z_1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160324" y="1513348"/>
            <a:ext cx="205274" cy="175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2" name="Google Shape;1532;p58"/>
          <p:cNvGrpSpPr/>
          <p:nvPr/>
        </p:nvGrpSpPr>
        <p:grpSpPr>
          <a:xfrm>
            <a:off x="419800" y="1000196"/>
            <a:ext cx="1981532" cy="1224828"/>
            <a:chOff x="466675" y="1079721"/>
            <a:chExt cx="1981532" cy="1224828"/>
          </a:xfrm>
        </p:grpSpPr>
        <p:grpSp>
          <p:nvGrpSpPr>
            <p:cNvPr id="1533" name="Google Shape;1533;p58"/>
            <p:cNvGrpSpPr/>
            <p:nvPr/>
          </p:nvGrpSpPr>
          <p:grpSpPr>
            <a:xfrm>
              <a:off x="466675" y="1079721"/>
              <a:ext cx="1981532" cy="1224828"/>
              <a:chOff x="5966461" y="2682481"/>
              <a:chExt cx="2302500" cy="1423226"/>
            </a:xfrm>
          </p:grpSpPr>
          <p:cxnSp>
            <p:nvCxnSpPr>
              <p:cNvPr id="1534" name="Google Shape;1534;p58"/>
              <p:cNvCxnSpPr/>
              <p:nvPr/>
            </p:nvCxnSpPr>
            <p:spPr>
              <a:xfrm>
                <a:off x="6784698" y="2755341"/>
                <a:ext cx="0" cy="1125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535" name="Google Shape;1535;p58"/>
              <p:cNvCxnSpPr/>
              <p:nvPr/>
            </p:nvCxnSpPr>
            <p:spPr>
              <a:xfrm>
                <a:off x="5966461" y="3617676"/>
                <a:ext cx="2302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pic>
            <p:nvPicPr>
              <p:cNvPr id="1536" name="Google Shape;1536;p58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18811" y="2682481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37" name="Google Shape;1537;p58"/>
              <p:cNvCxnSpPr/>
              <p:nvPr/>
            </p:nvCxnSpPr>
            <p:spPr>
              <a:xfrm>
                <a:off x="6077633" y="3321807"/>
                <a:ext cx="1575300" cy="78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38" name="Google Shape;1538;p58"/>
            <p:cNvSpPr/>
            <p:nvPr/>
          </p:nvSpPr>
          <p:spPr>
            <a:xfrm>
              <a:off x="562355" y="1553450"/>
              <a:ext cx="1699246" cy="310800"/>
            </a:xfrm>
            <a:custGeom>
              <a:avLst/>
              <a:gdLst/>
              <a:ahLst/>
              <a:cxnLst/>
              <a:rect l="l" t="t" r="r" b="b"/>
              <a:pathLst>
                <a:path w="49447" h="12432" extrusionOk="0">
                  <a:moveTo>
                    <a:pt x="0" y="126"/>
                  </a:moveTo>
                  <a:cubicBezTo>
                    <a:pt x="1961" y="112"/>
                    <a:pt x="8485" y="-83"/>
                    <a:pt x="11763" y="41"/>
                  </a:cubicBezTo>
                  <a:cubicBezTo>
                    <a:pt x="15041" y="165"/>
                    <a:pt x="17699" y="-296"/>
                    <a:pt x="19669" y="870"/>
                  </a:cubicBezTo>
                  <a:cubicBezTo>
                    <a:pt x="21639" y="2036"/>
                    <a:pt x="21783" y="7020"/>
                    <a:pt x="23585" y="7037"/>
                  </a:cubicBezTo>
                  <a:cubicBezTo>
                    <a:pt x="25387" y="7054"/>
                    <a:pt x="28471" y="119"/>
                    <a:pt x="30482" y="974"/>
                  </a:cubicBezTo>
                  <a:cubicBezTo>
                    <a:pt x="32494" y="1829"/>
                    <a:pt x="32493" y="10847"/>
                    <a:pt x="35654" y="12168"/>
                  </a:cubicBezTo>
                  <a:cubicBezTo>
                    <a:pt x="38815" y="13490"/>
                    <a:pt x="47148" y="9447"/>
                    <a:pt x="49447" y="8903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539" name="Google Shape;1539;p58"/>
          <p:cNvCxnSpPr/>
          <p:nvPr/>
        </p:nvCxnSpPr>
        <p:spPr>
          <a:xfrm rot="5400000">
            <a:off x="3174511" y="1853570"/>
            <a:ext cx="600" cy="1072500"/>
          </a:xfrm>
          <a:prstGeom prst="curvedConnector3">
            <a:avLst>
              <a:gd name="adj1" fmla="val -396875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40" name="Google Shape;1540;p58"/>
          <p:cNvGrpSpPr/>
          <p:nvPr/>
        </p:nvGrpSpPr>
        <p:grpSpPr>
          <a:xfrm>
            <a:off x="419804" y="2582424"/>
            <a:ext cx="599693" cy="601742"/>
            <a:chOff x="2708099" y="2963363"/>
            <a:chExt cx="1021798" cy="1025289"/>
          </a:xfrm>
        </p:grpSpPr>
        <p:pic>
          <p:nvPicPr>
            <p:cNvPr id="1541" name="Google Shape;1541;p58"/>
            <p:cNvPicPr preferRelativeResize="0"/>
            <p:nvPr/>
          </p:nvPicPr>
          <p:blipFill rotWithShape="1">
            <a:blip r:embed="rId6"/>
            <a:srcRect l="14039" t="9153" r="55651" b="45213"/>
            <a:stretch>
              <a:fillRect/>
            </a:stretch>
          </p:blipFill>
          <p:spPr>
            <a:xfrm>
              <a:off x="2708099" y="2963363"/>
              <a:ext cx="1021798" cy="10252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2" name="Google Shape;1542;p58"/>
            <p:cNvSpPr/>
            <p:nvPr/>
          </p:nvSpPr>
          <p:spPr>
            <a:xfrm>
              <a:off x="3130675" y="3637138"/>
              <a:ext cx="288000" cy="1422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4A86E8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FF00"/>
                </a:solidFill>
              </a:endParaRPr>
            </a:p>
          </p:txBody>
        </p:sp>
      </p:grpSp>
      <p:grpSp>
        <p:nvGrpSpPr>
          <p:cNvPr id="1543" name="Google Shape;1543;p58"/>
          <p:cNvGrpSpPr/>
          <p:nvPr/>
        </p:nvGrpSpPr>
        <p:grpSpPr>
          <a:xfrm>
            <a:off x="5474418" y="2201540"/>
            <a:ext cx="447706" cy="1373343"/>
            <a:chOff x="2935225" y="1755650"/>
            <a:chExt cx="617100" cy="1892700"/>
          </a:xfrm>
        </p:grpSpPr>
        <p:sp>
          <p:nvSpPr>
            <p:cNvPr id="1544" name="Google Shape;1544;p58"/>
            <p:cNvSpPr/>
            <p:nvPr/>
          </p:nvSpPr>
          <p:spPr>
            <a:xfrm>
              <a:off x="2935225" y="1755650"/>
              <a:ext cx="617100" cy="1892700"/>
            </a:xfrm>
            <a:prstGeom prst="roundRect">
              <a:avLst>
                <a:gd name="adj" fmla="val 16667"/>
              </a:avLst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5" name="Google Shape;1545;p58"/>
            <p:cNvGrpSpPr/>
            <p:nvPr/>
          </p:nvGrpSpPr>
          <p:grpSpPr>
            <a:xfrm>
              <a:off x="3051944" y="1865291"/>
              <a:ext cx="411361" cy="411361"/>
              <a:chOff x="4869175" y="1865375"/>
              <a:chExt cx="2537700" cy="2537700"/>
            </a:xfrm>
          </p:grpSpPr>
          <p:sp>
            <p:nvSpPr>
              <p:cNvPr id="1546" name="Google Shape;1546;p58"/>
              <p:cNvSpPr/>
              <p:nvPr/>
            </p:nvSpPr>
            <p:spPr>
              <a:xfrm>
                <a:off x="4869175" y="1865375"/>
                <a:ext cx="2537700" cy="2537700"/>
              </a:xfrm>
              <a:prstGeom prst="ellipse">
                <a:avLst/>
              </a:prstGeom>
              <a:noFill/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7" name="Google Shape;1547;p58"/>
              <p:cNvCxnSpPr>
                <a:stCxn id="1546" idx="2"/>
              </p:cNvCxnSpPr>
              <p:nvPr/>
            </p:nvCxnSpPr>
            <p:spPr>
              <a:xfrm>
                <a:off x="4869175" y="3134225"/>
                <a:ext cx="1234500" cy="34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8" name="Google Shape;1548;p58"/>
              <p:cNvCxnSpPr/>
              <p:nvPr/>
            </p:nvCxnSpPr>
            <p:spPr>
              <a:xfrm rot="10800000" flipH="1">
                <a:off x="6103625" y="2236900"/>
                <a:ext cx="931500" cy="93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49" name="Google Shape;1549;p58"/>
            <p:cNvGrpSpPr/>
            <p:nvPr/>
          </p:nvGrpSpPr>
          <p:grpSpPr>
            <a:xfrm>
              <a:off x="3051944" y="2470316"/>
              <a:ext cx="411361" cy="411361"/>
              <a:chOff x="4869175" y="1865375"/>
              <a:chExt cx="2537700" cy="2537700"/>
            </a:xfrm>
          </p:grpSpPr>
          <p:sp>
            <p:nvSpPr>
              <p:cNvPr id="1550" name="Google Shape;1550;p58"/>
              <p:cNvSpPr/>
              <p:nvPr/>
            </p:nvSpPr>
            <p:spPr>
              <a:xfrm>
                <a:off x="4869175" y="1865375"/>
                <a:ext cx="2537700" cy="2537700"/>
              </a:xfrm>
              <a:prstGeom prst="ellipse">
                <a:avLst/>
              </a:prstGeom>
              <a:noFill/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51" name="Google Shape;1551;p58"/>
              <p:cNvCxnSpPr>
                <a:stCxn id="1550" idx="2"/>
              </p:cNvCxnSpPr>
              <p:nvPr/>
            </p:nvCxnSpPr>
            <p:spPr>
              <a:xfrm>
                <a:off x="4869175" y="3134225"/>
                <a:ext cx="1234500" cy="34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2" name="Google Shape;1552;p58"/>
              <p:cNvCxnSpPr/>
              <p:nvPr/>
            </p:nvCxnSpPr>
            <p:spPr>
              <a:xfrm rot="10800000" flipH="1">
                <a:off x="6103625" y="2236900"/>
                <a:ext cx="931500" cy="93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53" name="Google Shape;1553;p58"/>
            <p:cNvGrpSpPr/>
            <p:nvPr/>
          </p:nvGrpSpPr>
          <p:grpSpPr>
            <a:xfrm>
              <a:off x="3051944" y="3075341"/>
              <a:ext cx="411361" cy="411361"/>
              <a:chOff x="4869175" y="1865375"/>
              <a:chExt cx="2537700" cy="2537700"/>
            </a:xfrm>
          </p:grpSpPr>
          <p:sp>
            <p:nvSpPr>
              <p:cNvPr id="1554" name="Google Shape;1554;p58"/>
              <p:cNvSpPr/>
              <p:nvPr/>
            </p:nvSpPr>
            <p:spPr>
              <a:xfrm>
                <a:off x="4869175" y="1865375"/>
                <a:ext cx="2537700" cy="2537700"/>
              </a:xfrm>
              <a:prstGeom prst="ellipse">
                <a:avLst/>
              </a:prstGeom>
              <a:noFill/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55" name="Google Shape;1555;p58"/>
              <p:cNvCxnSpPr>
                <a:stCxn id="1554" idx="2"/>
              </p:cNvCxnSpPr>
              <p:nvPr/>
            </p:nvCxnSpPr>
            <p:spPr>
              <a:xfrm>
                <a:off x="4869175" y="3134225"/>
                <a:ext cx="1234500" cy="34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6" name="Google Shape;1556;p58"/>
              <p:cNvCxnSpPr/>
              <p:nvPr/>
            </p:nvCxnSpPr>
            <p:spPr>
              <a:xfrm rot="10800000" flipH="1">
                <a:off x="6103625" y="2236900"/>
                <a:ext cx="931500" cy="93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57" name="Google Shape;1557;p58"/>
          <p:cNvSpPr/>
          <p:nvPr/>
        </p:nvSpPr>
        <p:spPr>
          <a:xfrm>
            <a:off x="7398714" y="2654461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8" name="Google Shape;1558;p58"/>
          <p:cNvGrpSpPr/>
          <p:nvPr/>
        </p:nvGrpSpPr>
        <p:grpSpPr>
          <a:xfrm>
            <a:off x="1624924" y="2569758"/>
            <a:ext cx="796164" cy="636932"/>
            <a:chOff x="1591075" y="1810500"/>
            <a:chExt cx="1097400" cy="877800"/>
          </a:xfrm>
        </p:grpSpPr>
        <p:sp>
          <p:nvSpPr>
            <p:cNvPr id="1559" name="Google Shape;1559;p58"/>
            <p:cNvSpPr/>
            <p:nvPr/>
          </p:nvSpPr>
          <p:spPr>
            <a:xfrm>
              <a:off x="1591075" y="1810500"/>
              <a:ext cx="1097400" cy="877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60" name="Google Shape;1560;p58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1899750" y="2073000"/>
              <a:ext cx="480050" cy="352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1" name="Google Shape;1561;p58"/>
          <p:cNvGrpSpPr/>
          <p:nvPr/>
        </p:nvGrpSpPr>
        <p:grpSpPr>
          <a:xfrm>
            <a:off x="4068842" y="2534864"/>
            <a:ext cx="796164" cy="686780"/>
            <a:chOff x="4218325" y="1741925"/>
            <a:chExt cx="1097400" cy="946500"/>
          </a:xfrm>
        </p:grpSpPr>
        <p:sp>
          <p:nvSpPr>
            <p:cNvPr id="1562" name="Google Shape;1562;p58"/>
            <p:cNvSpPr/>
            <p:nvPr/>
          </p:nvSpPr>
          <p:spPr>
            <a:xfrm>
              <a:off x="4218325" y="1741925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63" name="Google Shape;1563;p58" descr="W_2" title="MathEquation,#000000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4526025" y="2073000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4" name="Google Shape;1564;p58"/>
          <p:cNvGrpSpPr/>
          <p:nvPr/>
        </p:nvGrpSpPr>
        <p:grpSpPr>
          <a:xfrm>
            <a:off x="6531303" y="2544834"/>
            <a:ext cx="796164" cy="686780"/>
            <a:chOff x="7416274" y="1776150"/>
            <a:chExt cx="1097400" cy="946500"/>
          </a:xfrm>
        </p:grpSpPr>
        <p:sp>
          <p:nvSpPr>
            <p:cNvPr id="1565" name="Google Shape;1565;p58"/>
            <p:cNvSpPr/>
            <p:nvPr/>
          </p:nvSpPr>
          <p:spPr>
            <a:xfrm>
              <a:off x="7416274" y="1776150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66" name="Google Shape;1566;p58" descr="W_3" title="MathEquation,#000000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7732699" y="2072988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7" name="Google Shape;1567;p58"/>
          <p:cNvSpPr/>
          <p:nvPr/>
        </p:nvSpPr>
        <p:spPr>
          <a:xfrm>
            <a:off x="5981080" y="2664435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8" name="Google Shape;1568;p58" descr="z_4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6051065" y="2389525"/>
            <a:ext cx="251360" cy="215229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58"/>
          <p:cNvSpPr/>
          <p:nvPr/>
        </p:nvSpPr>
        <p:spPr>
          <a:xfrm>
            <a:off x="4924044" y="2654461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0" name="Google Shape;1570;p58" descr="z_4" title="MathEquation,#000000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5000449" y="2389525"/>
            <a:ext cx="251360" cy="215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1" name="Google Shape;1571;p58" descr="z_3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585378" y="2389520"/>
            <a:ext cx="251366" cy="21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58"/>
          <p:cNvSpPr/>
          <p:nvPr/>
        </p:nvSpPr>
        <p:spPr>
          <a:xfrm>
            <a:off x="3518507" y="2654461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58"/>
          <p:cNvSpPr/>
          <p:nvPr/>
        </p:nvSpPr>
        <p:spPr>
          <a:xfrm>
            <a:off x="2462157" y="2664446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58"/>
          <p:cNvSpPr/>
          <p:nvPr/>
        </p:nvSpPr>
        <p:spPr>
          <a:xfrm>
            <a:off x="1133326" y="2654461"/>
            <a:ext cx="491700" cy="4476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75" name="Google Shape;1575;p58" descr="z_1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2512859" y="2389520"/>
            <a:ext cx="251366" cy="215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6" name="Google Shape;1576;p58" descr="x" title="MathEquation,#000000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1186119" y="2389525"/>
            <a:ext cx="184938" cy="21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58" descr="f(x)" title="MathEquation,#000000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7961333" y="2683639"/>
            <a:ext cx="613144" cy="38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58"/>
          <p:cNvSpPr/>
          <p:nvPr/>
        </p:nvSpPr>
        <p:spPr>
          <a:xfrm>
            <a:off x="347725" y="2242500"/>
            <a:ext cx="20844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9" name="Google Shape;1579;p58"/>
          <p:cNvSpPr/>
          <p:nvPr/>
        </p:nvSpPr>
        <p:spPr>
          <a:xfrm>
            <a:off x="4027875" y="2131425"/>
            <a:ext cx="3882900" cy="14436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0" name="Google Shape;1580;p58"/>
          <p:cNvGrpSpPr/>
          <p:nvPr/>
        </p:nvGrpSpPr>
        <p:grpSpPr>
          <a:xfrm>
            <a:off x="2999975" y="2187100"/>
            <a:ext cx="447600" cy="1372800"/>
            <a:chOff x="2999975" y="2187100"/>
            <a:chExt cx="447600" cy="1372800"/>
          </a:xfrm>
        </p:grpSpPr>
        <p:sp>
          <p:nvSpPr>
            <p:cNvPr id="1581" name="Google Shape;1581;p58"/>
            <p:cNvSpPr/>
            <p:nvPr/>
          </p:nvSpPr>
          <p:spPr>
            <a:xfrm>
              <a:off x="2999975" y="2187100"/>
              <a:ext cx="447600" cy="1372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2" name="Google Shape;1582;p58"/>
            <p:cNvGrpSpPr/>
            <p:nvPr/>
          </p:nvGrpSpPr>
          <p:grpSpPr>
            <a:xfrm>
              <a:off x="3075543" y="2244470"/>
              <a:ext cx="315315" cy="315315"/>
              <a:chOff x="4946527" y="1755650"/>
              <a:chExt cx="2241043" cy="2241043"/>
            </a:xfrm>
          </p:grpSpPr>
          <p:grpSp>
            <p:nvGrpSpPr>
              <p:cNvPr id="1583" name="Google Shape;1583;p58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584" name="Google Shape;1584;p58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85" name="Google Shape;1585;p58"/>
                <p:cNvCxnSpPr>
                  <a:stCxn id="1584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86" name="Google Shape;1586;p58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587" name="Google Shape;1587;p58"/>
              <p:cNvCxnSpPr>
                <a:stCxn id="1584" idx="2"/>
                <a:endCxn id="1584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8" name="Google Shape;1588;p58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89" name="Google Shape;1589;p58"/>
            <p:cNvGrpSpPr/>
            <p:nvPr/>
          </p:nvGrpSpPr>
          <p:grpSpPr>
            <a:xfrm>
              <a:off x="3075543" y="2684234"/>
              <a:ext cx="315315" cy="315315"/>
              <a:chOff x="4946527" y="1755650"/>
              <a:chExt cx="2241043" cy="2241043"/>
            </a:xfrm>
          </p:grpSpPr>
          <p:grpSp>
            <p:nvGrpSpPr>
              <p:cNvPr id="1590" name="Google Shape;1590;p58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591" name="Google Shape;1591;p58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92" name="Google Shape;1592;p58"/>
                <p:cNvCxnSpPr>
                  <a:stCxn id="1591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93" name="Google Shape;1593;p58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594" name="Google Shape;1594;p58"/>
              <p:cNvCxnSpPr>
                <a:stCxn id="1591" idx="2"/>
                <a:endCxn id="1591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5" name="Google Shape;1595;p58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96" name="Google Shape;1596;p58"/>
            <p:cNvGrpSpPr/>
            <p:nvPr/>
          </p:nvGrpSpPr>
          <p:grpSpPr>
            <a:xfrm>
              <a:off x="3075543" y="3123998"/>
              <a:ext cx="315315" cy="315315"/>
              <a:chOff x="4946527" y="1755650"/>
              <a:chExt cx="2241043" cy="2241043"/>
            </a:xfrm>
          </p:grpSpPr>
          <p:grpSp>
            <p:nvGrpSpPr>
              <p:cNvPr id="1597" name="Google Shape;1597;p58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598" name="Google Shape;1598;p58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99" name="Google Shape;1599;p58"/>
                <p:cNvCxnSpPr>
                  <a:stCxn id="159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00" name="Google Shape;1600;p58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601" name="Google Shape;1601;p58"/>
              <p:cNvCxnSpPr>
                <a:stCxn id="1598" idx="2"/>
                <a:endCxn id="1598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2" name="Google Shape;1602;p58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03" name="Google Shape;1603;p58"/>
          <p:cNvGrpSpPr/>
          <p:nvPr/>
        </p:nvGrpSpPr>
        <p:grpSpPr>
          <a:xfrm>
            <a:off x="914400" y="3796325"/>
            <a:ext cx="7487700" cy="971125"/>
            <a:chOff x="914400" y="3720125"/>
            <a:chExt cx="7487700" cy="971125"/>
          </a:xfrm>
        </p:grpSpPr>
        <p:sp>
          <p:nvSpPr>
            <p:cNvPr id="1604" name="Google Shape;1604;p58"/>
            <p:cNvSpPr/>
            <p:nvPr/>
          </p:nvSpPr>
          <p:spPr>
            <a:xfrm>
              <a:off x="1143000" y="3770550"/>
              <a:ext cx="7259100" cy="9207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8"/>
            <p:cNvSpPr/>
            <p:nvPr/>
          </p:nvSpPr>
          <p:spPr>
            <a:xfrm>
              <a:off x="2221925" y="4163000"/>
              <a:ext cx="885300" cy="386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8"/>
            <p:cNvSpPr txBox="1"/>
            <p:nvPr/>
          </p:nvSpPr>
          <p:spPr>
            <a:xfrm>
              <a:off x="914400" y="3720125"/>
              <a:ext cx="7411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Theorem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(informal): we can efficiently find </a:t>
              </a:r>
              <a:r>
                <a:rPr lang="en-GB" sz="1700" i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         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such that:</a:t>
              </a:r>
              <a:endParaRPr sz="17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pic>
          <p:nvPicPr>
            <p:cNvPr id="1607" name="Google Shape;1607;p58" descr="f(x) \geq a^\top W_2 D z_1 + b^\prime" title="MathEquation,#000000"/>
            <p:cNvPicPr preferRelativeResize="0"/>
            <p:nvPr/>
          </p:nvPicPr>
          <p:blipFill>
            <a:blip r:embed="rId14"/>
            <a:stretch>
              <a:fillRect/>
            </a:stretch>
          </p:blipFill>
          <p:spPr>
            <a:xfrm>
              <a:off x="1419400" y="4233682"/>
              <a:ext cx="2420750" cy="32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8" name="Google Shape;1608;p58" descr="D, \ b^\prime" title="MathEquation,#000000"/>
            <p:cNvPicPr preferRelativeResize="0"/>
            <p:nvPr/>
          </p:nvPicPr>
          <p:blipFill>
            <a:blip r:embed="rId15"/>
            <a:stretch>
              <a:fillRect/>
            </a:stretch>
          </p:blipFill>
          <p:spPr>
            <a:xfrm>
              <a:off x="6025500" y="3807898"/>
              <a:ext cx="498124" cy="275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09" name="Google Shape;1609;p58"/>
            <p:cNvGrpSpPr/>
            <p:nvPr/>
          </p:nvGrpSpPr>
          <p:grpSpPr>
            <a:xfrm>
              <a:off x="3899004" y="4202363"/>
              <a:ext cx="4413370" cy="386400"/>
              <a:chOff x="4127604" y="4202363"/>
              <a:chExt cx="4413370" cy="386400"/>
            </a:xfrm>
          </p:grpSpPr>
          <p:sp>
            <p:nvSpPr>
              <p:cNvPr id="1610" name="Google Shape;1610;p58"/>
              <p:cNvSpPr/>
              <p:nvPr/>
            </p:nvSpPr>
            <p:spPr>
              <a:xfrm>
                <a:off x="6106675" y="4202363"/>
                <a:ext cx="681600" cy="386400"/>
              </a:xfrm>
              <a:prstGeom prst="rect">
                <a:avLst/>
              </a:pr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11" name="Google Shape;1611;p58" descr="f(x) \geq a^\top W_2 z_2 + b" title="MathEquation,#000000"/>
              <p:cNvPicPr preferRelativeResize="0"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23838" y="4233687"/>
                <a:ext cx="2140496" cy="3237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12" name="Google Shape;1612;p58"/>
              <p:cNvSpPr/>
              <p:nvPr/>
            </p:nvSpPr>
            <p:spPr>
              <a:xfrm>
                <a:off x="4127604" y="4305338"/>
                <a:ext cx="1039500" cy="186600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13" name="Google Shape;1613;p58" descr="\forall x \in \mathcal{S}, \ f(x) &gt; 0" title="MathEquation,#000000"/>
              <p:cNvPicPr preferRelativeResize="0"/>
              <p:nvPr/>
            </p:nvPicPr>
            <p:blipFill rotWithShape="1">
              <a:blip r:embed="rId17"/>
              <a:srcRect r="59270"/>
              <a:stretch>
                <a:fillRect/>
              </a:stretch>
            </p:blipFill>
            <p:spPr>
              <a:xfrm>
                <a:off x="7727850" y="4217138"/>
                <a:ext cx="813124" cy="356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14" name="Google Shape;1614;p58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59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620" name="Google Shape;1620;p59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21" name="Google Shape;1621;p59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b="1"/>
              <a:t>Proof sketch</a:t>
            </a:r>
            <a:r>
              <a:rPr lang="en-GB" sz="1800"/>
              <a:t>: conservatively use </a:t>
            </a:r>
            <a:r>
              <a:rPr lang="en-GB" sz="1800">
                <a:solidFill>
                  <a:srgbClr val="0000FF"/>
                </a:solidFill>
              </a:rPr>
              <a:t>linear bounds</a:t>
            </a:r>
            <a:r>
              <a:rPr lang="en-GB" sz="1800"/>
              <a:t> to </a:t>
            </a:r>
            <a:r>
              <a:rPr lang="en-GB" sz="1800">
                <a:solidFill>
                  <a:srgbClr val="0000FF"/>
                </a:solidFill>
              </a:rPr>
              <a:t>replace a non-linear function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622" name="Google Shape;1622;p59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73</a:t>
            </a:fld>
            <a:endParaRPr lang="en-GB"/>
          </a:p>
        </p:txBody>
      </p:sp>
      <p:grpSp>
        <p:nvGrpSpPr>
          <p:cNvPr id="1623" name="Google Shape;1623;p59"/>
          <p:cNvGrpSpPr/>
          <p:nvPr/>
        </p:nvGrpSpPr>
        <p:grpSpPr>
          <a:xfrm>
            <a:off x="1543125" y="1694591"/>
            <a:ext cx="2137857" cy="1467000"/>
            <a:chOff x="3722450" y="676325"/>
            <a:chExt cx="2510400" cy="1956000"/>
          </a:xfrm>
        </p:grpSpPr>
        <p:cxnSp>
          <p:nvCxnSpPr>
            <p:cNvPr id="1624" name="Google Shape;1624;p59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625" name="Google Shape;1625;p59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626" name="Google Shape;1626;p59"/>
            <p:cNvCxnSpPr/>
            <p:nvPr/>
          </p:nvCxnSpPr>
          <p:spPr>
            <a:xfrm>
              <a:off x="4073025" y="188265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7" name="Google Shape;1627;p59"/>
            <p:cNvCxnSpPr/>
            <p:nvPr/>
          </p:nvCxnSpPr>
          <p:spPr>
            <a:xfrm rot="10800000" flipH="1">
              <a:off x="5060625" y="1402650"/>
              <a:ext cx="480000" cy="480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8" name="Google Shape;1628;p59"/>
            <p:cNvCxnSpPr/>
            <p:nvPr/>
          </p:nvCxnSpPr>
          <p:spPr>
            <a:xfrm>
              <a:off x="4054527" y="676325"/>
              <a:ext cx="0" cy="1956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29" name="Google Shape;1629;p59"/>
            <p:cNvCxnSpPr/>
            <p:nvPr/>
          </p:nvCxnSpPr>
          <p:spPr>
            <a:xfrm>
              <a:off x="5549800" y="728900"/>
              <a:ext cx="0" cy="19032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30" name="Google Shape;1630;p59"/>
            <p:cNvCxnSpPr/>
            <p:nvPr/>
          </p:nvCxnSpPr>
          <p:spPr>
            <a:xfrm rot="10800000" flipH="1">
              <a:off x="3722450" y="1238854"/>
              <a:ext cx="2380200" cy="7368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31" name="Google Shape;1631;p59"/>
            <p:cNvCxnSpPr/>
            <p:nvPr/>
          </p:nvCxnSpPr>
          <p:spPr>
            <a:xfrm rot="10800000" flipH="1">
              <a:off x="3806820" y="1397971"/>
              <a:ext cx="2283900" cy="10920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632" name="Google Shape;1632;p59"/>
          <p:cNvSpPr txBox="1"/>
          <p:nvPr/>
        </p:nvSpPr>
        <p:spPr>
          <a:xfrm>
            <a:off x="457200" y="3146300"/>
            <a:ext cx="43431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Pre-activation bounds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(can be pre-computed using CROWN)</a:t>
            </a:r>
            <a:endParaRPr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633" name="Google Shape;1633;p59"/>
          <p:cNvSpPr/>
          <p:nvPr/>
        </p:nvSpPr>
        <p:spPr>
          <a:xfrm rot="-5400000">
            <a:off x="2390425" y="2593100"/>
            <a:ext cx="137100" cy="12741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4" name="Google Shape;1634;p59"/>
          <p:cNvGrpSpPr/>
          <p:nvPr/>
        </p:nvGrpSpPr>
        <p:grpSpPr>
          <a:xfrm>
            <a:off x="5333325" y="1808675"/>
            <a:ext cx="2346675" cy="1634541"/>
            <a:chOff x="5561925" y="2875475"/>
            <a:chExt cx="2346675" cy="1634541"/>
          </a:xfrm>
        </p:grpSpPr>
        <p:cxnSp>
          <p:nvCxnSpPr>
            <p:cNvPr id="1635" name="Google Shape;1635;p59"/>
            <p:cNvCxnSpPr/>
            <p:nvPr/>
          </p:nvCxnSpPr>
          <p:spPr>
            <a:xfrm>
              <a:off x="6750250" y="2875475"/>
              <a:ext cx="8700" cy="1575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636" name="Google Shape;1636;p59"/>
            <p:cNvCxnSpPr/>
            <p:nvPr/>
          </p:nvCxnSpPr>
          <p:spPr>
            <a:xfrm rot="10800000" flipH="1">
              <a:off x="5561925" y="3656925"/>
              <a:ext cx="2214600" cy="10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637" name="Google Shape;1637;p59"/>
            <p:cNvCxnSpPr/>
            <p:nvPr/>
          </p:nvCxnSpPr>
          <p:spPr>
            <a:xfrm>
              <a:off x="6201647" y="2925416"/>
              <a:ext cx="6600" cy="1584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38" name="Google Shape;1638;p59"/>
            <p:cNvCxnSpPr/>
            <p:nvPr/>
          </p:nvCxnSpPr>
          <p:spPr>
            <a:xfrm rot="10800000" flipH="1">
              <a:off x="6188125" y="3258725"/>
              <a:ext cx="1230000" cy="10335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39" name="Google Shape;1639;p59"/>
            <p:cNvCxnSpPr/>
            <p:nvPr/>
          </p:nvCxnSpPr>
          <p:spPr>
            <a:xfrm rot="10800000" flipH="1">
              <a:off x="6210875" y="2881875"/>
              <a:ext cx="1182900" cy="11715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40" name="Google Shape;1640;p59"/>
            <p:cNvCxnSpPr/>
            <p:nvPr/>
          </p:nvCxnSpPr>
          <p:spPr>
            <a:xfrm>
              <a:off x="7392147" y="2929466"/>
              <a:ext cx="0" cy="1467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1641" name="Google Shape;1641;p59"/>
            <p:cNvSpPr/>
            <p:nvPr/>
          </p:nvSpPr>
          <p:spPr>
            <a:xfrm>
              <a:off x="5888500" y="3258875"/>
              <a:ext cx="1800931" cy="801929"/>
            </a:xfrm>
            <a:custGeom>
              <a:avLst/>
              <a:gdLst/>
              <a:ahLst/>
              <a:cxnLst/>
              <a:rect l="l" t="t" r="r" b="b"/>
              <a:pathLst>
                <a:path w="72254" h="31246" extrusionOk="0">
                  <a:moveTo>
                    <a:pt x="0" y="30604"/>
                  </a:moveTo>
                  <a:cubicBezTo>
                    <a:pt x="4354" y="30264"/>
                    <a:pt x="18913" y="33190"/>
                    <a:pt x="26125" y="28563"/>
                  </a:cubicBezTo>
                  <a:cubicBezTo>
                    <a:pt x="33337" y="23937"/>
                    <a:pt x="35582" y="7540"/>
                    <a:pt x="43270" y="2845"/>
                  </a:cubicBezTo>
                  <a:cubicBezTo>
                    <a:pt x="50958" y="-1849"/>
                    <a:pt x="67423" y="804"/>
                    <a:pt x="72254" y="396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" name="Google Shape;1642;p59"/>
            <p:cNvSpPr/>
            <p:nvPr/>
          </p:nvSpPr>
          <p:spPr>
            <a:xfrm>
              <a:off x="5707025" y="3896375"/>
              <a:ext cx="410100" cy="423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9"/>
            <p:cNvSpPr/>
            <p:nvPr/>
          </p:nvSpPr>
          <p:spPr>
            <a:xfrm>
              <a:off x="7498500" y="3034025"/>
              <a:ext cx="410100" cy="423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44" name="Google Shape;1644;p59"/>
            <p:cNvCxnSpPr/>
            <p:nvPr/>
          </p:nvCxnSpPr>
          <p:spPr>
            <a:xfrm rot="10800000" flipH="1">
              <a:off x="5655450" y="4058450"/>
              <a:ext cx="600900" cy="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5" name="Google Shape;1645;p59"/>
            <p:cNvCxnSpPr/>
            <p:nvPr/>
          </p:nvCxnSpPr>
          <p:spPr>
            <a:xfrm>
              <a:off x="7428250" y="3261000"/>
              <a:ext cx="437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46" name="Google Shape;1646;p59"/>
          <p:cNvGrpSpPr/>
          <p:nvPr/>
        </p:nvGrpSpPr>
        <p:grpSpPr>
          <a:xfrm>
            <a:off x="914400" y="3796325"/>
            <a:ext cx="7487700" cy="971125"/>
            <a:chOff x="914400" y="3720125"/>
            <a:chExt cx="7487700" cy="971125"/>
          </a:xfrm>
        </p:grpSpPr>
        <p:sp>
          <p:nvSpPr>
            <p:cNvPr id="1647" name="Google Shape;1647;p59"/>
            <p:cNvSpPr/>
            <p:nvPr/>
          </p:nvSpPr>
          <p:spPr>
            <a:xfrm>
              <a:off x="1143000" y="3770550"/>
              <a:ext cx="7259100" cy="9207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9"/>
            <p:cNvSpPr/>
            <p:nvPr/>
          </p:nvSpPr>
          <p:spPr>
            <a:xfrm>
              <a:off x="2221925" y="4163000"/>
              <a:ext cx="885300" cy="386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9"/>
            <p:cNvSpPr txBox="1"/>
            <p:nvPr/>
          </p:nvSpPr>
          <p:spPr>
            <a:xfrm>
              <a:off x="914400" y="3720125"/>
              <a:ext cx="7411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Theorem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(informal): we can efficiently find </a:t>
              </a:r>
              <a:r>
                <a:rPr lang="en-GB" sz="1700" i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         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such that:</a:t>
              </a:r>
              <a:endParaRPr sz="17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pic>
          <p:nvPicPr>
            <p:cNvPr id="1650" name="Google Shape;1650;p59" descr="f(x) \geq a^\top W_2 D z_1 + b^\prime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419400" y="4233682"/>
              <a:ext cx="2420750" cy="32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1" name="Google Shape;1651;p59" descr="D, \ b^\prime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6025500" y="3807898"/>
              <a:ext cx="498124" cy="275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52" name="Google Shape;1652;p59"/>
            <p:cNvGrpSpPr/>
            <p:nvPr/>
          </p:nvGrpSpPr>
          <p:grpSpPr>
            <a:xfrm>
              <a:off x="3899004" y="4202363"/>
              <a:ext cx="4413370" cy="386400"/>
              <a:chOff x="4127604" y="4202363"/>
              <a:chExt cx="4413370" cy="386400"/>
            </a:xfrm>
          </p:grpSpPr>
          <p:sp>
            <p:nvSpPr>
              <p:cNvPr id="1653" name="Google Shape;1653;p59"/>
              <p:cNvSpPr/>
              <p:nvPr/>
            </p:nvSpPr>
            <p:spPr>
              <a:xfrm>
                <a:off x="6106675" y="4202363"/>
                <a:ext cx="681600" cy="386400"/>
              </a:xfrm>
              <a:prstGeom prst="rect">
                <a:avLst/>
              </a:pr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54" name="Google Shape;1654;p59" descr="f(x) \geq a^\top W_2 z_2 + b" title="MathEquation,#000000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23838" y="4233687"/>
                <a:ext cx="2140496" cy="3237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5" name="Google Shape;1655;p59"/>
              <p:cNvSpPr/>
              <p:nvPr/>
            </p:nvSpPr>
            <p:spPr>
              <a:xfrm>
                <a:off x="4127604" y="4305338"/>
                <a:ext cx="1039500" cy="186600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56" name="Google Shape;1656;p59" descr="\forall x \in \mathcal{S}, \ f(x) &gt; 0" title="MathEquation,#000000"/>
              <p:cNvPicPr preferRelativeResize="0"/>
              <p:nvPr/>
            </p:nvPicPr>
            <p:blipFill rotWithShape="1">
              <a:blip r:embed="rId6"/>
              <a:srcRect r="59270"/>
              <a:stretch>
                <a:fillRect/>
              </a:stretch>
            </p:blipFill>
            <p:spPr>
              <a:xfrm>
                <a:off x="7727850" y="4217138"/>
                <a:ext cx="813124" cy="356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57" name="Google Shape;1657;p59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2" name="Google Shape;1662;p60"/>
          <p:cNvCxnSpPr/>
          <p:nvPr/>
        </p:nvCxnSpPr>
        <p:spPr>
          <a:xfrm rot="10800000" flipH="1">
            <a:off x="5702233" y="2146553"/>
            <a:ext cx="1335900" cy="117060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63" name="Google Shape;1663;p60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664" name="Google Shape;1664;p60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65" name="Google Shape;1665;p60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7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b="1"/>
              <a:t>Proof sketch</a:t>
            </a:r>
            <a:r>
              <a:rPr lang="en-GB" sz="1800"/>
              <a:t>: conservatively use </a:t>
            </a:r>
            <a:r>
              <a:rPr lang="en-GB" sz="1800">
                <a:solidFill>
                  <a:srgbClr val="0000FF"/>
                </a:solidFill>
              </a:rPr>
              <a:t>linear bounds</a:t>
            </a:r>
            <a:r>
              <a:rPr lang="en-GB" sz="1800"/>
              <a:t> to </a:t>
            </a:r>
            <a:r>
              <a:rPr lang="en-GB" sz="1800">
                <a:solidFill>
                  <a:srgbClr val="0000FF"/>
                </a:solidFill>
              </a:rPr>
              <a:t>replace a non-linear function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666" name="Google Shape;1666;p60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74</a:t>
            </a:fld>
            <a:endParaRPr lang="en-GB"/>
          </a:p>
        </p:txBody>
      </p:sp>
      <p:grpSp>
        <p:nvGrpSpPr>
          <p:cNvPr id="1667" name="Google Shape;1667;p60"/>
          <p:cNvGrpSpPr/>
          <p:nvPr/>
        </p:nvGrpSpPr>
        <p:grpSpPr>
          <a:xfrm>
            <a:off x="1543125" y="1694591"/>
            <a:ext cx="2137857" cy="1467000"/>
            <a:chOff x="3722450" y="676325"/>
            <a:chExt cx="2510400" cy="1956000"/>
          </a:xfrm>
        </p:grpSpPr>
        <p:cxnSp>
          <p:nvCxnSpPr>
            <p:cNvPr id="1668" name="Google Shape;1668;p60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669" name="Google Shape;1669;p60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670" name="Google Shape;1670;p60"/>
            <p:cNvCxnSpPr/>
            <p:nvPr/>
          </p:nvCxnSpPr>
          <p:spPr>
            <a:xfrm>
              <a:off x="4073025" y="188265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1" name="Google Shape;1671;p60"/>
            <p:cNvCxnSpPr/>
            <p:nvPr/>
          </p:nvCxnSpPr>
          <p:spPr>
            <a:xfrm rot="10800000" flipH="1">
              <a:off x="5060625" y="1402650"/>
              <a:ext cx="480000" cy="480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2" name="Google Shape;1672;p60"/>
            <p:cNvCxnSpPr/>
            <p:nvPr/>
          </p:nvCxnSpPr>
          <p:spPr>
            <a:xfrm>
              <a:off x="4054527" y="676325"/>
              <a:ext cx="0" cy="1956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73" name="Google Shape;1673;p60"/>
            <p:cNvCxnSpPr/>
            <p:nvPr/>
          </p:nvCxnSpPr>
          <p:spPr>
            <a:xfrm>
              <a:off x="5549800" y="728900"/>
              <a:ext cx="0" cy="19032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74" name="Google Shape;1674;p60"/>
            <p:cNvCxnSpPr/>
            <p:nvPr/>
          </p:nvCxnSpPr>
          <p:spPr>
            <a:xfrm rot="10800000" flipH="1">
              <a:off x="3722450" y="1238854"/>
              <a:ext cx="2380200" cy="7368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75" name="Google Shape;1675;p60"/>
            <p:cNvCxnSpPr/>
            <p:nvPr/>
          </p:nvCxnSpPr>
          <p:spPr>
            <a:xfrm rot="10800000" flipH="1">
              <a:off x="3806820" y="1397971"/>
              <a:ext cx="2283900" cy="10920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676" name="Google Shape;1676;p60"/>
          <p:cNvSpPr txBox="1"/>
          <p:nvPr/>
        </p:nvSpPr>
        <p:spPr>
          <a:xfrm>
            <a:off x="457200" y="3146300"/>
            <a:ext cx="43431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Pre-activation bounds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(can be pre-computed using CROWN)</a:t>
            </a:r>
            <a:endParaRPr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677" name="Google Shape;1677;p60"/>
          <p:cNvSpPr/>
          <p:nvPr/>
        </p:nvSpPr>
        <p:spPr>
          <a:xfrm rot="-5400000">
            <a:off x="2390425" y="2593100"/>
            <a:ext cx="137100" cy="12741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8" name="Google Shape;1678;p60"/>
          <p:cNvGrpSpPr/>
          <p:nvPr/>
        </p:nvGrpSpPr>
        <p:grpSpPr>
          <a:xfrm>
            <a:off x="914400" y="3796325"/>
            <a:ext cx="7487700" cy="971125"/>
            <a:chOff x="914400" y="3720125"/>
            <a:chExt cx="7487700" cy="971125"/>
          </a:xfrm>
        </p:grpSpPr>
        <p:sp>
          <p:nvSpPr>
            <p:cNvPr id="1679" name="Google Shape;1679;p60"/>
            <p:cNvSpPr/>
            <p:nvPr/>
          </p:nvSpPr>
          <p:spPr>
            <a:xfrm>
              <a:off x="1143000" y="3770550"/>
              <a:ext cx="7259100" cy="9207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60"/>
            <p:cNvSpPr/>
            <p:nvPr/>
          </p:nvSpPr>
          <p:spPr>
            <a:xfrm>
              <a:off x="2221925" y="4163000"/>
              <a:ext cx="885300" cy="386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60"/>
            <p:cNvSpPr txBox="1"/>
            <p:nvPr/>
          </p:nvSpPr>
          <p:spPr>
            <a:xfrm>
              <a:off x="914400" y="3720125"/>
              <a:ext cx="7411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Theorem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(informal): we can efficiently find </a:t>
              </a:r>
              <a:r>
                <a:rPr lang="en-GB" sz="1700" i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         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such that:</a:t>
              </a:r>
              <a:endParaRPr sz="17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pic>
          <p:nvPicPr>
            <p:cNvPr id="1682" name="Google Shape;1682;p60" descr="f(x) \geq a^\top W_2 D z_1 + b^\prime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419400" y="4233682"/>
              <a:ext cx="2420750" cy="32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3" name="Google Shape;1683;p60" descr="D, \ b^\prime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6025500" y="3807898"/>
              <a:ext cx="498124" cy="275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4" name="Google Shape;1684;p60"/>
            <p:cNvGrpSpPr/>
            <p:nvPr/>
          </p:nvGrpSpPr>
          <p:grpSpPr>
            <a:xfrm>
              <a:off x="3899004" y="4202363"/>
              <a:ext cx="4413370" cy="386400"/>
              <a:chOff x="4127604" y="4202363"/>
              <a:chExt cx="4413370" cy="386400"/>
            </a:xfrm>
          </p:grpSpPr>
          <p:sp>
            <p:nvSpPr>
              <p:cNvPr id="1685" name="Google Shape;1685;p60"/>
              <p:cNvSpPr/>
              <p:nvPr/>
            </p:nvSpPr>
            <p:spPr>
              <a:xfrm>
                <a:off x="6106675" y="4202363"/>
                <a:ext cx="681600" cy="386400"/>
              </a:xfrm>
              <a:prstGeom prst="rect">
                <a:avLst/>
              </a:pr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86" name="Google Shape;1686;p60" descr="f(x) \geq a^\top W_2 z_2 + b" title="MathEquation,#000000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23838" y="4233687"/>
                <a:ext cx="2140496" cy="3237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7" name="Google Shape;1687;p60"/>
              <p:cNvSpPr/>
              <p:nvPr/>
            </p:nvSpPr>
            <p:spPr>
              <a:xfrm>
                <a:off x="4127604" y="4305338"/>
                <a:ext cx="1039500" cy="186600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88" name="Google Shape;1688;p60" descr="\forall x \in \mathcal{S}, \ f(x) &gt; 0" title="MathEquation,#000000"/>
              <p:cNvPicPr preferRelativeResize="0"/>
              <p:nvPr/>
            </p:nvPicPr>
            <p:blipFill rotWithShape="1">
              <a:blip r:embed="rId6"/>
              <a:srcRect r="59270"/>
              <a:stretch>
                <a:fillRect/>
              </a:stretch>
            </p:blipFill>
            <p:spPr>
              <a:xfrm>
                <a:off x="7727850" y="4217138"/>
                <a:ext cx="813124" cy="356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89" name="Google Shape;1689;p60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cxnSp>
        <p:nvCxnSpPr>
          <p:cNvPr id="1690" name="Google Shape;1690;p60"/>
          <p:cNvCxnSpPr/>
          <p:nvPr/>
        </p:nvCxnSpPr>
        <p:spPr>
          <a:xfrm>
            <a:off x="5322473" y="2768716"/>
            <a:ext cx="2044800" cy="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691" name="Google Shape;1691;p60"/>
          <p:cNvGrpSpPr/>
          <p:nvPr/>
        </p:nvGrpSpPr>
        <p:grpSpPr>
          <a:xfrm>
            <a:off x="5327751" y="1830174"/>
            <a:ext cx="2034180" cy="1335499"/>
            <a:chOff x="3921281" y="676325"/>
            <a:chExt cx="2311569" cy="1723225"/>
          </a:xfrm>
        </p:grpSpPr>
        <p:cxnSp>
          <p:nvCxnSpPr>
            <p:cNvPr id="1692" name="Google Shape;1692;p60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93" name="Google Shape;1693;p60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694" name="Google Shape;1694;p60"/>
            <p:cNvCxnSpPr/>
            <p:nvPr/>
          </p:nvCxnSpPr>
          <p:spPr>
            <a:xfrm>
              <a:off x="4073025" y="188265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5" name="Google Shape;1695;p60"/>
            <p:cNvCxnSpPr/>
            <p:nvPr/>
          </p:nvCxnSpPr>
          <p:spPr>
            <a:xfrm rot="10800000" flipH="1">
              <a:off x="5060625" y="1402650"/>
              <a:ext cx="480000" cy="480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6" name="Google Shape;1696;p60"/>
            <p:cNvCxnSpPr/>
            <p:nvPr/>
          </p:nvCxnSpPr>
          <p:spPr>
            <a:xfrm>
              <a:off x="4054527" y="676325"/>
              <a:ext cx="0" cy="1551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97" name="Google Shape;1697;p60"/>
            <p:cNvCxnSpPr/>
            <p:nvPr/>
          </p:nvCxnSpPr>
          <p:spPr>
            <a:xfrm>
              <a:off x="5549800" y="728900"/>
              <a:ext cx="0" cy="1153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98" name="Google Shape;1698;p60"/>
            <p:cNvCxnSpPr/>
            <p:nvPr/>
          </p:nvCxnSpPr>
          <p:spPr>
            <a:xfrm rot="10800000" flipH="1">
              <a:off x="3921281" y="1473588"/>
              <a:ext cx="2195100" cy="843600"/>
            </a:xfrm>
            <a:prstGeom prst="straightConnector1">
              <a:avLst/>
            </a:prstGeom>
            <a:noFill/>
            <a:ln w="19050" cap="flat" cmpd="sng">
              <a:solidFill>
                <a:srgbClr val="6FA8DC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pic>
        <p:nvPicPr>
          <p:cNvPr id="1699" name="Google Shape;1699;p60" descr="\alpha = 0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6842748" y="2804530"/>
            <a:ext cx="392564" cy="13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60" descr="\alpha = 0.5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7288029" y="2375009"/>
            <a:ext cx="505394" cy="137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60" descr="\alpha = 1.0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7038200" y="2015923"/>
            <a:ext cx="481110" cy="1305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60"/>
          <p:cNvSpPr txBox="1"/>
          <p:nvPr/>
        </p:nvSpPr>
        <p:spPr>
          <a:xfrm>
            <a:off x="4537025" y="3204225"/>
            <a:ext cx="434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ReLU’s lower bound can be optimized (</a:t>
            </a:r>
            <a:r>
              <a:rPr lang="en-GB" b="1" i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α</a:t>
            </a:r>
            <a:r>
              <a:rPr lang="en-GB" b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-</a:t>
            </a: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CROWN)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6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708" name="Google Shape;1708;p61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09" name="Google Shape;1709;p61"/>
          <p:cNvSpPr txBox="1">
            <a:spLocks noGrp="1"/>
          </p:cNvSpPr>
          <p:nvPr>
            <p:ph type="body" idx="1"/>
          </p:nvPr>
        </p:nvSpPr>
        <p:spPr>
          <a:xfrm>
            <a:off x="228600" y="10858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b="1"/>
              <a:t>Proof sketch</a:t>
            </a:r>
            <a:r>
              <a:rPr lang="en-GB" sz="1800"/>
              <a:t>: conservatively use </a:t>
            </a:r>
            <a:r>
              <a:rPr lang="en-GB" sz="1800">
                <a:solidFill>
                  <a:srgbClr val="0000FF"/>
                </a:solidFill>
              </a:rPr>
              <a:t>linear bounds</a:t>
            </a:r>
            <a:r>
              <a:rPr lang="en-GB" sz="1800"/>
              <a:t> to </a:t>
            </a:r>
            <a:r>
              <a:rPr lang="en-GB" sz="1800">
                <a:solidFill>
                  <a:srgbClr val="0000FF"/>
                </a:solidFill>
              </a:rPr>
              <a:t>replace a non-linear function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710" name="Google Shape;1710;p61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75</a:t>
            </a:fld>
            <a:endParaRPr lang="en-GB"/>
          </a:p>
        </p:txBody>
      </p:sp>
      <p:grpSp>
        <p:nvGrpSpPr>
          <p:cNvPr id="1711" name="Google Shape;1711;p61"/>
          <p:cNvGrpSpPr/>
          <p:nvPr/>
        </p:nvGrpSpPr>
        <p:grpSpPr>
          <a:xfrm>
            <a:off x="1543125" y="1694591"/>
            <a:ext cx="2137857" cy="1467000"/>
            <a:chOff x="3722450" y="676325"/>
            <a:chExt cx="2510400" cy="1956000"/>
          </a:xfrm>
        </p:grpSpPr>
        <p:cxnSp>
          <p:nvCxnSpPr>
            <p:cNvPr id="1712" name="Google Shape;1712;p61"/>
            <p:cNvCxnSpPr/>
            <p:nvPr/>
          </p:nvCxnSpPr>
          <p:spPr>
            <a:xfrm>
              <a:off x="3971450" y="1882650"/>
              <a:ext cx="2261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1713" name="Google Shape;1713;p61"/>
            <p:cNvCxnSpPr/>
            <p:nvPr/>
          </p:nvCxnSpPr>
          <p:spPr>
            <a:xfrm>
              <a:off x="5060625" y="69195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cxnSp>
          <p:nvCxnSpPr>
            <p:cNvPr id="1714" name="Google Shape;1714;p61"/>
            <p:cNvCxnSpPr/>
            <p:nvPr/>
          </p:nvCxnSpPr>
          <p:spPr>
            <a:xfrm>
              <a:off x="4073025" y="188265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5" name="Google Shape;1715;p61"/>
            <p:cNvCxnSpPr/>
            <p:nvPr/>
          </p:nvCxnSpPr>
          <p:spPr>
            <a:xfrm rot="10800000" flipH="1">
              <a:off x="5060625" y="1402650"/>
              <a:ext cx="480000" cy="480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6" name="Google Shape;1716;p61"/>
            <p:cNvCxnSpPr/>
            <p:nvPr/>
          </p:nvCxnSpPr>
          <p:spPr>
            <a:xfrm>
              <a:off x="4054527" y="676325"/>
              <a:ext cx="0" cy="1956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717" name="Google Shape;1717;p61"/>
            <p:cNvCxnSpPr/>
            <p:nvPr/>
          </p:nvCxnSpPr>
          <p:spPr>
            <a:xfrm>
              <a:off x="5549800" y="728900"/>
              <a:ext cx="0" cy="19032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718" name="Google Shape;1718;p61"/>
            <p:cNvCxnSpPr/>
            <p:nvPr/>
          </p:nvCxnSpPr>
          <p:spPr>
            <a:xfrm rot="10800000" flipH="1">
              <a:off x="3722450" y="1238854"/>
              <a:ext cx="2380200" cy="73680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719" name="Google Shape;1719;p61"/>
            <p:cNvCxnSpPr/>
            <p:nvPr/>
          </p:nvCxnSpPr>
          <p:spPr>
            <a:xfrm rot="10800000" flipH="1">
              <a:off x="3806820" y="1397971"/>
              <a:ext cx="2283900" cy="1092000"/>
            </a:xfrm>
            <a:prstGeom prst="straightConnector1">
              <a:avLst/>
            </a:prstGeom>
            <a:noFill/>
            <a:ln w="19050" cap="flat" cmpd="sng">
              <a:solidFill>
                <a:srgbClr val="99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20" name="Google Shape;1720;p61"/>
          <p:cNvGrpSpPr/>
          <p:nvPr/>
        </p:nvGrpSpPr>
        <p:grpSpPr>
          <a:xfrm>
            <a:off x="914400" y="3796325"/>
            <a:ext cx="7487700" cy="971125"/>
            <a:chOff x="914400" y="3720125"/>
            <a:chExt cx="7487700" cy="971125"/>
          </a:xfrm>
        </p:grpSpPr>
        <p:sp>
          <p:nvSpPr>
            <p:cNvPr id="1721" name="Google Shape;1721;p61"/>
            <p:cNvSpPr/>
            <p:nvPr/>
          </p:nvSpPr>
          <p:spPr>
            <a:xfrm>
              <a:off x="1143000" y="3770550"/>
              <a:ext cx="7259100" cy="9207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61"/>
            <p:cNvSpPr/>
            <p:nvPr/>
          </p:nvSpPr>
          <p:spPr>
            <a:xfrm>
              <a:off x="2221925" y="4163000"/>
              <a:ext cx="885300" cy="3864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61"/>
            <p:cNvSpPr txBox="1"/>
            <p:nvPr/>
          </p:nvSpPr>
          <p:spPr>
            <a:xfrm>
              <a:off x="914400" y="3720125"/>
              <a:ext cx="7411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b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Theorem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(informal): we can efficiently find </a:t>
              </a:r>
              <a:r>
                <a:rPr lang="en-GB" sz="1700" i="1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          </a:t>
              </a:r>
              <a:r>
                <a:rPr lang="en-GB" sz="17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such that:</a:t>
              </a:r>
              <a:endParaRPr sz="17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pic>
          <p:nvPicPr>
            <p:cNvPr id="1724" name="Google Shape;1724;p61" descr="f(x) \geq a^\top W_2 D z_1 + b^\prime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1419400" y="4233682"/>
              <a:ext cx="2420750" cy="32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5" name="Google Shape;1725;p61" descr="D, \ b^\prime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6025500" y="3807898"/>
              <a:ext cx="498124" cy="275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26" name="Google Shape;1726;p61"/>
            <p:cNvGrpSpPr/>
            <p:nvPr/>
          </p:nvGrpSpPr>
          <p:grpSpPr>
            <a:xfrm>
              <a:off x="3899004" y="4202363"/>
              <a:ext cx="4413370" cy="386400"/>
              <a:chOff x="4127604" y="4202363"/>
              <a:chExt cx="4413370" cy="386400"/>
            </a:xfrm>
          </p:grpSpPr>
          <p:sp>
            <p:nvSpPr>
              <p:cNvPr id="1727" name="Google Shape;1727;p61"/>
              <p:cNvSpPr/>
              <p:nvPr/>
            </p:nvSpPr>
            <p:spPr>
              <a:xfrm>
                <a:off x="6106675" y="4202363"/>
                <a:ext cx="681600" cy="386400"/>
              </a:xfrm>
              <a:prstGeom prst="rect">
                <a:avLst/>
              </a:pr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728" name="Google Shape;1728;p61" descr="f(x) \geq a^\top W_2 z_2 + b" title="MathEquation,#000000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23838" y="4233687"/>
                <a:ext cx="2140496" cy="3237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9" name="Google Shape;1729;p61"/>
              <p:cNvSpPr/>
              <p:nvPr/>
            </p:nvSpPr>
            <p:spPr>
              <a:xfrm>
                <a:off x="4127604" y="4305338"/>
                <a:ext cx="1039500" cy="186600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730" name="Google Shape;1730;p61" descr="\forall x \in \mathcal{S}, \ f(x) &gt; 0" title="MathEquation,#000000"/>
              <p:cNvPicPr preferRelativeResize="0"/>
              <p:nvPr/>
            </p:nvPicPr>
            <p:blipFill rotWithShape="1">
              <a:blip r:embed="rId6"/>
              <a:srcRect r="59270"/>
              <a:stretch>
                <a:fillRect/>
              </a:stretch>
            </p:blipFill>
            <p:spPr>
              <a:xfrm>
                <a:off x="7727850" y="4217138"/>
                <a:ext cx="813124" cy="356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731" name="Google Shape;1731;p61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grpSp>
        <p:nvGrpSpPr>
          <p:cNvPr id="1732" name="Google Shape;1732;p61"/>
          <p:cNvGrpSpPr/>
          <p:nvPr/>
        </p:nvGrpSpPr>
        <p:grpSpPr>
          <a:xfrm>
            <a:off x="5634492" y="2443879"/>
            <a:ext cx="3171838" cy="1332549"/>
            <a:chOff x="5794575" y="2571750"/>
            <a:chExt cx="3667713" cy="1540876"/>
          </a:xfrm>
        </p:grpSpPr>
        <p:cxnSp>
          <p:nvCxnSpPr>
            <p:cNvPr id="1733" name="Google Shape;1733;p61"/>
            <p:cNvCxnSpPr/>
            <p:nvPr/>
          </p:nvCxnSpPr>
          <p:spPr>
            <a:xfrm flipH="1">
              <a:off x="5794575" y="2571750"/>
              <a:ext cx="751500" cy="556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34" name="Google Shape;1734;p61"/>
            <p:cNvSpPr txBox="1"/>
            <p:nvPr/>
          </p:nvSpPr>
          <p:spPr>
            <a:xfrm>
              <a:off x="6390588" y="3018033"/>
              <a:ext cx="30717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Choose </a:t>
              </a:r>
              <a:r>
                <a:rPr lang="en-GB" sz="1800">
                  <a:solidFill>
                    <a:srgbClr val="9900FF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lower bound</a:t>
              </a:r>
              <a:endParaRPr sz="1800">
                <a:solidFill>
                  <a:srgbClr val="99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sp>
          <p:nvSpPr>
            <p:cNvPr id="1735" name="Google Shape;1735;p61"/>
            <p:cNvSpPr txBox="1"/>
            <p:nvPr/>
          </p:nvSpPr>
          <p:spPr>
            <a:xfrm>
              <a:off x="6390588" y="3578626"/>
              <a:ext cx="30717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Choose </a:t>
              </a:r>
              <a:r>
                <a:rPr lang="en-GB" sz="1800">
                  <a:solidFill>
                    <a:srgbClr val="38761D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upper bound</a:t>
              </a:r>
              <a:endParaRPr sz="1800">
                <a:solidFill>
                  <a:srgbClr val="38761D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cxnSp>
          <p:nvCxnSpPr>
            <p:cNvPr id="1736" name="Google Shape;1736;p61"/>
            <p:cNvCxnSpPr/>
            <p:nvPr/>
          </p:nvCxnSpPr>
          <p:spPr>
            <a:xfrm>
              <a:off x="7620300" y="2571750"/>
              <a:ext cx="408000" cy="610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1737" name="Google Shape;1737;p61" descr="f(x) \geq a^\top W_2 z_2 + b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472150" y="1694600"/>
            <a:ext cx="2340450" cy="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61" descr="\displaystyle f(x) \geq \sum_{j} \left [ (a^\top W_2)_j \cdot z_{2,j} \right ] + b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4518700" y="2178300"/>
            <a:ext cx="3456000" cy="6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p61" descr="(a^\top W_2)_j \geq 0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4821050" y="2912393"/>
            <a:ext cx="1274100" cy="289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61" descr="(a^\top W_2)_j &lt; 0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4842973" y="3365986"/>
            <a:ext cx="1274092" cy="2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61" descr="z_{2,j}" title="MathEquation,#000000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2339025" y="1694590"/>
            <a:ext cx="310370" cy="19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61" descr="z_{1,j}" title="MathEquation,#000000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3376500" y="2626500"/>
            <a:ext cx="310370" cy="19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6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748" name="Google Shape;1748;p62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749" name="Google Shape;1749;p62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76</a:t>
            </a:fld>
            <a:endParaRPr lang="en-GB"/>
          </a:p>
        </p:txBody>
      </p:sp>
      <p:sp>
        <p:nvSpPr>
          <p:cNvPr id="1750" name="Google Shape;1750;p62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grpSp>
        <p:nvGrpSpPr>
          <p:cNvPr id="1751" name="Google Shape;1751;p62"/>
          <p:cNvGrpSpPr/>
          <p:nvPr/>
        </p:nvGrpSpPr>
        <p:grpSpPr>
          <a:xfrm>
            <a:off x="457596" y="818961"/>
            <a:ext cx="8269329" cy="3778639"/>
            <a:chOff x="152796" y="818961"/>
            <a:chExt cx="8269329" cy="3778639"/>
          </a:xfrm>
        </p:grpSpPr>
        <p:sp>
          <p:nvSpPr>
            <p:cNvPr id="1752" name="Google Shape;1752;p62"/>
            <p:cNvSpPr/>
            <p:nvPr/>
          </p:nvSpPr>
          <p:spPr>
            <a:xfrm>
              <a:off x="269325" y="4072000"/>
              <a:ext cx="8152800" cy="5256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D0000"/>
                </a:solidFill>
              </a:endParaRPr>
            </a:p>
          </p:txBody>
        </p:sp>
        <p:pic>
          <p:nvPicPr>
            <p:cNvPr id="1753" name="Google Shape;1753;p62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4367500" y="4150522"/>
              <a:ext cx="2787376" cy="39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4" name="Google Shape;1754;p62"/>
            <p:cNvSpPr txBox="1"/>
            <p:nvPr/>
          </p:nvSpPr>
          <p:spPr>
            <a:xfrm>
              <a:off x="269325" y="4079275"/>
              <a:ext cx="4150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CROWN main theorem </a:t>
              </a:r>
              <a:r>
                <a:rPr lang="en-GB" sz="1800"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(simplified):</a:t>
              </a:r>
              <a:endParaRPr sz="1800"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pic>
          <p:nvPicPr>
            <p:cNvPr id="1755" name="Google Shape;1755;p62" descr="\forall x \in \mathcal{S}, \ f(x) &gt; 0" title="MathEquation,#000000"/>
            <p:cNvPicPr preferRelativeResize="0"/>
            <p:nvPr/>
          </p:nvPicPr>
          <p:blipFill rotWithShape="1">
            <a:blip r:embed="rId4"/>
            <a:srcRect r="59270"/>
            <a:stretch>
              <a:fillRect/>
            </a:stretch>
          </p:blipFill>
          <p:spPr>
            <a:xfrm>
              <a:off x="7408400" y="4156375"/>
              <a:ext cx="813124" cy="3568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56" name="Google Shape;1756;p62"/>
            <p:cNvGrpSpPr/>
            <p:nvPr/>
          </p:nvGrpSpPr>
          <p:grpSpPr>
            <a:xfrm>
              <a:off x="152796" y="818961"/>
              <a:ext cx="2229235" cy="1501564"/>
              <a:chOff x="152796" y="895161"/>
              <a:chExt cx="2229235" cy="1501564"/>
            </a:xfrm>
          </p:grpSpPr>
          <p:grpSp>
            <p:nvGrpSpPr>
              <p:cNvPr id="1757" name="Google Shape;1757;p62"/>
              <p:cNvGrpSpPr/>
              <p:nvPr/>
            </p:nvGrpSpPr>
            <p:grpSpPr>
              <a:xfrm>
                <a:off x="152796" y="895161"/>
                <a:ext cx="2229235" cy="1501564"/>
                <a:chOff x="1186700" y="1276188"/>
                <a:chExt cx="2664000" cy="1794412"/>
              </a:xfrm>
            </p:grpSpPr>
            <p:cxnSp>
              <p:nvCxnSpPr>
                <p:cNvPr id="1758" name="Google Shape;1758;p62"/>
                <p:cNvCxnSpPr/>
                <p:nvPr/>
              </p:nvCxnSpPr>
              <p:spPr>
                <a:xfrm>
                  <a:off x="1431294" y="1276188"/>
                  <a:ext cx="0" cy="1755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759" name="Google Shape;1759;p62"/>
                <p:cNvCxnSpPr/>
                <p:nvPr/>
              </p:nvCxnSpPr>
              <p:spPr>
                <a:xfrm>
                  <a:off x="1186700" y="2638288"/>
                  <a:ext cx="26640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1760" name="Google Shape;1760;p62"/>
                <p:cNvSpPr/>
                <p:nvPr/>
              </p:nvSpPr>
              <p:spPr>
                <a:xfrm>
                  <a:off x="1430382" y="1522267"/>
                  <a:ext cx="2319243" cy="1062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644" h="61659" extrusionOk="0">
                      <a:moveTo>
                        <a:pt x="0" y="61659"/>
                      </a:moveTo>
                      <a:cubicBezTo>
                        <a:pt x="3006" y="56696"/>
                        <a:pt x="9788" y="35443"/>
                        <a:pt x="18037" y="31878"/>
                      </a:cubicBezTo>
                      <a:cubicBezTo>
                        <a:pt x="26286" y="28313"/>
                        <a:pt x="41735" y="40826"/>
                        <a:pt x="49495" y="40267"/>
                      </a:cubicBezTo>
                      <a:cubicBezTo>
                        <a:pt x="57255" y="39708"/>
                        <a:pt x="59003" y="29502"/>
                        <a:pt x="64596" y="28523"/>
                      </a:cubicBezTo>
                      <a:cubicBezTo>
                        <a:pt x="70189" y="27544"/>
                        <a:pt x="76829" y="37471"/>
                        <a:pt x="83051" y="34395"/>
                      </a:cubicBezTo>
                      <a:cubicBezTo>
                        <a:pt x="89273" y="31319"/>
                        <a:pt x="93328" y="15800"/>
                        <a:pt x="101927" y="10067"/>
                      </a:cubicBezTo>
                      <a:cubicBezTo>
                        <a:pt x="110526" y="4335"/>
                        <a:pt x="129191" y="1678"/>
                        <a:pt x="134644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pic>
              <p:nvPicPr>
                <p:cNvPr id="1761" name="Google Shape;1761;p62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91383" y="1276188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762" name="Google Shape;1762;p62"/>
                <p:cNvCxnSpPr/>
                <p:nvPr/>
              </p:nvCxnSpPr>
              <p:spPr>
                <a:xfrm rot="10800000">
                  <a:off x="1834350" y="1681200"/>
                  <a:ext cx="0" cy="1245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B7B7B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3" name="Google Shape;1763;p62"/>
                <p:cNvCxnSpPr/>
                <p:nvPr/>
              </p:nvCxnSpPr>
              <p:spPr>
                <a:xfrm>
                  <a:off x="1823750" y="2638283"/>
                  <a:ext cx="11418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A4C2F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pic>
              <p:nvPicPr>
                <p:cNvPr id="1764" name="Google Shape;1764;p62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08011" y="2670320"/>
                  <a:ext cx="144658" cy="1679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65" name="Google Shape;1765;p62"/>
                <p:cNvSpPr/>
                <p:nvPr/>
              </p:nvSpPr>
              <p:spPr>
                <a:xfrm>
                  <a:off x="1836400" y="1987438"/>
                  <a:ext cx="1139300" cy="23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72" h="9367" extrusionOk="0">
                      <a:moveTo>
                        <a:pt x="0" y="3198"/>
                      </a:moveTo>
                      <a:cubicBezTo>
                        <a:pt x="644" y="3354"/>
                        <a:pt x="822" y="3109"/>
                        <a:pt x="3864" y="4131"/>
                      </a:cubicBezTo>
                      <a:cubicBezTo>
                        <a:pt x="6907" y="5153"/>
                        <a:pt x="14188" y="9842"/>
                        <a:pt x="18255" y="9328"/>
                      </a:cubicBezTo>
                      <a:cubicBezTo>
                        <a:pt x="22322" y="8814"/>
                        <a:pt x="24846" y="1667"/>
                        <a:pt x="28266" y="1045"/>
                      </a:cubicBezTo>
                      <a:cubicBezTo>
                        <a:pt x="31686" y="423"/>
                        <a:pt x="36292" y="5283"/>
                        <a:pt x="38776" y="5597"/>
                      </a:cubicBezTo>
                      <a:cubicBezTo>
                        <a:pt x="41261" y="5912"/>
                        <a:pt x="42040" y="3865"/>
                        <a:pt x="43173" y="2932"/>
                      </a:cubicBezTo>
                      <a:cubicBezTo>
                        <a:pt x="44306" y="1999"/>
                        <a:pt x="45172" y="489"/>
                        <a:pt x="45572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1766" name="Google Shape;1766;p62"/>
                <p:cNvCxnSpPr/>
                <p:nvPr/>
              </p:nvCxnSpPr>
              <p:spPr>
                <a:xfrm rot="10800000">
                  <a:off x="2975700" y="1694950"/>
                  <a:ext cx="0" cy="1257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B7B7B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7" name="Google Shape;1767;p62"/>
                <p:cNvCxnSpPr/>
                <p:nvPr/>
              </p:nvCxnSpPr>
              <p:spPr>
                <a:xfrm rot="10800000" flipH="1">
                  <a:off x="1670300" y="2175811"/>
                  <a:ext cx="1707000" cy="280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pic>
              <p:nvPicPr>
                <p:cNvPr id="1768" name="Google Shape;1768;p62" descr="f(x) &gt; 0, \forall x \in \mathcal{S}" title="MathEquation,#000000"/>
                <p:cNvPicPr preferRelativeResize="0"/>
                <p:nvPr/>
              </p:nvPicPr>
              <p:blipFill rotWithShape="1">
                <a:blip r:embed="rId7"/>
                <a:srcRect l="87613" t="10" r="-3" b="-10"/>
                <a:stretch>
                  <a:fillRect/>
                </a:stretch>
              </p:blipFill>
              <p:spPr>
                <a:xfrm>
                  <a:off x="2266737" y="2825201"/>
                  <a:ext cx="185678" cy="24539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769" name="Google Shape;1769;p62"/>
              <p:cNvSpPr/>
              <p:nvPr/>
            </p:nvSpPr>
            <p:spPr>
              <a:xfrm rot="-5400000">
                <a:off x="1131525" y="1639850"/>
                <a:ext cx="113700" cy="9441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0" name="Google Shape;1770;p62"/>
          <p:cNvGrpSpPr/>
          <p:nvPr/>
        </p:nvGrpSpPr>
        <p:grpSpPr>
          <a:xfrm>
            <a:off x="1455338" y="3429138"/>
            <a:ext cx="5918700" cy="556163"/>
            <a:chOff x="1455338" y="3505338"/>
            <a:chExt cx="5918700" cy="556163"/>
          </a:xfrm>
        </p:grpSpPr>
        <p:sp>
          <p:nvSpPr>
            <p:cNvPr id="1771" name="Google Shape;1771;p62"/>
            <p:cNvSpPr/>
            <p:nvPr/>
          </p:nvSpPr>
          <p:spPr>
            <a:xfrm>
              <a:off x="1455338" y="3505338"/>
              <a:ext cx="5918700" cy="19980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CCCCCC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62"/>
            <p:cNvSpPr txBox="1"/>
            <p:nvPr/>
          </p:nvSpPr>
          <p:spPr>
            <a:xfrm>
              <a:off x="1556300" y="3599800"/>
              <a:ext cx="5763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Always keep valid lower bounds</a:t>
              </a:r>
              <a:endParaRPr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grpSp>
        <p:nvGrpSpPr>
          <p:cNvPr id="1773" name="Google Shape;1773;p62"/>
          <p:cNvGrpSpPr/>
          <p:nvPr/>
        </p:nvGrpSpPr>
        <p:grpSpPr>
          <a:xfrm>
            <a:off x="1436712" y="2653914"/>
            <a:ext cx="460422" cy="461995"/>
            <a:chOff x="2708099" y="2963363"/>
            <a:chExt cx="1021798" cy="1025289"/>
          </a:xfrm>
        </p:grpSpPr>
        <p:pic>
          <p:nvPicPr>
            <p:cNvPr id="1774" name="Google Shape;1774;p62"/>
            <p:cNvPicPr preferRelativeResize="0"/>
            <p:nvPr/>
          </p:nvPicPr>
          <p:blipFill rotWithShape="1">
            <a:blip r:embed="rId8"/>
            <a:srcRect l="14039" t="9153" r="55651" b="45213"/>
            <a:stretch>
              <a:fillRect/>
            </a:stretch>
          </p:blipFill>
          <p:spPr>
            <a:xfrm>
              <a:off x="2708099" y="2963363"/>
              <a:ext cx="1021798" cy="10252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5" name="Google Shape;1775;p62"/>
            <p:cNvSpPr/>
            <p:nvPr/>
          </p:nvSpPr>
          <p:spPr>
            <a:xfrm>
              <a:off x="3130675" y="3637138"/>
              <a:ext cx="288000" cy="1422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4A86E8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FF00"/>
                </a:solidFill>
              </a:endParaRPr>
            </a:p>
          </p:txBody>
        </p:sp>
      </p:grpSp>
      <p:grpSp>
        <p:nvGrpSpPr>
          <p:cNvPr id="1776" name="Google Shape;1776;p62"/>
          <p:cNvGrpSpPr/>
          <p:nvPr/>
        </p:nvGrpSpPr>
        <p:grpSpPr>
          <a:xfrm>
            <a:off x="5719551" y="1305625"/>
            <a:ext cx="3026549" cy="1366026"/>
            <a:chOff x="5719551" y="1305625"/>
            <a:chExt cx="3026549" cy="1366026"/>
          </a:xfrm>
        </p:grpSpPr>
        <p:grpSp>
          <p:nvGrpSpPr>
            <p:cNvPr id="1777" name="Google Shape;1777;p62"/>
            <p:cNvGrpSpPr/>
            <p:nvPr/>
          </p:nvGrpSpPr>
          <p:grpSpPr>
            <a:xfrm>
              <a:off x="6516800" y="1305625"/>
              <a:ext cx="2229300" cy="789900"/>
              <a:chOff x="6516800" y="1305625"/>
              <a:chExt cx="2229300" cy="789900"/>
            </a:xfrm>
          </p:grpSpPr>
          <p:pic>
            <p:nvPicPr>
              <p:cNvPr id="1778" name="Google Shape;1778;p62" descr="f(x) = W_3 z_4" title="MathEquation,#000000"/>
              <p:cNvPicPr preferRelativeResize="0"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44600" y="1796750"/>
                <a:ext cx="1373700" cy="2987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79" name="Google Shape;1779;p62"/>
              <p:cNvSpPr txBox="1"/>
              <p:nvPr/>
            </p:nvSpPr>
            <p:spPr>
              <a:xfrm>
                <a:off x="6516800" y="1305625"/>
                <a:ext cx="2229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Georgia" panose="02040502050405020303"/>
                    <a:ea typeface="Georgia" panose="02040502050405020303"/>
                    <a:cs typeface="Georgia" panose="02040502050405020303"/>
                    <a:sym typeface="Georgia" panose="02040502050405020303"/>
                  </a:rPr>
                  <a:t>Initial (in)equality:</a:t>
                </a:r>
                <a:endParaRPr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endParaRPr>
              </a:p>
            </p:txBody>
          </p:sp>
        </p:grpSp>
        <p:pic>
          <p:nvPicPr>
            <p:cNvPr id="1780" name="Google Shape;1780;p62" descr="z_4" title="MathEquation,#000000"/>
            <p:cNvPicPr preferRelativeResize="0"/>
            <p:nvPr/>
          </p:nvPicPr>
          <p:blipFill>
            <a:blip r:embed="rId10"/>
            <a:stretch>
              <a:fillRect/>
            </a:stretch>
          </p:blipFill>
          <p:spPr>
            <a:xfrm>
              <a:off x="5719551" y="2506634"/>
              <a:ext cx="192724" cy="1650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1" name="Google Shape;1781;p62"/>
          <p:cNvSpPr/>
          <p:nvPr/>
        </p:nvSpPr>
        <p:spPr>
          <a:xfrm>
            <a:off x="6794792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2" name="Google Shape;1782;p62"/>
          <p:cNvGrpSpPr/>
          <p:nvPr/>
        </p:nvGrpSpPr>
        <p:grpSpPr>
          <a:xfrm>
            <a:off x="2361892" y="2644212"/>
            <a:ext cx="611252" cy="489022"/>
            <a:chOff x="1591075" y="1810500"/>
            <a:chExt cx="1097400" cy="877800"/>
          </a:xfrm>
        </p:grpSpPr>
        <p:sp>
          <p:nvSpPr>
            <p:cNvPr id="1783" name="Google Shape;1783;p62"/>
            <p:cNvSpPr/>
            <p:nvPr/>
          </p:nvSpPr>
          <p:spPr>
            <a:xfrm>
              <a:off x="1591075" y="1810500"/>
              <a:ext cx="1097400" cy="877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84" name="Google Shape;1784;p62"/>
            <p:cNvPicPr preferRelativeResize="0"/>
            <p:nvPr/>
          </p:nvPicPr>
          <p:blipFill>
            <a:blip r:embed="rId11"/>
            <a:stretch>
              <a:fillRect/>
            </a:stretch>
          </p:blipFill>
          <p:spPr>
            <a:xfrm>
              <a:off x="1899750" y="2073000"/>
              <a:ext cx="480050" cy="352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5" name="Google Shape;1785;p62"/>
          <p:cNvGrpSpPr/>
          <p:nvPr/>
        </p:nvGrpSpPr>
        <p:grpSpPr>
          <a:xfrm>
            <a:off x="4238208" y="2617421"/>
            <a:ext cx="611252" cy="527295"/>
            <a:chOff x="4218325" y="1741925"/>
            <a:chExt cx="1097400" cy="946500"/>
          </a:xfrm>
        </p:grpSpPr>
        <p:sp>
          <p:nvSpPr>
            <p:cNvPr id="1786" name="Google Shape;1786;p62"/>
            <p:cNvSpPr/>
            <p:nvPr/>
          </p:nvSpPr>
          <p:spPr>
            <a:xfrm>
              <a:off x="4218325" y="1741925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87" name="Google Shape;1787;p62" descr="W_2" title="MathEquation,#000000"/>
            <p:cNvPicPr preferRelativeResize="0"/>
            <p:nvPr/>
          </p:nvPicPr>
          <p:blipFill>
            <a:blip r:embed="rId12"/>
            <a:stretch>
              <a:fillRect/>
            </a:stretch>
          </p:blipFill>
          <p:spPr>
            <a:xfrm>
              <a:off x="4526025" y="2073000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8" name="Google Shape;1788;p62"/>
          <p:cNvGrpSpPr/>
          <p:nvPr/>
        </p:nvGrpSpPr>
        <p:grpSpPr>
          <a:xfrm>
            <a:off x="6128755" y="2625075"/>
            <a:ext cx="611252" cy="527295"/>
            <a:chOff x="7416274" y="1776150"/>
            <a:chExt cx="1097400" cy="946500"/>
          </a:xfrm>
        </p:grpSpPr>
        <p:sp>
          <p:nvSpPr>
            <p:cNvPr id="1789" name="Google Shape;1789;p62"/>
            <p:cNvSpPr/>
            <p:nvPr/>
          </p:nvSpPr>
          <p:spPr>
            <a:xfrm>
              <a:off x="7416274" y="1776150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90" name="Google Shape;1790;p62" descr="W_3" title="MathEquation,#000000"/>
            <p:cNvPicPr preferRelativeResize="0"/>
            <p:nvPr/>
          </p:nvPicPr>
          <p:blipFill>
            <a:blip r:embed="rId13"/>
            <a:stretch>
              <a:fillRect/>
            </a:stretch>
          </p:blipFill>
          <p:spPr>
            <a:xfrm>
              <a:off x="7732699" y="2072988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1" name="Google Shape;1791;p62"/>
          <p:cNvSpPr/>
          <p:nvPr/>
        </p:nvSpPr>
        <p:spPr>
          <a:xfrm>
            <a:off x="5706389" y="2716876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62"/>
          <p:cNvSpPr/>
          <p:nvPr/>
        </p:nvSpPr>
        <p:spPr>
          <a:xfrm>
            <a:off x="4894839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62"/>
          <p:cNvSpPr/>
          <p:nvPr/>
        </p:nvSpPr>
        <p:spPr>
          <a:xfrm>
            <a:off x="3815725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4" name="Google Shape;1794;p62"/>
          <p:cNvSpPr/>
          <p:nvPr/>
        </p:nvSpPr>
        <p:spPr>
          <a:xfrm>
            <a:off x="3004701" y="2716885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5" name="Google Shape;1795;p62"/>
          <p:cNvSpPr/>
          <p:nvPr/>
        </p:nvSpPr>
        <p:spPr>
          <a:xfrm>
            <a:off x="1984478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6" name="Google Shape;1796;p62" descr="f(x)" title="MathEquation,#000000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7226748" y="2731621"/>
            <a:ext cx="470748" cy="298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7" name="Google Shape;1797;p62"/>
          <p:cNvGrpSpPr/>
          <p:nvPr/>
        </p:nvGrpSpPr>
        <p:grpSpPr>
          <a:xfrm>
            <a:off x="3413631" y="2394036"/>
            <a:ext cx="322182" cy="988141"/>
            <a:chOff x="2999975" y="2187100"/>
            <a:chExt cx="447600" cy="1372800"/>
          </a:xfrm>
        </p:grpSpPr>
        <p:sp>
          <p:nvSpPr>
            <p:cNvPr id="1798" name="Google Shape;1798;p62"/>
            <p:cNvSpPr/>
            <p:nvPr/>
          </p:nvSpPr>
          <p:spPr>
            <a:xfrm>
              <a:off x="2999975" y="2187100"/>
              <a:ext cx="447600" cy="1372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9" name="Google Shape;1799;p62"/>
            <p:cNvGrpSpPr/>
            <p:nvPr/>
          </p:nvGrpSpPr>
          <p:grpSpPr>
            <a:xfrm>
              <a:off x="3075543" y="2244470"/>
              <a:ext cx="315315" cy="315315"/>
              <a:chOff x="4946527" y="1755650"/>
              <a:chExt cx="2241043" cy="2241043"/>
            </a:xfrm>
          </p:grpSpPr>
          <p:grpSp>
            <p:nvGrpSpPr>
              <p:cNvPr id="1800" name="Google Shape;1800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01" name="Google Shape;1801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02" name="Google Shape;1802;p62"/>
                <p:cNvCxnSpPr>
                  <a:stCxn id="1801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3" name="Google Shape;1803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04" name="Google Shape;1804;p62"/>
              <p:cNvCxnSpPr>
                <a:stCxn id="1801" idx="2"/>
                <a:endCxn id="1801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5" name="Google Shape;1805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06" name="Google Shape;1806;p62"/>
            <p:cNvGrpSpPr/>
            <p:nvPr/>
          </p:nvGrpSpPr>
          <p:grpSpPr>
            <a:xfrm>
              <a:off x="3075543" y="2684234"/>
              <a:ext cx="315315" cy="315315"/>
              <a:chOff x="4946527" y="1755650"/>
              <a:chExt cx="2241043" cy="2241043"/>
            </a:xfrm>
          </p:grpSpPr>
          <p:grpSp>
            <p:nvGrpSpPr>
              <p:cNvPr id="1807" name="Google Shape;1807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08" name="Google Shape;1808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09" name="Google Shape;1809;p62"/>
                <p:cNvCxnSpPr>
                  <a:stCxn id="180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0" name="Google Shape;1810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11" name="Google Shape;1811;p62"/>
              <p:cNvCxnSpPr>
                <a:stCxn id="1808" idx="2"/>
                <a:endCxn id="1808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2" name="Google Shape;1812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13" name="Google Shape;1813;p62"/>
            <p:cNvGrpSpPr/>
            <p:nvPr/>
          </p:nvGrpSpPr>
          <p:grpSpPr>
            <a:xfrm>
              <a:off x="3075543" y="3123998"/>
              <a:ext cx="315315" cy="315315"/>
              <a:chOff x="4946527" y="1755650"/>
              <a:chExt cx="2241043" cy="2241043"/>
            </a:xfrm>
          </p:grpSpPr>
          <p:grpSp>
            <p:nvGrpSpPr>
              <p:cNvPr id="1814" name="Google Shape;1814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15" name="Google Shape;1815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16" name="Google Shape;1816;p62"/>
                <p:cNvCxnSpPr>
                  <a:stCxn id="1815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7" name="Google Shape;1817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18" name="Google Shape;1818;p62"/>
              <p:cNvCxnSpPr>
                <a:stCxn id="1815" idx="2"/>
                <a:endCxn id="1815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9" name="Google Shape;1819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820" name="Google Shape;1820;p62"/>
          <p:cNvGrpSpPr/>
          <p:nvPr/>
        </p:nvGrpSpPr>
        <p:grpSpPr>
          <a:xfrm>
            <a:off x="5334844" y="2387024"/>
            <a:ext cx="322182" cy="988141"/>
            <a:chOff x="2999975" y="2187100"/>
            <a:chExt cx="447600" cy="1372800"/>
          </a:xfrm>
        </p:grpSpPr>
        <p:sp>
          <p:nvSpPr>
            <p:cNvPr id="1821" name="Google Shape;1821;p62"/>
            <p:cNvSpPr/>
            <p:nvPr/>
          </p:nvSpPr>
          <p:spPr>
            <a:xfrm>
              <a:off x="2999975" y="2187100"/>
              <a:ext cx="447600" cy="1372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2" name="Google Shape;1822;p62"/>
            <p:cNvGrpSpPr/>
            <p:nvPr/>
          </p:nvGrpSpPr>
          <p:grpSpPr>
            <a:xfrm>
              <a:off x="3075543" y="2244470"/>
              <a:ext cx="315315" cy="315315"/>
              <a:chOff x="4946527" y="1755650"/>
              <a:chExt cx="2241043" cy="2241043"/>
            </a:xfrm>
          </p:grpSpPr>
          <p:grpSp>
            <p:nvGrpSpPr>
              <p:cNvPr id="1823" name="Google Shape;1823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24" name="Google Shape;1824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25" name="Google Shape;1825;p62"/>
                <p:cNvCxnSpPr>
                  <a:stCxn id="1824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6" name="Google Shape;1826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27" name="Google Shape;1827;p62"/>
              <p:cNvCxnSpPr>
                <a:stCxn id="1824" idx="2"/>
                <a:endCxn id="1824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8" name="Google Shape;1828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29" name="Google Shape;1829;p62"/>
            <p:cNvGrpSpPr/>
            <p:nvPr/>
          </p:nvGrpSpPr>
          <p:grpSpPr>
            <a:xfrm>
              <a:off x="3075543" y="2684234"/>
              <a:ext cx="315315" cy="315315"/>
              <a:chOff x="4946527" y="1755650"/>
              <a:chExt cx="2241043" cy="2241043"/>
            </a:xfrm>
          </p:grpSpPr>
          <p:grpSp>
            <p:nvGrpSpPr>
              <p:cNvPr id="1830" name="Google Shape;1830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31" name="Google Shape;1831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32" name="Google Shape;1832;p62"/>
                <p:cNvCxnSpPr>
                  <a:stCxn id="1831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3" name="Google Shape;1833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34" name="Google Shape;1834;p62"/>
              <p:cNvCxnSpPr>
                <a:stCxn id="1831" idx="2"/>
                <a:endCxn id="1831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5" name="Google Shape;1835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36" name="Google Shape;1836;p62"/>
            <p:cNvGrpSpPr/>
            <p:nvPr/>
          </p:nvGrpSpPr>
          <p:grpSpPr>
            <a:xfrm>
              <a:off x="3075543" y="3123998"/>
              <a:ext cx="315315" cy="315315"/>
              <a:chOff x="4946527" y="1755650"/>
              <a:chExt cx="2241043" cy="2241043"/>
            </a:xfrm>
          </p:grpSpPr>
          <p:grpSp>
            <p:nvGrpSpPr>
              <p:cNvPr id="1837" name="Google Shape;1837;p62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838" name="Google Shape;1838;p62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839" name="Google Shape;1839;p62"/>
                <p:cNvCxnSpPr>
                  <a:stCxn id="183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0" name="Google Shape;1840;p62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841" name="Google Shape;1841;p62"/>
              <p:cNvCxnSpPr>
                <a:stCxn id="1838" idx="2"/>
                <a:endCxn id="1838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2" name="Google Shape;1842;p62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843" name="Google Shape;1843;p62"/>
          <p:cNvGrpSpPr/>
          <p:nvPr/>
        </p:nvGrpSpPr>
        <p:grpSpPr>
          <a:xfrm>
            <a:off x="4987188" y="1185762"/>
            <a:ext cx="1495476" cy="1468501"/>
            <a:chOff x="4987188" y="1185762"/>
            <a:chExt cx="1495476" cy="1468501"/>
          </a:xfrm>
        </p:grpSpPr>
        <p:pic>
          <p:nvPicPr>
            <p:cNvPr id="1844" name="Google Shape;1844;p62" descr="z_2" title="MathEquation,#000000"/>
            <p:cNvPicPr preferRelativeResize="0"/>
            <p:nvPr/>
          </p:nvPicPr>
          <p:blipFill>
            <a:blip r:embed="rId15"/>
            <a:stretch>
              <a:fillRect/>
            </a:stretch>
          </p:blipFill>
          <p:spPr>
            <a:xfrm>
              <a:off x="4987188" y="2489241"/>
              <a:ext cx="192726" cy="1650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45" name="Google Shape;1845;p62"/>
            <p:cNvGrpSpPr/>
            <p:nvPr/>
          </p:nvGrpSpPr>
          <p:grpSpPr>
            <a:xfrm>
              <a:off x="5334606" y="1185762"/>
              <a:ext cx="1148058" cy="741389"/>
              <a:chOff x="5334606" y="1185762"/>
              <a:chExt cx="1148058" cy="741389"/>
            </a:xfrm>
          </p:grpSpPr>
          <p:grpSp>
            <p:nvGrpSpPr>
              <p:cNvPr id="1846" name="Google Shape;1846;p62"/>
              <p:cNvGrpSpPr/>
              <p:nvPr/>
            </p:nvGrpSpPr>
            <p:grpSpPr>
              <a:xfrm>
                <a:off x="5334606" y="1185762"/>
                <a:ext cx="1143146" cy="741389"/>
                <a:chOff x="6105475" y="1371025"/>
                <a:chExt cx="1981532" cy="1162051"/>
              </a:xfrm>
            </p:grpSpPr>
            <p:grpSp>
              <p:nvGrpSpPr>
                <p:cNvPr id="1847" name="Google Shape;1847;p62"/>
                <p:cNvGrpSpPr/>
                <p:nvPr/>
              </p:nvGrpSpPr>
              <p:grpSpPr>
                <a:xfrm>
                  <a:off x="6105475" y="1371025"/>
                  <a:ext cx="1981532" cy="1162051"/>
                  <a:chOff x="5966461" y="2755341"/>
                  <a:chExt cx="2302500" cy="1350280"/>
                </a:xfrm>
              </p:grpSpPr>
              <p:cxnSp>
                <p:nvCxnSpPr>
                  <p:cNvPr id="1848" name="Google Shape;1848;p62"/>
                  <p:cNvCxnSpPr/>
                  <p:nvPr/>
                </p:nvCxnSpPr>
                <p:spPr>
                  <a:xfrm>
                    <a:off x="6784698" y="2755341"/>
                    <a:ext cx="0" cy="112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triangle" w="med" len="med"/>
                    <a:tailEnd type="none" w="med" len="med"/>
                  </a:ln>
                </p:spPr>
              </p:cxnSp>
              <p:cxnSp>
                <p:nvCxnSpPr>
                  <p:cNvPr id="1849" name="Google Shape;1849;p62"/>
                  <p:cNvCxnSpPr/>
                  <p:nvPr/>
                </p:nvCxnSpPr>
                <p:spPr>
                  <a:xfrm>
                    <a:off x="5966461" y="3617676"/>
                    <a:ext cx="230250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850" name="Google Shape;1850;p62"/>
                  <p:cNvCxnSpPr/>
                  <p:nvPr/>
                </p:nvCxnSpPr>
                <p:spPr>
                  <a:xfrm>
                    <a:off x="6101454" y="2950322"/>
                    <a:ext cx="1551600" cy="115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FF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1851" name="Google Shape;1851;p62"/>
                <p:cNvSpPr/>
                <p:nvPr/>
              </p:nvSpPr>
              <p:spPr>
                <a:xfrm>
                  <a:off x="6475450" y="1461050"/>
                  <a:ext cx="1077571" cy="602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76" h="27561" extrusionOk="0">
                      <a:moveTo>
                        <a:pt x="0" y="0"/>
                      </a:moveTo>
                      <a:cubicBezTo>
                        <a:pt x="1955" y="2221"/>
                        <a:pt x="7552" y="11726"/>
                        <a:pt x="11727" y="13325"/>
                      </a:cubicBezTo>
                      <a:cubicBezTo>
                        <a:pt x="15902" y="14924"/>
                        <a:pt x="20788" y="8262"/>
                        <a:pt x="25052" y="9594"/>
                      </a:cubicBezTo>
                      <a:cubicBezTo>
                        <a:pt x="29316" y="10927"/>
                        <a:pt x="32781" y="20521"/>
                        <a:pt x="37311" y="21320"/>
                      </a:cubicBezTo>
                      <a:cubicBezTo>
                        <a:pt x="41842" y="22120"/>
                        <a:pt x="47882" y="13414"/>
                        <a:pt x="52235" y="14391"/>
                      </a:cubicBezTo>
                      <a:cubicBezTo>
                        <a:pt x="56588" y="15368"/>
                        <a:pt x="56588" y="25673"/>
                        <a:pt x="63428" y="27183"/>
                      </a:cubicBezTo>
                      <a:cubicBezTo>
                        <a:pt x="70268" y="28693"/>
                        <a:pt x="88301" y="24074"/>
                        <a:pt x="93276" y="23452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52" name="Google Shape;1852;p62" descr="z_2" title="MathEquation,#000000"/>
              <p:cNvPicPr preferRelativeResize="0"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89938" y="1715728"/>
                <a:ext cx="192726" cy="1650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53" name="Google Shape;1853;p62"/>
          <p:cNvGrpSpPr/>
          <p:nvPr/>
        </p:nvGrpSpPr>
        <p:grpSpPr>
          <a:xfrm>
            <a:off x="2677504" y="1174783"/>
            <a:ext cx="1264217" cy="1479462"/>
            <a:chOff x="2677504" y="1174783"/>
            <a:chExt cx="1264217" cy="1479462"/>
          </a:xfrm>
        </p:grpSpPr>
        <p:pic>
          <p:nvPicPr>
            <p:cNvPr id="1854" name="Google Shape;1854;p62" descr="z_1" title="MathEquation,#000000"/>
            <p:cNvPicPr preferRelativeResize="0"/>
            <p:nvPr/>
          </p:nvPicPr>
          <p:blipFill>
            <a:blip r:embed="rId16"/>
            <a:stretch>
              <a:fillRect/>
            </a:stretch>
          </p:blipFill>
          <p:spPr>
            <a:xfrm>
              <a:off x="3097037" y="2489246"/>
              <a:ext cx="192706" cy="1649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55" name="Google Shape;1855;p62"/>
            <p:cNvGrpSpPr/>
            <p:nvPr/>
          </p:nvGrpSpPr>
          <p:grpSpPr>
            <a:xfrm>
              <a:off x="2677504" y="1174783"/>
              <a:ext cx="1264217" cy="741435"/>
              <a:chOff x="2677504" y="1174783"/>
              <a:chExt cx="1264217" cy="741435"/>
            </a:xfrm>
          </p:grpSpPr>
          <p:grpSp>
            <p:nvGrpSpPr>
              <p:cNvPr id="1856" name="Google Shape;1856;p62"/>
              <p:cNvGrpSpPr/>
              <p:nvPr/>
            </p:nvGrpSpPr>
            <p:grpSpPr>
              <a:xfrm>
                <a:off x="2677504" y="1174783"/>
                <a:ext cx="1264217" cy="741435"/>
                <a:chOff x="466675" y="1142425"/>
                <a:chExt cx="1981532" cy="1162124"/>
              </a:xfrm>
            </p:grpSpPr>
            <p:grpSp>
              <p:nvGrpSpPr>
                <p:cNvPr id="1857" name="Google Shape;1857;p62"/>
                <p:cNvGrpSpPr/>
                <p:nvPr/>
              </p:nvGrpSpPr>
              <p:grpSpPr>
                <a:xfrm>
                  <a:off x="466675" y="1142425"/>
                  <a:ext cx="1981532" cy="1162124"/>
                  <a:chOff x="5966461" y="2755341"/>
                  <a:chExt cx="2302500" cy="1350365"/>
                </a:xfrm>
              </p:grpSpPr>
              <p:cxnSp>
                <p:nvCxnSpPr>
                  <p:cNvPr id="1858" name="Google Shape;1858;p62"/>
                  <p:cNvCxnSpPr/>
                  <p:nvPr/>
                </p:nvCxnSpPr>
                <p:spPr>
                  <a:xfrm>
                    <a:off x="6784698" y="2755341"/>
                    <a:ext cx="0" cy="11253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triangle" w="med" len="med"/>
                    <a:tailEnd type="none" w="med" len="med"/>
                  </a:ln>
                </p:spPr>
              </p:cxnSp>
              <p:cxnSp>
                <p:nvCxnSpPr>
                  <p:cNvPr id="1859" name="Google Shape;1859;p62"/>
                  <p:cNvCxnSpPr/>
                  <p:nvPr/>
                </p:nvCxnSpPr>
                <p:spPr>
                  <a:xfrm>
                    <a:off x="5966461" y="3617676"/>
                    <a:ext cx="2302500" cy="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860" name="Google Shape;1860;p62"/>
                  <p:cNvCxnSpPr/>
                  <p:nvPr/>
                </p:nvCxnSpPr>
                <p:spPr>
                  <a:xfrm>
                    <a:off x="6077633" y="3321807"/>
                    <a:ext cx="1575300" cy="7839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rgbClr val="0000FF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1861" name="Google Shape;1861;p62"/>
                <p:cNvSpPr/>
                <p:nvPr/>
              </p:nvSpPr>
              <p:spPr>
                <a:xfrm>
                  <a:off x="562355" y="1553450"/>
                  <a:ext cx="1699246" cy="31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47" h="12432" extrusionOk="0">
                      <a:moveTo>
                        <a:pt x="0" y="126"/>
                      </a:moveTo>
                      <a:cubicBezTo>
                        <a:pt x="1961" y="112"/>
                        <a:pt x="8485" y="-83"/>
                        <a:pt x="11763" y="41"/>
                      </a:cubicBezTo>
                      <a:cubicBezTo>
                        <a:pt x="15041" y="165"/>
                        <a:pt x="17699" y="-296"/>
                        <a:pt x="19669" y="870"/>
                      </a:cubicBezTo>
                      <a:cubicBezTo>
                        <a:pt x="21639" y="2036"/>
                        <a:pt x="21783" y="7020"/>
                        <a:pt x="23585" y="7037"/>
                      </a:cubicBezTo>
                      <a:cubicBezTo>
                        <a:pt x="25387" y="7054"/>
                        <a:pt x="28471" y="119"/>
                        <a:pt x="30482" y="974"/>
                      </a:cubicBezTo>
                      <a:cubicBezTo>
                        <a:pt x="32494" y="1829"/>
                        <a:pt x="32493" y="10847"/>
                        <a:pt x="35654" y="12168"/>
                      </a:cubicBezTo>
                      <a:cubicBezTo>
                        <a:pt x="38815" y="13490"/>
                        <a:pt x="47148" y="9447"/>
                        <a:pt x="49447" y="8903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62" name="Google Shape;1862;p62" descr="z_1" title="MathEquation,#000000"/>
              <p:cNvPicPr preferRelativeResize="0"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08375" y="1698347"/>
                <a:ext cx="192726" cy="1650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63" name="Google Shape;1863;p62"/>
          <p:cNvGrpSpPr/>
          <p:nvPr/>
        </p:nvGrpSpPr>
        <p:grpSpPr>
          <a:xfrm>
            <a:off x="3859700" y="1205753"/>
            <a:ext cx="1380276" cy="1448510"/>
            <a:chOff x="3859700" y="1205753"/>
            <a:chExt cx="1380276" cy="1448510"/>
          </a:xfrm>
        </p:grpSpPr>
        <p:grpSp>
          <p:nvGrpSpPr>
            <p:cNvPr id="1864" name="Google Shape;1864;p62"/>
            <p:cNvGrpSpPr/>
            <p:nvPr/>
          </p:nvGrpSpPr>
          <p:grpSpPr>
            <a:xfrm>
              <a:off x="3960143" y="1205753"/>
              <a:ext cx="1279833" cy="674997"/>
              <a:chOff x="3960143" y="1205753"/>
              <a:chExt cx="1279833" cy="674997"/>
            </a:xfrm>
          </p:grpSpPr>
          <p:grpSp>
            <p:nvGrpSpPr>
              <p:cNvPr id="1865" name="Google Shape;1865;p62"/>
              <p:cNvGrpSpPr/>
              <p:nvPr/>
            </p:nvGrpSpPr>
            <p:grpSpPr>
              <a:xfrm>
                <a:off x="3960143" y="1205753"/>
                <a:ext cx="1264247" cy="599457"/>
                <a:chOff x="629075" y="2301800"/>
                <a:chExt cx="2438277" cy="993300"/>
              </a:xfrm>
            </p:grpSpPr>
            <p:cxnSp>
              <p:nvCxnSpPr>
                <p:cNvPr id="1866" name="Google Shape;1866;p62"/>
                <p:cNvCxnSpPr/>
                <p:nvPr/>
              </p:nvCxnSpPr>
              <p:spPr>
                <a:xfrm>
                  <a:off x="1670225" y="2301800"/>
                  <a:ext cx="0" cy="993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867" name="Google Shape;1867;p62"/>
                <p:cNvCxnSpPr/>
                <p:nvPr/>
              </p:nvCxnSpPr>
              <p:spPr>
                <a:xfrm>
                  <a:off x="792152" y="3049628"/>
                  <a:ext cx="22752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1868" name="Google Shape;1868;p62"/>
                <p:cNvSpPr/>
                <p:nvPr/>
              </p:nvSpPr>
              <p:spPr>
                <a:xfrm>
                  <a:off x="1064725" y="2443551"/>
                  <a:ext cx="1817483" cy="602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276" h="27561" extrusionOk="0">
                      <a:moveTo>
                        <a:pt x="0" y="0"/>
                      </a:moveTo>
                      <a:cubicBezTo>
                        <a:pt x="1955" y="2221"/>
                        <a:pt x="7552" y="11726"/>
                        <a:pt x="11727" y="13325"/>
                      </a:cubicBezTo>
                      <a:cubicBezTo>
                        <a:pt x="15902" y="14924"/>
                        <a:pt x="20788" y="8262"/>
                        <a:pt x="25052" y="9594"/>
                      </a:cubicBezTo>
                      <a:cubicBezTo>
                        <a:pt x="29316" y="10927"/>
                        <a:pt x="32781" y="20521"/>
                        <a:pt x="37311" y="21320"/>
                      </a:cubicBezTo>
                      <a:cubicBezTo>
                        <a:pt x="41842" y="22120"/>
                        <a:pt x="47882" y="13414"/>
                        <a:pt x="52235" y="14391"/>
                      </a:cubicBezTo>
                      <a:cubicBezTo>
                        <a:pt x="56588" y="15368"/>
                        <a:pt x="56588" y="25673"/>
                        <a:pt x="63428" y="27183"/>
                      </a:cubicBezTo>
                      <a:cubicBezTo>
                        <a:pt x="70268" y="28693"/>
                        <a:pt x="88301" y="24074"/>
                        <a:pt x="93276" y="23452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6666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1869" name="Google Shape;1869;p62"/>
                <p:cNvCxnSpPr/>
                <p:nvPr/>
              </p:nvCxnSpPr>
              <p:spPr>
                <a:xfrm>
                  <a:off x="629075" y="2679120"/>
                  <a:ext cx="2082300" cy="603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</p:grpSp>
          <p:pic>
            <p:nvPicPr>
              <p:cNvPr id="1870" name="Google Shape;1870;p62" descr="z_1" title="MathEquation,#000000"/>
              <p:cNvPicPr preferRelativeResize="0"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47250" y="1715728"/>
                <a:ext cx="192726" cy="1650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71" name="Google Shape;1871;p62" descr="z_1" title="MathEquation,#000000"/>
            <p:cNvPicPr preferRelativeResize="0"/>
            <p:nvPr/>
          </p:nvPicPr>
          <p:blipFill>
            <a:blip r:embed="rId18"/>
            <a:stretch>
              <a:fillRect/>
            </a:stretch>
          </p:blipFill>
          <p:spPr>
            <a:xfrm>
              <a:off x="3859700" y="2489241"/>
              <a:ext cx="192726" cy="16502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8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8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7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63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Illustration: Linear bound propagation process</a:t>
            </a:r>
            <a:endParaRPr sz="2600"/>
          </a:p>
        </p:txBody>
      </p:sp>
      <p:sp>
        <p:nvSpPr>
          <p:cNvPr id="1877" name="Google Shape;1877;p63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878" name="Google Shape;1878;p63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77</a:t>
            </a:fld>
            <a:endParaRPr lang="en-GB"/>
          </a:p>
        </p:txBody>
      </p:sp>
      <p:sp>
        <p:nvSpPr>
          <p:cNvPr id="1879" name="Google Shape;1879;p63"/>
          <p:cNvSpPr txBox="1"/>
          <p:nvPr/>
        </p:nvSpPr>
        <p:spPr>
          <a:xfrm>
            <a:off x="940250" y="4804800"/>
            <a:ext cx="415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GB" sz="11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Z*</a:t>
            </a:r>
            <a:r>
              <a:rPr lang="en-GB" sz="11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W*CHD NeurIPS 2018]</a:t>
            </a:r>
            <a:endParaRPr sz="11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grpSp>
        <p:nvGrpSpPr>
          <p:cNvPr id="1880" name="Google Shape;1880;p63"/>
          <p:cNvGrpSpPr/>
          <p:nvPr/>
        </p:nvGrpSpPr>
        <p:grpSpPr>
          <a:xfrm>
            <a:off x="457596" y="818961"/>
            <a:ext cx="8269329" cy="3778639"/>
            <a:chOff x="152796" y="818961"/>
            <a:chExt cx="8269329" cy="3778639"/>
          </a:xfrm>
        </p:grpSpPr>
        <p:sp>
          <p:nvSpPr>
            <p:cNvPr id="1881" name="Google Shape;1881;p63"/>
            <p:cNvSpPr/>
            <p:nvPr/>
          </p:nvSpPr>
          <p:spPr>
            <a:xfrm>
              <a:off x="269325" y="4072000"/>
              <a:ext cx="8152800" cy="5256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BD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D0000"/>
                </a:solidFill>
              </a:endParaRPr>
            </a:p>
          </p:txBody>
        </p:sp>
        <p:pic>
          <p:nvPicPr>
            <p:cNvPr id="1882" name="Google Shape;1882;p63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4367500" y="4150522"/>
              <a:ext cx="2787376" cy="39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3" name="Google Shape;1883;p63"/>
            <p:cNvSpPr txBox="1"/>
            <p:nvPr/>
          </p:nvSpPr>
          <p:spPr>
            <a:xfrm>
              <a:off x="269325" y="4079275"/>
              <a:ext cx="4150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CROWN main theorem </a:t>
              </a:r>
              <a:r>
                <a:rPr lang="en-GB" sz="1800"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(simplified):</a:t>
              </a:r>
              <a:endParaRPr sz="1800"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  <p:pic>
          <p:nvPicPr>
            <p:cNvPr id="1884" name="Google Shape;1884;p63" descr="\forall x \in \mathcal{S}, \ f(x) &gt; 0" title="MathEquation,#000000"/>
            <p:cNvPicPr preferRelativeResize="0"/>
            <p:nvPr/>
          </p:nvPicPr>
          <p:blipFill rotWithShape="1">
            <a:blip r:embed="rId4"/>
            <a:srcRect r="59270"/>
            <a:stretch>
              <a:fillRect/>
            </a:stretch>
          </p:blipFill>
          <p:spPr>
            <a:xfrm>
              <a:off x="7408400" y="4156375"/>
              <a:ext cx="813124" cy="3568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85" name="Google Shape;1885;p63"/>
            <p:cNvGrpSpPr/>
            <p:nvPr/>
          </p:nvGrpSpPr>
          <p:grpSpPr>
            <a:xfrm>
              <a:off x="152796" y="818961"/>
              <a:ext cx="2229235" cy="1501564"/>
              <a:chOff x="152796" y="895161"/>
              <a:chExt cx="2229235" cy="1501564"/>
            </a:xfrm>
          </p:grpSpPr>
          <p:grpSp>
            <p:nvGrpSpPr>
              <p:cNvPr id="1886" name="Google Shape;1886;p63"/>
              <p:cNvGrpSpPr/>
              <p:nvPr/>
            </p:nvGrpSpPr>
            <p:grpSpPr>
              <a:xfrm>
                <a:off x="152796" y="895161"/>
                <a:ext cx="2229235" cy="1501564"/>
                <a:chOff x="1186700" y="1276188"/>
                <a:chExt cx="2664000" cy="1794412"/>
              </a:xfrm>
            </p:grpSpPr>
            <p:cxnSp>
              <p:nvCxnSpPr>
                <p:cNvPr id="1887" name="Google Shape;1887;p63"/>
                <p:cNvCxnSpPr/>
                <p:nvPr/>
              </p:nvCxnSpPr>
              <p:spPr>
                <a:xfrm>
                  <a:off x="1431294" y="1276188"/>
                  <a:ext cx="0" cy="1755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1888" name="Google Shape;1888;p63"/>
                <p:cNvCxnSpPr/>
                <p:nvPr/>
              </p:nvCxnSpPr>
              <p:spPr>
                <a:xfrm>
                  <a:off x="1186700" y="2638288"/>
                  <a:ext cx="26640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1889" name="Google Shape;1889;p63"/>
                <p:cNvSpPr/>
                <p:nvPr/>
              </p:nvSpPr>
              <p:spPr>
                <a:xfrm>
                  <a:off x="1430382" y="1522267"/>
                  <a:ext cx="2319243" cy="1062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644" h="61659" extrusionOk="0">
                      <a:moveTo>
                        <a:pt x="0" y="61659"/>
                      </a:moveTo>
                      <a:cubicBezTo>
                        <a:pt x="3006" y="56696"/>
                        <a:pt x="9788" y="35443"/>
                        <a:pt x="18037" y="31878"/>
                      </a:cubicBezTo>
                      <a:cubicBezTo>
                        <a:pt x="26286" y="28313"/>
                        <a:pt x="41735" y="40826"/>
                        <a:pt x="49495" y="40267"/>
                      </a:cubicBezTo>
                      <a:cubicBezTo>
                        <a:pt x="57255" y="39708"/>
                        <a:pt x="59003" y="29502"/>
                        <a:pt x="64596" y="28523"/>
                      </a:cubicBezTo>
                      <a:cubicBezTo>
                        <a:pt x="70189" y="27544"/>
                        <a:pt x="76829" y="37471"/>
                        <a:pt x="83051" y="34395"/>
                      </a:cubicBezTo>
                      <a:cubicBezTo>
                        <a:pt x="89273" y="31319"/>
                        <a:pt x="93328" y="15800"/>
                        <a:pt x="101927" y="10067"/>
                      </a:cubicBezTo>
                      <a:cubicBezTo>
                        <a:pt x="110526" y="4335"/>
                        <a:pt x="129191" y="1678"/>
                        <a:pt x="134644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pic>
              <p:nvPicPr>
                <p:cNvPr id="1890" name="Google Shape;1890;p63"/>
                <p:cNvPicPr preferRelativeResize="0"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91383" y="1276188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891" name="Google Shape;1891;p63"/>
                <p:cNvCxnSpPr/>
                <p:nvPr/>
              </p:nvCxnSpPr>
              <p:spPr>
                <a:xfrm rot="10800000">
                  <a:off x="1834350" y="1681200"/>
                  <a:ext cx="0" cy="1245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B7B7B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2" name="Google Shape;1892;p63"/>
                <p:cNvCxnSpPr/>
                <p:nvPr/>
              </p:nvCxnSpPr>
              <p:spPr>
                <a:xfrm>
                  <a:off x="1823750" y="2638283"/>
                  <a:ext cx="11418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A4C2F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pic>
              <p:nvPicPr>
                <p:cNvPr id="1893" name="Google Shape;1893;p63"/>
                <p:cNvPicPr preferRelativeResize="0"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08016" y="2670333"/>
                  <a:ext cx="97798" cy="1135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94" name="Google Shape;1894;p63"/>
                <p:cNvSpPr/>
                <p:nvPr/>
              </p:nvSpPr>
              <p:spPr>
                <a:xfrm>
                  <a:off x="1836400" y="1987438"/>
                  <a:ext cx="1139300" cy="23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72" h="9367" extrusionOk="0">
                      <a:moveTo>
                        <a:pt x="0" y="3198"/>
                      </a:moveTo>
                      <a:cubicBezTo>
                        <a:pt x="644" y="3354"/>
                        <a:pt x="822" y="3109"/>
                        <a:pt x="3864" y="4131"/>
                      </a:cubicBezTo>
                      <a:cubicBezTo>
                        <a:pt x="6907" y="5153"/>
                        <a:pt x="14188" y="9842"/>
                        <a:pt x="18255" y="9328"/>
                      </a:cubicBezTo>
                      <a:cubicBezTo>
                        <a:pt x="22322" y="8814"/>
                        <a:pt x="24846" y="1667"/>
                        <a:pt x="28266" y="1045"/>
                      </a:cubicBezTo>
                      <a:cubicBezTo>
                        <a:pt x="31686" y="423"/>
                        <a:pt x="36292" y="5283"/>
                        <a:pt x="38776" y="5597"/>
                      </a:cubicBezTo>
                      <a:cubicBezTo>
                        <a:pt x="41261" y="5912"/>
                        <a:pt x="42040" y="3865"/>
                        <a:pt x="43173" y="2932"/>
                      </a:cubicBezTo>
                      <a:cubicBezTo>
                        <a:pt x="44306" y="1999"/>
                        <a:pt x="45172" y="489"/>
                        <a:pt x="45572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1895" name="Google Shape;1895;p63"/>
                <p:cNvCxnSpPr/>
                <p:nvPr/>
              </p:nvCxnSpPr>
              <p:spPr>
                <a:xfrm rot="10800000">
                  <a:off x="2975700" y="1694950"/>
                  <a:ext cx="0" cy="1257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B7B7B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6" name="Google Shape;1896;p63"/>
                <p:cNvCxnSpPr/>
                <p:nvPr/>
              </p:nvCxnSpPr>
              <p:spPr>
                <a:xfrm rot="10800000" flipH="1">
                  <a:off x="1670300" y="2175811"/>
                  <a:ext cx="1707000" cy="2805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pic>
              <p:nvPicPr>
                <p:cNvPr id="1897" name="Google Shape;1897;p63" descr="f(x) &gt; 0, \forall x \in \mathcal{S}" title="MathEquation,#000000"/>
                <p:cNvPicPr preferRelativeResize="0"/>
                <p:nvPr/>
              </p:nvPicPr>
              <p:blipFill rotWithShape="1">
                <a:blip r:embed="rId7"/>
                <a:srcRect l="87613" t="10" r="-3" b="-10"/>
                <a:stretch>
                  <a:fillRect/>
                </a:stretch>
              </p:blipFill>
              <p:spPr>
                <a:xfrm>
                  <a:off x="2266737" y="2825201"/>
                  <a:ext cx="185678" cy="24539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898" name="Google Shape;1898;p63"/>
              <p:cNvSpPr/>
              <p:nvPr/>
            </p:nvSpPr>
            <p:spPr>
              <a:xfrm rot="-5400000">
                <a:off x="1131525" y="1639850"/>
                <a:ext cx="113700" cy="9441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99" name="Google Shape;1899;p63"/>
          <p:cNvGrpSpPr/>
          <p:nvPr/>
        </p:nvGrpSpPr>
        <p:grpSpPr>
          <a:xfrm>
            <a:off x="1455338" y="3429138"/>
            <a:ext cx="5918700" cy="556163"/>
            <a:chOff x="1455338" y="3505338"/>
            <a:chExt cx="5918700" cy="556163"/>
          </a:xfrm>
        </p:grpSpPr>
        <p:sp>
          <p:nvSpPr>
            <p:cNvPr id="1900" name="Google Shape;1900;p63"/>
            <p:cNvSpPr/>
            <p:nvPr/>
          </p:nvSpPr>
          <p:spPr>
            <a:xfrm>
              <a:off x="1455338" y="3505338"/>
              <a:ext cx="5918700" cy="19980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CCCCCC"/>
            </a:solidFill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63"/>
            <p:cNvSpPr txBox="1"/>
            <p:nvPr/>
          </p:nvSpPr>
          <p:spPr>
            <a:xfrm>
              <a:off x="1556300" y="3599800"/>
              <a:ext cx="5763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Always keep valid lower bounds</a:t>
              </a:r>
              <a:endParaRPr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grpSp>
        <p:nvGrpSpPr>
          <p:cNvPr id="1902" name="Google Shape;1902;p63"/>
          <p:cNvGrpSpPr/>
          <p:nvPr/>
        </p:nvGrpSpPr>
        <p:grpSpPr>
          <a:xfrm>
            <a:off x="1436712" y="2653914"/>
            <a:ext cx="460422" cy="461995"/>
            <a:chOff x="2708099" y="2963363"/>
            <a:chExt cx="1021798" cy="1025289"/>
          </a:xfrm>
        </p:grpSpPr>
        <p:pic>
          <p:nvPicPr>
            <p:cNvPr id="1903" name="Google Shape;1903;p63"/>
            <p:cNvPicPr preferRelativeResize="0"/>
            <p:nvPr/>
          </p:nvPicPr>
          <p:blipFill rotWithShape="1">
            <a:blip r:embed="rId8"/>
            <a:srcRect l="14039" t="9153" r="55651" b="45213"/>
            <a:stretch>
              <a:fillRect/>
            </a:stretch>
          </p:blipFill>
          <p:spPr>
            <a:xfrm>
              <a:off x="2708099" y="2963363"/>
              <a:ext cx="1021798" cy="10252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4" name="Google Shape;1904;p63"/>
            <p:cNvSpPr/>
            <p:nvPr/>
          </p:nvSpPr>
          <p:spPr>
            <a:xfrm>
              <a:off x="3130675" y="3637138"/>
              <a:ext cx="288000" cy="1422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4A86E8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0FF00"/>
                </a:solidFill>
              </a:endParaRPr>
            </a:p>
          </p:txBody>
        </p:sp>
      </p:grpSp>
      <p:sp>
        <p:nvSpPr>
          <p:cNvPr id="1905" name="Google Shape;1905;p63"/>
          <p:cNvSpPr/>
          <p:nvPr/>
        </p:nvSpPr>
        <p:spPr>
          <a:xfrm>
            <a:off x="6794792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6" name="Google Shape;1906;p63"/>
          <p:cNvGrpSpPr/>
          <p:nvPr/>
        </p:nvGrpSpPr>
        <p:grpSpPr>
          <a:xfrm>
            <a:off x="2361892" y="2644212"/>
            <a:ext cx="611252" cy="489022"/>
            <a:chOff x="1591075" y="1810500"/>
            <a:chExt cx="1097400" cy="877800"/>
          </a:xfrm>
        </p:grpSpPr>
        <p:sp>
          <p:nvSpPr>
            <p:cNvPr id="1907" name="Google Shape;1907;p63"/>
            <p:cNvSpPr/>
            <p:nvPr/>
          </p:nvSpPr>
          <p:spPr>
            <a:xfrm>
              <a:off x="1591075" y="1810500"/>
              <a:ext cx="1097400" cy="877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08" name="Google Shape;1908;p63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1899750" y="2073000"/>
              <a:ext cx="480050" cy="352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09" name="Google Shape;1909;p63"/>
          <p:cNvGrpSpPr/>
          <p:nvPr/>
        </p:nvGrpSpPr>
        <p:grpSpPr>
          <a:xfrm>
            <a:off x="4238208" y="2617421"/>
            <a:ext cx="611252" cy="527295"/>
            <a:chOff x="4218325" y="1741925"/>
            <a:chExt cx="1097400" cy="946500"/>
          </a:xfrm>
        </p:grpSpPr>
        <p:sp>
          <p:nvSpPr>
            <p:cNvPr id="1910" name="Google Shape;1910;p63"/>
            <p:cNvSpPr/>
            <p:nvPr/>
          </p:nvSpPr>
          <p:spPr>
            <a:xfrm>
              <a:off x="4218325" y="1741925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11" name="Google Shape;1911;p63" descr="W_2" title="MathEquation,#000000"/>
            <p:cNvPicPr preferRelativeResize="0"/>
            <p:nvPr/>
          </p:nvPicPr>
          <p:blipFill>
            <a:blip r:embed="rId10"/>
            <a:stretch>
              <a:fillRect/>
            </a:stretch>
          </p:blipFill>
          <p:spPr>
            <a:xfrm>
              <a:off x="4526025" y="2073000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2" name="Google Shape;1912;p63"/>
          <p:cNvGrpSpPr/>
          <p:nvPr/>
        </p:nvGrpSpPr>
        <p:grpSpPr>
          <a:xfrm>
            <a:off x="6128755" y="2625075"/>
            <a:ext cx="611252" cy="527295"/>
            <a:chOff x="7416274" y="1776150"/>
            <a:chExt cx="1097400" cy="946500"/>
          </a:xfrm>
        </p:grpSpPr>
        <p:sp>
          <p:nvSpPr>
            <p:cNvPr id="1913" name="Google Shape;1913;p63"/>
            <p:cNvSpPr/>
            <p:nvPr/>
          </p:nvSpPr>
          <p:spPr>
            <a:xfrm>
              <a:off x="7416274" y="1776150"/>
              <a:ext cx="1097400" cy="9465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14" name="Google Shape;1914;p63" descr="W_3" title="MathEquation,#000000"/>
            <p:cNvPicPr preferRelativeResize="0"/>
            <p:nvPr/>
          </p:nvPicPr>
          <p:blipFill>
            <a:blip r:embed="rId11"/>
            <a:stretch>
              <a:fillRect/>
            </a:stretch>
          </p:blipFill>
          <p:spPr>
            <a:xfrm>
              <a:off x="7732699" y="2072988"/>
              <a:ext cx="480050" cy="3528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5" name="Google Shape;1915;p63"/>
          <p:cNvSpPr/>
          <p:nvPr/>
        </p:nvSpPr>
        <p:spPr>
          <a:xfrm>
            <a:off x="5706389" y="2716876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6" name="Google Shape;1916;p63"/>
          <p:cNvSpPr/>
          <p:nvPr/>
        </p:nvSpPr>
        <p:spPr>
          <a:xfrm>
            <a:off x="4894839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63"/>
          <p:cNvSpPr/>
          <p:nvPr/>
        </p:nvSpPr>
        <p:spPr>
          <a:xfrm>
            <a:off x="3815725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8" name="Google Shape;1918;p63"/>
          <p:cNvSpPr/>
          <p:nvPr/>
        </p:nvSpPr>
        <p:spPr>
          <a:xfrm>
            <a:off x="3004701" y="2716885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9" name="Google Shape;1919;p63"/>
          <p:cNvSpPr/>
          <p:nvPr/>
        </p:nvSpPr>
        <p:spPr>
          <a:xfrm>
            <a:off x="1984478" y="2709219"/>
            <a:ext cx="377400" cy="343800"/>
          </a:xfrm>
          <a:prstGeom prst="rightArrow">
            <a:avLst>
              <a:gd name="adj1" fmla="val 50000"/>
              <a:gd name="adj2" fmla="val 36658"/>
            </a:avLst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0" name="Google Shape;1920;p63" descr="f(x)" title="MathEquation,#000000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7226748" y="2731621"/>
            <a:ext cx="470748" cy="2989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1" name="Google Shape;1921;p63"/>
          <p:cNvGrpSpPr/>
          <p:nvPr/>
        </p:nvGrpSpPr>
        <p:grpSpPr>
          <a:xfrm>
            <a:off x="3413631" y="2394036"/>
            <a:ext cx="322182" cy="988141"/>
            <a:chOff x="2999975" y="2187100"/>
            <a:chExt cx="447600" cy="1372800"/>
          </a:xfrm>
        </p:grpSpPr>
        <p:sp>
          <p:nvSpPr>
            <p:cNvPr id="1922" name="Google Shape;1922;p63"/>
            <p:cNvSpPr/>
            <p:nvPr/>
          </p:nvSpPr>
          <p:spPr>
            <a:xfrm>
              <a:off x="2999975" y="2187100"/>
              <a:ext cx="447600" cy="1372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23" name="Google Shape;1923;p63"/>
            <p:cNvGrpSpPr/>
            <p:nvPr/>
          </p:nvGrpSpPr>
          <p:grpSpPr>
            <a:xfrm>
              <a:off x="3075543" y="2244470"/>
              <a:ext cx="315315" cy="315315"/>
              <a:chOff x="4946527" y="1755650"/>
              <a:chExt cx="2241043" cy="2241043"/>
            </a:xfrm>
          </p:grpSpPr>
          <p:grpSp>
            <p:nvGrpSpPr>
              <p:cNvPr id="1924" name="Google Shape;1924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25" name="Google Shape;1925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26" name="Google Shape;1926;p63"/>
                <p:cNvCxnSpPr>
                  <a:stCxn id="1925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7" name="Google Shape;1927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28" name="Google Shape;1928;p63"/>
              <p:cNvCxnSpPr>
                <a:stCxn id="1925" idx="2"/>
                <a:endCxn id="1925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9" name="Google Shape;1929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30" name="Google Shape;1930;p63"/>
            <p:cNvGrpSpPr/>
            <p:nvPr/>
          </p:nvGrpSpPr>
          <p:grpSpPr>
            <a:xfrm>
              <a:off x="3075543" y="2684234"/>
              <a:ext cx="315315" cy="315315"/>
              <a:chOff x="4946527" y="1755650"/>
              <a:chExt cx="2241043" cy="2241043"/>
            </a:xfrm>
          </p:grpSpPr>
          <p:grpSp>
            <p:nvGrpSpPr>
              <p:cNvPr id="1931" name="Google Shape;1931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32" name="Google Shape;1932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33" name="Google Shape;1933;p63"/>
                <p:cNvCxnSpPr>
                  <a:stCxn id="1932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4" name="Google Shape;1934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35" name="Google Shape;1935;p63"/>
              <p:cNvCxnSpPr>
                <a:stCxn id="1932" idx="2"/>
                <a:endCxn id="1932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6" name="Google Shape;1936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37" name="Google Shape;1937;p63"/>
            <p:cNvGrpSpPr/>
            <p:nvPr/>
          </p:nvGrpSpPr>
          <p:grpSpPr>
            <a:xfrm>
              <a:off x="3075543" y="3123998"/>
              <a:ext cx="315315" cy="315315"/>
              <a:chOff x="4946527" y="1755650"/>
              <a:chExt cx="2241043" cy="2241043"/>
            </a:xfrm>
          </p:grpSpPr>
          <p:grpSp>
            <p:nvGrpSpPr>
              <p:cNvPr id="1938" name="Google Shape;1938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39" name="Google Shape;1939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40" name="Google Shape;1940;p63"/>
                <p:cNvCxnSpPr>
                  <a:stCxn id="1939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1" name="Google Shape;1941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42" name="Google Shape;1942;p63"/>
              <p:cNvCxnSpPr>
                <a:stCxn id="1939" idx="2"/>
                <a:endCxn id="1939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3" name="Google Shape;1943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944" name="Google Shape;1944;p63"/>
          <p:cNvGrpSpPr/>
          <p:nvPr/>
        </p:nvGrpSpPr>
        <p:grpSpPr>
          <a:xfrm>
            <a:off x="5334844" y="2387024"/>
            <a:ext cx="322182" cy="988141"/>
            <a:chOff x="2999975" y="2187100"/>
            <a:chExt cx="447600" cy="1372800"/>
          </a:xfrm>
        </p:grpSpPr>
        <p:sp>
          <p:nvSpPr>
            <p:cNvPr id="1945" name="Google Shape;1945;p63"/>
            <p:cNvSpPr/>
            <p:nvPr/>
          </p:nvSpPr>
          <p:spPr>
            <a:xfrm>
              <a:off x="2999975" y="2187100"/>
              <a:ext cx="447600" cy="13728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6" name="Google Shape;1946;p63"/>
            <p:cNvGrpSpPr/>
            <p:nvPr/>
          </p:nvGrpSpPr>
          <p:grpSpPr>
            <a:xfrm>
              <a:off x="3075543" y="2244470"/>
              <a:ext cx="315315" cy="315315"/>
              <a:chOff x="4946527" y="1755650"/>
              <a:chExt cx="2241043" cy="2241043"/>
            </a:xfrm>
          </p:grpSpPr>
          <p:grpSp>
            <p:nvGrpSpPr>
              <p:cNvPr id="1947" name="Google Shape;1947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48" name="Google Shape;1948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49" name="Google Shape;1949;p63"/>
                <p:cNvCxnSpPr>
                  <a:stCxn id="1948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0" name="Google Shape;1950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51" name="Google Shape;1951;p63"/>
              <p:cNvCxnSpPr>
                <a:stCxn id="1948" idx="2"/>
                <a:endCxn id="1948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2" name="Google Shape;1952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53" name="Google Shape;1953;p63"/>
            <p:cNvGrpSpPr/>
            <p:nvPr/>
          </p:nvGrpSpPr>
          <p:grpSpPr>
            <a:xfrm>
              <a:off x="3075543" y="2684234"/>
              <a:ext cx="315315" cy="315315"/>
              <a:chOff x="4946527" y="1755650"/>
              <a:chExt cx="2241043" cy="2241043"/>
            </a:xfrm>
          </p:grpSpPr>
          <p:grpSp>
            <p:nvGrpSpPr>
              <p:cNvPr id="1954" name="Google Shape;1954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55" name="Google Shape;1955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56" name="Google Shape;1956;p63"/>
                <p:cNvCxnSpPr>
                  <a:stCxn id="1955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7" name="Google Shape;1957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58" name="Google Shape;1958;p63"/>
              <p:cNvCxnSpPr>
                <a:stCxn id="1955" idx="2"/>
                <a:endCxn id="1955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9" name="Google Shape;1959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60" name="Google Shape;1960;p63"/>
            <p:cNvGrpSpPr/>
            <p:nvPr/>
          </p:nvGrpSpPr>
          <p:grpSpPr>
            <a:xfrm>
              <a:off x="3075543" y="3123998"/>
              <a:ext cx="315315" cy="315315"/>
              <a:chOff x="4946527" y="1755650"/>
              <a:chExt cx="2241043" cy="2241043"/>
            </a:xfrm>
          </p:grpSpPr>
          <p:grpSp>
            <p:nvGrpSpPr>
              <p:cNvPr id="1961" name="Google Shape;1961;p63"/>
              <p:cNvGrpSpPr/>
              <p:nvPr/>
            </p:nvGrpSpPr>
            <p:grpSpPr>
              <a:xfrm>
                <a:off x="4946527" y="1755650"/>
                <a:ext cx="2241043" cy="2241043"/>
                <a:chOff x="4869175" y="1865375"/>
                <a:chExt cx="2537700" cy="2537700"/>
              </a:xfrm>
            </p:grpSpPr>
            <p:sp>
              <p:nvSpPr>
                <p:cNvPr id="1962" name="Google Shape;1962;p63"/>
                <p:cNvSpPr/>
                <p:nvPr/>
              </p:nvSpPr>
              <p:spPr>
                <a:xfrm>
                  <a:off x="4869175" y="1865375"/>
                  <a:ext cx="2537700" cy="2537700"/>
                </a:xfrm>
                <a:prstGeom prst="ellipse">
                  <a:avLst/>
                </a:prstGeom>
                <a:noFill/>
                <a:ln w="9525" cap="flat" cmpd="sng">
                  <a:solidFill>
                    <a:srgbClr val="9999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63" name="Google Shape;1963;p63"/>
                <p:cNvCxnSpPr>
                  <a:stCxn id="1962" idx="2"/>
                </p:cNvCxnSpPr>
                <p:nvPr/>
              </p:nvCxnSpPr>
              <p:spPr>
                <a:xfrm>
                  <a:off x="4869175" y="3134225"/>
                  <a:ext cx="1234500" cy="34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4" name="Google Shape;1964;p63"/>
                <p:cNvCxnSpPr/>
                <p:nvPr/>
              </p:nvCxnSpPr>
              <p:spPr>
                <a:xfrm rot="10800000" flipH="1">
                  <a:off x="6103625" y="2236900"/>
                  <a:ext cx="931500" cy="931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99999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65" name="Google Shape;1965;p63"/>
              <p:cNvCxnSpPr>
                <a:stCxn id="1962" idx="2"/>
                <a:endCxn id="1962" idx="7"/>
              </p:cNvCxnSpPr>
              <p:nvPr/>
            </p:nvCxnSpPr>
            <p:spPr>
              <a:xfrm rot="10800000" flipH="1">
                <a:off x="4946527" y="2083872"/>
                <a:ext cx="1912800" cy="792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6" name="Google Shape;1966;p63"/>
              <p:cNvCxnSpPr/>
              <p:nvPr/>
            </p:nvCxnSpPr>
            <p:spPr>
              <a:xfrm rot="10800000" flipH="1">
                <a:off x="5030352" y="2468947"/>
                <a:ext cx="2060700" cy="875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7" name="Google Shape;1967;p63"/>
          <p:cNvSpPr txBox="1"/>
          <p:nvPr/>
        </p:nvSpPr>
        <p:spPr>
          <a:xfrm>
            <a:off x="4176325" y="966375"/>
            <a:ext cx="3648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Bounds propagated through simple matrix multiplations!</a:t>
            </a:r>
            <a:endParaRPr sz="1800">
              <a:solidFill>
                <a:srgbClr val="0000FF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Fast and GPU-friendly</a:t>
            </a:r>
            <a:endParaRPr sz="1800">
              <a:solidFill>
                <a:srgbClr val="0000FF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pic>
        <p:nvPicPr>
          <p:cNvPr id="1968" name="Google Shape;1968;p63" descr="a_\text{CROWN}=W_3 D_2 W_2 D_1 W_1" title="MathEquation,#0000ff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4550500" y="4669650"/>
            <a:ext cx="2189500" cy="2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9" name="Google Shape;1969;p63" descr="D_1" title="MathEquation,#0000ff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5392977" y="2118825"/>
            <a:ext cx="248350" cy="1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0" name="Google Shape;1970;p63" descr="D_1" title="MathEquation,#0000ff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3450050" y="2135425"/>
            <a:ext cx="249360" cy="1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6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800">
                <a:solidFill>
                  <a:schemeClr val="dk1"/>
                </a:solidFill>
              </a:rPr>
              <a:t>Use Linear Bounds to Prove Robustness</a:t>
            </a:r>
            <a:endParaRPr sz="2600"/>
          </a:p>
        </p:txBody>
      </p:sp>
      <p:sp>
        <p:nvSpPr>
          <p:cNvPr id="1976" name="Google Shape;1976;p64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>
                <a:solidFill>
                  <a:schemeClr val="lt1"/>
                </a:solidFill>
              </a:rPr>
              <a:t>Efficient Incomplete Verification with CROWN</a:t>
            </a:r>
          </a:p>
        </p:txBody>
      </p:sp>
      <p:sp>
        <p:nvSpPr>
          <p:cNvPr id="1977" name="Google Shape;1977;p64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78</a:t>
            </a:fld>
            <a:endParaRPr lang="en-GB"/>
          </a:p>
        </p:txBody>
      </p:sp>
      <p:grpSp>
        <p:nvGrpSpPr>
          <p:cNvPr id="1978" name="Google Shape;1978;p64"/>
          <p:cNvGrpSpPr/>
          <p:nvPr/>
        </p:nvGrpSpPr>
        <p:grpSpPr>
          <a:xfrm>
            <a:off x="1572575" y="1760488"/>
            <a:ext cx="2664000" cy="1823063"/>
            <a:chOff x="277175" y="3055888"/>
            <a:chExt cx="2664000" cy="1823063"/>
          </a:xfrm>
        </p:grpSpPr>
        <p:cxnSp>
          <p:nvCxnSpPr>
            <p:cNvPr id="1979" name="Google Shape;1979;p64"/>
            <p:cNvCxnSpPr/>
            <p:nvPr/>
          </p:nvCxnSpPr>
          <p:spPr>
            <a:xfrm rot="10800000" flipH="1">
              <a:off x="783750" y="3744975"/>
              <a:ext cx="1513800" cy="2487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980" name="Google Shape;1980;p64"/>
            <p:cNvGrpSpPr/>
            <p:nvPr/>
          </p:nvGrpSpPr>
          <p:grpSpPr>
            <a:xfrm>
              <a:off x="277175" y="3055888"/>
              <a:ext cx="2664000" cy="1823063"/>
              <a:chOff x="5834900" y="1276188"/>
              <a:chExt cx="2664000" cy="1823063"/>
            </a:xfrm>
          </p:grpSpPr>
          <p:cxnSp>
            <p:nvCxnSpPr>
              <p:cNvPr id="1981" name="Google Shape;1981;p64"/>
              <p:cNvCxnSpPr/>
              <p:nvPr/>
            </p:nvCxnSpPr>
            <p:spPr>
              <a:xfrm>
                <a:off x="6079494" y="1276188"/>
                <a:ext cx="0" cy="1755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1982" name="Google Shape;1982;p64"/>
              <p:cNvCxnSpPr/>
              <p:nvPr/>
            </p:nvCxnSpPr>
            <p:spPr>
              <a:xfrm>
                <a:off x="5834900" y="2638288"/>
                <a:ext cx="26640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983" name="Google Shape;1983;p64"/>
              <p:cNvSpPr/>
              <p:nvPr/>
            </p:nvSpPr>
            <p:spPr>
              <a:xfrm>
                <a:off x="6078582" y="1293667"/>
                <a:ext cx="2319243" cy="1062076"/>
              </a:xfrm>
              <a:custGeom>
                <a:avLst/>
                <a:gdLst/>
                <a:ahLst/>
                <a:cxnLst/>
                <a:rect l="l" t="t" r="r" b="b"/>
                <a:pathLst>
                  <a:path w="134644" h="61659" extrusionOk="0">
                    <a:moveTo>
                      <a:pt x="0" y="61659"/>
                    </a:moveTo>
                    <a:cubicBezTo>
                      <a:pt x="3006" y="56696"/>
                      <a:pt x="9788" y="35443"/>
                      <a:pt x="18037" y="31878"/>
                    </a:cubicBezTo>
                    <a:cubicBezTo>
                      <a:pt x="26286" y="28313"/>
                      <a:pt x="41735" y="40826"/>
                      <a:pt x="49495" y="40267"/>
                    </a:cubicBezTo>
                    <a:cubicBezTo>
                      <a:pt x="57255" y="39708"/>
                      <a:pt x="59003" y="29502"/>
                      <a:pt x="64596" y="28523"/>
                    </a:cubicBezTo>
                    <a:cubicBezTo>
                      <a:pt x="70189" y="27544"/>
                      <a:pt x="76829" y="37471"/>
                      <a:pt x="83051" y="34395"/>
                    </a:cubicBezTo>
                    <a:cubicBezTo>
                      <a:pt x="89273" y="31319"/>
                      <a:pt x="93328" y="15800"/>
                      <a:pt x="101927" y="10067"/>
                    </a:cubicBezTo>
                    <a:cubicBezTo>
                      <a:pt x="110526" y="4335"/>
                      <a:pt x="129191" y="1678"/>
                      <a:pt x="134644" y="0"/>
                    </a:cubicBezTo>
                  </a:path>
                </a:pathLst>
              </a:cu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984" name="Google Shape;1984;p64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39583" y="1276188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985" name="Google Shape;1985;p64"/>
              <p:cNvCxnSpPr/>
              <p:nvPr/>
            </p:nvCxnSpPr>
            <p:spPr>
              <a:xfrm rot="10800000">
                <a:off x="6482562" y="1681336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86" name="Google Shape;1986;p64"/>
              <p:cNvCxnSpPr/>
              <p:nvPr/>
            </p:nvCxnSpPr>
            <p:spPr>
              <a:xfrm>
                <a:off x="6471950" y="2638283"/>
                <a:ext cx="1141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A4C2F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1987" name="Google Shape;1987;p64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6216" y="2670333"/>
                <a:ext cx="97798" cy="11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88" name="Google Shape;1988;p64"/>
              <p:cNvSpPr/>
              <p:nvPr/>
            </p:nvSpPr>
            <p:spPr>
              <a:xfrm>
                <a:off x="6484600" y="1758838"/>
                <a:ext cx="1139300" cy="234175"/>
              </a:xfrm>
              <a:custGeom>
                <a:avLst/>
                <a:gdLst/>
                <a:ahLst/>
                <a:cxnLst/>
                <a:rect l="l" t="t" r="r" b="b"/>
                <a:pathLst>
                  <a:path w="45572" h="9367" extrusionOk="0">
                    <a:moveTo>
                      <a:pt x="0" y="3198"/>
                    </a:moveTo>
                    <a:cubicBezTo>
                      <a:pt x="644" y="3354"/>
                      <a:pt x="822" y="3109"/>
                      <a:pt x="3864" y="4131"/>
                    </a:cubicBezTo>
                    <a:cubicBezTo>
                      <a:pt x="6907" y="5153"/>
                      <a:pt x="14188" y="9842"/>
                      <a:pt x="18255" y="9328"/>
                    </a:cubicBezTo>
                    <a:cubicBezTo>
                      <a:pt x="22322" y="8814"/>
                      <a:pt x="24846" y="1667"/>
                      <a:pt x="28266" y="1045"/>
                    </a:cubicBezTo>
                    <a:cubicBezTo>
                      <a:pt x="31686" y="423"/>
                      <a:pt x="36292" y="5283"/>
                      <a:pt x="38776" y="5597"/>
                    </a:cubicBezTo>
                    <a:cubicBezTo>
                      <a:pt x="41261" y="5912"/>
                      <a:pt x="42040" y="3865"/>
                      <a:pt x="43173" y="2932"/>
                    </a:cubicBezTo>
                    <a:cubicBezTo>
                      <a:pt x="44306" y="1999"/>
                      <a:pt x="45172" y="489"/>
                      <a:pt x="45572" y="0"/>
                    </a:cubicBezTo>
                  </a:path>
                </a:pathLst>
              </a:custGeom>
              <a:noFill/>
              <a:ln w="19050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1989" name="Google Shape;1989;p64"/>
              <p:cNvCxnSpPr/>
              <p:nvPr/>
            </p:nvCxnSpPr>
            <p:spPr>
              <a:xfrm rot="10800000">
                <a:off x="7623912" y="1695023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1990" name="Google Shape;1990;p64" descr="f(x) &gt; 0, \forall x \in \mathcal{S}" title="MathEquation,#000000"/>
              <p:cNvPicPr preferRelativeResize="0"/>
              <p:nvPr/>
            </p:nvPicPr>
            <p:blipFill rotWithShape="1">
              <a:blip r:embed="rId5"/>
              <a:srcRect l="88467" r="-4" b="9057"/>
              <a:stretch>
                <a:fillRect/>
              </a:stretch>
            </p:blipFill>
            <p:spPr>
              <a:xfrm>
                <a:off x="6959334" y="2876075"/>
                <a:ext cx="172900" cy="2231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1" name="Google Shape;1991;p64"/>
              <p:cNvSpPr/>
              <p:nvPr/>
            </p:nvSpPr>
            <p:spPr>
              <a:xfrm rot="-5400000">
                <a:off x="6964875" y="2206850"/>
                <a:ext cx="168300" cy="11397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92" name="Google Shape;1992;p64"/>
          <p:cNvGrpSpPr/>
          <p:nvPr/>
        </p:nvGrpSpPr>
        <p:grpSpPr>
          <a:xfrm>
            <a:off x="1066025" y="4205275"/>
            <a:ext cx="7773300" cy="461700"/>
            <a:chOff x="913625" y="4357675"/>
            <a:chExt cx="7773300" cy="461700"/>
          </a:xfrm>
        </p:grpSpPr>
        <p:sp>
          <p:nvSpPr>
            <p:cNvPr id="1993" name="Google Shape;1993;p64"/>
            <p:cNvSpPr txBox="1"/>
            <p:nvPr/>
          </p:nvSpPr>
          <p:spPr>
            <a:xfrm>
              <a:off x="913625" y="4357675"/>
              <a:ext cx="7773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Lower bound &gt; </a:t>
              </a:r>
              <a:r>
                <a:rPr lang="en-GB" sz="18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                                         verified (always a stop sign)</a:t>
              </a:r>
              <a:endParaRPr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pic>
          <p:nvPicPr>
            <p:cNvPr id="1994" name="Google Shape;1994;p64" descr="f(x) &gt; 0, \forall x \in \mathcal{S}" title="MathEquation,#000000"/>
            <p:cNvPicPr preferRelativeResize="0"/>
            <p:nvPr/>
          </p:nvPicPr>
          <p:blipFill rotWithShape="1">
            <a:blip r:embed="rId5"/>
            <a:srcRect r="46743"/>
            <a:stretch>
              <a:fillRect/>
            </a:stretch>
          </p:blipFill>
          <p:spPr>
            <a:xfrm>
              <a:off x="3365319" y="4454150"/>
              <a:ext cx="1022150" cy="314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5" name="Google Shape;1995;p64"/>
            <p:cNvSpPr/>
            <p:nvPr/>
          </p:nvSpPr>
          <p:spPr>
            <a:xfrm>
              <a:off x="2890688" y="4505963"/>
              <a:ext cx="332400" cy="210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64"/>
            <p:cNvSpPr/>
            <p:nvPr/>
          </p:nvSpPr>
          <p:spPr>
            <a:xfrm>
              <a:off x="4529688" y="4505975"/>
              <a:ext cx="332400" cy="210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7" name="Google Shape;1997;p64"/>
          <p:cNvGrpSpPr/>
          <p:nvPr/>
        </p:nvGrpSpPr>
        <p:grpSpPr>
          <a:xfrm>
            <a:off x="4486213" y="1527038"/>
            <a:ext cx="4186413" cy="2338588"/>
            <a:chOff x="4486213" y="1527038"/>
            <a:chExt cx="4186413" cy="2338588"/>
          </a:xfrm>
        </p:grpSpPr>
        <p:grpSp>
          <p:nvGrpSpPr>
            <p:cNvPr id="1998" name="Google Shape;1998;p64"/>
            <p:cNvGrpSpPr/>
            <p:nvPr/>
          </p:nvGrpSpPr>
          <p:grpSpPr>
            <a:xfrm>
              <a:off x="4486213" y="1527038"/>
              <a:ext cx="4186413" cy="2338588"/>
              <a:chOff x="4486213" y="1527038"/>
              <a:chExt cx="4186413" cy="2338588"/>
            </a:xfrm>
          </p:grpSpPr>
          <p:pic>
            <p:nvPicPr>
              <p:cNvPr id="1999" name="Google Shape;1999;p64" descr="x_1 \in \mathcal{S}" title="MathEquation,#000000"/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80725" y="3665825"/>
                <a:ext cx="545528" cy="199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00" name="Google Shape;2000;p64" descr="x_2 \in \mathcal{S}" title="MathEquation,#000000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89450" y="3665825"/>
                <a:ext cx="545528" cy="199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01" name="Google Shape;2001;p64" descr="x_3 \in \mathcal{S}" title="MathEquation,#000000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98200" y="3665825"/>
                <a:ext cx="545526" cy="1997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02" name="Google Shape;2002;p64"/>
              <p:cNvSpPr txBox="1"/>
              <p:nvPr/>
            </p:nvSpPr>
            <p:spPr>
              <a:xfrm>
                <a:off x="8006925" y="2478063"/>
                <a:ext cx="665700" cy="69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300">
                    <a:latin typeface="Open Sans" panose="020B0606030504020204"/>
                    <a:ea typeface="Open Sans" panose="020B0606030504020204"/>
                    <a:cs typeface="Open Sans" panose="020B0606030504020204"/>
                    <a:sym typeface="Open Sans" panose="020B0606030504020204"/>
                  </a:rPr>
                  <a:t>…</a:t>
                </a:r>
                <a:endParaRPr sz="3300"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endParaRPr>
              </a:p>
            </p:txBody>
          </p:sp>
          <p:grpSp>
            <p:nvGrpSpPr>
              <p:cNvPr id="2003" name="Google Shape;2003;p64"/>
              <p:cNvGrpSpPr/>
              <p:nvPr/>
            </p:nvGrpSpPr>
            <p:grpSpPr>
              <a:xfrm>
                <a:off x="4486213" y="1527038"/>
                <a:ext cx="3475800" cy="462063"/>
                <a:chOff x="856475" y="3733750"/>
                <a:chExt cx="3475800" cy="462063"/>
              </a:xfrm>
            </p:grpSpPr>
            <p:sp>
              <p:nvSpPr>
                <p:cNvPr id="2004" name="Google Shape;2004;p64"/>
                <p:cNvSpPr/>
                <p:nvPr/>
              </p:nvSpPr>
              <p:spPr>
                <a:xfrm>
                  <a:off x="856475" y="3733750"/>
                  <a:ext cx="3475800" cy="461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CFE2F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005" name="Google Shape;2005;p64"/>
                <p:cNvSpPr txBox="1"/>
                <p:nvPr/>
              </p:nvSpPr>
              <p:spPr>
                <a:xfrm>
                  <a:off x="952625" y="3734113"/>
                  <a:ext cx="9768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800">
                      <a:latin typeface="Georgia" panose="02040502050405020303"/>
                      <a:ea typeface="Georgia" panose="02040502050405020303"/>
                      <a:cs typeface="Georgia" panose="02040502050405020303"/>
                      <a:sym typeface="Georgia" panose="02040502050405020303"/>
                    </a:rPr>
                    <a:t>Prove:</a:t>
                  </a:r>
                  <a:endParaRPr sz="1800">
                    <a:latin typeface="Georgia" panose="02040502050405020303"/>
                    <a:ea typeface="Georgia" panose="02040502050405020303"/>
                    <a:cs typeface="Georgia" panose="02040502050405020303"/>
                    <a:sym typeface="Georgia" panose="02040502050405020303"/>
                  </a:endParaRPr>
                </a:p>
              </p:txBody>
            </p:sp>
            <p:pic>
              <p:nvPicPr>
                <p:cNvPr id="2006" name="Google Shape;2006;p64" descr="\forall x \in \mathcal{S}, \ f(x) &gt; 0" title="MathEquation,#000000"/>
                <p:cNvPicPr preferRelativeResize="0"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02575" y="3786550"/>
                  <a:ext cx="1996400" cy="3568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07" name="Google Shape;2007;p64"/>
            <p:cNvGrpSpPr/>
            <p:nvPr/>
          </p:nvGrpSpPr>
          <p:grpSpPr>
            <a:xfrm>
              <a:off x="4602587" y="2458413"/>
              <a:ext cx="3315486" cy="1037064"/>
              <a:chOff x="4602587" y="2458413"/>
              <a:chExt cx="3315486" cy="1037064"/>
            </a:xfrm>
          </p:grpSpPr>
          <p:grpSp>
            <p:nvGrpSpPr>
              <p:cNvPr id="2008" name="Google Shape;2008;p64"/>
              <p:cNvGrpSpPr/>
              <p:nvPr/>
            </p:nvGrpSpPr>
            <p:grpSpPr>
              <a:xfrm>
                <a:off x="4602587" y="2458413"/>
                <a:ext cx="1021798" cy="1025289"/>
                <a:chOff x="2708099" y="2963363"/>
                <a:chExt cx="1021798" cy="1025289"/>
              </a:xfrm>
            </p:grpSpPr>
            <p:pic>
              <p:nvPicPr>
                <p:cNvPr id="2009" name="Google Shape;2009;p64"/>
                <p:cNvPicPr preferRelativeResize="0"/>
                <p:nvPr/>
              </p:nvPicPr>
              <p:blipFill rotWithShape="1">
                <a:blip r:embed="rId10"/>
                <a:srcRect l="14039" t="9153" r="55651" b="45213"/>
                <a:stretch>
                  <a:fillRect/>
                </a:stretch>
              </p:blipFill>
              <p:spPr>
                <a:xfrm>
                  <a:off x="2708099" y="2963363"/>
                  <a:ext cx="1021798" cy="10252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10" name="Google Shape;2010;p64"/>
                <p:cNvSpPr/>
                <p:nvPr/>
              </p:nvSpPr>
              <p:spPr>
                <a:xfrm>
                  <a:off x="3130675" y="3637138"/>
                  <a:ext cx="288000" cy="1422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00FF00"/>
                    </a:solidFill>
                  </a:endParaRPr>
                </a:p>
              </p:txBody>
            </p:sp>
          </p:grpSp>
          <p:grpSp>
            <p:nvGrpSpPr>
              <p:cNvPr id="2011" name="Google Shape;2011;p64"/>
              <p:cNvGrpSpPr/>
              <p:nvPr/>
            </p:nvGrpSpPr>
            <p:grpSpPr>
              <a:xfrm>
                <a:off x="6896274" y="2470188"/>
                <a:ext cx="1021798" cy="1025289"/>
                <a:chOff x="2708099" y="2963363"/>
                <a:chExt cx="1021798" cy="1025289"/>
              </a:xfrm>
            </p:grpSpPr>
            <p:pic>
              <p:nvPicPr>
                <p:cNvPr id="2012" name="Google Shape;2012;p64"/>
                <p:cNvPicPr preferRelativeResize="0"/>
                <p:nvPr/>
              </p:nvPicPr>
              <p:blipFill rotWithShape="1">
                <a:blip r:embed="rId10"/>
                <a:srcRect l="14039" t="9153" r="55651" b="45213"/>
                <a:stretch>
                  <a:fillRect/>
                </a:stretch>
              </p:blipFill>
              <p:spPr>
                <a:xfrm>
                  <a:off x="2708099" y="2963363"/>
                  <a:ext cx="1021798" cy="10252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13" name="Google Shape;2013;p64"/>
                <p:cNvSpPr/>
                <p:nvPr/>
              </p:nvSpPr>
              <p:spPr>
                <a:xfrm>
                  <a:off x="3130675" y="3637138"/>
                  <a:ext cx="288000" cy="142200"/>
                </a:xfrm>
                <a:prstGeom prst="rect">
                  <a:avLst/>
                </a:prstGeom>
                <a:gradFill>
                  <a:gsLst>
                    <a:gs pos="0">
                      <a:srgbClr val="D9EAD3"/>
                    </a:gs>
                    <a:gs pos="100000">
                      <a:srgbClr val="8277CF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00FF00"/>
                    </a:solidFill>
                  </a:endParaRPr>
                </a:p>
              </p:txBody>
            </p:sp>
          </p:grpSp>
          <p:grpSp>
            <p:nvGrpSpPr>
              <p:cNvPr id="2014" name="Google Shape;2014;p64"/>
              <p:cNvGrpSpPr/>
              <p:nvPr/>
            </p:nvGrpSpPr>
            <p:grpSpPr>
              <a:xfrm>
                <a:off x="5749424" y="2470188"/>
                <a:ext cx="1021798" cy="1025289"/>
                <a:chOff x="5598599" y="3465563"/>
                <a:chExt cx="1021798" cy="1025289"/>
              </a:xfrm>
            </p:grpSpPr>
            <p:pic>
              <p:nvPicPr>
                <p:cNvPr id="2015" name="Google Shape;2015;p64"/>
                <p:cNvPicPr preferRelativeResize="0"/>
                <p:nvPr/>
              </p:nvPicPr>
              <p:blipFill rotWithShape="1">
                <a:blip r:embed="rId10"/>
                <a:srcRect l="14039" t="9153" r="55651" b="45213"/>
                <a:stretch>
                  <a:fillRect/>
                </a:stretch>
              </p:blipFill>
              <p:spPr>
                <a:xfrm>
                  <a:off x="5598599" y="3465563"/>
                  <a:ext cx="1021798" cy="102528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016" name="Google Shape;2016;p64"/>
                <p:cNvGrpSpPr/>
                <p:nvPr/>
              </p:nvGrpSpPr>
              <p:grpSpPr>
                <a:xfrm>
                  <a:off x="6033775" y="4130800"/>
                  <a:ext cx="288000" cy="144000"/>
                  <a:chOff x="7563850" y="1053000"/>
                  <a:chExt cx="1152000" cy="576000"/>
                </a:xfrm>
              </p:grpSpPr>
              <p:sp>
                <p:nvSpPr>
                  <p:cNvPr id="2017" name="Google Shape;2017;p64"/>
                  <p:cNvSpPr/>
                  <p:nvPr/>
                </p:nvSpPr>
                <p:spPr>
                  <a:xfrm>
                    <a:off x="7563850" y="1053000"/>
                    <a:ext cx="288000" cy="2880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8" name="Google Shape;2018;p64"/>
                  <p:cNvSpPr/>
                  <p:nvPr/>
                </p:nvSpPr>
                <p:spPr>
                  <a:xfrm>
                    <a:off x="7851850" y="1053000"/>
                    <a:ext cx="288000" cy="288000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9" name="Google Shape;2019;p64"/>
                  <p:cNvSpPr/>
                  <p:nvPr/>
                </p:nvSpPr>
                <p:spPr>
                  <a:xfrm>
                    <a:off x="8139850" y="1053000"/>
                    <a:ext cx="288000" cy="2880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0" name="Google Shape;2020;p64"/>
                  <p:cNvSpPr/>
                  <p:nvPr/>
                </p:nvSpPr>
                <p:spPr>
                  <a:xfrm>
                    <a:off x="8427850" y="1053000"/>
                    <a:ext cx="288000" cy="288000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1" name="Google Shape;2021;p64"/>
                  <p:cNvSpPr/>
                  <p:nvPr/>
                </p:nvSpPr>
                <p:spPr>
                  <a:xfrm>
                    <a:off x="7851850" y="1341000"/>
                    <a:ext cx="288000" cy="2880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2" name="Google Shape;2022;p64"/>
                  <p:cNvSpPr/>
                  <p:nvPr/>
                </p:nvSpPr>
                <p:spPr>
                  <a:xfrm>
                    <a:off x="8139850" y="1341000"/>
                    <a:ext cx="288000" cy="288000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3" name="Google Shape;2023;p64"/>
                  <p:cNvSpPr/>
                  <p:nvPr/>
                </p:nvSpPr>
                <p:spPr>
                  <a:xfrm>
                    <a:off x="8427850" y="1341000"/>
                    <a:ext cx="288000" cy="288000"/>
                  </a:xfrm>
                  <a:prstGeom prst="rect">
                    <a:avLst/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4" name="Google Shape;2024;p64"/>
                  <p:cNvSpPr/>
                  <p:nvPr/>
                </p:nvSpPr>
                <p:spPr>
                  <a:xfrm>
                    <a:off x="7563850" y="1341000"/>
                    <a:ext cx="288000" cy="288000"/>
                  </a:xfrm>
                  <a:prstGeom prst="rect">
                    <a:avLst/>
                  </a:prstGeom>
                  <a:solidFill>
                    <a:srgbClr val="F3F3F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2025" name="Google Shape;2025;p64"/>
          <p:cNvSpPr txBox="1"/>
          <p:nvPr/>
        </p:nvSpPr>
        <p:spPr>
          <a:xfrm rot="-492253">
            <a:off x="1936150" y="2484432"/>
            <a:ext cx="2787629" cy="4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CROWN lower bound</a:t>
            </a:r>
            <a:endParaRPr>
              <a:solidFill>
                <a:srgbClr val="0000FF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6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auto_LiRPA</a:t>
            </a:r>
            <a:r>
              <a:rPr lang="en-GB"/>
              <a:t>: Verification Library for General Computation Graphs</a:t>
            </a:r>
          </a:p>
        </p:txBody>
      </p:sp>
      <p:sp>
        <p:nvSpPr>
          <p:cNvPr id="2031" name="Google Shape;2031;p65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GB"/>
              <a:t>The auto_LiRPA Robustness Verification Library</a:t>
            </a:r>
          </a:p>
        </p:txBody>
      </p:sp>
      <p:sp>
        <p:nvSpPr>
          <p:cNvPr id="2032" name="Google Shape;2032;p65"/>
          <p:cNvSpPr txBox="1">
            <a:spLocks noGrp="1"/>
          </p:cNvSpPr>
          <p:nvPr>
            <p:ph type="body" idx="1"/>
          </p:nvPr>
        </p:nvSpPr>
        <p:spPr>
          <a:xfrm>
            <a:off x="248700" y="1117200"/>
            <a:ext cx="8742900" cy="15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00000"/>
                </a:solidFill>
              </a:rPr>
              <a:t>Colab Demo:</a:t>
            </a:r>
            <a:endParaRPr sz="26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600" u="sng">
                <a:solidFill>
                  <a:schemeClr val="hlink"/>
                </a:solidFill>
                <a:hlinkClick r:id="rId3"/>
              </a:rPr>
              <a:t>http://PaperCode.cc/AutoLiRPA-Demo</a:t>
            </a:r>
            <a:endParaRPr sz="2600">
              <a:solidFill>
                <a:srgbClr val="000000"/>
              </a:solidFill>
            </a:endParaRPr>
          </a:p>
        </p:txBody>
      </p:sp>
      <p:sp>
        <p:nvSpPr>
          <p:cNvPr id="2033" name="Google Shape;2033;p65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79</a:t>
            </a:fld>
            <a:endParaRPr lang="en-GB"/>
          </a:p>
        </p:txBody>
      </p:sp>
      <p:pic>
        <p:nvPicPr>
          <p:cNvPr id="2034" name="Google Shape;2034;p6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745650" y="1057125"/>
            <a:ext cx="810225" cy="81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5" name="Google Shape;2035;p65"/>
          <p:cNvSpPr txBox="1">
            <a:spLocks noGrp="1"/>
          </p:cNvSpPr>
          <p:nvPr>
            <p:ph type="body" idx="1"/>
          </p:nvPr>
        </p:nvSpPr>
        <p:spPr>
          <a:xfrm>
            <a:off x="152400" y="3090375"/>
            <a:ext cx="8742900" cy="15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000000"/>
                </a:solidFill>
              </a:rPr>
              <a:t>The auto_LiRPA library on GitHub:</a:t>
            </a:r>
            <a:endParaRPr sz="26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600" u="sng">
                <a:solidFill>
                  <a:schemeClr val="hlink"/>
                </a:solidFill>
                <a:hlinkClick r:id="rId5"/>
              </a:rPr>
              <a:t>http://PaperCode.cc/AutoLiRPA</a:t>
            </a:r>
            <a:endParaRPr sz="2600">
              <a:solidFill>
                <a:srgbClr val="000000"/>
              </a:solidFill>
            </a:endParaRPr>
          </a:p>
        </p:txBody>
      </p:sp>
      <p:pic>
        <p:nvPicPr>
          <p:cNvPr id="2036" name="Google Shape;2036;p65"/>
          <p:cNvPicPr preferRelativeResize="0"/>
          <p:nvPr/>
        </p:nvPicPr>
        <p:blipFill rotWithShape="1">
          <a:blip r:embed="rId6"/>
          <a:srcRect l="23134" t="4349" r="23139" b="9346"/>
          <a:stretch>
            <a:fillRect/>
          </a:stretch>
        </p:blipFill>
        <p:spPr>
          <a:xfrm>
            <a:off x="350575" y="3292025"/>
            <a:ext cx="1136683" cy="1008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MILP/LP vs Bound Propagation</a:t>
            </a:r>
          </a:p>
        </p:txBody>
      </p:sp>
      <p:sp>
        <p:nvSpPr>
          <p:cNvPr id="2042" name="Google Shape;2042;p66"/>
          <p:cNvSpPr txBox="1"/>
          <p:nvPr/>
        </p:nvSpPr>
        <p:spPr>
          <a:xfrm>
            <a:off x="171450" y="1136650"/>
            <a:ext cx="8661000" cy="40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Bound propagation: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Scalable and fast propagation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GPU friendly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Incomplete verification (will be extended in the next lecture)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Bounds are looser compared to LP; much looser compared to MILP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>
                <a:solidFill>
                  <a:schemeClr val="dk2"/>
                </a:solidFill>
              </a:rPr>
              <a:t>MILP/LP: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Tighter solution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Does no scale (MILP ~10k neurons, LP ~100k neurons)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Much slower; cannot utilize GPU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Review: bound propagation with linear bounds (CROWN)</a:t>
            </a:r>
          </a:p>
        </p:txBody>
      </p:sp>
      <p:sp>
        <p:nvSpPr>
          <p:cNvPr id="200" name="Google Shape;200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Simple example: linear -&gt; ReLU -&gt; linear</a:t>
            </a:r>
          </a:p>
        </p:txBody>
      </p:sp>
      <p:pic>
        <p:nvPicPr>
          <p:cNvPr id="201" name="Google Shape;201;p24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292401" y="2164725"/>
            <a:ext cx="1475074" cy="24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391700" y="2154000"/>
            <a:ext cx="1546974" cy="26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 descr="x_1 \in [-1, 2], \ x_2 \in [-2,1]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678711" y="1568875"/>
            <a:ext cx="2442660" cy="302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24"/>
          <p:cNvGrpSpPr/>
          <p:nvPr/>
        </p:nvGrpSpPr>
        <p:grpSpPr>
          <a:xfrm>
            <a:off x="396025" y="1779575"/>
            <a:ext cx="3514125" cy="1936788"/>
            <a:chOff x="1385600" y="949375"/>
            <a:chExt cx="3514125" cy="1936788"/>
          </a:xfrm>
        </p:grpSpPr>
        <p:grpSp>
          <p:nvGrpSpPr>
            <p:cNvPr id="205" name="Google Shape;205;p24"/>
            <p:cNvGrpSpPr/>
            <p:nvPr/>
          </p:nvGrpSpPr>
          <p:grpSpPr>
            <a:xfrm>
              <a:off x="1385600" y="1367763"/>
              <a:ext cx="1691250" cy="1518400"/>
              <a:chOff x="949900" y="2149850"/>
              <a:chExt cx="1691250" cy="1518400"/>
            </a:xfrm>
          </p:grpSpPr>
          <p:sp>
            <p:nvSpPr>
              <p:cNvPr id="206" name="Google Shape;206;p24"/>
              <p:cNvSpPr txBox="1"/>
              <p:nvPr/>
            </p:nvSpPr>
            <p:spPr>
              <a:xfrm>
                <a:off x="949900" y="2149850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1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sp>
            <p:nvSpPr>
              <p:cNvPr id="207" name="Google Shape;207;p24"/>
              <p:cNvSpPr txBox="1"/>
              <p:nvPr/>
            </p:nvSpPr>
            <p:spPr>
              <a:xfrm>
                <a:off x="949900" y="3041525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2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grpSp>
            <p:nvGrpSpPr>
              <p:cNvPr id="208" name="Google Shape;208;p24"/>
              <p:cNvGrpSpPr/>
              <p:nvPr/>
            </p:nvGrpSpPr>
            <p:grpSpPr>
              <a:xfrm>
                <a:off x="1382025" y="2202525"/>
                <a:ext cx="1259125" cy="1465725"/>
                <a:chOff x="1266900" y="1732750"/>
                <a:chExt cx="1259125" cy="1465725"/>
              </a:xfrm>
            </p:grpSpPr>
            <p:sp>
              <p:nvSpPr>
                <p:cNvPr id="209" name="Google Shape;209;p24"/>
                <p:cNvSpPr/>
                <p:nvPr/>
              </p:nvSpPr>
              <p:spPr>
                <a:xfrm>
                  <a:off x="1266900" y="19646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24"/>
                <p:cNvSpPr/>
                <p:nvPr/>
              </p:nvSpPr>
              <p:spPr>
                <a:xfrm>
                  <a:off x="1266900" y="2571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24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12" name="Google Shape;212;p24"/>
                <p:cNvCxnSpPr>
                  <a:stCxn id="209" idx="6"/>
                  <a:endCxn id="211" idx="2"/>
                </p:cNvCxnSpPr>
                <p:nvPr/>
              </p:nvCxnSpPr>
              <p:spPr>
                <a:xfrm rot="10800000" flipH="1">
                  <a:off x="1498800" y="1848700"/>
                  <a:ext cx="795300" cy="231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3" name="Google Shape;213;p24"/>
                <p:cNvCxnSpPr>
                  <a:stCxn id="210" idx="6"/>
                  <a:endCxn id="211" idx="2"/>
                </p:cNvCxnSpPr>
                <p:nvPr/>
              </p:nvCxnSpPr>
              <p:spPr>
                <a:xfrm rot="10800000" flipH="1">
                  <a:off x="1498800" y="1848600"/>
                  <a:ext cx="795300" cy="83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4" name="Google Shape;214;p24"/>
                <p:cNvCxnSpPr>
                  <a:stCxn id="210" idx="6"/>
                  <a:endCxn id="215" idx="2"/>
                </p:cNvCxnSpPr>
                <p:nvPr/>
              </p:nvCxnSpPr>
              <p:spPr>
                <a:xfrm>
                  <a:off x="1498800" y="2687700"/>
                  <a:ext cx="795300" cy="39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6" name="Google Shape;216;p24"/>
                <p:cNvCxnSpPr>
                  <a:stCxn id="209" idx="6"/>
                  <a:endCxn id="215" idx="2"/>
                </p:cNvCxnSpPr>
                <p:nvPr/>
              </p:nvCxnSpPr>
              <p:spPr>
                <a:xfrm>
                  <a:off x="1498800" y="2080600"/>
                  <a:ext cx="795300" cy="1002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15" name="Google Shape;215;p24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7" name="Google Shape;217;p24"/>
            <p:cNvGrpSpPr/>
            <p:nvPr/>
          </p:nvGrpSpPr>
          <p:grpSpPr>
            <a:xfrm>
              <a:off x="2492650" y="949375"/>
              <a:ext cx="415500" cy="1762800"/>
              <a:chOff x="2307950" y="1146975"/>
              <a:chExt cx="415500" cy="1762800"/>
            </a:xfrm>
          </p:grpSpPr>
          <p:sp>
            <p:nvSpPr>
              <p:cNvPr id="218" name="Google Shape;218;p24"/>
              <p:cNvSpPr txBox="1"/>
              <p:nvPr/>
            </p:nvSpPr>
            <p:spPr>
              <a:xfrm>
                <a:off x="2307950" y="11469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1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219" name="Google Shape;219;p24"/>
              <p:cNvSpPr txBox="1"/>
              <p:nvPr/>
            </p:nvSpPr>
            <p:spPr>
              <a:xfrm>
                <a:off x="2307950" y="23826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2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220" name="Google Shape;220;p24"/>
            <p:cNvGrpSpPr/>
            <p:nvPr/>
          </p:nvGrpSpPr>
          <p:grpSpPr>
            <a:xfrm>
              <a:off x="3076750" y="949375"/>
              <a:ext cx="1822975" cy="1936788"/>
              <a:chOff x="3076750" y="949375"/>
              <a:chExt cx="1822975" cy="1936788"/>
            </a:xfrm>
          </p:grpSpPr>
          <p:sp>
            <p:nvSpPr>
              <p:cNvPr id="221" name="Google Shape;221;p24"/>
              <p:cNvSpPr/>
              <p:nvPr/>
            </p:nvSpPr>
            <p:spPr>
              <a:xfrm>
                <a:off x="4340100" y="2011013"/>
                <a:ext cx="231900" cy="231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2" name="Google Shape;222;p24"/>
              <p:cNvGrpSpPr/>
              <p:nvPr/>
            </p:nvGrpSpPr>
            <p:grpSpPr>
              <a:xfrm>
                <a:off x="3374650" y="1420438"/>
                <a:ext cx="231900" cy="1465725"/>
                <a:chOff x="2294125" y="1732750"/>
                <a:chExt cx="231900" cy="1465725"/>
              </a:xfrm>
            </p:grpSpPr>
            <p:sp>
              <p:nvSpPr>
                <p:cNvPr id="223" name="Google Shape;223;p24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24;p24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225" name="Google Shape;225;p24"/>
              <p:cNvCxnSpPr>
                <a:stCxn id="223" idx="6"/>
                <a:endCxn id="221" idx="2"/>
              </p:cNvCxnSpPr>
              <p:nvPr/>
            </p:nvCxnSpPr>
            <p:spPr>
              <a:xfrm>
                <a:off x="3606550" y="1536388"/>
                <a:ext cx="733500" cy="59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24"/>
              <p:cNvCxnSpPr>
                <a:stCxn id="224" idx="6"/>
                <a:endCxn id="221" idx="2"/>
              </p:cNvCxnSpPr>
              <p:nvPr/>
            </p:nvCxnSpPr>
            <p:spPr>
              <a:xfrm rot="10800000" flipH="1">
                <a:off x="3606550" y="2127013"/>
                <a:ext cx="733500" cy="64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24"/>
              <p:cNvCxnSpPr>
                <a:stCxn id="223" idx="2"/>
                <a:endCxn id="211" idx="6"/>
              </p:cNvCxnSpPr>
              <p:nvPr/>
            </p:nvCxnSpPr>
            <p:spPr>
              <a:xfrm rot="10800000">
                <a:off x="3076750" y="1536388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24"/>
              <p:cNvCxnSpPr>
                <a:stCxn id="224" idx="2"/>
                <a:endCxn id="215" idx="6"/>
              </p:cNvCxnSpPr>
              <p:nvPr/>
            </p:nvCxnSpPr>
            <p:spPr>
              <a:xfrm rot="10800000">
                <a:off x="3076750" y="2770213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9" name="Google Shape;229;p24"/>
              <p:cNvSpPr txBox="1"/>
              <p:nvPr/>
            </p:nvSpPr>
            <p:spPr>
              <a:xfrm>
                <a:off x="3163900" y="949375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1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230" name="Google Shape;230;p24"/>
              <p:cNvSpPr txBox="1"/>
              <p:nvPr/>
            </p:nvSpPr>
            <p:spPr>
              <a:xfrm>
                <a:off x="3163900" y="2185100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2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231" name="Google Shape;231;p24"/>
              <p:cNvSpPr txBox="1"/>
              <p:nvPr/>
            </p:nvSpPr>
            <p:spPr>
              <a:xfrm>
                <a:off x="4407725" y="1657225"/>
                <a:ext cx="4920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y</a:t>
                </a:r>
                <a:endParaRPr sz="1800">
                  <a:solidFill>
                    <a:srgbClr val="595959"/>
                  </a:solidFill>
                </a:endParaRPr>
              </a:p>
            </p:txBody>
          </p:sp>
        </p:grpSp>
      </p:grpSp>
      <p:pic>
        <p:nvPicPr>
          <p:cNvPr id="232" name="Google Shape;232;p24" descr="y = \text{ReLU}(z_1) - \text{ReLU}(z_2)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678700" y="2665900"/>
            <a:ext cx="2545530" cy="30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>
            <a:spLocks noGrp="1"/>
          </p:cNvSpPr>
          <p:nvPr>
            <p:ph type="body" idx="1"/>
          </p:nvPr>
        </p:nvSpPr>
        <p:spPr>
          <a:xfrm>
            <a:off x="311700" y="3834450"/>
            <a:ext cx="85206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Goal: bound y using symbolic linear functions of x</a:t>
            </a:r>
            <a:br>
              <a:rPr lang="en-GB"/>
            </a:br>
            <a:r>
              <a:rPr lang="en-GB"/>
              <a:t>(linear inequalities)</a:t>
            </a:r>
          </a:p>
        </p:txBody>
      </p:sp>
      <p:grpSp>
        <p:nvGrpSpPr>
          <p:cNvPr id="234" name="Google Shape;234;p24"/>
          <p:cNvGrpSpPr/>
          <p:nvPr/>
        </p:nvGrpSpPr>
        <p:grpSpPr>
          <a:xfrm>
            <a:off x="5833188" y="3096038"/>
            <a:ext cx="2664000" cy="1823063"/>
            <a:chOff x="277175" y="3055888"/>
            <a:chExt cx="2664000" cy="1823063"/>
          </a:xfrm>
        </p:grpSpPr>
        <p:cxnSp>
          <p:nvCxnSpPr>
            <p:cNvPr id="235" name="Google Shape;235;p24"/>
            <p:cNvCxnSpPr/>
            <p:nvPr/>
          </p:nvCxnSpPr>
          <p:spPr>
            <a:xfrm rot="10800000" flipH="1">
              <a:off x="783750" y="3744975"/>
              <a:ext cx="1513800" cy="2487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236" name="Google Shape;236;p24"/>
            <p:cNvGrpSpPr/>
            <p:nvPr/>
          </p:nvGrpSpPr>
          <p:grpSpPr>
            <a:xfrm>
              <a:off x="277175" y="3055888"/>
              <a:ext cx="2664000" cy="1823063"/>
              <a:chOff x="5834900" y="1276188"/>
              <a:chExt cx="2664000" cy="1823063"/>
            </a:xfrm>
          </p:grpSpPr>
          <p:cxnSp>
            <p:nvCxnSpPr>
              <p:cNvPr id="237" name="Google Shape;237;p24"/>
              <p:cNvCxnSpPr/>
              <p:nvPr/>
            </p:nvCxnSpPr>
            <p:spPr>
              <a:xfrm>
                <a:off x="6079494" y="1276188"/>
                <a:ext cx="0" cy="1755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238" name="Google Shape;238;p24"/>
              <p:cNvCxnSpPr/>
              <p:nvPr/>
            </p:nvCxnSpPr>
            <p:spPr>
              <a:xfrm>
                <a:off x="5834900" y="2638288"/>
                <a:ext cx="26640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39" name="Google Shape;239;p24"/>
              <p:cNvSpPr/>
              <p:nvPr/>
            </p:nvSpPr>
            <p:spPr>
              <a:xfrm>
                <a:off x="6078582" y="1293667"/>
                <a:ext cx="2319243" cy="1062076"/>
              </a:xfrm>
              <a:custGeom>
                <a:avLst/>
                <a:gdLst/>
                <a:ahLst/>
                <a:cxnLst/>
                <a:rect l="l" t="t" r="r" b="b"/>
                <a:pathLst>
                  <a:path w="134644" h="61659" extrusionOk="0">
                    <a:moveTo>
                      <a:pt x="0" y="61659"/>
                    </a:moveTo>
                    <a:cubicBezTo>
                      <a:pt x="3006" y="56696"/>
                      <a:pt x="9788" y="35443"/>
                      <a:pt x="18037" y="31878"/>
                    </a:cubicBezTo>
                    <a:cubicBezTo>
                      <a:pt x="26286" y="28313"/>
                      <a:pt x="41735" y="40826"/>
                      <a:pt x="49495" y="40267"/>
                    </a:cubicBezTo>
                    <a:cubicBezTo>
                      <a:pt x="57255" y="39708"/>
                      <a:pt x="59003" y="29502"/>
                      <a:pt x="64596" y="28523"/>
                    </a:cubicBezTo>
                    <a:cubicBezTo>
                      <a:pt x="70189" y="27544"/>
                      <a:pt x="76829" y="37471"/>
                      <a:pt x="83051" y="34395"/>
                    </a:cubicBezTo>
                    <a:cubicBezTo>
                      <a:pt x="89273" y="31319"/>
                      <a:pt x="93328" y="15800"/>
                      <a:pt x="101927" y="10067"/>
                    </a:cubicBezTo>
                    <a:cubicBezTo>
                      <a:pt x="110526" y="4335"/>
                      <a:pt x="129191" y="1678"/>
                      <a:pt x="134644" y="0"/>
                    </a:cubicBezTo>
                  </a:path>
                </a:pathLst>
              </a:cu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40" name="Google Shape;240;p24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39583" y="1276188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41" name="Google Shape;241;p24"/>
              <p:cNvCxnSpPr/>
              <p:nvPr/>
            </p:nvCxnSpPr>
            <p:spPr>
              <a:xfrm rot="10800000">
                <a:off x="6482562" y="1681336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2" name="Google Shape;242;p24"/>
              <p:cNvCxnSpPr/>
              <p:nvPr/>
            </p:nvCxnSpPr>
            <p:spPr>
              <a:xfrm>
                <a:off x="6471950" y="2638283"/>
                <a:ext cx="1141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A4C2F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243" name="Google Shape;243;p24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56216" y="2670333"/>
                <a:ext cx="97798" cy="11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4" name="Google Shape;244;p24"/>
              <p:cNvSpPr/>
              <p:nvPr/>
            </p:nvSpPr>
            <p:spPr>
              <a:xfrm>
                <a:off x="6484600" y="1758838"/>
                <a:ext cx="1139300" cy="234175"/>
              </a:xfrm>
              <a:custGeom>
                <a:avLst/>
                <a:gdLst/>
                <a:ahLst/>
                <a:cxnLst/>
                <a:rect l="l" t="t" r="r" b="b"/>
                <a:pathLst>
                  <a:path w="45572" h="9367" extrusionOk="0">
                    <a:moveTo>
                      <a:pt x="0" y="3198"/>
                    </a:moveTo>
                    <a:cubicBezTo>
                      <a:pt x="644" y="3354"/>
                      <a:pt x="822" y="3109"/>
                      <a:pt x="3864" y="4131"/>
                    </a:cubicBezTo>
                    <a:cubicBezTo>
                      <a:pt x="6907" y="5153"/>
                      <a:pt x="14188" y="9842"/>
                      <a:pt x="18255" y="9328"/>
                    </a:cubicBezTo>
                    <a:cubicBezTo>
                      <a:pt x="22322" y="8814"/>
                      <a:pt x="24846" y="1667"/>
                      <a:pt x="28266" y="1045"/>
                    </a:cubicBezTo>
                    <a:cubicBezTo>
                      <a:pt x="31686" y="423"/>
                      <a:pt x="36292" y="5283"/>
                      <a:pt x="38776" y="5597"/>
                    </a:cubicBezTo>
                    <a:cubicBezTo>
                      <a:pt x="41261" y="5912"/>
                      <a:pt x="42040" y="3865"/>
                      <a:pt x="43173" y="2932"/>
                    </a:cubicBezTo>
                    <a:cubicBezTo>
                      <a:pt x="44306" y="1999"/>
                      <a:pt x="45172" y="489"/>
                      <a:pt x="45572" y="0"/>
                    </a:cubicBezTo>
                  </a:path>
                </a:pathLst>
              </a:custGeom>
              <a:noFill/>
              <a:ln w="19050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245" name="Google Shape;245;p24"/>
              <p:cNvCxnSpPr/>
              <p:nvPr/>
            </p:nvCxnSpPr>
            <p:spPr>
              <a:xfrm rot="10800000">
                <a:off x="7623912" y="1695023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246" name="Google Shape;246;p24" descr="f(x) &gt; 0, \forall x \in \mathcal{S}" title="MathEquation,#000000"/>
              <p:cNvPicPr preferRelativeResize="0"/>
              <p:nvPr/>
            </p:nvPicPr>
            <p:blipFill rotWithShape="1">
              <a:blip r:embed="rId9"/>
              <a:srcRect l="88467" r="-4" b="9057"/>
              <a:stretch>
                <a:fillRect/>
              </a:stretch>
            </p:blipFill>
            <p:spPr>
              <a:xfrm>
                <a:off x="6959334" y="2876075"/>
                <a:ext cx="172900" cy="2231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7" name="Google Shape;247;p24"/>
              <p:cNvSpPr/>
              <p:nvPr/>
            </p:nvSpPr>
            <p:spPr>
              <a:xfrm rot="-5400000">
                <a:off x="6964875" y="2206850"/>
                <a:ext cx="168300" cy="11397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248" name="Google Shape;248;p24"/>
          <p:cNvCxnSpPr/>
          <p:nvPr/>
        </p:nvCxnSpPr>
        <p:spPr>
          <a:xfrm rot="10800000" flipH="1">
            <a:off x="6323513" y="3440275"/>
            <a:ext cx="1583700" cy="714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Review: bound propagation with linear bounds (CROWN)</a:t>
            </a:r>
          </a:p>
        </p:txBody>
      </p:sp>
      <p:sp>
        <p:nvSpPr>
          <p:cNvPr id="254" name="Google Shape;254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8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Prerequisite: all pre-activation bounds (can be computed using CROWN by treating z</a:t>
            </a:r>
            <a:r>
              <a:rPr lang="en-GB" baseline="-25000"/>
              <a:t>1</a:t>
            </a:r>
            <a:r>
              <a:rPr lang="en-GB"/>
              <a:t> and z</a:t>
            </a:r>
            <a:r>
              <a:rPr lang="en-GB" baseline="-25000"/>
              <a:t>2</a:t>
            </a:r>
            <a:r>
              <a:rPr lang="en-GB"/>
              <a:t> as the output neuron)</a:t>
            </a:r>
          </a:p>
        </p:txBody>
      </p:sp>
      <p:pic>
        <p:nvPicPr>
          <p:cNvPr id="255" name="Google Shape;255;p25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113226" y="2212738"/>
            <a:ext cx="1475074" cy="24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5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096575" y="2202025"/>
            <a:ext cx="1546974" cy="26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5" descr="x_1 \in [-1, 2], \ x_2 \in [-2,1]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225511" y="2182375"/>
            <a:ext cx="2442660" cy="30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5" descr="z_1 \in [ -2, 4 ]&#10;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2879500" y="3054800"/>
            <a:ext cx="1233732" cy="30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 descr="z_2 \in [ -3, 6 ]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571997" y="3054800"/>
            <a:ext cx="1233734" cy="30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/>
          <p:nvPr/>
        </p:nvSpPr>
        <p:spPr>
          <a:xfrm>
            <a:off x="2591875" y="2956775"/>
            <a:ext cx="3367200" cy="4965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051375" y="3453275"/>
            <a:ext cx="6448200" cy="7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Pre-activation bounds needed for linear bounds</a:t>
            </a: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2"/>
                </a:solidFill>
              </a:rPr>
              <a:t>of ReLU or other non-linear functions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Review: bound propagation with linear bounds (CROWN)</a:t>
            </a:r>
          </a:p>
        </p:txBody>
      </p:sp>
      <p:sp>
        <p:nvSpPr>
          <p:cNvPr id="267" name="Google Shape;26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Propagation starts from the output y.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1: bound </a:t>
            </a:r>
            <a:r>
              <a:rPr lang="en-GB" b="1"/>
              <a:t>y</a:t>
            </a:r>
            <a:r>
              <a:rPr lang="en-GB"/>
              <a:t> using linear functions of </a:t>
            </a:r>
            <a:r>
              <a:rPr lang="en-GB" b="1"/>
              <a:t>y</a:t>
            </a:r>
            <a:r>
              <a:rPr lang="en-GB"/>
              <a:t> (base case): y &lt;= y, y &gt;= 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2: bound </a:t>
            </a:r>
            <a:r>
              <a:rPr lang="en-GB" b="1"/>
              <a:t>y</a:t>
            </a:r>
            <a:r>
              <a:rPr lang="en-GB"/>
              <a:t> using linear functions of </a:t>
            </a:r>
            <a:r>
              <a:rPr lang="en-GB" b="1"/>
              <a:t>ẑ</a:t>
            </a:r>
            <a:r>
              <a:rPr lang="en-GB"/>
              <a:t>: simply plugin the definition of the second linear layer:  y = ẑ</a:t>
            </a:r>
            <a:r>
              <a:rPr lang="en-GB" baseline="-25000"/>
              <a:t>1</a:t>
            </a:r>
            <a:r>
              <a:rPr lang="en-GB"/>
              <a:t> - ẑ</a:t>
            </a:r>
            <a:r>
              <a:rPr lang="en-GB" baseline="-25000"/>
              <a:t>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baseline="-25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  y &lt;= ẑ</a:t>
            </a:r>
            <a:r>
              <a:rPr lang="en-GB" baseline="-25000"/>
              <a:t>1</a:t>
            </a:r>
            <a:r>
              <a:rPr lang="en-GB"/>
              <a:t> - ẑ</a:t>
            </a:r>
            <a:r>
              <a:rPr lang="en-GB" baseline="-25000"/>
              <a:t>2</a:t>
            </a:r>
            <a:r>
              <a:rPr lang="en-GB"/>
              <a:t>, y &gt;=  ẑ</a:t>
            </a:r>
            <a:r>
              <a:rPr lang="en-GB" baseline="-25000"/>
              <a:t>1</a:t>
            </a:r>
            <a:r>
              <a:rPr lang="en-GB"/>
              <a:t> - ẑ</a:t>
            </a:r>
            <a:r>
              <a:rPr lang="en-GB" baseline="-25000"/>
              <a:t>2</a:t>
            </a:r>
          </a:p>
        </p:txBody>
      </p:sp>
      <p:grpSp>
        <p:nvGrpSpPr>
          <p:cNvPr id="268" name="Google Shape;268;p26"/>
          <p:cNvGrpSpPr/>
          <p:nvPr/>
        </p:nvGrpSpPr>
        <p:grpSpPr>
          <a:xfrm>
            <a:off x="311700" y="2854650"/>
            <a:ext cx="3514125" cy="1936788"/>
            <a:chOff x="1385600" y="949375"/>
            <a:chExt cx="3514125" cy="1936788"/>
          </a:xfrm>
        </p:grpSpPr>
        <p:grpSp>
          <p:nvGrpSpPr>
            <p:cNvPr id="269" name="Google Shape;269;p26"/>
            <p:cNvGrpSpPr/>
            <p:nvPr/>
          </p:nvGrpSpPr>
          <p:grpSpPr>
            <a:xfrm>
              <a:off x="1385600" y="1367763"/>
              <a:ext cx="1691250" cy="1518400"/>
              <a:chOff x="949900" y="2149850"/>
              <a:chExt cx="1691250" cy="1518400"/>
            </a:xfrm>
          </p:grpSpPr>
          <p:sp>
            <p:nvSpPr>
              <p:cNvPr id="270" name="Google Shape;270;p26"/>
              <p:cNvSpPr txBox="1"/>
              <p:nvPr/>
            </p:nvSpPr>
            <p:spPr>
              <a:xfrm>
                <a:off x="949900" y="2149850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1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sp>
            <p:nvSpPr>
              <p:cNvPr id="271" name="Google Shape;271;p26"/>
              <p:cNvSpPr txBox="1"/>
              <p:nvPr/>
            </p:nvSpPr>
            <p:spPr>
              <a:xfrm>
                <a:off x="949900" y="3041525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2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grpSp>
            <p:nvGrpSpPr>
              <p:cNvPr id="272" name="Google Shape;272;p26"/>
              <p:cNvGrpSpPr/>
              <p:nvPr/>
            </p:nvGrpSpPr>
            <p:grpSpPr>
              <a:xfrm>
                <a:off x="1382025" y="2202525"/>
                <a:ext cx="1259125" cy="1465725"/>
                <a:chOff x="1266900" y="1732750"/>
                <a:chExt cx="1259125" cy="1465725"/>
              </a:xfrm>
            </p:grpSpPr>
            <p:sp>
              <p:nvSpPr>
                <p:cNvPr id="273" name="Google Shape;273;p26"/>
                <p:cNvSpPr/>
                <p:nvPr/>
              </p:nvSpPr>
              <p:spPr>
                <a:xfrm>
                  <a:off x="1266900" y="19646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26"/>
                <p:cNvSpPr/>
                <p:nvPr/>
              </p:nvSpPr>
              <p:spPr>
                <a:xfrm>
                  <a:off x="1266900" y="2571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75;p26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76" name="Google Shape;276;p26"/>
                <p:cNvCxnSpPr>
                  <a:stCxn id="273" idx="6"/>
                  <a:endCxn id="275" idx="2"/>
                </p:cNvCxnSpPr>
                <p:nvPr/>
              </p:nvCxnSpPr>
              <p:spPr>
                <a:xfrm rot="10800000" flipH="1">
                  <a:off x="1498800" y="1848700"/>
                  <a:ext cx="795300" cy="231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7" name="Google Shape;277;p26"/>
                <p:cNvCxnSpPr>
                  <a:stCxn id="274" idx="6"/>
                  <a:endCxn id="275" idx="2"/>
                </p:cNvCxnSpPr>
                <p:nvPr/>
              </p:nvCxnSpPr>
              <p:spPr>
                <a:xfrm rot="10800000" flipH="1">
                  <a:off x="1498800" y="1848600"/>
                  <a:ext cx="795300" cy="83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8" name="Google Shape;278;p26"/>
                <p:cNvCxnSpPr>
                  <a:stCxn id="274" idx="6"/>
                  <a:endCxn id="279" idx="2"/>
                </p:cNvCxnSpPr>
                <p:nvPr/>
              </p:nvCxnSpPr>
              <p:spPr>
                <a:xfrm>
                  <a:off x="1498800" y="2687700"/>
                  <a:ext cx="795300" cy="39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0" name="Google Shape;280;p26"/>
                <p:cNvCxnSpPr>
                  <a:stCxn id="273" idx="6"/>
                  <a:endCxn id="279" idx="2"/>
                </p:cNvCxnSpPr>
                <p:nvPr/>
              </p:nvCxnSpPr>
              <p:spPr>
                <a:xfrm>
                  <a:off x="1498800" y="2080600"/>
                  <a:ext cx="795300" cy="1002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79" name="Google Shape;279;p26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1" name="Google Shape;281;p26"/>
            <p:cNvGrpSpPr/>
            <p:nvPr/>
          </p:nvGrpSpPr>
          <p:grpSpPr>
            <a:xfrm>
              <a:off x="2492650" y="949375"/>
              <a:ext cx="415500" cy="1762800"/>
              <a:chOff x="2307950" y="1146975"/>
              <a:chExt cx="415500" cy="1762800"/>
            </a:xfrm>
          </p:grpSpPr>
          <p:sp>
            <p:nvSpPr>
              <p:cNvPr id="282" name="Google Shape;282;p26"/>
              <p:cNvSpPr txBox="1"/>
              <p:nvPr/>
            </p:nvSpPr>
            <p:spPr>
              <a:xfrm>
                <a:off x="2307950" y="11469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1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283" name="Google Shape;283;p26"/>
              <p:cNvSpPr txBox="1"/>
              <p:nvPr/>
            </p:nvSpPr>
            <p:spPr>
              <a:xfrm>
                <a:off x="2307950" y="23826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2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284" name="Google Shape;284;p26"/>
            <p:cNvGrpSpPr/>
            <p:nvPr/>
          </p:nvGrpSpPr>
          <p:grpSpPr>
            <a:xfrm>
              <a:off x="3076750" y="949375"/>
              <a:ext cx="1822975" cy="1936788"/>
              <a:chOff x="3076750" y="949375"/>
              <a:chExt cx="1822975" cy="1936788"/>
            </a:xfrm>
          </p:grpSpPr>
          <p:sp>
            <p:nvSpPr>
              <p:cNvPr id="285" name="Google Shape;285;p26"/>
              <p:cNvSpPr/>
              <p:nvPr/>
            </p:nvSpPr>
            <p:spPr>
              <a:xfrm>
                <a:off x="4340100" y="2011013"/>
                <a:ext cx="231900" cy="231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6" name="Google Shape;286;p26"/>
              <p:cNvGrpSpPr/>
              <p:nvPr/>
            </p:nvGrpSpPr>
            <p:grpSpPr>
              <a:xfrm>
                <a:off x="3374650" y="1420438"/>
                <a:ext cx="231900" cy="1465725"/>
                <a:chOff x="2294125" y="1732750"/>
                <a:chExt cx="231900" cy="1465725"/>
              </a:xfrm>
            </p:grpSpPr>
            <p:sp>
              <p:nvSpPr>
                <p:cNvPr id="287" name="Google Shape;287;p26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" name="Google Shape;288;p26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289" name="Google Shape;289;p26"/>
              <p:cNvCxnSpPr>
                <a:stCxn id="287" idx="6"/>
                <a:endCxn id="285" idx="2"/>
              </p:cNvCxnSpPr>
              <p:nvPr/>
            </p:nvCxnSpPr>
            <p:spPr>
              <a:xfrm>
                <a:off x="3606550" y="1536388"/>
                <a:ext cx="733500" cy="59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26"/>
              <p:cNvCxnSpPr>
                <a:stCxn id="288" idx="6"/>
                <a:endCxn id="285" idx="2"/>
              </p:cNvCxnSpPr>
              <p:nvPr/>
            </p:nvCxnSpPr>
            <p:spPr>
              <a:xfrm rot="10800000" flipH="1">
                <a:off x="3606550" y="2127013"/>
                <a:ext cx="733500" cy="64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" name="Google Shape;291;p26"/>
              <p:cNvCxnSpPr>
                <a:stCxn id="287" idx="2"/>
                <a:endCxn id="275" idx="6"/>
              </p:cNvCxnSpPr>
              <p:nvPr/>
            </p:nvCxnSpPr>
            <p:spPr>
              <a:xfrm rot="10800000">
                <a:off x="3076750" y="1536388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" name="Google Shape;292;p26"/>
              <p:cNvCxnSpPr>
                <a:stCxn id="288" idx="2"/>
                <a:endCxn id="279" idx="6"/>
              </p:cNvCxnSpPr>
              <p:nvPr/>
            </p:nvCxnSpPr>
            <p:spPr>
              <a:xfrm rot="10800000">
                <a:off x="3076750" y="2770213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3" name="Google Shape;293;p26"/>
              <p:cNvSpPr txBox="1"/>
              <p:nvPr/>
            </p:nvSpPr>
            <p:spPr>
              <a:xfrm>
                <a:off x="3163900" y="949375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1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294" name="Google Shape;294;p26"/>
              <p:cNvSpPr txBox="1"/>
              <p:nvPr/>
            </p:nvSpPr>
            <p:spPr>
              <a:xfrm>
                <a:off x="3163900" y="2185100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2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295" name="Google Shape;295;p26"/>
              <p:cNvSpPr txBox="1"/>
              <p:nvPr/>
            </p:nvSpPr>
            <p:spPr>
              <a:xfrm>
                <a:off x="4407725" y="1657225"/>
                <a:ext cx="4920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y</a:t>
                </a:r>
                <a:endParaRPr sz="1800"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96" name="Google Shape;296;p26"/>
          <p:cNvSpPr txBox="1"/>
          <p:nvPr/>
        </p:nvSpPr>
        <p:spPr>
          <a:xfrm>
            <a:off x="4161475" y="3855625"/>
            <a:ext cx="40380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Linear layer: simple substitution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Review: bound propagation with linear bounds (CROWN)</a:t>
            </a:r>
          </a:p>
        </p:txBody>
      </p:sp>
      <p:sp>
        <p:nvSpPr>
          <p:cNvPr id="302" name="Google Shape;30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5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3: bound </a:t>
            </a:r>
            <a:r>
              <a:rPr lang="en-GB" b="1"/>
              <a:t>y</a:t>
            </a:r>
            <a:r>
              <a:rPr lang="en-GB"/>
              <a:t> using linear functions of </a:t>
            </a:r>
            <a:r>
              <a:rPr lang="en-GB" b="1"/>
              <a:t>z</a:t>
            </a:r>
            <a:r>
              <a:rPr lang="en-GB"/>
              <a:t>: need linear bounds for ReLU functions, which allows us to replace ẑ with z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       y &lt;= </a:t>
            </a:r>
            <a:r>
              <a:rPr lang="en-GB" b="1"/>
              <a:t>1</a:t>
            </a:r>
            <a:r>
              <a:rPr lang="en-GB"/>
              <a:t>· ẑ</a:t>
            </a:r>
            <a:r>
              <a:rPr lang="en-GB" baseline="-25000"/>
              <a:t>1</a:t>
            </a:r>
            <a:r>
              <a:rPr lang="en-GB"/>
              <a:t> + (</a:t>
            </a:r>
            <a:r>
              <a:rPr lang="en-GB" b="1"/>
              <a:t>-1</a:t>
            </a:r>
            <a:r>
              <a:rPr lang="en-GB"/>
              <a:t>) · ẑ</a:t>
            </a:r>
            <a:r>
              <a:rPr lang="en-GB" baseline="-25000"/>
              <a:t>2</a:t>
            </a:r>
            <a:endParaRPr baseline="30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       y &gt;= </a:t>
            </a:r>
            <a:r>
              <a:rPr lang="en-GB" b="1"/>
              <a:t>1</a:t>
            </a:r>
            <a:r>
              <a:rPr lang="en-GB"/>
              <a:t>· ẑ</a:t>
            </a:r>
            <a:r>
              <a:rPr lang="en-GB" baseline="-25000"/>
              <a:t>1</a:t>
            </a:r>
            <a:r>
              <a:rPr lang="en-GB"/>
              <a:t> + (</a:t>
            </a:r>
            <a:r>
              <a:rPr lang="en-GB" b="1"/>
              <a:t>-1</a:t>
            </a:r>
            <a:r>
              <a:rPr lang="en-GB"/>
              <a:t>) · ẑ</a:t>
            </a:r>
            <a:r>
              <a:rPr lang="en-GB" baseline="-25000"/>
              <a:t>2</a:t>
            </a:r>
          </a:p>
        </p:txBody>
      </p:sp>
      <p:grpSp>
        <p:nvGrpSpPr>
          <p:cNvPr id="303" name="Google Shape;303;p27"/>
          <p:cNvGrpSpPr/>
          <p:nvPr/>
        </p:nvGrpSpPr>
        <p:grpSpPr>
          <a:xfrm>
            <a:off x="311700" y="2854650"/>
            <a:ext cx="3514125" cy="1936788"/>
            <a:chOff x="1385600" y="949375"/>
            <a:chExt cx="3514125" cy="1936788"/>
          </a:xfrm>
        </p:grpSpPr>
        <p:grpSp>
          <p:nvGrpSpPr>
            <p:cNvPr id="304" name="Google Shape;304;p27"/>
            <p:cNvGrpSpPr/>
            <p:nvPr/>
          </p:nvGrpSpPr>
          <p:grpSpPr>
            <a:xfrm>
              <a:off x="1385600" y="1367763"/>
              <a:ext cx="1691250" cy="1518400"/>
              <a:chOff x="949900" y="2149850"/>
              <a:chExt cx="1691250" cy="1518400"/>
            </a:xfrm>
          </p:grpSpPr>
          <p:sp>
            <p:nvSpPr>
              <p:cNvPr id="305" name="Google Shape;305;p27"/>
              <p:cNvSpPr txBox="1"/>
              <p:nvPr/>
            </p:nvSpPr>
            <p:spPr>
              <a:xfrm>
                <a:off x="949900" y="2149850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1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sp>
            <p:nvSpPr>
              <p:cNvPr id="306" name="Google Shape;306;p27"/>
              <p:cNvSpPr txBox="1"/>
              <p:nvPr/>
            </p:nvSpPr>
            <p:spPr>
              <a:xfrm>
                <a:off x="949900" y="3041525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2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grpSp>
            <p:nvGrpSpPr>
              <p:cNvPr id="307" name="Google Shape;307;p27"/>
              <p:cNvGrpSpPr/>
              <p:nvPr/>
            </p:nvGrpSpPr>
            <p:grpSpPr>
              <a:xfrm>
                <a:off x="1382025" y="2202525"/>
                <a:ext cx="1259125" cy="1465725"/>
                <a:chOff x="1266900" y="1732750"/>
                <a:chExt cx="1259125" cy="1465725"/>
              </a:xfrm>
            </p:grpSpPr>
            <p:sp>
              <p:nvSpPr>
                <p:cNvPr id="308" name="Google Shape;308;p27"/>
                <p:cNvSpPr/>
                <p:nvPr/>
              </p:nvSpPr>
              <p:spPr>
                <a:xfrm>
                  <a:off x="1266900" y="19646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27"/>
                <p:cNvSpPr/>
                <p:nvPr/>
              </p:nvSpPr>
              <p:spPr>
                <a:xfrm>
                  <a:off x="1266900" y="2571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310;p27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11" name="Google Shape;311;p27"/>
                <p:cNvCxnSpPr>
                  <a:stCxn id="308" idx="6"/>
                  <a:endCxn id="310" idx="2"/>
                </p:cNvCxnSpPr>
                <p:nvPr/>
              </p:nvCxnSpPr>
              <p:spPr>
                <a:xfrm rot="10800000" flipH="1">
                  <a:off x="1498800" y="1848700"/>
                  <a:ext cx="795300" cy="231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2" name="Google Shape;312;p27"/>
                <p:cNvCxnSpPr>
                  <a:stCxn id="309" idx="6"/>
                  <a:endCxn id="310" idx="2"/>
                </p:cNvCxnSpPr>
                <p:nvPr/>
              </p:nvCxnSpPr>
              <p:spPr>
                <a:xfrm rot="10800000" flipH="1">
                  <a:off x="1498800" y="1848600"/>
                  <a:ext cx="795300" cy="83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3" name="Google Shape;313;p27"/>
                <p:cNvCxnSpPr>
                  <a:stCxn id="309" idx="6"/>
                  <a:endCxn id="314" idx="2"/>
                </p:cNvCxnSpPr>
                <p:nvPr/>
              </p:nvCxnSpPr>
              <p:spPr>
                <a:xfrm>
                  <a:off x="1498800" y="2687700"/>
                  <a:ext cx="795300" cy="39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5" name="Google Shape;315;p27"/>
                <p:cNvCxnSpPr>
                  <a:stCxn id="308" idx="6"/>
                  <a:endCxn id="314" idx="2"/>
                </p:cNvCxnSpPr>
                <p:nvPr/>
              </p:nvCxnSpPr>
              <p:spPr>
                <a:xfrm>
                  <a:off x="1498800" y="2080600"/>
                  <a:ext cx="795300" cy="1002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4" name="Google Shape;314;p27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6" name="Google Shape;316;p27"/>
            <p:cNvGrpSpPr/>
            <p:nvPr/>
          </p:nvGrpSpPr>
          <p:grpSpPr>
            <a:xfrm>
              <a:off x="2492650" y="949375"/>
              <a:ext cx="415500" cy="1762800"/>
              <a:chOff x="2307950" y="1146975"/>
              <a:chExt cx="415500" cy="1762800"/>
            </a:xfrm>
          </p:grpSpPr>
          <p:sp>
            <p:nvSpPr>
              <p:cNvPr id="317" name="Google Shape;317;p27"/>
              <p:cNvSpPr txBox="1"/>
              <p:nvPr/>
            </p:nvSpPr>
            <p:spPr>
              <a:xfrm>
                <a:off x="2307950" y="11469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1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318" name="Google Shape;318;p27"/>
              <p:cNvSpPr txBox="1"/>
              <p:nvPr/>
            </p:nvSpPr>
            <p:spPr>
              <a:xfrm>
                <a:off x="2307950" y="23826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2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19" name="Google Shape;319;p27"/>
            <p:cNvGrpSpPr/>
            <p:nvPr/>
          </p:nvGrpSpPr>
          <p:grpSpPr>
            <a:xfrm>
              <a:off x="3076750" y="949375"/>
              <a:ext cx="1822975" cy="1936788"/>
              <a:chOff x="3076750" y="949375"/>
              <a:chExt cx="1822975" cy="1936788"/>
            </a:xfrm>
          </p:grpSpPr>
          <p:sp>
            <p:nvSpPr>
              <p:cNvPr id="320" name="Google Shape;320;p27"/>
              <p:cNvSpPr/>
              <p:nvPr/>
            </p:nvSpPr>
            <p:spPr>
              <a:xfrm>
                <a:off x="4340100" y="2011013"/>
                <a:ext cx="231900" cy="231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21" name="Google Shape;321;p27"/>
              <p:cNvGrpSpPr/>
              <p:nvPr/>
            </p:nvGrpSpPr>
            <p:grpSpPr>
              <a:xfrm>
                <a:off x="3374650" y="1420438"/>
                <a:ext cx="231900" cy="1465725"/>
                <a:chOff x="2294125" y="1732750"/>
                <a:chExt cx="231900" cy="1465725"/>
              </a:xfrm>
            </p:grpSpPr>
            <p:sp>
              <p:nvSpPr>
                <p:cNvPr id="322" name="Google Shape;322;p27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" name="Google Shape;323;p27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324" name="Google Shape;324;p27"/>
              <p:cNvCxnSpPr>
                <a:stCxn id="322" idx="6"/>
                <a:endCxn id="320" idx="2"/>
              </p:cNvCxnSpPr>
              <p:nvPr/>
            </p:nvCxnSpPr>
            <p:spPr>
              <a:xfrm>
                <a:off x="3606550" y="1536388"/>
                <a:ext cx="733500" cy="59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27"/>
              <p:cNvCxnSpPr>
                <a:stCxn id="323" idx="6"/>
                <a:endCxn id="320" idx="2"/>
              </p:cNvCxnSpPr>
              <p:nvPr/>
            </p:nvCxnSpPr>
            <p:spPr>
              <a:xfrm rot="10800000" flipH="1">
                <a:off x="3606550" y="2127013"/>
                <a:ext cx="733500" cy="64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27"/>
              <p:cNvCxnSpPr>
                <a:stCxn id="322" idx="2"/>
                <a:endCxn id="310" idx="6"/>
              </p:cNvCxnSpPr>
              <p:nvPr/>
            </p:nvCxnSpPr>
            <p:spPr>
              <a:xfrm rot="10800000">
                <a:off x="3076750" y="1536388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27"/>
              <p:cNvCxnSpPr>
                <a:stCxn id="323" idx="2"/>
                <a:endCxn id="314" idx="6"/>
              </p:cNvCxnSpPr>
              <p:nvPr/>
            </p:nvCxnSpPr>
            <p:spPr>
              <a:xfrm rot="10800000">
                <a:off x="3076750" y="2770213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28" name="Google Shape;328;p27"/>
              <p:cNvSpPr txBox="1"/>
              <p:nvPr/>
            </p:nvSpPr>
            <p:spPr>
              <a:xfrm>
                <a:off x="3163900" y="949375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1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329" name="Google Shape;329;p27"/>
              <p:cNvSpPr txBox="1"/>
              <p:nvPr/>
            </p:nvSpPr>
            <p:spPr>
              <a:xfrm>
                <a:off x="3163900" y="2185100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2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330" name="Google Shape;330;p27"/>
              <p:cNvSpPr txBox="1"/>
              <p:nvPr/>
            </p:nvSpPr>
            <p:spPr>
              <a:xfrm>
                <a:off x="4407725" y="1657225"/>
                <a:ext cx="4920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y</a:t>
                </a:r>
                <a:endParaRPr sz="1800"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331" name="Google Shape;331;p27"/>
          <p:cNvSpPr txBox="1"/>
          <p:nvPr/>
        </p:nvSpPr>
        <p:spPr>
          <a:xfrm>
            <a:off x="405125" y="2004275"/>
            <a:ext cx="4038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ReLU layer: use linear bound</a:t>
            </a:r>
            <a:endParaRPr sz="180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Check </a:t>
            </a:r>
            <a:r>
              <a:rPr lang="en-GB" sz="1800" b="1">
                <a:solidFill>
                  <a:srgbClr val="0000FF"/>
                </a:solidFill>
              </a:rPr>
              <a:t>sign</a:t>
            </a:r>
            <a:r>
              <a:rPr lang="en-GB" sz="1800">
                <a:solidFill>
                  <a:srgbClr val="0000FF"/>
                </a:solidFill>
              </a:rPr>
              <a:t> of coefficients and take the lower or upper bound</a:t>
            </a:r>
            <a:endParaRPr sz="1800">
              <a:solidFill>
                <a:srgbClr val="0000FF"/>
              </a:solidFill>
            </a:endParaRPr>
          </a:p>
        </p:txBody>
      </p:sp>
      <p:grpSp>
        <p:nvGrpSpPr>
          <p:cNvPr id="332" name="Google Shape;332;p27"/>
          <p:cNvGrpSpPr/>
          <p:nvPr/>
        </p:nvGrpSpPr>
        <p:grpSpPr>
          <a:xfrm>
            <a:off x="6842975" y="1907350"/>
            <a:ext cx="2516674" cy="1757400"/>
            <a:chOff x="6315625" y="3181825"/>
            <a:chExt cx="2516674" cy="1757400"/>
          </a:xfrm>
        </p:grpSpPr>
        <p:grpSp>
          <p:nvGrpSpPr>
            <p:cNvPr id="333" name="Google Shape;333;p27"/>
            <p:cNvGrpSpPr/>
            <p:nvPr/>
          </p:nvGrpSpPr>
          <p:grpSpPr>
            <a:xfrm>
              <a:off x="6451225" y="3376222"/>
              <a:ext cx="2381074" cy="1280700"/>
              <a:chOff x="1991775" y="2399647"/>
              <a:chExt cx="2381074" cy="1280700"/>
            </a:xfrm>
          </p:grpSpPr>
          <p:grpSp>
            <p:nvGrpSpPr>
              <p:cNvPr id="334" name="Google Shape;334;p27"/>
              <p:cNvGrpSpPr/>
              <p:nvPr/>
            </p:nvGrpSpPr>
            <p:grpSpPr>
              <a:xfrm>
                <a:off x="1991775" y="239964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335" name="Google Shape;335;p27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36" name="Google Shape;336;p27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337" name="Google Shape;337;p27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8" name="Google Shape;338;p27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339" name="Google Shape;339;p27"/>
              <p:cNvCxnSpPr/>
              <p:nvPr/>
            </p:nvCxnSpPr>
            <p:spPr>
              <a:xfrm rot="10800000">
                <a:off x="2694000" y="2551475"/>
                <a:ext cx="0" cy="101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" name="Google Shape;340;p27"/>
              <p:cNvCxnSpPr/>
              <p:nvPr/>
            </p:nvCxnSpPr>
            <p:spPr>
              <a:xfrm rot="10800000">
                <a:off x="3977325" y="2456025"/>
                <a:ext cx="0" cy="1121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41" name="Google Shape;341;p27"/>
            <p:cNvCxnSpPr/>
            <p:nvPr/>
          </p:nvCxnSpPr>
          <p:spPr>
            <a:xfrm rot="10800000" flipH="1">
              <a:off x="6315625" y="3248000"/>
              <a:ext cx="2436900" cy="15114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" name="Google Shape;342;p27"/>
            <p:cNvCxnSpPr/>
            <p:nvPr/>
          </p:nvCxnSpPr>
          <p:spPr>
            <a:xfrm rot="10800000" flipH="1">
              <a:off x="6951825" y="3181825"/>
              <a:ext cx="1780800" cy="1757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43" name="Google Shape;343;p27" descr="z_2 \leq \text{ReLU}(z_2) \leq \frac{2}{3} z_2 + 2&#10;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72007" y="3584242"/>
            <a:ext cx="2270978" cy="298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7" descr="z_1 \leq \text{ReLU}(z_1) \leq \frac{2}{3} z_1 + \frac{4}{3}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30422" y="3095513"/>
            <a:ext cx="2354150" cy="303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7" descr="z_1 - (\frac{2}{3} z_2 + 2) \leq y \leq (\frac{2}{3}z_1+ \frac{4}{3}) - z_2  &#10;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518899" y="4393369"/>
            <a:ext cx="5121150" cy="46730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7"/>
          <p:cNvSpPr/>
          <p:nvPr/>
        </p:nvSpPr>
        <p:spPr>
          <a:xfrm>
            <a:off x="5449375" y="3925975"/>
            <a:ext cx="255000" cy="467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7919950" y="17466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ẑ=ReLU(z)</a:t>
            </a:r>
          </a:p>
        </p:txBody>
      </p:sp>
      <p:sp>
        <p:nvSpPr>
          <p:cNvPr id="348" name="Google Shape;348;p27"/>
          <p:cNvSpPr txBox="1"/>
          <p:nvPr/>
        </p:nvSpPr>
        <p:spPr>
          <a:xfrm>
            <a:off x="8889000" y="3016213"/>
            <a:ext cx="255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z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Review: bound propagation with linear bounds (CROWN)</a:t>
            </a:r>
          </a:p>
        </p:txBody>
      </p:sp>
      <p:sp>
        <p:nvSpPr>
          <p:cNvPr id="354" name="Google Shape;35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4: bound </a:t>
            </a:r>
            <a:r>
              <a:rPr lang="en-GB" b="1"/>
              <a:t>y</a:t>
            </a:r>
            <a:r>
              <a:rPr lang="en-GB"/>
              <a:t> using linear functions of </a:t>
            </a:r>
            <a:r>
              <a:rPr lang="en-GB" b="1"/>
              <a:t>x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</a:t>
            </a:r>
          </a:p>
        </p:txBody>
      </p:sp>
      <p:grpSp>
        <p:nvGrpSpPr>
          <p:cNvPr id="355" name="Google Shape;355;p28"/>
          <p:cNvGrpSpPr/>
          <p:nvPr/>
        </p:nvGrpSpPr>
        <p:grpSpPr>
          <a:xfrm>
            <a:off x="311700" y="2854650"/>
            <a:ext cx="3514125" cy="1936788"/>
            <a:chOff x="1385600" y="949375"/>
            <a:chExt cx="3514125" cy="1936788"/>
          </a:xfrm>
        </p:grpSpPr>
        <p:grpSp>
          <p:nvGrpSpPr>
            <p:cNvPr id="356" name="Google Shape;356;p28"/>
            <p:cNvGrpSpPr/>
            <p:nvPr/>
          </p:nvGrpSpPr>
          <p:grpSpPr>
            <a:xfrm>
              <a:off x="1385600" y="1367763"/>
              <a:ext cx="1691250" cy="1518400"/>
              <a:chOff x="949900" y="2149850"/>
              <a:chExt cx="1691250" cy="1518400"/>
            </a:xfrm>
          </p:grpSpPr>
          <p:sp>
            <p:nvSpPr>
              <p:cNvPr id="357" name="Google Shape;357;p28"/>
              <p:cNvSpPr txBox="1"/>
              <p:nvPr/>
            </p:nvSpPr>
            <p:spPr>
              <a:xfrm>
                <a:off x="949900" y="2149850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1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sp>
            <p:nvSpPr>
              <p:cNvPr id="358" name="Google Shape;358;p28"/>
              <p:cNvSpPr txBox="1"/>
              <p:nvPr/>
            </p:nvSpPr>
            <p:spPr>
              <a:xfrm>
                <a:off x="949900" y="3041525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2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grpSp>
            <p:nvGrpSpPr>
              <p:cNvPr id="359" name="Google Shape;359;p28"/>
              <p:cNvGrpSpPr/>
              <p:nvPr/>
            </p:nvGrpSpPr>
            <p:grpSpPr>
              <a:xfrm>
                <a:off x="1382025" y="2202525"/>
                <a:ext cx="1259125" cy="1465725"/>
                <a:chOff x="1266900" y="1732750"/>
                <a:chExt cx="1259125" cy="1465725"/>
              </a:xfrm>
            </p:grpSpPr>
            <p:sp>
              <p:nvSpPr>
                <p:cNvPr id="360" name="Google Shape;360;p28"/>
                <p:cNvSpPr/>
                <p:nvPr/>
              </p:nvSpPr>
              <p:spPr>
                <a:xfrm>
                  <a:off x="1266900" y="19646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" name="Google Shape;361;p28"/>
                <p:cNvSpPr/>
                <p:nvPr/>
              </p:nvSpPr>
              <p:spPr>
                <a:xfrm>
                  <a:off x="1266900" y="2571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" name="Google Shape;362;p28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63" name="Google Shape;363;p28"/>
                <p:cNvCxnSpPr>
                  <a:stCxn id="360" idx="6"/>
                  <a:endCxn id="362" idx="2"/>
                </p:cNvCxnSpPr>
                <p:nvPr/>
              </p:nvCxnSpPr>
              <p:spPr>
                <a:xfrm rot="10800000" flipH="1">
                  <a:off x="1498800" y="1848700"/>
                  <a:ext cx="795300" cy="231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4" name="Google Shape;364;p28"/>
                <p:cNvCxnSpPr>
                  <a:stCxn id="361" idx="6"/>
                  <a:endCxn id="362" idx="2"/>
                </p:cNvCxnSpPr>
                <p:nvPr/>
              </p:nvCxnSpPr>
              <p:spPr>
                <a:xfrm rot="10800000" flipH="1">
                  <a:off x="1498800" y="1848600"/>
                  <a:ext cx="795300" cy="83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5" name="Google Shape;365;p28"/>
                <p:cNvCxnSpPr>
                  <a:stCxn id="361" idx="6"/>
                  <a:endCxn id="366" idx="2"/>
                </p:cNvCxnSpPr>
                <p:nvPr/>
              </p:nvCxnSpPr>
              <p:spPr>
                <a:xfrm>
                  <a:off x="1498800" y="2687700"/>
                  <a:ext cx="795300" cy="39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7" name="Google Shape;367;p28"/>
                <p:cNvCxnSpPr>
                  <a:stCxn id="360" idx="6"/>
                  <a:endCxn id="366" idx="2"/>
                </p:cNvCxnSpPr>
                <p:nvPr/>
              </p:nvCxnSpPr>
              <p:spPr>
                <a:xfrm>
                  <a:off x="1498800" y="2080600"/>
                  <a:ext cx="795300" cy="1002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66" name="Google Shape;366;p28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68" name="Google Shape;368;p28"/>
            <p:cNvGrpSpPr/>
            <p:nvPr/>
          </p:nvGrpSpPr>
          <p:grpSpPr>
            <a:xfrm>
              <a:off x="2492650" y="949375"/>
              <a:ext cx="415500" cy="1762800"/>
              <a:chOff x="2307950" y="1146975"/>
              <a:chExt cx="415500" cy="1762800"/>
            </a:xfrm>
          </p:grpSpPr>
          <p:sp>
            <p:nvSpPr>
              <p:cNvPr id="369" name="Google Shape;369;p28"/>
              <p:cNvSpPr txBox="1"/>
              <p:nvPr/>
            </p:nvSpPr>
            <p:spPr>
              <a:xfrm>
                <a:off x="2307950" y="11469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1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370" name="Google Shape;370;p28"/>
              <p:cNvSpPr txBox="1"/>
              <p:nvPr/>
            </p:nvSpPr>
            <p:spPr>
              <a:xfrm>
                <a:off x="2307950" y="23826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2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71" name="Google Shape;371;p28"/>
            <p:cNvGrpSpPr/>
            <p:nvPr/>
          </p:nvGrpSpPr>
          <p:grpSpPr>
            <a:xfrm>
              <a:off x="3076750" y="949375"/>
              <a:ext cx="1822975" cy="1936788"/>
              <a:chOff x="3076750" y="949375"/>
              <a:chExt cx="1822975" cy="1936788"/>
            </a:xfrm>
          </p:grpSpPr>
          <p:sp>
            <p:nvSpPr>
              <p:cNvPr id="372" name="Google Shape;372;p28"/>
              <p:cNvSpPr/>
              <p:nvPr/>
            </p:nvSpPr>
            <p:spPr>
              <a:xfrm>
                <a:off x="4340100" y="2011013"/>
                <a:ext cx="231900" cy="231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73" name="Google Shape;373;p28"/>
              <p:cNvGrpSpPr/>
              <p:nvPr/>
            </p:nvGrpSpPr>
            <p:grpSpPr>
              <a:xfrm>
                <a:off x="3374650" y="1420438"/>
                <a:ext cx="231900" cy="1465725"/>
                <a:chOff x="2294125" y="1732750"/>
                <a:chExt cx="231900" cy="1465725"/>
              </a:xfrm>
            </p:grpSpPr>
            <p:sp>
              <p:nvSpPr>
                <p:cNvPr id="374" name="Google Shape;374;p28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28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376" name="Google Shape;376;p28"/>
              <p:cNvCxnSpPr>
                <a:stCxn id="374" idx="6"/>
                <a:endCxn id="372" idx="2"/>
              </p:cNvCxnSpPr>
              <p:nvPr/>
            </p:nvCxnSpPr>
            <p:spPr>
              <a:xfrm>
                <a:off x="3606550" y="1536388"/>
                <a:ext cx="733500" cy="59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7" name="Google Shape;377;p28"/>
              <p:cNvCxnSpPr>
                <a:stCxn id="375" idx="6"/>
                <a:endCxn id="372" idx="2"/>
              </p:cNvCxnSpPr>
              <p:nvPr/>
            </p:nvCxnSpPr>
            <p:spPr>
              <a:xfrm rot="10800000" flipH="1">
                <a:off x="3606550" y="2127013"/>
                <a:ext cx="733500" cy="64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8" name="Google Shape;378;p28"/>
              <p:cNvCxnSpPr>
                <a:stCxn id="374" idx="2"/>
                <a:endCxn id="362" idx="6"/>
              </p:cNvCxnSpPr>
              <p:nvPr/>
            </p:nvCxnSpPr>
            <p:spPr>
              <a:xfrm rot="10800000">
                <a:off x="3076750" y="1536388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9" name="Google Shape;379;p28"/>
              <p:cNvCxnSpPr>
                <a:stCxn id="375" idx="2"/>
                <a:endCxn id="366" idx="6"/>
              </p:cNvCxnSpPr>
              <p:nvPr/>
            </p:nvCxnSpPr>
            <p:spPr>
              <a:xfrm rot="10800000">
                <a:off x="3076750" y="2770213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80" name="Google Shape;380;p28"/>
              <p:cNvSpPr txBox="1"/>
              <p:nvPr/>
            </p:nvSpPr>
            <p:spPr>
              <a:xfrm>
                <a:off x="3163900" y="949375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1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381" name="Google Shape;381;p28"/>
              <p:cNvSpPr txBox="1"/>
              <p:nvPr/>
            </p:nvSpPr>
            <p:spPr>
              <a:xfrm>
                <a:off x="3163900" y="2185100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2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382" name="Google Shape;382;p28"/>
              <p:cNvSpPr txBox="1"/>
              <p:nvPr/>
            </p:nvSpPr>
            <p:spPr>
              <a:xfrm>
                <a:off x="4407725" y="1657225"/>
                <a:ext cx="4920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y</a:t>
                </a:r>
                <a:endParaRPr sz="1800"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383" name="Google Shape;383;p28"/>
          <p:cNvSpPr txBox="1"/>
          <p:nvPr/>
        </p:nvSpPr>
        <p:spPr>
          <a:xfrm>
            <a:off x="4159925" y="4281775"/>
            <a:ext cx="40380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Linear layer: simple substitution</a:t>
            </a:r>
            <a:endParaRPr sz="1800">
              <a:solidFill>
                <a:srgbClr val="0000FF"/>
              </a:solidFill>
            </a:endParaRPr>
          </a:p>
        </p:txBody>
      </p:sp>
      <p:pic>
        <p:nvPicPr>
          <p:cNvPr id="384" name="Google Shape;384;p28" descr="z_1 - (\frac{2}{3} z_2 + 2) \leq y \leq (\frac{2}{3}z_1+ \frac{4}{3}) - z_2  &#10;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25825" y="1738375"/>
            <a:ext cx="4372100" cy="39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8" descr="z_1 = 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22832" y="2217050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8" descr="z_2 = 2x_1 - x_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122835" y="2624178"/>
            <a:ext cx="1778074" cy="30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8" descr="-\frac{1}{3} x_1 -\frac{1}{3} x_2 - 2\leq y \leq -\frac{4}{3} x_1 + \frac{1}{3} x_2 + \frac{4}{3}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3651909" y="3500138"/>
            <a:ext cx="4839392" cy="3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8"/>
          <p:cNvSpPr/>
          <p:nvPr/>
        </p:nvSpPr>
        <p:spPr>
          <a:xfrm>
            <a:off x="5851850" y="2943350"/>
            <a:ext cx="281700" cy="509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Review: bound propagation with linear bounds (CROWN)</a:t>
            </a:r>
          </a:p>
        </p:txBody>
      </p:sp>
      <p:sp>
        <p:nvSpPr>
          <p:cNvPr id="394" name="Google Shape;39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5: concretize linear bounds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</a:t>
            </a:r>
          </a:p>
        </p:txBody>
      </p:sp>
      <p:grpSp>
        <p:nvGrpSpPr>
          <p:cNvPr id="395" name="Google Shape;395;p29"/>
          <p:cNvGrpSpPr/>
          <p:nvPr/>
        </p:nvGrpSpPr>
        <p:grpSpPr>
          <a:xfrm>
            <a:off x="311700" y="2854650"/>
            <a:ext cx="3514125" cy="1936788"/>
            <a:chOff x="1385600" y="949375"/>
            <a:chExt cx="3514125" cy="1936788"/>
          </a:xfrm>
        </p:grpSpPr>
        <p:grpSp>
          <p:nvGrpSpPr>
            <p:cNvPr id="396" name="Google Shape;396;p29"/>
            <p:cNvGrpSpPr/>
            <p:nvPr/>
          </p:nvGrpSpPr>
          <p:grpSpPr>
            <a:xfrm>
              <a:off x="1385600" y="1367763"/>
              <a:ext cx="1691250" cy="1518400"/>
              <a:chOff x="949900" y="2149850"/>
              <a:chExt cx="1691250" cy="1518400"/>
            </a:xfrm>
          </p:grpSpPr>
          <p:sp>
            <p:nvSpPr>
              <p:cNvPr id="397" name="Google Shape;397;p29"/>
              <p:cNvSpPr txBox="1"/>
              <p:nvPr/>
            </p:nvSpPr>
            <p:spPr>
              <a:xfrm>
                <a:off x="949900" y="2149850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1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sp>
            <p:nvSpPr>
              <p:cNvPr id="398" name="Google Shape;398;p29"/>
              <p:cNvSpPr txBox="1"/>
              <p:nvPr/>
            </p:nvSpPr>
            <p:spPr>
              <a:xfrm>
                <a:off x="949900" y="3041525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2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grpSp>
            <p:nvGrpSpPr>
              <p:cNvPr id="399" name="Google Shape;399;p29"/>
              <p:cNvGrpSpPr/>
              <p:nvPr/>
            </p:nvGrpSpPr>
            <p:grpSpPr>
              <a:xfrm>
                <a:off x="1382025" y="2202525"/>
                <a:ext cx="1259125" cy="1465725"/>
                <a:chOff x="1266900" y="1732750"/>
                <a:chExt cx="1259125" cy="1465725"/>
              </a:xfrm>
            </p:grpSpPr>
            <p:sp>
              <p:nvSpPr>
                <p:cNvPr id="400" name="Google Shape;400;p29"/>
                <p:cNvSpPr/>
                <p:nvPr/>
              </p:nvSpPr>
              <p:spPr>
                <a:xfrm>
                  <a:off x="1266900" y="19646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401;p29"/>
                <p:cNvSpPr/>
                <p:nvPr/>
              </p:nvSpPr>
              <p:spPr>
                <a:xfrm>
                  <a:off x="1266900" y="2571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29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03" name="Google Shape;403;p29"/>
                <p:cNvCxnSpPr>
                  <a:stCxn id="400" idx="6"/>
                  <a:endCxn id="402" idx="2"/>
                </p:cNvCxnSpPr>
                <p:nvPr/>
              </p:nvCxnSpPr>
              <p:spPr>
                <a:xfrm rot="10800000" flipH="1">
                  <a:off x="1498800" y="1848700"/>
                  <a:ext cx="795300" cy="231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4" name="Google Shape;404;p29"/>
                <p:cNvCxnSpPr>
                  <a:stCxn id="401" idx="6"/>
                  <a:endCxn id="402" idx="2"/>
                </p:cNvCxnSpPr>
                <p:nvPr/>
              </p:nvCxnSpPr>
              <p:spPr>
                <a:xfrm rot="10800000" flipH="1">
                  <a:off x="1498800" y="1848600"/>
                  <a:ext cx="795300" cy="83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5" name="Google Shape;405;p29"/>
                <p:cNvCxnSpPr>
                  <a:stCxn id="401" idx="6"/>
                  <a:endCxn id="406" idx="2"/>
                </p:cNvCxnSpPr>
                <p:nvPr/>
              </p:nvCxnSpPr>
              <p:spPr>
                <a:xfrm>
                  <a:off x="1498800" y="2687700"/>
                  <a:ext cx="795300" cy="39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7" name="Google Shape;407;p29"/>
                <p:cNvCxnSpPr>
                  <a:stCxn id="400" idx="6"/>
                  <a:endCxn id="406" idx="2"/>
                </p:cNvCxnSpPr>
                <p:nvPr/>
              </p:nvCxnSpPr>
              <p:spPr>
                <a:xfrm>
                  <a:off x="1498800" y="2080600"/>
                  <a:ext cx="795300" cy="1002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06" name="Google Shape;406;p29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08" name="Google Shape;408;p29"/>
            <p:cNvGrpSpPr/>
            <p:nvPr/>
          </p:nvGrpSpPr>
          <p:grpSpPr>
            <a:xfrm>
              <a:off x="2492650" y="949375"/>
              <a:ext cx="415500" cy="1762800"/>
              <a:chOff x="2307950" y="1146975"/>
              <a:chExt cx="415500" cy="1762800"/>
            </a:xfrm>
          </p:grpSpPr>
          <p:sp>
            <p:nvSpPr>
              <p:cNvPr id="409" name="Google Shape;409;p29"/>
              <p:cNvSpPr txBox="1"/>
              <p:nvPr/>
            </p:nvSpPr>
            <p:spPr>
              <a:xfrm>
                <a:off x="2307950" y="11469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1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410" name="Google Shape;410;p29"/>
              <p:cNvSpPr txBox="1"/>
              <p:nvPr/>
            </p:nvSpPr>
            <p:spPr>
              <a:xfrm>
                <a:off x="2307950" y="23826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2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11" name="Google Shape;411;p29"/>
            <p:cNvGrpSpPr/>
            <p:nvPr/>
          </p:nvGrpSpPr>
          <p:grpSpPr>
            <a:xfrm>
              <a:off x="3076750" y="949375"/>
              <a:ext cx="1822975" cy="1936788"/>
              <a:chOff x="3076750" y="949375"/>
              <a:chExt cx="1822975" cy="1936788"/>
            </a:xfrm>
          </p:grpSpPr>
          <p:sp>
            <p:nvSpPr>
              <p:cNvPr id="412" name="Google Shape;412;p29"/>
              <p:cNvSpPr/>
              <p:nvPr/>
            </p:nvSpPr>
            <p:spPr>
              <a:xfrm>
                <a:off x="4340100" y="2011013"/>
                <a:ext cx="231900" cy="231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3" name="Google Shape;413;p29"/>
              <p:cNvGrpSpPr/>
              <p:nvPr/>
            </p:nvGrpSpPr>
            <p:grpSpPr>
              <a:xfrm>
                <a:off x="3374650" y="1420438"/>
                <a:ext cx="231900" cy="1465725"/>
                <a:chOff x="2294125" y="1732750"/>
                <a:chExt cx="231900" cy="1465725"/>
              </a:xfrm>
            </p:grpSpPr>
            <p:sp>
              <p:nvSpPr>
                <p:cNvPr id="414" name="Google Shape;414;p29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29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416" name="Google Shape;416;p29"/>
              <p:cNvCxnSpPr>
                <a:stCxn id="414" idx="6"/>
                <a:endCxn id="412" idx="2"/>
              </p:cNvCxnSpPr>
              <p:nvPr/>
            </p:nvCxnSpPr>
            <p:spPr>
              <a:xfrm>
                <a:off x="3606550" y="1536388"/>
                <a:ext cx="733500" cy="59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7" name="Google Shape;417;p29"/>
              <p:cNvCxnSpPr>
                <a:stCxn id="415" idx="6"/>
                <a:endCxn id="412" idx="2"/>
              </p:cNvCxnSpPr>
              <p:nvPr/>
            </p:nvCxnSpPr>
            <p:spPr>
              <a:xfrm rot="10800000" flipH="1">
                <a:off x="3606550" y="2127013"/>
                <a:ext cx="733500" cy="64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8" name="Google Shape;418;p29"/>
              <p:cNvCxnSpPr>
                <a:stCxn id="414" idx="2"/>
                <a:endCxn id="402" idx="6"/>
              </p:cNvCxnSpPr>
              <p:nvPr/>
            </p:nvCxnSpPr>
            <p:spPr>
              <a:xfrm rot="10800000">
                <a:off x="3076750" y="1536388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9" name="Google Shape;419;p29"/>
              <p:cNvCxnSpPr>
                <a:stCxn id="415" idx="2"/>
                <a:endCxn id="406" idx="6"/>
              </p:cNvCxnSpPr>
              <p:nvPr/>
            </p:nvCxnSpPr>
            <p:spPr>
              <a:xfrm rot="10800000">
                <a:off x="3076750" y="2770213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0" name="Google Shape;420;p29"/>
              <p:cNvSpPr txBox="1"/>
              <p:nvPr/>
            </p:nvSpPr>
            <p:spPr>
              <a:xfrm>
                <a:off x="3163900" y="949375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1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421" name="Google Shape;421;p29"/>
              <p:cNvSpPr txBox="1"/>
              <p:nvPr/>
            </p:nvSpPr>
            <p:spPr>
              <a:xfrm>
                <a:off x="3163900" y="2185100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2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422" name="Google Shape;422;p29"/>
              <p:cNvSpPr txBox="1"/>
              <p:nvPr/>
            </p:nvSpPr>
            <p:spPr>
              <a:xfrm>
                <a:off x="4407725" y="1657225"/>
                <a:ext cx="4920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y</a:t>
                </a:r>
                <a:endParaRPr sz="1800">
                  <a:solidFill>
                    <a:srgbClr val="595959"/>
                  </a:solidFill>
                </a:endParaRPr>
              </a:p>
            </p:txBody>
          </p:sp>
        </p:grpSp>
      </p:grpSp>
      <p:pic>
        <p:nvPicPr>
          <p:cNvPr id="423" name="Google Shape;423;p29" descr="-\frac{1}{3} x_1 -\frac{1}{3} x_2 - 2\leq y \leq -\frac{4}{3} x_1 + \frac{1}{3} x_2 + \frac{4}{3}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665334" y="1876863"/>
            <a:ext cx="4839392" cy="39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9" descr="x_1 \in [-1, 2], \ x_2 \in [-2,1]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866413" y="2498950"/>
            <a:ext cx="2437224" cy="3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9"/>
          <p:cNvSpPr/>
          <p:nvPr/>
        </p:nvSpPr>
        <p:spPr>
          <a:xfrm>
            <a:off x="5973775" y="2854650"/>
            <a:ext cx="316500" cy="902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6" name="Google Shape;426;p29" descr="y \in [-3, 3]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511125" y="3891025"/>
            <a:ext cx="1335600" cy="35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improve bound propagation</a:t>
            </a:r>
          </a:p>
        </p:txBody>
      </p:sp>
      <p:sp>
        <p:nvSpPr>
          <p:cNvPr id="432" name="Google Shape;432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Bound propagation is fast, but what if the bounds are not tight enough?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Goal: use more time to “refine” the bounds. Two techniques: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Bound optimization (previous lecture)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Branch and bound (this lecture)</a:t>
            </a:r>
            <a:endParaRPr b="1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Bound optimization (α-CROWN)</a:t>
            </a:r>
          </a:p>
        </p:txBody>
      </p:sp>
      <p:sp>
        <p:nvSpPr>
          <p:cNvPr id="438" name="Google Shape;438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In the previous lecture, we discussed the possibility of making the lower bound of a ReLU function optimizable. α can be optimization used gradient descent.</a:t>
            </a:r>
          </a:p>
        </p:txBody>
      </p:sp>
      <p:grpSp>
        <p:nvGrpSpPr>
          <p:cNvPr id="439" name="Google Shape;439;p31"/>
          <p:cNvGrpSpPr/>
          <p:nvPr/>
        </p:nvGrpSpPr>
        <p:grpSpPr>
          <a:xfrm>
            <a:off x="1761561" y="2139376"/>
            <a:ext cx="1900636" cy="1371066"/>
            <a:chOff x="822500" y="1223125"/>
            <a:chExt cx="2489699" cy="1796000"/>
          </a:xfrm>
        </p:grpSpPr>
        <p:grpSp>
          <p:nvGrpSpPr>
            <p:cNvPr id="440" name="Google Shape;440;p31"/>
            <p:cNvGrpSpPr/>
            <p:nvPr/>
          </p:nvGrpSpPr>
          <p:grpSpPr>
            <a:xfrm>
              <a:off x="931125" y="1346322"/>
              <a:ext cx="2381074" cy="1280700"/>
              <a:chOff x="1991775" y="2399647"/>
              <a:chExt cx="2381074" cy="1280700"/>
            </a:xfrm>
          </p:grpSpPr>
          <p:grpSp>
            <p:nvGrpSpPr>
              <p:cNvPr id="441" name="Google Shape;441;p31"/>
              <p:cNvGrpSpPr/>
              <p:nvPr/>
            </p:nvGrpSpPr>
            <p:grpSpPr>
              <a:xfrm>
                <a:off x="1991775" y="2399647"/>
                <a:ext cx="2381074" cy="1280700"/>
                <a:chOff x="3670606" y="691950"/>
                <a:chExt cx="2796000" cy="1707600"/>
              </a:xfrm>
            </p:grpSpPr>
            <p:cxnSp>
              <p:nvCxnSpPr>
                <p:cNvPr id="442" name="Google Shape;442;p31"/>
                <p:cNvCxnSpPr/>
                <p:nvPr/>
              </p:nvCxnSpPr>
              <p:spPr>
                <a:xfrm>
                  <a:off x="3670606" y="1882654"/>
                  <a:ext cx="27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43" name="Google Shape;443;p31"/>
                <p:cNvCxnSpPr/>
                <p:nvPr/>
              </p:nvCxnSpPr>
              <p:spPr>
                <a:xfrm>
                  <a:off x="5060625" y="691950"/>
                  <a:ext cx="0" cy="1707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stealth" w="med" len="med"/>
                  <a:tailEnd type="none" w="med" len="med"/>
                </a:ln>
              </p:spPr>
            </p:cxnSp>
            <p:cxnSp>
              <p:nvCxnSpPr>
                <p:cNvPr id="444" name="Google Shape;444;p31"/>
                <p:cNvCxnSpPr/>
                <p:nvPr/>
              </p:nvCxnSpPr>
              <p:spPr>
                <a:xfrm>
                  <a:off x="3934521" y="1882638"/>
                  <a:ext cx="11262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5" name="Google Shape;445;p31"/>
                <p:cNvCxnSpPr/>
                <p:nvPr/>
              </p:nvCxnSpPr>
              <p:spPr>
                <a:xfrm rot="10800000" flipH="1">
                  <a:off x="5060625" y="775350"/>
                  <a:ext cx="975000" cy="11073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446" name="Google Shape;446;p31"/>
              <p:cNvCxnSpPr/>
              <p:nvPr/>
            </p:nvCxnSpPr>
            <p:spPr>
              <a:xfrm rot="10800000">
                <a:off x="2694000" y="2551475"/>
                <a:ext cx="0" cy="101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7" name="Google Shape;447;p31"/>
              <p:cNvCxnSpPr/>
              <p:nvPr/>
            </p:nvCxnSpPr>
            <p:spPr>
              <a:xfrm rot="10800000">
                <a:off x="3977325" y="2456025"/>
                <a:ext cx="0" cy="1121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48" name="Google Shape;448;p31"/>
            <p:cNvCxnSpPr/>
            <p:nvPr/>
          </p:nvCxnSpPr>
          <p:spPr>
            <a:xfrm rot="10800000" flipH="1">
              <a:off x="931125" y="1492725"/>
              <a:ext cx="2367300" cy="1526400"/>
            </a:xfrm>
            <a:prstGeom prst="straightConnector1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" name="Google Shape;449;p31"/>
            <p:cNvCxnSpPr/>
            <p:nvPr/>
          </p:nvCxnSpPr>
          <p:spPr>
            <a:xfrm rot="10800000" flipH="1">
              <a:off x="822500" y="1223125"/>
              <a:ext cx="2436900" cy="15114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450" name="Google Shape;450;p31" descr="\frac{2}{3}z_2 \leq \text{ReLU}(z_2) \leq \frac{2}{3} z_2 + 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11266" y="4031026"/>
            <a:ext cx="2281300" cy="282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1" descr="\frac{2}{3}z_1 \leq \text{ReLU}(z_1) \leq \frac{2}{3} z_1 + \frac{4}{3}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687762" y="3691142"/>
            <a:ext cx="2328316" cy="2823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" name="Google Shape;452;p31"/>
          <p:cNvGrpSpPr/>
          <p:nvPr/>
        </p:nvGrpSpPr>
        <p:grpSpPr>
          <a:xfrm>
            <a:off x="5176444" y="2216082"/>
            <a:ext cx="1817712" cy="977686"/>
            <a:chOff x="1991775" y="2399647"/>
            <a:chExt cx="2381074" cy="1280700"/>
          </a:xfrm>
        </p:grpSpPr>
        <p:grpSp>
          <p:nvGrpSpPr>
            <p:cNvPr id="453" name="Google Shape;453;p31"/>
            <p:cNvGrpSpPr/>
            <p:nvPr/>
          </p:nvGrpSpPr>
          <p:grpSpPr>
            <a:xfrm>
              <a:off x="1991775" y="2399647"/>
              <a:ext cx="2381074" cy="1280700"/>
              <a:chOff x="3670606" y="691950"/>
              <a:chExt cx="2796000" cy="1707600"/>
            </a:xfrm>
          </p:grpSpPr>
          <p:cxnSp>
            <p:nvCxnSpPr>
              <p:cNvPr id="454" name="Google Shape;454;p31"/>
              <p:cNvCxnSpPr/>
              <p:nvPr/>
            </p:nvCxnSpPr>
            <p:spPr>
              <a:xfrm>
                <a:off x="3670606" y="1882654"/>
                <a:ext cx="279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55" name="Google Shape;455;p31"/>
              <p:cNvCxnSpPr/>
              <p:nvPr/>
            </p:nvCxnSpPr>
            <p:spPr>
              <a:xfrm>
                <a:off x="5060625" y="691950"/>
                <a:ext cx="0" cy="1707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stealth" w="med" len="med"/>
                <a:tailEnd type="none" w="med" len="med"/>
              </a:ln>
            </p:spPr>
          </p:cxnSp>
          <p:cxnSp>
            <p:nvCxnSpPr>
              <p:cNvPr id="456" name="Google Shape;456;p31"/>
              <p:cNvCxnSpPr/>
              <p:nvPr/>
            </p:nvCxnSpPr>
            <p:spPr>
              <a:xfrm>
                <a:off x="3934521" y="1882638"/>
                <a:ext cx="1126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31"/>
              <p:cNvCxnSpPr/>
              <p:nvPr/>
            </p:nvCxnSpPr>
            <p:spPr>
              <a:xfrm rot="10800000" flipH="1">
                <a:off x="5060625" y="775350"/>
                <a:ext cx="975000" cy="1107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58" name="Google Shape;458;p31"/>
            <p:cNvCxnSpPr/>
            <p:nvPr/>
          </p:nvCxnSpPr>
          <p:spPr>
            <a:xfrm rot="10800000">
              <a:off x="2694000" y="2551475"/>
              <a:ext cx="0" cy="1016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9" name="Google Shape;459;p31"/>
            <p:cNvCxnSpPr/>
            <p:nvPr/>
          </p:nvCxnSpPr>
          <p:spPr>
            <a:xfrm rot="10800000">
              <a:off x="3977325" y="2456025"/>
              <a:ext cx="0" cy="11211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460" name="Google Shape;460;p31" descr="z_2 \leq \text{ReLU}(z_2) \leq \frac{2}{3} z_2 + 2&#10;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941844" y="4013137"/>
            <a:ext cx="2249142" cy="295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1" descr="z_1 \leq \text{ReLU}(z_1) \leq \frac{2}{3} z_1 + \frac{4}{3}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919638" y="3588317"/>
            <a:ext cx="2331512" cy="3001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2" name="Google Shape;462;p31"/>
          <p:cNvCxnSpPr/>
          <p:nvPr/>
        </p:nvCxnSpPr>
        <p:spPr>
          <a:xfrm rot="10800000" flipH="1">
            <a:off x="5072982" y="2118314"/>
            <a:ext cx="1860300" cy="11538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31"/>
          <p:cNvCxnSpPr/>
          <p:nvPr/>
        </p:nvCxnSpPr>
        <p:spPr>
          <a:xfrm rot="10800000" flipH="1">
            <a:off x="5558676" y="2067798"/>
            <a:ext cx="1359300" cy="1341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64" name="Google Shape;464;p31" descr="y \in [-3, 3]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5798259" y="4766605"/>
            <a:ext cx="1019638" cy="274028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1"/>
          <p:cNvSpPr/>
          <p:nvPr/>
        </p:nvSpPr>
        <p:spPr>
          <a:xfrm>
            <a:off x="6212344" y="4318872"/>
            <a:ext cx="191400" cy="437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6" name="Google Shape;466;p31" descr="y \in [-\frac{10}{3}, 2]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2298439" y="4702056"/>
            <a:ext cx="1262550" cy="375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1"/>
          <p:cNvSpPr/>
          <p:nvPr/>
        </p:nvSpPr>
        <p:spPr>
          <a:xfrm>
            <a:off x="2833985" y="4318872"/>
            <a:ext cx="191400" cy="4371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8" name="Google Shape;468;p31" descr="\hat{z} \geq \alpha z \ \ (0 \leq \alpha \leq 1)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6458975" y="2589881"/>
            <a:ext cx="1359300" cy="210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Branch and bound</a:t>
            </a:r>
          </a:p>
        </p:txBody>
      </p:sp>
      <p:sp>
        <p:nvSpPr>
          <p:cNvPr id="474" name="Google Shape;474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3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 idea: split (branch) the original problem into easier subproblems; obtain bounds on each subproblem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Define </a:t>
            </a:r>
            <a:r>
              <a:rPr lang="en-GB" b="1"/>
              <a:t>LB(</a:t>
            </a:r>
            <a:r>
              <a:rPr lang="en-GB" b="1" i="1"/>
              <a:t>S</a:t>
            </a:r>
            <a:r>
              <a:rPr lang="en-GB" b="1"/>
              <a:t>)</a:t>
            </a:r>
            <a:r>
              <a:rPr lang="en-GB"/>
              <a:t> as the lower bound obtained using bound propagation for </a:t>
            </a:r>
          </a:p>
        </p:txBody>
      </p:sp>
      <p:pic>
        <p:nvPicPr>
          <p:cNvPr id="475" name="Google Shape;475;p32" descr="S_1 \cup S_2 = S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08501" y="3525049"/>
            <a:ext cx="1200260" cy="235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32"/>
          <p:cNvGrpSpPr/>
          <p:nvPr/>
        </p:nvGrpSpPr>
        <p:grpSpPr>
          <a:xfrm>
            <a:off x="381475" y="2765950"/>
            <a:ext cx="2583150" cy="1645300"/>
            <a:chOff x="1864350" y="2141150"/>
            <a:chExt cx="2583150" cy="1645300"/>
          </a:xfrm>
        </p:grpSpPr>
        <p:pic>
          <p:nvPicPr>
            <p:cNvPr id="477" name="Google Shape;477;p32" descr="x \in S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3038475" y="2141150"/>
              <a:ext cx="634500" cy="235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78" name="Google Shape;478;p32"/>
            <p:cNvCxnSpPr>
              <a:stCxn id="477" idx="2"/>
            </p:cNvCxnSpPr>
            <p:nvPr/>
          </p:nvCxnSpPr>
          <p:spPr>
            <a:xfrm flipH="1">
              <a:off x="2718225" y="2376700"/>
              <a:ext cx="637500" cy="494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79" name="Google Shape;479;p32"/>
            <p:cNvCxnSpPr/>
            <p:nvPr/>
          </p:nvCxnSpPr>
          <p:spPr>
            <a:xfrm>
              <a:off x="3355725" y="2402550"/>
              <a:ext cx="56670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480" name="Google Shape;480;p32" descr="x \in S_1" title="MathEquation,#000000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2189200" y="2929648"/>
              <a:ext cx="637500" cy="2287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1" name="Google Shape;481;p32" descr="x \in S_2" title="MathEquation,#000000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3810000" y="2929648"/>
              <a:ext cx="637500" cy="2287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32" descr="x \in S_3" title="MathEquation,#000000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1864350" y="3570447"/>
              <a:ext cx="566700" cy="203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3" name="Google Shape;483;p32" descr="x \in S_4" title="MathEquation,#000000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2718222" y="3583147"/>
              <a:ext cx="566700" cy="20330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4" name="Google Shape;484;p32"/>
            <p:cNvCxnSpPr>
              <a:stCxn id="480" idx="2"/>
              <a:endCxn id="482" idx="0"/>
            </p:cNvCxnSpPr>
            <p:nvPr/>
          </p:nvCxnSpPr>
          <p:spPr>
            <a:xfrm flipH="1">
              <a:off x="2147650" y="3158350"/>
              <a:ext cx="360300" cy="412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5" name="Google Shape;485;p32"/>
            <p:cNvCxnSpPr>
              <a:stCxn id="480" idx="2"/>
              <a:endCxn id="483" idx="0"/>
            </p:cNvCxnSpPr>
            <p:nvPr/>
          </p:nvCxnSpPr>
          <p:spPr>
            <a:xfrm>
              <a:off x="2507950" y="3158350"/>
              <a:ext cx="493500" cy="424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486" name="Google Shape;486;p32" descr="LB(S)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7033400" y="2765950"/>
            <a:ext cx="612172" cy="2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2" descr="\min(LB(S_1), LB(S_2))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6428216" y="3513888"/>
            <a:ext cx="2022534" cy="2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2" descr="\displaystyle \min_{x \in S}f(x)" title="MathEquation,#000000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7773400" y="1976275"/>
            <a:ext cx="897076" cy="4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2" descr="S_3 \cup S_4 \cup S_2 = S" title="MathEquation,#000000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3723163" y="4182813"/>
            <a:ext cx="1697660" cy="235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2"/>
          <p:cNvSpPr txBox="1"/>
          <p:nvPr/>
        </p:nvSpPr>
        <p:spPr>
          <a:xfrm>
            <a:off x="3723175" y="4429525"/>
            <a:ext cx="18771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All leaf nodes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91" name="Google Shape;491;p32" descr="\min(LB(S_3), LB(S_4), LB(S_2))" title="MathEquation,#000000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6026403" y="4173275"/>
            <a:ext cx="2826172" cy="2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Branch and bound: why the lower bounds become tighter?</a:t>
            </a:r>
          </a:p>
        </p:txBody>
      </p:sp>
      <p:pic>
        <p:nvPicPr>
          <p:cNvPr id="497" name="Google Shape;497;p33" descr="S_1 \cup S_2 = S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908501" y="3525049"/>
            <a:ext cx="1200260" cy="235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8" name="Google Shape;498;p33"/>
          <p:cNvGrpSpPr/>
          <p:nvPr/>
        </p:nvGrpSpPr>
        <p:grpSpPr>
          <a:xfrm>
            <a:off x="381475" y="2765950"/>
            <a:ext cx="2583150" cy="1645300"/>
            <a:chOff x="1864350" y="2141150"/>
            <a:chExt cx="2583150" cy="1645300"/>
          </a:xfrm>
        </p:grpSpPr>
        <p:pic>
          <p:nvPicPr>
            <p:cNvPr id="499" name="Google Shape;499;p33" descr="x \in S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3038475" y="2141150"/>
              <a:ext cx="634500" cy="235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00" name="Google Shape;500;p33"/>
            <p:cNvCxnSpPr>
              <a:stCxn id="499" idx="2"/>
            </p:cNvCxnSpPr>
            <p:nvPr/>
          </p:nvCxnSpPr>
          <p:spPr>
            <a:xfrm flipH="1">
              <a:off x="2718225" y="2376700"/>
              <a:ext cx="637500" cy="494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1" name="Google Shape;501;p33"/>
            <p:cNvCxnSpPr/>
            <p:nvPr/>
          </p:nvCxnSpPr>
          <p:spPr>
            <a:xfrm>
              <a:off x="3355725" y="2402550"/>
              <a:ext cx="56670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502" name="Google Shape;502;p33" descr="x \in S_1" title="MathEquation,#000000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2189200" y="2929648"/>
              <a:ext cx="637500" cy="2287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3" name="Google Shape;503;p33" descr="x \in S_2" title="MathEquation,#000000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3810000" y="2929648"/>
              <a:ext cx="637500" cy="2287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4" name="Google Shape;504;p33" descr="x \in S_3" title="MathEquation,#000000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1864350" y="3570447"/>
              <a:ext cx="566700" cy="203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p33" descr="x \in S_4" title="MathEquation,#000000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2718222" y="3583147"/>
              <a:ext cx="566700" cy="20330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06" name="Google Shape;506;p33"/>
            <p:cNvCxnSpPr>
              <a:stCxn id="502" idx="2"/>
              <a:endCxn id="504" idx="0"/>
            </p:cNvCxnSpPr>
            <p:nvPr/>
          </p:nvCxnSpPr>
          <p:spPr>
            <a:xfrm flipH="1">
              <a:off x="2147650" y="3158350"/>
              <a:ext cx="360300" cy="412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7" name="Google Shape;507;p33"/>
            <p:cNvCxnSpPr>
              <a:stCxn id="502" idx="2"/>
              <a:endCxn id="505" idx="0"/>
            </p:cNvCxnSpPr>
            <p:nvPr/>
          </p:nvCxnSpPr>
          <p:spPr>
            <a:xfrm>
              <a:off x="2507950" y="3158350"/>
              <a:ext cx="493500" cy="424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508" name="Google Shape;508;p33" descr="LB(S)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7055475" y="2854525"/>
            <a:ext cx="612172" cy="2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3" descr="\min(LB(S_1), LB(S_2))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6428216" y="3513888"/>
            <a:ext cx="2022534" cy="257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0" name="Google Shape;510;p33"/>
          <p:cNvGrpSpPr/>
          <p:nvPr/>
        </p:nvGrpSpPr>
        <p:grpSpPr>
          <a:xfrm>
            <a:off x="3585920" y="1153139"/>
            <a:ext cx="1972159" cy="1299893"/>
            <a:chOff x="277175" y="3055888"/>
            <a:chExt cx="2664000" cy="1755900"/>
          </a:xfrm>
        </p:grpSpPr>
        <p:cxnSp>
          <p:nvCxnSpPr>
            <p:cNvPr id="511" name="Google Shape;511;p33"/>
            <p:cNvCxnSpPr/>
            <p:nvPr/>
          </p:nvCxnSpPr>
          <p:spPr>
            <a:xfrm>
              <a:off x="590096" y="4125705"/>
              <a:ext cx="1280700" cy="5121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512" name="Google Shape;512;p33"/>
            <p:cNvGrpSpPr/>
            <p:nvPr/>
          </p:nvGrpSpPr>
          <p:grpSpPr>
            <a:xfrm>
              <a:off x="277175" y="3055888"/>
              <a:ext cx="2664000" cy="1755900"/>
              <a:chOff x="5834900" y="1276188"/>
              <a:chExt cx="2664000" cy="1755900"/>
            </a:xfrm>
          </p:grpSpPr>
          <p:cxnSp>
            <p:nvCxnSpPr>
              <p:cNvPr id="513" name="Google Shape;513;p33"/>
              <p:cNvCxnSpPr/>
              <p:nvPr/>
            </p:nvCxnSpPr>
            <p:spPr>
              <a:xfrm>
                <a:off x="6079494" y="1276188"/>
                <a:ext cx="0" cy="1755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14" name="Google Shape;514;p33"/>
              <p:cNvCxnSpPr/>
              <p:nvPr/>
            </p:nvCxnSpPr>
            <p:spPr>
              <a:xfrm>
                <a:off x="5834900" y="2638288"/>
                <a:ext cx="26640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15" name="Google Shape;515;p33"/>
              <p:cNvSpPr/>
              <p:nvPr/>
            </p:nvSpPr>
            <p:spPr>
              <a:xfrm>
                <a:off x="6078582" y="1808323"/>
                <a:ext cx="2319243" cy="1062076"/>
              </a:xfrm>
              <a:custGeom>
                <a:avLst/>
                <a:gdLst/>
                <a:ahLst/>
                <a:cxnLst/>
                <a:rect l="l" t="t" r="r" b="b"/>
                <a:pathLst>
                  <a:path w="134644" h="61659" extrusionOk="0">
                    <a:moveTo>
                      <a:pt x="0" y="61659"/>
                    </a:moveTo>
                    <a:cubicBezTo>
                      <a:pt x="3006" y="56696"/>
                      <a:pt x="9788" y="35443"/>
                      <a:pt x="18037" y="31878"/>
                    </a:cubicBezTo>
                    <a:cubicBezTo>
                      <a:pt x="26286" y="28313"/>
                      <a:pt x="41735" y="40826"/>
                      <a:pt x="49495" y="40267"/>
                    </a:cubicBezTo>
                    <a:cubicBezTo>
                      <a:pt x="57255" y="39708"/>
                      <a:pt x="59003" y="29502"/>
                      <a:pt x="64596" y="28523"/>
                    </a:cubicBezTo>
                    <a:cubicBezTo>
                      <a:pt x="70189" y="27544"/>
                      <a:pt x="76829" y="37471"/>
                      <a:pt x="83051" y="34395"/>
                    </a:cubicBezTo>
                    <a:cubicBezTo>
                      <a:pt x="89273" y="31319"/>
                      <a:pt x="93328" y="15800"/>
                      <a:pt x="101927" y="10067"/>
                    </a:cubicBezTo>
                    <a:cubicBezTo>
                      <a:pt x="110526" y="4335"/>
                      <a:pt x="129191" y="1678"/>
                      <a:pt x="134644" y="0"/>
                    </a:cubicBezTo>
                  </a:path>
                </a:pathLst>
              </a:cu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16" name="Google Shape;516;p33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39583" y="1276188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17" name="Google Shape;517;p33"/>
              <p:cNvCxnSpPr/>
              <p:nvPr/>
            </p:nvCxnSpPr>
            <p:spPr>
              <a:xfrm rot="10800000">
                <a:off x="6482562" y="1681336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8" name="Google Shape;518;p33"/>
              <p:cNvCxnSpPr/>
              <p:nvPr/>
            </p:nvCxnSpPr>
            <p:spPr>
              <a:xfrm>
                <a:off x="6471950" y="2638283"/>
                <a:ext cx="1141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A4C2F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519" name="Google Shape;519;p33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56216" y="2670333"/>
                <a:ext cx="97798" cy="11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0" name="Google Shape;520;p33"/>
              <p:cNvSpPr/>
              <p:nvPr/>
            </p:nvSpPr>
            <p:spPr>
              <a:xfrm>
                <a:off x="6484600" y="2273494"/>
                <a:ext cx="1139300" cy="234175"/>
              </a:xfrm>
              <a:custGeom>
                <a:avLst/>
                <a:gdLst/>
                <a:ahLst/>
                <a:cxnLst/>
                <a:rect l="l" t="t" r="r" b="b"/>
                <a:pathLst>
                  <a:path w="45572" h="9367" extrusionOk="0">
                    <a:moveTo>
                      <a:pt x="0" y="3198"/>
                    </a:moveTo>
                    <a:cubicBezTo>
                      <a:pt x="644" y="3354"/>
                      <a:pt x="822" y="3109"/>
                      <a:pt x="3864" y="4131"/>
                    </a:cubicBezTo>
                    <a:cubicBezTo>
                      <a:pt x="6907" y="5153"/>
                      <a:pt x="14188" y="9842"/>
                      <a:pt x="18255" y="9328"/>
                    </a:cubicBezTo>
                    <a:cubicBezTo>
                      <a:pt x="22322" y="8814"/>
                      <a:pt x="24846" y="1667"/>
                      <a:pt x="28266" y="1045"/>
                    </a:cubicBezTo>
                    <a:cubicBezTo>
                      <a:pt x="31686" y="423"/>
                      <a:pt x="36292" y="5283"/>
                      <a:pt x="38776" y="5597"/>
                    </a:cubicBezTo>
                    <a:cubicBezTo>
                      <a:pt x="41261" y="5912"/>
                      <a:pt x="42040" y="3865"/>
                      <a:pt x="43173" y="2932"/>
                    </a:cubicBezTo>
                    <a:cubicBezTo>
                      <a:pt x="44306" y="1999"/>
                      <a:pt x="45172" y="489"/>
                      <a:pt x="45572" y="0"/>
                    </a:cubicBezTo>
                  </a:path>
                </a:pathLst>
              </a:custGeom>
              <a:noFill/>
              <a:ln w="19050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521" name="Google Shape;521;p33"/>
              <p:cNvCxnSpPr/>
              <p:nvPr/>
            </p:nvCxnSpPr>
            <p:spPr>
              <a:xfrm rot="10800000">
                <a:off x="6959350" y="1681347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22" name="Google Shape;522;p33"/>
              <p:cNvSpPr/>
              <p:nvPr/>
            </p:nvSpPr>
            <p:spPr>
              <a:xfrm rot="-5400000">
                <a:off x="6628424" y="2543314"/>
                <a:ext cx="168300" cy="4668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3" name="Google Shape;523;p33"/>
          <p:cNvGrpSpPr/>
          <p:nvPr/>
        </p:nvGrpSpPr>
        <p:grpSpPr>
          <a:xfrm>
            <a:off x="5993870" y="1153139"/>
            <a:ext cx="1972159" cy="1299893"/>
            <a:chOff x="277175" y="3055888"/>
            <a:chExt cx="2664000" cy="1755900"/>
          </a:xfrm>
        </p:grpSpPr>
        <p:cxnSp>
          <p:nvCxnSpPr>
            <p:cNvPr id="524" name="Google Shape;524;p33"/>
            <p:cNvCxnSpPr/>
            <p:nvPr/>
          </p:nvCxnSpPr>
          <p:spPr>
            <a:xfrm rot="10800000" flipH="1">
              <a:off x="1024920" y="4154229"/>
              <a:ext cx="1423500" cy="2826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525" name="Google Shape;525;p33"/>
            <p:cNvGrpSpPr/>
            <p:nvPr/>
          </p:nvGrpSpPr>
          <p:grpSpPr>
            <a:xfrm>
              <a:off x="277175" y="3055888"/>
              <a:ext cx="2664000" cy="1755900"/>
              <a:chOff x="5834900" y="1276188"/>
              <a:chExt cx="2664000" cy="1755900"/>
            </a:xfrm>
          </p:grpSpPr>
          <p:cxnSp>
            <p:nvCxnSpPr>
              <p:cNvPr id="526" name="Google Shape;526;p33"/>
              <p:cNvCxnSpPr/>
              <p:nvPr/>
            </p:nvCxnSpPr>
            <p:spPr>
              <a:xfrm>
                <a:off x="6079494" y="1276188"/>
                <a:ext cx="0" cy="1755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27" name="Google Shape;527;p33"/>
              <p:cNvCxnSpPr/>
              <p:nvPr/>
            </p:nvCxnSpPr>
            <p:spPr>
              <a:xfrm>
                <a:off x="5834900" y="2638288"/>
                <a:ext cx="26640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28" name="Google Shape;528;p33"/>
              <p:cNvSpPr/>
              <p:nvPr/>
            </p:nvSpPr>
            <p:spPr>
              <a:xfrm>
                <a:off x="6078582" y="1808323"/>
                <a:ext cx="2319243" cy="1062076"/>
              </a:xfrm>
              <a:custGeom>
                <a:avLst/>
                <a:gdLst/>
                <a:ahLst/>
                <a:cxnLst/>
                <a:rect l="l" t="t" r="r" b="b"/>
                <a:pathLst>
                  <a:path w="134644" h="61659" extrusionOk="0">
                    <a:moveTo>
                      <a:pt x="0" y="61659"/>
                    </a:moveTo>
                    <a:cubicBezTo>
                      <a:pt x="3006" y="56696"/>
                      <a:pt x="9788" y="35443"/>
                      <a:pt x="18037" y="31878"/>
                    </a:cubicBezTo>
                    <a:cubicBezTo>
                      <a:pt x="26286" y="28313"/>
                      <a:pt x="41735" y="40826"/>
                      <a:pt x="49495" y="40267"/>
                    </a:cubicBezTo>
                    <a:cubicBezTo>
                      <a:pt x="57255" y="39708"/>
                      <a:pt x="59003" y="29502"/>
                      <a:pt x="64596" y="28523"/>
                    </a:cubicBezTo>
                    <a:cubicBezTo>
                      <a:pt x="70189" y="27544"/>
                      <a:pt x="76829" y="37471"/>
                      <a:pt x="83051" y="34395"/>
                    </a:cubicBezTo>
                    <a:cubicBezTo>
                      <a:pt x="89273" y="31319"/>
                      <a:pt x="93328" y="15800"/>
                      <a:pt x="101927" y="10067"/>
                    </a:cubicBezTo>
                    <a:cubicBezTo>
                      <a:pt x="110526" y="4335"/>
                      <a:pt x="129191" y="1678"/>
                      <a:pt x="134644" y="0"/>
                    </a:cubicBezTo>
                  </a:path>
                </a:pathLst>
              </a:cu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29" name="Google Shape;529;p33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39583" y="1276188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30" name="Google Shape;530;p33"/>
              <p:cNvCxnSpPr/>
              <p:nvPr/>
            </p:nvCxnSpPr>
            <p:spPr>
              <a:xfrm rot="10800000">
                <a:off x="6959362" y="1668436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33"/>
              <p:cNvCxnSpPr/>
              <p:nvPr/>
            </p:nvCxnSpPr>
            <p:spPr>
              <a:xfrm>
                <a:off x="6471950" y="2638283"/>
                <a:ext cx="1141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A4C2F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532" name="Google Shape;532;p33"/>
              <p:cNvPicPr preferRelativeResize="0"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56216" y="2670333"/>
                <a:ext cx="97798" cy="11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3" name="Google Shape;533;p33"/>
              <p:cNvSpPr/>
              <p:nvPr/>
            </p:nvSpPr>
            <p:spPr>
              <a:xfrm>
                <a:off x="6484600" y="2273494"/>
                <a:ext cx="1139300" cy="234175"/>
              </a:xfrm>
              <a:custGeom>
                <a:avLst/>
                <a:gdLst/>
                <a:ahLst/>
                <a:cxnLst/>
                <a:rect l="l" t="t" r="r" b="b"/>
                <a:pathLst>
                  <a:path w="45572" h="9367" extrusionOk="0">
                    <a:moveTo>
                      <a:pt x="0" y="3198"/>
                    </a:moveTo>
                    <a:cubicBezTo>
                      <a:pt x="644" y="3354"/>
                      <a:pt x="822" y="3109"/>
                      <a:pt x="3864" y="4131"/>
                    </a:cubicBezTo>
                    <a:cubicBezTo>
                      <a:pt x="6907" y="5153"/>
                      <a:pt x="14188" y="9842"/>
                      <a:pt x="18255" y="9328"/>
                    </a:cubicBezTo>
                    <a:cubicBezTo>
                      <a:pt x="22322" y="8814"/>
                      <a:pt x="24846" y="1667"/>
                      <a:pt x="28266" y="1045"/>
                    </a:cubicBezTo>
                    <a:cubicBezTo>
                      <a:pt x="31686" y="423"/>
                      <a:pt x="36292" y="5283"/>
                      <a:pt x="38776" y="5597"/>
                    </a:cubicBezTo>
                    <a:cubicBezTo>
                      <a:pt x="41261" y="5912"/>
                      <a:pt x="42040" y="3865"/>
                      <a:pt x="43173" y="2932"/>
                    </a:cubicBezTo>
                    <a:cubicBezTo>
                      <a:pt x="44306" y="1999"/>
                      <a:pt x="45172" y="489"/>
                      <a:pt x="45572" y="0"/>
                    </a:cubicBezTo>
                  </a:path>
                </a:pathLst>
              </a:custGeom>
              <a:noFill/>
              <a:ln w="19050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534" name="Google Shape;534;p33"/>
              <p:cNvCxnSpPr/>
              <p:nvPr/>
            </p:nvCxnSpPr>
            <p:spPr>
              <a:xfrm rot="10800000">
                <a:off x="7623912" y="1695023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35" name="Google Shape;535;p33"/>
              <p:cNvSpPr/>
              <p:nvPr/>
            </p:nvSpPr>
            <p:spPr>
              <a:xfrm rot="-5400000">
                <a:off x="7170440" y="2412514"/>
                <a:ext cx="168300" cy="7284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6" name="Google Shape;536;p33"/>
          <p:cNvGrpSpPr/>
          <p:nvPr/>
        </p:nvGrpSpPr>
        <p:grpSpPr>
          <a:xfrm>
            <a:off x="992457" y="1153139"/>
            <a:ext cx="1972159" cy="1349613"/>
            <a:chOff x="992457" y="1153139"/>
            <a:chExt cx="1972159" cy="1349613"/>
          </a:xfrm>
        </p:grpSpPr>
        <p:grpSp>
          <p:nvGrpSpPr>
            <p:cNvPr id="537" name="Google Shape;537;p33"/>
            <p:cNvGrpSpPr/>
            <p:nvPr/>
          </p:nvGrpSpPr>
          <p:grpSpPr>
            <a:xfrm>
              <a:off x="992457" y="1153139"/>
              <a:ext cx="1972159" cy="1349613"/>
              <a:chOff x="277175" y="3055888"/>
              <a:chExt cx="2664000" cy="1823063"/>
            </a:xfrm>
          </p:grpSpPr>
          <p:cxnSp>
            <p:nvCxnSpPr>
              <p:cNvPr id="538" name="Google Shape;538;p33"/>
              <p:cNvCxnSpPr/>
              <p:nvPr/>
            </p:nvCxnSpPr>
            <p:spPr>
              <a:xfrm rot="10800000" flipH="1">
                <a:off x="747549" y="4259522"/>
                <a:ext cx="1550100" cy="362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39" name="Google Shape;539;p33"/>
              <p:cNvGrpSpPr/>
              <p:nvPr/>
            </p:nvGrpSpPr>
            <p:grpSpPr>
              <a:xfrm>
                <a:off x="277175" y="3055888"/>
                <a:ext cx="2664000" cy="1823063"/>
                <a:chOff x="5834900" y="1276188"/>
                <a:chExt cx="2664000" cy="1823063"/>
              </a:xfrm>
            </p:grpSpPr>
            <p:cxnSp>
              <p:nvCxnSpPr>
                <p:cNvPr id="540" name="Google Shape;540;p33"/>
                <p:cNvCxnSpPr/>
                <p:nvPr/>
              </p:nvCxnSpPr>
              <p:spPr>
                <a:xfrm>
                  <a:off x="6079494" y="1276188"/>
                  <a:ext cx="0" cy="1755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  <p:cxnSp>
              <p:nvCxnSpPr>
                <p:cNvPr id="541" name="Google Shape;541;p33"/>
                <p:cNvCxnSpPr/>
                <p:nvPr/>
              </p:nvCxnSpPr>
              <p:spPr>
                <a:xfrm>
                  <a:off x="5834900" y="2638288"/>
                  <a:ext cx="26640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542" name="Google Shape;542;p33"/>
                <p:cNvSpPr/>
                <p:nvPr/>
              </p:nvSpPr>
              <p:spPr>
                <a:xfrm>
                  <a:off x="6078582" y="1808323"/>
                  <a:ext cx="2319243" cy="1062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644" h="61659" extrusionOk="0">
                      <a:moveTo>
                        <a:pt x="0" y="61659"/>
                      </a:moveTo>
                      <a:cubicBezTo>
                        <a:pt x="3006" y="56696"/>
                        <a:pt x="9788" y="35443"/>
                        <a:pt x="18037" y="31878"/>
                      </a:cubicBezTo>
                      <a:cubicBezTo>
                        <a:pt x="26286" y="28313"/>
                        <a:pt x="41735" y="40826"/>
                        <a:pt x="49495" y="40267"/>
                      </a:cubicBezTo>
                      <a:cubicBezTo>
                        <a:pt x="57255" y="39708"/>
                        <a:pt x="59003" y="29502"/>
                        <a:pt x="64596" y="28523"/>
                      </a:cubicBezTo>
                      <a:cubicBezTo>
                        <a:pt x="70189" y="27544"/>
                        <a:pt x="76829" y="37471"/>
                        <a:pt x="83051" y="34395"/>
                      </a:cubicBezTo>
                      <a:cubicBezTo>
                        <a:pt x="89273" y="31319"/>
                        <a:pt x="93328" y="15800"/>
                        <a:pt x="101927" y="10067"/>
                      </a:cubicBezTo>
                      <a:cubicBezTo>
                        <a:pt x="110526" y="4335"/>
                        <a:pt x="129191" y="1678"/>
                        <a:pt x="134644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pic>
              <p:nvPicPr>
                <p:cNvPr id="543" name="Google Shape;543;p33"/>
                <p:cNvPicPr preferRelativeResize="0"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39583" y="1276188"/>
                  <a:ext cx="332368" cy="2106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544" name="Google Shape;544;p33"/>
                <p:cNvCxnSpPr/>
                <p:nvPr/>
              </p:nvCxnSpPr>
              <p:spPr>
                <a:xfrm rot="10800000">
                  <a:off x="6482466" y="1681365"/>
                  <a:ext cx="0" cy="13317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B7B7B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5" name="Google Shape;545;p33"/>
                <p:cNvCxnSpPr/>
                <p:nvPr/>
              </p:nvCxnSpPr>
              <p:spPr>
                <a:xfrm>
                  <a:off x="6471950" y="2638283"/>
                  <a:ext cx="11418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A4C2F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pic>
              <p:nvPicPr>
                <p:cNvPr id="546" name="Google Shape;546;p33"/>
                <p:cNvPicPr preferRelativeResize="0"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56216" y="2670333"/>
                  <a:ext cx="97798" cy="1135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47" name="Google Shape;547;p33"/>
                <p:cNvSpPr/>
                <p:nvPr/>
              </p:nvSpPr>
              <p:spPr>
                <a:xfrm>
                  <a:off x="6484600" y="2273494"/>
                  <a:ext cx="1139300" cy="23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72" h="9367" extrusionOk="0">
                      <a:moveTo>
                        <a:pt x="0" y="3198"/>
                      </a:moveTo>
                      <a:cubicBezTo>
                        <a:pt x="644" y="3354"/>
                        <a:pt x="822" y="3109"/>
                        <a:pt x="3864" y="4131"/>
                      </a:cubicBezTo>
                      <a:cubicBezTo>
                        <a:pt x="6907" y="5153"/>
                        <a:pt x="14188" y="9842"/>
                        <a:pt x="18255" y="9328"/>
                      </a:cubicBezTo>
                      <a:cubicBezTo>
                        <a:pt x="22322" y="8814"/>
                        <a:pt x="24846" y="1667"/>
                        <a:pt x="28266" y="1045"/>
                      </a:cubicBezTo>
                      <a:cubicBezTo>
                        <a:pt x="31686" y="423"/>
                        <a:pt x="36292" y="5283"/>
                        <a:pt x="38776" y="5597"/>
                      </a:cubicBezTo>
                      <a:cubicBezTo>
                        <a:pt x="41261" y="5912"/>
                        <a:pt x="42040" y="3865"/>
                        <a:pt x="43173" y="2932"/>
                      </a:cubicBezTo>
                      <a:cubicBezTo>
                        <a:pt x="44306" y="1999"/>
                        <a:pt x="45172" y="489"/>
                        <a:pt x="45572" y="0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98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548" name="Google Shape;548;p33"/>
                <p:cNvCxnSpPr/>
                <p:nvPr/>
              </p:nvCxnSpPr>
              <p:spPr>
                <a:xfrm rot="10800000">
                  <a:off x="7623912" y="1695023"/>
                  <a:ext cx="0" cy="971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B7B7B7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cxnSp>
            <p:pic>
              <p:nvPicPr>
                <p:cNvPr id="549" name="Google Shape;549;p33" descr="f(x) &gt; 0, \forall x \in \mathcal{S}" title="MathEquation,#000000"/>
                <p:cNvPicPr preferRelativeResize="0"/>
                <p:nvPr/>
              </p:nvPicPr>
              <p:blipFill rotWithShape="1">
                <a:blip r:embed="rId13"/>
                <a:srcRect l="88467" r="-4" b="9057"/>
                <a:stretch>
                  <a:fillRect/>
                </a:stretch>
              </p:blipFill>
              <p:spPr>
                <a:xfrm>
                  <a:off x="6959334" y="2876075"/>
                  <a:ext cx="172900" cy="2231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50" name="Google Shape;550;p33"/>
                <p:cNvSpPr/>
                <p:nvPr/>
              </p:nvSpPr>
              <p:spPr>
                <a:xfrm rot="-5400000">
                  <a:off x="6964875" y="2206850"/>
                  <a:ext cx="168300" cy="1139700"/>
                </a:xfrm>
                <a:prstGeom prst="leftBrace">
                  <a:avLst>
                    <a:gd name="adj1" fmla="val 50000"/>
                    <a:gd name="adj2" fmla="val 50000"/>
                  </a:avLst>
                </a:prstGeom>
                <a:noFill/>
                <a:ln w="952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51" name="Google Shape;551;p33"/>
            <p:cNvSpPr/>
            <p:nvPr/>
          </p:nvSpPr>
          <p:spPr>
            <a:xfrm>
              <a:off x="1423650" y="2236650"/>
              <a:ext cx="100500" cy="100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" name="Google Shape;552;p33"/>
          <p:cNvSpPr/>
          <p:nvPr/>
        </p:nvSpPr>
        <p:spPr>
          <a:xfrm>
            <a:off x="4381075" y="2147875"/>
            <a:ext cx="75300" cy="75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3"/>
          <p:cNvSpPr/>
          <p:nvPr/>
        </p:nvSpPr>
        <p:spPr>
          <a:xfrm>
            <a:off x="6787825" y="2086125"/>
            <a:ext cx="75300" cy="75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4" name="Google Shape;554;p33" descr="x \in S_1" title="MathEquation,#000000"/>
          <p:cNvPicPr preferRelativeResize="0"/>
          <p:nvPr/>
        </p:nvPicPr>
        <p:blipFill rotWithShape="1">
          <a:blip r:embed="rId5"/>
          <a:srcRect l="63803"/>
          <a:stretch>
            <a:fillRect/>
          </a:stretch>
        </p:blipFill>
        <p:spPr>
          <a:xfrm>
            <a:off x="4150325" y="2337150"/>
            <a:ext cx="179424" cy="1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3" descr="x \in S_2" title="MathEquation,#000000"/>
          <p:cNvPicPr preferRelativeResize="0"/>
          <p:nvPr/>
        </p:nvPicPr>
        <p:blipFill rotWithShape="1">
          <a:blip r:embed="rId6"/>
          <a:srcRect l="60560"/>
          <a:stretch>
            <a:fillRect/>
          </a:stretch>
        </p:blipFill>
        <p:spPr>
          <a:xfrm>
            <a:off x="6929200" y="2344463"/>
            <a:ext cx="179426" cy="163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3" descr="S_3 \cup S_4 \cup S_2 = S" title="MathEquation,#000000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3723163" y="4182813"/>
            <a:ext cx="1697660" cy="2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3" descr="\min(LB(S_3), LB(S_4), LB(S_2))" title="MathEquation,#000000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6026403" y="4173275"/>
            <a:ext cx="2826172" cy="2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Branch and bound</a:t>
            </a:r>
          </a:p>
        </p:txBody>
      </p:sp>
      <p:sp>
        <p:nvSpPr>
          <p:cNvPr id="563" name="Google Shape;563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1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If LB(</a:t>
            </a:r>
            <a:r>
              <a:rPr lang="en-GB" i="1"/>
              <a:t>S</a:t>
            </a:r>
            <a:r>
              <a:rPr lang="en-GB" baseline="-25000"/>
              <a:t>i</a:t>
            </a:r>
            <a:r>
              <a:rPr lang="en-GB"/>
              <a:t>) &gt; 0, it can be removed from our problem since the property is verified on this subdomain </a:t>
            </a:r>
            <a:r>
              <a:rPr lang="en-GB" i="1"/>
              <a:t>S</a:t>
            </a:r>
            <a:r>
              <a:rPr lang="en-GB" baseline="-25000"/>
              <a:t>i</a:t>
            </a:r>
            <a:r>
              <a:rPr lang="en-GB"/>
              <a:t>; branch and bound is needed for unverified subdomains only.</a:t>
            </a:r>
          </a:p>
        </p:txBody>
      </p:sp>
      <p:grpSp>
        <p:nvGrpSpPr>
          <p:cNvPr id="564" name="Google Shape;564;p34"/>
          <p:cNvGrpSpPr/>
          <p:nvPr/>
        </p:nvGrpSpPr>
        <p:grpSpPr>
          <a:xfrm>
            <a:off x="982250" y="2765975"/>
            <a:ext cx="2583150" cy="1645300"/>
            <a:chOff x="1864350" y="2141150"/>
            <a:chExt cx="2583150" cy="1645300"/>
          </a:xfrm>
        </p:grpSpPr>
        <p:pic>
          <p:nvPicPr>
            <p:cNvPr id="565" name="Google Shape;565;p34" descr="x \in S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3038475" y="2141150"/>
              <a:ext cx="634500" cy="235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66" name="Google Shape;566;p34"/>
            <p:cNvCxnSpPr>
              <a:stCxn id="565" idx="2"/>
            </p:cNvCxnSpPr>
            <p:nvPr/>
          </p:nvCxnSpPr>
          <p:spPr>
            <a:xfrm flipH="1">
              <a:off x="2718225" y="2376700"/>
              <a:ext cx="637500" cy="494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7" name="Google Shape;567;p34"/>
            <p:cNvCxnSpPr/>
            <p:nvPr/>
          </p:nvCxnSpPr>
          <p:spPr>
            <a:xfrm>
              <a:off x="3355725" y="2402550"/>
              <a:ext cx="566700" cy="56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568" name="Google Shape;568;p34" descr="x \in S_1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189200" y="2929648"/>
              <a:ext cx="637500" cy="2287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9" name="Google Shape;569;p34" descr="x \in S_2" title="MathEquation,#000000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3810000" y="2929648"/>
              <a:ext cx="637500" cy="2287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0" name="Google Shape;570;p34" descr="x \in S_3" title="MathEquation,#000000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1864350" y="3570447"/>
              <a:ext cx="566700" cy="203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p34" descr="x \in S_4" title="MathEquation,#000000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2718222" y="3583147"/>
              <a:ext cx="566700" cy="20330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72" name="Google Shape;572;p34"/>
            <p:cNvCxnSpPr>
              <a:stCxn id="568" idx="2"/>
              <a:endCxn id="570" idx="0"/>
            </p:cNvCxnSpPr>
            <p:nvPr/>
          </p:nvCxnSpPr>
          <p:spPr>
            <a:xfrm flipH="1">
              <a:off x="2147650" y="3158350"/>
              <a:ext cx="360300" cy="412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3" name="Google Shape;573;p34"/>
            <p:cNvCxnSpPr>
              <a:stCxn id="568" idx="2"/>
              <a:endCxn id="571" idx="0"/>
            </p:cNvCxnSpPr>
            <p:nvPr/>
          </p:nvCxnSpPr>
          <p:spPr>
            <a:xfrm>
              <a:off x="2507950" y="3158350"/>
              <a:ext cx="493500" cy="424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574" name="Google Shape;574;p34"/>
          <p:cNvSpPr txBox="1"/>
          <p:nvPr/>
        </p:nvSpPr>
        <p:spPr>
          <a:xfrm>
            <a:off x="4755700" y="2171250"/>
            <a:ext cx="33834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List of unverified subproblems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75" name="Google Shape;575;p34"/>
          <p:cNvCxnSpPr>
            <a:stCxn id="571" idx="2"/>
            <a:endCxn id="576" idx="0"/>
          </p:cNvCxnSpPr>
          <p:nvPr/>
        </p:nvCxnSpPr>
        <p:spPr>
          <a:xfrm flipH="1">
            <a:off x="1649972" y="4411275"/>
            <a:ext cx="469500" cy="41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7" name="Google Shape;577;p34"/>
          <p:cNvCxnSpPr>
            <a:stCxn id="571" idx="2"/>
            <a:endCxn id="578" idx="0"/>
          </p:cNvCxnSpPr>
          <p:nvPr/>
        </p:nvCxnSpPr>
        <p:spPr>
          <a:xfrm>
            <a:off x="2119472" y="4411275"/>
            <a:ext cx="389100" cy="41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79" name="Google Shape;579;p34" descr="x \in S_5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1351600" y="4821600"/>
            <a:ext cx="568776" cy="20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4" descr="x \in S_6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2194350" y="4819625"/>
            <a:ext cx="579774" cy="2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4"/>
          <p:cNvSpPr txBox="1"/>
          <p:nvPr/>
        </p:nvSpPr>
        <p:spPr>
          <a:xfrm>
            <a:off x="6115275" y="2571750"/>
            <a:ext cx="8853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{S}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2" name="Google Shape;582;p34"/>
          <p:cNvSpPr txBox="1"/>
          <p:nvPr/>
        </p:nvSpPr>
        <p:spPr>
          <a:xfrm>
            <a:off x="5859400" y="3135225"/>
            <a:ext cx="22797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{S</a:t>
            </a:r>
            <a:r>
              <a:rPr lang="en-GB" sz="1800" baseline="-25000">
                <a:solidFill>
                  <a:schemeClr val="dk2"/>
                </a:solidFill>
              </a:rPr>
              <a:t>1 </a:t>
            </a:r>
            <a:r>
              <a:rPr lang="en-GB" sz="1800">
                <a:solidFill>
                  <a:schemeClr val="dk2"/>
                </a:solidFill>
              </a:rPr>
              <a:t>, S</a:t>
            </a:r>
            <a:r>
              <a:rPr lang="en-GB" sz="1800" baseline="-25000">
                <a:solidFill>
                  <a:schemeClr val="dk2"/>
                </a:solidFill>
              </a:rPr>
              <a:t>2</a:t>
            </a:r>
            <a:r>
              <a:rPr lang="en-GB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3" name="Google Shape;583;p34"/>
          <p:cNvSpPr txBox="1"/>
          <p:nvPr/>
        </p:nvSpPr>
        <p:spPr>
          <a:xfrm>
            <a:off x="5859400" y="3835850"/>
            <a:ext cx="22797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{S</a:t>
            </a:r>
            <a:r>
              <a:rPr lang="en-GB" sz="1800" baseline="-25000">
                <a:solidFill>
                  <a:schemeClr val="dk2"/>
                </a:solidFill>
              </a:rPr>
              <a:t>3 </a:t>
            </a:r>
            <a:r>
              <a:rPr lang="en-GB" sz="1800">
                <a:solidFill>
                  <a:schemeClr val="dk2"/>
                </a:solidFill>
              </a:rPr>
              <a:t>, S</a:t>
            </a:r>
            <a:r>
              <a:rPr lang="en-GB" sz="1800" baseline="-25000">
                <a:solidFill>
                  <a:schemeClr val="dk2"/>
                </a:solidFill>
              </a:rPr>
              <a:t>4</a:t>
            </a:r>
            <a:r>
              <a:rPr lang="en-GB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4" name="Google Shape;584;p34"/>
          <p:cNvSpPr txBox="1"/>
          <p:nvPr/>
        </p:nvSpPr>
        <p:spPr>
          <a:xfrm>
            <a:off x="5859400" y="4536475"/>
            <a:ext cx="22797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{S</a:t>
            </a:r>
            <a:r>
              <a:rPr lang="en-GB" sz="1800" baseline="-25000">
                <a:solidFill>
                  <a:schemeClr val="dk2"/>
                </a:solidFill>
              </a:rPr>
              <a:t>5 </a:t>
            </a:r>
            <a:r>
              <a:rPr lang="en-GB" sz="1800">
                <a:solidFill>
                  <a:schemeClr val="dk2"/>
                </a:solidFill>
              </a:rPr>
              <a:t>, S</a:t>
            </a:r>
            <a:r>
              <a:rPr lang="en-GB" sz="1800" baseline="-25000">
                <a:solidFill>
                  <a:schemeClr val="dk2"/>
                </a:solidFill>
              </a:rPr>
              <a:t>6</a:t>
            </a:r>
            <a:r>
              <a:rPr lang="en-GB" sz="1800">
                <a:solidFill>
                  <a:schemeClr val="dk2"/>
                </a:solidFill>
              </a:rPr>
              <a:t>}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85" name="Google Shape;585;p34"/>
          <p:cNvCxnSpPr/>
          <p:nvPr/>
        </p:nvCxnSpPr>
        <p:spPr>
          <a:xfrm rot="10800000">
            <a:off x="6405075" y="3250525"/>
            <a:ext cx="305700" cy="316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6" name="Google Shape;586;p34"/>
          <p:cNvCxnSpPr/>
          <p:nvPr/>
        </p:nvCxnSpPr>
        <p:spPr>
          <a:xfrm rot="10800000">
            <a:off x="5994025" y="3930350"/>
            <a:ext cx="305700" cy="316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7" name="Google Shape;587;p34"/>
          <p:cNvSpPr txBox="1"/>
          <p:nvPr/>
        </p:nvSpPr>
        <p:spPr>
          <a:xfrm>
            <a:off x="3209000" y="3799100"/>
            <a:ext cx="12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38761D"/>
                </a:solidFill>
              </a:rPr>
              <a:t>LB(</a:t>
            </a:r>
            <a:r>
              <a:rPr lang="en-GB" i="1">
                <a:solidFill>
                  <a:srgbClr val="38761D"/>
                </a:solidFill>
              </a:rPr>
              <a:t>S</a:t>
            </a:r>
            <a:r>
              <a:rPr lang="en-GB" baseline="-25000">
                <a:solidFill>
                  <a:srgbClr val="38761D"/>
                </a:solidFill>
              </a:rPr>
              <a:t>2</a:t>
            </a:r>
            <a:r>
              <a:rPr lang="en-GB">
                <a:solidFill>
                  <a:srgbClr val="38761D"/>
                </a:solidFill>
              </a:rPr>
              <a:t>) &gt; 0</a:t>
            </a:r>
            <a:endParaRPr sz="1000">
              <a:solidFill>
                <a:srgbClr val="38761D"/>
              </a:solidFill>
            </a:endParaRPr>
          </a:p>
        </p:txBody>
      </p:sp>
      <p:sp>
        <p:nvSpPr>
          <p:cNvPr id="588" name="Google Shape;588;p34"/>
          <p:cNvSpPr txBox="1"/>
          <p:nvPr/>
        </p:nvSpPr>
        <p:spPr>
          <a:xfrm>
            <a:off x="185225" y="4246538"/>
            <a:ext cx="12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38761D"/>
                </a:solidFill>
              </a:rPr>
              <a:t>LB(</a:t>
            </a:r>
            <a:r>
              <a:rPr lang="en-GB" i="1">
                <a:solidFill>
                  <a:srgbClr val="38761D"/>
                </a:solidFill>
              </a:rPr>
              <a:t>S</a:t>
            </a:r>
            <a:r>
              <a:rPr lang="en-GB" baseline="-25000">
                <a:solidFill>
                  <a:srgbClr val="38761D"/>
                </a:solidFill>
              </a:rPr>
              <a:t>3</a:t>
            </a:r>
            <a:r>
              <a:rPr lang="en-GB">
                <a:solidFill>
                  <a:srgbClr val="38761D"/>
                </a:solidFill>
              </a:rPr>
              <a:t>) &gt; 0</a:t>
            </a:r>
            <a:endParaRPr sz="1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Branch and bound on input</a:t>
            </a:r>
          </a:p>
        </p:txBody>
      </p:sp>
      <p:grpSp>
        <p:nvGrpSpPr>
          <p:cNvPr id="594" name="Google Shape;594;p35"/>
          <p:cNvGrpSpPr/>
          <p:nvPr/>
        </p:nvGrpSpPr>
        <p:grpSpPr>
          <a:xfrm>
            <a:off x="992457" y="1153139"/>
            <a:ext cx="1972159" cy="1349613"/>
            <a:chOff x="277175" y="3055888"/>
            <a:chExt cx="2664000" cy="1823063"/>
          </a:xfrm>
        </p:grpSpPr>
        <p:cxnSp>
          <p:nvCxnSpPr>
            <p:cNvPr id="595" name="Google Shape;595;p35"/>
            <p:cNvCxnSpPr/>
            <p:nvPr/>
          </p:nvCxnSpPr>
          <p:spPr>
            <a:xfrm rot="10800000" flipH="1">
              <a:off x="747549" y="4259522"/>
              <a:ext cx="1550100" cy="3624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596" name="Google Shape;596;p35"/>
            <p:cNvGrpSpPr/>
            <p:nvPr/>
          </p:nvGrpSpPr>
          <p:grpSpPr>
            <a:xfrm>
              <a:off x="277175" y="3055888"/>
              <a:ext cx="2664000" cy="1823063"/>
              <a:chOff x="5834900" y="1276188"/>
              <a:chExt cx="2664000" cy="1823063"/>
            </a:xfrm>
          </p:grpSpPr>
          <p:cxnSp>
            <p:nvCxnSpPr>
              <p:cNvPr id="597" name="Google Shape;597;p35"/>
              <p:cNvCxnSpPr/>
              <p:nvPr/>
            </p:nvCxnSpPr>
            <p:spPr>
              <a:xfrm>
                <a:off x="6079494" y="1276188"/>
                <a:ext cx="0" cy="1755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598" name="Google Shape;598;p35"/>
              <p:cNvCxnSpPr/>
              <p:nvPr/>
            </p:nvCxnSpPr>
            <p:spPr>
              <a:xfrm>
                <a:off x="5834900" y="2638288"/>
                <a:ext cx="26640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99" name="Google Shape;599;p35"/>
              <p:cNvSpPr/>
              <p:nvPr/>
            </p:nvSpPr>
            <p:spPr>
              <a:xfrm>
                <a:off x="6078582" y="1808323"/>
                <a:ext cx="2319243" cy="1062076"/>
              </a:xfrm>
              <a:custGeom>
                <a:avLst/>
                <a:gdLst/>
                <a:ahLst/>
                <a:cxnLst/>
                <a:rect l="l" t="t" r="r" b="b"/>
                <a:pathLst>
                  <a:path w="134644" h="61659" extrusionOk="0">
                    <a:moveTo>
                      <a:pt x="0" y="61659"/>
                    </a:moveTo>
                    <a:cubicBezTo>
                      <a:pt x="3006" y="56696"/>
                      <a:pt x="9788" y="35443"/>
                      <a:pt x="18037" y="31878"/>
                    </a:cubicBezTo>
                    <a:cubicBezTo>
                      <a:pt x="26286" y="28313"/>
                      <a:pt x="41735" y="40826"/>
                      <a:pt x="49495" y="40267"/>
                    </a:cubicBezTo>
                    <a:cubicBezTo>
                      <a:pt x="57255" y="39708"/>
                      <a:pt x="59003" y="29502"/>
                      <a:pt x="64596" y="28523"/>
                    </a:cubicBezTo>
                    <a:cubicBezTo>
                      <a:pt x="70189" y="27544"/>
                      <a:pt x="76829" y="37471"/>
                      <a:pt x="83051" y="34395"/>
                    </a:cubicBezTo>
                    <a:cubicBezTo>
                      <a:pt x="89273" y="31319"/>
                      <a:pt x="93328" y="15800"/>
                      <a:pt x="101927" y="10067"/>
                    </a:cubicBezTo>
                    <a:cubicBezTo>
                      <a:pt x="110526" y="4335"/>
                      <a:pt x="129191" y="1678"/>
                      <a:pt x="134644" y="0"/>
                    </a:cubicBezTo>
                  </a:path>
                </a:pathLst>
              </a:cu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600" name="Google Shape;600;p35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39583" y="1276188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601" name="Google Shape;601;p35"/>
              <p:cNvCxnSpPr/>
              <p:nvPr/>
            </p:nvCxnSpPr>
            <p:spPr>
              <a:xfrm rot="10800000">
                <a:off x="6482466" y="1681365"/>
                <a:ext cx="0" cy="1331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2" name="Google Shape;602;p35"/>
              <p:cNvCxnSpPr/>
              <p:nvPr/>
            </p:nvCxnSpPr>
            <p:spPr>
              <a:xfrm>
                <a:off x="6471950" y="2638283"/>
                <a:ext cx="1141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A4C2F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603" name="Google Shape;603;p35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6216" y="2670333"/>
                <a:ext cx="97798" cy="11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4" name="Google Shape;604;p35"/>
              <p:cNvSpPr/>
              <p:nvPr/>
            </p:nvSpPr>
            <p:spPr>
              <a:xfrm>
                <a:off x="6484600" y="2273494"/>
                <a:ext cx="1139300" cy="234175"/>
              </a:xfrm>
              <a:custGeom>
                <a:avLst/>
                <a:gdLst/>
                <a:ahLst/>
                <a:cxnLst/>
                <a:rect l="l" t="t" r="r" b="b"/>
                <a:pathLst>
                  <a:path w="45572" h="9367" extrusionOk="0">
                    <a:moveTo>
                      <a:pt x="0" y="3198"/>
                    </a:moveTo>
                    <a:cubicBezTo>
                      <a:pt x="644" y="3354"/>
                      <a:pt x="822" y="3109"/>
                      <a:pt x="3864" y="4131"/>
                    </a:cubicBezTo>
                    <a:cubicBezTo>
                      <a:pt x="6907" y="5153"/>
                      <a:pt x="14188" y="9842"/>
                      <a:pt x="18255" y="9328"/>
                    </a:cubicBezTo>
                    <a:cubicBezTo>
                      <a:pt x="22322" y="8814"/>
                      <a:pt x="24846" y="1667"/>
                      <a:pt x="28266" y="1045"/>
                    </a:cubicBezTo>
                    <a:cubicBezTo>
                      <a:pt x="31686" y="423"/>
                      <a:pt x="36292" y="5283"/>
                      <a:pt x="38776" y="5597"/>
                    </a:cubicBezTo>
                    <a:cubicBezTo>
                      <a:pt x="41261" y="5912"/>
                      <a:pt x="42040" y="3865"/>
                      <a:pt x="43173" y="2932"/>
                    </a:cubicBezTo>
                    <a:cubicBezTo>
                      <a:pt x="44306" y="1999"/>
                      <a:pt x="45172" y="489"/>
                      <a:pt x="45572" y="0"/>
                    </a:cubicBezTo>
                  </a:path>
                </a:pathLst>
              </a:custGeom>
              <a:noFill/>
              <a:ln w="19050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605" name="Google Shape;605;p35"/>
              <p:cNvCxnSpPr/>
              <p:nvPr/>
            </p:nvCxnSpPr>
            <p:spPr>
              <a:xfrm rot="10800000">
                <a:off x="7623912" y="1695023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606" name="Google Shape;606;p35" descr="f(x) &gt; 0, \forall x \in \mathcal{S}" title="MathEquation,#000000"/>
              <p:cNvPicPr preferRelativeResize="0"/>
              <p:nvPr/>
            </p:nvPicPr>
            <p:blipFill rotWithShape="1">
              <a:blip r:embed="rId5"/>
              <a:srcRect l="88467" r="-4" b="9057"/>
              <a:stretch>
                <a:fillRect/>
              </a:stretch>
            </p:blipFill>
            <p:spPr>
              <a:xfrm>
                <a:off x="6959334" y="2876075"/>
                <a:ext cx="172900" cy="2231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7" name="Google Shape;607;p35"/>
              <p:cNvSpPr/>
              <p:nvPr/>
            </p:nvSpPr>
            <p:spPr>
              <a:xfrm rot="-5400000">
                <a:off x="6964875" y="2206850"/>
                <a:ext cx="168300" cy="11397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8" name="Google Shape;608;p35"/>
          <p:cNvGrpSpPr/>
          <p:nvPr/>
        </p:nvGrpSpPr>
        <p:grpSpPr>
          <a:xfrm>
            <a:off x="3585920" y="1153139"/>
            <a:ext cx="1972159" cy="1299893"/>
            <a:chOff x="277175" y="3055888"/>
            <a:chExt cx="2664000" cy="1755900"/>
          </a:xfrm>
        </p:grpSpPr>
        <p:cxnSp>
          <p:nvCxnSpPr>
            <p:cNvPr id="609" name="Google Shape;609;p35"/>
            <p:cNvCxnSpPr/>
            <p:nvPr/>
          </p:nvCxnSpPr>
          <p:spPr>
            <a:xfrm>
              <a:off x="590096" y="4125705"/>
              <a:ext cx="1280700" cy="5121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610" name="Google Shape;610;p35"/>
            <p:cNvGrpSpPr/>
            <p:nvPr/>
          </p:nvGrpSpPr>
          <p:grpSpPr>
            <a:xfrm>
              <a:off x="277175" y="3055888"/>
              <a:ext cx="2664000" cy="1755900"/>
              <a:chOff x="5834900" y="1276188"/>
              <a:chExt cx="2664000" cy="1755900"/>
            </a:xfrm>
          </p:grpSpPr>
          <p:cxnSp>
            <p:nvCxnSpPr>
              <p:cNvPr id="611" name="Google Shape;611;p35"/>
              <p:cNvCxnSpPr/>
              <p:nvPr/>
            </p:nvCxnSpPr>
            <p:spPr>
              <a:xfrm>
                <a:off x="6079494" y="1276188"/>
                <a:ext cx="0" cy="1755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612" name="Google Shape;612;p35"/>
              <p:cNvCxnSpPr/>
              <p:nvPr/>
            </p:nvCxnSpPr>
            <p:spPr>
              <a:xfrm>
                <a:off x="5834900" y="2638288"/>
                <a:ext cx="26640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13" name="Google Shape;613;p35"/>
              <p:cNvSpPr/>
              <p:nvPr/>
            </p:nvSpPr>
            <p:spPr>
              <a:xfrm>
                <a:off x="6078582" y="1808323"/>
                <a:ext cx="2319243" cy="1062076"/>
              </a:xfrm>
              <a:custGeom>
                <a:avLst/>
                <a:gdLst/>
                <a:ahLst/>
                <a:cxnLst/>
                <a:rect l="l" t="t" r="r" b="b"/>
                <a:pathLst>
                  <a:path w="134644" h="61659" extrusionOk="0">
                    <a:moveTo>
                      <a:pt x="0" y="61659"/>
                    </a:moveTo>
                    <a:cubicBezTo>
                      <a:pt x="3006" y="56696"/>
                      <a:pt x="9788" y="35443"/>
                      <a:pt x="18037" y="31878"/>
                    </a:cubicBezTo>
                    <a:cubicBezTo>
                      <a:pt x="26286" y="28313"/>
                      <a:pt x="41735" y="40826"/>
                      <a:pt x="49495" y="40267"/>
                    </a:cubicBezTo>
                    <a:cubicBezTo>
                      <a:pt x="57255" y="39708"/>
                      <a:pt x="59003" y="29502"/>
                      <a:pt x="64596" y="28523"/>
                    </a:cubicBezTo>
                    <a:cubicBezTo>
                      <a:pt x="70189" y="27544"/>
                      <a:pt x="76829" y="37471"/>
                      <a:pt x="83051" y="34395"/>
                    </a:cubicBezTo>
                    <a:cubicBezTo>
                      <a:pt x="89273" y="31319"/>
                      <a:pt x="93328" y="15800"/>
                      <a:pt x="101927" y="10067"/>
                    </a:cubicBezTo>
                    <a:cubicBezTo>
                      <a:pt x="110526" y="4335"/>
                      <a:pt x="129191" y="1678"/>
                      <a:pt x="134644" y="0"/>
                    </a:cubicBezTo>
                  </a:path>
                </a:pathLst>
              </a:cu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614" name="Google Shape;614;p35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39583" y="1276188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615" name="Google Shape;615;p35"/>
              <p:cNvCxnSpPr/>
              <p:nvPr/>
            </p:nvCxnSpPr>
            <p:spPr>
              <a:xfrm rot="10800000">
                <a:off x="6482562" y="1681336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35"/>
              <p:cNvCxnSpPr/>
              <p:nvPr/>
            </p:nvCxnSpPr>
            <p:spPr>
              <a:xfrm>
                <a:off x="6471950" y="2638283"/>
                <a:ext cx="1141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A4C2F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617" name="Google Shape;617;p35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6216" y="2670333"/>
                <a:ext cx="97798" cy="11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" name="Google Shape;618;p35"/>
              <p:cNvSpPr/>
              <p:nvPr/>
            </p:nvSpPr>
            <p:spPr>
              <a:xfrm>
                <a:off x="6484600" y="2273494"/>
                <a:ext cx="1139300" cy="234175"/>
              </a:xfrm>
              <a:custGeom>
                <a:avLst/>
                <a:gdLst/>
                <a:ahLst/>
                <a:cxnLst/>
                <a:rect l="l" t="t" r="r" b="b"/>
                <a:pathLst>
                  <a:path w="45572" h="9367" extrusionOk="0">
                    <a:moveTo>
                      <a:pt x="0" y="3198"/>
                    </a:moveTo>
                    <a:cubicBezTo>
                      <a:pt x="644" y="3354"/>
                      <a:pt x="822" y="3109"/>
                      <a:pt x="3864" y="4131"/>
                    </a:cubicBezTo>
                    <a:cubicBezTo>
                      <a:pt x="6907" y="5153"/>
                      <a:pt x="14188" y="9842"/>
                      <a:pt x="18255" y="9328"/>
                    </a:cubicBezTo>
                    <a:cubicBezTo>
                      <a:pt x="22322" y="8814"/>
                      <a:pt x="24846" y="1667"/>
                      <a:pt x="28266" y="1045"/>
                    </a:cubicBezTo>
                    <a:cubicBezTo>
                      <a:pt x="31686" y="423"/>
                      <a:pt x="36292" y="5283"/>
                      <a:pt x="38776" y="5597"/>
                    </a:cubicBezTo>
                    <a:cubicBezTo>
                      <a:pt x="41261" y="5912"/>
                      <a:pt x="42040" y="3865"/>
                      <a:pt x="43173" y="2932"/>
                    </a:cubicBezTo>
                    <a:cubicBezTo>
                      <a:pt x="44306" y="1999"/>
                      <a:pt x="45172" y="489"/>
                      <a:pt x="45572" y="0"/>
                    </a:cubicBezTo>
                  </a:path>
                </a:pathLst>
              </a:custGeom>
              <a:noFill/>
              <a:ln w="19050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619" name="Google Shape;619;p35"/>
              <p:cNvCxnSpPr/>
              <p:nvPr/>
            </p:nvCxnSpPr>
            <p:spPr>
              <a:xfrm rot="10800000">
                <a:off x="6959350" y="1681347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20" name="Google Shape;620;p35"/>
              <p:cNvSpPr/>
              <p:nvPr/>
            </p:nvSpPr>
            <p:spPr>
              <a:xfrm rot="-5400000">
                <a:off x="6628424" y="2543314"/>
                <a:ext cx="168300" cy="4668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21" name="Google Shape;621;p35"/>
          <p:cNvGrpSpPr/>
          <p:nvPr/>
        </p:nvGrpSpPr>
        <p:grpSpPr>
          <a:xfrm>
            <a:off x="5993870" y="1153139"/>
            <a:ext cx="1972159" cy="1299893"/>
            <a:chOff x="277175" y="3055888"/>
            <a:chExt cx="2664000" cy="1755900"/>
          </a:xfrm>
        </p:grpSpPr>
        <p:cxnSp>
          <p:nvCxnSpPr>
            <p:cNvPr id="622" name="Google Shape;622;p35"/>
            <p:cNvCxnSpPr/>
            <p:nvPr/>
          </p:nvCxnSpPr>
          <p:spPr>
            <a:xfrm rot="10800000" flipH="1">
              <a:off x="1024920" y="4154229"/>
              <a:ext cx="1423500" cy="2826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623" name="Google Shape;623;p35"/>
            <p:cNvGrpSpPr/>
            <p:nvPr/>
          </p:nvGrpSpPr>
          <p:grpSpPr>
            <a:xfrm>
              <a:off x="277175" y="3055888"/>
              <a:ext cx="2664000" cy="1755900"/>
              <a:chOff x="5834900" y="1276188"/>
              <a:chExt cx="2664000" cy="1755900"/>
            </a:xfrm>
          </p:grpSpPr>
          <p:cxnSp>
            <p:nvCxnSpPr>
              <p:cNvPr id="624" name="Google Shape;624;p35"/>
              <p:cNvCxnSpPr/>
              <p:nvPr/>
            </p:nvCxnSpPr>
            <p:spPr>
              <a:xfrm>
                <a:off x="6079494" y="1276188"/>
                <a:ext cx="0" cy="1755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cxnSp>
            <p:nvCxnSpPr>
              <p:cNvPr id="625" name="Google Shape;625;p35"/>
              <p:cNvCxnSpPr/>
              <p:nvPr/>
            </p:nvCxnSpPr>
            <p:spPr>
              <a:xfrm>
                <a:off x="5834900" y="2638288"/>
                <a:ext cx="26640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26" name="Google Shape;626;p35"/>
              <p:cNvSpPr/>
              <p:nvPr/>
            </p:nvSpPr>
            <p:spPr>
              <a:xfrm>
                <a:off x="6078582" y="1808323"/>
                <a:ext cx="2319243" cy="1062076"/>
              </a:xfrm>
              <a:custGeom>
                <a:avLst/>
                <a:gdLst/>
                <a:ahLst/>
                <a:cxnLst/>
                <a:rect l="l" t="t" r="r" b="b"/>
                <a:pathLst>
                  <a:path w="134644" h="61659" extrusionOk="0">
                    <a:moveTo>
                      <a:pt x="0" y="61659"/>
                    </a:moveTo>
                    <a:cubicBezTo>
                      <a:pt x="3006" y="56696"/>
                      <a:pt x="9788" y="35443"/>
                      <a:pt x="18037" y="31878"/>
                    </a:cubicBezTo>
                    <a:cubicBezTo>
                      <a:pt x="26286" y="28313"/>
                      <a:pt x="41735" y="40826"/>
                      <a:pt x="49495" y="40267"/>
                    </a:cubicBezTo>
                    <a:cubicBezTo>
                      <a:pt x="57255" y="39708"/>
                      <a:pt x="59003" y="29502"/>
                      <a:pt x="64596" y="28523"/>
                    </a:cubicBezTo>
                    <a:cubicBezTo>
                      <a:pt x="70189" y="27544"/>
                      <a:pt x="76829" y="37471"/>
                      <a:pt x="83051" y="34395"/>
                    </a:cubicBezTo>
                    <a:cubicBezTo>
                      <a:pt x="89273" y="31319"/>
                      <a:pt x="93328" y="15800"/>
                      <a:pt x="101927" y="10067"/>
                    </a:cubicBezTo>
                    <a:cubicBezTo>
                      <a:pt x="110526" y="4335"/>
                      <a:pt x="129191" y="1678"/>
                      <a:pt x="134644" y="0"/>
                    </a:cubicBezTo>
                  </a:path>
                </a:pathLst>
              </a:cu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627" name="Google Shape;627;p35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39583" y="1276188"/>
                <a:ext cx="332368" cy="210643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628" name="Google Shape;628;p35"/>
              <p:cNvCxnSpPr/>
              <p:nvPr/>
            </p:nvCxnSpPr>
            <p:spPr>
              <a:xfrm rot="10800000">
                <a:off x="6959362" y="1668436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9" name="Google Shape;629;p35"/>
              <p:cNvCxnSpPr/>
              <p:nvPr/>
            </p:nvCxnSpPr>
            <p:spPr>
              <a:xfrm>
                <a:off x="6471950" y="2638283"/>
                <a:ext cx="11418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A4C2F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630" name="Google Shape;630;p35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6216" y="2670333"/>
                <a:ext cx="97798" cy="11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1" name="Google Shape;631;p35"/>
              <p:cNvSpPr/>
              <p:nvPr/>
            </p:nvSpPr>
            <p:spPr>
              <a:xfrm>
                <a:off x="6484600" y="2273494"/>
                <a:ext cx="1139300" cy="234175"/>
              </a:xfrm>
              <a:custGeom>
                <a:avLst/>
                <a:gdLst/>
                <a:ahLst/>
                <a:cxnLst/>
                <a:rect l="l" t="t" r="r" b="b"/>
                <a:pathLst>
                  <a:path w="45572" h="9367" extrusionOk="0">
                    <a:moveTo>
                      <a:pt x="0" y="3198"/>
                    </a:moveTo>
                    <a:cubicBezTo>
                      <a:pt x="644" y="3354"/>
                      <a:pt x="822" y="3109"/>
                      <a:pt x="3864" y="4131"/>
                    </a:cubicBezTo>
                    <a:cubicBezTo>
                      <a:pt x="6907" y="5153"/>
                      <a:pt x="14188" y="9842"/>
                      <a:pt x="18255" y="9328"/>
                    </a:cubicBezTo>
                    <a:cubicBezTo>
                      <a:pt x="22322" y="8814"/>
                      <a:pt x="24846" y="1667"/>
                      <a:pt x="28266" y="1045"/>
                    </a:cubicBezTo>
                    <a:cubicBezTo>
                      <a:pt x="31686" y="423"/>
                      <a:pt x="36292" y="5283"/>
                      <a:pt x="38776" y="5597"/>
                    </a:cubicBezTo>
                    <a:cubicBezTo>
                      <a:pt x="41261" y="5912"/>
                      <a:pt x="42040" y="3865"/>
                      <a:pt x="43173" y="2932"/>
                    </a:cubicBezTo>
                    <a:cubicBezTo>
                      <a:pt x="44306" y="1999"/>
                      <a:pt x="45172" y="489"/>
                      <a:pt x="45572" y="0"/>
                    </a:cubicBezTo>
                  </a:path>
                </a:pathLst>
              </a:custGeom>
              <a:noFill/>
              <a:ln w="19050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632" name="Google Shape;632;p35"/>
              <p:cNvCxnSpPr/>
              <p:nvPr/>
            </p:nvCxnSpPr>
            <p:spPr>
              <a:xfrm rot="10800000">
                <a:off x="7623912" y="1695023"/>
                <a:ext cx="0" cy="971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7B7B7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3" name="Google Shape;633;p35"/>
              <p:cNvSpPr/>
              <p:nvPr/>
            </p:nvSpPr>
            <p:spPr>
              <a:xfrm rot="-5400000">
                <a:off x="7170440" y="2412514"/>
                <a:ext cx="168300" cy="7284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34" name="Google Shape;634;p35"/>
          <p:cNvSpPr/>
          <p:nvPr/>
        </p:nvSpPr>
        <p:spPr>
          <a:xfrm>
            <a:off x="1423650" y="2236650"/>
            <a:ext cx="100500" cy="10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35"/>
          <p:cNvSpPr/>
          <p:nvPr/>
        </p:nvSpPr>
        <p:spPr>
          <a:xfrm>
            <a:off x="4381075" y="2147875"/>
            <a:ext cx="75300" cy="75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35"/>
          <p:cNvSpPr/>
          <p:nvPr/>
        </p:nvSpPr>
        <p:spPr>
          <a:xfrm>
            <a:off x="6787825" y="2086125"/>
            <a:ext cx="75300" cy="75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7" name="Google Shape;637;p35" descr="x \in S_1" title="MathEquation,#000000"/>
          <p:cNvPicPr preferRelativeResize="0"/>
          <p:nvPr/>
        </p:nvPicPr>
        <p:blipFill rotWithShape="1">
          <a:blip r:embed="rId6"/>
          <a:srcRect l="63803"/>
          <a:stretch>
            <a:fillRect/>
          </a:stretch>
        </p:blipFill>
        <p:spPr>
          <a:xfrm>
            <a:off x="4150325" y="2337150"/>
            <a:ext cx="179424" cy="1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35" descr="x \in S_2" title="MathEquation,#000000"/>
          <p:cNvPicPr preferRelativeResize="0"/>
          <p:nvPr/>
        </p:nvPicPr>
        <p:blipFill rotWithShape="1">
          <a:blip r:embed="rId7"/>
          <a:srcRect l="60560"/>
          <a:stretch>
            <a:fillRect/>
          </a:stretch>
        </p:blipFill>
        <p:spPr>
          <a:xfrm>
            <a:off x="6929200" y="2344463"/>
            <a:ext cx="179426" cy="16320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5"/>
          <p:cNvSpPr txBox="1">
            <a:spLocks noGrp="1"/>
          </p:cNvSpPr>
          <p:nvPr>
            <p:ph type="body" idx="1"/>
          </p:nvPr>
        </p:nvSpPr>
        <p:spPr>
          <a:xfrm>
            <a:off x="311700" y="2629975"/>
            <a:ext cx="8520600" cy="23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Split each into domain S, typically by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 = {x</a:t>
            </a:r>
            <a:r>
              <a:rPr lang="en-GB" baseline="-25000"/>
              <a:t>1</a:t>
            </a:r>
            <a:r>
              <a:rPr lang="en-GB"/>
              <a:t> ∈ [-1, 1], x</a:t>
            </a:r>
            <a:r>
              <a:rPr lang="en-GB" baseline="-25000"/>
              <a:t>2</a:t>
            </a:r>
            <a:r>
              <a:rPr lang="en-GB"/>
              <a:t> ∈ [-1, 1]}    =&gt;  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 baseline="-25000"/>
              <a:t>1</a:t>
            </a:r>
            <a:r>
              <a:rPr lang="en-GB"/>
              <a:t> = {x</a:t>
            </a:r>
            <a:r>
              <a:rPr lang="en-GB" baseline="-25000"/>
              <a:t>1</a:t>
            </a:r>
            <a:r>
              <a:rPr lang="en-GB"/>
              <a:t> ∈ [-1, </a:t>
            </a:r>
            <a:r>
              <a:rPr lang="en-GB">
                <a:solidFill>
                  <a:srgbClr val="FF0000"/>
                </a:solidFill>
              </a:rPr>
              <a:t>0</a:t>
            </a:r>
            <a:r>
              <a:rPr lang="en-GB"/>
              <a:t>], x</a:t>
            </a:r>
            <a:r>
              <a:rPr lang="en-GB" baseline="-25000"/>
              <a:t>2</a:t>
            </a:r>
            <a:r>
              <a:rPr lang="en-GB"/>
              <a:t> ∈ [-1, 1]}, S</a:t>
            </a:r>
            <a:r>
              <a:rPr lang="en-GB" baseline="-25000"/>
              <a:t>2</a:t>
            </a:r>
            <a:r>
              <a:rPr lang="en-GB"/>
              <a:t> = {x</a:t>
            </a:r>
            <a:r>
              <a:rPr lang="en-GB" baseline="-25000"/>
              <a:t>2</a:t>
            </a:r>
            <a:r>
              <a:rPr lang="en-GB"/>
              <a:t> ∈ [</a:t>
            </a:r>
            <a:r>
              <a:rPr lang="en-GB">
                <a:solidFill>
                  <a:srgbClr val="FF0000"/>
                </a:solidFill>
              </a:rPr>
              <a:t>0</a:t>
            </a:r>
            <a:r>
              <a:rPr lang="en-GB"/>
              <a:t>, 1], x</a:t>
            </a:r>
            <a:r>
              <a:rPr lang="en-GB" baseline="-25000"/>
              <a:t>2</a:t>
            </a:r>
            <a:r>
              <a:rPr lang="en-GB"/>
              <a:t> ∈ [-1, 1]}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Implementation is easy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Does not work well when input dimension is very high (e.g., image inputs)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Branch and bound on ReLU</a:t>
            </a:r>
          </a:p>
        </p:txBody>
      </p:sp>
      <p:sp>
        <p:nvSpPr>
          <p:cNvPr id="645" name="Google Shape;645;p36"/>
          <p:cNvSpPr txBox="1">
            <a:spLocks noGrp="1"/>
          </p:cNvSpPr>
          <p:nvPr>
            <p:ph type="body" idx="1"/>
          </p:nvPr>
        </p:nvSpPr>
        <p:spPr>
          <a:xfrm>
            <a:off x="311700" y="1311400"/>
            <a:ext cx="8520600" cy="134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Implicitly split input domain S by considering a ReLU neuron in two cases: active and inactive.</a:t>
            </a:r>
          </a:p>
        </p:txBody>
      </p:sp>
      <p:grpSp>
        <p:nvGrpSpPr>
          <p:cNvPr id="646" name="Google Shape;646;p36"/>
          <p:cNvGrpSpPr/>
          <p:nvPr/>
        </p:nvGrpSpPr>
        <p:grpSpPr>
          <a:xfrm>
            <a:off x="478867" y="2989215"/>
            <a:ext cx="1830714" cy="1014144"/>
            <a:chOff x="5566825" y="4201600"/>
            <a:chExt cx="2311800" cy="1707600"/>
          </a:xfrm>
        </p:grpSpPr>
        <p:cxnSp>
          <p:nvCxnSpPr>
            <p:cNvPr id="647" name="Google Shape;647;p36"/>
            <p:cNvCxnSpPr/>
            <p:nvPr/>
          </p:nvCxnSpPr>
          <p:spPr>
            <a:xfrm>
              <a:off x="5566825" y="5390900"/>
              <a:ext cx="2311800" cy="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48" name="Google Shape;648;p36"/>
            <p:cNvCxnSpPr/>
            <p:nvPr/>
          </p:nvCxnSpPr>
          <p:spPr>
            <a:xfrm rot="10800000" flipH="1">
              <a:off x="6712800" y="4628500"/>
              <a:ext cx="748500" cy="759600"/>
            </a:xfrm>
            <a:prstGeom prst="straightConnector1">
              <a:avLst/>
            </a:prstGeom>
            <a:noFill/>
            <a:ln w="19050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9" name="Google Shape;649;p36"/>
            <p:cNvCxnSpPr/>
            <p:nvPr/>
          </p:nvCxnSpPr>
          <p:spPr>
            <a:xfrm>
              <a:off x="5628250" y="5393700"/>
              <a:ext cx="1083300" cy="0"/>
            </a:xfrm>
            <a:prstGeom prst="straightConnector1">
              <a:avLst/>
            </a:prstGeom>
            <a:noFill/>
            <a:ln w="19050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0" name="Google Shape;650;p36"/>
            <p:cNvCxnSpPr/>
            <p:nvPr/>
          </p:nvCxnSpPr>
          <p:spPr>
            <a:xfrm>
              <a:off x="5718925" y="539230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1" name="Google Shape;651;p36"/>
            <p:cNvCxnSpPr/>
            <p:nvPr/>
          </p:nvCxnSpPr>
          <p:spPr>
            <a:xfrm rot="10800000" flipH="1">
              <a:off x="6706525" y="4912300"/>
              <a:ext cx="480000" cy="480000"/>
            </a:xfrm>
            <a:prstGeom prst="straightConnector1">
              <a:avLst/>
            </a:prstGeom>
            <a:noFill/>
            <a:ln w="28575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2" name="Google Shape;652;p36"/>
            <p:cNvCxnSpPr/>
            <p:nvPr/>
          </p:nvCxnSpPr>
          <p:spPr>
            <a:xfrm>
              <a:off x="5714225" y="4229325"/>
              <a:ext cx="0" cy="1153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653" name="Google Shape;653;p36"/>
            <p:cNvCxnSpPr/>
            <p:nvPr/>
          </p:nvCxnSpPr>
          <p:spPr>
            <a:xfrm>
              <a:off x="7195700" y="4238550"/>
              <a:ext cx="0" cy="1153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654" name="Google Shape;654;p36"/>
            <p:cNvCxnSpPr/>
            <p:nvPr/>
          </p:nvCxnSpPr>
          <p:spPr>
            <a:xfrm>
              <a:off x="6706525" y="420160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</p:grpSp>
      <p:grpSp>
        <p:nvGrpSpPr>
          <p:cNvPr id="655" name="Google Shape;655;p36"/>
          <p:cNvGrpSpPr/>
          <p:nvPr/>
        </p:nvGrpSpPr>
        <p:grpSpPr>
          <a:xfrm>
            <a:off x="370489" y="3356477"/>
            <a:ext cx="1587297" cy="637750"/>
            <a:chOff x="3722450" y="1466854"/>
            <a:chExt cx="1863900" cy="850333"/>
          </a:xfrm>
        </p:grpSpPr>
        <p:cxnSp>
          <p:nvCxnSpPr>
            <p:cNvPr id="656" name="Google Shape;656;p36"/>
            <p:cNvCxnSpPr/>
            <p:nvPr/>
          </p:nvCxnSpPr>
          <p:spPr>
            <a:xfrm rot="10800000" flipH="1">
              <a:off x="3722450" y="1466854"/>
              <a:ext cx="1863900" cy="5088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57" name="Google Shape;657;p36"/>
            <p:cNvCxnSpPr/>
            <p:nvPr/>
          </p:nvCxnSpPr>
          <p:spPr>
            <a:xfrm rot="10800000" flipH="1">
              <a:off x="3921281" y="1676688"/>
              <a:ext cx="1603500" cy="6405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658" name="Google Shape;658;p36"/>
          <p:cNvSpPr txBox="1"/>
          <p:nvPr/>
        </p:nvSpPr>
        <p:spPr>
          <a:xfrm>
            <a:off x="4390225" y="3197788"/>
            <a:ext cx="469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ReLU becomes </a:t>
            </a:r>
            <a:r>
              <a:rPr lang="en-GB" sz="1800" b="1">
                <a:solidFill>
                  <a:schemeClr val="dk2"/>
                </a:solidFill>
              </a:rPr>
              <a:t>linear</a:t>
            </a:r>
            <a:r>
              <a:rPr lang="en-GB" sz="1800">
                <a:solidFill>
                  <a:schemeClr val="dk2"/>
                </a:solidFill>
              </a:rPr>
              <a:t> in both subproblems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659" name="Google Shape;659;p36"/>
          <p:cNvGrpSpPr/>
          <p:nvPr/>
        </p:nvGrpSpPr>
        <p:grpSpPr>
          <a:xfrm>
            <a:off x="3007078" y="2191741"/>
            <a:ext cx="1830714" cy="1014153"/>
            <a:chOff x="5566825" y="4201585"/>
            <a:chExt cx="2311800" cy="1707615"/>
          </a:xfrm>
        </p:grpSpPr>
        <p:cxnSp>
          <p:nvCxnSpPr>
            <p:cNvPr id="660" name="Google Shape;660;p36"/>
            <p:cNvCxnSpPr/>
            <p:nvPr/>
          </p:nvCxnSpPr>
          <p:spPr>
            <a:xfrm>
              <a:off x="5566825" y="5390900"/>
              <a:ext cx="2311800" cy="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61" name="Google Shape;661;p36"/>
            <p:cNvCxnSpPr/>
            <p:nvPr/>
          </p:nvCxnSpPr>
          <p:spPr>
            <a:xfrm rot="10800000" flipH="1">
              <a:off x="6712800" y="4628500"/>
              <a:ext cx="748500" cy="759600"/>
            </a:xfrm>
            <a:prstGeom prst="straightConnector1">
              <a:avLst/>
            </a:prstGeom>
            <a:noFill/>
            <a:ln w="19050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2" name="Google Shape;662;p36"/>
            <p:cNvCxnSpPr/>
            <p:nvPr/>
          </p:nvCxnSpPr>
          <p:spPr>
            <a:xfrm>
              <a:off x="5628250" y="5393700"/>
              <a:ext cx="1083300" cy="0"/>
            </a:xfrm>
            <a:prstGeom prst="straightConnector1">
              <a:avLst/>
            </a:prstGeom>
            <a:noFill/>
            <a:ln w="19050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3" name="Google Shape;663;p36"/>
            <p:cNvCxnSpPr/>
            <p:nvPr/>
          </p:nvCxnSpPr>
          <p:spPr>
            <a:xfrm rot="10800000" flipH="1">
              <a:off x="6706525" y="4912300"/>
              <a:ext cx="480000" cy="480000"/>
            </a:xfrm>
            <a:prstGeom prst="straightConnector1">
              <a:avLst/>
            </a:prstGeom>
            <a:noFill/>
            <a:ln w="28575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4" name="Google Shape;664;p36"/>
            <p:cNvCxnSpPr/>
            <p:nvPr/>
          </p:nvCxnSpPr>
          <p:spPr>
            <a:xfrm>
              <a:off x="6688496" y="4201585"/>
              <a:ext cx="0" cy="1153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665" name="Google Shape;665;p36"/>
            <p:cNvCxnSpPr/>
            <p:nvPr/>
          </p:nvCxnSpPr>
          <p:spPr>
            <a:xfrm>
              <a:off x="7195700" y="4238550"/>
              <a:ext cx="0" cy="1153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666" name="Google Shape;666;p36"/>
            <p:cNvCxnSpPr/>
            <p:nvPr/>
          </p:nvCxnSpPr>
          <p:spPr>
            <a:xfrm>
              <a:off x="6706525" y="420160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</p:grpSp>
      <p:grpSp>
        <p:nvGrpSpPr>
          <p:cNvPr id="667" name="Google Shape;667;p36"/>
          <p:cNvGrpSpPr/>
          <p:nvPr/>
        </p:nvGrpSpPr>
        <p:grpSpPr>
          <a:xfrm>
            <a:off x="3007078" y="4196175"/>
            <a:ext cx="1830714" cy="1014144"/>
            <a:chOff x="5566825" y="4201600"/>
            <a:chExt cx="2311800" cy="1707600"/>
          </a:xfrm>
        </p:grpSpPr>
        <p:cxnSp>
          <p:nvCxnSpPr>
            <p:cNvPr id="668" name="Google Shape;668;p36"/>
            <p:cNvCxnSpPr/>
            <p:nvPr/>
          </p:nvCxnSpPr>
          <p:spPr>
            <a:xfrm>
              <a:off x="5566825" y="5390900"/>
              <a:ext cx="2311800" cy="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69" name="Google Shape;669;p36"/>
            <p:cNvCxnSpPr/>
            <p:nvPr/>
          </p:nvCxnSpPr>
          <p:spPr>
            <a:xfrm rot="10800000" flipH="1">
              <a:off x="6712800" y="4628500"/>
              <a:ext cx="748500" cy="759600"/>
            </a:xfrm>
            <a:prstGeom prst="straightConnector1">
              <a:avLst/>
            </a:prstGeom>
            <a:noFill/>
            <a:ln w="19050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0" name="Google Shape;670;p36"/>
            <p:cNvCxnSpPr/>
            <p:nvPr/>
          </p:nvCxnSpPr>
          <p:spPr>
            <a:xfrm>
              <a:off x="5628250" y="5393700"/>
              <a:ext cx="1083300" cy="0"/>
            </a:xfrm>
            <a:prstGeom prst="straightConnector1">
              <a:avLst/>
            </a:prstGeom>
            <a:noFill/>
            <a:ln w="19050" cap="flat" cmpd="sng">
              <a:solidFill>
                <a:srgbClr val="CCCC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1" name="Google Shape;671;p36"/>
            <p:cNvCxnSpPr/>
            <p:nvPr/>
          </p:nvCxnSpPr>
          <p:spPr>
            <a:xfrm>
              <a:off x="5718925" y="5392300"/>
              <a:ext cx="987600" cy="0"/>
            </a:xfrm>
            <a:prstGeom prst="straightConnector1">
              <a:avLst/>
            </a:prstGeom>
            <a:noFill/>
            <a:ln w="28575" cap="flat" cmpd="sng">
              <a:solidFill>
                <a:srgbClr val="98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2" name="Google Shape;672;p36"/>
            <p:cNvCxnSpPr/>
            <p:nvPr/>
          </p:nvCxnSpPr>
          <p:spPr>
            <a:xfrm>
              <a:off x="5714225" y="4229325"/>
              <a:ext cx="0" cy="1153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673" name="Google Shape;673;p36"/>
            <p:cNvCxnSpPr/>
            <p:nvPr/>
          </p:nvCxnSpPr>
          <p:spPr>
            <a:xfrm>
              <a:off x="6714579" y="4238550"/>
              <a:ext cx="0" cy="1153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674" name="Google Shape;674;p36"/>
            <p:cNvCxnSpPr/>
            <p:nvPr/>
          </p:nvCxnSpPr>
          <p:spPr>
            <a:xfrm>
              <a:off x="6706525" y="4201600"/>
              <a:ext cx="0" cy="1707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</p:grpSp>
      <p:sp>
        <p:nvSpPr>
          <p:cNvPr id="675" name="Google Shape;675;p36"/>
          <p:cNvSpPr/>
          <p:nvPr/>
        </p:nvSpPr>
        <p:spPr>
          <a:xfrm rot="1407014">
            <a:off x="1955528" y="4184198"/>
            <a:ext cx="1049372" cy="31427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36"/>
          <p:cNvSpPr/>
          <p:nvPr/>
        </p:nvSpPr>
        <p:spPr>
          <a:xfrm rot="-1674347">
            <a:off x="1955568" y="2746397"/>
            <a:ext cx="1049316" cy="3142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36"/>
          <p:cNvSpPr txBox="1"/>
          <p:nvPr/>
        </p:nvSpPr>
        <p:spPr>
          <a:xfrm>
            <a:off x="4500450" y="4330388"/>
            <a:ext cx="4693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Works best when the number of unstable neurons is not very large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Branch and bound on ReLU</a:t>
            </a:r>
          </a:p>
        </p:txBody>
      </p:sp>
      <p:sp>
        <p:nvSpPr>
          <p:cNvPr id="683" name="Google Shape;683;p37"/>
          <p:cNvSpPr txBox="1">
            <a:spLocks noGrp="1"/>
          </p:cNvSpPr>
          <p:nvPr>
            <p:ph type="body" idx="1"/>
          </p:nvPr>
        </p:nvSpPr>
        <p:spPr>
          <a:xfrm>
            <a:off x="311700" y="1311400"/>
            <a:ext cx="8520600" cy="3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Implicitly split input domain S by considering a ReLU neuron in two cases: active and inactive.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 = {x</a:t>
            </a:r>
            <a:r>
              <a:rPr lang="en-GB" baseline="-25000"/>
              <a:t>1</a:t>
            </a:r>
            <a:r>
              <a:rPr lang="en-GB"/>
              <a:t> ∈ [-1, 1], x</a:t>
            </a:r>
            <a:r>
              <a:rPr lang="en-GB" baseline="-25000"/>
              <a:t>2</a:t>
            </a:r>
            <a:r>
              <a:rPr lang="en-GB"/>
              <a:t> ∈ [-1, 1]}    =&gt;  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 baseline="-25000"/>
              <a:t>1</a:t>
            </a:r>
            <a:r>
              <a:rPr lang="en-GB"/>
              <a:t> = {x</a:t>
            </a:r>
            <a:r>
              <a:rPr lang="en-GB" baseline="-25000"/>
              <a:t>1</a:t>
            </a:r>
            <a:r>
              <a:rPr lang="en-GB"/>
              <a:t> ∈ [-1, 1], x</a:t>
            </a:r>
            <a:r>
              <a:rPr lang="en-GB" baseline="-25000"/>
              <a:t>2</a:t>
            </a:r>
            <a:r>
              <a:rPr lang="en-GB"/>
              <a:t> ∈ [-1, 1], </a:t>
            </a:r>
            <a:r>
              <a:rPr lang="en-GB">
                <a:solidFill>
                  <a:srgbClr val="FF0000"/>
                </a:solidFill>
              </a:rPr>
              <a:t>z</a:t>
            </a:r>
            <a:r>
              <a:rPr lang="en-GB" baseline="30000">
                <a:solidFill>
                  <a:srgbClr val="FF0000"/>
                </a:solidFill>
              </a:rPr>
              <a:t>(i)</a:t>
            </a:r>
            <a:r>
              <a:rPr lang="en-GB" baseline="-25000">
                <a:solidFill>
                  <a:srgbClr val="FF0000"/>
                </a:solidFill>
              </a:rPr>
              <a:t>j</a:t>
            </a:r>
            <a:r>
              <a:rPr lang="en-GB">
                <a:solidFill>
                  <a:srgbClr val="FF0000"/>
                </a:solidFill>
              </a:rPr>
              <a:t>(x</a:t>
            </a:r>
            <a:r>
              <a:rPr lang="en-GB" baseline="-25000">
                <a:solidFill>
                  <a:srgbClr val="FF0000"/>
                </a:solidFill>
              </a:rPr>
              <a:t>1</a:t>
            </a:r>
            <a:r>
              <a:rPr lang="en-GB">
                <a:solidFill>
                  <a:srgbClr val="FF0000"/>
                </a:solidFill>
              </a:rPr>
              <a:t>, x</a:t>
            </a:r>
            <a:r>
              <a:rPr lang="en-GB" baseline="-25000">
                <a:solidFill>
                  <a:srgbClr val="FF0000"/>
                </a:solidFill>
              </a:rPr>
              <a:t>2</a:t>
            </a:r>
            <a:r>
              <a:rPr lang="en-GB">
                <a:solidFill>
                  <a:srgbClr val="FF0000"/>
                </a:solidFill>
              </a:rPr>
              <a:t>) ≥ 0</a:t>
            </a:r>
            <a:r>
              <a:rPr lang="en-GB"/>
              <a:t>},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 baseline="-25000"/>
              <a:t>2</a:t>
            </a:r>
            <a:r>
              <a:rPr lang="en-GB"/>
              <a:t> = {x</a:t>
            </a:r>
            <a:r>
              <a:rPr lang="en-GB" baseline="-25000"/>
              <a:t>2</a:t>
            </a:r>
            <a:r>
              <a:rPr lang="en-GB"/>
              <a:t> ∈ [-1, 1], x</a:t>
            </a:r>
            <a:r>
              <a:rPr lang="en-GB" baseline="-25000"/>
              <a:t>2</a:t>
            </a:r>
            <a:r>
              <a:rPr lang="en-GB"/>
              <a:t> ∈ [-1, 1],</a:t>
            </a:r>
            <a:r>
              <a:rPr lang="en-GB">
                <a:solidFill>
                  <a:srgbClr val="FF0000"/>
                </a:solidFill>
              </a:rPr>
              <a:t> z</a:t>
            </a:r>
            <a:r>
              <a:rPr lang="en-GB" baseline="30000">
                <a:solidFill>
                  <a:srgbClr val="FF0000"/>
                </a:solidFill>
              </a:rPr>
              <a:t>(i)</a:t>
            </a:r>
            <a:r>
              <a:rPr lang="en-GB" baseline="-25000">
                <a:solidFill>
                  <a:srgbClr val="FF0000"/>
                </a:solidFill>
              </a:rPr>
              <a:t>j</a:t>
            </a:r>
            <a:r>
              <a:rPr lang="en-GB">
                <a:solidFill>
                  <a:srgbClr val="FF0000"/>
                </a:solidFill>
              </a:rPr>
              <a:t>(x</a:t>
            </a:r>
            <a:r>
              <a:rPr lang="en-GB" baseline="-25000">
                <a:solidFill>
                  <a:srgbClr val="FF0000"/>
                </a:solidFill>
              </a:rPr>
              <a:t>1</a:t>
            </a:r>
            <a:r>
              <a:rPr lang="en-GB">
                <a:solidFill>
                  <a:srgbClr val="FF0000"/>
                </a:solidFill>
              </a:rPr>
              <a:t>, x</a:t>
            </a:r>
            <a:r>
              <a:rPr lang="en-GB" baseline="-25000">
                <a:solidFill>
                  <a:srgbClr val="FF0000"/>
                </a:solidFill>
              </a:rPr>
              <a:t>2</a:t>
            </a:r>
            <a:r>
              <a:rPr lang="en-GB">
                <a:solidFill>
                  <a:srgbClr val="FF0000"/>
                </a:solidFill>
              </a:rPr>
              <a:t>) ≤ 0</a:t>
            </a:r>
            <a:r>
              <a:rPr lang="en-GB"/>
              <a:t>}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E.g., for our example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Splitting z</a:t>
            </a:r>
            <a:r>
              <a:rPr lang="en-GB" baseline="-25000"/>
              <a:t>1</a:t>
            </a:r>
            <a:r>
              <a:rPr lang="en-GB"/>
              <a:t> essentially consider two cases x</a:t>
            </a:r>
            <a:r>
              <a:rPr lang="en-GB" baseline="-25000"/>
              <a:t>1 </a:t>
            </a:r>
            <a:r>
              <a:rPr lang="en-GB"/>
              <a:t>- x</a:t>
            </a:r>
            <a:r>
              <a:rPr lang="en-GB" baseline="-25000"/>
              <a:t>2</a:t>
            </a:r>
            <a:r>
              <a:rPr lang="en-GB"/>
              <a:t> ≥ 0 and x</a:t>
            </a:r>
            <a:r>
              <a:rPr lang="en-GB" baseline="-25000"/>
              <a:t>1 </a:t>
            </a:r>
            <a:r>
              <a:rPr lang="en-GB"/>
              <a:t>- x</a:t>
            </a:r>
            <a:r>
              <a:rPr lang="en-GB" baseline="-25000"/>
              <a:t>2</a:t>
            </a:r>
            <a:r>
              <a:rPr lang="en-GB"/>
              <a:t> ≤ 0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lang="en-GB"/>
          </a:p>
        </p:txBody>
      </p:sp>
      <p:pic>
        <p:nvPicPr>
          <p:cNvPr id="684" name="Google Shape;684;p37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709676" y="3621388"/>
            <a:ext cx="1475074" cy="24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37" descr="x_1 \in [-1, 2], \ x_2 \in [-2,1]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741461" y="3591025"/>
            <a:ext cx="2442660" cy="302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7"/>
          <p:cNvSpPr txBox="1"/>
          <p:nvPr/>
        </p:nvSpPr>
        <p:spPr>
          <a:xfrm>
            <a:off x="5129700" y="2728700"/>
            <a:ext cx="390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z is a function of input x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8"/>
          <p:cNvSpPr/>
          <p:nvPr/>
        </p:nvSpPr>
        <p:spPr>
          <a:xfrm>
            <a:off x="2645550" y="3186288"/>
            <a:ext cx="3367200" cy="4965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go over our example again with split</a:t>
            </a:r>
          </a:p>
        </p:txBody>
      </p:sp>
      <p:sp>
        <p:nvSpPr>
          <p:cNvPr id="693" name="Google Shape;693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8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Prerequisite: all pre-activation bounds</a:t>
            </a:r>
          </a:p>
        </p:txBody>
      </p:sp>
      <p:pic>
        <p:nvPicPr>
          <p:cNvPr id="694" name="Google Shape;694;p38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86401" y="1981238"/>
            <a:ext cx="1475074" cy="24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38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069750" y="1970525"/>
            <a:ext cx="1546974" cy="26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38" descr="x_1 \in [-1, 2], \ x_2 \in [-2,1]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198686" y="1950875"/>
            <a:ext cx="2442660" cy="30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38" descr="z_2 \in [ -3, 6 ]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571997" y="3283400"/>
            <a:ext cx="1233734" cy="302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38"/>
          <p:cNvSpPr txBox="1"/>
          <p:nvPr/>
        </p:nvSpPr>
        <p:spPr>
          <a:xfrm>
            <a:off x="1051375" y="3792550"/>
            <a:ext cx="6448200" cy="7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Pre-activation bounds for z</a:t>
            </a:r>
            <a:r>
              <a:rPr lang="en-GB" sz="1800" baseline="-250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 updated!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99" name="Google Shape;699;p38" descr="z_1 \in [-2, 0]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2803850" y="3283426"/>
            <a:ext cx="1233774" cy="302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38"/>
          <p:cNvSpPr/>
          <p:nvPr/>
        </p:nvSpPr>
        <p:spPr>
          <a:xfrm>
            <a:off x="3702225" y="3186296"/>
            <a:ext cx="510600" cy="4701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1" name="Google Shape;701;p38" descr="z_1 \leq 0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3977335" y="2573052"/>
            <a:ext cx="703632" cy="26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38"/>
          <p:cNvSpPr txBox="1"/>
          <p:nvPr/>
        </p:nvSpPr>
        <p:spPr>
          <a:xfrm>
            <a:off x="1921100" y="2484675"/>
            <a:ext cx="1995900" cy="4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Split constraint: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/>
              <a:t>CROWN with neuron split</a:t>
            </a:r>
          </a:p>
        </p:txBody>
      </p:sp>
      <p:sp>
        <p:nvSpPr>
          <p:cNvPr id="708" name="Google Shape;708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look at the </a:t>
            </a:r>
            <a:r>
              <a:rPr lang="en-GB" b="1"/>
              <a:t>lower bound</a:t>
            </a:r>
            <a:r>
              <a:rPr lang="en-GB"/>
              <a:t> only (since only lower bound is needed)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1: bound </a:t>
            </a:r>
            <a:r>
              <a:rPr lang="en-GB" b="1"/>
              <a:t>y</a:t>
            </a:r>
            <a:r>
              <a:rPr lang="en-GB"/>
              <a:t> using linear functions of </a:t>
            </a:r>
            <a:r>
              <a:rPr lang="en-GB" b="1"/>
              <a:t>y</a:t>
            </a:r>
            <a:r>
              <a:rPr lang="en-GB"/>
              <a:t> (base case): y &lt;= y, y &gt;= y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2: bound </a:t>
            </a:r>
            <a:r>
              <a:rPr lang="en-GB" b="1"/>
              <a:t>y</a:t>
            </a:r>
            <a:r>
              <a:rPr lang="en-GB"/>
              <a:t> using linear functions of </a:t>
            </a:r>
            <a:r>
              <a:rPr lang="en-GB" b="1"/>
              <a:t>ẑ</a:t>
            </a:r>
            <a:r>
              <a:rPr lang="en-GB"/>
              <a:t>: simply plugin the definition of the second linear layer:  y = ẑ</a:t>
            </a:r>
            <a:r>
              <a:rPr lang="en-GB" baseline="-25000"/>
              <a:t>1</a:t>
            </a:r>
            <a:r>
              <a:rPr lang="en-GB"/>
              <a:t> - ẑ</a:t>
            </a:r>
            <a:r>
              <a:rPr lang="en-GB" baseline="-25000"/>
              <a:t>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baseline="-25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  y &gt;= ẑ</a:t>
            </a:r>
            <a:r>
              <a:rPr lang="en-GB" baseline="-25000"/>
              <a:t>1</a:t>
            </a:r>
            <a:r>
              <a:rPr lang="en-GB"/>
              <a:t> - ẑ</a:t>
            </a:r>
            <a:r>
              <a:rPr lang="en-GB" baseline="-25000"/>
              <a:t>2</a:t>
            </a:r>
          </a:p>
        </p:txBody>
      </p:sp>
      <p:grpSp>
        <p:nvGrpSpPr>
          <p:cNvPr id="709" name="Google Shape;709;p39"/>
          <p:cNvGrpSpPr/>
          <p:nvPr/>
        </p:nvGrpSpPr>
        <p:grpSpPr>
          <a:xfrm>
            <a:off x="311700" y="2854650"/>
            <a:ext cx="3514125" cy="1936788"/>
            <a:chOff x="1385600" y="949375"/>
            <a:chExt cx="3514125" cy="1936788"/>
          </a:xfrm>
        </p:grpSpPr>
        <p:grpSp>
          <p:nvGrpSpPr>
            <p:cNvPr id="710" name="Google Shape;710;p39"/>
            <p:cNvGrpSpPr/>
            <p:nvPr/>
          </p:nvGrpSpPr>
          <p:grpSpPr>
            <a:xfrm>
              <a:off x="1385600" y="1367763"/>
              <a:ext cx="1691250" cy="1518400"/>
              <a:chOff x="949900" y="2149850"/>
              <a:chExt cx="1691250" cy="1518400"/>
            </a:xfrm>
          </p:grpSpPr>
          <p:sp>
            <p:nvSpPr>
              <p:cNvPr id="711" name="Google Shape;711;p39"/>
              <p:cNvSpPr txBox="1"/>
              <p:nvPr/>
            </p:nvSpPr>
            <p:spPr>
              <a:xfrm>
                <a:off x="949900" y="2149850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1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sp>
            <p:nvSpPr>
              <p:cNvPr id="712" name="Google Shape;712;p39"/>
              <p:cNvSpPr txBox="1"/>
              <p:nvPr/>
            </p:nvSpPr>
            <p:spPr>
              <a:xfrm>
                <a:off x="949900" y="3041525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2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grpSp>
            <p:nvGrpSpPr>
              <p:cNvPr id="713" name="Google Shape;713;p39"/>
              <p:cNvGrpSpPr/>
              <p:nvPr/>
            </p:nvGrpSpPr>
            <p:grpSpPr>
              <a:xfrm>
                <a:off x="1382025" y="2202525"/>
                <a:ext cx="1259125" cy="1465725"/>
                <a:chOff x="1266900" y="1732750"/>
                <a:chExt cx="1259125" cy="1465725"/>
              </a:xfrm>
            </p:grpSpPr>
            <p:sp>
              <p:nvSpPr>
                <p:cNvPr id="714" name="Google Shape;714;p39"/>
                <p:cNvSpPr/>
                <p:nvPr/>
              </p:nvSpPr>
              <p:spPr>
                <a:xfrm>
                  <a:off x="1266900" y="19646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5" name="Google Shape;715;p39"/>
                <p:cNvSpPr/>
                <p:nvPr/>
              </p:nvSpPr>
              <p:spPr>
                <a:xfrm>
                  <a:off x="1266900" y="2571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6" name="Google Shape;716;p39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17" name="Google Shape;717;p39"/>
                <p:cNvCxnSpPr>
                  <a:stCxn id="714" idx="6"/>
                  <a:endCxn id="716" idx="2"/>
                </p:cNvCxnSpPr>
                <p:nvPr/>
              </p:nvCxnSpPr>
              <p:spPr>
                <a:xfrm rot="10800000" flipH="1">
                  <a:off x="1498800" y="1848700"/>
                  <a:ext cx="795300" cy="231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8" name="Google Shape;718;p39"/>
                <p:cNvCxnSpPr>
                  <a:stCxn id="715" idx="6"/>
                  <a:endCxn id="716" idx="2"/>
                </p:cNvCxnSpPr>
                <p:nvPr/>
              </p:nvCxnSpPr>
              <p:spPr>
                <a:xfrm rot="10800000" flipH="1">
                  <a:off x="1498800" y="1848600"/>
                  <a:ext cx="795300" cy="83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19" name="Google Shape;719;p39"/>
                <p:cNvCxnSpPr>
                  <a:stCxn id="715" idx="6"/>
                  <a:endCxn id="720" idx="2"/>
                </p:cNvCxnSpPr>
                <p:nvPr/>
              </p:nvCxnSpPr>
              <p:spPr>
                <a:xfrm>
                  <a:off x="1498800" y="2687700"/>
                  <a:ext cx="795300" cy="39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21" name="Google Shape;721;p39"/>
                <p:cNvCxnSpPr>
                  <a:stCxn id="714" idx="6"/>
                  <a:endCxn id="720" idx="2"/>
                </p:cNvCxnSpPr>
                <p:nvPr/>
              </p:nvCxnSpPr>
              <p:spPr>
                <a:xfrm>
                  <a:off x="1498800" y="2080600"/>
                  <a:ext cx="795300" cy="1002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720" name="Google Shape;720;p39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22" name="Google Shape;722;p39"/>
            <p:cNvGrpSpPr/>
            <p:nvPr/>
          </p:nvGrpSpPr>
          <p:grpSpPr>
            <a:xfrm>
              <a:off x="2492650" y="949375"/>
              <a:ext cx="415500" cy="1762800"/>
              <a:chOff x="2307950" y="1146975"/>
              <a:chExt cx="415500" cy="1762800"/>
            </a:xfrm>
          </p:grpSpPr>
          <p:sp>
            <p:nvSpPr>
              <p:cNvPr id="723" name="Google Shape;723;p39"/>
              <p:cNvSpPr txBox="1"/>
              <p:nvPr/>
            </p:nvSpPr>
            <p:spPr>
              <a:xfrm>
                <a:off x="2307950" y="11469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1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724" name="Google Shape;724;p39"/>
              <p:cNvSpPr txBox="1"/>
              <p:nvPr/>
            </p:nvSpPr>
            <p:spPr>
              <a:xfrm>
                <a:off x="2307950" y="23826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2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725" name="Google Shape;725;p39"/>
            <p:cNvGrpSpPr/>
            <p:nvPr/>
          </p:nvGrpSpPr>
          <p:grpSpPr>
            <a:xfrm>
              <a:off x="3076750" y="949375"/>
              <a:ext cx="1822975" cy="1936788"/>
              <a:chOff x="3076750" y="949375"/>
              <a:chExt cx="1822975" cy="1936788"/>
            </a:xfrm>
          </p:grpSpPr>
          <p:sp>
            <p:nvSpPr>
              <p:cNvPr id="726" name="Google Shape;726;p39"/>
              <p:cNvSpPr/>
              <p:nvPr/>
            </p:nvSpPr>
            <p:spPr>
              <a:xfrm>
                <a:off x="4340100" y="2011013"/>
                <a:ext cx="231900" cy="231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27" name="Google Shape;727;p39"/>
              <p:cNvGrpSpPr/>
              <p:nvPr/>
            </p:nvGrpSpPr>
            <p:grpSpPr>
              <a:xfrm>
                <a:off x="3374650" y="1420438"/>
                <a:ext cx="231900" cy="1465725"/>
                <a:chOff x="2294125" y="1732750"/>
                <a:chExt cx="231900" cy="1465725"/>
              </a:xfrm>
            </p:grpSpPr>
            <p:sp>
              <p:nvSpPr>
                <p:cNvPr id="728" name="Google Shape;728;p39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" name="Google Shape;729;p39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730" name="Google Shape;730;p39"/>
              <p:cNvCxnSpPr>
                <a:stCxn id="728" idx="6"/>
                <a:endCxn id="726" idx="2"/>
              </p:cNvCxnSpPr>
              <p:nvPr/>
            </p:nvCxnSpPr>
            <p:spPr>
              <a:xfrm>
                <a:off x="3606550" y="1536388"/>
                <a:ext cx="733500" cy="59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1" name="Google Shape;731;p39"/>
              <p:cNvCxnSpPr>
                <a:stCxn id="729" idx="6"/>
                <a:endCxn id="726" idx="2"/>
              </p:cNvCxnSpPr>
              <p:nvPr/>
            </p:nvCxnSpPr>
            <p:spPr>
              <a:xfrm rot="10800000" flipH="1">
                <a:off x="3606550" y="2127013"/>
                <a:ext cx="733500" cy="64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2" name="Google Shape;732;p39"/>
              <p:cNvCxnSpPr>
                <a:stCxn id="728" idx="2"/>
                <a:endCxn id="716" idx="6"/>
              </p:cNvCxnSpPr>
              <p:nvPr/>
            </p:nvCxnSpPr>
            <p:spPr>
              <a:xfrm rot="10800000">
                <a:off x="3076750" y="1536388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3" name="Google Shape;733;p39"/>
              <p:cNvCxnSpPr>
                <a:stCxn id="729" idx="2"/>
                <a:endCxn id="720" idx="6"/>
              </p:cNvCxnSpPr>
              <p:nvPr/>
            </p:nvCxnSpPr>
            <p:spPr>
              <a:xfrm rot="10800000">
                <a:off x="3076750" y="2770213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4" name="Google Shape;734;p39"/>
              <p:cNvSpPr txBox="1"/>
              <p:nvPr/>
            </p:nvSpPr>
            <p:spPr>
              <a:xfrm>
                <a:off x="3163900" y="949375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1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735" name="Google Shape;735;p39"/>
              <p:cNvSpPr txBox="1"/>
              <p:nvPr/>
            </p:nvSpPr>
            <p:spPr>
              <a:xfrm>
                <a:off x="3163900" y="2185100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2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736" name="Google Shape;736;p39"/>
              <p:cNvSpPr txBox="1"/>
              <p:nvPr/>
            </p:nvSpPr>
            <p:spPr>
              <a:xfrm>
                <a:off x="4407725" y="1657225"/>
                <a:ext cx="4920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y</a:t>
                </a:r>
                <a:endParaRPr sz="1800"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737" name="Google Shape;737;p39"/>
          <p:cNvSpPr txBox="1"/>
          <p:nvPr/>
        </p:nvSpPr>
        <p:spPr>
          <a:xfrm>
            <a:off x="4161475" y="3855625"/>
            <a:ext cx="40380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Linear layer: simple substitution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CROWN with neuron split (changed with the split)</a:t>
            </a:r>
          </a:p>
        </p:txBody>
      </p:sp>
      <p:sp>
        <p:nvSpPr>
          <p:cNvPr id="743" name="Google Shape;743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5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3: bound </a:t>
            </a:r>
            <a:r>
              <a:rPr lang="en-GB" b="1"/>
              <a:t>y</a:t>
            </a:r>
            <a:r>
              <a:rPr lang="en-GB"/>
              <a:t> using linear functions of </a:t>
            </a:r>
            <a:r>
              <a:rPr lang="en-GB" b="1"/>
              <a:t>z</a:t>
            </a:r>
            <a:r>
              <a:rPr lang="en-GB"/>
              <a:t>: need linear bounds for ReLU functions, which allows us to replace ẑ with z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       y &gt;= </a:t>
            </a:r>
            <a:r>
              <a:rPr lang="en-GB" b="1"/>
              <a:t>1</a:t>
            </a:r>
            <a:r>
              <a:rPr lang="en-GB"/>
              <a:t>· ẑ</a:t>
            </a:r>
            <a:r>
              <a:rPr lang="en-GB" baseline="-25000"/>
              <a:t>1</a:t>
            </a:r>
            <a:r>
              <a:rPr lang="en-GB"/>
              <a:t> + (</a:t>
            </a:r>
            <a:r>
              <a:rPr lang="en-GB" b="1"/>
              <a:t>-1</a:t>
            </a:r>
            <a:r>
              <a:rPr lang="en-GB"/>
              <a:t>) · ẑ</a:t>
            </a:r>
            <a:r>
              <a:rPr lang="en-GB" baseline="-25000"/>
              <a:t>2</a:t>
            </a:r>
            <a:endParaRPr baseline="30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   </a:t>
            </a:r>
          </a:p>
        </p:txBody>
      </p:sp>
      <p:grpSp>
        <p:nvGrpSpPr>
          <p:cNvPr id="744" name="Google Shape;744;p40"/>
          <p:cNvGrpSpPr/>
          <p:nvPr/>
        </p:nvGrpSpPr>
        <p:grpSpPr>
          <a:xfrm>
            <a:off x="311700" y="2854650"/>
            <a:ext cx="3514125" cy="1936788"/>
            <a:chOff x="1385600" y="949375"/>
            <a:chExt cx="3514125" cy="1936788"/>
          </a:xfrm>
        </p:grpSpPr>
        <p:grpSp>
          <p:nvGrpSpPr>
            <p:cNvPr id="745" name="Google Shape;745;p40"/>
            <p:cNvGrpSpPr/>
            <p:nvPr/>
          </p:nvGrpSpPr>
          <p:grpSpPr>
            <a:xfrm>
              <a:off x="1385600" y="1367763"/>
              <a:ext cx="1691250" cy="1518400"/>
              <a:chOff x="949900" y="2149850"/>
              <a:chExt cx="1691250" cy="1518400"/>
            </a:xfrm>
          </p:grpSpPr>
          <p:sp>
            <p:nvSpPr>
              <p:cNvPr id="746" name="Google Shape;746;p40"/>
              <p:cNvSpPr txBox="1"/>
              <p:nvPr/>
            </p:nvSpPr>
            <p:spPr>
              <a:xfrm>
                <a:off x="949900" y="2149850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1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sp>
            <p:nvSpPr>
              <p:cNvPr id="747" name="Google Shape;747;p40"/>
              <p:cNvSpPr txBox="1"/>
              <p:nvPr/>
            </p:nvSpPr>
            <p:spPr>
              <a:xfrm>
                <a:off x="949900" y="3041525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2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grpSp>
            <p:nvGrpSpPr>
              <p:cNvPr id="748" name="Google Shape;748;p40"/>
              <p:cNvGrpSpPr/>
              <p:nvPr/>
            </p:nvGrpSpPr>
            <p:grpSpPr>
              <a:xfrm>
                <a:off x="1382025" y="2202525"/>
                <a:ext cx="1259125" cy="1465725"/>
                <a:chOff x="1266900" y="1732750"/>
                <a:chExt cx="1259125" cy="1465725"/>
              </a:xfrm>
            </p:grpSpPr>
            <p:sp>
              <p:nvSpPr>
                <p:cNvPr id="749" name="Google Shape;749;p40"/>
                <p:cNvSpPr/>
                <p:nvPr/>
              </p:nvSpPr>
              <p:spPr>
                <a:xfrm>
                  <a:off x="1266900" y="19646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750;p40"/>
                <p:cNvSpPr/>
                <p:nvPr/>
              </p:nvSpPr>
              <p:spPr>
                <a:xfrm>
                  <a:off x="1266900" y="2571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" name="Google Shape;751;p40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52" name="Google Shape;752;p40"/>
                <p:cNvCxnSpPr>
                  <a:stCxn id="749" idx="6"/>
                  <a:endCxn id="751" idx="2"/>
                </p:cNvCxnSpPr>
                <p:nvPr/>
              </p:nvCxnSpPr>
              <p:spPr>
                <a:xfrm rot="10800000" flipH="1">
                  <a:off x="1498800" y="1848700"/>
                  <a:ext cx="795300" cy="231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3" name="Google Shape;753;p40"/>
                <p:cNvCxnSpPr>
                  <a:stCxn id="750" idx="6"/>
                  <a:endCxn id="751" idx="2"/>
                </p:cNvCxnSpPr>
                <p:nvPr/>
              </p:nvCxnSpPr>
              <p:spPr>
                <a:xfrm rot="10800000" flipH="1">
                  <a:off x="1498800" y="1848600"/>
                  <a:ext cx="795300" cy="83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4" name="Google Shape;754;p40"/>
                <p:cNvCxnSpPr>
                  <a:stCxn id="750" idx="6"/>
                  <a:endCxn id="755" idx="2"/>
                </p:cNvCxnSpPr>
                <p:nvPr/>
              </p:nvCxnSpPr>
              <p:spPr>
                <a:xfrm>
                  <a:off x="1498800" y="2687700"/>
                  <a:ext cx="795300" cy="39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6" name="Google Shape;756;p40"/>
                <p:cNvCxnSpPr>
                  <a:stCxn id="749" idx="6"/>
                  <a:endCxn id="755" idx="2"/>
                </p:cNvCxnSpPr>
                <p:nvPr/>
              </p:nvCxnSpPr>
              <p:spPr>
                <a:xfrm>
                  <a:off x="1498800" y="2080600"/>
                  <a:ext cx="795300" cy="1002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755" name="Google Shape;755;p40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57" name="Google Shape;757;p40"/>
            <p:cNvGrpSpPr/>
            <p:nvPr/>
          </p:nvGrpSpPr>
          <p:grpSpPr>
            <a:xfrm>
              <a:off x="2492650" y="949375"/>
              <a:ext cx="415500" cy="1762800"/>
              <a:chOff x="2307950" y="1146975"/>
              <a:chExt cx="415500" cy="1762800"/>
            </a:xfrm>
          </p:grpSpPr>
          <p:sp>
            <p:nvSpPr>
              <p:cNvPr id="758" name="Google Shape;758;p40"/>
              <p:cNvSpPr txBox="1"/>
              <p:nvPr/>
            </p:nvSpPr>
            <p:spPr>
              <a:xfrm>
                <a:off x="2307950" y="11469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1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759" name="Google Shape;759;p40"/>
              <p:cNvSpPr txBox="1"/>
              <p:nvPr/>
            </p:nvSpPr>
            <p:spPr>
              <a:xfrm>
                <a:off x="2307950" y="23826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2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760" name="Google Shape;760;p40"/>
            <p:cNvGrpSpPr/>
            <p:nvPr/>
          </p:nvGrpSpPr>
          <p:grpSpPr>
            <a:xfrm>
              <a:off x="3076750" y="949375"/>
              <a:ext cx="1822975" cy="1936788"/>
              <a:chOff x="3076750" y="949375"/>
              <a:chExt cx="1822975" cy="1936788"/>
            </a:xfrm>
          </p:grpSpPr>
          <p:sp>
            <p:nvSpPr>
              <p:cNvPr id="761" name="Google Shape;761;p40"/>
              <p:cNvSpPr/>
              <p:nvPr/>
            </p:nvSpPr>
            <p:spPr>
              <a:xfrm>
                <a:off x="4340100" y="2011013"/>
                <a:ext cx="231900" cy="231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62" name="Google Shape;762;p40"/>
              <p:cNvGrpSpPr/>
              <p:nvPr/>
            </p:nvGrpSpPr>
            <p:grpSpPr>
              <a:xfrm>
                <a:off x="3374650" y="1420438"/>
                <a:ext cx="231900" cy="1465725"/>
                <a:chOff x="2294125" y="1732750"/>
                <a:chExt cx="231900" cy="1465725"/>
              </a:xfrm>
            </p:grpSpPr>
            <p:sp>
              <p:nvSpPr>
                <p:cNvPr id="763" name="Google Shape;763;p40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4" name="Google Shape;764;p40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765" name="Google Shape;765;p40"/>
              <p:cNvCxnSpPr>
                <a:stCxn id="763" idx="6"/>
                <a:endCxn id="761" idx="2"/>
              </p:cNvCxnSpPr>
              <p:nvPr/>
            </p:nvCxnSpPr>
            <p:spPr>
              <a:xfrm>
                <a:off x="3606550" y="1536388"/>
                <a:ext cx="733500" cy="59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6" name="Google Shape;766;p40"/>
              <p:cNvCxnSpPr>
                <a:stCxn id="764" idx="6"/>
                <a:endCxn id="761" idx="2"/>
              </p:cNvCxnSpPr>
              <p:nvPr/>
            </p:nvCxnSpPr>
            <p:spPr>
              <a:xfrm rot="10800000" flipH="1">
                <a:off x="3606550" y="2127013"/>
                <a:ext cx="733500" cy="64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7" name="Google Shape;767;p40"/>
              <p:cNvCxnSpPr>
                <a:stCxn id="763" idx="2"/>
                <a:endCxn id="751" idx="6"/>
              </p:cNvCxnSpPr>
              <p:nvPr/>
            </p:nvCxnSpPr>
            <p:spPr>
              <a:xfrm rot="10800000">
                <a:off x="3076750" y="1536388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8" name="Google Shape;768;p40"/>
              <p:cNvCxnSpPr>
                <a:stCxn id="764" idx="2"/>
                <a:endCxn id="755" idx="6"/>
              </p:cNvCxnSpPr>
              <p:nvPr/>
            </p:nvCxnSpPr>
            <p:spPr>
              <a:xfrm rot="10800000">
                <a:off x="3076750" y="2770213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9" name="Google Shape;769;p40"/>
              <p:cNvSpPr txBox="1"/>
              <p:nvPr/>
            </p:nvSpPr>
            <p:spPr>
              <a:xfrm>
                <a:off x="3163900" y="949375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1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770" name="Google Shape;770;p40"/>
              <p:cNvSpPr txBox="1"/>
              <p:nvPr/>
            </p:nvSpPr>
            <p:spPr>
              <a:xfrm>
                <a:off x="3163900" y="2185100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2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771" name="Google Shape;771;p40"/>
              <p:cNvSpPr txBox="1"/>
              <p:nvPr/>
            </p:nvSpPr>
            <p:spPr>
              <a:xfrm>
                <a:off x="4407725" y="1657225"/>
                <a:ext cx="4920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y</a:t>
                </a:r>
                <a:endParaRPr sz="1800"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772" name="Google Shape;772;p40"/>
          <p:cNvSpPr txBox="1"/>
          <p:nvPr/>
        </p:nvSpPr>
        <p:spPr>
          <a:xfrm>
            <a:off x="405125" y="2004275"/>
            <a:ext cx="4038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ReLU layer: use linear bound</a:t>
            </a:r>
            <a:endParaRPr sz="180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Check </a:t>
            </a:r>
            <a:r>
              <a:rPr lang="en-GB" sz="1800" b="1">
                <a:solidFill>
                  <a:srgbClr val="0000FF"/>
                </a:solidFill>
              </a:rPr>
              <a:t>sign</a:t>
            </a:r>
            <a:r>
              <a:rPr lang="en-GB" sz="1800">
                <a:solidFill>
                  <a:srgbClr val="0000FF"/>
                </a:solidFill>
              </a:rPr>
              <a:t> of coefficients and take the lower or upper bound</a:t>
            </a:r>
            <a:endParaRPr sz="1800">
              <a:solidFill>
                <a:srgbClr val="0000FF"/>
              </a:solidFill>
            </a:endParaRPr>
          </a:p>
        </p:txBody>
      </p:sp>
      <p:pic>
        <p:nvPicPr>
          <p:cNvPr id="773" name="Google Shape;773;p40" descr="z_2 \leq \text{ReLU}(z_2) \leq \frac{2}{3} z_2 + 2&#10;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443124" y="3044625"/>
            <a:ext cx="2459850" cy="32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40"/>
          <p:cNvSpPr/>
          <p:nvPr/>
        </p:nvSpPr>
        <p:spPr>
          <a:xfrm>
            <a:off x="5481000" y="3502250"/>
            <a:ext cx="255000" cy="467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5" name="Google Shape;775;p40"/>
          <p:cNvGrpSpPr/>
          <p:nvPr/>
        </p:nvGrpSpPr>
        <p:grpSpPr>
          <a:xfrm>
            <a:off x="6916750" y="3044613"/>
            <a:ext cx="3941375" cy="1918100"/>
            <a:chOff x="6978575" y="1746650"/>
            <a:chExt cx="3941375" cy="1918100"/>
          </a:xfrm>
        </p:grpSpPr>
        <p:grpSp>
          <p:nvGrpSpPr>
            <p:cNvPr id="776" name="Google Shape;776;p40"/>
            <p:cNvGrpSpPr/>
            <p:nvPr/>
          </p:nvGrpSpPr>
          <p:grpSpPr>
            <a:xfrm>
              <a:off x="6978575" y="1907350"/>
              <a:ext cx="2381074" cy="1757400"/>
              <a:chOff x="6451225" y="3181825"/>
              <a:chExt cx="2381074" cy="1757400"/>
            </a:xfrm>
          </p:grpSpPr>
          <p:grpSp>
            <p:nvGrpSpPr>
              <p:cNvPr id="777" name="Google Shape;777;p40"/>
              <p:cNvGrpSpPr/>
              <p:nvPr/>
            </p:nvGrpSpPr>
            <p:grpSpPr>
              <a:xfrm>
                <a:off x="6451225" y="3376222"/>
                <a:ext cx="2381074" cy="1280700"/>
                <a:chOff x="1991775" y="2399647"/>
                <a:chExt cx="2381074" cy="1280700"/>
              </a:xfrm>
            </p:grpSpPr>
            <p:grpSp>
              <p:nvGrpSpPr>
                <p:cNvPr id="778" name="Google Shape;778;p40"/>
                <p:cNvGrpSpPr/>
                <p:nvPr/>
              </p:nvGrpSpPr>
              <p:grpSpPr>
                <a:xfrm>
                  <a:off x="1991775" y="2399647"/>
                  <a:ext cx="2381074" cy="1280700"/>
                  <a:chOff x="3670606" y="691950"/>
                  <a:chExt cx="2796000" cy="1707600"/>
                </a:xfrm>
              </p:grpSpPr>
              <p:cxnSp>
                <p:nvCxnSpPr>
                  <p:cNvPr id="779" name="Google Shape;779;p40"/>
                  <p:cNvCxnSpPr/>
                  <p:nvPr/>
                </p:nvCxnSpPr>
                <p:spPr>
                  <a:xfrm>
                    <a:off x="3670606" y="1882654"/>
                    <a:ext cx="2796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780" name="Google Shape;780;p40"/>
                  <p:cNvCxnSpPr/>
                  <p:nvPr/>
                </p:nvCxnSpPr>
                <p:spPr>
                  <a:xfrm>
                    <a:off x="5060625" y="691950"/>
                    <a:ext cx="0" cy="17076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none" w="med" len="med"/>
                  </a:ln>
                </p:spPr>
              </p:cxnSp>
              <p:cxnSp>
                <p:nvCxnSpPr>
                  <p:cNvPr id="781" name="Google Shape;781;p40"/>
                  <p:cNvCxnSpPr/>
                  <p:nvPr/>
                </p:nvCxnSpPr>
                <p:spPr>
                  <a:xfrm>
                    <a:off x="3934521" y="1882638"/>
                    <a:ext cx="1126200" cy="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98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782" name="Google Shape;782;p40"/>
                  <p:cNvCxnSpPr/>
                  <p:nvPr/>
                </p:nvCxnSpPr>
                <p:spPr>
                  <a:xfrm rot="10800000" flipH="1">
                    <a:off x="5060625" y="775350"/>
                    <a:ext cx="975000" cy="11073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98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783" name="Google Shape;783;p40"/>
                <p:cNvCxnSpPr/>
                <p:nvPr/>
              </p:nvCxnSpPr>
              <p:spPr>
                <a:xfrm rot="10800000">
                  <a:off x="2694000" y="2551475"/>
                  <a:ext cx="0" cy="1016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4" name="Google Shape;784;p40"/>
                <p:cNvCxnSpPr/>
                <p:nvPr/>
              </p:nvCxnSpPr>
              <p:spPr>
                <a:xfrm rot="10800000">
                  <a:off x="3977325" y="2456025"/>
                  <a:ext cx="0" cy="112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785" name="Google Shape;785;p40"/>
              <p:cNvCxnSpPr/>
              <p:nvPr/>
            </p:nvCxnSpPr>
            <p:spPr>
              <a:xfrm rot="10800000" flipH="1">
                <a:off x="6757875" y="3248113"/>
                <a:ext cx="1994700" cy="126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6" name="Google Shape;786;p40"/>
              <p:cNvCxnSpPr/>
              <p:nvPr/>
            </p:nvCxnSpPr>
            <p:spPr>
              <a:xfrm rot="10800000" flipH="1">
                <a:off x="6951825" y="3181825"/>
                <a:ext cx="1780800" cy="1757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6AA84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87" name="Google Shape;787;p40"/>
            <p:cNvSpPr txBox="1"/>
            <p:nvPr/>
          </p:nvSpPr>
          <p:spPr>
            <a:xfrm>
              <a:off x="7919950" y="1746650"/>
              <a:ext cx="30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ẑ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baseline="-25000"/>
            </a:p>
          </p:txBody>
        </p:sp>
        <p:sp>
          <p:nvSpPr>
            <p:cNvPr id="788" name="Google Shape;788;p40"/>
            <p:cNvSpPr txBox="1"/>
            <p:nvPr/>
          </p:nvSpPr>
          <p:spPr>
            <a:xfrm>
              <a:off x="8746175" y="3132150"/>
              <a:ext cx="435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z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baseline="-25000"/>
            </a:p>
          </p:txBody>
        </p:sp>
      </p:grpSp>
      <p:pic>
        <p:nvPicPr>
          <p:cNvPr id="789" name="Google Shape;789;p40" descr="0 \leq \text{ReLU}(z_1) \leq 0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843500" y="2733375"/>
            <a:ext cx="1727976" cy="298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0" name="Google Shape;790;p40"/>
          <p:cNvGrpSpPr/>
          <p:nvPr/>
        </p:nvGrpSpPr>
        <p:grpSpPr>
          <a:xfrm>
            <a:off x="6916750" y="1107563"/>
            <a:ext cx="3941375" cy="1847200"/>
            <a:chOff x="6978575" y="1746650"/>
            <a:chExt cx="3941375" cy="1847200"/>
          </a:xfrm>
        </p:grpSpPr>
        <p:grpSp>
          <p:nvGrpSpPr>
            <p:cNvPr id="791" name="Google Shape;791;p40"/>
            <p:cNvGrpSpPr/>
            <p:nvPr/>
          </p:nvGrpSpPr>
          <p:grpSpPr>
            <a:xfrm>
              <a:off x="6978575" y="2101747"/>
              <a:ext cx="2381074" cy="1280700"/>
              <a:chOff x="3670606" y="691950"/>
              <a:chExt cx="2796000" cy="1707600"/>
            </a:xfrm>
          </p:grpSpPr>
          <p:cxnSp>
            <p:nvCxnSpPr>
              <p:cNvPr id="792" name="Google Shape;792;p40"/>
              <p:cNvCxnSpPr/>
              <p:nvPr/>
            </p:nvCxnSpPr>
            <p:spPr>
              <a:xfrm>
                <a:off x="3670606" y="1882654"/>
                <a:ext cx="279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93" name="Google Shape;793;p40"/>
              <p:cNvCxnSpPr/>
              <p:nvPr/>
            </p:nvCxnSpPr>
            <p:spPr>
              <a:xfrm>
                <a:off x="5060625" y="691950"/>
                <a:ext cx="0" cy="1707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stealth" w="med" len="med"/>
                <a:tailEnd type="none" w="med" len="med"/>
              </a:ln>
            </p:spPr>
          </p:cxnSp>
          <p:cxnSp>
            <p:nvCxnSpPr>
              <p:cNvPr id="794" name="Google Shape;794;p40"/>
              <p:cNvCxnSpPr/>
              <p:nvPr/>
            </p:nvCxnSpPr>
            <p:spPr>
              <a:xfrm>
                <a:off x="3934521" y="1882638"/>
                <a:ext cx="1126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95" name="Google Shape;795;p40"/>
            <p:cNvSpPr txBox="1"/>
            <p:nvPr/>
          </p:nvSpPr>
          <p:spPr>
            <a:xfrm>
              <a:off x="7919950" y="1746650"/>
              <a:ext cx="30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ẑ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baseline="-25000"/>
            </a:p>
          </p:txBody>
        </p:sp>
        <p:sp>
          <p:nvSpPr>
            <p:cNvPr id="796" name="Google Shape;796;p40"/>
            <p:cNvSpPr txBox="1"/>
            <p:nvPr/>
          </p:nvSpPr>
          <p:spPr>
            <a:xfrm>
              <a:off x="8746175" y="3132150"/>
              <a:ext cx="435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z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baseline="-25000"/>
            </a:p>
          </p:txBody>
        </p:sp>
      </p:grpSp>
      <p:pic>
        <p:nvPicPr>
          <p:cNvPr id="797" name="Google Shape;797;p4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058449" y="4104400"/>
            <a:ext cx="1331444" cy="3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/>
              <a:t>CROWN with neuron split (changed with the split)</a:t>
            </a:r>
          </a:p>
        </p:txBody>
      </p:sp>
      <p:sp>
        <p:nvSpPr>
          <p:cNvPr id="803" name="Google Shape;803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69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4: bound </a:t>
            </a:r>
            <a:r>
              <a:rPr lang="en-GB" b="1"/>
              <a:t>y</a:t>
            </a:r>
            <a:r>
              <a:rPr lang="en-GB"/>
              <a:t> using linear functions of </a:t>
            </a:r>
            <a:r>
              <a:rPr lang="en-GB" b="1"/>
              <a:t>x</a:t>
            </a:r>
            <a:r>
              <a:rPr lang="en-GB"/>
              <a:t>                                                           </a:t>
            </a:r>
          </a:p>
        </p:txBody>
      </p:sp>
      <p:grpSp>
        <p:nvGrpSpPr>
          <p:cNvPr id="804" name="Google Shape;804;p41"/>
          <p:cNvGrpSpPr/>
          <p:nvPr/>
        </p:nvGrpSpPr>
        <p:grpSpPr>
          <a:xfrm>
            <a:off x="311700" y="2854650"/>
            <a:ext cx="3514125" cy="1936788"/>
            <a:chOff x="1385600" y="949375"/>
            <a:chExt cx="3514125" cy="1936788"/>
          </a:xfrm>
        </p:grpSpPr>
        <p:grpSp>
          <p:nvGrpSpPr>
            <p:cNvPr id="805" name="Google Shape;805;p41"/>
            <p:cNvGrpSpPr/>
            <p:nvPr/>
          </p:nvGrpSpPr>
          <p:grpSpPr>
            <a:xfrm>
              <a:off x="1385600" y="1367763"/>
              <a:ext cx="1691250" cy="1518400"/>
              <a:chOff x="949900" y="2149850"/>
              <a:chExt cx="1691250" cy="1518400"/>
            </a:xfrm>
          </p:grpSpPr>
          <p:sp>
            <p:nvSpPr>
              <p:cNvPr id="806" name="Google Shape;806;p41"/>
              <p:cNvSpPr txBox="1"/>
              <p:nvPr/>
            </p:nvSpPr>
            <p:spPr>
              <a:xfrm>
                <a:off x="949900" y="2149850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1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sp>
            <p:nvSpPr>
              <p:cNvPr id="807" name="Google Shape;807;p41"/>
              <p:cNvSpPr txBox="1"/>
              <p:nvPr/>
            </p:nvSpPr>
            <p:spPr>
              <a:xfrm>
                <a:off x="949900" y="3041525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2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grpSp>
            <p:nvGrpSpPr>
              <p:cNvPr id="808" name="Google Shape;808;p41"/>
              <p:cNvGrpSpPr/>
              <p:nvPr/>
            </p:nvGrpSpPr>
            <p:grpSpPr>
              <a:xfrm>
                <a:off x="1382025" y="2202525"/>
                <a:ext cx="1259125" cy="1465725"/>
                <a:chOff x="1266900" y="1732750"/>
                <a:chExt cx="1259125" cy="1465725"/>
              </a:xfrm>
            </p:grpSpPr>
            <p:sp>
              <p:nvSpPr>
                <p:cNvPr id="809" name="Google Shape;809;p41"/>
                <p:cNvSpPr/>
                <p:nvPr/>
              </p:nvSpPr>
              <p:spPr>
                <a:xfrm>
                  <a:off x="1266900" y="19646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0" name="Google Shape;810;p41"/>
                <p:cNvSpPr/>
                <p:nvPr/>
              </p:nvSpPr>
              <p:spPr>
                <a:xfrm>
                  <a:off x="1266900" y="2571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1" name="Google Shape;811;p41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12" name="Google Shape;812;p41"/>
                <p:cNvCxnSpPr>
                  <a:stCxn id="809" idx="6"/>
                  <a:endCxn id="811" idx="2"/>
                </p:cNvCxnSpPr>
                <p:nvPr/>
              </p:nvCxnSpPr>
              <p:spPr>
                <a:xfrm rot="10800000" flipH="1">
                  <a:off x="1498800" y="1848700"/>
                  <a:ext cx="795300" cy="231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3" name="Google Shape;813;p41"/>
                <p:cNvCxnSpPr>
                  <a:stCxn id="810" idx="6"/>
                  <a:endCxn id="811" idx="2"/>
                </p:cNvCxnSpPr>
                <p:nvPr/>
              </p:nvCxnSpPr>
              <p:spPr>
                <a:xfrm rot="10800000" flipH="1">
                  <a:off x="1498800" y="1848600"/>
                  <a:ext cx="795300" cy="83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4" name="Google Shape;814;p41"/>
                <p:cNvCxnSpPr>
                  <a:stCxn id="810" idx="6"/>
                  <a:endCxn id="815" idx="2"/>
                </p:cNvCxnSpPr>
                <p:nvPr/>
              </p:nvCxnSpPr>
              <p:spPr>
                <a:xfrm>
                  <a:off x="1498800" y="2687700"/>
                  <a:ext cx="795300" cy="39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6" name="Google Shape;816;p41"/>
                <p:cNvCxnSpPr>
                  <a:stCxn id="809" idx="6"/>
                  <a:endCxn id="815" idx="2"/>
                </p:cNvCxnSpPr>
                <p:nvPr/>
              </p:nvCxnSpPr>
              <p:spPr>
                <a:xfrm>
                  <a:off x="1498800" y="2080600"/>
                  <a:ext cx="795300" cy="1002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15" name="Google Shape;815;p41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17" name="Google Shape;817;p41"/>
            <p:cNvGrpSpPr/>
            <p:nvPr/>
          </p:nvGrpSpPr>
          <p:grpSpPr>
            <a:xfrm>
              <a:off x="2492650" y="949375"/>
              <a:ext cx="415500" cy="1762800"/>
              <a:chOff x="2307950" y="1146975"/>
              <a:chExt cx="415500" cy="1762800"/>
            </a:xfrm>
          </p:grpSpPr>
          <p:sp>
            <p:nvSpPr>
              <p:cNvPr id="818" name="Google Shape;818;p41"/>
              <p:cNvSpPr txBox="1"/>
              <p:nvPr/>
            </p:nvSpPr>
            <p:spPr>
              <a:xfrm>
                <a:off x="2307950" y="11469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1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819" name="Google Shape;819;p41"/>
              <p:cNvSpPr txBox="1"/>
              <p:nvPr/>
            </p:nvSpPr>
            <p:spPr>
              <a:xfrm>
                <a:off x="2307950" y="23826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2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820" name="Google Shape;820;p41"/>
            <p:cNvGrpSpPr/>
            <p:nvPr/>
          </p:nvGrpSpPr>
          <p:grpSpPr>
            <a:xfrm>
              <a:off x="3076750" y="949375"/>
              <a:ext cx="1822975" cy="1936788"/>
              <a:chOff x="3076750" y="949375"/>
              <a:chExt cx="1822975" cy="1936788"/>
            </a:xfrm>
          </p:grpSpPr>
          <p:sp>
            <p:nvSpPr>
              <p:cNvPr id="821" name="Google Shape;821;p41"/>
              <p:cNvSpPr/>
              <p:nvPr/>
            </p:nvSpPr>
            <p:spPr>
              <a:xfrm>
                <a:off x="4340100" y="2011013"/>
                <a:ext cx="231900" cy="231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22" name="Google Shape;822;p41"/>
              <p:cNvGrpSpPr/>
              <p:nvPr/>
            </p:nvGrpSpPr>
            <p:grpSpPr>
              <a:xfrm>
                <a:off x="3374650" y="1420438"/>
                <a:ext cx="231900" cy="1465725"/>
                <a:chOff x="2294125" y="1732750"/>
                <a:chExt cx="231900" cy="1465725"/>
              </a:xfrm>
            </p:grpSpPr>
            <p:sp>
              <p:nvSpPr>
                <p:cNvPr id="823" name="Google Shape;823;p41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4" name="Google Shape;824;p41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825" name="Google Shape;825;p41"/>
              <p:cNvCxnSpPr>
                <a:stCxn id="823" idx="6"/>
                <a:endCxn id="821" idx="2"/>
              </p:cNvCxnSpPr>
              <p:nvPr/>
            </p:nvCxnSpPr>
            <p:spPr>
              <a:xfrm>
                <a:off x="3606550" y="1536388"/>
                <a:ext cx="733500" cy="59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6" name="Google Shape;826;p41"/>
              <p:cNvCxnSpPr>
                <a:stCxn id="824" idx="6"/>
                <a:endCxn id="821" idx="2"/>
              </p:cNvCxnSpPr>
              <p:nvPr/>
            </p:nvCxnSpPr>
            <p:spPr>
              <a:xfrm rot="10800000" flipH="1">
                <a:off x="3606550" y="2127013"/>
                <a:ext cx="733500" cy="64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7" name="Google Shape;827;p41"/>
              <p:cNvCxnSpPr>
                <a:stCxn id="823" idx="2"/>
                <a:endCxn id="811" idx="6"/>
              </p:cNvCxnSpPr>
              <p:nvPr/>
            </p:nvCxnSpPr>
            <p:spPr>
              <a:xfrm rot="10800000">
                <a:off x="3076750" y="1536388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8" name="Google Shape;828;p41"/>
              <p:cNvCxnSpPr>
                <a:stCxn id="824" idx="2"/>
                <a:endCxn id="815" idx="6"/>
              </p:cNvCxnSpPr>
              <p:nvPr/>
            </p:nvCxnSpPr>
            <p:spPr>
              <a:xfrm rot="10800000">
                <a:off x="3076750" y="2770213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29" name="Google Shape;829;p41"/>
              <p:cNvSpPr txBox="1"/>
              <p:nvPr/>
            </p:nvSpPr>
            <p:spPr>
              <a:xfrm>
                <a:off x="3163900" y="949375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1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830" name="Google Shape;830;p41"/>
              <p:cNvSpPr txBox="1"/>
              <p:nvPr/>
            </p:nvSpPr>
            <p:spPr>
              <a:xfrm>
                <a:off x="3163900" y="2185100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2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831" name="Google Shape;831;p41"/>
              <p:cNvSpPr txBox="1"/>
              <p:nvPr/>
            </p:nvSpPr>
            <p:spPr>
              <a:xfrm>
                <a:off x="4407725" y="1657225"/>
                <a:ext cx="4920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y</a:t>
                </a:r>
                <a:endParaRPr sz="1800"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832" name="Google Shape;832;p41"/>
          <p:cNvSpPr txBox="1"/>
          <p:nvPr/>
        </p:nvSpPr>
        <p:spPr>
          <a:xfrm>
            <a:off x="4159925" y="4281775"/>
            <a:ext cx="40380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Linear layer: simple substitution</a:t>
            </a:r>
            <a:endParaRPr sz="1800">
              <a:solidFill>
                <a:srgbClr val="0000FF"/>
              </a:solidFill>
            </a:endParaRPr>
          </a:p>
        </p:txBody>
      </p:sp>
      <p:pic>
        <p:nvPicPr>
          <p:cNvPr id="833" name="Google Shape;833;p41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122832" y="2217050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41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22835" y="2624178"/>
            <a:ext cx="1778074" cy="302272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41"/>
          <p:cNvSpPr/>
          <p:nvPr/>
        </p:nvSpPr>
        <p:spPr>
          <a:xfrm>
            <a:off x="5851850" y="2943350"/>
            <a:ext cx="281700" cy="509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6" name="Google Shape;836;p4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206725" y="1724025"/>
            <a:ext cx="1498800" cy="36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41" descr="y \geq -\frac{4}{3} x_1 + \frac{2}{3} x_2 - 2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820350" y="3541550"/>
            <a:ext cx="2462976" cy="3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/>
              <a:t>CROWN with neuron split (changed with the split)</a:t>
            </a:r>
          </a:p>
        </p:txBody>
      </p:sp>
      <p:sp>
        <p:nvSpPr>
          <p:cNvPr id="843" name="Google Shape;843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5: concretize linear bounds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</a:t>
            </a:r>
          </a:p>
        </p:txBody>
      </p:sp>
      <p:grpSp>
        <p:nvGrpSpPr>
          <p:cNvPr id="844" name="Google Shape;844;p42"/>
          <p:cNvGrpSpPr/>
          <p:nvPr/>
        </p:nvGrpSpPr>
        <p:grpSpPr>
          <a:xfrm>
            <a:off x="311700" y="2854650"/>
            <a:ext cx="3514125" cy="1936788"/>
            <a:chOff x="1385600" y="949375"/>
            <a:chExt cx="3514125" cy="1936788"/>
          </a:xfrm>
        </p:grpSpPr>
        <p:grpSp>
          <p:nvGrpSpPr>
            <p:cNvPr id="845" name="Google Shape;845;p42"/>
            <p:cNvGrpSpPr/>
            <p:nvPr/>
          </p:nvGrpSpPr>
          <p:grpSpPr>
            <a:xfrm>
              <a:off x="1385600" y="1367763"/>
              <a:ext cx="1691250" cy="1518400"/>
              <a:chOff x="949900" y="2149850"/>
              <a:chExt cx="1691250" cy="1518400"/>
            </a:xfrm>
          </p:grpSpPr>
          <p:sp>
            <p:nvSpPr>
              <p:cNvPr id="846" name="Google Shape;846;p42"/>
              <p:cNvSpPr txBox="1"/>
              <p:nvPr/>
            </p:nvSpPr>
            <p:spPr>
              <a:xfrm>
                <a:off x="949900" y="2149850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1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sp>
            <p:nvSpPr>
              <p:cNvPr id="847" name="Google Shape;847;p42"/>
              <p:cNvSpPr txBox="1"/>
              <p:nvPr/>
            </p:nvSpPr>
            <p:spPr>
              <a:xfrm>
                <a:off x="949900" y="3041525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2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grpSp>
            <p:nvGrpSpPr>
              <p:cNvPr id="848" name="Google Shape;848;p42"/>
              <p:cNvGrpSpPr/>
              <p:nvPr/>
            </p:nvGrpSpPr>
            <p:grpSpPr>
              <a:xfrm>
                <a:off x="1382025" y="2202525"/>
                <a:ext cx="1259125" cy="1465725"/>
                <a:chOff x="1266900" y="1732750"/>
                <a:chExt cx="1259125" cy="1465725"/>
              </a:xfrm>
            </p:grpSpPr>
            <p:sp>
              <p:nvSpPr>
                <p:cNvPr id="849" name="Google Shape;849;p42"/>
                <p:cNvSpPr/>
                <p:nvPr/>
              </p:nvSpPr>
              <p:spPr>
                <a:xfrm>
                  <a:off x="1266900" y="19646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0" name="Google Shape;850;p42"/>
                <p:cNvSpPr/>
                <p:nvPr/>
              </p:nvSpPr>
              <p:spPr>
                <a:xfrm>
                  <a:off x="1266900" y="2571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1" name="Google Shape;851;p42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52" name="Google Shape;852;p42"/>
                <p:cNvCxnSpPr>
                  <a:stCxn id="849" idx="6"/>
                  <a:endCxn id="851" idx="2"/>
                </p:cNvCxnSpPr>
                <p:nvPr/>
              </p:nvCxnSpPr>
              <p:spPr>
                <a:xfrm rot="10800000" flipH="1">
                  <a:off x="1498800" y="1848700"/>
                  <a:ext cx="795300" cy="231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3" name="Google Shape;853;p42"/>
                <p:cNvCxnSpPr>
                  <a:stCxn id="850" idx="6"/>
                  <a:endCxn id="851" idx="2"/>
                </p:cNvCxnSpPr>
                <p:nvPr/>
              </p:nvCxnSpPr>
              <p:spPr>
                <a:xfrm rot="10800000" flipH="1">
                  <a:off x="1498800" y="1848600"/>
                  <a:ext cx="795300" cy="83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4" name="Google Shape;854;p42"/>
                <p:cNvCxnSpPr>
                  <a:stCxn id="850" idx="6"/>
                  <a:endCxn id="855" idx="2"/>
                </p:cNvCxnSpPr>
                <p:nvPr/>
              </p:nvCxnSpPr>
              <p:spPr>
                <a:xfrm>
                  <a:off x="1498800" y="2687700"/>
                  <a:ext cx="795300" cy="39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6" name="Google Shape;856;p42"/>
                <p:cNvCxnSpPr>
                  <a:stCxn id="849" idx="6"/>
                  <a:endCxn id="855" idx="2"/>
                </p:cNvCxnSpPr>
                <p:nvPr/>
              </p:nvCxnSpPr>
              <p:spPr>
                <a:xfrm>
                  <a:off x="1498800" y="2080600"/>
                  <a:ext cx="795300" cy="1002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855" name="Google Shape;855;p42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57" name="Google Shape;857;p42"/>
            <p:cNvGrpSpPr/>
            <p:nvPr/>
          </p:nvGrpSpPr>
          <p:grpSpPr>
            <a:xfrm>
              <a:off x="2492650" y="949375"/>
              <a:ext cx="415500" cy="1762800"/>
              <a:chOff x="2307950" y="1146975"/>
              <a:chExt cx="415500" cy="1762800"/>
            </a:xfrm>
          </p:grpSpPr>
          <p:sp>
            <p:nvSpPr>
              <p:cNvPr id="858" name="Google Shape;858;p42"/>
              <p:cNvSpPr txBox="1"/>
              <p:nvPr/>
            </p:nvSpPr>
            <p:spPr>
              <a:xfrm>
                <a:off x="2307950" y="11469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1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859" name="Google Shape;859;p42"/>
              <p:cNvSpPr txBox="1"/>
              <p:nvPr/>
            </p:nvSpPr>
            <p:spPr>
              <a:xfrm>
                <a:off x="2307950" y="23826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2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860" name="Google Shape;860;p42"/>
            <p:cNvGrpSpPr/>
            <p:nvPr/>
          </p:nvGrpSpPr>
          <p:grpSpPr>
            <a:xfrm>
              <a:off x="3076750" y="949375"/>
              <a:ext cx="1822975" cy="1936788"/>
              <a:chOff x="3076750" y="949375"/>
              <a:chExt cx="1822975" cy="1936788"/>
            </a:xfrm>
          </p:grpSpPr>
          <p:sp>
            <p:nvSpPr>
              <p:cNvPr id="861" name="Google Shape;861;p42"/>
              <p:cNvSpPr/>
              <p:nvPr/>
            </p:nvSpPr>
            <p:spPr>
              <a:xfrm>
                <a:off x="4340100" y="2011013"/>
                <a:ext cx="231900" cy="231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62" name="Google Shape;862;p42"/>
              <p:cNvGrpSpPr/>
              <p:nvPr/>
            </p:nvGrpSpPr>
            <p:grpSpPr>
              <a:xfrm>
                <a:off x="3374650" y="1420438"/>
                <a:ext cx="231900" cy="1465725"/>
                <a:chOff x="2294125" y="1732750"/>
                <a:chExt cx="231900" cy="1465725"/>
              </a:xfrm>
            </p:grpSpPr>
            <p:sp>
              <p:nvSpPr>
                <p:cNvPr id="863" name="Google Shape;863;p42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4" name="Google Shape;864;p42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865" name="Google Shape;865;p42"/>
              <p:cNvCxnSpPr>
                <a:stCxn id="863" idx="6"/>
                <a:endCxn id="861" idx="2"/>
              </p:cNvCxnSpPr>
              <p:nvPr/>
            </p:nvCxnSpPr>
            <p:spPr>
              <a:xfrm>
                <a:off x="3606550" y="1536388"/>
                <a:ext cx="733500" cy="59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6" name="Google Shape;866;p42"/>
              <p:cNvCxnSpPr>
                <a:stCxn id="864" idx="6"/>
                <a:endCxn id="861" idx="2"/>
              </p:cNvCxnSpPr>
              <p:nvPr/>
            </p:nvCxnSpPr>
            <p:spPr>
              <a:xfrm rot="10800000" flipH="1">
                <a:off x="3606550" y="2127013"/>
                <a:ext cx="733500" cy="64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7" name="Google Shape;867;p42"/>
              <p:cNvCxnSpPr>
                <a:stCxn id="863" idx="2"/>
                <a:endCxn id="851" idx="6"/>
              </p:cNvCxnSpPr>
              <p:nvPr/>
            </p:nvCxnSpPr>
            <p:spPr>
              <a:xfrm rot="10800000">
                <a:off x="3076750" y="1536388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8" name="Google Shape;868;p42"/>
              <p:cNvCxnSpPr>
                <a:stCxn id="864" idx="2"/>
                <a:endCxn id="855" idx="6"/>
              </p:cNvCxnSpPr>
              <p:nvPr/>
            </p:nvCxnSpPr>
            <p:spPr>
              <a:xfrm rot="10800000">
                <a:off x="3076750" y="2770213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69" name="Google Shape;869;p42"/>
              <p:cNvSpPr txBox="1"/>
              <p:nvPr/>
            </p:nvSpPr>
            <p:spPr>
              <a:xfrm>
                <a:off x="3163900" y="949375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1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870" name="Google Shape;870;p42"/>
              <p:cNvSpPr txBox="1"/>
              <p:nvPr/>
            </p:nvSpPr>
            <p:spPr>
              <a:xfrm>
                <a:off x="3163900" y="2185100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2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871" name="Google Shape;871;p42"/>
              <p:cNvSpPr txBox="1"/>
              <p:nvPr/>
            </p:nvSpPr>
            <p:spPr>
              <a:xfrm>
                <a:off x="4407725" y="1657225"/>
                <a:ext cx="4920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y</a:t>
                </a:r>
                <a:endParaRPr sz="1800">
                  <a:solidFill>
                    <a:srgbClr val="595959"/>
                  </a:solidFill>
                </a:endParaRPr>
              </a:p>
            </p:txBody>
          </p:sp>
        </p:grpSp>
      </p:grpSp>
      <p:pic>
        <p:nvPicPr>
          <p:cNvPr id="872" name="Google Shape;872;p42" descr="x_1 \in [-1, 2], \ x_2 \in [-2,1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866413" y="2498950"/>
            <a:ext cx="2437224" cy="3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42"/>
          <p:cNvSpPr/>
          <p:nvPr/>
        </p:nvSpPr>
        <p:spPr>
          <a:xfrm>
            <a:off x="5973775" y="2854650"/>
            <a:ext cx="316500" cy="73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4" name="Google Shape;874;p42" descr="y \geq -\frac{4}{3} x_1 + \frac{2}{3} x_2 - 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900538" y="1886800"/>
            <a:ext cx="2462976" cy="3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42"/>
          <p:cNvSpPr txBox="1"/>
          <p:nvPr/>
        </p:nvSpPr>
        <p:spPr>
          <a:xfrm>
            <a:off x="3854325" y="4166550"/>
            <a:ext cx="4690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Recall that without the split, we have y &gt;= -3</a:t>
            </a:r>
            <a:endParaRPr sz="18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With the split we expect the lower bound to improve??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76" name="Google Shape;876;p42" descr="y \geq -6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768600" y="3725049"/>
            <a:ext cx="861650" cy="30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going wrong with CROWN?</a:t>
            </a:r>
          </a:p>
        </p:txBody>
      </p:sp>
      <p:sp>
        <p:nvSpPr>
          <p:cNvPr id="882" name="Google Shape;882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039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split constraint is not fully used during the process.</a:t>
            </a:r>
          </a:p>
        </p:txBody>
      </p:sp>
      <p:pic>
        <p:nvPicPr>
          <p:cNvPr id="883" name="Google Shape;883;p43" descr="z_1 \leq 0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354185" y="1923815"/>
            <a:ext cx="703632" cy="26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43" descr="x_1 - x_2 \leq 0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110575" y="1887525"/>
            <a:ext cx="1509326" cy="3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43"/>
          <p:cNvSpPr/>
          <p:nvPr/>
        </p:nvSpPr>
        <p:spPr>
          <a:xfrm>
            <a:off x="3269500" y="2017350"/>
            <a:ext cx="453300" cy="11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6" name="Google Shape;886;p43"/>
          <p:cNvGrpSpPr/>
          <p:nvPr/>
        </p:nvGrpSpPr>
        <p:grpSpPr>
          <a:xfrm>
            <a:off x="1013925" y="2472750"/>
            <a:ext cx="3035450" cy="2205500"/>
            <a:chOff x="1013925" y="2472750"/>
            <a:chExt cx="3035450" cy="2205500"/>
          </a:xfrm>
        </p:grpSpPr>
        <p:sp>
          <p:nvSpPr>
            <p:cNvPr id="887" name="Google Shape;887;p43"/>
            <p:cNvSpPr/>
            <p:nvPr/>
          </p:nvSpPr>
          <p:spPr>
            <a:xfrm>
              <a:off x="1330125" y="3092900"/>
              <a:ext cx="1170000" cy="1148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88" name="Google Shape;888;p43"/>
            <p:cNvCxnSpPr/>
            <p:nvPr/>
          </p:nvCxnSpPr>
          <p:spPr>
            <a:xfrm>
              <a:off x="1013925" y="3566700"/>
              <a:ext cx="2814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89" name="Google Shape;889;p43"/>
            <p:cNvCxnSpPr/>
            <p:nvPr/>
          </p:nvCxnSpPr>
          <p:spPr>
            <a:xfrm rot="10800000">
              <a:off x="1840875" y="2712950"/>
              <a:ext cx="0" cy="196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90" name="Google Shape;890;p43"/>
            <p:cNvSpPr txBox="1"/>
            <p:nvPr/>
          </p:nvSpPr>
          <p:spPr>
            <a:xfrm>
              <a:off x="3480275" y="3566700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891" name="Google Shape;891;p43"/>
            <p:cNvSpPr txBox="1"/>
            <p:nvPr/>
          </p:nvSpPr>
          <p:spPr>
            <a:xfrm>
              <a:off x="1840875" y="2472750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</p:grpSp>
      <p:pic>
        <p:nvPicPr>
          <p:cNvPr id="892" name="Google Shape;892;p43" descr="x_1 \in [-1, 2], \ x_2 \in [-2,1]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04099" y="4730875"/>
            <a:ext cx="2442660" cy="302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3" name="Google Shape;893;p43"/>
          <p:cNvGrpSpPr/>
          <p:nvPr/>
        </p:nvGrpSpPr>
        <p:grpSpPr>
          <a:xfrm>
            <a:off x="4979700" y="2440925"/>
            <a:ext cx="3227275" cy="2205500"/>
            <a:chOff x="4979700" y="2440925"/>
            <a:chExt cx="3227275" cy="2205500"/>
          </a:xfrm>
        </p:grpSpPr>
        <p:sp>
          <p:nvSpPr>
            <p:cNvPr id="894" name="Google Shape;894;p43"/>
            <p:cNvSpPr/>
            <p:nvPr/>
          </p:nvSpPr>
          <p:spPr>
            <a:xfrm>
              <a:off x="5487725" y="3061075"/>
              <a:ext cx="1170000" cy="1148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3"/>
            <p:cNvSpPr txBox="1"/>
            <p:nvPr/>
          </p:nvSpPr>
          <p:spPr>
            <a:xfrm>
              <a:off x="7637875" y="3534875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896" name="Google Shape;896;p43"/>
            <p:cNvSpPr txBox="1"/>
            <p:nvPr/>
          </p:nvSpPr>
          <p:spPr>
            <a:xfrm>
              <a:off x="5998475" y="2440925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897" name="Google Shape;897;p43"/>
            <p:cNvSpPr/>
            <p:nvPr/>
          </p:nvSpPr>
          <p:spPr>
            <a:xfrm rot="5400000">
              <a:off x="5482925" y="3069776"/>
              <a:ext cx="967800" cy="950400"/>
            </a:xfrm>
            <a:prstGeom prst="triangle">
              <a:avLst>
                <a:gd name="adj" fmla="val 0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98" name="Google Shape;898;p43"/>
            <p:cNvCxnSpPr/>
            <p:nvPr/>
          </p:nvCxnSpPr>
          <p:spPr>
            <a:xfrm rot="10800000" flipH="1">
              <a:off x="5050725" y="2711275"/>
              <a:ext cx="1760100" cy="177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899" name="Google Shape;899;p43" descr="x_1 - x_2 \leq 0" title="MathEquation,#00000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4979700" y="2818375"/>
              <a:ext cx="829950" cy="1670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00" name="Google Shape;900;p43"/>
            <p:cNvCxnSpPr/>
            <p:nvPr/>
          </p:nvCxnSpPr>
          <p:spPr>
            <a:xfrm>
              <a:off x="5171525" y="3534875"/>
              <a:ext cx="2814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01" name="Google Shape;901;p43"/>
            <p:cNvCxnSpPr/>
            <p:nvPr/>
          </p:nvCxnSpPr>
          <p:spPr>
            <a:xfrm rot="10800000">
              <a:off x="5998475" y="2681125"/>
              <a:ext cx="0" cy="196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going wrong with CROWN?</a:t>
            </a:r>
          </a:p>
        </p:txBody>
      </p:sp>
      <p:sp>
        <p:nvSpPr>
          <p:cNvPr id="907" name="Google Shape;907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039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the concretization step, we still consider the worst case scenario in the larger box, rather than the green triangle.</a:t>
            </a:r>
          </a:p>
        </p:txBody>
      </p:sp>
      <p:grpSp>
        <p:nvGrpSpPr>
          <p:cNvPr id="908" name="Google Shape;908;p44"/>
          <p:cNvGrpSpPr/>
          <p:nvPr/>
        </p:nvGrpSpPr>
        <p:grpSpPr>
          <a:xfrm>
            <a:off x="4979700" y="2440925"/>
            <a:ext cx="3227275" cy="2205500"/>
            <a:chOff x="4979700" y="2440925"/>
            <a:chExt cx="3227275" cy="2205500"/>
          </a:xfrm>
        </p:grpSpPr>
        <p:sp>
          <p:nvSpPr>
            <p:cNvPr id="909" name="Google Shape;909;p44"/>
            <p:cNvSpPr/>
            <p:nvPr/>
          </p:nvSpPr>
          <p:spPr>
            <a:xfrm>
              <a:off x="5487725" y="3061075"/>
              <a:ext cx="1170000" cy="1148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4"/>
            <p:cNvSpPr txBox="1"/>
            <p:nvPr/>
          </p:nvSpPr>
          <p:spPr>
            <a:xfrm>
              <a:off x="7637875" y="3534875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911" name="Google Shape;911;p44"/>
            <p:cNvSpPr txBox="1"/>
            <p:nvPr/>
          </p:nvSpPr>
          <p:spPr>
            <a:xfrm>
              <a:off x="5998475" y="2440925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912" name="Google Shape;912;p44"/>
            <p:cNvSpPr/>
            <p:nvPr/>
          </p:nvSpPr>
          <p:spPr>
            <a:xfrm rot="5400000">
              <a:off x="5482925" y="3069776"/>
              <a:ext cx="967800" cy="950400"/>
            </a:xfrm>
            <a:prstGeom prst="triangle">
              <a:avLst>
                <a:gd name="adj" fmla="val 0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13" name="Google Shape;913;p44"/>
            <p:cNvCxnSpPr/>
            <p:nvPr/>
          </p:nvCxnSpPr>
          <p:spPr>
            <a:xfrm rot="10800000" flipH="1">
              <a:off x="5050725" y="2711275"/>
              <a:ext cx="1760100" cy="177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914" name="Google Shape;914;p44" descr="x_1 - x_2 \leq 0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4979700" y="2818375"/>
              <a:ext cx="829950" cy="1670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15" name="Google Shape;915;p44"/>
            <p:cNvCxnSpPr/>
            <p:nvPr/>
          </p:nvCxnSpPr>
          <p:spPr>
            <a:xfrm>
              <a:off x="5171525" y="3534875"/>
              <a:ext cx="2814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16" name="Google Shape;916;p44"/>
            <p:cNvCxnSpPr/>
            <p:nvPr/>
          </p:nvCxnSpPr>
          <p:spPr>
            <a:xfrm rot="10800000">
              <a:off x="5998475" y="2681125"/>
              <a:ext cx="0" cy="196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917" name="Google Shape;917;p44" descr="x_1 \in [-1, 2], \ x_2 \in [-2,1]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340375" y="2709750"/>
            <a:ext cx="2437224" cy="3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44" descr="y \geq -\frac{4}{3} x_1 + \frac{2}{3} x_2 - 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327488" y="2192275"/>
            <a:ext cx="2462976" cy="3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address the problem?</a:t>
            </a:r>
          </a:p>
        </p:txBody>
      </p:sp>
      <p:sp>
        <p:nvSpPr>
          <p:cNvPr id="924" name="Google Shape;924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Instead we should solve this optimization problem during concretization:</a:t>
            </a:r>
          </a:p>
        </p:txBody>
      </p:sp>
      <p:grpSp>
        <p:nvGrpSpPr>
          <p:cNvPr id="925" name="Google Shape;925;p45"/>
          <p:cNvGrpSpPr/>
          <p:nvPr/>
        </p:nvGrpSpPr>
        <p:grpSpPr>
          <a:xfrm>
            <a:off x="4979700" y="2440925"/>
            <a:ext cx="3227275" cy="2205500"/>
            <a:chOff x="4979700" y="2440925"/>
            <a:chExt cx="3227275" cy="2205500"/>
          </a:xfrm>
        </p:grpSpPr>
        <p:sp>
          <p:nvSpPr>
            <p:cNvPr id="926" name="Google Shape;926;p45"/>
            <p:cNvSpPr/>
            <p:nvPr/>
          </p:nvSpPr>
          <p:spPr>
            <a:xfrm>
              <a:off x="5487725" y="3061075"/>
              <a:ext cx="1170000" cy="1148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5"/>
            <p:cNvSpPr txBox="1"/>
            <p:nvPr/>
          </p:nvSpPr>
          <p:spPr>
            <a:xfrm>
              <a:off x="7637875" y="3534875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928" name="Google Shape;928;p45"/>
            <p:cNvSpPr txBox="1"/>
            <p:nvPr/>
          </p:nvSpPr>
          <p:spPr>
            <a:xfrm>
              <a:off x="5998475" y="2440925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929" name="Google Shape;929;p45"/>
            <p:cNvSpPr/>
            <p:nvPr/>
          </p:nvSpPr>
          <p:spPr>
            <a:xfrm rot="5400000">
              <a:off x="5482925" y="3069776"/>
              <a:ext cx="967800" cy="950400"/>
            </a:xfrm>
            <a:prstGeom prst="triangle">
              <a:avLst>
                <a:gd name="adj" fmla="val 0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30" name="Google Shape;930;p45"/>
            <p:cNvCxnSpPr/>
            <p:nvPr/>
          </p:nvCxnSpPr>
          <p:spPr>
            <a:xfrm rot="10800000" flipH="1">
              <a:off x="5050725" y="2711275"/>
              <a:ext cx="1760100" cy="177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931" name="Google Shape;931;p45" descr="x_1 - x_2 \leq 0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4979700" y="2818375"/>
              <a:ext cx="829950" cy="1670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32" name="Google Shape;932;p45"/>
            <p:cNvCxnSpPr/>
            <p:nvPr/>
          </p:nvCxnSpPr>
          <p:spPr>
            <a:xfrm>
              <a:off x="5171525" y="3534875"/>
              <a:ext cx="2814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33" name="Google Shape;933;p45"/>
            <p:cNvCxnSpPr/>
            <p:nvPr/>
          </p:nvCxnSpPr>
          <p:spPr>
            <a:xfrm rot="10800000">
              <a:off x="5998475" y="2681125"/>
              <a:ext cx="0" cy="196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934" name="Google Shape;934;p45" descr="x_1 \in [-1, 2], \ x_2 \in [-2,1]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577500" y="3268325"/>
            <a:ext cx="2437224" cy="3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45" descr="\displaystyle \min_{x_1, x_2} -\frac{4}{3}x_1 + \frac{2}{3}x_2 - 2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662050" y="2131362"/>
            <a:ext cx="226812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45" descr="\text{s.t.} \ z_1 \leq 0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222625" y="2864950"/>
            <a:ext cx="1035024" cy="318275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45"/>
          <p:cNvSpPr txBox="1"/>
          <p:nvPr/>
        </p:nvSpPr>
        <p:spPr>
          <a:xfrm>
            <a:off x="634525" y="4051550"/>
            <a:ext cx="44478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CROWN cannot handle this </a:t>
            </a:r>
            <a:r>
              <a:rPr lang="en-GB" sz="1800">
                <a:solidFill>
                  <a:srgbClr val="FF0000"/>
                </a:solidFill>
              </a:rPr>
              <a:t>constraint</a:t>
            </a:r>
            <a:r>
              <a:rPr lang="en-GB" sz="1800">
                <a:solidFill>
                  <a:schemeClr val="dk2"/>
                </a:solidFill>
              </a:rPr>
              <a:t>!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8" name="Google Shape;938;p45"/>
          <p:cNvSpPr/>
          <p:nvPr/>
        </p:nvSpPr>
        <p:spPr>
          <a:xfrm>
            <a:off x="1161500" y="2902700"/>
            <a:ext cx="1412400" cy="301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β-CROWN: bound propagation with split constraint</a:t>
            </a:r>
          </a:p>
        </p:txBody>
      </p:sp>
      <p:sp>
        <p:nvSpPr>
          <p:cNvPr id="944" name="Google Shape;944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use </a:t>
            </a:r>
            <a:r>
              <a:rPr lang="en-GB" i="1"/>
              <a:t>Lagrangian multipliers</a:t>
            </a:r>
            <a:r>
              <a:rPr lang="en-GB"/>
              <a:t> to handle this constraint.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 solve a constrained optimization problem: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We can define Lagrangian with λ</a:t>
            </a:r>
            <a:r>
              <a:rPr lang="en-GB" baseline="-25000"/>
              <a:t>i</a:t>
            </a:r>
            <a:r>
              <a:rPr lang="en-GB"/>
              <a:t> ≥ 0: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en-GB"/>
            </a:br>
            <a:r>
              <a:rPr lang="en-GB"/>
              <a:t>So the optimization problem can be written as 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GB"/>
          </a:p>
        </p:txBody>
      </p:sp>
      <p:pic>
        <p:nvPicPr>
          <p:cNvPr id="945" name="Google Shape;945;p4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870400" y="2023163"/>
            <a:ext cx="5246151" cy="80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4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969713" y="3369799"/>
            <a:ext cx="259019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46"/>
          <p:cNvPicPr preferRelativeResize="0"/>
          <p:nvPr/>
        </p:nvPicPr>
        <p:blipFill rotWithShape="1">
          <a:blip r:embed="rId5"/>
          <a:srcRect t="41660"/>
          <a:stretch>
            <a:fillRect/>
          </a:stretch>
        </p:blipFill>
        <p:spPr>
          <a:xfrm>
            <a:off x="2997725" y="4641725"/>
            <a:ext cx="2534175" cy="50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β-CROWN: bound propagation with split constraint</a:t>
            </a:r>
          </a:p>
        </p:txBody>
      </p:sp>
      <p:sp>
        <p:nvSpPr>
          <p:cNvPr id="953" name="Google Shape;953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0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It is hard to solve directly. But we can then apply </a:t>
            </a:r>
            <a:r>
              <a:rPr lang="en-GB" i="1"/>
              <a:t>weak duality</a:t>
            </a:r>
            <a:r>
              <a:rPr lang="en-GB"/>
              <a:t>, which gives a lower bound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It has an intuitive game-theoretic explanation: whoever plays second may have an advantage, because they know the move of the first player.</a:t>
            </a:r>
          </a:p>
        </p:txBody>
      </p:sp>
      <p:pic>
        <p:nvPicPr>
          <p:cNvPr id="954" name="Google Shape;954;p47"/>
          <p:cNvPicPr preferRelativeResize="0"/>
          <p:nvPr/>
        </p:nvPicPr>
        <p:blipFill rotWithShape="1">
          <a:blip r:embed="rId3"/>
          <a:srcRect t="41660"/>
          <a:stretch>
            <a:fillRect/>
          </a:stretch>
        </p:blipFill>
        <p:spPr>
          <a:xfrm>
            <a:off x="3208525" y="1237325"/>
            <a:ext cx="2534175" cy="50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4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255699" y="2343737"/>
            <a:ext cx="4060375" cy="6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47"/>
          <p:cNvSpPr/>
          <p:nvPr/>
        </p:nvSpPr>
        <p:spPr>
          <a:xfrm>
            <a:off x="3006000" y="2375700"/>
            <a:ext cx="1201500" cy="590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47"/>
          <p:cNvSpPr txBox="1"/>
          <p:nvPr/>
        </p:nvSpPr>
        <p:spPr>
          <a:xfrm>
            <a:off x="1234588" y="4294425"/>
            <a:ext cx="61026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Closed form solution exist for the inner minimization (basically the concretization process without constraints)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β-CROWN with neuron split</a:t>
            </a:r>
          </a:p>
        </p:txBody>
      </p:sp>
      <p:sp>
        <p:nvSpPr>
          <p:cNvPr id="963" name="Google Shape;963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5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3: bound </a:t>
            </a:r>
            <a:r>
              <a:rPr lang="en-GB" b="1"/>
              <a:t>y</a:t>
            </a:r>
            <a:r>
              <a:rPr lang="en-GB"/>
              <a:t> using linear functions of </a:t>
            </a:r>
            <a:r>
              <a:rPr lang="en-GB" b="1"/>
              <a:t>z</a:t>
            </a:r>
            <a:r>
              <a:rPr lang="en-GB"/>
              <a:t>: need linear bounds for ReLU functions, which allows us to replace ẑ with z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       y &gt;= </a:t>
            </a:r>
            <a:r>
              <a:rPr lang="en-GB" b="1"/>
              <a:t>1</a:t>
            </a:r>
            <a:r>
              <a:rPr lang="en-GB"/>
              <a:t>· ẑ</a:t>
            </a:r>
            <a:r>
              <a:rPr lang="en-GB" baseline="-25000"/>
              <a:t>1</a:t>
            </a:r>
            <a:r>
              <a:rPr lang="en-GB"/>
              <a:t> + (</a:t>
            </a:r>
            <a:r>
              <a:rPr lang="en-GB" b="1"/>
              <a:t>-1</a:t>
            </a:r>
            <a:r>
              <a:rPr lang="en-GB"/>
              <a:t>) · ẑ</a:t>
            </a:r>
            <a:r>
              <a:rPr lang="en-GB" baseline="-25000"/>
              <a:t>2</a:t>
            </a:r>
            <a:endParaRPr baseline="30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   </a:t>
            </a:r>
          </a:p>
        </p:txBody>
      </p:sp>
      <p:grpSp>
        <p:nvGrpSpPr>
          <p:cNvPr id="964" name="Google Shape;964;p48"/>
          <p:cNvGrpSpPr/>
          <p:nvPr/>
        </p:nvGrpSpPr>
        <p:grpSpPr>
          <a:xfrm>
            <a:off x="311700" y="2854650"/>
            <a:ext cx="3514125" cy="1936788"/>
            <a:chOff x="1385600" y="949375"/>
            <a:chExt cx="3514125" cy="1936788"/>
          </a:xfrm>
        </p:grpSpPr>
        <p:grpSp>
          <p:nvGrpSpPr>
            <p:cNvPr id="965" name="Google Shape;965;p48"/>
            <p:cNvGrpSpPr/>
            <p:nvPr/>
          </p:nvGrpSpPr>
          <p:grpSpPr>
            <a:xfrm>
              <a:off x="1385600" y="1367763"/>
              <a:ext cx="1691250" cy="1518400"/>
              <a:chOff x="949900" y="2149850"/>
              <a:chExt cx="1691250" cy="1518400"/>
            </a:xfrm>
          </p:grpSpPr>
          <p:sp>
            <p:nvSpPr>
              <p:cNvPr id="966" name="Google Shape;966;p48"/>
              <p:cNvSpPr txBox="1"/>
              <p:nvPr/>
            </p:nvSpPr>
            <p:spPr>
              <a:xfrm>
                <a:off x="949900" y="2149850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1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sp>
            <p:nvSpPr>
              <p:cNvPr id="967" name="Google Shape;967;p48"/>
              <p:cNvSpPr txBox="1"/>
              <p:nvPr/>
            </p:nvSpPr>
            <p:spPr>
              <a:xfrm>
                <a:off x="949900" y="3041525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2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grpSp>
            <p:nvGrpSpPr>
              <p:cNvPr id="968" name="Google Shape;968;p48"/>
              <p:cNvGrpSpPr/>
              <p:nvPr/>
            </p:nvGrpSpPr>
            <p:grpSpPr>
              <a:xfrm>
                <a:off x="1382025" y="2202525"/>
                <a:ext cx="1259125" cy="1465725"/>
                <a:chOff x="1266900" y="1732750"/>
                <a:chExt cx="1259125" cy="1465725"/>
              </a:xfrm>
            </p:grpSpPr>
            <p:sp>
              <p:nvSpPr>
                <p:cNvPr id="969" name="Google Shape;969;p48"/>
                <p:cNvSpPr/>
                <p:nvPr/>
              </p:nvSpPr>
              <p:spPr>
                <a:xfrm>
                  <a:off x="1266900" y="19646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0" name="Google Shape;970;p48"/>
                <p:cNvSpPr/>
                <p:nvPr/>
              </p:nvSpPr>
              <p:spPr>
                <a:xfrm>
                  <a:off x="1266900" y="2571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1" name="Google Shape;971;p48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72" name="Google Shape;972;p48"/>
                <p:cNvCxnSpPr>
                  <a:stCxn id="969" idx="6"/>
                  <a:endCxn id="971" idx="2"/>
                </p:cNvCxnSpPr>
                <p:nvPr/>
              </p:nvCxnSpPr>
              <p:spPr>
                <a:xfrm rot="10800000" flipH="1">
                  <a:off x="1498800" y="1848700"/>
                  <a:ext cx="795300" cy="231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3" name="Google Shape;973;p48"/>
                <p:cNvCxnSpPr>
                  <a:stCxn id="970" idx="6"/>
                  <a:endCxn id="971" idx="2"/>
                </p:cNvCxnSpPr>
                <p:nvPr/>
              </p:nvCxnSpPr>
              <p:spPr>
                <a:xfrm rot="10800000" flipH="1">
                  <a:off x="1498800" y="1848600"/>
                  <a:ext cx="795300" cy="83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4" name="Google Shape;974;p48"/>
                <p:cNvCxnSpPr>
                  <a:stCxn id="970" idx="6"/>
                  <a:endCxn id="975" idx="2"/>
                </p:cNvCxnSpPr>
                <p:nvPr/>
              </p:nvCxnSpPr>
              <p:spPr>
                <a:xfrm>
                  <a:off x="1498800" y="2687700"/>
                  <a:ext cx="795300" cy="39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6" name="Google Shape;976;p48"/>
                <p:cNvCxnSpPr>
                  <a:stCxn id="969" idx="6"/>
                  <a:endCxn id="975" idx="2"/>
                </p:cNvCxnSpPr>
                <p:nvPr/>
              </p:nvCxnSpPr>
              <p:spPr>
                <a:xfrm>
                  <a:off x="1498800" y="2080600"/>
                  <a:ext cx="795300" cy="1002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75" name="Google Shape;975;p48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77" name="Google Shape;977;p48"/>
            <p:cNvGrpSpPr/>
            <p:nvPr/>
          </p:nvGrpSpPr>
          <p:grpSpPr>
            <a:xfrm>
              <a:off x="2492650" y="949375"/>
              <a:ext cx="415500" cy="1762800"/>
              <a:chOff x="2307950" y="1146975"/>
              <a:chExt cx="415500" cy="1762800"/>
            </a:xfrm>
          </p:grpSpPr>
          <p:sp>
            <p:nvSpPr>
              <p:cNvPr id="978" name="Google Shape;978;p48"/>
              <p:cNvSpPr txBox="1"/>
              <p:nvPr/>
            </p:nvSpPr>
            <p:spPr>
              <a:xfrm>
                <a:off x="2307950" y="11469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1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979" name="Google Shape;979;p48"/>
              <p:cNvSpPr txBox="1"/>
              <p:nvPr/>
            </p:nvSpPr>
            <p:spPr>
              <a:xfrm>
                <a:off x="2307950" y="23826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2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980" name="Google Shape;980;p48"/>
            <p:cNvGrpSpPr/>
            <p:nvPr/>
          </p:nvGrpSpPr>
          <p:grpSpPr>
            <a:xfrm>
              <a:off x="3076750" y="949375"/>
              <a:ext cx="1822975" cy="1936788"/>
              <a:chOff x="3076750" y="949375"/>
              <a:chExt cx="1822975" cy="1936788"/>
            </a:xfrm>
          </p:grpSpPr>
          <p:sp>
            <p:nvSpPr>
              <p:cNvPr id="981" name="Google Shape;981;p48"/>
              <p:cNvSpPr/>
              <p:nvPr/>
            </p:nvSpPr>
            <p:spPr>
              <a:xfrm>
                <a:off x="4340100" y="2011013"/>
                <a:ext cx="231900" cy="231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82" name="Google Shape;982;p48"/>
              <p:cNvGrpSpPr/>
              <p:nvPr/>
            </p:nvGrpSpPr>
            <p:grpSpPr>
              <a:xfrm>
                <a:off x="3374650" y="1420438"/>
                <a:ext cx="231900" cy="1465725"/>
                <a:chOff x="2294125" y="1732750"/>
                <a:chExt cx="231900" cy="1465725"/>
              </a:xfrm>
            </p:grpSpPr>
            <p:sp>
              <p:nvSpPr>
                <p:cNvPr id="983" name="Google Shape;983;p48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48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985" name="Google Shape;985;p48"/>
              <p:cNvCxnSpPr>
                <a:stCxn id="983" idx="6"/>
                <a:endCxn id="981" idx="2"/>
              </p:cNvCxnSpPr>
              <p:nvPr/>
            </p:nvCxnSpPr>
            <p:spPr>
              <a:xfrm>
                <a:off x="3606550" y="1536388"/>
                <a:ext cx="733500" cy="59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6" name="Google Shape;986;p48"/>
              <p:cNvCxnSpPr>
                <a:stCxn id="984" idx="6"/>
                <a:endCxn id="981" idx="2"/>
              </p:cNvCxnSpPr>
              <p:nvPr/>
            </p:nvCxnSpPr>
            <p:spPr>
              <a:xfrm rot="10800000" flipH="1">
                <a:off x="3606550" y="2127013"/>
                <a:ext cx="733500" cy="64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7" name="Google Shape;987;p48"/>
              <p:cNvCxnSpPr>
                <a:stCxn id="983" idx="2"/>
                <a:endCxn id="971" idx="6"/>
              </p:cNvCxnSpPr>
              <p:nvPr/>
            </p:nvCxnSpPr>
            <p:spPr>
              <a:xfrm rot="10800000">
                <a:off x="3076750" y="1536388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8" name="Google Shape;988;p48"/>
              <p:cNvCxnSpPr>
                <a:stCxn id="984" idx="2"/>
                <a:endCxn id="975" idx="6"/>
              </p:cNvCxnSpPr>
              <p:nvPr/>
            </p:nvCxnSpPr>
            <p:spPr>
              <a:xfrm rot="10800000">
                <a:off x="3076750" y="2770213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89" name="Google Shape;989;p48"/>
              <p:cNvSpPr txBox="1"/>
              <p:nvPr/>
            </p:nvSpPr>
            <p:spPr>
              <a:xfrm>
                <a:off x="3163900" y="949375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1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990" name="Google Shape;990;p48"/>
              <p:cNvSpPr txBox="1"/>
              <p:nvPr/>
            </p:nvSpPr>
            <p:spPr>
              <a:xfrm>
                <a:off x="3163900" y="2185100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2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991" name="Google Shape;991;p48"/>
              <p:cNvSpPr txBox="1"/>
              <p:nvPr/>
            </p:nvSpPr>
            <p:spPr>
              <a:xfrm>
                <a:off x="4407725" y="1657225"/>
                <a:ext cx="4920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y</a:t>
                </a:r>
                <a:endParaRPr sz="1800"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992" name="Google Shape;992;p48"/>
          <p:cNvSpPr txBox="1"/>
          <p:nvPr/>
        </p:nvSpPr>
        <p:spPr>
          <a:xfrm>
            <a:off x="405125" y="2004275"/>
            <a:ext cx="4038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ReLU layer: use linear bound</a:t>
            </a:r>
            <a:endParaRPr sz="180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Check </a:t>
            </a:r>
            <a:r>
              <a:rPr lang="en-GB" sz="1800" b="1">
                <a:solidFill>
                  <a:srgbClr val="0000FF"/>
                </a:solidFill>
              </a:rPr>
              <a:t>sign</a:t>
            </a:r>
            <a:r>
              <a:rPr lang="en-GB" sz="1800">
                <a:solidFill>
                  <a:srgbClr val="0000FF"/>
                </a:solidFill>
              </a:rPr>
              <a:t> of coefficients and take the lower or upper bound</a:t>
            </a:r>
            <a:endParaRPr sz="1800">
              <a:solidFill>
                <a:srgbClr val="0000FF"/>
              </a:solidFill>
            </a:endParaRPr>
          </a:p>
        </p:txBody>
      </p:sp>
      <p:pic>
        <p:nvPicPr>
          <p:cNvPr id="993" name="Google Shape;993;p48" descr="z_2 \leq \text{ReLU}(z_2) \leq \frac{2}{3} z_2 + 2&#10;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443124" y="3044625"/>
            <a:ext cx="2459850" cy="32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48"/>
          <p:cNvSpPr/>
          <p:nvPr/>
        </p:nvSpPr>
        <p:spPr>
          <a:xfrm>
            <a:off x="5481000" y="3502250"/>
            <a:ext cx="255000" cy="467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5" name="Google Shape;995;p48"/>
          <p:cNvGrpSpPr/>
          <p:nvPr/>
        </p:nvGrpSpPr>
        <p:grpSpPr>
          <a:xfrm>
            <a:off x="6916750" y="3044613"/>
            <a:ext cx="3941375" cy="1918100"/>
            <a:chOff x="6978575" y="1746650"/>
            <a:chExt cx="3941375" cy="1918100"/>
          </a:xfrm>
        </p:grpSpPr>
        <p:grpSp>
          <p:nvGrpSpPr>
            <p:cNvPr id="996" name="Google Shape;996;p48"/>
            <p:cNvGrpSpPr/>
            <p:nvPr/>
          </p:nvGrpSpPr>
          <p:grpSpPr>
            <a:xfrm>
              <a:off x="6978575" y="1907350"/>
              <a:ext cx="2381074" cy="1757400"/>
              <a:chOff x="6451225" y="3181825"/>
              <a:chExt cx="2381074" cy="1757400"/>
            </a:xfrm>
          </p:grpSpPr>
          <p:grpSp>
            <p:nvGrpSpPr>
              <p:cNvPr id="997" name="Google Shape;997;p48"/>
              <p:cNvGrpSpPr/>
              <p:nvPr/>
            </p:nvGrpSpPr>
            <p:grpSpPr>
              <a:xfrm>
                <a:off x="6451225" y="3376222"/>
                <a:ext cx="2381074" cy="1280700"/>
                <a:chOff x="1991775" y="2399647"/>
                <a:chExt cx="2381074" cy="1280700"/>
              </a:xfrm>
            </p:grpSpPr>
            <p:grpSp>
              <p:nvGrpSpPr>
                <p:cNvPr id="998" name="Google Shape;998;p48"/>
                <p:cNvGrpSpPr/>
                <p:nvPr/>
              </p:nvGrpSpPr>
              <p:grpSpPr>
                <a:xfrm>
                  <a:off x="1991775" y="2399647"/>
                  <a:ext cx="2381074" cy="1280700"/>
                  <a:chOff x="3670606" y="691950"/>
                  <a:chExt cx="2796000" cy="1707600"/>
                </a:xfrm>
              </p:grpSpPr>
              <p:cxnSp>
                <p:nvCxnSpPr>
                  <p:cNvPr id="999" name="Google Shape;999;p48"/>
                  <p:cNvCxnSpPr/>
                  <p:nvPr/>
                </p:nvCxnSpPr>
                <p:spPr>
                  <a:xfrm>
                    <a:off x="3670606" y="1882654"/>
                    <a:ext cx="2796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000" name="Google Shape;1000;p48"/>
                  <p:cNvCxnSpPr/>
                  <p:nvPr/>
                </p:nvCxnSpPr>
                <p:spPr>
                  <a:xfrm>
                    <a:off x="5060625" y="691950"/>
                    <a:ext cx="0" cy="17076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stealth" w="med" len="med"/>
                    <a:tailEnd type="none" w="med" len="med"/>
                  </a:ln>
                </p:spPr>
              </p:cxnSp>
              <p:cxnSp>
                <p:nvCxnSpPr>
                  <p:cNvPr id="1001" name="Google Shape;1001;p48"/>
                  <p:cNvCxnSpPr/>
                  <p:nvPr/>
                </p:nvCxnSpPr>
                <p:spPr>
                  <a:xfrm>
                    <a:off x="3934521" y="1882638"/>
                    <a:ext cx="1126200" cy="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98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02" name="Google Shape;1002;p48"/>
                  <p:cNvCxnSpPr/>
                  <p:nvPr/>
                </p:nvCxnSpPr>
                <p:spPr>
                  <a:xfrm rot="10800000" flipH="1">
                    <a:off x="5060625" y="775350"/>
                    <a:ext cx="975000" cy="11073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rgbClr val="98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003" name="Google Shape;1003;p48"/>
                <p:cNvCxnSpPr/>
                <p:nvPr/>
              </p:nvCxnSpPr>
              <p:spPr>
                <a:xfrm rot="10800000">
                  <a:off x="2694000" y="2551475"/>
                  <a:ext cx="0" cy="1016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4" name="Google Shape;1004;p48"/>
                <p:cNvCxnSpPr/>
                <p:nvPr/>
              </p:nvCxnSpPr>
              <p:spPr>
                <a:xfrm rot="10800000">
                  <a:off x="3977325" y="2456025"/>
                  <a:ext cx="0" cy="1121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005" name="Google Shape;1005;p48"/>
              <p:cNvCxnSpPr/>
              <p:nvPr/>
            </p:nvCxnSpPr>
            <p:spPr>
              <a:xfrm rot="10800000" flipH="1">
                <a:off x="6757875" y="3248113"/>
                <a:ext cx="1994700" cy="126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6" name="Google Shape;1006;p48"/>
              <p:cNvCxnSpPr/>
              <p:nvPr/>
            </p:nvCxnSpPr>
            <p:spPr>
              <a:xfrm rot="10800000" flipH="1">
                <a:off x="6951825" y="3181825"/>
                <a:ext cx="1780800" cy="17574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6AA84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07" name="Google Shape;1007;p48"/>
            <p:cNvSpPr txBox="1"/>
            <p:nvPr/>
          </p:nvSpPr>
          <p:spPr>
            <a:xfrm>
              <a:off x="7919950" y="1746650"/>
              <a:ext cx="30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ẑ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baseline="-25000"/>
            </a:p>
          </p:txBody>
        </p:sp>
        <p:sp>
          <p:nvSpPr>
            <p:cNvPr id="1008" name="Google Shape;1008;p48"/>
            <p:cNvSpPr txBox="1"/>
            <p:nvPr/>
          </p:nvSpPr>
          <p:spPr>
            <a:xfrm>
              <a:off x="8746175" y="3132150"/>
              <a:ext cx="435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z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baseline="-25000"/>
            </a:p>
          </p:txBody>
        </p:sp>
      </p:grpSp>
      <p:pic>
        <p:nvPicPr>
          <p:cNvPr id="1009" name="Google Shape;1009;p48" descr="0 \leq \text{ReLU}(z_1) \leq 0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843500" y="2733375"/>
            <a:ext cx="1727976" cy="298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0" name="Google Shape;1010;p48"/>
          <p:cNvGrpSpPr/>
          <p:nvPr/>
        </p:nvGrpSpPr>
        <p:grpSpPr>
          <a:xfrm>
            <a:off x="6916750" y="1107563"/>
            <a:ext cx="3941375" cy="1847200"/>
            <a:chOff x="6978575" y="1746650"/>
            <a:chExt cx="3941375" cy="1847200"/>
          </a:xfrm>
        </p:grpSpPr>
        <p:grpSp>
          <p:nvGrpSpPr>
            <p:cNvPr id="1011" name="Google Shape;1011;p48"/>
            <p:cNvGrpSpPr/>
            <p:nvPr/>
          </p:nvGrpSpPr>
          <p:grpSpPr>
            <a:xfrm>
              <a:off x="6978575" y="2101747"/>
              <a:ext cx="2381074" cy="1280700"/>
              <a:chOff x="3670606" y="691950"/>
              <a:chExt cx="2796000" cy="1707600"/>
            </a:xfrm>
          </p:grpSpPr>
          <p:cxnSp>
            <p:nvCxnSpPr>
              <p:cNvPr id="1012" name="Google Shape;1012;p48"/>
              <p:cNvCxnSpPr/>
              <p:nvPr/>
            </p:nvCxnSpPr>
            <p:spPr>
              <a:xfrm>
                <a:off x="3670606" y="1882654"/>
                <a:ext cx="2796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013" name="Google Shape;1013;p48"/>
              <p:cNvCxnSpPr/>
              <p:nvPr/>
            </p:nvCxnSpPr>
            <p:spPr>
              <a:xfrm>
                <a:off x="5060625" y="691950"/>
                <a:ext cx="0" cy="1707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stealth" w="med" len="med"/>
                <a:tailEnd type="none" w="med" len="med"/>
              </a:ln>
            </p:spPr>
          </p:cxnSp>
          <p:cxnSp>
            <p:nvCxnSpPr>
              <p:cNvPr id="1014" name="Google Shape;1014;p48"/>
              <p:cNvCxnSpPr/>
              <p:nvPr/>
            </p:nvCxnSpPr>
            <p:spPr>
              <a:xfrm>
                <a:off x="3934521" y="1882638"/>
                <a:ext cx="1126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98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15" name="Google Shape;1015;p48"/>
            <p:cNvSpPr txBox="1"/>
            <p:nvPr/>
          </p:nvSpPr>
          <p:spPr>
            <a:xfrm>
              <a:off x="7919950" y="1746650"/>
              <a:ext cx="30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ẑ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baseline="-25000"/>
            </a:p>
          </p:txBody>
        </p:sp>
        <p:sp>
          <p:nvSpPr>
            <p:cNvPr id="1016" name="Google Shape;1016;p48"/>
            <p:cNvSpPr txBox="1"/>
            <p:nvPr/>
          </p:nvSpPr>
          <p:spPr>
            <a:xfrm>
              <a:off x="8746175" y="3132150"/>
              <a:ext cx="435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z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baseline="-25000"/>
            </a:p>
          </p:txBody>
        </p:sp>
      </p:grpSp>
      <p:pic>
        <p:nvPicPr>
          <p:cNvPr id="1017" name="Google Shape;1017;p48" descr="y \geq -\frac{2}{3}z_2 - 2 + \beta z_1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644663" y="4167125"/>
            <a:ext cx="1927664" cy="32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48"/>
          <p:cNvSpPr/>
          <p:nvPr/>
        </p:nvSpPr>
        <p:spPr>
          <a:xfrm>
            <a:off x="6167975" y="4083175"/>
            <a:ext cx="474300" cy="5271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9" name="Google Shape;1019;p48" descr="\beta \geq 0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419199" y="4489988"/>
            <a:ext cx="474300" cy="214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48"/>
          <p:cNvSpPr txBox="1"/>
          <p:nvPr/>
        </p:nvSpPr>
        <p:spPr>
          <a:xfrm>
            <a:off x="961250" y="4687475"/>
            <a:ext cx="68511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Change in bound propagation: add </a:t>
            </a:r>
            <a:r>
              <a:rPr lang="en-GB" sz="1800" i="1">
                <a:solidFill>
                  <a:srgbClr val="FF0000"/>
                </a:solidFill>
              </a:rPr>
              <a:t>β</a:t>
            </a:r>
            <a:r>
              <a:rPr lang="en-GB" sz="1800">
                <a:solidFill>
                  <a:srgbClr val="FF0000"/>
                </a:solidFill>
              </a:rPr>
              <a:t> for each split constraint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/>
              <a:t>β-CROWN with neuron split</a:t>
            </a:r>
          </a:p>
        </p:txBody>
      </p:sp>
      <p:sp>
        <p:nvSpPr>
          <p:cNvPr id="1026" name="Google Shape;1026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69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4: bound </a:t>
            </a:r>
            <a:r>
              <a:rPr lang="en-GB" b="1"/>
              <a:t>y</a:t>
            </a:r>
            <a:r>
              <a:rPr lang="en-GB"/>
              <a:t> using linear functions of </a:t>
            </a:r>
            <a:r>
              <a:rPr lang="en-GB" b="1"/>
              <a:t>x,  </a:t>
            </a:r>
            <a:r>
              <a:rPr lang="en-GB"/>
              <a:t>Now our bound has a parameter </a:t>
            </a:r>
            <a:r>
              <a:rPr lang="en-GB" i="1"/>
              <a:t>β</a:t>
            </a:r>
            <a:endParaRPr i="1"/>
          </a:p>
        </p:txBody>
      </p:sp>
      <p:grpSp>
        <p:nvGrpSpPr>
          <p:cNvPr id="1027" name="Google Shape;1027;p49"/>
          <p:cNvGrpSpPr/>
          <p:nvPr/>
        </p:nvGrpSpPr>
        <p:grpSpPr>
          <a:xfrm>
            <a:off x="311700" y="2854650"/>
            <a:ext cx="3514125" cy="1936788"/>
            <a:chOff x="1385600" y="949375"/>
            <a:chExt cx="3514125" cy="1936788"/>
          </a:xfrm>
        </p:grpSpPr>
        <p:grpSp>
          <p:nvGrpSpPr>
            <p:cNvPr id="1028" name="Google Shape;1028;p49"/>
            <p:cNvGrpSpPr/>
            <p:nvPr/>
          </p:nvGrpSpPr>
          <p:grpSpPr>
            <a:xfrm>
              <a:off x="1385600" y="1367763"/>
              <a:ext cx="1691250" cy="1518400"/>
              <a:chOff x="949900" y="2149850"/>
              <a:chExt cx="1691250" cy="1518400"/>
            </a:xfrm>
          </p:grpSpPr>
          <p:sp>
            <p:nvSpPr>
              <p:cNvPr id="1029" name="Google Shape;1029;p49"/>
              <p:cNvSpPr txBox="1"/>
              <p:nvPr/>
            </p:nvSpPr>
            <p:spPr>
              <a:xfrm>
                <a:off x="949900" y="2149850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1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sp>
            <p:nvSpPr>
              <p:cNvPr id="1030" name="Google Shape;1030;p49"/>
              <p:cNvSpPr txBox="1"/>
              <p:nvPr/>
            </p:nvSpPr>
            <p:spPr>
              <a:xfrm>
                <a:off x="949900" y="3041525"/>
                <a:ext cx="432000" cy="3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x</a:t>
                </a:r>
                <a:r>
                  <a:rPr lang="en-GB" sz="1800" baseline="-25000">
                    <a:solidFill>
                      <a:srgbClr val="595959"/>
                    </a:solidFill>
                  </a:rPr>
                  <a:t>2</a:t>
                </a:r>
                <a:endParaRPr sz="1800" baseline="-25000">
                  <a:solidFill>
                    <a:srgbClr val="595959"/>
                  </a:solidFill>
                </a:endParaRPr>
              </a:p>
            </p:txBody>
          </p:sp>
          <p:grpSp>
            <p:nvGrpSpPr>
              <p:cNvPr id="1031" name="Google Shape;1031;p49"/>
              <p:cNvGrpSpPr/>
              <p:nvPr/>
            </p:nvGrpSpPr>
            <p:grpSpPr>
              <a:xfrm>
                <a:off x="1382025" y="2202525"/>
                <a:ext cx="1259125" cy="1465725"/>
                <a:chOff x="1266900" y="1732750"/>
                <a:chExt cx="1259125" cy="1465725"/>
              </a:xfrm>
            </p:grpSpPr>
            <p:sp>
              <p:nvSpPr>
                <p:cNvPr id="1032" name="Google Shape;1032;p49"/>
                <p:cNvSpPr/>
                <p:nvPr/>
              </p:nvSpPr>
              <p:spPr>
                <a:xfrm>
                  <a:off x="1266900" y="19646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3" name="Google Shape;1033;p49"/>
                <p:cNvSpPr/>
                <p:nvPr/>
              </p:nvSpPr>
              <p:spPr>
                <a:xfrm>
                  <a:off x="1266900" y="2571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4" name="Google Shape;1034;p49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035" name="Google Shape;1035;p49"/>
                <p:cNvCxnSpPr>
                  <a:stCxn id="1032" idx="6"/>
                  <a:endCxn id="1034" idx="2"/>
                </p:cNvCxnSpPr>
                <p:nvPr/>
              </p:nvCxnSpPr>
              <p:spPr>
                <a:xfrm rot="10800000" flipH="1">
                  <a:off x="1498800" y="1848700"/>
                  <a:ext cx="795300" cy="231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36" name="Google Shape;1036;p49"/>
                <p:cNvCxnSpPr>
                  <a:stCxn id="1033" idx="6"/>
                  <a:endCxn id="1034" idx="2"/>
                </p:cNvCxnSpPr>
                <p:nvPr/>
              </p:nvCxnSpPr>
              <p:spPr>
                <a:xfrm rot="10800000" flipH="1">
                  <a:off x="1498800" y="1848600"/>
                  <a:ext cx="795300" cy="83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37" name="Google Shape;1037;p49"/>
                <p:cNvCxnSpPr>
                  <a:stCxn id="1033" idx="6"/>
                  <a:endCxn id="1038" idx="2"/>
                </p:cNvCxnSpPr>
                <p:nvPr/>
              </p:nvCxnSpPr>
              <p:spPr>
                <a:xfrm>
                  <a:off x="1498800" y="2687700"/>
                  <a:ext cx="795300" cy="394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39" name="Google Shape;1039;p49"/>
                <p:cNvCxnSpPr>
                  <a:stCxn id="1032" idx="6"/>
                  <a:endCxn id="1038" idx="2"/>
                </p:cNvCxnSpPr>
                <p:nvPr/>
              </p:nvCxnSpPr>
              <p:spPr>
                <a:xfrm>
                  <a:off x="1498800" y="2080600"/>
                  <a:ext cx="795300" cy="1002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038" name="Google Shape;1038;p49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40" name="Google Shape;1040;p49"/>
            <p:cNvGrpSpPr/>
            <p:nvPr/>
          </p:nvGrpSpPr>
          <p:grpSpPr>
            <a:xfrm>
              <a:off x="2492650" y="949375"/>
              <a:ext cx="415500" cy="1762800"/>
              <a:chOff x="2307950" y="1146975"/>
              <a:chExt cx="415500" cy="1762800"/>
            </a:xfrm>
          </p:grpSpPr>
          <p:sp>
            <p:nvSpPr>
              <p:cNvPr id="1041" name="Google Shape;1041;p49"/>
              <p:cNvSpPr txBox="1"/>
              <p:nvPr/>
            </p:nvSpPr>
            <p:spPr>
              <a:xfrm>
                <a:off x="2307950" y="11469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1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042" name="Google Shape;1042;p49"/>
              <p:cNvSpPr txBox="1"/>
              <p:nvPr/>
            </p:nvSpPr>
            <p:spPr>
              <a:xfrm>
                <a:off x="2307950" y="2382675"/>
                <a:ext cx="4155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FF0000"/>
                    </a:solidFill>
                  </a:rPr>
                  <a:t>z</a:t>
                </a:r>
                <a:r>
                  <a:rPr lang="en-GB" sz="1800" baseline="-25000">
                    <a:solidFill>
                      <a:srgbClr val="FF0000"/>
                    </a:solidFill>
                  </a:rPr>
                  <a:t>2</a:t>
                </a:r>
                <a:endParaRPr sz="180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043" name="Google Shape;1043;p49"/>
            <p:cNvGrpSpPr/>
            <p:nvPr/>
          </p:nvGrpSpPr>
          <p:grpSpPr>
            <a:xfrm>
              <a:off x="3076750" y="949375"/>
              <a:ext cx="1822975" cy="1936788"/>
              <a:chOff x="3076750" y="949375"/>
              <a:chExt cx="1822975" cy="1936788"/>
            </a:xfrm>
          </p:grpSpPr>
          <p:sp>
            <p:nvSpPr>
              <p:cNvPr id="1044" name="Google Shape;1044;p49"/>
              <p:cNvSpPr/>
              <p:nvPr/>
            </p:nvSpPr>
            <p:spPr>
              <a:xfrm>
                <a:off x="4340100" y="2011013"/>
                <a:ext cx="231900" cy="231900"/>
              </a:xfrm>
              <a:prstGeom prst="ellipse">
                <a:avLst/>
              </a:prstGeom>
              <a:solidFill>
                <a:srgbClr val="EEEEEE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45" name="Google Shape;1045;p49"/>
              <p:cNvGrpSpPr/>
              <p:nvPr/>
            </p:nvGrpSpPr>
            <p:grpSpPr>
              <a:xfrm>
                <a:off x="3374650" y="1420438"/>
                <a:ext cx="231900" cy="1465725"/>
                <a:chOff x="2294125" y="1732750"/>
                <a:chExt cx="231900" cy="1465725"/>
              </a:xfrm>
            </p:grpSpPr>
            <p:sp>
              <p:nvSpPr>
                <p:cNvPr id="1046" name="Google Shape;1046;p49"/>
                <p:cNvSpPr/>
                <p:nvPr/>
              </p:nvSpPr>
              <p:spPr>
                <a:xfrm>
                  <a:off x="2294125" y="1732750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" name="Google Shape;1047;p49"/>
                <p:cNvSpPr/>
                <p:nvPr/>
              </p:nvSpPr>
              <p:spPr>
                <a:xfrm>
                  <a:off x="2294125" y="2966575"/>
                  <a:ext cx="231900" cy="231900"/>
                </a:xfrm>
                <a:prstGeom prst="ellipse">
                  <a:avLst/>
                </a:prstGeom>
                <a:solidFill>
                  <a:srgbClr val="EEEEEE"/>
                </a:solidFill>
                <a:ln w="9525" cap="flat" cmpd="sng">
                  <a:solidFill>
                    <a:srgbClr val="59595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1048" name="Google Shape;1048;p49"/>
              <p:cNvCxnSpPr>
                <a:stCxn id="1046" idx="6"/>
                <a:endCxn id="1044" idx="2"/>
              </p:cNvCxnSpPr>
              <p:nvPr/>
            </p:nvCxnSpPr>
            <p:spPr>
              <a:xfrm>
                <a:off x="3606550" y="1536388"/>
                <a:ext cx="733500" cy="590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9" name="Google Shape;1049;p49"/>
              <p:cNvCxnSpPr>
                <a:stCxn id="1047" idx="6"/>
                <a:endCxn id="1044" idx="2"/>
              </p:cNvCxnSpPr>
              <p:nvPr/>
            </p:nvCxnSpPr>
            <p:spPr>
              <a:xfrm rot="10800000" flipH="1">
                <a:off x="3606550" y="2127013"/>
                <a:ext cx="733500" cy="643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0" name="Google Shape;1050;p49"/>
              <p:cNvCxnSpPr>
                <a:stCxn id="1046" idx="2"/>
                <a:endCxn id="1034" idx="6"/>
              </p:cNvCxnSpPr>
              <p:nvPr/>
            </p:nvCxnSpPr>
            <p:spPr>
              <a:xfrm rot="10800000">
                <a:off x="3076750" y="1536388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1" name="Google Shape;1051;p49"/>
              <p:cNvCxnSpPr>
                <a:stCxn id="1047" idx="2"/>
                <a:endCxn id="1038" idx="6"/>
              </p:cNvCxnSpPr>
              <p:nvPr/>
            </p:nvCxnSpPr>
            <p:spPr>
              <a:xfrm rot="10800000">
                <a:off x="3076750" y="2770213"/>
                <a:ext cx="2979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2" name="Google Shape;1052;p49"/>
              <p:cNvSpPr txBox="1"/>
              <p:nvPr/>
            </p:nvSpPr>
            <p:spPr>
              <a:xfrm>
                <a:off x="3163900" y="949375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1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1053" name="Google Shape;1053;p49"/>
              <p:cNvSpPr txBox="1"/>
              <p:nvPr/>
            </p:nvSpPr>
            <p:spPr>
              <a:xfrm>
                <a:off x="3163900" y="2185100"/>
                <a:ext cx="653400" cy="52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FF"/>
                    </a:solidFill>
                  </a:rPr>
                  <a:t>ẑ</a:t>
                </a:r>
                <a:r>
                  <a:rPr lang="en-GB" sz="1800" baseline="-25000">
                    <a:solidFill>
                      <a:srgbClr val="0000FF"/>
                    </a:solidFill>
                  </a:rPr>
                  <a:t>2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  <p:sp>
            <p:nvSpPr>
              <p:cNvPr id="1054" name="Google Shape;1054;p49"/>
              <p:cNvSpPr txBox="1"/>
              <p:nvPr/>
            </p:nvSpPr>
            <p:spPr>
              <a:xfrm>
                <a:off x="4407725" y="1657225"/>
                <a:ext cx="492000" cy="46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595959"/>
                    </a:solidFill>
                  </a:rPr>
                  <a:t>y</a:t>
                </a:r>
                <a:endParaRPr sz="1800"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055" name="Google Shape;1055;p49"/>
          <p:cNvSpPr txBox="1"/>
          <p:nvPr/>
        </p:nvSpPr>
        <p:spPr>
          <a:xfrm>
            <a:off x="4159925" y="4281775"/>
            <a:ext cx="40380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FF"/>
                </a:solidFill>
              </a:rPr>
              <a:t>Linear layer: simple substitution</a:t>
            </a:r>
            <a:endParaRPr sz="1800">
              <a:solidFill>
                <a:srgbClr val="0000FF"/>
              </a:solidFill>
            </a:endParaRPr>
          </a:p>
        </p:txBody>
      </p:sp>
      <p:pic>
        <p:nvPicPr>
          <p:cNvPr id="1056" name="Google Shape;1056;p49" descr="z_1 = x_1 - x_2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122832" y="2217050"/>
            <a:ext cx="1694936" cy="277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49" descr="z_2 = 2x_1 - x_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122835" y="2624178"/>
            <a:ext cx="1778074" cy="302272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49"/>
          <p:cNvSpPr/>
          <p:nvPr/>
        </p:nvSpPr>
        <p:spPr>
          <a:xfrm>
            <a:off x="5851850" y="2943350"/>
            <a:ext cx="281700" cy="509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9" name="Google Shape;1059;p49" descr="y \geq -\frac{2}{3}z_2 - 2 + \beta z_1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006463" y="1819100"/>
            <a:ext cx="1927664" cy="32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49" descr="y \geq (\beta - \frac{4}{3}) x_1 + (\frac{2}{3} - \beta) x_2 - 2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571999" y="3661613"/>
            <a:ext cx="3003476" cy="3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/>
              <a:t>β-CROWN with neuron split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endParaRPr lang="en-GB"/>
          </a:p>
        </p:txBody>
      </p:sp>
      <p:sp>
        <p:nvSpPr>
          <p:cNvPr id="1066" name="Google Shape;1066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5: concretize linear bounds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Concretization depends on the sign of the coefficients, so we must discuss three cases: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</a:t>
            </a:r>
          </a:p>
        </p:txBody>
      </p:sp>
      <p:pic>
        <p:nvPicPr>
          <p:cNvPr id="1067" name="Google Shape;1067;p50" descr="x_1 \in [-1, 2], \ x_2 \in [-2,1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180150" y="1718975"/>
            <a:ext cx="2437224" cy="3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50" descr="y \geq (\beta - \frac{4}{3}) x_1 + (\frac{2}{3} - \beta) x_2 - 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127449" y="1270138"/>
            <a:ext cx="3003476" cy="32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50" descr="0 \leq \beta \leq \frac{2}{3}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180150" y="2762675"/>
            <a:ext cx="1287976" cy="41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50" descr="\frac{2}{3} \leq \beta \leq \frac{4}{3}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148975" y="3181275"/>
            <a:ext cx="1350322" cy="41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50" descr="\beta \geq \frac{4}{3}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710477" y="3677225"/>
            <a:ext cx="757660" cy="41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50"/>
          <p:cNvSpPr/>
          <p:nvPr/>
        </p:nvSpPr>
        <p:spPr>
          <a:xfrm>
            <a:off x="4987500" y="1153075"/>
            <a:ext cx="242400" cy="5727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50"/>
          <p:cNvSpPr/>
          <p:nvPr/>
        </p:nvSpPr>
        <p:spPr>
          <a:xfrm>
            <a:off x="5867150" y="1153075"/>
            <a:ext cx="242400" cy="5727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r>
              <a:rPr lang="en-GB"/>
              <a:t>β-CROWN with neuron split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20204"/>
              <a:buNone/>
            </a:pPr>
            <a:endParaRPr lang="en-GB"/>
          </a:p>
        </p:txBody>
      </p:sp>
      <p:sp>
        <p:nvSpPr>
          <p:cNvPr id="1079" name="Google Shape;1079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5: concretize linear bounds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        </a:t>
            </a:r>
          </a:p>
        </p:txBody>
      </p:sp>
      <p:pic>
        <p:nvPicPr>
          <p:cNvPr id="1080" name="Google Shape;1080;p51" descr="x_1 \in [-1, 2], \ x_2 \in [-2,1]" title="MathEquation,#00000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180150" y="1718975"/>
            <a:ext cx="2437224" cy="3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51" descr="y \geq (\beta - \frac{4}{3}) x_1 + (\frac{2}{3} - \beta) x_2 - 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127449" y="1270138"/>
            <a:ext cx="3003476" cy="32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51" descr="0 \leq \beta \leq \frac{2}{3}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01700" y="2153150"/>
            <a:ext cx="1287976" cy="4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51"/>
          <p:cNvSpPr/>
          <p:nvPr/>
        </p:nvSpPr>
        <p:spPr>
          <a:xfrm>
            <a:off x="4987500" y="1153075"/>
            <a:ext cx="242400" cy="5727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51"/>
          <p:cNvSpPr/>
          <p:nvPr/>
        </p:nvSpPr>
        <p:spPr>
          <a:xfrm>
            <a:off x="5867150" y="1153075"/>
            <a:ext cx="242400" cy="5727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5" name="Google Shape;1085;p51" descr="y \geq (\beta - \frac{4}{3}) \cdot 2 + (\frac{2}{3} - \beta) \cdot (-2) - 2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2963450" y="2270150"/>
            <a:ext cx="3217092" cy="3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51" descr="\frac{2}{3} \leq \beta \leq \frac{4}{3}" title="MathEquation,#000000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470525" y="3202350"/>
            <a:ext cx="1350322" cy="41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51" descr="\beta \geq \frac{4}{3}" title="MathEquation,#000000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873927" y="4135625"/>
            <a:ext cx="757660" cy="41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51" descr="y \geq (\beta - \frac{4}{3}) \cdot 2 + (\frac{2}{3} - \beta) \cdot 1 - 2" title="MathEquation,#000000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3191528" y="3298100"/>
            <a:ext cx="3074722" cy="32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51" descr="y \geq (\beta - \frac{4}{3}) \cdot (-1) + (\frac{2}{3} - \beta) \cdot 1 - 2" title="MathEquation,#000000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3191525" y="4135625"/>
            <a:ext cx="3488000" cy="3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51"/>
          <p:cNvSpPr txBox="1"/>
          <p:nvPr/>
        </p:nvSpPr>
        <p:spPr>
          <a:xfrm>
            <a:off x="2173325" y="2628650"/>
            <a:ext cx="66591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optimal β to maximize y is 2/3, with objective = -10/3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1" name="Google Shape;1091;p51"/>
          <p:cNvSpPr txBox="1"/>
          <p:nvPr/>
        </p:nvSpPr>
        <p:spPr>
          <a:xfrm>
            <a:off x="2173325" y="3561000"/>
            <a:ext cx="5212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optimal β is 4/3, with objective = </a:t>
            </a:r>
            <a:r>
              <a:rPr lang="en-GB" sz="1800" b="1">
                <a:solidFill>
                  <a:schemeClr val="dk2"/>
                </a:solidFill>
              </a:rPr>
              <a:t>-8/3</a:t>
            </a:r>
            <a:endParaRPr sz="1800" b="1">
              <a:solidFill>
                <a:schemeClr val="dk2"/>
              </a:solidFill>
            </a:endParaRPr>
          </a:p>
        </p:txBody>
      </p:sp>
      <p:sp>
        <p:nvSpPr>
          <p:cNvPr id="1092" name="Google Shape;1092;p51"/>
          <p:cNvSpPr txBox="1"/>
          <p:nvPr/>
        </p:nvSpPr>
        <p:spPr>
          <a:xfrm>
            <a:off x="2122638" y="4554225"/>
            <a:ext cx="5212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 optimal β is 4/3, with objective = </a:t>
            </a:r>
            <a:r>
              <a:rPr lang="en-GB" sz="1800" b="1">
                <a:solidFill>
                  <a:schemeClr val="dk2"/>
                </a:solidFill>
              </a:rPr>
              <a:t>-8/3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 interpretation</a:t>
            </a:r>
          </a:p>
        </p:txBody>
      </p:sp>
      <p:grpSp>
        <p:nvGrpSpPr>
          <p:cNvPr id="1098" name="Google Shape;1098;p52"/>
          <p:cNvGrpSpPr/>
          <p:nvPr/>
        </p:nvGrpSpPr>
        <p:grpSpPr>
          <a:xfrm>
            <a:off x="1244788" y="1987725"/>
            <a:ext cx="3227275" cy="2205500"/>
            <a:chOff x="4979700" y="2440925"/>
            <a:chExt cx="3227275" cy="2205500"/>
          </a:xfrm>
        </p:grpSpPr>
        <p:sp>
          <p:nvSpPr>
            <p:cNvPr id="1099" name="Google Shape;1099;p52"/>
            <p:cNvSpPr/>
            <p:nvPr/>
          </p:nvSpPr>
          <p:spPr>
            <a:xfrm>
              <a:off x="5487725" y="3061075"/>
              <a:ext cx="1170000" cy="1148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52"/>
            <p:cNvSpPr txBox="1"/>
            <p:nvPr/>
          </p:nvSpPr>
          <p:spPr>
            <a:xfrm>
              <a:off x="7637875" y="3534875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1101" name="Google Shape;1101;p52"/>
            <p:cNvSpPr txBox="1"/>
            <p:nvPr/>
          </p:nvSpPr>
          <p:spPr>
            <a:xfrm>
              <a:off x="5998475" y="2440925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1102" name="Google Shape;1102;p52"/>
            <p:cNvSpPr/>
            <p:nvPr/>
          </p:nvSpPr>
          <p:spPr>
            <a:xfrm rot="5400000">
              <a:off x="5482925" y="3069776"/>
              <a:ext cx="967800" cy="950400"/>
            </a:xfrm>
            <a:prstGeom prst="triangle">
              <a:avLst>
                <a:gd name="adj" fmla="val 0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03" name="Google Shape;1103;p52"/>
            <p:cNvCxnSpPr/>
            <p:nvPr/>
          </p:nvCxnSpPr>
          <p:spPr>
            <a:xfrm rot="10800000" flipH="1">
              <a:off x="5050725" y="2711275"/>
              <a:ext cx="1760100" cy="177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104" name="Google Shape;1104;p52" descr="x_1 - x_2 \leq 0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4979700" y="2818375"/>
              <a:ext cx="829950" cy="1670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05" name="Google Shape;1105;p52"/>
            <p:cNvCxnSpPr/>
            <p:nvPr/>
          </p:nvCxnSpPr>
          <p:spPr>
            <a:xfrm>
              <a:off x="5171525" y="3534875"/>
              <a:ext cx="2814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06" name="Google Shape;1106;p52"/>
            <p:cNvCxnSpPr/>
            <p:nvPr/>
          </p:nvCxnSpPr>
          <p:spPr>
            <a:xfrm rot="10800000">
              <a:off x="5998475" y="2681125"/>
              <a:ext cx="0" cy="196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107" name="Google Shape;1107;p52"/>
          <p:cNvSpPr txBox="1"/>
          <p:nvPr/>
        </p:nvSpPr>
        <p:spPr>
          <a:xfrm>
            <a:off x="1045575" y="4662875"/>
            <a:ext cx="4490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 constraint, obj = -6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08" name="Google Shape;1108;p52" descr="\displaystyle \min_{x_1, x_2} -\frac{4}{3}x_1 + \frac{2}{3}x_2 - 2" title="MathEquation,#00000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3437938" y="1216387"/>
            <a:ext cx="2268122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9" name="Google Shape;1109;p52"/>
          <p:cNvCxnSpPr/>
          <p:nvPr/>
        </p:nvCxnSpPr>
        <p:spPr>
          <a:xfrm rot="10800000" flipH="1">
            <a:off x="2294588" y="2869075"/>
            <a:ext cx="1212000" cy="184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10" name="Google Shape;1110;p52"/>
          <p:cNvGrpSpPr/>
          <p:nvPr/>
        </p:nvGrpSpPr>
        <p:grpSpPr>
          <a:xfrm>
            <a:off x="5486688" y="2182300"/>
            <a:ext cx="3227275" cy="2205500"/>
            <a:chOff x="4979700" y="2440925"/>
            <a:chExt cx="3227275" cy="2205500"/>
          </a:xfrm>
        </p:grpSpPr>
        <p:sp>
          <p:nvSpPr>
            <p:cNvPr id="1111" name="Google Shape;1111;p52"/>
            <p:cNvSpPr/>
            <p:nvPr/>
          </p:nvSpPr>
          <p:spPr>
            <a:xfrm>
              <a:off x="5487725" y="3061075"/>
              <a:ext cx="1170000" cy="1148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52"/>
            <p:cNvSpPr txBox="1"/>
            <p:nvPr/>
          </p:nvSpPr>
          <p:spPr>
            <a:xfrm>
              <a:off x="7637875" y="3534875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1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1113" name="Google Shape;1113;p52"/>
            <p:cNvSpPr txBox="1"/>
            <p:nvPr/>
          </p:nvSpPr>
          <p:spPr>
            <a:xfrm>
              <a:off x="5998475" y="2440925"/>
              <a:ext cx="5691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x</a:t>
              </a:r>
              <a:r>
                <a:rPr lang="en-GB" sz="1800" baseline="-25000">
                  <a:solidFill>
                    <a:schemeClr val="dk2"/>
                  </a:solidFill>
                </a:rPr>
                <a:t>2</a:t>
              </a:r>
              <a:endParaRPr sz="1800" baseline="-25000">
                <a:solidFill>
                  <a:schemeClr val="dk2"/>
                </a:solidFill>
              </a:endParaRPr>
            </a:p>
          </p:txBody>
        </p:sp>
        <p:sp>
          <p:nvSpPr>
            <p:cNvPr id="1114" name="Google Shape;1114;p52"/>
            <p:cNvSpPr/>
            <p:nvPr/>
          </p:nvSpPr>
          <p:spPr>
            <a:xfrm rot="5400000">
              <a:off x="5482925" y="3069776"/>
              <a:ext cx="967800" cy="950400"/>
            </a:xfrm>
            <a:prstGeom prst="triangle">
              <a:avLst>
                <a:gd name="adj" fmla="val 0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5" name="Google Shape;1115;p52"/>
            <p:cNvCxnSpPr/>
            <p:nvPr/>
          </p:nvCxnSpPr>
          <p:spPr>
            <a:xfrm rot="10800000" flipH="1">
              <a:off x="5050725" y="2711275"/>
              <a:ext cx="1760100" cy="1770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116" name="Google Shape;1116;p52" descr="x_1 - x_2 \leq 0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4979700" y="2818375"/>
              <a:ext cx="829950" cy="1670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17" name="Google Shape;1117;p52"/>
            <p:cNvCxnSpPr/>
            <p:nvPr/>
          </p:nvCxnSpPr>
          <p:spPr>
            <a:xfrm>
              <a:off x="5171525" y="3534875"/>
              <a:ext cx="2814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18" name="Google Shape;1118;p52"/>
            <p:cNvCxnSpPr/>
            <p:nvPr/>
          </p:nvCxnSpPr>
          <p:spPr>
            <a:xfrm rot="10800000">
              <a:off x="5998475" y="2681125"/>
              <a:ext cx="0" cy="196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1119" name="Google Shape;1119;p52"/>
          <p:cNvCxnSpPr/>
          <p:nvPr/>
        </p:nvCxnSpPr>
        <p:spPr>
          <a:xfrm rot="10800000" flipH="1">
            <a:off x="5967338" y="2494475"/>
            <a:ext cx="1212000" cy="184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0" name="Google Shape;1120;p52"/>
          <p:cNvSpPr txBox="1"/>
          <p:nvPr/>
        </p:nvSpPr>
        <p:spPr>
          <a:xfrm>
            <a:off x="5157175" y="4662875"/>
            <a:ext cx="4490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With constraint, obj = -8/3, improved!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21" name="Google Shape;1121;p52" descr="-\frac{4}{3}x_1 + \frac{2}{3}x_2 = -4" title="MathEquation,#00000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036550" y="2656012"/>
            <a:ext cx="1192100" cy="21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52" descr="-\frac{4}{3}x_1 + \frac{2}{3}x_2 = -\frac{2}{3}" title="MathEquation,#00000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274200" y="2286175"/>
            <a:ext cx="1631850" cy="28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dimension/which neuron to branch?</a:t>
            </a:r>
          </a:p>
        </p:txBody>
      </p:sp>
      <p:sp>
        <p:nvSpPr>
          <p:cNvPr id="1128" name="Google Shape;1128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 to the backtracking process in DPLL, the selection of which dimension (for input split) or which neuron (ReLU split) is very important.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Strong branching: try every possible branch and choose the one with actual largest improvements in lower bound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Heuristic branching: estimate how good a branch is, and choose the neuron/dimension with highest score.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branching heuristic</a:t>
            </a:r>
          </a:p>
        </p:txBody>
      </p:sp>
      <p:sp>
        <p:nvSpPr>
          <p:cNvPr id="1134" name="Google Shape;113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S = {x</a:t>
            </a:r>
            <a:r>
              <a:rPr lang="en-GB" baseline="-25000"/>
              <a:t>1</a:t>
            </a:r>
            <a:r>
              <a:rPr lang="en-GB"/>
              <a:t> ∈ [-1, 1], x</a:t>
            </a:r>
            <a:r>
              <a:rPr lang="en-GB" baseline="-25000"/>
              <a:t>2</a:t>
            </a:r>
            <a:r>
              <a:rPr lang="en-GB"/>
              <a:t> ∈ [-1, 1]}    =&gt;  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 baseline="-25000"/>
              <a:t>1</a:t>
            </a:r>
            <a:r>
              <a:rPr lang="en-GB"/>
              <a:t> = {x</a:t>
            </a:r>
            <a:r>
              <a:rPr lang="en-GB" baseline="-25000"/>
              <a:t>1</a:t>
            </a:r>
            <a:r>
              <a:rPr lang="en-GB"/>
              <a:t> ∈ [-1, </a:t>
            </a:r>
            <a:r>
              <a:rPr lang="en-GB">
                <a:solidFill>
                  <a:srgbClr val="FF0000"/>
                </a:solidFill>
              </a:rPr>
              <a:t>0</a:t>
            </a:r>
            <a:r>
              <a:rPr lang="en-GB"/>
              <a:t>], x</a:t>
            </a:r>
            <a:r>
              <a:rPr lang="en-GB" baseline="-25000"/>
              <a:t>2</a:t>
            </a:r>
            <a:r>
              <a:rPr lang="en-GB"/>
              <a:t> ∈ [-1, 1]}, S</a:t>
            </a:r>
            <a:r>
              <a:rPr lang="en-GB" baseline="-25000"/>
              <a:t>2</a:t>
            </a:r>
            <a:r>
              <a:rPr lang="en-GB"/>
              <a:t> = {x</a:t>
            </a:r>
            <a:r>
              <a:rPr lang="en-GB" baseline="-25000"/>
              <a:t>2</a:t>
            </a:r>
            <a:r>
              <a:rPr lang="en-GB"/>
              <a:t> ∈ [</a:t>
            </a:r>
            <a:r>
              <a:rPr lang="en-GB">
                <a:solidFill>
                  <a:srgbClr val="FF0000"/>
                </a:solidFill>
              </a:rPr>
              <a:t>0</a:t>
            </a:r>
            <a:r>
              <a:rPr lang="en-GB"/>
              <a:t>, 1], x</a:t>
            </a:r>
            <a:r>
              <a:rPr lang="en-GB" baseline="-25000"/>
              <a:t>2</a:t>
            </a:r>
            <a:r>
              <a:rPr lang="en-GB"/>
              <a:t> ∈ [-1, 1]}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OR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 baseline="-25000"/>
              <a:t>1</a:t>
            </a:r>
            <a:r>
              <a:rPr lang="en-GB"/>
              <a:t> = {x</a:t>
            </a:r>
            <a:r>
              <a:rPr lang="en-GB" baseline="-25000"/>
              <a:t>1</a:t>
            </a:r>
            <a:r>
              <a:rPr lang="en-GB"/>
              <a:t> ∈[-1, 1] x</a:t>
            </a:r>
            <a:r>
              <a:rPr lang="en-GB" baseline="-25000"/>
              <a:t>2</a:t>
            </a:r>
            <a:r>
              <a:rPr lang="en-GB"/>
              <a:t> ∈ [-1, </a:t>
            </a:r>
            <a:r>
              <a:rPr lang="en-GB">
                <a:solidFill>
                  <a:srgbClr val="FF0000"/>
                </a:solidFill>
              </a:rPr>
              <a:t>0</a:t>
            </a:r>
            <a:r>
              <a:rPr lang="en-GB"/>
              <a:t>]}, S</a:t>
            </a:r>
            <a:r>
              <a:rPr lang="en-GB" baseline="-25000"/>
              <a:t>2</a:t>
            </a:r>
            <a:r>
              <a:rPr lang="en-GB"/>
              <a:t> = {x</a:t>
            </a:r>
            <a:r>
              <a:rPr lang="en-GB" baseline="-25000"/>
              <a:t>2</a:t>
            </a:r>
            <a:r>
              <a:rPr lang="en-GB"/>
              <a:t> ∈ [-1, 1], x</a:t>
            </a:r>
            <a:r>
              <a:rPr lang="en-GB" baseline="-25000"/>
              <a:t>2</a:t>
            </a:r>
            <a:r>
              <a:rPr lang="en-GB"/>
              <a:t> ∈ [</a:t>
            </a:r>
            <a:r>
              <a:rPr lang="en-GB">
                <a:solidFill>
                  <a:srgbClr val="FF0000"/>
                </a:solidFill>
              </a:rPr>
              <a:t>0</a:t>
            </a:r>
            <a:r>
              <a:rPr lang="en-GB"/>
              <a:t>, 1]}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We can estimate the impact on lower bound given changes on x</a:t>
            </a:r>
            <a:r>
              <a:rPr lang="en-GB" baseline="-25000"/>
              <a:t>1</a:t>
            </a:r>
            <a:r>
              <a:rPr lang="en-GB"/>
              <a:t> and x</a:t>
            </a:r>
            <a:r>
              <a:rPr lang="en-GB" baseline="-25000"/>
              <a:t>2</a:t>
            </a:r>
            <a:endParaRPr baseline="-25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/>
              <a:t>Given the CROWN linear bound y&gt;= a</a:t>
            </a:r>
            <a:r>
              <a:rPr lang="en-GB" baseline="-25000"/>
              <a:t>1 </a:t>
            </a:r>
            <a:r>
              <a:rPr lang="en-GB"/>
              <a:t>x</a:t>
            </a:r>
            <a:r>
              <a:rPr lang="en-GB" baseline="-25000"/>
              <a:t>1 </a:t>
            </a:r>
            <a:r>
              <a:rPr lang="en-GB"/>
              <a:t>+ a</a:t>
            </a:r>
            <a:r>
              <a:rPr lang="en-GB" baseline="-25000"/>
              <a:t>2 </a:t>
            </a:r>
            <a:r>
              <a:rPr lang="en-GB"/>
              <a:t>x</a:t>
            </a:r>
            <a:r>
              <a:rPr lang="en-GB" baseline="-25000"/>
              <a:t>2</a:t>
            </a:r>
            <a:r>
              <a:rPr lang="en-GB"/>
              <a:t>+c, we branch on dimension i where |a</a:t>
            </a:r>
            <a:r>
              <a:rPr lang="en-GB" baseline="-25000"/>
              <a:t>i</a:t>
            </a:r>
            <a:r>
              <a:rPr lang="en-GB"/>
              <a:t>| is largest.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55"/>
          <p:cNvSpPr/>
          <p:nvPr/>
        </p:nvSpPr>
        <p:spPr>
          <a:xfrm>
            <a:off x="5418500" y="1239625"/>
            <a:ext cx="3432900" cy="2570400"/>
          </a:xfrm>
          <a:prstGeom prst="roundRect">
            <a:avLst>
              <a:gd name="adj" fmla="val 840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55"/>
          <p:cNvSpPr/>
          <p:nvPr/>
        </p:nvSpPr>
        <p:spPr>
          <a:xfrm>
            <a:off x="1909400" y="1251050"/>
            <a:ext cx="3432900" cy="2570400"/>
          </a:xfrm>
          <a:prstGeom prst="roundRect">
            <a:avLst>
              <a:gd name="adj" fmla="val 840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5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2"/>
                </a:solidFill>
              </a:rPr>
              <a:t>Benchmarks: CROWN-family bound propagation algorithms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1142" name="Google Shape;1142;p55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112</a:t>
            </a:fld>
            <a:endParaRPr lang="en-GB"/>
          </a:p>
        </p:txBody>
      </p:sp>
      <p:sp>
        <p:nvSpPr>
          <p:cNvPr id="1143" name="Google Shape;1143;p55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44" name="Google Shape;1144;p55"/>
          <p:cNvSpPr/>
          <p:nvPr/>
        </p:nvSpPr>
        <p:spPr>
          <a:xfrm>
            <a:off x="342900" y="4349175"/>
            <a:ext cx="8648700" cy="4002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Key enablers: specialized bound propagation solver + GPU acceleration + BaB</a:t>
            </a:r>
            <a:endParaRPr sz="1800"/>
          </a:p>
        </p:txBody>
      </p:sp>
      <p:sp>
        <p:nvSpPr>
          <p:cNvPr id="1145" name="Google Shape;1145;p55"/>
          <p:cNvSpPr txBox="1"/>
          <p:nvPr/>
        </p:nvSpPr>
        <p:spPr>
          <a:xfrm>
            <a:off x="2580650" y="3838325"/>
            <a:ext cx="225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size: ~5k neurons</a:t>
            </a:r>
          </a:p>
        </p:txBody>
      </p:sp>
      <p:sp>
        <p:nvSpPr>
          <p:cNvPr id="1146" name="Google Shape;1146;p55"/>
          <p:cNvSpPr txBox="1"/>
          <p:nvPr/>
        </p:nvSpPr>
        <p:spPr>
          <a:xfrm>
            <a:off x="5550275" y="3760550"/>
            <a:ext cx="3288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80000"/>
                </a:solidFill>
              </a:rPr>
              <a:t>Integer programming and semidefinite programming </a:t>
            </a:r>
            <a:r>
              <a:rPr lang="en-GB" sz="1200" b="1">
                <a:solidFill>
                  <a:srgbClr val="FF0000"/>
                </a:solidFill>
              </a:rPr>
              <a:t>not plotted</a:t>
            </a:r>
            <a:r>
              <a:rPr lang="en-GB" sz="1200">
                <a:solidFill>
                  <a:srgbClr val="FF0000"/>
                </a:solidFill>
              </a:rPr>
              <a:t> (</a:t>
            </a:r>
            <a:r>
              <a:rPr lang="en-GB" sz="1200" b="1">
                <a:solidFill>
                  <a:srgbClr val="FF0000"/>
                </a:solidFill>
              </a:rPr>
              <a:t>~1 day</a:t>
            </a:r>
            <a:r>
              <a:rPr lang="en-GB" sz="1200">
                <a:solidFill>
                  <a:srgbClr val="FF0000"/>
                </a:solidFill>
              </a:rPr>
              <a:t>)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147" name="Google Shape;1147;p55"/>
          <p:cNvSpPr/>
          <p:nvPr/>
        </p:nvSpPr>
        <p:spPr>
          <a:xfrm>
            <a:off x="2845113" y="1029938"/>
            <a:ext cx="1626300" cy="4890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Verified images%</a:t>
            </a:r>
            <a:br>
              <a:rPr lang="en-GB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GB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(higher is better)</a:t>
            </a:r>
          </a:p>
        </p:txBody>
      </p:sp>
      <p:sp>
        <p:nvSpPr>
          <p:cNvPr id="1148" name="Google Shape;1148;p55"/>
          <p:cNvSpPr/>
          <p:nvPr/>
        </p:nvSpPr>
        <p:spPr>
          <a:xfrm>
            <a:off x="6381563" y="1016888"/>
            <a:ext cx="1626300" cy="4890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Avg. time (s)</a:t>
            </a:r>
            <a:br>
              <a:rPr lang="en-GB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GB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(lower is better)</a:t>
            </a:r>
            <a:endParaRPr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pic>
        <p:nvPicPr>
          <p:cNvPr id="1149" name="Google Shape;1149;p55" title="Chart"/>
          <p:cNvPicPr preferRelativeResize="0"/>
          <p:nvPr/>
        </p:nvPicPr>
        <p:blipFill rotWithShape="1">
          <a:blip r:embed="rId3"/>
          <a:srcRect l="70041" r="3085" b="50037"/>
          <a:stretch>
            <a:fillRect/>
          </a:stretch>
        </p:blipFill>
        <p:spPr>
          <a:xfrm>
            <a:off x="254600" y="1444475"/>
            <a:ext cx="1559598" cy="11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55" title="Chart"/>
          <p:cNvPicPr preferRelativeResize="0"/>
          <p:nvPr/>
        </p:nvPicPr>
        <p:blipFill rotWithShape="1">
          <a:blip r:embed="rId4"/>
          <a:srcRect l="8513" t="4060" r="30147" b="5507"/>
          <a:stretch>
            <a:fillRect/>
          </a:stretch>
        </p:blipFill>
        <p:spPr>
          <a:xfrm>
            <a:off x="1959025" y="1703725"/>
            <a:ext cx="3343698" cy="20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55" title="Chart"/>
          <p:cNvPicPr preferRelativeResize="0"/>
          <p:nvPr/>
        </p:nvPicPr>
        <p:blipFill rotWithShape="1">
          <a:blip r:embed="rId5"/>
          <a:srcRect l="7949" t="4664" r="28906" b="4772"/>
          <a:stretch>
            <a:fillRect/>
          </a:stretch>
        </p:blipFill>
        <p:spPr>
          <a:xfrm>
            <a:off x="5461575" y="1705053"/>
            <a:ext cx="3343698" cy="20209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2" name="Google Shape;1152;p55"/>
          <p:cNvGrpSpPr/>
          <p:nvPr/>
        </p:nvGrpSpPr>
        <p:grpSpPr>
          <a:xfrm>
            <a:off x="2387925" y="1624050"/>
            <a:ext cx="2553950" cy="830375"/>
            <a:chOff x="2648075" y="1515063"/>
            <a:chExt cx="2553950" cy="830375"/>
          </a:xfrm>
        </p:grpSpPr>
        <p:cxnSp>
          <p:nvCxnSpPr>
            <p:cNvPr id="1153" name="Google Shape;1153;p55"/>
            <p:cNvCxnSpPr/>
            <p:nvPr/>
          </p:nvCxnSpPr>
          <p:spPr>
            <a:xfrm>
              <a:off x="2815775" y="1785575"/>
              <a:ext cx="9453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4" name="Google Shape;1154;p55"/>
            <p:cNvCxnSpPr/>
            <p:nvPr/>
          </p:nvCxnSpPr>
          <p:spPr>
            <a:xfrm>
              <a:off x="4194625" y="2286350"/>
              <a:ext cx="9252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5" name="Google Shape;1155;p55"/>
            <p:cNvSpPr txBox="1"/>
            <p:nvPr/>
          </p:nvSpPr>
          <p:spPr>
            <a:xfrm>
              <a:off x="2648075" y="1515063"/>
              <a:ext cx="20967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FF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Upper bound 76.5%</a:t>
              </a:r>
              <a:endParaRPr sz="1100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sp>
          <p:nvSpPr>
            <p:cNvPr id="1156" name="Google Shape;1156;p55"/>
            <p:cNvSpPr txBox="1"/>
            <p:nvPr/>
          </p:nvSpPr>
          <p:spPr>
            <a:xfrm>
              <a:off x="4417225" y="1991438"/>
              <a:ext cx="784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FF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53.0%</a:t>
              </a:r>
              <a:endParaRPr sz="1100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  <p:grpSp>
        <p:nvGrpSpPr>
          <p:cNvPr id="1157" name="Google Shape;1157;p55"/>
          <p:cNvGrpSpPr/>
          <p:nvPr/>
        </p:nvGrpSpPr>
        <p:grpSpPr>
          <a:xfrm>
            <a:off x="3012950" y="1972867"/>
            <a:ext cx="1761229" cy="1569220"/>
            <a:chOff x="2340437" y="1842866"/>
            <a:chExt cx="1756837" cy="1423200"/>
          </a:xfrm>
        </p:grpSpPr>
        <p:cxnSp>
          <p:nvCxnSpPr>
            <p:cNvPr id="1158" name="Google Shape;1158;p55"/>
            <p:cNvCxnSpPr/>
            <p:nvPr/>
          </p:nvCxnSpPr>
          <p:spPr>
            <a:xfrm rot="10800000" flipH="1">
              <a:off x="2340437" y="1842866"/>
              <a:ext cx="431100" cy="14232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59" name="Google Shape;1159;p55"/>
            <p:cNvCxnSpPr/>
            <p:nvPr/>
          </p:nvCxnSpPr>
          <p:spPr>
            <a:xfrm rot="10800000" flipH="1">
              <a:off x="3690474" y="2336082"/>
              <a:ext cx="406800" cy="5223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1160" name="Google Shape;1160;p55" title="Chart"/>
          <p:cNvPicPr preferRelativeResize="0"/>
          <p:nvPr/>
        </p:nvPicPr>
        <p:blipFill rotWithShape="1">
          <a:blip r:embed="rId6"/>
          <a:srcRect l="70718" t="55692" r="3130" b="11588"/>
          <a:stretch>
            <a:fillRect/>
          </a:stretch>
        </p:blipFill>
        <p:spPr>
          <a:xfrm>
            <a:off x="278950" y="2802575"/>
            <a:ext cx="1210726" cy="853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55"/>
          <p:cNvSpPr txBox="1"/>
          <p:nvPr/>
        </p:nvSpPr>
        <p:spPr>
          <a:xfrm>
            <a:off x="-134900" y="3611900"/>
            <a:ext cx="225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Pixel perturbation magnitude:</a:t>
            </a:r>
            <a:br>
              <a:rPr lang="en-GB" sz="1000">
                <a:solidFill>
                  <a:schemeClr val="lt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</a:br>
            <a:r>
              <a:rPr lang="en-GB" sz="1000">
                <a:solidFill>
                  <a:schemeClr val="lt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0.3 for MNIST, 2/255 for CIFAR</a:t>
            </a:r>
            <a:endParaRPr sz="1000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62" name="Google Shape;1162;p55"/>
          <p:cNvSpPr/>
          <p:nvPr/>
        </p:nvSpPr>
        <p:spPr>
          <a:xfrm>
            <a:off x="261000" y="1464850"/>
            <a:ext cx="1559700" cy="2191800"/>
          </a:xfrm>
          <a:prstGeom prst="roundRect">
            <a:avLst>
              <a:gd name="adj" fmla="val 894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55"/>
          <p:cNvSpPr txBox="1"/>
          <p:nvPr/>
        </p:nvSpPr>
        <p:spPr>
          <a:xfrm>
            <a:off x="7610900" y="2456225"/>
            <a:ext cx="2096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F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 day -&gt; 1 minute</a:t>
            </a:r>
            <a:endParaRPr sz="1100">
              <a:solidFill>
                <a:srgbClr val="0000FF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6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600">
                <a:solidFill>
                  <a:schemeClr val="dk2"/>
                </a:solidFill>
              </a:rPr>
              <a:t>Theoretical Connections: CROWN vs MIP/LP</a:t>
            </a:r>
            <a:endParaRPr sz="2600"/>
          </a:p>
        </p:txBody>
      </p:sp>
      <p:sp>
        <p:nvSpPr>
          <p:cNvPr id="1169" name="Google Shape;1169;p56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113</a:t>
            </a:fld>
            <a:endParaRPr lang="en-GB"/>
          </a:p>
        </p:txBody>
      </p:sp>
      <p:sp>
        <p:nvSpPr>
          <p:cNvPr id="1170" name="Google Shape;1170;p56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71" name="Google Shape;1171;p56"/>
          <p:cNvSpPr/>
          <p:nvPr/>
        </p:nvSpPr>
        <p:spPr>
          <a:xfrm>
            <a:off x="5397925" y="2866450"/>
            <a:ext cx="3198900" cy="310800"/>
          </a:xfrm>
          <a:prstGeom prst="roundRect">
            <a:avLst>
              <a:gd name="adj" fmla="val 16667"/>
            </a:avLst>
          </a:prstGeom>
          <a:solidFill>
            <a:srgbClr val="EFB2B2">
              <a:alpha val="74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Linear programming (primal)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72" name="Google Shape;1172;p56"/>
          <p:cNvSpPr/>
          <p:nvPr/>
        </p:nvSpPr>
        <p:spPr>
          <a:xfrm>
            <a:off x="5397925" y="3640200"/>
            <a:ext cx="3198900" cy="310800"/>
          </a:xfrm>
          <a:prstGeom prst="roundRect">
            <a:avLst>
              <a:gd name="adj" fmla="val 16667"/>
            </a:avLst>
          </a:prstGeom>
          <a:solidFill>
            <a:srgbClr val="F4CCCC">
              <a:alpha val="4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Linear programming (dual)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73" name="Google Shape;1173;p56"/>
          <p:cNvSpPr/>
          <p:nvPr/>
        </p:nvSpPr>
        <p:spPr>
          <a:xfrm>
            <a:off x="5397925" y="2092700"/>
            <a:ext cx="3198900" cy="310800"/>
          </a:xfrm>
          <a:prstGeom prst="roundRect">
            <a:avLst>
              <a:gd name="adj" fmla="val 16667"/>
            </a:avLst>
          </a:prstGeom>
          <a:solidFill>
            <a:srgbClr val="E06666">
              <a:alpha val="67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Mixed integer programming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74" name="Google Shape;1174;p56"/>
          <p:cNvSpPr/>
          <p:nvPr/>
        </p:nvSpPr>
        <p:spPr>
          <a:xfrm>
            <a:off x="5397925" y="1318950"/>
            <a:ext cx="3198900" cy="31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Neural network verification problem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75" name="Google Shape;1175;p56"/>
          <p:cNvSpPr/>
          <p:nvPr/>
        </p:nvSpPr>
        <p:spPr>
          <a:xfrm>
            <a:off x="686550" y="2092700"/>
            <a:ext cx="3198900" cy="3108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β</a:t>
            </a: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-CROWN, GCP-CROWN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76" name="Google Shape;1176;p56"/>
          <p:cNvSpPr/>
          <p:nvPr/>
        </p:nvSpPr>
        <p:spPr>
          <a:xfrm>
            <a:off x="735400" y="3640200"/>
            <a:ext cx="3198900" cy="3108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α-CROWN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77" name="Google Shape;1177;p56"/>
          <p:cNvSpPr/>
          <p:nvPr/>
        </p:nvSpPr>
        <p:spPr>
          <a:xfrm>
            <a:off x="735400" y="4448475"/>
            <a:ext cx="3198900" cy="3108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CROWN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78" name="Google Shape;1178;p56"/>
          <p:cNvSpPr/>
          <p:nvPr/>
        </p:nvSpPr>
        <p:spPr>
          <a:xfrm>
            <a:off x="2141525" y="4005625"/>
            <a:ext cx="230100" cy="389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56"/>
          <p:cNvSpPr/>
          <p:nvPr/>
        </p:nvSpPr>
        <p:spPr>
          <a:xfrm>
            <a:off x="6882325" y="2440125"/>
            <a:ext cx="230100" cy="3897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56"/>
          <p:cNvSpPr/>
          <p:nvPr/>
        </p:nvSpPr>
        <p:spPr>
          <a:xfrm>
            <a:off x="6899575" y="1666375"/>
            <a:ext cx="195600" cy="38970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56"/>
          <p:cNvSpPr txBox="1"/>
          <p:nvPr/>
        </p:nvSpPr>
        <p:spPr>
          <a:xfrm>
            <a:off x="7095175" y="2434875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relaxed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82" name="Google Shape;1182;p56"/>
          <p:cNvSpPr/>
          <p:nvPr/>
        </p:nvSpPr>
        <p:spPr>
          <a:xfrm>
            <a:off x="6899575" y="3213875"/>
            <a:ext cx="195600" cy="389700"/>
          </a:xfrm>
          <a:prstGeom prst="up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56"/>
          <p:cNvSpPr/>
          <p:nvPr/>
        </p:nvSpPr>
        <p:spPr>
          <a:xfrm>
            <a:off x="4159575" y="3695700"/>
            <a:ext cx="978000" cy="1998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56"/>
          <p:cNvSpPr/>
          <p:nvPr/>
        </p:nvSpPr>
        <p:spPr>
          <a:xfrm>
            <a:off x="4159575" y="2148200"/>
            <a:ext cx="978000" cy="1998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56"/>
          <p:cNvSpPr/>
          <p:nvPr/>
        </p:nvSpPr>
        <p:spPr>
          <a:xfrm>
            <a:off x="2141525" y="2440125"/>
            <a:ext cx="230100" cy="1163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6" name="Google Shape;1186;p56"/>
          <p:cNvSpPr txBox="1"/>
          <p:nvPr/>
        </p:nvSpPr>
        <p:spPr>
          <a:xfrm>
            <a:off x="2495300" y="3999650"/>
            <a:ext cx="128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special case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87" name="Google Shape;1187;p56"/>
          <p:cNvSpPr txBox="1"/>
          <p:nvPr/>
        </p:nvSpPr>
        <p:spPr>
          <a:xfrm>
            <a:off x="2495300" y="2524038"/>
            <a:ext cx="97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relaxed</a:t>
            </a:r>
            <a:endParaRPr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88" name="Google Shape;1188;p56"/>
          <p:cNvSpPr txBox="1"/>
          <p:nvPr/>
        </p:nvSpPr>
        <p:spPr>
          <a:xfrm>
            <a:off x="5068525" y="4574550"/>
            <a:ext cx="440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[SY</a:t>
            </a:r>
            <a:r>
              <a:rPr lang="en-GB" sz="10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Z</a:t>
            </a:r>
            <a:r>
              <a:rPr lang="en-GB" sz="10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HZ </a:t>
            </a:r>
            <a:r>
              <a:rPr lang="en-GB" sz="1000" b="1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NeurIPS 2020</a:t>
            </a:r>
            <a:r>
              <a:rPr lang="en-GB" sz="1000">
                <a:solidFill>
                  <a:schemeClr val="dk2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] A Convex Relaxation Barrier to Tight Robustness Verification of Neural Networks</a:t>
            </a:r>
            <a:endParaRPr sz="1000">
              <a:solidFill>
                <a:schemeClr val="dk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89" name="Google Shape;1189;p56"/>
          <p:cNvSpPr txBox="1"/>
          <p:nvPr/>
        </p:nvSpPr>
        <p:spPr>
          <a:xfrm>
            <a:off x="3126975" y="2254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1000x</a:t>
            </a:r>
            <a:r>
              <a:rPr lang="en-GB">
                <a:solidFill>
                  <a:schemeClr val="dk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rPr>
              <a:t> speedup</a:t>
            </a:r>
            <a:endParaRPr>
              <a:solidFill>
                <a:schemeClr val="dk1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grpSp>
        <p:nvGrpSpPr>
          <p:cNvPr id="1190" name="Google Shape;1190;p56"/>
          <p:cNvGrpSpPr/>
          <p:nvPr/>
        </p:nvGrpSpPr>
        <p:grpSpPr>
          <a:xfrm>
            <a:off x="706500" y="1243675"/>
            <a:ext cx="3046350" cy="461700"/>
            <a:chOff x="952625" y="3734113"/>
            <a:chExt cx="3046350" cy="461700"/>
          </a:xfrm>
        </p:grpSpPr>
        <p:sp>
          <p:nvSpPr>
            <p:cNvPr id="1191" name="Google Shape;1191;p56"/>
            <p:cNvSpPr txBox="1"/>
            <p:nvPr/>
          </p:nvSpPr>
          <p:spPr>
            <a:xfrm>
              <a:off x="952625" y="3734113"/>
              <a:ext cx="976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Prove:</a:t>
              </a:r>
              <a:endParaRPr sz="18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pic>
          <p:nvPicPr>
            <p:cNvPr id="1192" name="Google Shape;1192;p56" descr="\forall x \in \mathcal{S}, \ f(x) &gt; 0" title="MathEquation,#00000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2002575" y="3786550"/>
              <a:ext cx="1996400" cy="356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3" name="Google Shape;1193;p56"/>
          <p:cNvGrpSpPr/>
          <p:nvPr/>
        </p:nvGrpSpPr>
        <p:grpSpPr>
          <a:xfrm>
            <a:off x="677500" y="2741525"/>
            <a:ext cx="8000050" cy="2325625"/>
            <a:chOff x="677500" y="2741525"/>
            <a:chExt cx="8000050" cy="2325625"/>
          </a:xfrm>
        </p:grpSpPr>
        <p:sp>
          <p:nvSpPr>
            <p:cNvPr id="1194" name="Google Shape;1194;p56"/>
            <p:cNvSpPr/>
            <p:nvPr/>
          </p:nvSpPr>
          <p:spPr>
            <a:xfrm>
              <a:off x="5362850" y="2741525"/>
              <a:ext cx="3314700" cy="1639200"/>
            </a:xfrm>
            <a:prstGeom prst="roundRect">
              <a:avLst>
                <a:gd name="adj" fmla="val 11404"/>
              </a:avLst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56"/>
            <p:cNvSpPr txBox="1"/>
            <p:nvPr/>
          </p:nvSpPr>
          <p:spPr>
            <a:xfrm>
              <a:off x="5868550" y="4000375"/>
              <a:ext cx="2456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BD0000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Simplex algorithm on CPU</a:t>
              </a:r>
              <a:endParaRPr>
                <a:solidFill>
                  <a:srgbClr val="BD000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  <p:sp>
          <p:nvSpPr>
            <p:cNvPr id="1196" name="Google Shape;1196;p56"/>
            <p:cNvSpPr/>
            <p:nvPr/>
          </p:nvSpPr>
          <p:spPr>
            <a:xfrm>
              <a:off x="677500" y="3418250"/>
              <a:ext cx="3314700" cy="1639200"/>
            </a:xfrm>
            <a:prstGeom prst="roundRect">
              <a:avLst>
                <a:gd name="adj" fmla="val 11404"/>
              </a:avLst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56"/>
            <p:cNvSpPr txBox="1"/>
            <p:nvPr/>
          </p:nvSpPr>
          <p:spPr>
            <a:xfrm>
              <a:off x="834850" y="466695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BD0000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rPr>
                <a:t>Linear bound propagation on GPU</a:t>
              </a:r>
              <a:endParaRPr>
                <a:solidFill>
                  <a:srgbClr val="BD0000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7226</TotalTime>
  <Words>10257</Words>
  <Application>Microsoft Macintosh PowerPoint</Application>
  <PresentationFormat>On-screen Show (16:9)</PresentationFormat>
  <Paragraphs>1153</Paragraphs>
  <Slides>113</Slides>
  <Notes>110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24" baseType="lpstr">
      <vt:lpstr>Arial</vt:lpstr>
      <vt:lpstr>Calibri</vt:lpstr>
      <vt:lpstr>Calibri Light</vt:lpstr>
      <vt:lpstr>Cambria Math</vt:lpstr>
      <vt:lpstr>Courier New</vt:lpstr>
      <vt:lpstr>Georgia</vt:lpstr>
      <vt:lpstr>Impact</vt:lpstr>
      <vt:lpstr>Lucida Grande</vt:lpstr>
      <vt:lpstr>Open Sans</vt:lpstr>
      <vt:lpstr>Times New Roman</vt:lpstr>
      <vt:lpstr>Simple Light</vt:lpstr>
      <vt:lpstr>Neural Network Verification Integer and Linear Programming Formulations</vt:lpstr>
      <vt:lpstr>Review: Neural network verification as a satisfiability problem</vt:lpstr>
      <vt:lpstr>Verification of neural networks</vt:lpstr>
      <vt:lpstr>Reluplex: Decision Procedure for ReLU NNs</vt:lpstr>
      <vt:lpstr>Reluplex Decision Procedure for ReLU NNs</vt:lpstr>
      <vt:lpstr>Reluplex</vt:lpstr>
      <vt:lpstr>Reluplex</vt:lpstr>
      <vt:lpstr>Termination</vt:lpstr>
      <vt:lpstr>Performance of Reluplex on ACAS </vt:lpstr>
      <vt:lpstr>Review: Neural network verification as a satisfiability problem</vt:lpstr>
      <vt:lpstr>Verification of neural networks</vt:lpstr>
      <vt:lpstr>How does a SMT solver solve this problem?</vt:lpstr>
      <vt:lpstr>How does a SMT solver solve this problem?</vt:lpstr>
      <vt:lpstr>How does a SMT solver solve this problem?</vt:lpstr>
      <vt:lpstr>Why using a SMT solver is very slow?</vt:lpstr>
      <vt:lpstr>Mathematical optimization problems</vt:lpstr>
      <vt:lpstr>Some optimization problems are hard, some are easy</vt:lpstr>
      <vt:lpstr>Verification Problem as an optimization problem</vt:lpstr>
      <vt:lpstr>Verification Problem as an optimization problem</vt:lpstr>
      <vt:lpstr>Verification Problem as an optimization problem</vt:lpstr>
      <vt:lpstr>Optimization formulation for ReLU neurons</vt:lpstr>
      <vt:lpstr>Optimization formulation for ReLU neurons</vt:lpstr>
      <vt:lpstr>Optimization formulation for ReLU neurons</vt:lpstr>
      <vt:lpstr>Pre-activation bounds</vt:lpstr>
      <vt:lpstr>Putting it all together with Pre-activation bounds</vt:lpstr>
      <vt:lpstr>Putting it all together with Pre-activation bounds</vt:lpstr>
      <vt:lpstr>Putting it all together with Pre-activation bounds</vt:lpstr>
      <vt:lpstr>Putting it all together with Pre-activation bounds</vt:lpstr>
      <vt:lpstr>Putting it all together with Pre-activation bounds</vt:lpstr>
      <vt:lpstr>MILP vs LP</vt:lpstr>
      <vt:lpstr>Sound but Incomplete Verification with a Lower Bound</vt:lpstr>
      <vt:lpstr>A closer look at the LP relaxation: “Triangle” relaxation </vt:lpstr>
      <vt:lpstr>A closer look at the linear programming relaxation</vt:lpstr>
      <vt:lpstr>A closer look at the linear programming relaxation</vt:lpstr>
      <vt:lpstr>A closer look at the linear programming relaxation</vt:lpstr>
      <vt:lpstr>Stable vs. unstable neurons</vt:lpstr>
      <vt:lpstr>Stable vs. unstable neurons</vt:lpstr>
      <vt:lpstr>Summary: MILP vs LP vs DPLL(T) in Neural Network Verification</vt:lpstr>
      <vt:lpstr>Today: more efficient algorithms for NN verification</vt:lpstr>
      <vt:lpstr>Any faster ways to calculate the bounds on f(x)?</vt:lpstr>
      <vt:lpstr>Let’s look at one layer first</vt:lpstr>
      <vt:lpstr>Let’s look at one layer first</vt:lpstr>
      <vt:lpstr>Interval Bound Propagation (IBP)</vt:lpstr>
      <vt:lpstr>Interval Bound Propagation (IBP)</vt:lpstr>
      <vt:lpstr>Interval Bound Propagation: continue to the next layer</vt:lpstr>
      <vt:lpstr>Interval Bound Propagation: limitations</vt:lpstr>
      <vt:lpstr>A Better Idea: Keep the correlations between x and z</vt:lpstr>
      <vt:lpstr>A Better Idea: linear bound propagation</vt:lpstr>
      <vt:lpstr>A Better Idea: linear bound propagation</vt:lpstr>
      <vt:lpstr>Bound propagation: how about nonlinear functions?</vt:lpstr>
      <vt:lpstr>Linear bound propagation for ReLU function (CROWN)</vt:lpstr>
      <vt:lpstr>Linear bound propagation for ReLU function (CROWN)</vt:lpstr>
      <vt:lpstr>Linear bound propagation for ReLU function (CROWN)</vt:lpstr>
      <vt:lpstr>Linear bound propagation for ReLU function (CROWN)</vt:lpstr>
      <vt:lpstr>Linear bound propagation for ReLU function (CROWN)</vt:lpstr>
      <vt:lpstr>Linear bound propagation for ReLU function (CROWN)</vt:lpstr>
      <vt:lpstr>Linear bound propagation for ReLU function (CROWN)</vt:lpstr>
      <vt:lpstr>Can we do even better?</vt:lpstr>
      <vt:lpstr>Choosing different linear bounds (α-CROWN)</vt:lpstr>
      <vt:lpstr>Choosing different linear bounds (α-CROWN)</vt:lpstr>
      <vt:lpstr>Linear lower bounds for ReLU function matters!</vt:lpstr>
      <vt:lpstr>Linear lower bounds for ReLU function matters!</vt:lpstr>
      <vt:lpstr>Linear lower bounds for ReLU function matters!</vt:lpstr>
      <vt:lpstr>Linear bound propagation method (CROWN)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Illustration: Linear bound propagation process</vt:lpstr>
      <vt:lpstr>Use Linear Bounds to Prove Robustness</vt:lpstr>
      <vt:lpstr>auto_LiRPA: Verification Library for General Computation Graphs</vt:lpstr>
      <vt:lpstr>MILP/LP vs Bound Propagation</vt:lpstr>
      <vt:lpstr>Review: bound propagation with linear bounds (CROWN)</vt:lpstr>
      <vt:lpstr>Review: bound propagation with linear bounds (CROWN)</vt:lpstr>
      <vt:lpstr>Review: bound propagation with linear bounds (CROWN)</vt:lpstr>
      <vt:lpstr>Review: bound propagation with linear bounds (CROWN)</vt:lpstr>
      <vt:lpstr>Review: bound propagation with linear bounds (CROWN)</vt:lpstr>
      <vt:lpstr>Review: bound propagation with linear bounds (CROWN)</vt:lpstr>
      <vt:lpstr>How to improve bound propagation</vt:lpstr>
      <vt:lpstr>Bound optimization (α-CROWN)</vt:lpstr>
      <vt:lpstr>Branch and bound</vt:lpstr>
      <vt:lpstr>Branch and bound: why the lower bounds become tighter?</vt:lpstr>
      <vt:lpstr>Branch and bound</vt:lpstr>
      <vt:lpstr>Branch and bound on input</vt:lpstr>
      <vt:lpstr>Branch and bound on ReLU</vt:lpstr>
      <vt:lpstr>Branch and bound on ReLU</vt:lpstr>
      <vt:lpstr>Let’s go over our example again with split</vt:lpstr>
      <vt:lpstr>CROWN with neuron split</vt:lpstr>
      <vt:lpstr>CROWN with neuron split (changed with the split)</vt:lpstr>
      <vt:lpstr>CROWN with neuron split (changed with the split)</vt:lpstr>
      <vt:lpstr>CROWN with neuron split (changed with the split)</vt:lpstr>
      <vt:lpstr>What is going wrong with CROWN?</vt:lpstr>
      <vt:lpstr>What is going wrong with CROWN?</vt:lpstr>
      <vt:lpstr>How to address the problem?</vt:lpstr>
      <vt:lpstr>β-CROWN: bound propagation with split constraint</vt:lpstr>
      <vt:lpstr>β-CROWN: bound propagation with split constraint</vt:lpstr>
      <vt:lpstr>β-CROWN with neuron split</vt:lpstr>
      <vt:lpstr>β-CROWN with neuron split</vt:lpstr>
      <vt:lpstr>β-CROWN with neuron split </vt:lpstr>
      <vt:lpstr>β-CROWN with neuron split </vt:lpstr>
      <vt:lpstr>Geometric interpretation</vt:lpstr>
      <vt:lpstr>Which dimension/which neuron to branch?</vt:lpstr>
      <vt:lpstr>Example branching heuristic</vt:lpstr>
      <vt:lpstr>Benchmarks: CROWN-family bound propagation algorithms</vt:lpstr>
      <vt:lpstr>Theoretical Connections: CROWN vs MIP/LP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Integer and Linear Programming Formulations for Neural Network Verification</dc:title>
  <dc:creator/>
  <cp:lastModifiedBy>Mitra, Sayan</cp:lastModifiedBy>
  <cp:revision>35</cp:revision>
  <dcterms:created xsi:type="dcterms:W3CDTF">2025-06-23T20:00:24Z</dcterms:created>
  <dcterms:modified xsi:type="dcterms:W3CDTF">2025-09-23T16:58:46Z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