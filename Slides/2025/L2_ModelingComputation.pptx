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324" r:id="rId2"/>
    <p:sldId id="336" r:id="rId3"/>
    <p:sldId id="325" r:id="rId4"/>
    <p:sldId id="341" r:id="rId5"/>
    <p:sldId id="311" r:id="rId6"/>
    <p:sldId id="302" r:id="rId7"/>
    <p:sldId id="303" r:id="rId8"/>
    <p:sldId id="327" r:id="rId9"/>
    <p:sldId id="328" r:id="rId10"/>
    <p:sldId id="343" r:id="rId11"/>
    <p:sldId id="312" r:id="rId12"/>
    <p:sldId id="344" r:id="rId13"/>
    <p:sldId id="313" r:id="rId14"/>
    <p:sldId id="314" r:id="rId15"/>
    <p:sldId id="331" r:id="rId16"/>
    <p:sldId id="332" r:id="rId17"/>
    <p:sldId id="333" r:id="rId18"/>
    <p:sldId id="342" r:id="rId19"/>
    <p:sldId id="318" r:id="rId20"/>
    <p:sldId id="315" r:id="rId21"/>
    <p:sldId id="319" r:id="rId22"/>
    <p:sldId id="320" r:id="rId23"/>
    <p:sldId id="345" r:id="rId24"/>
    <p:sldId id="347" r:id="rId25"/>
    <p:sldId id="346" r:id="rId26"/>
    <p:sldId id="348" r:id="rId27"/>
    <p:sldId id="321" r:id="rId28"/>
    <p:sldId id="335" r:id="rId29"/>
    <p:sldId id="307" r:id="rId30"/>
    <p:sldId id="322" r:id="rId31"/>
    <p:sldId id="338" r:id="rId32"/>
    <p:sldId id="337" r:id="rId33"/>
    <p:sldId id="339" r:id="rId34"/>
    <p:sldId id="340" r:id="rId35"/>
    <p:sldId id="323" r:id="rId36"/>
    <p:sldId id="293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1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895"/>
    <p:restoredTop sz="94690"/>
  </p:normalViewPr>
  <p:slideViewPr>
    <p:cSldViewPr snapToGrid="0" snapToObjects="1">
      <p:cViewPr varScale="1">
        <p:scale>
          <a:sx n="74" d="100"/>
          <a:sy n="74" d="100"/>
        </p:scale>
        <p:origin x="184" y="1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19-08-27T18:47:52.44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1499 5927 24575,'0'19'0,"0"-3"0,0 0 0,0-12 0,0 11 0,0-15 0,0 24 0,0-18 0,0 17 0,0-23 0,0 16 0,0-12 0,16 11 0,-12-15 0,12 16 0,-16-12 0,0 12 0,0-16 0,0 23 0,0-17 0,0 18 0,23-24 0,-17 15 0,18-11 0,-24 12 0,0-16 0,15 0 0,-11 0 0,12 0 0,-16 0 0,15 0 0,-11 0 0,12 0 0,-16 0 0,24 0 0,-19 0 0,19 0 0,-8 0 0,-12 0 0,11 0 0,1 0 0,-12 0 0,12 0 0,-16 0 0,23 0 0,-17 0 0,17 0 0,-23 0 0,0-16 0,0 12 0,0-11 0,0-9 0,0 18 0,0-17 0,0 7 0,0 12 0,0-27 0,0 27 0,0-12 0,0-7 0,0 17 0,0-18 0,0 9 0,0 11 0,0-12 0,0 16 0,0-16 0,0 12 0,0-11 0,0 15 0,0-24 0,0 18 0,-23-17 0,17 23 0,-17-16 0,23 12 0,-16-12 0,12 16 0,-12-23 0,16 17 0,0-17 0,-15 23 0,11 0 0,-12 0 0,16 0 0,-24 0 0,19 0 0,-19 0 0,24 0 0,-16 0 0,12 0 0,-11 0 0,15 0 0,-16 0 0,12 0 0,-11 0 0,15 0 0,-24 0 0,18 0 0,-17 0 0,23 0 0,0 0 0,-16 0 0,12 0 0,-12 23 0,16-17 0,0 17 0,0-23 0,0 16 0,0-12 0,0 12 0,0-16 0,0 23 0,0-17 0,0 18 0,0-24 0,0 15 0,0-11 0,0 12 0,0-16 0</inkml:trace>
  <inkml:trace contextRef="#ctx0" brushRef="#br0" timeOffset="1747">4251 4004 24575,'0'20'0,"0"-5"0,0 9 0,0-18 0,0 17 0,0-7 0,0-12 0,0 27 0,0-27 0,0 12 0,0-16 0,0 23 0,0-17 0,0 18 0,0-24 0,0 15 0,0-11 0,0 12 0,0-16 0,0 16 0,0-12 0,0 11 0,0-15 0,0 24 0,0-18 0,0 17 0,0-23 0,0 16 0,0-12 0,0 11 0,0-15 0,0 24 0,0-18 0,0 17 0,16-23 0,-12 16 0,11-12 0,-15 12 0,0-16 0,0 15 0,0-11 0,0 12 0,0-16 0,0 0 0,0 0 0</inkml:trace>
  <inkml:trace contextRef="#ctx0" brushRef="#br0" timeOffset="3852">6773 4374 24575,'45'0'0,"-19"0"0,-1 0 0,13 0 0,5 0 0,0 0 0,-22 0 0,19 0 0,-36 0 0,27 0 0,-27 0 0,11 0 0,-15 0 0,24 0 0,-18 24 0,17-18 0,-23 17 0,0-23 0,0 0 0,0 16 0,16-12 0,-12 12 0,12-16 0,-16 15 0,0-11 0,0 35 0,15-33 0,-11 18 0,12-24 0,-16 16 0,0-13 0,0 13 0,0 0 0,0-12 0,0 35 0,0-33 0,0 33 0,0-35 0,0 27 0,0-27 0,-16 35 0,12-33 0,-27 18 0,27-9 0,-12-11 0,-7 12 0,17 0 0,-18-12 0,9 11 0,11 9 0,-12-18 0,16 17 0,-15-23 0,11 16 0,-12-12 0,16 12 0,-24-16 0,19 0 0,-19 23 0,24-17 0,0 17 0,0-23 0,24 0 0,-19 0 0,19 0 0,-8 0 0,-12 0 0,27 0 0,-4 0 0,11 0 0,5 0 0,0 0 0,-6 0 0,-10 0 0,5 0 0,-5 0 0,10 0 0,-9 0 0,11 0 0,-33 0 0,33 0 0,-35 0 0,12 16 0,-16-12 0,15 12 0,-11-16 0,12 0 0,-16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19-08-27T18:51:31.43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1535 7126 24575,'0'43'0,"-16"-6"0,14-11 0,0-1-1700,-14 13 1700,7-5 0,3 0 0,2 8 550,-12 3-550,16-13 0,0-4 281,0-5-281,0 17 0,0-35 0,0 27 869,0-27-869,0 36 0,0-35 0,0 35 0,16-36 0,-12 35 0,11-33 0,-15 17 0,16-7 0,-12-12 0,12 11 0,7-15 0,-17 16 0,18-12 0,-24 12 0,15-16 0,-11 0 0,12 0 0,-16 0 0,15-16 0,-11 12 0,12-27 0,-16 3 0,24-9-297,-14 11 1,1 1 296,17-12 0,3 9 0,-27-3 0,35 4 0,-33-11 0,17 11 0,-7-4 0,-12 27 0,12-12 593,-16-8-593,0 19 0,0-19 0,0 24 0,0-16 0,0 12 0,0-11 0,-16-1 0,12-11 0,-12 5 0,-7-1 0,17 7 0,-33 12 0,35-12 0,-12-7 0,1 17 0,11-18 0,-36 24 0,35 0 0,-19 0 0,8 0 0,12 0 0,-11 0 0,15 0 0,-16 0 0,12 0 0,-11 0 0,15 0 0,-24 0 0,18 0 0,-17 0 0,23 24 0,-16-18 0,12 17 0,-12-23 0,1 0 0,11 0 0,-12 0 0,16 0 0,0 0 0</inkml:trace>
  <inkml:trace contextRef="#ctx0" brushRef="#br0" timeOffset="1112">4374 5080 24575,'0'45'0,"0"-2"0,0 0 0,0-5 0,0 5-1062,0-14 1,0 0 1061,0 20 0,0-18 0,0-1 664,0 13-664,0 0 0,0-21 355,0 17-355,0-35 0,0 12 0,0-16 272,0 15 0,0-11 1,0 12-1</inkml:trace>
  <inkml:trace contextRef="#ctx0" brushRef="#br0" timeOffset="2903">6615 5256 24575,'43'0'0,"-22"0"0,8 0 0,-3 0 0,-18 0 0,18 0 0,3 0 0,-8 0 0,5 0 0,-1 0 0,-3 0 0,17 0 0,-19 0 0,-1 0 0,-3 0 0,-16 16 0,24-12 0,-19 12 0,19-16 0,-24 15 0,0-11 0,0 35 0,0-33 0,0 18 0,0-8 0,0-13 0,0 13 0,0 8 0,0-18 0,0 33 0,0-35 0,0 11 0,0-15 0,0 16 0,0-12 0,0 12 0,0-16 0,0 23 0,-24-17 0,19 18 0,-19-24 0,24 15 0,0-11 0,0 12 0,0-16 0,0 15 0,0-11 0,0 12 0,0-16 0,0 0 0,24 0 0,-3 0 0,22 0 0,0 0 0,-5 0 0,5 0 0,-24 0 0,20 0 0,-33 0 0,18 0 0,-8 0 0,-13 0 0,13 0 0,-16 0 0,0 0 0</inkml:trace>
  <inkml:trace contextRef="#ctx0" brushRef="#br0" timeOffset="5623">9031 6967 24575,'32'0'0,"1"0"0,-4 0 0,1 0 0,0 0 0,-2 0 0,-2 0-712,13 0 0,0 0 712,-13 0 0,2 0 0,3 0 0,12 0 463,-22 0-463,18 0 236,-35 0-236,12 0 0,8 0 0,-19 0 725,19 0-725,-24 16 0,16-12 0,-12 12 0,11-1 0,-15-11 0,0 35 0,0-33 0,0 18 0,0-8 0,0 3 0,0 1 0,0-5 0,0 9 0,0-18 0,0 33 0,0-35 0,0 12 0,0 7 0,0-17 0,0 18 0,-15-24 0,11 0 0,-36 0 0,19 0 0,-7 15 0,1-13 0,0 0 0,1 14 0,-17-1 0,4-11 0,1 12 0,7 8 0,3-22 0,1 1 0,6 21 0,-7-24 0,-3 0 0,27 0 0,-35 16 0,33-12 0,-18 11 0,24-15 0,0 0 0,24 0 0,-3 0 0,7 0 0,3 0 0,-27 0 0,35 0 0,-33 0 0,33 0 0,-35 0 0,28 0 0,-28 0 0,35 0 0,-18 0 0,7 0 0,3 0 0,-27 0 0,35 0 0,-33 0 0,18 0 0,-9 0 0,-11 16 0,12-12 0,-16 12 0,24-16 0,-19 0 0,19 23 0,-24-17 0,0 17 0,0-7 0,0-12 0,0 12 0,0-16 0,0 15 0,0-11 0,0 12 0,0-16 0,0 24 0,0-19 0,0 19 0,0-24 0,0 16 0,0-12 0,0 11 0,-24-15 0,19 0 0,-19 0 0,8 0 0,-11 0 0,5 0 0,-17 24 0,35-18 0,-27 17 0,27-23 0,-12 0 0,-7 0 0,17 0 0,-33 0 0,35 0 0,-12 0 0,0 0 0,12 0 0,-11 0 0,-9 0 0,18 0 0,-33 16 0,35-12 0,-27 11 0,3-15 0,7 16 0,-3-12 0,9 12 0,11-16 0,-12 0 0,16 0 0,0 0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7AFD9B-7E58-DE47-AB56-7CAF71037955}" type="datetimeFigureOut">
              <a:rPr lang="en-US" smtClean="0"/>
              <a:t>7/23/25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BEA78C-04FF-9348-8D95-00319B717D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4130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481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482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fld id="{42E9AC91-DC6C-4B19-92F6-22E456D64441}" type="slidenum">
              <a:rPr lang="en-US" sz="1200" smtClean="0"/>
              <a:pPr/>
              <a:t>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5603207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584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4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fld id="{B85884E2-29F1-4D86-84CC-3D2D0A090487}" type="slidenum">
              <a:rPr lang="en-US" sz="1200" smtClean="0"/>
              <a:pPr/>
              <a:t>7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6047657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99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fld id="{478875BD-0904-456D-BF1F-B156B76088E4}" type="slidenum">
              <a:rPr lang="en-US" sz="1200" smtClean="0"/>
              <a:pPr/>
              <a:t>29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171935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49DD8-247F-AF4F-954A-327FCCD924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507ACF-D92E-3A47-95A9-4CDCC1FA20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3ED732-E139-B44B-BE23-C5C7662B7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800656-F9A9-1247-B2A7-F1D118D28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EC7743-733E-D44C-A3B0-CD1864207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6965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0B311-CFC7-9D4E-AAB0-E90ACD04E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0AAF50-C927-5443-AA65-CC01B1BDD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7DC47F-FF90-5749-82DC-229FCD019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5E43AE-56CB-164F-84EE-EF87C1423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B2DB59-CFEC-5949-977D-9933D1378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080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4F88A-F460-3346-BCFC-DBF122403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52486E-7460-EA4F-812F-D60F13458E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AA969D-B972-6048-AC49-E203D80D4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AC258D-2993-0141-8BFA-7A61A47FB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A6E9C7-3EC4-C94B-A131-CDA20D94F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603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0BCCC-34A9-2749-B519-9763169BE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F9C29-4DA2-C04E-8427-8C18A0737E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F772E9-3A38-6B40-8C10-3CDE457EC8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327766-5486-C64E-B23C-1588E725F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E0A72A-6E86-C840-A438-6686FF70D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BA989-0C1D-4A4B-AC9A-4CDC78533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116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1E17D-5F8C-A343-8804-9ADF3C367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475C0A-2C70-C246-91FA-93472B5DB6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DF6A64-C764-E14B-B9C5-D640DD87FE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F4EDF7-F711-8046-A691-1AF369D225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2B5415-ECD3-FD43-BC06-7649D84266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ABB2DE-4832-C24B-BDD4-64D5C9BB0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CA873A-C73E-C244-9B95-7CEE7A5BA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E1C9C6-7055-B444-AF4C-7A7E2FC0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555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7DC18-C29F-674B-9F50-CDA638DED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A05D7F-9408-CC40-84B2-E3F7836D3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98CD92-F647-E347-88D8-CDA9F997A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F66222-1751-564F-8357-A9638DA19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47279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71B2D5-8D53-B04E-A8E7-0F0B270CE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3DCC65-13A4-CD40-9590-DA3DF53FE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8CFB6-0546-0D48-AA3E-FE88BDD1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628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EB45A-78BB-B64A-BF97-1A0FACD3A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96587-65ED-2340-ACF9-F2C9E86E92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CB0BDD-33D7-7446-8E65-89EB8CC262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CFA320-917C-AF4B-BD78-D49BF101F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89F164-C8FC-2440-8E79-6EB5D6495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F74EE0-6617-F74E-BFC4-75E042A51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483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FE13D-C892-0A42-A34D-8E65D7CE8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4735AF-BF40-6B4B-A974-F1A8CD154E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990BD-3DDD-664A-85D6-0F56B708A4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823D58-D46B-7F4C-B310-CC4CBCAF5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7BEC11-44C0-6747-B5D1-5AB523E73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8A8F0E-6716-4944-AFF3-3B63D9A2F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081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47A5-442A-FD4B-B10D-644DC7766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1ACADA-7569-B146-BB55-B5110AEAF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DFF70-F133-F943-B06F-FC06F3C33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13C69-F5E0-5044-8AF2-E4A7AE8BD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0BEFB7-B5F7-1E48-A884-6FB8E4152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7332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1AC14EA-210B-A14C-BF0F-DF7E105047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C412B2-2A55-A341-B350-912389BD3C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1447FA-DB7E-0F4B-9197-CCF38766D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75544-6EF1-1C4A-BB07-42B284755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9B3984-2D93-BF4B-82F0-DB8333FD8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709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0D4B96-446F-544E-95E8-F0AF575EA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30371A-2D69-E54C-892D-2930260304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98A89C-1210-C94C-8B77-5FE474AF49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9E72B8-4420-6F42-AABA-D21F0C132A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64AA10-49EE-B545-A64C-CE975BDFA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724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mitras@illinois.edu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emf"/><Relationship Id="rId3" Type="http://schemas.openxmlformats.org/officeDocument/2006/relationships/image" Target="../media/image5.emf"/><Relationship Id="rId7" Type="http://schemas.openxmlformats.org/officeDocument/2006/relationships/image" Target="../media/image9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emf"/><Relationship Id="rId5" Type="http://schemas.openxmlformats.org/officeDocument/2006/relationships/image" Target="../media/image7.emf"/><Relationship Id="rId10" Type="http://schemas.openxmlformats.org/officeDocument/2006/relationships/image" Target="../media/image11.png"/><Relationship Id="rId4" Type="http://schemas.openxmlformats.org/officeDocument/2006/relationships/image" Target="../media/image6.emf"/><Relationship Id="rId9" Type="http://schemas.openxmlformats.org/officeDocument/2006/relationships/customXml" Target="../ink/ink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7" Type="http://schemas.openxmlformats.org/officeDocument/2006/relationships/image" Target="../media/image16.png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2.xml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0.png"/><Relationship Id="rId5" Type="http://schemas.openxmlformats.org/officeDocument/2006/relationships/image" Target="../media/image270.png"/><Relationship Id="rId4" Type="http://schemas.openxmlformats.org/officeDocument/2006/relationships/image" Target="../media/image26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994304"/>
          </a:xfrm>
        </p:spPr>
        <p:txBody>
          <a:bodyPr>
            <a:normAutofit/>
          </a:bodyPr>
          <a:lstStyle/>
          <a:p>
            <a:r>
              <a:rPr lang="en-US" sz="3600" dirty="0"/>
              <a:t>Modeling Computation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Sayan Mitra</a:t>
            </a:r>
          </a:p>
          <a:p>
            <a:r>
              <a:rPr lang="en-US" dirty="0"/>
              <a:t>Verifying </a:t>
            </a:r>
            <a:r>
              <a:rPr lang="en-US"/>
              <a:t>cyberphysical</a:t>
            </a:r>
            <a:r>
              <a:rPr lang="en-US" dirty="0"/>
              <a:t> systems</a:t>
            </a:r>
          </a:p>
          <a:p>
            <a:r>
              <a:rPr lang="en-US" dirty="0">
                <a:hlinkClick r:id="rId2"/>
              </a:rPr>
              <a:t>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642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9CCCA-12AC-BB4C-8C53-B7442B439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AF2FB-AFB1-2648-B91A-9B067FFCF6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 Chapter 2</a:t>
            </a:r>
          </a:p>
          <a:p>
            <a:endParaRPr lang="en-US" dirty="0"/>
          </a:p>
          <a:p>
            <a:r>
              <a:rPr lang="en-US" dirty="0"/>
              <a:t>Today</a:t>
            </a:r>
          </a:p>
          <a:p>
            <a:pPr lvl="1"/>
            <a:r>
              <a:rPr lang="en-US" dirty="0"/>
              <a:t>Dijkstra’s mutual exclusion algorithm</a:t>
            </a:r>
          </a:p>
          <a:p>
            <a:pPr lvl="1"/>
            <a:r>
              <a:rPr lang="en-US" dirty="0"/>
              <a:t>Specification language</a:t>
            </a:r>
          </a:p>
          <a:p>
            <a:pPr lvl="1"/>
            <a:r>
              <a:rPr lang="en-US" dirty="0"/>
              <a:t>Semantics: executions, reachable states</a:t>
            </a:r>
          </a:p>
          <a:p>
            <a:pPr lvl="1"/>
            <a:r>
              <a:rPr lang="en-US" dirty="0"/>
              <a:t>Invariant proof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406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6E0D0-E74E-2B45-B640-A1E3517EF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Automata or discrete transition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47AA83-84E3-0342-8A94-AC07EADC2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576"/>
            <a:ext cx="10515600" cy="4932299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b="0" dirty="0">
                <a:latin typeface="+mj-lt"/>
                <a:ea typeface="Cambria Math" panose="02040503050406030204" pitchFamily="18" charset="0"/>
              </a:rPr>
              <a:t>The “state” of a system captures </a:t>
            </a:r>
            <a:r>
              <a:rPr lang="en-US" dirty="0">
                <a:latin typeface="+mj-lt"/>
                <a:ea typeface="Cambria Math" panose="02040503050406030204" pitchFamily="18" charset="0"/>
              </a:rPr>
              <a:t>all the information needed to predict the system’s future behavior</a:t>
            </a:r>
          </a:p>
          <a:p>
            <a:pPr>
              <a:lnSpc>
                <a:spcPct val="110000"/>
              </a:lnSpc>
            </a:pPr>
            <a:r>
              <a:rPr lang="en-US" dirty="0">
                <a:latin typeface="+mj-lt"/>
                <a:ea typeface="Cambria Math" panose="02040503050406030204" pitchFamily="18" charset="0"/>
              </a:rPr>
              <a:t>Behavior of a system is a sequence of states</a:t>
            </a:r>
          </a:p>
          <a:p>
            <a:pPr>
              <a:lnSpc>
                <a:spcPct val="110000"/>
              </a:lnSpc>
            </a:pPr>
            <a:r>
              <a:rPr lang="en-US" i="1" dirty="0">
                <a:latin typeface="+mj-lt"/>
                <a:ea typeface="Cambria Math" panose="02040503050406030204" pitchFamily="18" charset="0"/>
              </a:rPr>
              <a:t>Our ultimate goal: write programs that prove properties about all behaviors of a system</a:t>
            </a:r>
          </a:p>
          <a:p>
            <a:pPr>
              <a:lnSpc>
                <a:spcPct val="110000"/>
              </a:lnSpc>
            </a:pPr>
            <a:r>
              <a:rPr lang="en-US" dirty="0">
                <a:latin typeface="+mj-lt"/>
                <a:ea typeface="Cambria Math" panose="02040503050406030204" pitchFamily="18" charset="0"/>
              </a:rPr>
              <a:t>“Transitions” capture how the state can change</a:t>
            </a:r>
          </a:p>
        </p:txBody>
      </p:sp>
    </p:spTree>
    <p:extLst>
      <p:ext uri="{BB962C8B-B14F-4D97-AF65-F5344CB8AC3E}">
        <p14:creationId xmlns:p14="http://schemas.microsoft.com/office/powerpoint/2010/main" val="3978938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Testing shows the presence, not the absence of bugs. - Edsger Dijkstra">
            <a:extLst>
              <a:ext uri="{FF2B5EF4-FFF2-40B4-BE49-F238E27FC236}">
                <a16:creationId xmlns:a16="http://schemas.microsoft.com/office/drawing/2014/main" id="{3A52E1DB-D156-B344-9280-2CA4FCA9601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2703" y="1253331"/>
            <a:ext cx="9246593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4278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Example: Dijkstra’s mutual exclusion algorithm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838200" y="2919787"/>
            <a:ext cx="8896095" cy="325717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Informal Description  </a:t>
            </a:r>
            <a:r>
              <a:rPr lang="en-US" dirty="0">
                <a:latin typeface="+mj-lt"/>
              </a:rPr>
              <a:t>A </a:t>
            </a:r>
            <a:r>
              <a:rPr lang="en-US" b="1" dirty="0">
                <a:latin typeface="+mj-lt"/>
              </a:rPr>
              <a:t>token-based</a:t>
            </a:r>
            <a:r>
              <a:rPr lang="en-US" dirty="0">
                <a:latin typeface="+mj-lt"/>
              </a:rPr>
              <a:t> mutual exclusion algorithm on a ring network</a:t>
            </a:r>
          </a:p>
          <a:p>
            <a:r>
              <a:rPr lang="en-US" dirty="0">
                <a:latin typeface="+mj-lt"/>
              </a:rPr>
              <a:t>Collection of processes that send and receive bits over a ring network so that only one of them has a “token” to access a critical resource (e.g., a shared calendar)</a:t>
            </a:r>
          </a:p>
          <a:p>
            <a:pPr marL="0" indent="0">
              <a:buNone/>
            </a:pPr>
            <a:r>
              <a:rPr lang="en-US" dirty="0">
                <a:latin typeface="+mj-lt"/>
              </a:rPr>
              <a:t>Discrete model</a:t>
            </a:r>
          </a:p>
          <a:p>
            <a:r>
              <a:rPr lang="en-US" dirty="0">
                <a:latin typeface="+mj-lt"/>
              </a:rPr>
              <a:t>Each process has variables that take only discrete values </a:t>
            </a:r>
          </a:p>
          <a:p>
            <a:r>
              <a:rPr lang="en-US" dirty="0">
                <a:latin typeface="+mj-lt"/>
              </a:rPr>
              <a:t>Time elapses in </a:t>
            </a:r>
            <a:r>
              <a:rPr lang="en-US" b="1" dirty="0">
                <a:latin typeface="+mj-lt"/>
              </a:rPr>
              <a:t>discrete steps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263A2C-7C55-4348-B850-0A3E101526A3}"/>
              </a:ext>
            </a:extLst>
          </p:cNvPr>
          <p:cNvSpPr txBox="1"/>
          <p:nvPr/>
        </p:nvSpPr>
        <p:spPr>
          <a:xfrm>
            <a:off x="9899904" y="4572000"/>
            <a:ext cx="21203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﻿Self-stabilizing Systems in Spite of Distributed Control, CACM, 1974.</a:t>
            </a:r>
          </a:p>
        </p:txBody>
      </p:sp>
    </p:spTree>
    <p:extLst>
      <p:ext uri="{BB962C8B-B14F-4D97-AF65-F5344CB8AC3E}">
        <p14:creationId xmlns:p14="http://schemas.microsoft.com/office/powerpoint/2010/main" val="1247759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438912" y="219263"/>
            <a:ext cx="10914888" cy="1325563"/>
          </a:xfrm>
        </p:spPr>
        <p:txBody>
          <a:bodyPr>
            <a:normAutofit/>
          </a:bodyPr>
          <a:lstStyle/>
          <a:p>
            <a:pPr algn="ctr" eaLnBrk="1" hangingPunct="1"/>
            <a:r>
              <a:rPr lang="en-US" sz="2800" dirty="0"/>
              <a:t>Token-based mutual exclusion in unidirectional ring</a:t>
            </a:r>
            <a:endParaRPr lang="en-US" sz="3600" dirty="0"/>
          </a:p>
        </p:txBody>
      </p:sp>
      <p:sp>
        <p:nvSpPr>
          <p:cNvPr id="10261" name="Text Box 31"/>
          <p:cNvSpPr txBox="1">
            <a:spLocks noChangeArrowheads="1"/>
          </p:cNvSpPr>
          <p:nvPr/>
        </p:nvSpPr>
        <p:spPr bwMode="auto">
          <a:xfrm>
            <a:off x="638556" y="3961081"/>
            <a:ext cx="10914888" cy="2677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r>
              <a:rPr lang="en-US" dirty="0">
                <a:latin typeface="+mj-lt"/>
              </a:rPr>
              <a:t>N processes with ids 0, 1, …, N-1</a:t>
            </a:r>
          </a:p>
          <a:p>
            <a:r>
              <a:rPr lang="en-US" dirty="0">
                <a:latin typeface="+mj-lt"/>
              </a:rPr>
              <a:t>Unidirectional means: each </a:t>
            </a:r>
            <a:r>
              <a:rPr lang="en-US" dirty="0" err="1">
                <a:latin typeface="+mj-lt"/>
              </a:rPr>
              <a:t>i</a:t>
            </a:r>
            <a:r>
              <a:rPr lang="en-US" dirty="0">
                <a:latin typeface="+mj-lt"/>
              </a:rPr>
              <a:t>&gt;0 process P</a:t>
            </a:r>
            <a:r>
              <a:rPr lang="en-US" baseline="-25000" dirty="0">
                <a:latin typeface="+mj-lt"/>
              </a:rPr>
              <a:t>i</a:t>
            </a:r>
            <a:r>
              <a:rPr lang="en-US" dirty="0">
                <a:latin typeface="+mj-lt"/>
              </a:rPr>
              <a:t> reads the state of only the predecessor P</a:t>
            </a:r>
            <a:r>
              <a:rPr lang="en-US" baseline="-25000" dirty="0">
                <a:latin typeface="+mj-lt"/>
              </a:rPr>
              <a:t>i-1; </a:t>
            </a:r>
            <a:r>
              <a:rPr lang="en-US" dirty="0">
                <a:latin typeface="+mj-lt"/>
              </a:rPr>
              <a:t>P</a:t>
            </a:r>
            <a:r>
              <a:rPr lang="en-US" baseline="-25000" dirty="0">
                <a:latin typeface="+mj-lt"/>
              </a:rPr>
              <a:t>0</a:t>
            </a:r>
            <a:r>
              <a:rPr lang="en-US" dirty="0">
                <a:latin typeface="+mj-lt"/>
              </a:rPr>
              <a:t> reads only P</a:t>
            </a:r>
            <a:r>
              <a:rPr lang="en-US" baseline="-25000" dirty="0">
                <a:latin typeface="+mj-lt"/>
              </a:rPr>
              <a:t>N-1</a:t>
            </a:r>
            <a:endParaRPr lang="en-US" dirty="0">
              <a:latin typeface="+mj-lt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+mj-lt"/>
              </a:rPr>
              <a:t>Legal configuration = exactly one “token” in the ring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+mj-lt"/>
              </a:rPr>
              <a:t>Single token circulates in the ring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+mj-lt"/>
              </a:rPr>
              <a:t>Even if multiple tokens arise because of faults, if the algorithm continues to work correctly, then eventually there is a single token; this is the </a:t>
            </a:r>
            <a:r>
              <a:rPr lang="en-US" i="1" dirty="0">
                <a:latin typeface="+mj-lt"/>
              </a:rPr>
              <a:t>self stabilizing </a:t>
            </a:r>
            <a:r>
              <a:rPr lang="en-US" dirty="0">
                <a:latin typeface="+mj-lt"/>
              </a:rPr>
              <a:t>property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t="-1" b="3493"/>
          <a:stretch/>
        </p:blipFill>
        <p:spPr>
          <a:xfrm>
            <a:off x="1901954" y="1155718"/>
            <a:ext cx="4296154" cy="26179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7412" y="2203092"/>
            <a:ext cx="29498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Legal configuration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198108" y="1230942"/>
            <a:ext cx="4215178" cy="2542744"/>
            <a:chOff x="4686300" y="1657662"/>
            <a:chExt cx="4215178" cy="2542744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86300" y="1657662"/>
              <a:ext cx="4215178" cy="2542744"/>
            </a:xfrm>
            <a:prstGeom prst="rect">
              <a:avLst/>
            </a:prstGeom>
          </p:spPr>
        </p:pic>
        <p:sp>
          <p:nvSpPr>
            <p:cNvPr id="5" name="Rectangle 4"/>
            <p:cNvSpPr/>
            <p:nvPr/>
          </p:nvSpPr>
          <p:spPr>
            <a:xfrm>
              <a:off x="6500198" y="2706755"/>
              <a:ext cx="913135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400" dirty="0"/>
                <a:t>Illegal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80713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790700" y="116142"/>
            <a:ext cx="8610600" cy="1143000"/>
          </a:xfrm>
        </p:spPr>
        <p:txBody>
          <a:bodyPr>
            <a:normAutofit/>
          </a:bodyPr>
          <a:lstStyle/>
          <a:p>
            <a:pPr algn="ctr" eaLnBrk="1" hangingPunct="1"/>
            <a:r>
              <a:rPr lang="en-US" sz="3600" dirty="0" err="1"/>
              <a:t>Dijkstra’s</a:t>
            </a:r>
            <a:r>
              <a:rPr lang="en-US" sz="3600" dirty="0"/>
              <a:t> Algorithm [‘74]</a:t>
            </a:r>
          </a:p>
        </p:txBody>
      </p:sp>
      <p:sp>
        <p:nvSpPr>
          <p:cNvPr id="11277" name="Text Box 14"/>
          <p:cNvSpPr txBox="1">
            <a:spLocks noChangeArrowheads="1"/>
          </p:cNvSpPr>
          <p:nvPr/>
        </p:nvSpPr>
        <p:spPr bwMode="auto">
          <a:xfrm>
            <a:off x="890016" y="3849728"/>
            <a:ext cx="10277855" cy="21818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r>
              <a:rPr lang="en-US" dirty="0">
                <a:latin typeface="+mj-lt"/>
              </a:rPr>
              <a:t>N processes: 0, 1, …, N-1</a:t>
            </a:r>
          </a:p>
          <a:p>
            <a:r>
              <a:rPr lang="en-US" dirty="0">
                <a:latin typeface="+mj-lt"/>
              </a:rPr>
              <a:t>state of each process j is a single integer variable x[j] </a:t>
            </a:r>
            <a:r>
              <a:rPr lang="en-US" dirty="0">
                <a:latin typeface="+mj-lt"/>
                <a:sym typeface="Symbol" pitchFamily="18" charset="2"/>
              </a:rPr>
              <a:t></a:t>
            </a:r>
            <a:r>
              <a:rPr lang="en-US" dirty="0">
                <a:latin typeface="+mj-lt"/>
              </a:rPr>
              <a:t> {0, 1, 2, K-1}, where K &gt; N</a:t>
            </a:r>
            <a:endParaRPr lang="en-US" i="1" dirty="0">
              <a:latin typeface="+mj-lt"/>
            </a:endParaRPr>
          </a:p>
          <a:p>
            <a:pPr algn="l">
              <a:lnSpc>
                <a:spcPct val="125000"/>
              </a:lnSpc>
            </a:pPr>
            <a:endParaRPr lang="en-US" i="1" dirty="0">
              <a:latin typeface="+mj-lt"/>
            </a:endParaRPr>
          </a:p>
          <a:p>
            <a:pPr algn="l">
              <a:lnSpc>
                <a:spcPct val="125000"/>
              </a:lnSpc>
            </a:pPr>
            <a:r>
              <a:rPr lang="en-US" i="1" dirty="0">
                <a:latin typeface="+mj-lt"/>
              </a:rPr>
              <a:t>P</a:t>
            </a:r>
            <a:r>
              <a:rPr lang="en-US" i="1" baseline="-25000" dirty="0">
                <a:latin typeface="+mj-lt"/>
              </a:rPr>
              <a:t>0</a:t>
            </a:r>
            <a:r>
              <a:rPr lang="en-US" dirty="0">
                <a:latin typeface="+mj-lt"/>
              </a:rPr>
              <a:t>		</a:t>
            </a:r>
            <a:r>
              <a:rPr lang="en-US" b="1" dirty="0">
                <a:latin typeface="+mj-lt"/>
              </a:rPr>
              <a:t>if </a:t>
            </a:r>
            <a:r>
              <a:rPr lang="en-US" dirty="0">
                <a:solidFill>
                  <a:srgbClr val="0070C0"/>
                </a:solidFill>
                <a:latin typeface="+mj-lt"/>
              </a:rPr>
              <a:t>x[0] = x[N-1] </a:t>
            </a:r>
            <a:r>
              <a:rPr lang="en-US" dirty="0">
                <a:latin typeface="+mj-lt"/>
              </a:rPr>
              <a:t>		</a:t>
            </a:r>
            <a:r>
              <a:rPr lang="en-US" b="1" dirty="0">
                <a:latin typeface="+mj-lt"/>
              </a:rPr>
              <a:t>then</a:t>
            </a:r>
            <a:r>
              <a:rPr lang="en-US" dirty="0">
                <a:latin typeface="+mj-lt"/>
              </a:rPr>
              <a:t> x[0] := x[0] + 1 mod K</a:t>
            </a:r>
          </a:p>
          <a:p>
            <a:pPr algn="l">
              <a:lnSpc>
                <a:spcPct val="125000"/>
              </a:lnSpc>
            </a:pPr>
            <a:r>
              <a:rPr lang="en-US" i="1" dirty="0" err="1">
                <a:latin typeface="+mj-lt"/>
              </a:rPr>
              <a:t>P</a:t>
            </a:r>
            <a:r>
              <a:rPr lang="en-US" i="1" baseline="-25000" dirty="0" err="1">
                <a:latin typeface="+mj-lt"/>
              </a:rPr>
              <a:t>j</a:t>
            </a:r>
            <a:r>
              <a:rPr lang="en-US" baseline="-25000" dirty="0">
                <a:latin typeface="+mj-lt"/>
              </a:rPr>
              <a:t> </a:t>
            </a:r>
            <a:r>
              <a:rPr lang="en-US" dirty="0">
                <a:latin typeface="+mj-lt"/>
              </a:rPr>
              <a:t> j &gt; 0	 	</a:t>
            </a:r>
            <a:r>
              <a:rPr lang="en-US" b="1" dirty="0">
                <a:latin typeface="+mj-lt"/>
              </a:rPr>
              <a:t>if</a:t>
            </a:r>
            <a:r>
              <a:rPr lang="en-US" dirty="0">
                <a:latin typeface="+mj-lt"/>
              </a:rPr>
              <a:t> </a:t>
            </a:r>
            <a:r>
              <a:rPr lang="en-US" dirty="0">
                <a:solidFill>
                  <a:srgbClr val="0070C0"/>
                </a:solidFill>
                <a:latin typeface="+mj-lt"/>
              </a:rPr>
              <a:t>x[j] ≠ x[j -1]</a:t>
            </a:r>
            <a:r>
              <a:rPr lang="en-US" dirty="0">
                <a:latin typeface="+mj-lt"/>
              </a:rPr>
              <a:t>	 	</a:t>
            </a:r>
            <a:r>
              <a:rPr lang="en-US" b="1" dirty="0">
                <a:latin typeface="+mj-lt"/>
              </a:rPr>
              <a:t>then</a:t>
            </a:r>
            <a:r>
              <a:rPr lang="en-US" dirty="0">
                <a:latin typeface="+mj-lt"/>
              </a:rPr>
              <a:t> x[j] := x[j-1] </a:t>
            </a:r>
          </a:p>
        </p:txBody>
      </p:sp>
      <p:sp>
        <p:nvSpPr>
          <p:cNvPr id="11279" name="Rectangle 16"/>
          <p:cNvSpPr>
            <a:spLocks noChangeArrowheads="1"/>
          </p:cNvSpPr>
          <p:nvPr/>
        </p:nvSpPr>
        <p:spPr bwMode="auto">
          <a:xfrm>
            <a:off x="2666999" y="6204283"/>
            <a:ext cx="703904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B840C0"/>
                </a:solidFill>
              </a:rPr>
              <a:t>(p</a:t>
            </a:r>
            <a:r>
              <a:rPr lang="en-US" sz="2400" baseline="-25000" dirty="0">
                <a:solidFill>
                  <a:srgbClr val="B840C0"/>
                </a:solidFill>
              </a:rPr>
              <a:t>i</a:t>
            </a:r>
            <a:r>
              <a:rPr lang="en-US" sz="2400" dirty="0">
                <a:solidFill>
                  <a:srgbClr val="B840C0"/>
                </a:solidFill>
              </a:rPr>
              <a:t> has TOKEN if and only if the </a:t>
            </a:r>
            <a:r>
              <a:rPr lang="en-US" sz="2400" dirty="0">
                <a:solidFill>
                  <a:srgbClr val="0070C0"/>
                </a:solidFill>
              </a:rPr>
              <a:t>blue</a:t>
            </a:r>
            <a:r>
              <a:rPr lang="en-US" sz="2400" dirty="0">
                <a:solidFill>
                  <a:srgbClr val="B840C0"/>
                </a:solidFill>
              </a:rPr>
              <a:t> conditional is true)</a:t>
            </a:r>
            <a:endParaRPr lang="en-US" sz="2400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3"/>
          <a:srcRect t="-1" b="3493"/>
          <a:stretch/>
        </p:blipFill>
        <p:spPr>
          <a:xfrm>
            <a:off x="4108704" y="1143000"/>
            <a:ext cx="4425696" cy="2696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5696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7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ED9C9-21FD-B546-90A5-D4C2F7A20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Sample executions: from a legal state (single token)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5C3183-EE1D-A942-B019-BD9DC7E0D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966" y="1690689"/>
            <a:ext cx="2535767" cy="16000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ED13FBE-3602-D647-B840-FE1970E4E7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3967" y="1690689"/>
            <a:ext cx="2535767" cy="16000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E0FD092-8921-C741-9613-2D13DAB657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7968" y="1690688"/>
            <a:ext cx="2541305" cy="160008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3595B4-96FE-2B4C-8B81-8E07FFCDF0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3834" y="1690688"/>
            <a:ext cx="2535767" cy="15945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B672E4E-7A2D-2E45-8ADA-62B7772C6153}"/>
              </a:ext>
            </a:extLst>
          </p:cNvPr>
          <p:cNvSpPr txBox="1"/>
          <p:nvPr/>
        </p:nvSpPr>
        <p:spPr>
          <a:xfrm>
            <a:off x="8961969" y="216818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CED51F-5934-6841-A750-C8C55173F082}"/>
              </a:ext>
            </a:extLst>
          </p:cNvPr>
          <p:cNvSpPr txBox="1"/>
          <p:nvPr/>
        </p:nvSpPr>
        <p:spPr>
          <a:xfrm>
            <a:off x="408284" y="463427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B6B542-55F2-6D4D-ACBC-11C6BD71C229}"/>
              </a:ext>
            </a:extLst>
          </p:cNvPr>
          <p:cNvSpPr txBox="1"/>
          <p:nvPr/>
        </p:nvSpPr>
        <p:spPr>
          <a:xfrm>
            <a:off x="3794022" y="4797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0A9DBD-4CF2-E840-A71A-0B2A2B69F0D2}"/>
              </a:ext>
            </a:extLst>
          </p:cNvPr>
          <p:cNvSpPr txBox="1"/>
          <p:nvPr/>
        </p:nvSpPr>
        <p:spPr>
          <a:xfrm>
            <a:off x="7179763" y="483338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72185A9-B8D3-AC41-95D2-6571E93D2E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199" y="4036117"/>
            <a:ext cx="2544572" cy="16000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00AD284-651D-5A49-8AB3-8E3AB8B5D6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1919" y="4184348"/>
            <a:ext cx="2535767" cy="159106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ABB01A2-4AD9-6941-AB76-E9C17026714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9683" y="4202534"/>
            <a:ext cx="2544572" cy="160213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B8EAC00-B23B-5B46-813D-37C4F747E692}"/>
                  </a:ext>
                </a:extLst>
              </p14:cNvPr>
              <p14:cNvContentPartPr/>
              <p14:nvPr/>
            </p14:nvContentPartPr>
            <p14:xfrm>
              <a:off x="539640" y="1441440"/>
              <a:ext cx="2184840" cy="7941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B8EAC00-B23B-5B46-813D-37C4F747E692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30280" y="1432080"/>
                <a:ext cx="2203560" cy="812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69075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2" grpId="0"/>
      <p:bldP spid="1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32670-9060-F443-8FD2-1659B23ED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Execution from an illegal state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5231629-FBC4-B842-90F1-A8156416DE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683" y="2146278"/>
            <a:ext cx="2863851" cy="179692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A466534-7A03-274B-B9A4-2C3C6EE4B7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9782" y="2146278"/>
            <a:ext cx="2863851" cy="1807102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7024E5B-44FB-1040-8D95-A15F6E26D1CD}"/>
              </a:ext>
            </a:extLst>
          </p:cNvPr>
          <p:cNvCxnSpPr>
            <a:cxnSpLocks/>
          </p:cNvCxnSpPr>
          <p:nvPr/>
        </p:nvCxnSpPr>
        <p:spPr>
          <a:xfrm flipH="1">
            <a:off x="2709334" y="1862667"/>
            <a:ext cx="355599" cy="28361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A8F0D34-C692-0C45-BAD2-4F2BAAB1824A}"/>
              </a:ext>
            </a:extLst>
          </p:cNvPr>
          <p:cNvSpPr txBox="1"/>
          <p:nvPr/>
        </p:nvSpPr>
        <p:spPr>
          <a:xfrm>
            <a:off x="7416800" y="2184400"/>
            <a:ext cx="36354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Legal in single “step”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3A70AAD-B780-E549-966F-AF4246B770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9781" y="4408970"/>
            <a:ext cx="2863851" cy="18071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2DE080-4AA2-FF4E-BE31-BDAF218C4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683" y="4419146"/>
            <a:ext cx="2863851" cy="1796926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D5F3F94-7F34-D64B-A904-00CC9526E368}"/>
              </a:ext>
            </a:extLst>
          </p:cNvPr>
          <p:cNvCxnSpPr>
            <a:cxnSpLocks/>
          </p:cNvCxnSpPr>
          <p:nvPr/>
        </p:nvCxnSpPr>
        <p:spPr>
          <a:xfrm flipH="1">
            <a:off x="1633009" y="4108665"/>
            <a:ext cx="355599" cy="28361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A46F5C1-3497-2D4F-82B9-2A11BBE07A38}"/>
              </a:ext>
            </a:extLst>
          </p:cNvPr>
          <p:cNvCxnSpPr>
            <a:cxnSpLocks/>
          </p:cNvCxnSpPr>
          <p:nvPr/>
        </p:nvCxnSpPr>
        <p:spPr>
          <a:xfrm flipH="1">
            <a:off x="5918200" y="4108664"/>
            <a:ext cx="355599" cy="28361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B57F659F-2C89-3545-BF3E-419BBEC1B2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2879" y="4419146"/>
            <a:ext cx="2863851" cy="180710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CA361BA-5CCC-6A40-9772-D72C47844C6F}"/>
              </a:ext>
            </a:extLst>
          </p:cNvPr>
          <p:cNvSpPr txBox="1"/>
          <p:nvPr/>
        </p:nvSpPr>
        <p:spPr>
          <a:xfrm>
            <a:off x="8385650" y="3747102"/>
            <a:ext cx="31406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Legal in two steps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D276459A-8839-9147-AF01-BE0D02AA0B3D}"/>
                  </a:ext>
                </a:extLst>
              </p14:cNvPr>
              <p14:cNvContentPartPr/>
              <p14:nvPr/>
            </p14:nvContentPartPr>
            <p14:xfrm>
              <a:off x="527040" y="1828800"/>
              <a:ext cx="2934000" cy="9910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D276459A-8839-9147-AF01-BE0D02AA0B3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17680" y="1819440"/>
                <a:ext cx="2952720" cy="1009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14724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Synchronous model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838200" y="1325563"/>
            <a:ext cx="5739072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has_token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(x,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N):</a:t>
            </a:r>
          </a:p>
          <a:p>
            <a:r>
              <a:rPr lang="en-US" sz="16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"""Return True if process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has the token."""</a:t>
            </a:r>
            <a:endParaRPr lang="en-US" sz="16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FF"/>
                </a:solidFill>
                <a:latin typeface="Menlo" panose="020B0609030804020204" pitchFamily="49" charset="0"/>
              </a:rPr>
              <a:t>  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x[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== x[N -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FF"/>
                </a:solidFill>
                <a:latin typeface="Menlo" panose="020B0609030804020204" pitchFamily="49" charset="0"/>
              </a:rPr>
              <a:t>  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!=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simulate(N, K, T,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delta_t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 = 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[0]*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t &lt;= T: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x.copy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 </a:t>
            </a:r>
            <a:r>
              <a:rPr lang="en-US" sz="1600" b="0" dirty="0">
                <a:solidFill>
                  <a:srgbClr val="00B050"/>
                </a:solidFill>
                <a:effectLst/>
                <a:latin typeface="Menlo" panose="020B0609030804020204" pitchFamily="49" charset="0"/>
              </a:rPr>
              <a:t>// Update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range(N):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      if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has_token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N):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         if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  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=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+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% K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         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  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128575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94944" y="0"/>
            <a:ext cx="10984992" cy="1325563"/>
          </a:xfrm>
        </p:spPr>
        <p:txBody>
          <a:bodyPr>
            <a:normAutofit/>
          </a:bodyPr>
          <a:lstStyle/>
          <a:p>
            <a:r>
              <a:rPr lang="en-US" dirty="0"/>
              <a:t>Synchronous state machine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417CDEB-59C2-494C-B916-ABA6EEECE1D0}"/>
                  </a:ext>
                </a:extLst>
              </p:cNvPr>
              <p:cNvSpPr txBox="1"/>
              <p:nvPr/>
            </p:nvSpPr>
            <p:spPr>
              <a:xfrm>
                <a:off x="838200" y="1137634"/>
                <a:ext cx="10984992" cy="5262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A </a:t>
                </a:r>
                <a:r>
                  <a:rPr lang="en-US" sz="2400" i="1" dirty="0"/>
                  <a:t>state machine </a:t>
                </a:r>
                <a:r>
                  <a:rPr lang="en-US" sz="2400" dirty="0"/>
                  <a:t>or an </a:t>
                </a:r>
                <a:r>
                  <a:rPr lang="en-US" sz="2400" i="1" dirty="0"/>
                  <a:t>automaton</a:t>
                </a:r>
                <a:r>
                  <a:rPr lang="en-US" sz="2400" dirty="0"/>
                  <a:t> models the behavior of a system in terms of valuations of  </a:t>
                </a:r>
                <a:r>
                  <a:rPr lang="en-US" sz="2400" i="1" dirty="0"/>
                  <a:t>state variables </a:t>
                </a:r>
                <a:r>
                  <a:rPr lang="en-US" sz="2400" dirty="0"/>
                  <a:t>and </a:t>
                </a:r>
                <a:r>
                  <a:rPr lang="en-US" sz="2400" i="1" dirty="0"/>
                  <a:t>transitions</a:t>
                </a:r>
                <a:r>
                  <a:rPr lang="en-US" sz="2400" dirty="0"/>
                  <a:t> </a:t>
                </a:r>
              </a:p>
              <a:p>
                <a:endParaRPr lang="en-US" sz="2400" b="1" dirty="0"/>
              </a:p>
              <a:p>
                <a:r>
                  <a:rPr lang="en-US" sz="2400" b="1" dirty="0"/>
                  <a:t>automaton</a:t>
                </a:r>
                <a:r>
                  <a:rPr lang="en-US" sz="2400" dirty="0"/>
                  <a:t> </a:t>
                </a:r>
                <a:r>
                  <a:rPr lang="en-US" sz="2400" dirty="0" err="1">
                    <a:solidFill>
                      <a:srgbClr val="0119FF"/>
                    </a:solidFill>
                  </a:rPr>
                  <a:t>DijkstraTR</a:t>
                </a:r>
                <a:r>
                  <a:rPr lang="en-US" sz="2400" dirty="0"/>
                  <a:t>(</a:t>
                </a:r>
                <a:r>
                  <a:rPr lang="en-US" sz="2400" dirty="0" err="1"/>
                  <a:t>N:</a:t>
                </a:r>
                <a:r>
                  <a:rPr lang="en-US" sz="2400" dirty="0" err="1">
                    <a:solidFill>
                      <a:srgbClr val="00B050"/>
                    </a:solidFill>
                  </a:rPr>
                  <a:t>Nat</a:t>
                </a:r>
                <a:r>
                  <a:rPr lang="en-US" sz="2400" dirty="0"/>
                  <a:t>, </a:t>
                </a:r>
                <a:r>
                  <a:rPr lang="en-US" sz="2400" dirty="0" err="1"/>
                  <a:t>K:</a:t>
                </a:r>
                <a:r>
                  <a:rPr lang="en-US" sz="2400" dirty="0" err="1">
                    <a:solidFill>
                      <a:srgbClr val="00B050"/>
                    </a:solidFill>
                  </a:rPr>
                  <a:t>Nat</a:t>
                </a:r>
                <a:r>
                  <a:rPr lang="en-US" sz="2400" dirty="0"/>
                  <a:t>), </a:t>
                </a:r>
                <a:r>
                  <a:rPr lang="en-US" sz="2400" b="1" dirty="0"/>
                  <a:t>where</a:t>
                </a:r>
                <a:r>
                  <a:rPr lang="en-US" sz="2400" dirty="0"/>
                  <a:t> K &gt; N</a:t>
                </a:r>
                <a:endParaRPr lang="en-US" sz="2400" b="1" dirty="0"/>
              </a:p>
              <a:p>
                <a:r>
                  <a:rPr lang="en-US" sz="2400" b="1" dirty="0"/>
                  <a:t>   variables</a:t>
                </a:r>
              </a:p>
              <a:p>
                <a:r>
                  <a:rPr lang="en-US" sz="2400" dirty="0"/>
                  <a:t>      </a:t>
                </a:r>
                <a:r>
                  <a:rPr lang="en-US" sz="2400" dirty="0">
                    <a:solidFill>
                      <a:srgbClr val="0119FF"/>
                    </a:solidFill>
                  </a:rPr>
                  <a:t>x</a:t>
                </a:r>
                <a:r>
                  <a:rPr lang="en-US" sz="2400" dirty="0"/>
                  <a:t>:[[N] -&gt; K]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   </a:t>
                </a:r>
                <a:r>
                  <a:rPr lang="en-US" sz="2400" b="1" dirty="0"/>
                  <a:t>transitions</a:t>
                </a:r>
              </a:p>
              <a:p>
                <a:r>
                  <a:rPr lang="en-US" sz="2400" b="1" dirty="0"/>
                  <a:t>       </a:t>
                </a:r>
                <a:r>
                  <a:rPr lang="en-US" sz="2400" dirty="0">
                    <a:solidFill>
                      <a:srgbClr val="0119FF"/>
                    </a:solidFill>
                  </a:rPr>
                  <a:t>Update</a:t>
                </a:r>
              </a:p>
              <a:p>
                <a:r>
                  <a:rPr lang="en-US" sz="2400" b="1" dirty="0"/>
                  <a:t>        for each </a:t>
                </a:r>
                <a:r>
                  <a:rPr lang="en-US" sz="2400" dirty="0" err="1"/>
                  <a:t>i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∈ </m:t>
                    </m:r>
                  </m:oMath>
                </a14:m>
                <a:r>
                  <a:rPr lang="en-US" sz="2400" dirty="0"/>
                  <a:t>[N]</a:t>
                </a:r>
                <a:endParaRPr lang="en-US" sz="2400" b="1" dirty="0"/>
              </a:p>
              <a:p>
                <a:r>
                  <a:rPr lang="en-US" sz="2400" b="1" dirty="0"/>
                  <a:t>            if </a:t>
                </a:r>
                <a:r>
                  <a:rPr lang="en-US" sz="2400" dirty="0" err="1"/>
                  <a:t>has_token</a:t>
                </a:r>
                <a:r>
                  <a:rPr lang="en-US" sz="2400" dirty="0"/>
                  <a:t>(</a:t>
                </a:r>
                <a:r>
                  <a:rPr lang="en-US" sz="2400" dirty="0" err="1"/>
                  <a:t>i</a:t>
                </a:r>
                <a:r>
                  <a:rPr lang="en-US" sz="2400" dirty="0"/>
                  <a:t>) and </a:t>
                </a:r>
                <a:r>
                  <a:rPr lang="en-US" sz="2400" dirty="0" err="1"/>
                  <a:t>i</a:t>
                </a:r>
                <a:r>
                  <a:rPr lang="en-US" sz="2400" dirty="0"/>
                  <a:t> == 0        </a:t>
                </a:r>
              </a:p>
              <a:p>
                <a:r>
                  <a:rPr lang="en-US" sz="2400" dirty="0"/>
                  <a:t>                   x[</a:t>
                </a:r>
                <a:r>
                  <a:rPr lang="en-US" sz="2400" dirty="0" err="1"/>
                  <a:t>i</a:t>
                </a:r>
                <a:r>
                  <a:rPr lang="en-US" sz="2400" dirty="0"/>
                  <a:t>] = (x[</a:t>
                </a:r>
                <a:r>
                  <a:rPr lang="en-US" sz="2400" dirty="0" err="1"/>
                  <a:t>i</a:t>
                </a:r>
                <a:r>
                  <a:rPr lang="en-US" sz="2400" dirty="0"/>
                  <a:t>] + 1) %  K</a:t>
                </a:r>
              </a:p>
              <a:p>
                <a:r>
                  <a:rPr lang="en-US" sz="2400" dirty="0"/>
                  <a:t>            </a:t>
                </a:r>
                <a:r>
                  <a:rPr lang="en-US" sz="2400" b="1" dirty="0"/>
                  <a:t>if </a:t>
                </a:r>
                <a:r>
                  <a:rPr lang="en-US" sz="2400" dirty="0" err="1"/>
                  <a:t>has_token</a:t>
                </a:r>
                <a:r>
                  <a:rPr lang="en-US" sz="2400" dirty="0"/>
                  <a:t>(</a:t>
                </a:r>
                <a:r>
                  <a:rPr lang="en-US" sz="2400" dirty="0" err="1"/>
                  <a:t>i</a:t>
                </a:r>
                <a:r>
                  <a:rPr lang="en-US" sz="2400" dirty="0"/>
                  <a:t>) and </a:t>
                </a:r>
                <a:r>
                  <a:rPr lang="en-US" sz="2400" dirty="0" err="1"/>
                  <a:t>i</a:t>
                </a:r>
                <a:r>
                  <a:rPr lang="en-US" sz="2400" dirty="0"/>
                  <a:t>&gt; 0        </a:t>
                </a:r>
              </a:p>
              <a:p>
                <a:r>
                  <a:rPr lang="en-US" sz="2400" dirty="0"/>
                  <a:t>                   x[</a:t>
                </a:r>
                <a:r>
                  <a:rPr lang="en-US" sz="2400" dirty="0" err="1"/>
                  <a:t>i</a:t>
                </a:r>
                <a:r>
                  <a:rPr lang="en-US" sz="2400" dirty="0"/>
                  <a:t>] = x[i-1]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417CDEB-59C2-494C-B916-ABA6EEECE1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137634"/>
                <a:ext cx="10984992" cy="5262979"/>
              </a:xfrm>
              <a:prstGeom prst="rect">
                <a:avLst/>
              </a:prstGeom>
              <a:blipFill>
                <a:blip r:embed="rId2"/>
                <a:stretch>
                  <a:fillRect l="-924" t="-962" b="-14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58011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94944" y="0"/>
            <a:ext cx="10984992" cy="1325563"/>
          </a:xfrm>
        </p:spPr>
        <p:txBody>
          <a:bodyPr>
            <a:normAutofit/>
          </a:bodyPr>
          <a:lstStyle/>
          <a:p>
            <a:r>
              <a:rPr lang="en-US" dirty="0"/>
              <a:t>Asynchronous Nondeterministic State Machine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838200" y="1137634"/>
            <a:ext cx="6352701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automaton</a:t>
            </a:r>
            <a:r>
              <a:rPr lang="en-US" sz="2400" dirty="0"/>
              <a:t> </a:t>
            </a:r>
            <a:r>
              <a:rPr lang="en-US" sz="2400" dirty="0" err="1">
                <a:solidFill>
                  <a:srgbClr val="0119FF"/>
                </a:solidFill>
              </a:rPr>
              <a:t>DijkstraTR</a:t>
            </a:r>
            <a:r>
              <a:rPr lang="en-US" sz="2400" dirty="0"/>
              <a:t>(</a:t>
            </a:r>
            <a:r>
              <a:rPr lang="en-US" sz="2400" dirty="0" err="1"/>
              <a:t>N: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, </a:t>
            </a:r>
            <a:r>
              <a:rPr lang="en-US" sz="2400" dirty="0" err="1"/>
              <a:t>K: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), </a:t>
            </a:r>
            <a:r>
              <a:rPr lang="en-US" sz="2400" b="1" dirty="0"/>
              <a:t>where</a:t>
            </a:r>
            <a:r>
              <a:rPr lang="en-US" sz="2400" dirty="0"/>
              <a:t> K &gt; N</a:t>
            </a:r>
            <a:endParaRPr lang="en-US" sz="2400" b="1" dirty="0"/>
          </a:p>
          <a:p>
            <a:r>
              <a:rPr lang="en-US" sz="2400" b="1" dirty="0"/>
              <a:t>   variables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x</a:t>
            </a:r>
            <a:r>
              <a:rPr lang="en-US" sz="2400" dirty="0"/>
              <a:t>:[[N] -&gt; K]</a:t>
            </a:r>
          </a:p>
          <a:p>
            <a:endParaRPr lang="en-US" sz="2400" dirty="0"/>
          </a:p>
          <a:p>
            <a:r>
              <a:rPr lang="en-US" sz="2400" dirty="0"/>
              <a:t>   </a:t>
            </a:r>
            <a:r>
              <a:rPr lang="en-US" sz="2400" b="1" dirty="0"/>
              <a:t>transitions</a:t>
            </a:r>
          </a:p>
          <a:p>
            <a:r>
              <a:rPr lang="en-US" sz="2400" b="1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Update(p=0)</a:t>
            </a:r>
          </a:p>
          <a:p>
            <a:r>
              <a:rPr lang="en-US" sz="2400" b="1" dirty="0"/>
              <a:t>       Pre </a:t>
            </a:r>
            <a:r>
              <a:rPr lang="en-US" sz="2400" dirty="0" err="1"/>
              <a:t>has_token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 and </a:t>
            </a:r>
            <a:r>
              <a:rPr lang="en-US" sz="2400" dirty="0" err="1"/>
              <a:t>i</a:t>
            </a:r>
            <a:r>
              <a:rPr lang="en-US" sz="2400" dirty="0"/>
              <a:t>== p        </a:t>
            </a:r>
          </a:p>
          <a:p>
            <a:r>
              <a:rPr lang="en-US" sz="2400" dirty="0"/>
              <a:t>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= (x[</a:t>
            </a:r>
            <a:r>
              <a:rPr lang="en-US" sz="2400" dirty="0" err="1"/>
              <a:t>i</a:t>
            </a:r>
            <a:r>
              <a:rPr lang="en-US" sz="2400" dirty="0"/>
              <a:t>] + 1) %  K</a:t>
            </a:r>
          </a:p>
          <a:p>
            <a:r>
              <a:rPr lang="en-US" sz="2400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Update(p&gt;0)</a:t>
            </a:r>
            <a:endParaRPr lang="en-US" sz="2400" dirty="0"/>
          </a:p>
          <a:p>
            <a:r>
              <a:rPr lang="en-US" sz="2400" dirty="0"/>
              <a:t>       </a:t>
            </a:r>
            <a:r>
              <a:rPr lang="en-US" sz="2400" b="1" dirty="0"/>
              <a:t>Pre </a:t>
            </a:r>
            <a:r>
              <a:rPr lang="en-US" sz="2400" dirty="0" err="1"/>
              <a:t>has_token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 and </a:t>
            </a:r>
            <a:r>
              <a:rPr lang="en-US" sz="2400" dirty="0" err="1"/>
              <a:t>i</a:t>
            </a:r>
            <a:r>
              <a:rPr lang="en-US" sz="2400" dirty="0"/>
              <a:t> == p        </a:t>
            </a:r>
          </a:p>
          <a:p>
            <a:r>
              <a:rPr lang="en-US" sz="2400" dirty="0"/>
              <a:t>       </a:t>
            </a:r>
            <a:r>
              <a:rPr lang="en-US" sz="2400" b="1" dirty="0"/>
              <a:t>Eff </a:t>
            </a:r>
            <a:r>
              <a:rPr lang="en-US" sz="2400" dirty="0"/>
              <a:t>x[</a:t>
            </a:r>
            <a:r>
              <a:rPr lang="en-US" sz="2400" dirty="0" err="1"/>
              <a:t>i</a:t>
            </a:r>
            <a:r>
              <a:rPr lang="en-US" sz="2400" dirty="0"/>
              <a:t>] = x[i-1]</a:t>
            </a:r>
          </a:p>
        </p:txBody>
      </p:sp>
    </p:spTree>
    <p:extLst>
      <p:ext uri="{BB962C8B-B14F-4D97-AF65-F5344CB8AC3E}">
        <p14:creationId xmlns:p14="http://schemas.microsoft.com/office/powerpoint/2010/main" val="40955858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 language defines an automaton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6304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0" dirty="0">
                    <a:latin typeface="+mj-lt"/>
                    <a:ea typeface="Cambria Math" panose="02040503050406030204" pitchFamily="18" charset="0"/>
                  </a:rPr>
                  <a:t>An </a:t>
                </a:r>
                <a:r>
                  <a:rPr lang="en-US" b="1" dirty="0">
                    <a:latin typeface="+mj-lt"/>
                    <a:ea typeface="Cambria Math" panose="02040503050406030204" pitchFamily="18" charset="0"/>
                  </a:rPr>
                  <a:t>automaton</a:t>
                </a:r>
                <a:r>
                  <a:rPr lang="en-US" b="0" dirty="0">
                    <a:latin typeface="+mj-lt"/>
                    <a:ea typeface="Cambria Math" panose="02040503050406030204" pitchFamily="18" charset="0"/>
                  </a:rPr>
                  <a:t> is a tuple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>
                    <a:latin typeface="+mj-lt"/>
                  </a:rPr>
                  <a:t> where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latin typeface="+mj-lt"/>
                  </a:rPr>
                  <a:t> is a set of names of variables; each variable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is associated with a type,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𝑡𝑦𝑝𝑒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lvl="1"/>
                <a:r>
                  <a:rPr lang="en-US" dirty="0">
                    <a:latin typeface="+mj-lt"/>
                  </a:rPr>
                  <a:t>A </a:t>
                </a:r>
                <a:r>
                  <a:rPr lang="en-US" b="1" dirty="0">
                    <a:latin typeface="+mj-lt"/>
                  </a:rPr>
                  <a:t>valuation</a:t>
                </a:r>
                <a:r>
                  <a:rPr lang="en-US" dirty="0">
                    <a:latin typeface="+mj-lt"/>
                  </a:rPr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>
                    <a:latin typeface="+mj-lt"/>
                  </a:rPr>
                  <a:t> maps each variable name to its type</a:t>
                </a:r>
              </a:p>
              <a:p>
                <a:pPr lvl="1"/>
                <a:r>
                  <a:rPr lang="en-US" dirty="0">
                    <a:latin typeface="+mj-lt"/>
                  </a:rPr>
                  <a:t>Set of all valuations: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n-US" dirty="0">
                    <a:latin typeface="+mj-lt"/>
                  </a:rPr>
                  <a:t> is the </a:t>
                </a:r>
                <a:r>
                  <a:rPr lang="en-US" b="1" dirty="0">
                    <a:latin typeface="+mj-lt"/>
                  </a:rPr>
                  <a:t>state space </a:t>
                </a:r>
                <a:r>
                  <a:rPr lang="en-US" dirty="0">
                    <a:latin typeface="+mj-lt"/>
                  </a:rPr>
                  <a:t>of the automaton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j-lt"/>
                  </a:rPr>
                  <a:t> is the set of </a:t>
                </a:r>
                <a:r>
                  <a:rPr lang="en-US" b="1" dirty="0">
                    <a:latin typeface="+mj-lt"/>
                  </a:rPr>
                  <a:t>initial</a:t>
                </a:r>
                <a:r>
                  <a:rPr lang="en-US" dirty="0">
                    <a:latin typeface="+mj-lt"/>
                  </a:rPr>
                  <a:t> or </a:t>
                </a:r>
                <a:r>
                  <a:rPr lang="en-US" b="1" dirty="0">
                    <a:latin typeface="+mj-lt"/>
                  </a:rPr>
                  <a:t>start states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latin typeface="+mj-lt"/>
                  </a:rPr>
                  <a:t> is a set of names of </a:t>
                </a:r>
                <a:r>
                  <a:rPr lang="en-US" b="1" dirty="0">
                    <a:latin typeface="+mj-lt"/>
                  </a:rPr>
                  <a:t>actions</a:t>
                </a:r>
                <a:r>
                  <a:rPr lang="en-US" dirty="0">
                    <a:latin typeface="+mj-lt"/>
                  </a:rPr>
                  <a:t> or </a:t>
                </a:r>
                <a:r>
                  <a:rPr lang="en-US" b="1" dirty="0">
                    <a:latin typeface="+mj-lt"/>
                  </a:rPr>
                  <a:t>labels</a:t>
                </a: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n-US" dirty="0">
                    <a:latin typeface="+mj-lt"/>
                  </a:rPr>
                  <a:t> is the set of </a:t>
                </a:r>
                <a:r>
                  <a:rPr lang="en-US" b="1" dirty="0">
                    <a:latin typeface="+mj-lt"/>
                  </a:rPr>
                  <a:t>transitions</a:t>
                </a:r>
              </a:p>
              <a:p>
                <a:pPr lvl="1"/>
                <a:r>
                  <a:rPr lang="en-US" dirty="0">
                    <a:latin typeface="+mj-lt"/>
                  </a:rPr>
                  <a:t>a transition is a triple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’)</m:t>
                    </m:r>
                  </m:oMath>
                </a14:m>
                <a:r>
                  <a:rPr lang="en-US" dirty="0">
                    <a:latin typeface="+mj-lt"/>
                  </a:rPr>
                  <a:t> </a:t>
                </a:r>
              </a:p>
              <a:p>
                <a:pPr lvl="1"/>
                <a:r>
                  <a:rPr lang="en-US" dirty="0">
                    <a:latin typeface="+mj-lt"/>
                  </a:rPr>
                  <a:t>We write it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914400" lvl="2" indent="0"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63042"/>
              </a:xfrm>
              <a:blipFill>
                <a:blip r:embed="rId2"/>
                <a:stretch>
                  <a:fillRect l="-1206" t="-2083" r="-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08605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0217"/>
            <a:ext cx="11734800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dirty="0"/>
              <a:t>Variables, valuations, state space, </a:t>
            </a:r>
            <a:r>
              <a:rPr lang="en-US" sz="3200" dirty="0" err="1"/>
              <a:t>ececutions</a:t>
            </a:r>
            <a:endParaRPr lang="en-US" sz="3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79967" y="1690688"/>
                <a:ext cx="6113441" cy="48799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dirty="0">
                    <a:latin typeface="+mj-lt"/>
                  </a:rPr>
                  <a:t>variables</a:t>
                </a:r>
                <a:r>
                  <a:rPr lang="en-US" sz="2400" dirty="0">
                    <a:latin typeface="+mj-lt"/>
                  </a:rPr>
                  <a:t> s, v: Real; a: Bool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X = {s, v, a}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Example valuations of X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〈"/>
                        <m:endChr m:val="〉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↦0,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↦5.5,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↦0</m:t>
                        </m:r>
                      </m:e>
                    </m:d>
                  </m:oMath>
                </a14:m>
                <a:endParaRPr lang="en-US" sz="2400" b="0" dirty="0">
                  <a:latin typeface="+mj-lt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〈"/>
                        <m:endChr m:val="〉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↦10,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↦−2.5,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↦1</m:t>
                        </m:r>
                      </m:e>
                    </m:d>
                  </m:oMath>
                </a14:m>
                <a:endParaRPr lang="en-US" sz="2400" b="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2400" b="0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2400" b="0" dirty="0">
                    <a:latin typeface="+mj-lt"/>
                  </a:rPr>
                  <a:t>set of all possible valuations or “state space” is written 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endParaRPr lang="en-US" sz="2400" b="0" i="1" dirty="0">
                  <a:latin typeface="+mj-lt"/>
                </a:endParaRPr>
              </a:p>
              <a:p>
                <a:pPr marL="0" indent="0">
                  <a:buNone/>
                </a:pPr>
                <a:endParaRPr lang="en-US" sz="2400" b="0" i="1" dirty="0">
                  <a:latin typeface="+mj-lt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sz="2400" dirty="0">
                    <a:latin typeface="+mj-lt"/>
                  </a:rPr>
                  <a:t>{</a:t>
                </a:r>
                <a14:m>
                  <m:oMath xmlns:m="http://schemas.openxmlformats.org/officeDocument/2006/math">
                    <m:d>
                      <m:dPr>
                        <m:begChr m:val="〈"/>
                        <m:endChr m:val="〉"/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↦</m:t>
                        </m:r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↦</m:t>
                        </m:r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↦</m:t>
                        </m:r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|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∈{0,1}</m:t>
                    </m:r>
                  </m:oMath>
                </a14:m>
                <a:r>
                  <a:rPr lang="en-US" sz="2400" dirty="0">
                    <a:latin typeface="+mj-lt"/>
                  </a:rPr>
                  <a:t>}</a:t>
                </a:r>
              </a:p>
              <a:p>
                <a:pPr marL="0" indent="0">
                  <a:buNone/>
                </a:pPr>
                <a:endParaRPr lang="en-US" sz="2400" b="1" dirty="0">
                  <a:latin typeface="+mj-lt"/>
                </a:endParaRPr>
              </a:p>
              <a:p>
                <a:pPr lvl="1"/>
                <a:endParaRPr lang="en-US" sz="2000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9967" y="1690688"/>
                <a:ext cx="6113441" cy="4879975"/>
              </a:xfrm>
              <a:blipFill>
                <a:blip r:embed="rId2"/>
                <a:stretch>
                  <a:fillRect l="-1656" t="-12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E78D10F-D3D3-824B-85D3-4C81FE46D109}"/>
                  </a:ext>
                </a:extLst>
              </p:cNvPr>
              <p:cNvSpPr/>
              <p:nvPr/>
            </p:nvSpPr>
            <p:spPr>
              <a:xfrm>
                <a:off x="6481234" y="1383243"/>
                <a:ext cx="5710766" cy="557075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latin typeface="+mj-lt"/>
                  </a:rPr>
                  <a:t>type</a:t>
                </a:r>
                <a:r>
                  <a:rPr lang="en-US" sz="2400" dirty="0">
                    <a:latin typeface="+mj-lt"/>
                  </a:rPr>
                  <a:t> </a:t>
                </a:r>
                <a:r>
                  <a:rPr lang="en-US" sz="2400" dirty="0">
                    <a:solidFill>
                      <a:srgbClr val="0119FF"/>
                    </a:solidFill>
                    <a:latin typeface="+mj-lt"/>
                  </a:rPr>
                  <a:t>ID</a:t>
                </a:r>
                <a:r>
                  <a:rPr lang="en-US" sz="2400" dirty="0">
                    <a:latin typeface="+mj-lt"/>
                  </a:rPr>
                  <a:t>: [0,…,N-1]</a:t>
                </a:r>
              </a:p>
              <a:p>
                <a:r>
                  <a:rPr lang="en-US" sz="2400" b="1" dirty="0">
                    <a:latin typeface="+mj-lt"/>
                  </a:rPr>
                  <a:t>variables </a:t>
                </a:r>
                <a:r>
                  <a:rPr lang="en-US" sz="2400" dirty="0">
                    <a:solidFill>
                      <a:srgbClr val="0119FF"/>
                    </a:solidFill>
                    <a:latin typeface="+mj-lt"/>
                  </a:rPr>
                  <a:t>x</a:t>
                </a:r>
                <a:r>
                  <a:rPr lang="en-US" sz="2400" dirty="0">
                    <a:latin typeface="+mj-lt"/>
                  </a:rPr>
                  <a:t>: [ID&gt;</a:t>
                </a:r>
                <a:r>
                  <a:rPr lang="en-US" sz="2400" dirty="0" err="1">
                    <a:latin typeface="+mj-lt"/>
                  </a:rPr>
                  <a:t>Vals</a:t>
                </a:r>
                <a:r>
                  <a:rPr lang="en-US" sz="2400" dirty="0">
                    <a:latin typeface="+mj-lt"/>
                  </a:rPr>
                  <a:t>]</a:t>
                </a:r>
              </a:p>
              <a:p>
                <a:r>
                  <a:rPr lang="en-US" sz="2400" i="1" dirty="0">
                    <a:latin typeface="+mj-lt"/>
                  </a:rPr>
                  <a:t>Fix N = 5, K = 7</a:t>
                </a:r>
              </a:p>
              <a:p>
                <a:r>
                  <a:rPr lang="en-US" sz="2400" dirty="0">
                    <a:latin typeface="+mj-lt"/>
                  </a:rPr>
                  <a:t>x: [{0,…,4}</a:t>
                </a:r>
                <a:r>
                  <a:rPr lang="en-US" sz="2400" dirty="0">
                    <a:solidFill>
                      <a:srgbClr val="FF00FF"/>
                    </a:solidFill>
                    <a:latin typeface="+mj-lt"/>
                  </a:rPr>
                  <a:t> </a:t>
                </a:r>
                <a:r>
                  <a:rPr lang="en-US" sz="2400" dirty="0">
                    <a:latin typeface="+mj-lt"/>
                  </a:rPr>
                  <a:t>-&gt; {0,…,6}]</a:t>
                </a:r>
              </a:p>
              <a:p>
                <a:r>
                  <a:rPr lang="en-US" sz="2400" dirty="0">
                    <a:latin typeface="+mj-lt"/>
                  </a:rPr>
                  <a:t>Example valuations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sz="2400" b="0" i="1" dirty="0">
                  <a:latin typeface="+mj-lt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〈"/>
                          <m:endChr m:val="〉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↦</m:t>
                          </m:r>
                          <m:d>
                            <m:dPr>
                              <m:begChr m:val="〈"/>
                              <m:endChr m:val="〉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0↦0, 1↦0, 2↦0, 3↦0, 4↦0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000" b="0" i="1" dirty="0">
                  <a:latin typeface="+mj-lt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〈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↦</m:t>
                      </m:r>
                      <m:d>
                        <m:dPr>
                          <m:begChr m:val="〈"/>
                          <m:endChr m:val="〉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0↦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 1↦0, 2↦0, 3↦0, 4↦0, 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〉</m:t>
                      </m:r>
                    </m:oMath>
                  </m:oMathPara>
                </a14:m>
                <a:endParaRPr lang="en-US" sz="2400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Valuations are usually denoted by bold small characters</a:t>
                </a:r>
              </a:p>
              <a:p>
                <a:r>
                  <a:rPr lang="en-US" sz="2400" dirty="0">
                    <a:latin typeface="+mj-lt"/>
                  </a:rPr>
                  <a:t>E.g.,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〈"/>
                          <m:endChr m:val="〉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↦</m:t>
                          </m:r>
                          <m:d>
                            <m:dPr>
                              <m:begChr m:val="〈"/>
                              <m:endChr m:val="〉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0↦0, 1↦0, 2↦0, 3↦0, 4↦0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000" b="0" i="1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Notations </a:t>
                </a:r>
              </a:p>
              <a:p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b="0" i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b="0" dirty="0">
                    <a:solidFill>
                      <a:schemeClr val="tx1"/>
                    </a:solidFill>
                    <a:latin typeface="+mj-lt"/>
                  </a:rPr>
                  <a:t>is the value of variable </a:t>
                </a:r>
                <a:r>
                  <a:rPr lang="en-US" sz="2000" b="0" i="1" dirty="0">
                    <a:solidFill>
                      <a:schemeClr val="tx1"/>
                    </a:solidFill>
                    <a:latin typeface="+mj-lt"/>
                  </a:rPr>
                  <a:t>x</a:t>
                </a:r>
                <a:r>
                  <a:rPr lang="en-US" sz="2000" b="0" dirty="0">
                    <a:solidFill>
                      <a:schemeClr val="tx1"/>
                    </a:solidFill>
                    <a:latin typeface="+mj-lt"/>
                  </a:rPr>
                  <a:t> in </a:t>
                </a:r>
                <a:r>
                  <a:rPr lang="en-US" sz="2000" b="1" i="1" dirty="0">
                    <a:solidFill>
                      <a:schemeClr val="tx1"/>
                    </a:solidFill>
                    <a:latin typeface="+mj-lt"/>
                  </a:rPr>
                  <a:t>u</a:t>
                </a:r>
              </a:p>
              <a:p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⌈ 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[4] =0 array notation [] works with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⌈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as expected</a:t>
                </a:r>
              </a:p>
              <a:p>
                <a:endParaRPr lang="en-US" sz="2000" dirty="0">
                  <a:latin typeface="+mj-lt"/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E78D10F-D3D3-824B-85D3-4C81FE46D1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1234" y="1383243"/>
                <a:ext cx="5710766" cy="5570756"/>
              </a:xfrm>
              <a:prstGeom prst="rect">
                <a:avLst/>
              </a:prstGeom>
              <a:blipFill>
                <a:blip r:embed="rId3"/>
                <a:stretch>
                  <a:fillRect l="-1552" t="-682" r="-6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9788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629A366-D322-A64E-9916-889C92B67AC1}"/>
              </a:ext>
            </a:extLst>
          </p:cNvPr>
          <p:cNvSpPr/>
          <p:nvPr/>
        </p:nvSpPr>
        <p:spPr>
          <a:xfrm>
            <a:off x="838200" y="2131346"/>
            <a:ext cx="4445000" cy="764254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A language for specifying automata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926544" y="1022489"/>
            <a:ext cx="6352701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automaton</a:t>
            </a:r>
            <a:r>
              <a:rPr lang="en-US" sz="2400" dirty="0"/>
              <a:t> </a:t>
            </a:r>
            <a:r>
              <a:rPr lang="en-US" sz="2400" dirty="0" err="1">
                <a:solidFill>
                  <a:srgbClr val="0119FF"/>
                </a:solidFill>
              </a:rPr>
              <a:t>DijkstraTR</a:t>
            </a:r>
            <a:r>
              <a:rPr lang="en-US" sz="2400" dirty="0"/>
              <a:t>(</a:t>
            </a:r>
            <a:r>
              <a:rPr lang="en-US" sz="2400" dirty="0" err="1"/>
              <a:t>N: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, </a:t>
            </a:r>
            <a:r>
              <a:rPr lang="en-US" sz="2400" dirty="0" err="1"/>
              <a:t>K: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), </a:t>
            </a:r>
            <a:r>
              <a:rPr lang="en-US" sz="2400" b="1" dirty="0"/>
              <a:t>where</a:t>
            </a:r>
            <a:r>
              <a:rPr lang="en-US" sz="2400" dirty="0"/>
              <a:t> K &gt; N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ID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[0,...,N-1]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Val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[0,...,K]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actions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</a:t>
            </a:r>
            <a:r>
              <a:rPr lang="en-US" sz="2400" b="1" dirty="0"/>
              <a:t>variables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x</a:t>
            </a:r>
            <a:r>
              <a:rPr lang="en-US" sz="2400" dirty="0"/>
              <a:t>:[ID -&gt; Val]</a:t>
            </a:r>
          </a:p>
          <a:p>
            <a:r>
              <a:rPr lang="en-US" sz="2400" dirty="0"/>
              <a:t>   </a:t>
            </a:r>
            <a:r>
              <a:rPr lang="en-US" sz="2400" b="1" dirty="0"/>
              <a:t>transitions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 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= 0 /\ x[</a:t>
            </a:r>
            <a:r>
              <a:rPr lang="en-US" sz="2400" dirty="0" err="1"/>
              <a:t>i</a:t>
            </a:r>
            <a:r>
              <a:rPr lang="en-US" sz="2400" dirty="0"/>
              <a:t>] = x[N-1]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(x[</a:t>
            </a:r>
            <a:r>
              <a:rPr lang="en-US" sz="2400" dirty="0" err="1"/>
              <a:t>i</a:t>
            </a:r>
            <a:r>
              <a:rPr lang="en-US" sz="2400" dirty="0"/>
              <a:t>] + 1) %  K</a:t>
            </a:r>
          </a:p>
          <a:p>
            <a:r>
              <a:rPr lang="en-US" sz="2400" dirty="0"/>
              <a:t>   </a:t>
            </a:r>
          </a:p>
          <a:p>
            <a:r>
              <a:rPr lang="en-US" sz="2400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&gt;0  /\ x[</a:t>
            </a:r>
            <a:r>
              <a:rPr lang="en-US" sz="2400" dirty="0" err="1"/>
              <a:t>i</a:t>
            </a:r>
            <a:r>
              <a:rPr lang="en-US" sz="2400" dirty="0"/>
              <a:t>] ~= x[i-1]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x[i-1]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C2086B-C1E3-3047-9A02-47CD138A1299}"/>
              </a:ext>
            </a:extLst>
          </p:cNvPr>
          <p:cNvSpPr txBox="1"/>
          <p:nvPr/>
        </p:nvSpPr>
        <p:spPr>
          <a:xfrm>
            <a:off x="8089106" y="1977682"/>
            <a:ext cx="364569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declaration of “actions” or transition labels; actions can have parameter; this declares the actions update(0), update(1), …, update(N-1)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E56EDA-4014-D04A-9928-4956AA1A4C3A}"/>
              </a:ext>
            </a:extLst>
          </p:cNvPr>
          <p:cNvSpPr txBox="1"/>
          <p:nvPr/>
        </p:nvSpPr>
        <p:spPr>
          <a:xfrm>
            <a:off x="5544742" y="6155266"/>
            <a:ext cx="66472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symbols -&gt; maps, /\ and, \/ or, ~= not equal, % mod</a:t>
            </a:r>
          </a:p>
        </p:txBody>
      </p:sp>
    </p:spTree>
    <p:extLst>
      <p:ext uri="{BB962C8B-B14F-4D97-AF65-F5344CB8AC3E}">
        <p14:creationId xmlns:p14="http://schemas.microsoft.com/office/powerpoint/2010/main" val="19338906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629A366-D322-A64E-9916-889C92B67AC1}"/>
              </a:ext>
            </a:extLst>
          </p:cNvPr>
          <p:cNvSpPr/>
          <p:nvPr/>
        </p:nvSpPr>
        <p:spPr>
          <a:xfrm>
            <a:off x="838200" y="2927212"/>
            <a:ext cx="4445000" cy="764254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A language for specifying automata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926544" y="1022489"/>
            <a:ext cx="6352701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automaton</a:t>
            </a:r>
            <a:r>
              <a:rPr lang="en-US" sz="2400" dirty="0"/>
              <a:t> </a:t>
            </a:r>
            <a:r>
              <a:rPr lang="en-US" sz="2400" dirty="0" err="1">
                <a:solidFill>
                  <a:srgbClr val="0119FF"/>
                </a:solidFill>
              </a:rPr>
              <a:t>DijkstraTR</a:t>
            </a:r>
            <a:r>
              <a:rPr lang="en-US" sz="2400" dirty="0"/>
              <a:t>(</a:t>
            </a:r>
            <a:r>
              <a:rPr lang="en-US" sz="2400" dirty="0" err="1"/>
              <a:t>N: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, </a:t>
            </a:r>
            <a:r>
              <a:rPr lang="en-US" sz="2400" dirty="0" err="1"/>
              <a:t>K: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), </a:t>
            </a:r>
            <a:r>
              <a:rPr lang="en-US" sz="2400" b="1" dirty="0"/>
              <a:t>where</a:t>
            </a:r>
            <a:r>
              <a:rPr lang="en-US" sz="2400" dirty="0"/>
              <a:t> K &gt; N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ID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[0,...,N-1]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Val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[0,...,K]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actions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</a:t>
            </a:r>
            <a:r>
              <a:rPr lang="en-US" sz="2400" b="1" dirty="0"/>
              <a:t>variables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x</a:t>
            </a:r>
            <a:r>
              <a:rPr lang="en-US" sz="2400" dirty="0"/>
              <a:t>:[ID -&gt; Val]</a:t>
            </a:r>
          </a:p>
          <a:p>
            <a:r>
              <a:rPr lang="en-US" sz="2400" dirty="0"/>
              <a:t>   </a:t>
            </a:r>
            <a:r>
              <a:rPr lang="en-US" sz="2400" b="1" dirty="0"/>
              <a:t>transitions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= 0 /\ x[</a:t>
            </a:r>
            <a:r>
              <a:rPr lang="en-US" sz="2400" dirty="0" err="1"/>
              <a:t>i</a:t>
            </a:r>
            <a:r>
              <a:rPr lang="en-US" sz="2400" dirty="0"/>
              <a:t>] = x[N-1]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(x[</a:t>
            </a:r>
            <a:r>
              <a:rPr lang="en-US" sz="2400" dirty="0" err="1"/>
              <a:t>i</a:t>
            </a:r>
            <a:r>
              <a:rPr lang="en-US" sz="2400" dirty="0"/>
              <a:t>] + 1) %  K</a:t>
            </a:r>
          </a:p>
          <a:p>
            <a:r>
              <a:rPr lang="en-US" sz="2400" dirty="0"/>
              <a:t>   </a:t>
            </a:r>
          </a:p>
          <a:p>
            <a:r>
              <a:rPr lang="en-US" sz="2400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&gt;0  /\ x[</a:t>
            </a:r>
            <a:r>
              <a:rPr lang="en-US" sz="2400" dirty="0" err="1"/>
              <a:t>i</a:t>
            </a:r>
            <a:r>
              <a:rPr lang="en-US" sz="2400" dirty="0"/>
              <a:t>] ~= x[i-1]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x[i-1]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C2086B-C1E3-3047-9A02-47CD138A1299}"/>
              </a:ext>
            </a:extLst>
          </p:cNvPr>
          <p:cNvSpPr txBox="1"/>
          <p:nvPr/>
        </p:nvSpPr>
        <p:spPr>
          <a:xfrm>
            <a:off x="8089106" y="1977682"/>
            <a:ext cx="364569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declaration of state variables or variables; this declares an array x[0], x[1], …, x[N-1] of Val’s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FB572B-19F5-DC47-8D01-9D90083FF74A}"/>
              </a:ext>
            </a:extLst>
          </p:cNvPr>
          <p:cNvSpPr txBox="1"/>
          <p:nvPr/>
        </p:nvSpPr>
        <p:spPr>
          <a:xfrm>
            <a:off x="5544742" y="6155266"/>
            <a:ext cx="66472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symbols -&gt; maps, /\ and, \/ or, ~= not equal, % mod</a:t>
            </a:r>
          </a:p>
        </p:txBody>
      </p:sp>
    </p:spTree>
    <p:extLst>
      <p:ext uri="{BB962C8B-B14F-4D97-AF65-F5344CB8AC3E}">
        <p14:creationId xmlns:p14="http://schemas.microsoft.com/office/powerpoint/2010/main" val="40592038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629A366-D322-A64E-9916-889C92B67AC1}"/>
              </a:ext>
            </a:extLst>
          </p:cNvPr>
          <p:cNvSpPr/>
          <p:nvPr/>
        </p:nvSpPr>
        <p:spPr>
          <a:xfrm>
            <a:off x="838200" y="3638410"/>
            <a:ext cx="4445000" cy="3016389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A language for specifying automata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926544" y="1022489"/>
            <a:ext cx="6352701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automaton</a:t>
            </a:r>
            <a:r>
              <a:rPr lang="en-US" sz="2400" dirty="0"/>
              <a:t> </a:t>
            </a:r>
            <a:r>
              <a:rPr lang="en-US" sz="2400" dirty="0" err="1">
                <a:solidFill>
                  <a:srgbClr val="0119FF"/>
                </a:solidFill>
              </a:rPr>
              <a:t>DijkstraTR</a:t>
            </a:r>
            <a:r>
              <a:rPr lang="en-US" sz="2400" dirty="0"/>
              <a:t>(</a:t>
            </a:r>
            <a:r>
              <a:rPr lang="en-US" sz="2400" dirty="0" err="1"/>
              <a:t>N: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, </a:t>
            </a:r>
            <a:r>
              <a:rPr lang="en-US" sz="2400" dirty="0" err="1"/>
              <a:t>K: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), </a:t>
            </a:r>
            <a:r>
              <a:rPr lang="en-US" sz="2400" b="1" dirty="0"/>
              <a:t>where</a:t>
            </a:r>
            <a:r>
              <a:rPr lang="en-US" sz="2400" dirty="0"/>
              <a:t> K &gt; N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ID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[0,...,N-1]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Val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[0,...,K]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actions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</a:t>
            </a:r>
            <a:r>
              <a:rPr lang="en-US" sz="2400" b="1" dirty="0"/>
              <a:t>variables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x</a:t>
            </a:r>
            <a:r>
              <a:rPr lang="en-US" sz="2400" dirty="0"/>
              <a:t>:[ID -&gt; Val]</a:t>
            </a:r>
          </a:p>
          <a:p>
            <a:r>
              <a:rPr lang="en-US" sz="2400" dirty="0"/>
              <a:t>   </a:t>
            </a:r>
            <a:r>
              <a:rPr lang="en-US" sz="2400" b="1" dirty="0"/>
              <a:t>transitions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 </a:t>
            </a:r>
          </a:p>
          <a:p>
            <a:r>
              <a:rPr lang="en-US" sz="2400" b="1" dirty="0"/>
              <a:t>        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= 0 /\ x[</a:t>
            </a:r>
            <a:r>
              <a:rPr lang="en-US" sz="2400" dirty="0" err="1"/>
              <a:t>i</a:t>
            </a:r>
            <a:r>
              <a:rPr lang="en-US" sz="2400" dirty="0"/>
              <a:t>] = x[N-1]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(x[</a:t>
            </a:r>
            <a:r>
              <a:rPr lang="en-US" sz="2400" dirty="0" err="1"/>
              <a:t>i</a:t>
            </a:r>
            <a:r>
              <a:rPr lang="en-US" sz="2400" dirty="0"/>
              <a:t>] + 1) %  K</a:t>
            </a:r>
          </a:p>
          <a:p>
            <a:r>
              <a:rPr lang="en-US" sz="2400" dirty="0"/>
              <a:t>   </a:t>
            </a:r>
          </a:p>
          <a:p>
            <a:r>
              <a:rPr lang="en-US" sz="2400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&gt;0  /\ x[</a:t>
            </a:r>
            <a:r>
              <a:rPr lang="en-US" sz="2400" dirty="0" err="1"/>
              <a:t>i</a:t>
            </a:r>
            <a:r>
              <a:rPr lang="en-US" sz="2400" dirty="0"/>
              <a:t>] ~= x[i-1]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x[i-1]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C2086B-C1E3-3047-9A02-47CD138A1299}"/>
              </a:ext>
            </a:extLst>
          </p:cNvPr>
          <p:cNvSpPr txBox="1"/>
          <p:nvPr/>
        </p:nvSpPr>
        <p:spPr>
          <a:xfrm>
            <a:off x="8021373" y="3429000"/>
            <a:ext cx="364569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declaration of transitions: for each action this defines when the action can occur (pre) and how the state is updated when the action does occur (eff)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E56BD4-9C72-9C4D-AD4D-0227A7ECF5F0}"/>
              </a:ext>
            </a:extLst>
          </p:cNvPr>
          <p:cNvSpPr txBox="1"/>
          <p:nvPr/>
        </p:nvSpPr>
        <p:spPr>
          <a:xfrm>
            <a:off x="5544742" y="6155266"/>
            <a:ext cx="66472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symbols -&gt; maps, /\ and, \/ or, ~= not equal, % mod</a:t>
            </a:r>
          </a:p>
        </p:txBody>
      </p:sp>
    </p:spTree>
    <p:extLst>
      <p:ext uri="{BB962C8B-B14F-4D97-AF65-F5344CB8AC3E}">
        <p14:creationId xmlns:p14="http://schemas.microsoft.com/office/powerpoint/2010/main" val="5793892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11BB6-A486-375B-F43E-0D3D3860A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B30172-78C2-41FC-0390-4C8A6B5469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26943"/>
            <a:ext cx="6728604" cy="332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1516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9408"/>
          </a:xfrm>
        </p:spPr>
        <p:txBody>
          <a:bodyPr>
            <a:normAutofit/>
          </a:bodyPr>
          <a:lstStyle/>
          <a:p>
            <a:r>
              <a:rPr lang="en-US" dirty="0"/>
              <a:t>States and predicates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47133" y="1151468"/>
                <a:ext cx="11497733" cy="5571066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A </a:t>
                </a:r>
                <a:r>
                  <a:rPr lang="en-US" sz="2000" b="1" i="1" dirty="0">
                    <a:solidFill>
                      <a:srgbClr val="0070C0"/>
                    </a:solidFill>
                    <a:latin typeface="+mj-lt"/>
                  </a:rPr>
                  <a:t>predicate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over a set of variable X is a Boolean-valued formula involving the variables in X Examples:</a:t>
                </a: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x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sz="2000" b="0" i="1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𝐼𝐷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A valuation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u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b="1" dirty="0">
                    <a:solidFill>
                      <a:srgbClr val="0070C0"/>
                    </a:solidFill>
                    <a:latin typeface="+mj-lt"/>
                  </a:rPr>
                  <a:t>satisfies a predicate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𝝓</m:t>
                    </m:r>
                  </m:oMath>
                </a14:m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if substituting the values of the variables in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u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in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makes it evaluate to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True. 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We write </a:t>
                </a:r>
                <a:r>
                  <a:rPr lang="en-US" sz="2000" b="1" dirty="0">
                    <a:solidFill>
                      <a:srgbClr val="0070C0"/>
                    </a:solidFill>
                    <a:latin typeface="+mj-lt"/>
                  </a:rPr>
                  <a:t>u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20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𝝓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Examples: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〈"/>
                        <m:endChr m:val="〉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↦</m:t>
                        </m:r>
                        <m:d>
                          <m:dPr>
                            <m:begChr m:val="〈"/>
                            <m:endChr m:val="〉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0↦0, 1↦0, 2↦0, 3↦0, 4↦0 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latin typeface="+mj-lt"/>
                  </a:rPr>
                  <a:t>;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〈"/>
                        <m:endChr m:val="〉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↦</m:t>
                        </m:r>
                        <m:d>
                          <m:dPr>
                            <m:begChr m:val="〈"/>
                            <m:endChr m:val="〉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0↦</m:t>
                            </m:r>
                            <m: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 1↦0, 2↦0, 3↦0, 4↦0 </m:t>
                            </m:r>
                          </m:e>
                        </m:d>
                      </m:e>
                    </m:d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⊭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𝝓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⊭</m:t>
                    </m:r>
                    <m:sSub>
                      <m:sSubPr>
                        <m:ctrlP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𝝓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endParaRPr lang="en-US" sz="2000" b="1" dirty="0">
                  <a:solidFill>
                    <a:schemeClr val="tx1"/>
                  </a:solidFill>
                  <a:latin typeface="+mj-lt"/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𝝓</m:t>
                            </m:r>
                          </m:e>
                        </m:d>
                      </m:e>
                    </m:d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set of all valuations that satisfy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𝝓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|"/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〈"/>
                            <m:endChr m:val="〉"/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↦</m:t>
                            </m:r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d>
                                  <m:dPr>
                                    <m:begChr m:val="〈"/>
                                    <m:endChr m:val="〉"/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1↦0, 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↦</m:t>
                                    </m:r>
                                    <m:sSub>
                                      <m:sSubPr>
                                        <m:ctrlPr>
                                          <a:rPr 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b>
                                <m:d>
                                  <m:dPr>
                                    <m:begChr m:val="{"/>
                                    <m:endChr m:val="}"/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=0,2,…,5</m:t>
                                    </m:r>
                                  </m:e>
                                </m:d>
                              </m:sub>
                            </m:sSub>
                          </m:e>
                        </m:d>
                      </m:e>
                    </m:d>
                    <m:sSub>
                      <m:sSub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0,…,7</m:t>
                        </m:r>
                      </m:e>
                    </m:d>
                  </m:oMath>
                </a14:m>
                <a:endParaRPr lang="en-US" sz="2000" i="1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〈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↦</m:t>
                    </m:r>
                    <m:d>
                      <m:dPr>
                        <m:begChr m:val="〈"/>
                        <m:endChr m:val="〉"/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0↦0, 1↦0, 2↦0, 3↦0, 4↦0, 5↦0 </m:t>
                        </m:r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〉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𝑣𝑎𝑙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is the set of initial states of the automaton; </a:t>
                </a:r>
                <a:r>
                  <a:rPr lang="en-US" sz="2000" dirty="0">
                    <a:latin typeface="+mj-lt"/>
                  </a:rPr>
                  <a:t> o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ften specified by a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predicate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over X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7133" y="1151468"/>
                <a:ext cx="11497733" cy="5571066"/>
              </a:xfrm>
              <a:blipFill>
                <a:blip r:embed="rId2"/>
                <a:stretch>
                  <a:fillRect l="-441" t="-6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53234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3200" b="1" dirty="0">
                    <a:latin typeface="+mj-lt"/>
                  </a:rPr>
                  <a:t>actions </a:t>
                </a:r>
                <a:r>
                  <a:rPr lang="en-US" sz="3200" dirty="0">
                    <a:latin typeface="+mj-lt"/>
                  </a:rPr>
                  <a:t>section defines the set of Actions of the automaton </a:t>
                </a:r>
              </a:p>
              <a:p>
                <a:r>
                  <a:rPr lang="en-US" sz="3200" dirty="0">
                    <a:latin typeface="+mj-lt"/>
                  </a:rPr>
                  <a:t>Examples</a:t>
                </a:r>
              </a:p>
              <a:p>
                <a:pPr lvl="1"/>
                <a:r>
                  <a:rPr lang="en-US" sz="3200" b="1" dirty="0">
                    <a:latin typeface="+mj-lt"/>
                  </a:rPr>
                  <a:t>actions</a:t>
                </a:r>
                <a:r>
                  <a:rPr lang="en-US" sz="3200" b="1" dirty="0">
                    <a:solidFill>
                      <a:srgbClr val="0119FF"/>
                    </a:solidFill>
                    <a:latin typeface="+mj-lt"/>
                  </a:rPr>
                  <a:t> </a:t>
                </a:r>
                <a:r>
                  <a:rPr lang="en-US" sz="3200" dirty="0">
                    <a:solidFill>
                      <a:srgbClr val="0119FF"/>
                    </a:solidFill>
                    <a:latin typeface="+mj-lt"/>
                  </a:rPr>
                  <a:t>update</a:t>
                </a:r>
                <a:r>
                  <a:rPr lang="en-US" sz="3200" dirty="0">
                    <a:latin typeface="+mj-lt"/>
                  </a:rPr>
                  <a:t>(</a:t>
                </a:r>
                <a:r>
                  <a:rPr lang="en-US" sz="3200" dirty="0" err="1">
                    <a:latin typeface="+mj-lt"/>
                  </a:rPr>
                  <a:t>i:ID</a:t>
                </a:r>
                <a:r>
                  <a:rPr lang="en-US" sz="3200" dirty="0">
                    <a:latin typeface="+mj-lt"/>
                  </a:rPr>
                  <a:t>)</a:t>
                </a:r>
              </a:p>
              <a:p>
                <a:pPr marL="457200" lvl="1" indent="0">
                  <a:buNone/>
                </a:pPr>
                <a:r>
                  <a:rPr lang="en-US" sz="3200" b="0" dirty="0">
                    <a:latin typeface="+mj-lt"/>
                  </a:rPr>
                  <a:t>	defines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3200" b="1" dirty="0"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𝑢𝑝𝑑𝑎𝑡𝑒</m:t>
                    </m:r>
                    <m:d>
                      <m:dPr>
                        <m:begChr m:val="["/>
                        <m:endChr m:val="]"/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𝑢𝑝𝑑𝑎𝑡𝑒</m:t>
                    </m:r>
                    <m:d>
                      <m:dPr>
                        <m:begChr m:val="["/>
                        <m:endChr m:val="]"/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3200" b="1" dirty="0">
                  <a:latin typeface="+mj-lt"/>
                </a:endParaRPr>
              </a:p>
              <a:p>
                <a:pPr lvl="1"/>
                <a:endParaRPr lang="en-US" sz="3200" dirty="0">
                  <a:latin typeface="+mj-lt"/>
                </a:endParaRPr>
              </a:p>
              <a:p>
                <a:pPr lvl="1"/>
                <a:r>
                  <a:rPr lang="en-US" sz="3200" b="1" dirty="0">
                    <a:latin typeface="+mj-lt"/>
                  </a:rPr>
                  <a:t>actions </a:t>
                </a:r>
                <a:r>
                  <a:rPr lang="en-US" sz="3200" dirty="0" err="1">
                    <a:latin typeface="+mj-lt"/>
                  </a:rPr>
                  <a:t>brakeOn</a:t>
                </a:r>
                <a:r>
                  <a:rPr lang="en-US" sz="3200" dirty="0">
                    <a:latin typeface="+mj-lt"/>
                  </a:rPr>
                  <a:t>, </a:t>
                </a:r>
                <a:r>
                  <a:rPr lang="en-US" sz="3200" dirty="0" err="1">
                    <a:latin typeface="+mj-lt"/>
                  </a:rPr>
                  <a:t>brakeOff</a:t>
                </a:r>
                <a:endParaRPr lang="en-US" sz="3200" dirty="0">
                  <a:latin typeface="+mj-lt"/>
                </a:endParaRPr>
              </a:p>
              <a:p>
                <a:pPr marL="457200" lvl="1" indent="0">
                  <a:buNone/>
                </a:pPr>
                <a:r>
                  <a:rPr lang="en-US" sz="2800" b="0" dirty="0">
                    <a:latin typeface="+mj-lt"/>
                  </a:rPr>
                  <a:t>	defines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𝑏𝑟𝑎𝑘𝑒𝑂𝑛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𝑏𝑟𝑎𝑘𝑒𝑂𝑓𝑓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80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3200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3790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64570"/>
            <a:ext cx="10998200" cy="1325563"/>
          </a:xfrm>
        </p:spPr>
        <p:txBody>
          <a:bodyPr/>
          <a:lstStyle/>
          <a:p>
            <a:r>
              <a:rPr lang="en-US" dirty="0"/>
              <a:t>Transitions defined by preconditions and effects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490133"/>
                <a:ext cx="9999133" cy="4636031"/>
              </a:xfrm>
            </p:spPr>
            <p:txBody>
              <a:bodyPr>
                <a:noAutofit/>
              </a:bodyPr>
              <a:lstStyle/>
              <a:p>
                <a:pPr marL="0" lvl="1" indent="0">
                  <a:buNone/>
                </a:pPr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+mj-lt"/>
                  </a:rPr>
                  <a:t> is the set of </a:t>
                </a:r>
                <a:r>
                  <a:rPr lang="en-US" sz="2800" b="1" dirty="0">
                    <a:solidFill>
                      <a:schemeClr val="tx1"/>
                    </a:solidFill>
                    <a:latin typeface="+mj-lt"/>
                  </a:rPr>
                  <a:t>transitions</a:t>
                </a:r>
              </a:p>
              <a:p>
                <a:pPr marL="0" lvl="1" indent="0">
                  <a:buNone/>
                </a:pPr>
                <a14:m>
                  <m:oMath xmlns:m="http://schemas.openxmlformats.org/officeDocument/2006/math"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={</m:t>
                    </m:r>
                    <m:d>
                      <m:d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𝒖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 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+mj-lt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𝑃𝑟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  <m:r>
                          <a:rPr 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𝐸𝑓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+mj-lt"/>
                  </a:rPr>
                  <a:t>}</a:t>
                </a:r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𝒖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is written as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Example: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internal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update(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i:ID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 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pre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= 0 /\ x[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] = x[n-1]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 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eff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x[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] := x[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] + 1 mod k;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internal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update(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i:ID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 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pre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0 /\ x[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x[i-1]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  </a:t>
                </a:r>
                <a:r>
                  <a:rPr lang="en-US" b="1" dirty="0" err="1">
                    <a:solidFill>
                      <a:schemeClr val="tx1"/>
                    </a:solidFill>
                    <a:latin typeface="+mj-lt"/>
                  </a:rPr>
                  <a:t>eff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x[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] := x[i-1];</a:t>
                </a:r>
              </a:p>
              <a:p>
                <a:pPr marL="0" lvl="1" indent="0">
                  <a:buNone/>
                </a:pPr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0" lvl="1" indent="0">
                  <a:buNone/>
                </a:pPr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0" lvl="1" indent="0">
                  <a:buNone/>
                </a:pPr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342900" lvl="1" indent="-342900"/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490133"/>
                <a:ext cx="9999133" cy="4636031"/>
              </a:xfrm>
              <a:blipFill>
                <a:blip r:embed="rId2"/>
                <a:stretch>
                  <a:fillRect l="-1142" t="-2186" b="-117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5232400" y="3860365"/>
                <a:ext cx="6604000" cy="2794868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sz="2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𝒖</m:t>
                        </m:r>
                        <m:r>
                          <a:rPr lang="en-US" sz="2400" i="1" dirty="0" err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400" b="1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 dirty="0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en-US" sz="2400" b="1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</m:oMath>
                </a14:m>
                <a:r>
                  <a:rPr lang="en-US" sz="2400" i="1" dirty="0">
                    <a:latin typeface="+mj-lt"/>
                  </a:rPr>
                  <a:t> </a:t>
                </a:r>
                <a:r>
                  <a:rPr lang="en-US" sz="2400" i="1" dirty="0" err="1">
                    <a:latin typeface="+mj-lt"/>
                  </a:rPr>
                  <a:t>iff</a:t>
                </a:r>
                <a:endParaRPr lang="en-US" sz="2400" i="1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(a)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=0∧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  <a:endParaRPr lang="en-US" sz="2400" i="1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	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∧</m:t>
                    </m:r>
                    <m:sSup>
                      <m:sSupPr>
                        <m:ctrlPr>
                          <a:rPr lang="en-US" sz="24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p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[0]+1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i="1" dirty="0">
                    <a:latin typeface="+mj-lt"/>
                  </a:rPr>
                  <a:t>)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∨</m:t>
                    </m:r>
                  </m:oMath>
                </a14:m>
                <a:endParaRPr lang="en-US" sz="2400" i="1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(b) (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≠0∧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en-US" sz="2400" i="1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	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∧</m:t>
                    </m:r>
                    <m:sSup>
                      <m:sSupPr>
                        <m:ctrlPr>
                          <a:rPr lang="en-US" sz="24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p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sz="2400" i="1" dirty="0">
                    <a:latin typeface="+mj-lt"/>
                  </a:rPr>
                  <a:t>)</a:t>
                </a:r>
              </a:p>
              <a:p>
                <a:pPr marL="342900" indent="-342900">
                  <a:buAutoNum type="alphaLcParenBoth"/>
                </a:pPr>
                <a:endParaRPr lang="en-US" sz="2400" i="1" dirty="0">
                  <a:latin typeface="+mj-lt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400" y="3860365"/>
                <a:ext cx="6604000" cy="2794868"/>
              </a:xfrm>
              <a:prstGeom prst="rect">
                <a:avLst/>
              </a:prstGeom>
              <a:blipFill>
                <a:blip r:embed="rId3"/>
                <a:stretch>
                  <a:fillRect l="-13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3208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Executions, Reachability, and Invariants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90134"/>
                <a:ext cx="10515600" cy="5367866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  <a:ea typeface="Cambria Math" panose="02040503050406030204" pitchFamily="18" charset="0"/>
                  </a:rPr>
                  <a:t>A</a:t>
                </a:r>
                <a:r>
                  <a:rPr lang="en-US" b="1" dirty="0">
                    <a:latin typeface="+mj-lt"/>
                    <a:ea typeface="Cambria Math" panose="02040503050406030204" pitchFamily="18" charset="0"/>
                  </a:rPr>
                  <a:t>utomaton</a:t>
                </a:r>
                <a:r>
                  <a:rPr lang="en-US" dirty="0">
                    <a:latin typeface="+mj-lt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An executions models a particular behavior of the automaton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An </a:t>
                </a:r>
                <a:r>
                  <a:rPr lang="en-US" b="1" i="1" dirty="0">
                    <a:solidFill>
                      <a:srgbClr val="0070C0"/>
                    </a:solidFill>
                    <a:latin typeface="+mj-lt"/>
                  </a:rPr>
                  <a:t>execution</a:t>
                </a:r>
                <a:r>
                  <a:rPr lang="en-US" dirty="0">
                    <a:latin typeface="+mj-lt"/>
                  </a:rPr>
                  <a:t>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>
                    <a:latin typeface="+mj-lt"/>
                  </a:rPr>
                  <a:t> is an alternating (possibly infinite) sequence of states and actions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r>
                  <a:rPr lang="en-US" dirty="0">
                    <a:latin typeface="+mj-lt"/>
                  </a:rPr>
                  <a:t>such that:</a:t>
                </a: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in the sequence,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US" b="0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For a </a:t>
                </a:r>
                <a:r>
                  <a:rPr lang="en-US" b="1" i="1" dirty="0">
                    <a:solidFill>
                      <a:srgbClr val="0070C0"/>
                    </a:solidFill>
                    <a:latin typeface="+mj-lt"/>
                  </a:rPr>
                  <a:t>finite</a:t>
                </a:r>
                <a:r>
                  <a:rPr lang="en-US" dirty="0">
                    <a:latin typeface="+mj-lt"/>
                  </a:rPr>
                  <a:t> execution,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the </a:t>
                </a:r>
                <a:r>
                  <a:rPr lang="en-US" b="1" i="1" dirty="0">
                    <a:solidFill>
                      <a:srgbClr val="0070C0"/>
                    </a:solidFill>
                    <a:latin typeface="+mj-lt"/>
                  </a:rPr>
                  <a:t>last state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and the length of the execution is 3.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In general, how many executions does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have?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90134"/>
                <a:ext cx="10515600" cy="5367866"/>
              </a:xfrm>
              <a:blipFill>
                <a:blip r:embed="rId2"/>
                <a:stretch>
                  <a:fillRect l="-1086" r="-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22856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D9A75-FB4D-6144-10CB-969A022E1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Collatz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296AFD-92BC-0AC9-5242-EB26132CB1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0" y="2702042"/>
            <a:ext cx="7772400" cy="3790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6195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8BF0A-3B55-6903-5855-DDD10FBED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 dec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68BC5-910F-5390-9DA2-C104CAD313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73151" cy="4351338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0EF7E6-7CB9-C8D0-EA3E-4ED88CBCE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6994" y="0"/>
            <a:ext cx="36604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3142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11178-E247-853F-2425-5AEE5B0D2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flip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89D665-02F9-FB7E-B5D0-E59025EBAE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808075"/>
            <a:ext cx="7772400" cy="5241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6243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6FBAF-DEF9-656A-D929-33A8BF21A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00C5BF-D101-1D85-D2D1-67044816635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449" r="6007"/>
          <a:stretch/>
        </p:blipFill>
        <p:spPr>
          <a:xfrm>
            <a:off x="0" y="2145973"/>
            <a:ext cx="5612922" cy="401905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E9CA566-A429-FB44-9587-73BE50C8BCE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529" r="7011"/>
          <a:stretch/>
        </p:blipFill>
        <p:spPr>
          <a:xfrm>
            <a:off x="5549660" y="1800746"/>
            <a:ext cx="6642340" cy="4709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2325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Internal and External Nondeterminism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48419" y="1547521"/>
                <a:ext cx="10515600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For an action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400" dirty="0">
                    <a:latin typeface="+mj-lt"/>
                  </a:rPr>
                  <a:t>, Pre(a) is the formula defining its </a:t>
                </a:r>
                <a:r>
                  <a:rPr lang="en-US" sz="2400" b="1" dirty="0">
                    <a:latin typeface="+mj-lt"/>
                  </a:rPr>
                  <a:t>pre</a:t>
                </a:r>
                <a:r>
                  <a:rPr lang="en-US" sz="2400" dirty="0">
                    <a:latin typeface="+mj-lt"/>
                  </a:rPr>
                  <a:t>condition, and Eff(a) is the relation defining the </a:t>
                </a:r>
                <a:r>
                  <a:rPr lang="en-US" sz="2400" b="1" dirty="0">
                    <a:latin typeface="+mj-lt"/>
                  </a:rPr>
                  <a:t>eff</a:t>
                </a:r>
                <a:r>
                  <a:rPr lang="en-US" sz="2400" dirty="0">
                    <a:latin typeface="+mj-lt"/>
                  </a:rPr>
                  <a:t>ect.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States satisfying precondition are said to </a:t>
                </a:r>
                <a:r>
                  <a:rPr lang="en-US" sz="2400" b="1" i="1" dirty="0">
                    <a:solidFill>
                      <a:srgbClr val="0070C0"/>
                    </a:solidFill>
                    <a:latin typeface="+mj-lt"/>
                  </a:rPr>
                  <a:t>enable</a:t>
                </a:r>
                <a:r>
                  <a:rPr lang="en-US" sz="2400" dirty="0">
                    <a:latin typeface="+mj-lt"/>
                  </a:rPr>
                  <a:t> the action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In general Eff(a) could be a relation, but for this example it is a function</a:t>
                </a:r>
                <a:endParaRPr lang="en-US" sz="2400" b="1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2400" b="1" dirty="0">
                    <a:latin typeface="+mj-lt"/>
                  </a:rPr>
                  <a:t>Nondeterminism</a:t>
                </a:r>
              </a:p>
              <a:p>
                <a:r>
                  <a:rPr lang="en-US" sz="2400" dirty="0">
                    <a:latin typeface="+mj-lt"/>
                  </a:rPr>
                  <a:t>Multiple initial states</a:t>
                </a:r>
              </a:p>
              <a:p>
                <a:r>
                  <a:rPr lang="en-US" sz="2400" dirty="0">
                    <a:latin typeface="+mj-lt"/>
                  </a:rPr>
                  <a:t>External nondeterminism: Multiple actions enabled from the same state</a:t>
                </a:r>
              </a:p>
              <a:p>
                <a:r>
                  <a:rPr lang="en-US" sz="2400" dirty="0">
                    <a:latin typeface="+mj-lt"/>
                  </a:rPr>
                  <a:t>Internal nondeterminism: Multiple post-states from the same state and action</a:t>
                </a:r>
              </a:p>
              <a:p>
                <a:pPr marL="285750" indent="-285750"/>
                <a:endParaRPr lang="en-US" sz="2400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8419" y="1547521"/>
                <a:ext cx="10515600" cy="4351338"/>
              </a:xfrm>
              <a:blipFill>
                <a:blip r:embed="rId2"/>
                <a:stretch>
                  <a:fillRect l="-844" t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EFE26BDA-EFDF-0C4D-AA4E-540BD5639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5682" y="5181018"/>
            <a:ext cx="2288118" cy="1435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641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48988-E462-964B-8BD4-776BFB79C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Reachable states and invariants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C5C8EB-1D1C-304E-86C5-55393B8F4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A state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reachable</a:t>
                </a:r>
                <a:r>
                  <a:rPr lang="en-US" b="1" dirty="0"/>
                  <a:t> </a:t>
                </a:r>
                <a:r>
                  <a:rPr lang="en-US" dirty="0"/>
                  <a:t>if there exists an execution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set of states reachable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/>
                  <a:t> by automaton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An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invariant</a:t>
                </a:r>
                <a:r>
                  <a:rPr lang="en-US" b="1" dirty="0"/>
                  <a:t> </a:t>
                </a:r>
                <a:r>
                  <a:rPr lang="en-US" dirty="0"/>
                  <a:t>is a set of states I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C5C8EB-1D1C-304E-86C5-55393B8F4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5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16441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42B0EB57-4041-F549-90AD-A17251693A14}"/>
                  </a:ext>
                </a:extLst>
              </p:cNvPr>
              <p:cNvSpPr/>
              <p:nvPr/>
            </p:nvSpPr>
            <p:spPr>
              <a:xfrm>
                <a:off x="8054853" y="1661966"/>
                <a:ext cx="3864864" cy="4179760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val(X): All states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42B0EB57-4041-F549-90AD-A17251693A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4853" y="1661966"/>
                <a:ext cx="3864864" cy="41797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63" name="Content Placeholder 3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: “Exactly one process has the token”.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</m:sSub>
                  </m:oMath>
                </a14:m>
                <a:r>
                  <a:rPr lang="en-US" dirty="0"/>
                  <a:t>: “At least one process has a token”.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/>
                  <a:t>: “All processes have values at most  K-1”.</a:t>
                </a:r>
                <a:endParaRPr lang="en-US" sz="2000" dirty="0"/>
              </a:p>
            </p:txBody>
          </p:sp>
        </mc:Choice>
        <mc:Fallback xmlns="">
          <p:sp>
            <p:nvSpPr>
              <p:cNvPr id="15363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241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41D3715A-59A6-FB40-B0E7-1051C01D89C9}"/>
                  </a:ext>
                </a:extLst>
              </p:cNvPr>
              <p:cNvSpPr/>
              <p:nvPr/>
            </p:nvSpPr>
            <p:spPr>
              <a:xfrm>
                <a:off x="8232824" y="2828217"/>
                <a:ext cx="3508922" cy="280678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b="0" dirty="0"/>
                  <a:t>Invariant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2800" dirty="0"/>
              </a:p>
              <a:p>
                <a:pPr algn="ctr"/>
                <a:endParaRPr lang="en-US" sz="2800" dirty="0"/>
              </a:p>
              <a:p>
                <a:pPr algn="ctr"/>
                <a:endParaRPr lang="en-US" sz="2800" dirty="0"/>
              </a:p>
              <a:p>
                <a:pPr algn="ctr"/>
                <a:endParaRPr lang="en-US" sz="2800" dirty="0"/>
              </a:p>
              <a:p>
                <a:pPr algn="ctr"/>
                <a:endParaRPr lang="en-US" sz="2800" dirty="0"/>
              </a:p>
            </p:txBody>
          </p:sp>
        </mc:Choice>
        <mc:Fallback xmlns="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41D3715A-59A6-FB40-B0E7-1051C01D89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2824" y="2828217"/>
                <a:ext cx="3508922" cy="2806788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E65923C4-F7A6-EF45-B37D-E1317E0477F3}"/>
                  </a:ext>
                </a:extLst>
              </p:cNvPr>
              <p:cNvSpPr/>
              <p:nvPr/>
            </p:nvSpPr>
            <p:spPr>
              <a:xfrm>
                <a:off x="8472092" y="3719461"/>
                <a:ext cx="3030386" cy="147657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𝑅𝑒𝑎𝑐h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pPr algn="ctr"/>
                <a:endParaRPr lang="en-US" sz="2400" dirty="0"/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E65923C4-F7A6-EF45-B37D-E1317E0477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2092" y="3719461"/>
                <a:ext cx="3030386" cy="147657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0180DBC7-5ECA-B140-AABA-39584D6D7284}"/>
                  </a:ext>
                </a:extLst>
              </p:cNvPr>
              <p:cNvSpPr/>
              <p:nvPr/>
            </p:nvSpPr>
            <p:spPr>
              <a:xfrm>
                <a:off x="9031194" y="4613651"/>
                <a:ext cx="1082070" cy="41554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0180DBC7-5ECA-B140-AABA-39584D6D72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194" y="4613651"/>
                <a:ext cx="1082070" cy="415549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dirty="0"/>
              <a:t>Candidate invariants for token 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8195EF-E195-CF42-9375-D4CE1207F918}"/>
              </a:ext>
            </a:extLst>
          </p:cNvPr>
          <p:cNvSpPr txBox="1"/>
          <p:nvPr/>
        </p:nvSpPr>
        <p:spPr>
          <a:xfrm>
            <a:off x="8977040" y="794426"/>
            <a:ext cx="2020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any automaton </a:t>
            </a:r>
          </a:p>
        </p:txBody>
      </p:sp>
    </p:spTree>
    <p:extLst>
      <p:ext uri="{BB962C8B-B14F-4D97-AF65-F5344CB8AC3E}">
        <p14:creationId xmlns:p14="http://schemas.microsoft.com/office/powerpoint/2010/main" val="40759278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Reachability as graph search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Q1. Given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is a state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dirty="0"/>
                  <a:t> reachable? </a:t>
                </a:r>
              </a:p>
              <a:p>
                <a:endParaRPr lang="en-US" dirty="0"/>
              </a:p>
              <a:p>
                <a:r>
                  <a:rPr lang="en-US" dirty="0"/>
                  <a:t>Define a graph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=〈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/>
                  <a:t> where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∃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Q2. Does there exist a path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</m:oMath>
                </a14:m>
                <a:r>
                  <a:rPr lang="en-US" dirty="0"/>
                  <a:t> from any state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?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Perform DFS/BFS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marL="457200" lvl="1" indent="0">
                  <a:buNone/>
                </a:pPr>
                <a:r>
                  <a:rPr lang="en-US" dirty="0"/>
                  <a:t> 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9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165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Proving invariants by induction </a:t>
            </a:r>
            <a:r>
              <a:rPr lang="en-US"/>
              <a:t>(Chapter 7)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831974"/>
              </a:xfr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1" dirty="0">
                    <a:latin typeface="+mj-lt"/>
                  </a:rPr>
                  <a:t>Theorem 7.1.</a:t>
                </a:r>
                <a:r>
                  <a:rPr lang="en-US" dirty="0">
                    <a:latin typeface="+mj-lt"/>
                  </a:rPr>
                  <a:t> Given a automaton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>
                    <a:latin typeface="+mj-lt"/>
                  </a:rPr>
                  <a:t> and a set of states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val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if: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(Start condition) for any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, and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(Transition closure) for any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’ and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is an (inductive) invariant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>
                    <a:latin typeface="+mj-lt"/>
                  </a:rPr>
                  <a:t>. That is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831974"/>
              </a:xfrm>
              <a:blipFill>
                <a:blip r:embed="rId2"/>
                <a:stretch>
                  <a:fillRect l="-603" t="-2778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8517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Proving invariants by induction (Chapter 7)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428999"/>
                <a:ext cx="10515600" cy="3063875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1" dirty="0">
                    <a:latin typeface="+mj-lt"/>
                  </a:rPr>
                  <a:t>Proof. </a:t>
                </a:r>
                <a:r>
                  <a:rPr lang="en-US" dirty="0">
                    <a:latin typeface="+mj-lt"/>
                  </a:rPr>
                  <a:t>Consider any reachable state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.  By the definition of a reachable state, there exists an execution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We proceed by induction on the length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For the base case,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consists of a single starting state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>
                    <a:latin typeface="+mj-lt"/>
                  </a:rPr>
                  <a:t>, and by the Start condition,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For the inductive step,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 where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latin typeface="+mj-lt"/>
                  </a:rPr>
                  <a:t>. By the induction hypothesis, we know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Invoking Transition closure 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𝑙𝑠𝑡𝑎𝑡𝑒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we obtain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>
                    <a:latin typeface="+mj-lt"/>
                  </a:rPr>
                  <a:t>	QED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428999"/>
                <a:ext cx="10515600" cy="3063875"/>
              </a:xfrm>
              <a:blipFill>
                <a:blip r:embed="rId2"/>
                <a:stretch>
                  <a:fillRect l="-603" t="-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238FEE1-78F8-C04C-959C-E1282FC471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462371"/>
                <a:ext cx="10515600" cy="18319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vert="horz" lIns="91440" tIns="45720" rIns="91440" bIns="45720" rtlCol="0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b="1" dirty="0">
                    <a:latin typeface="+mj-lt"/>
                  </a:rPr>
                  <a:t>Theorem 7.1.</a:t>
                </a:r>
                <a:r>
                  <a:rPr lang="en-US" dirty="0">
                    <a:latin typeface="+mj-lt"/>
                  </a:rPr>
                  <a:t> Given a automaton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>
                    <a:latin typeface="+mj-lt"/>
                  </a:rPr>
                  <a:t> and a set of states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val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if: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(Start condition) for any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, and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(Transition closure) for any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dirty="0">
                    <a:latin typeface="+mj-lt"/>
                  </a:rPr>
                  <a:t>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is an (inductive) invariant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>
                    <a:latin typeface="+mj-lt"/>
                  </a:rPr>
                  <a:t>. That is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</a:t>
                </a: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238FEE1-78F8-C04C-959C-E1282FC471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462371"/>
                <a:ext cx="10515600" cy="1831974"/>
              </a:xfrm>
              <a:prstGeom prst="rect">
                <a:avLst/>
              </a:prstGeom>
              <a:blipFill>
                <a:blip r:embed="rId3"/>
                <a:stretch>
                  <a:fillRect l="-603" t="-2069" b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4803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DEA22-7141-D04F-BF3E-5840C64D7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15144"/>
            <a:ext cx="10515600" cy="868683"/>
          </a:xfrm>
        </p:spPr>
        <p:txBody>
          <a:bodyPr/>
          <a:lstStyle/>
          <a:p>
            <a:r>
              <a:rPr lang="en-US" dirty="0"/>
              <a:t>Proving invariants by induction for Dijkstra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226C4B-D7C6-FD43-A760-6045ED4E27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74319" y="2462939"/>
                <a:ext cx="7598043" cy="3847206"/>
              </a:xfrm>
            </p:spPr>
            <p:txBody>
              <a:bodyPr>
                <a:normAutofit fontScale="55000" lnSpcReduction="2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r>
                  <a:rPr lang="en-US" dirty="0"/>
                  <a:t>“Exactly one process has the token”.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−2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(Start condition): Fix a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⊨∀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therefore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(Transition closure): Fix a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r>
                  <a:rPr lang="en-US" dirty="0"/>
                  <a:t>Two cases to consider. </a:t>
                </a:r>
              </a:p>
              <a:p>
                <a:pPr marL="0" indent="0">
                  <a:buNone/>
                </a:pPr>
                <a:r>
                  <a:rPr lang="en-US" dirty="0"/>
                  <a:t>1.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𝑢𝑝𝑑𝑎𝑡𝑒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dirty="0"/>
                  <a:t> then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𝑃𝑟𝑒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it follows that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endParaRPr lang="en-US" b="1" dirty="0"/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it follows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b="1" dirty="0"/>
                  <a:t> 		</a:t>
                </a:r>
                <a:r>
                  <a:rPr lang="en-US" dirty="0"/>
                  <a:t>by applying (a)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𝐸𝑓𝑓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marL="914400" lvl="1" indent="-45720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′⌈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′⌈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[0]</m:t>
                    </m:r>
                  </m:oMath>
                </a14:m>
                <a:r>
                  <a:rPr lang="en-US" b="1" dirty="0"/>
                  <a:t> 		</a:t>
                </a:r>
                <a:r>
                  <a:rPr lang="en-US" dirty="0"/>
                  <a:t>by applying (b)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𝐸𝑓𝑓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marL="914400" lvl="1" indent="-45720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&gt;1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dirty="0"/>
                  <a:t>	by applying (b)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𝐸𝑓𝑓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marL="457200" lvl="1" indent="0">
                  <a:buNone/>
                </a:pPr>
                <a:r>
                  <a:rPr lang="en-US" dirty="0"/>
                  <a:t>Therefore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2. 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𝑢𝑝𝑑𝑎𝑡𝑒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&gt;0 </m:t>
                    </m:r>
                  </m:oMath>
                </a14:m>
                <a:r>
                  <a:rPr lang="en-US" dirty="0"/>
                  <a:t>then fix arbitrary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… (do it as an exercise) 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endParaRPr lang="en-US" dirty="0"/>
              </a:p>
              <a:p>
                <a:pPr marL="914400" lvl="1" indent="-457200">
                  <a:buFont typeface="+mj-lt"/>
                  <a:buAutoNum type="alphaLcParenR"/>
                </a:pPr>
                <a:endParaRPr lang="en-US" b="1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226C4B-D7C6-FD43-A760-6045ED4E27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4319" y="2462939"/>
                <a:ext cx="7598043" cy="3847206"/>
              </a:xfrm>
              <a:blipFill>
                <a:blip r:embed="rId2"/>
                <a:stretch>
                  <a:fillRect l="-334" t="-19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C1763042-1426-EF4A-A930-DB43AD7F99DB}"/>
              </a:ext>
            </a:extLst>
          </p:cNvPr>
          <p:cNvSpPr txBox="1"/>
          <p:nvPr/>
        </p:nvSpPr>
        <p:spPr>
          <a:xfrm>
            <a:off x="7872362" y="753539"/>
            <a:ext cx="4280013" cy="38472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/>
              <a:t>automaton</a:t>
            </a:r>
            <a:r>
              <a:rPr lang="en-US" sz="1600" dirty="0"/>
              <a:t> </a:t>
            </a:r>
            <a:r>
              <a:rPr lang="en-US" sz="1600" dirty="0" err="1">
                <a:solidFill>
                  <a:srgbClr val="0119FF"/>
                </a:solidFill>
              </a:rPr>
              <a:t>DijkstraTR</a:t>
            </a:r>
            <a:r>
              <a:rPr lang="en-US" sz="1600" dirty="0"/>
              <a:t>(</a:t>
            </a:r>
            <a:r>
              <a:rPr lang="en-US" sz="1600" dirty="0" err="1"/>
              <a:t>N:</a:t>
            </a:r>
            <a:r>
              <a:rPr lang="en-US" sz="1600" dirty="0" err="1">
                <a:solidFill>
                  <a:srgbClr val="00B050"/>
                </a:solidFill>
              </a:rPr>
              <a:t>Nat</a:t>
            </a:r>
            <a:r>
              <a:rPr lang="en-US" sz="1600" dirty="0"/>
              <a:t>, </a:t>
            </a:r>
            <a:r>
              <a:rPr lang="en-US" sz="1600" dirty="0" err="1"/>
              <a:t>K:</a:t>
            </a:r>
            <a:r>
              <a:rPr lang="en-US" sz="1600" dirty="0" err="1">
                <a:solidFill>
                  <a:srgbClr val="00B050"/>
                </a:solidFill>
              </a:rPr>
              <a:t>Nat</a:t>
            </a:r>
            <a:r>
              <a:rPr lang="en-US" sz="1600" dirty="0"/>
              <a:t>), </a:t>
            </a:r>
            <a:r>
              <a:rPr lang="en-US" sz="1600" b="1" dirty="0"/>
              <a:t>where</a:t>
            </a:r>
            <a:r>
              <a:rPr lang="en-US" sz="1600" dirty="0"/>
              <a:t> K &gt; N</a:t>
            </a:r>
          </a:p>
          <a:p>
            <a:r>
              <a:rPr lang="en-US" sz="1600" dirty="0"/>
              <a:t>  </a:t>
            </a:r>
            <a:r>
              <a:rPr lang="en-US" sz="1600" b="1" dirty="0"/>
              <a:t>type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0119FF"/>
                </a:solidFill>
              </a:rPr>
              <a:t>ID</a:t>
            </a:r>
            <a:r>
              <a:rPr lang="en-US" sz="1600" dirty="0"/>
              <a:t>: </a:t>
            </a:r>
            <a:r>
              <a:rPr lang="en-US" sz="1600" b="1" dirty="0"/>
              <a:t>enumeration</a:t>
            </a:r>
            <a:r>
              <a:rPr lang="en-US" sz="1600" dirty="0"/>
              <a:t> [0,...,N-1]</a:t>
            </a:r>
          </a:p>
          <a:p>
            <a:r>
              <a:rPr lang="en-US" sz="1600" dirty="0"/>
              <a:t>  </a:t>
            </a:r>
            <a:r>
              <a:rPr lang="en-US" sz="1600" b="1" dirty="0"/>
              <a:t>type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0119FF"/>
                </a:solidFill>
              </a:rPr>
              <a:t>Val</a:t>
            </a:r>
            <a:r>
              <a:rPr lang="en-US" sz="1600" dirty="0"/>
              <a:t>: </a:t>
            </a:r>
            <a:r>
              <a:rPr lang="en-US" sz="1600" b="1" dirty="0"/>
              <a:t>enumeration</a:t>
            </a:r>
            <a:r>
              <a:rPr lang="en-US" sz="1600" dirty="0"/>
              <a:t> [0,...,K]</a:t>
            </a:r>
          </a:p>
          <a:p>
            <a:r>
              <a:rPr lang="en-US" sz="1600" dirty="0"/>
              <a:t>  </a:t>
            </a:r>
            <a:r>
              <a:rPr lang="en-US" sz="1600" b="1" dirty="0"/>
              <a:t>actions</a:t>
            </a:r>
          </a:p>
          <a:p>
            <a:r>
              <a:rPr lang="en-US" sz="1600" dirty="0"/>
              <a:t>      </a:t>
            </a:r>
            <a:r>
              <a:rPr lang="en-US" sz="1600" dirty="0">
                <a:solidFill>
                  <a:srgbClr val="0119FF"/>
                </a:solidFill>
              </a:rPr>
              <a:t>update</a:t>
            </a:r>
            <a:r>
              <a:rPr lang="en-US" sz="1600" dirty="0"/>
              <a:t>(</a:t>
            </a:r>
            <a:r>
              <a:rPr lang="en-US" sz="1600" dirty="0" err="1"/>
              <a:t>i:ID</a:t>
            </a:r>
            <a:r>
              <a:rPr lang="en-US" sz="1600" dirty="0"/>
              <a:t>)</a:t>
            </a:r>
          </a:p>
          <a:p>
            <a:r>
              <a:rPr lang="en-US" sz="1600" dirty="0"/>
              <a:t>  </a:t>
            </a:r>
            <a:r>
              <a:rPr lang="en-US" sz="1600" b="1" dirty="0"/>
              <a:t>variables</a:t>
            </a:r>
          </a:p>
          <a:p>
            <a:r>
              <a:rPr lang="en-US" sz="1600" dirty="0"/>
              <a:t>      </a:t>
            </a:r>
            <a:r>
              <a:rPr lang="en-US" sz="1600" dirty="0">
                <a:solidFill>
                  <a:srgbClr val="0119FF"/>
                </a:solidFill>
              </a:rPr>
              <a:t>x</a:t>
            </a:r>
            <a:r>
              <a:rPr lang="en-US" sz="1600" dirty="0"/>
              <a:t>:[ID -&gt; Val] </a:t>
            </a:r>
            <a:r>
              <a:rPr lang="en-US" sz="1600" b="1" dirty="0">
                <a:solidFill>
                  <a:srgbClr val="C00000"/>
                </a:solidFill>
              </a:rPr>
              <a:t>initially</a:t>
            </a:r>
            <a:r>
              <a:rPr lang="en-US" sz="1600" dirty="0">
                <a:solidFill>
                  <a:srgbClr val="C00000"/>
                </a:solidFill>
              </a:rPr>
              <a:t> </a:t>
            </a:r>
            <a:r>
              <a:rPr lang="en-US" sz="1600" b="1" dirty="0" err="1">
                <a:solidFill>
                  <a:srgbClr val="C00000"/>
                </a:solidFill>
              </a:rPr>
              <a:t>forall</a:t>
            </a:r>
            <a:r>
              <a:rPr lang="en-US" sz="1600" dirty="0">
                <a:solidFill>
                  <a:srgbClr val="C00000"/>
                </a:solidFill>
              </a:rPr>
              <a:t> </a:t>
            </a:r>
            <a:r>
              <a:rPr lang="en-US" sz="1600" dirty="0" err="1">
                <a:solidFill>
                  <a:srgbClr val="C00000"/>
                </a:solidFill>
              </a:rPr>
              <a:t>i:ID</a:t>
            </a:r>
            <a:r>
              <a:rPr lang="en-US" sz="1600" dirty="0">
                <a:solidFill>
                  <a:srgbClr val="C00000"/>
                </a:solidFill>
              </a:rPr>
              <a:t> x[</a:t>
            </a:r>
            <a:r>
              <a:rPr lang="en-US" sz="1600" dirty="0" err="1">
                <a:solidFill>
                  <a:srgbClr val="C00000"/>
                </a:solidFill>
              </a:rPr>
              <a:t>i</a:t>
            </a:r>
            <a:r>
              <a:rPr lang="en-US" sz="1600" dirty="0">
                <a:solidFill>
                  <a:srgbClr val="C00000"/>
                </a:solidFill>
              </a:rPr>
              <a:t>] = 0</a:t>
            </a:r>
          </a:p>
          <a:p>
            <a:r>
              <a:rPr lang="en-US" sz="1600" dirty="0"/>
              <a:t>   </a:t>
            </a:r>
            <a:r>
              <a:rPr lang="en-US" sz="1600" b="1" dirty="0"/>
              <a:t>transitions</a:t>
            </a:r>
          </a:p>
          <a:p>
            <a:r>
              <a:rPr lang="en-US" sz="1600" dirty="0"/>
              <a:t>      </a:t>
            </a:r>
            <a:r>
              <a:rPr lang="en-US" sz="1600" dirty="0">
                <a:solidFill>
                  <a:srgbClr val="0119FF"/>
                </a:solidFill>
              </a:rPr>
              <a:t>update</a:t>
            </a:r>
            <a:r>
              <a:rPr lang="en-US" sz="1600" dirty="0"/>
              <a:t>(</a:t>
            </a:r>
            <a:r>
              <a:rPr lang="en-US" sz="1600" dirty="0" err="1"/>
              <a:t>i:ID</a:t>
            </a:r>
            <a:r>
              <a:rPr lang="en-US" sz="1600" dirty="0"/>
              <a:t>) </a:t>
            </a:r>
          </a:p>
          <a:p>
            <a:r>
              <a:rPr lang="en-US" sz="1600" dirty="0"/>
              <a:t>        </a:t>
            </a:r>
            <a:r>
              <a:rPr lang="en-US" sz="1600" b="1" dirty="0"/>
              <a:t>pre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= 0 /\ x[</a:t>
            </a:r>
            <a:r>
              <a:rPr lang="en-US" sz="1600" dirty="0" err="1"/>
              <a:t>i</a:t>
            </a:r>
            <a:r>
              <a:rPr lang="en-US" sz="1600" dirty="0"/>
              <a:t>] = x[(N-1)]</a:t>
            </a:r>
          </a:p>
          <a:p>
            <a:r>
              <a:rPr lang="en-US" sz="1600" dirty="0"/>
              <a:t>        </a:t>
            </a:r>
            <a:r>
              <a:rPr lang="en-US" sz="1600" b="1" dirty="0"/>
              <a:t>eff</a:t>
            </a:r>
            <a:r>
              <a:rPr lang="en-US" sz="1600" dirty="0"/>
              <a:t> x[</a:t>
            </a:r>
            <a:r>
              <a:rPr lang="en-US" sz="1600" dirty="0" err="1"/>
              <a:t>i</a:t>
            </a:r>
            <a:r>
              <a:rPr lang="en-US" sz="1600" dirty="0"/>
              <a:t>] := (x[</a:t>
            </a:r>
            <a:r>
              <a:rPr lang="en-US" sz="1600" dirty="0" err="1"/>
              <a:t>i</a:t>
            </a:r>
            <a:r>
              <a:rPr lang="en-US" sz="1600" dirty="0"/>
              <a:t>] + 1) %  K</a:t>
            </a:r>
          </a:p>
          <a:p>
            <a:r>
              <a:rPr lang="en-US" sz="1600" dirty="0"/>
              <a:t>   </a:t>
            </a:r>
          </a:p>
          <a:p>
            <a:r>
              <a:rPr lang="en-US" sz="1600" dirty="0"/>
              <a:t>       </a:t>
            </a:r>
            <a:r>
              <a:rPr lang="en-US" sz="1600" dirty="0">
                <a:solidFill>
                  <a:srgbClr val="0119FF"/>
                </a:solidFill>
              </a:rPr>
              <a:t>update</a:t>
            </a:r>
            <a:r>
              <a:rPr lang="en-US" sz="1600" dirty="0"/>
              <a:t>(</a:t>
            </a:r>
            <a:r>
              <a:rPr lang="en-US" sz="1600" dirty="0" err="1"/>
              <a:t>i:ID</a:t>
            </a:r>
            <a:r>
              <a:rPr lang="en-US" sz="1600" dirty="0"/>
              <a:t>)</a:t>
            </a:r>
          </a:p>
          <a:p>
            <a:r>
              <a:rPr lang="en-US" sz="1600" dirty="0"/>
              <a:t>         </a:t>
            </a:r>
            <a:r>
              <a:rPr lang="en-US" sz="1600" b="1" dirty="0"/>
              <a:t>pre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&gt;0  /\ x[</a:t>
            </a:r>
            <a:r>
              <a:rPr lang="en-US" sz="1600" dirty="0" err="1"/>
              <a:t>i</a:t>
            </a:r>
            <a:r>
              <a:rPr lang="en-US" sz="1600" dirty="0"/>
              <a:t>] ~= x[i-1]</a:t>
            </a:r>
          </a:p>
          <a:p>
            <a:r>
              <a:rPr lang="en-US" sz="1600" dirty="0"/>
              <a:t>         </a:t>
            </a:r>
            <a:r>
              <a:rPr lang="en-US" sz="1600" b="1" dirty="0"/>
              <a:t>eff</a:t>
            </a:r>
            <a:r>
              <a:rPr lang="en-US" sz="1600" dirty="0"/>
              <a:t> x[</a:t>
            </a:r>
            <a:r>
              <a:rPr lang="en-US" sz="1600" dirty="0" err="1"/>
              <a:t>i</a:t>
            </a:r>
            <a:r>
              <a:rPr lang="en-US" sz="1600" dirty="0"/>
              <a:t>] := x[i-1]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19E9E936-0227-6742-A0A7-BDDE802C62C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4318" y="753539"/>
                <a:ext cx="7461504" cy="151857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vert="horz" lIns="91440" tIns="45720" rIns="91440" bIns="45720" rtlCol="0">
                <a:normAutofit fontScale="3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sz="4900" b="1" dirty="0">
                    <a:latin typeface="+mj-lt"/>
                  </a:rPr>
                  <a:t>Theorem 7.1.</a:t>
                </a:r>
                <a:r>
                  <a:rPr lang="en-US" sz="4900" dirty="0">
                    <a:latin typeface="+mj-lt"/>
                  </a:rPr>
                  <a:t> Given a automaton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490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sz="4900" dirty="0">
                    <a:latin typeface="+mj-lt"/>
                  </a:rPr>
                  <a:t> and a set of states </a:t>
                </a:r>
                <a14:m>
                  <m:oMath xmlns:m="http://schemas.openxmlformats.org/officeDocument/2006/math"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m:rPr>
                        <m:sty m:val="p"/>
                      </m:rPr>
                      <a:rPr lang="en-US" sz="4900" i="1" dirty="0" err="1">
                        <a:latin typeface="Cambria Math" panose="02040503050406030204" pitchFamily="18" charset="0"/>
                      </a:rPr>
                      <m:t>val</m:t>
                    </m:r>
                    <m:d>
                      <m:dPr>
                        <m:ctrlPr>
                          <a:rPr lang="en-US" sz="49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9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4900" dirty="0">
                    <a:latin typeface="+mj-lt"/>
                  </a:rPr>
                  <a:t>if: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4900" dirty="0">
                    <a:latin typeface="+mj-lt"/>
                  </a:rPr>
                  <a:t>(Start condition) for any </a:t>
                </a:r>
                <a14:m>
                  <m:oMath xmlns:m="http://schemas.openxmlformats.org/officeDocument/2006/math">
                    <m:r>
                      <a:rPr lang="en-US" sz="4900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4900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sz="4900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490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, and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4900" dirty="0">
                    <a:latin typeface="+mj-lt"/>
                  </a:rPr>
                  <a:t>(Transition closure) for any </a:t>
                </a:r>
                <a14:m>
                  <m:oMath xmlns:m="http://schemas.openxmlformats.org/officeDocument/2006/math"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sz="49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90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490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4900" dirty="0">
                    <a:latin typeface="+mj-lt"/>
                  </a:rPr>
                  <a:t>’ and </a:t>
                </a:r>
                <a14:m>
                  <m:oMath xmlns:m="http://schemas.openxmlformats.org/officeDocument/2006/math">
                    <m:r>
                      <a:rPr lang="en-US" sz="49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sz="49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sz="4900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sz="4900" dirty="0">
                    <a:latin typeface="+mj-lt"/>
                  </a:rPr>
                  <a:t>then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 is an (inductive) invariant of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sz="4900" dirty="0">
                    <a:latin typeface="+mj-lt"/>
                  </a:rPr>
                  <a:t>. That is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sz="49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9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4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sz="49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49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sz="4900" i="1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.</a:t>
                </a: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19E9E936-0227-6742-A0A7-BDDE802C6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18" y="753539"/>
                <a:ext cx="7461504" cy="1518573"/>
              </a:xfrm>
              <a:prstGeom prst="rect">
                <a:avLst/>
              </a:prstGeom>
              <a:blipFill>
                <a:blip r:embed="rId3"/>
                <a:stretch>
                  <a:fillRect l="-3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3BA6C93-3E53-3E4E-82EC-781A17BEDF1D}"/>
                  </a:ext>
                </a:extLst>
              </p:cNvPr>
              <p:cNvSpPr txBox="1"/>
              <p:nvPr/>
            </p:nvSpPr>
            <p:spPr>
              <a:xfrm>
                <a:off x="274320" y="6310144"/>
                <a:ext cx="11301984" cy="52322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From above  </a:t>
                </a:r>
                <a:r>
                  <a:rPr lang="en-US" sz="2800" b="1" dirty="0"/>
                  <a:t>Theorem</a:t>
                </a:r>
                <a:r>
                  <a:rPr lang="en-US" sz="2800" dirty="0"/>
                  <a:t> it follows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/>
                  <a:t> is an invariant of </a:t>
                </a:r>
                <a:r>
                  <a:rPr lang="en-US" sz="2800" dirty="0" err="1"/>
                  <a:t>DijkstraTR</a:t>
                </a:r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3BA6C93-3E53-3E4E-82EC-781A17BED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" y="6310144"/>
                <a:ext cx="11301984" cy="523220"/>
              </a:xfrm>
              <a:prstGeom prst="rect">
                <a:avLst/>
              </a:prstGeom>
              <a:blipFill>
                <a:blip r:embed="rId4"/>
                <a:stretch>
                  <a:fillRect l="-1122" t="-11905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98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2C5B4-7FF3-7849-913E-9CF630319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9BB7F-F822-664E-86EC-A9775DD45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did we assume in arriving at the above conclusion?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What would we need to prove that statement automatically?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4771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Reach as fixpoint of Post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8879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0201"/>
            <a:ext cx="7929608" cy="4952999"/>
          </a:xfrm>
        </p:spPr>
        <p:txBody>
          <a:bodyPr>
            <a:normAutofit/>
          </a:bodyPr>
          <a:lstStyle/>
          <a:p>
            <a:r>
              <a:rPr lang="en-US" dirty="0">
                <a:latin typeface="+mj-lt"/>
              </a:rPr>
              <a:t>Read. Modeling computation: Chapter 2 of </a:t>
            </a:r>
            <a:r>
              <a:rPr lang="en-US" dirty="0" err="1">
                <a:latin typeface="+mj-lt"/>
              </a:rPr>
              <a:t>CPSBook</a:t>
            </a:r>
            <a:r>
              <a:rPr lang="en-US" dirty="0">
                <a:latin typeface="+mj-lt"/>
              </a:rPr>
              <a:t>, first part of Chapter 7, and section on SAT/SMT</a:t>
            </a:r>
          </a:p>
          <a:p>
            <a:r>
              <a:rPr lang="en-US" dirty="0">
                <a:latin typeface="+mj-lt"/>
              </a:rPr>
              <a:t>Specification language: Appendix C of </a:t>
            </a:r>
            <a:r>
              <a:rPr lang="en-US" dirty="0" err="1">
                <a:latin typeface="+mj-lt"/>
              </a:rPr>
              <a:t>CPSBook</a:t>
            </a:r>
            <a:r>
              <a:rPr lang="en-US" dirty="0">
                <a:latin typeface="+mj-lt"/>
              </a:rPr>
              <a:t> 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Narrow down project choices to 2 options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Next: Satisfiability</a:t>
            </a:r>
          </a:p>
        </p:txBody>
      </p:sp>
    </p:spTree>
    <p:extLst>
      <p:ext uri="{BB962C8B-B14F-4D97-AF65-F5344CB8AC3E}">
        <p14:creationId xmlns:p14="http://schemas.microsoft.com/office/powerpoint/2010/main" val="2764680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48593</TotalTime>
  <Words>3173</Words>
  <Application>Microsoft Macintosh PowerPoint</Application>
  <PresentationFormat>Widescreen</PresentationFormat>
  <Paragraphs>353</Paragraphs>
  <Slides>36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Arial</vt:lpstr>
      <vt:lpstr>Arial Narrow</vt:lpstr>
      <vt:lpstr>Calibri</vt:lpstr>
      <vt:lpstr>Calibri Light</vt:lpstr>
      <vt:lpstr>Cambria Math</vt:lpstr>
      <vt:lpstr>Menlo</vt:lpstr>
      <vt:lpstr>Office Theme</vt:lpstr>
      <vt:lpstr>Modeling Computation</vt:lpstr>
      <vt:lpstr>Outline</vt:lpstr>
      <vt:lpstr>Automata or discrete transition systems</vt:lpstr>
      <vt:lpstr>PowerPoint Presentation</vt:lpstr>
      <vt:lpstr>Example: Dijkstra’s mutual exclusion algorithm</vt:lpstr>
      <vt:lpstr>Token-based mutual exclusion in unidirectional ring</vt:lpstr>
      <vt:lpstr>Dijkstra’s Algorithm [‘74]</vt:lpstr>
      <vt:lpstr>Sample executions: from a legal state (single token)</vt:lpstr>
      <vt:lpstr>Execution from an illegal state</vt:lpstr>
      <vt:lpstr>Synchronous model</vt:lpstr>
      <vt:lpstr>Synchronous state machine</vt:lpstr>
      <vt:lpstr>Asynchronous Nondeterministic State Machine</vt:lpstr>
      <vt:lpstr>The language defines an automaton</vt:lpstr>
      <vt:lpstr>Variables, valuations, state space, ececutions</vt:lpstr>
      <vt:lpstr>A language for specifying automata</vt:lpstr>
      <vt:lpstr>A language for specifying automata</vt:lpstr>
      <vt:lpstr>A language for specifying automata</vt:lpstr>
      <vt:lpstr>PowerPoint Presentation</vt:lpstr>
      <vt:lpstr>States and predicates</vt:lpstr>
      <vt:lpstr>Actions</vt:lpstr>
      <vt:lpstr>Transitions defined by preconditions and effects</vt:lpstr>
      <vt:lpstr>Executions, Reachability, and Invariants </vt:lpstr>
      <vt:lpstr>Collatz</vt:lpstr>
      <vt:lpstr>Inc dec</vt:lpstr>
      <vt:lpstr>Bit flip</vt:lpstr>
      <vt:lpstr>PowerPoint Presentation</vt:lpstr>
      <vt:lpstr>Internal and External Nondeterminism</vt:lpstr>
      <vt:lpstr>Reachable states and invariants</vt:lpstr>
      <vt:lpstr>Candidate invariants for token Ring</vt:lpstr>
      <vt:lpstr>Reachability as graph search</vt:lpstr>
      <vt:lpstr>Proving invariants by induction (Chapter 7)</vt:lpstr>
      <vt:lpstr>Proving invariants by induction (Chapter 7)</vt:lpstr>
      <vt:lpstr>Proving invariants by induction for Dijkstra</vt:lpstr>
      <vt:lpstr>Discussion</vt:lpstr>
      <vt:lpstr>Reach as fixpoint of Post</vt:lpstr>
      <vt:lpstr>Assignments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Modeling Computation</dc:title>
  <dc:creator>Mitra, Sayan</dc:creator>
  <cp:lastModifiedBy>Mitra, Sayan</cp:lastModifiedBy>
  <cp:revision>80</cp:revision>
  <cp:lastPrinted>2019-08-29T19:33:46Z</cp:lastPrinted>
  <dcterms:created xsi:type="dcterms:W3CDTF">2019-08-09T19:23:00Z</dcterms:created>
  <dcterms:modified xsi:type="dcterms:W3CDTF">2025-08-21T01:21:20Z</dcterms:modified>
</cp:coreProperties>
</file>