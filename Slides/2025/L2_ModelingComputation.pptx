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6"/>
  </p:notesMasterIdLst>
  <p:sldIdLst>
    <p:sldId id="324" r:id="rId2"/>
    <p:sldId id="336" r:id="rId3"/>
    <p:sldId id="325" r:id="rId4"/>
    <p:sldId id="341" r:id="rId5"/>
    <p:sldId id="311" r:id="rId6"/>
    <p:sldId id="302" r:id="rId7"/>
    <p:sldId id="303" r:id="rId8"/>
    <p:sldId id="327" r:id="rId9"/>
    <p:sldId id="328" r:id="rId10"/>
    <p:sldId id="343" r:id="rId11"/>
    <p:sldId id="312" r:id="rId12"/>
    <p:sldId id="344" r:id="rId13"/>
    <p:sldId id="313" r:id="rId14"/>
    <p:sldId id="314" r:id="rId15"/>
    <p:sldId id="331" r:id="rId16"/>
    <p:sldId id="332" r:id="rId17"/>
    <p:sldId id="333" r:id="rId18"/>
    <p:sldId id="342" r:id="rId19"/>
    <p:sldId id="318" r:id="rId20"/>
    <p:sldId id="315" r:id="rId21"/>
    <p:sldId id="319" r:id="rId22"/>
    <p:sldId id="320" r:id="rId23"/>
    <p:sldId id="345" r:id="rId24"/>
    <p:sldId id="346" r:id="rId25"/>
    <p:sldId id="321" r:id="rId26"/>
    <p:sldId id="335" r:id="rId27"/>
    <p:sldId id="307" r:id="rId28"/>
    <p:sldId id="322" r:id="rId29"/>
    <p:sldId id="338" r:id="rId30"/>
    <p:sldId id="337" r:id="rId31"/>
    <p:sldId id="339" r:id="rId32"/>
    <p:sldId id="340" r:id="rId33"/>
    <p:sldId id="323" r:id="rId34"/>
    <p:sldId id="293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119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4895"/>
    <p:restoredTop sz="94690"/>
  </p:normalViewPr>
  <p:slideViewPr>
    <p:cSldViewPr snapToGrid="0" snapToObjects="1">
      <p:cViewPr varScale="1">
        <p:scale>
          <a:sx n="74" d="100"/>
          <a:sy n="74" d="100"/>
        </p:scale>
        <p:origin x="184" y="11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19-08-27T18:47:52.44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1499 5927 24575,'0'19'0,"0"-3"0,0 0 0,0-12 0,0 11 0,0-15 0,0 24 0,0-18 0,0 17 0,0-23 0,0 16 0,0-12 0,16 11 0,-12-15 0,12 16 0,-16-12 0,0 12 0,0-16 0,0 23 0,0-17 0,0 18 0,23-24 0,-17 15 0,18-11 0,-24 12 0,0-16 0,15 0 0,-11 0 0,12 0 0,-16 0 0,15 0 0,-11 0 0,12 0 0,-16 0 0,24 0 0,-19 0 0,19 0 0,-8 0 0,-12 0 0,11 0 0,1 0 0,-12 0 0,12 0 0,-16 0 0,23 0 0,-17 0 0,17 0 0,-23 0 0,0-16 0,0 12 0,0-11 0,0-9 0,0 18 0,0-17 0,0 7 0,0 12 0,0-27 0,0 27 0,0-12 0,0-7 0,0 17 0,0-18 0,0 9 0,0 11 0,0-12 0,0 16 0,0-16 0,0 12 0,0-11 0,0 15 0,0-24 0,0 18 0,-23-17 0,17 23 0,-17-16 0,23 12 0,-16-12 0,12 16 0,-12-23 0,16 17 0,0-17 0,-15 23 0,11 0 0,-12 0 0,16 0 0,-24 0 0,19 0 0,-19 0 0,24 0 0,-16 0 0,12 0 0,-11 0 0,15 0 0,-16 0 0,12 0 0,-11 0 0,15 0 0,-24 0 0,18 0 0,-17 0 0,23 0 0,0 0 0,-16 0 0,12 0 0,-12 23 0,16-17 0,0 17 0,0-23 0,0 16 0,0-12 0,0 12 0,0-16 0,0 23 0,0-17 0,0 18 0,0-24 0,0 15 0,0-11 0,0 12 0,0-16 0</inkml:trace>
  <inkml:trace contextRef="#ctx0" brushRef="#br0" timeOffset="1747">4251 4004 24575,'0'20'0,"0"-5"0,0 9 0,0-18 0,0 17 0,0-7 0,0-12 0,0 27 0,0-27 0,0 12 0,0-16 0,0 23 0,0-17 0,0 18 0,0-24 0,0 15 0,0-11 0,0 12 0,0-16 0,0 16 0,0-12 0,0 11 0,0-15 0,0 24 0,0-18 0,0 17 0,0-23 0,0 16 0,0-12 0,0 11 0,0-15 0,0 24 0,0-18 0,0 17 0,16-23 0,-12 16 0,11-12 0,-15 12 0,0-16 0,0 15 0,0-11 0,0 12 0,0-16 0,0 0 0,0 0 0</inkml:trace>
  <inkml:trace contextRef="#ctx0" brushRef="#br0" timeOffset="3852">6773 4374 24575,'45'0'0,"-19"0"0,-1 0 0,13 0 0,5 0 0,0 0 0,-22 0 0,19 0 0,-36 0 0,27 0 0,-27 0 0,11 0 0,-15 0 0,24 0 0,-18 24 0,17-18 0,-23 17 0,0-23 0,0 0 0,0 16 0,16-12 0,-12 12 0,12-16 0,-16 15 0,0-11 0,0 35 0,15-33 0,-11 18 0,12-24 0,-16 16 0,0-13 0,0 13 0,0 0 0,0-12 0,0 35 0,0-33 0,0 33 0,0-35 0,0 27 0,0-27 0,-16 35 0,12-33 0,-27 18 0,27-9 0,-12-11 0,-7 12 0,17 0 0,-18-12 0,9 11 0,11 9 0,-12-18 0,16 17 0,-15-23 0,11 16 0,-12-12 0,16 12 0,-24-16 0,19 0 0,-19 23 0,24-17 0,0 17 0,0-23 0,24 0 0,-19 0 0,19 0 0,-8 0 0,-12 0 0,27 0 0,-4 0 0,11 0 0,5 0 0,0 0 0,-6 0 0,-10 0 0,5 0 0,-5 0 0,10 0 0,-9 0 0,11 0 0,-33 0 0,33 0 0,-35 0 0,12 16 0,-16-12 0,15 12 0,-11-16 0,12 0 0,-16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19-08-27T18:51:31.43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1535 7126 24575,'0'43'0,"-16"-6"0,14-11 0,0-1-1700,-14 13 1700,7-5 0,3 0 0,2 8 550,-12 3-550,16-13 0,0-4 281,0-5-281,0 17 0,0-35 0,0 27 869,0-27-869,0 36 0,0-35 0,0 35 0,16-36 0,-12 35 0,11-33 0,-15 17 0,16-7 0,-12-12 0,12 11 0,7-15 0,-17 16 0,18-12 0,-24 12 0,15-16 0,-11 0 0,12 0 0,-16 0 0,15-16 0,-11 12 0,12-27 0,-16 3 0,24-9-297,-14 11 1,1 1 296,17-12 0,3 9 0,-27-3 0,35 4 0,-33-11 0,17 11 0,-7-4 0,-12 27 0,12-12 593,-16-8-593,0 19 0,0-19 0,0 24 0,0-16 0,0 12 0,0-11 0,-16-1 0,12-11 0,-12 5 0,-7-1 0,17 7 0,-33 12 0,35-12 0,-12-7 0,1 17 0,11-18 0,-36 24 0,35 0 0,-19 0 0,8 0 0,12 0 0,-11 0 0,15 0 0,-16 0 0,12 0 0,-11 0 0,15 0 0,-24 0 0,18 0 0,-17 0 0,23 24 0,-16-18 0,12 17 0,-12-23 0,1 0 0,11 0 0,-12 0 0,16 0 0,0 0 0</inkml:trace>
  <inkml:trace contextRef="#ctx0" brushRef="#br0" timeOffset="1112">4374 5080 24575,'0'45'0,"0"-2"0,0 0 0,0-5 0,0 5-1062,0-14 1,0 0 1061,0 20 0,0-18 0,0-1 664,0 13-664,0 0 0,0-21 355,0 17-355,0-35 0,0 12 0,0-16 272,0 15 0,0-11 1,0 12-1</inkml:trace>
  <inkml:trace contextRef="#ctx0" brushRef="#br0" timeOffset="2903">6615 5256 24575,'43'0'0,"-22"0"0,8 0 0,-3 0 0,-18 0 0,18 0 0,3 0 0,-8 0 0,5 0 0,-1 0 0,-3 0 0,17 0 0,-19 0 0,-1 0 0,-3 0 0,-16 16 0,24-12 0,-19 12 0,19-16 0,-24 15 0,0-11 0,0 35 0,0-33 0,0 18 0,0-8 0,0-13 0,0 13 0,0 8 0,0-18 0,0 33 0,0-35 0,0 11 0,0-15 0,0 16 0,0-12 0,0 12 0,0-16 0,0 23 0,-24-17 0,19 18 0,-19-24 0,24 15 0,0-11 0,0 12 0,0-16 0,0 15 0,0-11 0,0 12 0,0-16 0,0 0 0,24 0 0,-3 0 0,22 0 0,0 0 0,-5 0 0,5 0 0,-24 0 0,20 0 0,-33 0 0,18 0 0,-8 0 0,-13 0 0,13 0 0,-16 0 0,0 0 0</inkml:trace>
  <inkml:trace contextRef="#ctx0" brushRef="#br0" timeOffset="5623">9031 6967 24575,'32'0'0,"1"0"0,-4 0 0,1 0 0,0 0 0,-2 0 0,-2 0-712,13 0 0,0 0 712,-13 0 0,2 0 0,3 0 0,12 0 463,-22 0-463,18 0 236,-35 0-236,12 0 0,8 0 0,-19 0 725,19 0-725,-24 16 0,16-12 0,-12 12 0,11-1 0,-15-11 0,0 35 0,0-33 0,0 18 0,0-8 0,0 3 0,0 1 0,0-5 0,0 9 0,0-18 0,0 33 0,0-35 0,0 12 0,0 7 0,0-17 0,0 18 0,-15-24 0,11 0 0,-36 0 0,19 0 0,-7 15 0,1-13 0,0 0 0,1 14 0,-17-1 0,4-11 0,1 12 0,7 8 0,3-22 0,1 1 0,6 21 0,-7-24 0,-3 0 0,27 0 0,-35 16 0,33-12 0,-18 11 0,24-15 0,0 0 0,24 0 0,-3 0 0,7 0 0,3 0 0,-27 0 0,35 0 0,-33 0 0,33 0 0,-35 0 0,28 0 0,-28 0 0,35 0 0,-18 0 0,7 0 0,3 0 0,-27 0 0,35 0 0,-33 0 0,18 0 0,-9 0 0,-11 16 0,12-12 0,-16 12 0,24-16 0,-19 0 0,19 23 0,-24-17 0,0 17 0,0-7 0,0-12 0,0 12 0,0-16 0,0 15 0,0-11 0,0 12 0,0-16 0,0 24 0,0-19 0,0 19 0,0-24 0,0 16 0,0-12 0,0 11 0,-24-15 0,19 0 0,-19 0 0,8 0 0,-11 0 0,5 0 0,-17 24 0,35-18 0,-27 17 0,27-23 0,-12 0 0,-7 0 0,17 0 0,-33 0 0,35 0 0,-12 0 0,0 0 0,12 0 0,-11 0 0,-9 0 0,18 0 0,-33 16 0,35-12 0,-27 11 0,3-15 0,7 16 0,-3-12 0,9 12 0,11-16 0,-12 0 0,16 0 0,0 0 0,0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17AFD9B-7E58-DE47-AB56-7CAF71037955}" type="datetimeFigureOut">
              <a:rPr lang="en-US" smtClean="0"/>
              <a:t>7/23/25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BEA78C-04FF-9348-8D95-00319B717D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34130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481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482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 Narrow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 Narrow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9pPr>
          </a:lstStyle>
          <a:p>
            <a:fld id="{42E9AC91-DC6C-4B19-92F6-22E456D64441}" type="slidenum">
              <a:rPr lang="en-US" sz="1200" smtClean="0"/>
              <a:pPr/>
              <a:t>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5603207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5843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5844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 Narrow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 Narrow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9pPr>
          </a:lstStyle>
          <a:p>
            <a:fld id="{B85884E2-29F1-4D86-84CC-3D2D0A090487}" type="slidenum">
              <a:rPr lang="en-US" sz="1200" smtClean="0"/>
              <a:pPr/>
              <a:t>7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6047657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99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99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 Narrow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 Narrow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9pPr>
          </a:lstStyle>
          <a:p>
            <a:fld id="{478875BD-0904-456D-BF1F-B156B76088E4}" type="slidenum">
              <a:rPr lang="en-US" sz="1200" smtClean="0"/>
              <a:pPr/>
              <a:t>27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41719358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B49DD8-247F-AF4F-954A-327FCCD924C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507ACF-D92E-3A47-95A9-4CDCC1FA20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3ED732-E139-B44B-BE23-C5C7662B73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B8AD7-01C0-D047-9657-785F092D97E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800656-F9A9-1247-B2A7-F1D118D28F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EC7743-733E-D44C-A3B0-CD1864207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438F6F-40D0-1049-947A-F238321EC0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76965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10B311-CFC7-9D4E-AAB0-E90ACD04EC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0AAF50-C927-5443-AA65-CC01B1BDD6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7DC47F-FF90-5749-82DC-229FCD0196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B8AD7-01C0-D047-9657-785F092D97E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5E43AE-56CB-164F-84EE-EF87C1423B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B2DB59-CFEC-5949-977D-9933D1378B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438F6F-40D0-1049-947A-F238321EC0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20803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F4F88A-F460-3346-BCFC-DBF1224038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52486E-7460-EA4F-812F-D60F13458E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AA969D-B972-6048-AC49-E203D80D48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B8AD7-01C0-D047-9657-785F092D97E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AC258D-2993-0141-8BFA-7A61A47FB9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A6E9C7-3EC4-C94B-A131-CDA20D94F4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438F6F-40D0-1049-947A-F238321EC0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46034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F0BCCC-34A9-2749-B519-9763169BEA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BF9C29-4DA2-C04E-8427-8C18A0737EE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F772E9-3A38-6B40-8C10-3CDE457EC8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327766-5486-C64E-B23C-1588E725FF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B8AD7-01C0-D047-9657-785F092D97E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E0A72A-6E86-C840-A438-6686FF70DE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0BA989-0C1D-4A4B-AC9A-4CDC785330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438F6F-40D0-1049-947A-F238321EC0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01162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1E17D-5F8C-A343-8804-9ADF3C3672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475C0A-2C70-C246-91FA-93472B5DB6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DF6A64-C764-E14B-B9C5-D640DD87FE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FF4EDF7-F711-8046-A691-1AF369D225E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02B5415-ECD3-FD43-BC06-7649D842663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AABB2DE-4832-C24B-BDD4-64D5C9BB0E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B8AD7-01C0-D047-9657-785F092D97E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7CA873A-C73E-C244-9B95-7CEE7A5BA6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8E1C9C6-7055-B444-AF4C-7A7E2FC01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438F6F-40D0-1049-947A-F238321EC0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55557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7DC18-C29F-674B-9F50-CDA638DED5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1A05D7F-9408-CC40-84B2-E3F7836D38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B8AD7-01C0-D047-9657-785F092D97E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98CD92-F647-E347-88D8-CDA9F997AC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F66222-1751-564F-8357-A9638DA19B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438F6F-40D0-1049-947A-F238321EC0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47279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871B2D5-8D53-B04E-A8E7-0F0B270CE3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B8AD7-01C0-D047-9657-785F092D97E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3DCC65-13A4-CD40-9590-DA3DF53FEB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C8CFB6-0546-0D48-AA3E-FE88BDD1C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438F6F-40D0-1049-947A-F238321EC0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56288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3EB45A-78BB-B64A-BF97-1A0FACD3A8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F96587-65ED-2340-ACF9-F2C9E86E92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CB0BDD-33D7-7446-8E65-89EB8CC262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CFA320-917C-AF4B-BD78-D49BF101F5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B8AD7-01C0-D047-9657-785F092D97E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89F164-C8FC-2440-8E79-6EB5D64950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F74EE0-6617-F74E-BFC4-75E042A51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438F6F-40D0-1049-947A-F238321EC0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4838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FE13D-C892-0A42-A34D-8E65D7CE8F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64735AF-BF40-6B4B-A974-F1A8CD154E8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9990BD-3DDD-664A-85D6-0F56B708A4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823D58-D46B-7F4C-B310-CC4CBCAF5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B8AD7-01C0-D047-9657-785F092D97E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7BEC11-44C0-6747-B5D1-5AB523E739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D8A8F0E-6716-4944-AFF3-3B63D9A2F1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438F6F-40D0-1049-947A-F238321EC0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60819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E47A5-442A-FD4B-B10D-644DC77662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81ACADA-7569-B146-BB55-B5110AEAF0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1DFF70-F133-F943-B06F-FC06F3C33D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B8AD7-01C0-D047-9657-785F092D97E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B13C69-F5E0-5044-8AF2-E4A7AE8BDB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0BEFB7-B5F7-1E48-A884-6FB8E4152C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438F6F-40D0-1049-947A-F238321EC0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17332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1AC14EA-210B-A14C-BF0F-DF7E105047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C412B2-2A55-A341-B350-912389BD3C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1447FA-DB7E-0F4B-9197-CCF38766D0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B8AD7-01C0-D047-9657-785F092D97E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675544-6EF1-1C4A-BB07-42B2847551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9B3984-2D93-BF4B-82F0-DB8333FD8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438F6F-40D0-1049-947A-F238321EC0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37097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F0D4B96-446F-544E-95E8-F0AF575EA9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30371A-2D69-E54C-892D-2930260304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98A89C-1210-C94C-8B77-5FE474AF49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4B8AD7-01C0-D047-9657-785F092D97E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9E72B8-4420-6F42-AABA-D21F0C132A0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64AA10-49EE-B545-A64C-CE975BDFAA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438F6F-40D0-1049-947A-F238321EC0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97241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mitras@illinois.edu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emf"/><Relationship Id="rId3" Type="http://schemas.openxmlformats.org/officeDocument/2006/relationships/image" Target="../media/image5.emf"/><Relationship Id="rId7" Type="http://schemas.openxmlformats.org/officeDocument/2006/relationships/image" Target="../media/image9.emf"/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.emf"/><Relationship Id="rId5" Type="http://schemas.openxmlformats.org/officeDocument/2006/relationships/image" Target="../media/image7.emf"/><Relationship Id="rId10" Type="http://schemas.openxmlformats.org/officeDocument/2006/relationships/image" Target="../media/image11.png"/><Relationship Id="rId4" Type="http://schemas.openxmlformats.org/officeDocument/2006/relationships/image" Target="../media/image6.emf"/><Relationship Id="rId9" Type="http://schemas.openxmlformats.org/officeDocument/2006/relationships/customXml" Target="../ink/ink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7" Type="http://schemas.openxmlformats.org/officeDocument/2006/relationships/image" Target="../media/image16.png"/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6.xml"/><Relationship Id="rId6" Type="http://schemas.openxmlformats.org/officeDocument/2006/relationships/customXml" Target="../ink/ink2.xml"/><Relationship Id="rId5" Type="http://schemas.openxmlformats.org/officeDocument/2006/relationships/image" Target="../media/image14.emf"/><Relationship Id="rId4" Type="http://schemas.openxmlformats.org/officeDocument/2006/relationships/image" Target="../media/image13.emf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0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994304"/>
          </a:xfrm>
        </p:spPr>
        <p:txBody>
          <a:bodyPr>
            <a:normAutofit/>
          </a:bodyPr>
          <a:lstStyle/>
          <a:p>
            <a:r>
              <a:rPr lang="en-US" sz="3600" dirty="0"/>
              <a:t>Modeling Computation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Sayan Mitra</a:t>
            </a:r>
          </a:p>
          <a:p>
            <a:r>
              <a:rPr lang="en-US" dirty="0"/>
              <a:t>Verifying </a:t>
            </a:r>
            <a:r>
              <a:rPr lang="en-US"/>
              <a:t>cyberphysical</a:t>
            </a:r>
            <a:r>
              <a:rPr lang="en-US" dirty="0"/>
              <a:t> systems</a:t>
            </a:r>
          </a:p>
          <a:p>
            <a:r>
              <a:rPr lang="en-US" dirty="0">
                <a:hlinkClick r:id="rId2"/>
              </a:rPr>
              <a:t>mitras@illinois.edu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36422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59CCCA-12AC-BB4C-8C53-B7442B4399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7AF2FB-AFB1-2648-B91A-9B067FFCF6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Read Chapter 2</a:t>
            </a:r>
          </a:p>
          <a:p>
            <a:endParaRPr lang="en-US" dirty="0"/>
          </a:p>
          <a:p>
            <a:r>
              <a:rPr lang="en-US" dirty="0"/>
              <a:t>Today</a:t>
            </a:r>
          </a:p>
          <a:p>
            <a:pPr lvl="1"/>
            <a:r>
              <a:rPr lang="en-US" dirty="0"/>
              <a:t>Dijkstra’s mutual exclusion algorithm</a:t>
            </a:r>
          </a:p>
          <a:p>
            <a:pPr lvl="1"/>
            <a:r>
              <a:rPr lang="en-US" dirty="0"/>
              <a:t>Specification language</a:t>
            </a:r>
          </a:p>
          <a:p>
            <a:pPr lvl="1"/>
            <a:r>
              <a:rPr lang="en-US" dirty="0"/>
              <a:t>Semantics: executions, reachable states</a:t>
            </a:r>
          </a:p>
          <a:p>
            <a:pPr lvl="1"/>
            <a:r>
              <a:rPr lang="en-US" dirty="0"/>
              <a:t>Invariant proof</a:t>
            </a:r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4064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A6E0D0-E74E-2B45-B640-A1E3517EF8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Automata or discrete transition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47AA83-84E3-0342-8A94-AC07EADC20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0576"/>
            <a:ext cx="10515600" cy="4932299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b="0" dirty="0">
                <a:latin typeface="+mj-lt"/>
                <a:ea typeface="Cambria Math" panose="02040503050406030204" pitchFamily="18" charset="0"/>
              </a:rPr>
              <a:t>The “state” of a system captures </a:t>
            </a:r>
            <a:r>
              <a:rPr lang="en-US" dirty="0">
                <a:latin typeface="+mj-lt"/>
                <a:ea typeface="Cambria Math" panose="02040503050406030204" pitchFamily="18" charset="0"/>
              </a:rPr>
              <a:t>all the information needed to predict the system’s future behavior</a:t>
            </a:r>
          </a:p>
          <a:p>
            <a:pPr>
              <a:lnSpc>
                <a:spcPct val="110000"/>
              </a:lnSpc>
            </a:pPr>
            <a:r>
              <a:rPr lang="en-US" dirty="0">
                <a:latin typeface="+mj-lt"/>
                <a:ea typeface="Cambria Math" panose="02040503050406030204" pitchFamily="18" charset="0"/>
              </a:rPr>
              <a:t>Behavior of a system is a sequence of states</a:t>
            </a:r>
          </a:p>
          <a:p>
            <a:pPr>
              <a:lnSpc>
                <a:spcPct val="110000"/>
              </a:lnSpc>
            </a:pPr>
            <a:r>
              <a:rPr lang="en-US" i="1" dirty="0">
                <a:latin typeface="+mj-lt"/>
                <a:ea typeface="Cambria Math" panose="02040503050406030204" pitchFamily="18" charset="0"/>
              </a:rPr>
              <a:t>Our ultimate goal: write programs that prove properties about all behaviors of a system</a:t>
            </a:r>
          </a:p>
          <a:p>
            <a:pPr>
              <a:lnSpc>
                <a:spcPct val="110000"/>
              </a:lnSpc>
            </a:pPr>
            <a:r>
              <a:rPr lang="en-US" dirty="0">
                <a:latin typeface="+mj-lt"/>
                <a:ea typeface="Cambria Math" panose="02040503050406030204" pitchFamily="18" charset="0"/>
              </a:rPr>
              <a:t>“Transitions” capture how the state can change</a:t>
            </a:r>
          </a:p>
        </p:txBody>
      </p:sp>
    </p:spTree>
    <p:extLst>
      <p:ext uri="{BB962C8B-B14F-4D97-AF65-F5344CB8AC3E}">
        <p14:creationId xmlns:p14="http://schemas.microsoft.com/office/powerpoint/2010/main" val="3978938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Testing shows the presence, not the absence of bugs. - Edsger Dijkstra">
            <a:extLst>
              <a:ext uri="{FF2B5EF4-FFF2-40B4-BE49-F238E27FC236}">
                <a16:creationId xmlns:a16="http://schemas.microsoft.com/office/drawing/2014/main" id="{3A52E1DB-D156-B344-9280-2CA4FCA9601C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2703" y="1253331"/>
            <a:ext cx="9246593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342783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Example: Dijkstra’s mutual exclusion algorithm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838200" y="2919787"/>
            <a:ext cx="8896095" cy="3257176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Informal Description  </a:t>
            </a:r>
            <a:r>
              <a:rPr lang="en-US" dirty="0">
                <a:latin typeface="+mj-lt"/>
              </a:rPr>
              <a:t>A </a:t>
            </a:r>
            <a:r>
              <a:rPr lang="en-US" b="1" dirty="0">
                <a:latin typeface="+mj-lt"/>
              </a:rPr>
              <a:t>token-based</a:t>
            </a:r>
            <a:r>
              <a:rPr lang="en-US" dirty="0">
                <a:latin typeface="+mj-lt"/>
              </a:rPr>
              <a:t> mutual exclusion algorithm on a ring network</a:t>
            </a:r>
          </a:p>
          <a:p>
            <a:r>
              <a:rPr lang="en-US" dirty="0">
                <a:latin typeface="+mj-lt"/>
              </a:rPr>
              <a:t>Collection of processes that send and receive bits over a ring network so that only one of them has a “token” to access a critical resource (e.g., a shared calendar)</a:t>
            </a:r>
          </a:p>
          <a:p>
            <a:pPr marL="0" indent="0">
              <a:buNone/>
            </a:pPr>
            <a:r>
              <a:rPr lang="en-US" dirty="0">
                <a:latin typeface="+mj-lt"/>
              </a:rPr>
              <a:t>Discrete model</a:t>
            </a:r>
          </a:p>
          <a:p>
            <a:r>
              <a:rPr lang="en-US" dirty="0">
                <a:latin typeface="+mj-lt"/>
              </a:rPr>
              <a:t>Each process has variables that take only discrete values </a:t>
            </a:r>
          </a:p>
          <a:p>
            <a:r>
              <a:rPr lang="en-US" dirty="0">
                <a:latin typeface="+mj-lt"/>
              </a:rPr>
              <a:t>Time elapses in </a:t>
            </a:r>
            <a:r>
              <a:rPr lang="en-US" b="1" dirty="0">
                <a:latin typeface="+mj-lt"/>
              </a:rPr>
              <a:t>discrete steps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7263A2C-7C55-4348-B850-0A3E101526A3}"/>
              </a:ext>
            </a:extLst>
          </p:cNvPr>
          <p:cNvSpPr txBox="1"/>
          <p:nvPr/>
        </p:nvSpPr>
        <p:spPr>
          <a:xfrm>
            <a:off x="9899904" y="4572000"/>
            <a:ext cx="212039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﻿Self-stabilizing Systems in Spite of Distributed Control, CACM, 1974.</a:t>
            </a:r>
          </a:p>
        </p:txBody>
      </p:sp>
    </p:spTree>
    <p:extLst>
      <p:ext uri="{BB962C8B-B14F-4D97-AF65-F5344CB8AC3E}">
        <p14:creationId xmlns:p14="http://schemas.microsoft.com/office/powerpoint/2010/main" val="12477591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>
          <a:xfrm>
            <a:off x="438912" y="219263"/>
            <a:ext cx="10914888" cy="1325563"/>
          </a:xfrm>
        </p:spPr>
        <p:txBody>
          <a:bodyPr>
            <a:normAutofit/>
          </a:bodyPr>
          <a:lstStyle/>
          <a:p>
            <a:pPr algn="ctr" eaLnBrk="1" hangingPunct="1"/>
            <a:r>
              <a:rPr lang="en-US" sz="2800" dirty="0"/>
              <a:t>Token-based mutual exclusion in unidirectional ring</a:t>
            </a:r>
            <a:endParaRPr lang="en-US" sz="3600" dirty="0"/>
          </a:p>
        </p:txBody>
      </p:sp>
      <p:sp>
        <p:nvSpPr>
          <p:cNvPr id="10261" name="Text Box 31"/>
          <p:cNvSpPr txBox="1">
            <a:spLocks noChangeArrowheads="1"/>
          </p:cNvSpPr>
          <p:nvPr/>
        </p:nvSpPr>
        <p:spPr bwMode="auto">
          <a:xfrm>
            <a:off x="638556" y="3961081"/>
            <a:ext cx="10914888" cy="26776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Arial Narrow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 Narrow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9pPr>
          </a:lstStyle>
          <a:p>
            <a:r>
              <a:rPr lang="en-US" dirty="0">
                <a:latin typeface="+mj-lt"/>
              </a:rPr>
              <a:t>N processes with ids 0, 1, …, N-1</a:t>
            </a:r>
          </a:p>
          <a:p>
            <a:r>
              <a:rPr lang="en-US" dirty="0">
                <a:latin typeface="+mj-lt"/>
              </a:rPr>
              <a:t>Unidirectional means: each </a:t>
            </a:r>
            <a:r>
              <a:rPr lang="en-US" dirty="0" err="1">
                <a:latin typeface="+mj-lt"/>
              </a:rPr>
              <a:t>i</a:t>
            </a:r>
            <a:r>
              <a:rPr lang="en-US" dirty="0">
                <a:latin typeface="+mj-lt"/>
              </a:rPr>
              <a:t>&gt;0 process P</a:t>
            </a:r>
            <a:r>
              <a:rPr lang="en-US" baseline="-25000" dirty="0">
                <a:latin typeface="+mj-lt"/>
              </a:rPr>
              <a:t>i</a:t>
            </a:r>
            <a:r>
              <a:rPr lang="en-US" dirty="0">
                <a:latin typeface="+mj-lt"/>
              </a:rPr>
              <a:t> reads the state of only the predecessor P</a:t>
            </a:r>
            <a:r>
              <a:rPr lang="en-US" baseline="-25000" dirty="0">
                <a:latin typeface="+mj-lt"/>
              </a:rPr>
              <a:t>i-1; </a:t>
            </a:r>
            <a:r>
              <a:rPr lang="en-US" dirty="0">
                <a:latin typeface="+mj-lt"/>
              </a:rPr>
              <a:t>P</a:t>
            </a:r>
            <a:r>
              <a:rPr lang="en-US" baseline="-25000" dirty="0">
                <a:latin typeface="+mj-lt"/>
              </a:rPr>
              <a:t>0</a:t>
            </a:r>
            <a:r>
              <a:rPr lang="en-US" dirty="0">
                <a:latin typeface="+mj-lt"/>
              </a:rPr>
              <a:t> reads only P</a:t>
            </a:r>
            <a:r>
              <a:rPr lang="en-US" baseline="-25000" dirty="0">
                <a:latin typeface="+mj-lt"/>
              </a:rPr>
              <a:t>N-1</a:t>
            </a:r>
            <a:endParaRPr lang="en-US" dirty="0">
              <a:latin typeface="+mj-lt"/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latin typeface="+mj-lt"/>
              </a:rPr>
              <a:t>Legal configuration = exactly one “token” in the ring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latin typeface="+mj-lt"/>
              </a:rPr>
              <a:t>Single token circulates in the ring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latin typeface="+mj-lt"/>
              </a:rPr>
              <a:t>Even if multiple tokens arise because of faults, if the algorithm continues to work correctly, then eventually there is a single token; this is the </a:t>
            </a:r>
            <a:r>
              <a:rPr lang="en-US" i="1" dirty="0">
                <a:latin typeface="+mj-lt"/>
              </a:rPr>
              <a:t>self stabilizing </a:t>
            </a:r>
            <a:r>
              <a:rPr lang="en-US" dirty="0">
                <a:latin typeface="+mj-lt"/>
              </a:rPr>
              <a:t>property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3"/>
          <a:srcRect t="-1" b="3493"/>
          <a:stretch/>
        </p:blipFill>
        <p:spPr>
          <a:xfrm>
            <a:off x="1901954" y="1155718"/>
            <a:ext cx="4296154" cy="261796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7412" y="2203092"/>
            <a:ext cx="29498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Legal configuration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6198108" y="1230942"/>
            <a:ext cx="4215178" cy="2542744"/>
            <a:chOff x="4686300" y="1657662"/>
            <a:chExt cx="4215178" cy="2542744"/>
          </a:xfrm>
        </p:grpSpPr>
        <p:pic>
          <p:nvPicPr>
            <p:cNvPr id="3" name="Picture 2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686300" y="1657662"/>
              <a:ext cx="4215178" cy="2542744"/>
            </a:xfrm>
            <a:prstGeom prst="rect">
              <a:avLst/>
            </a:prstGeom>
          </p:spPr>
        </p:pic>
        <p:sp>
          <p:nvSpPr>
            <p:cNvPr id="5" name="Rectangle 4"/>
            <p:cNvSpPr/>
            <p:nvPr/>
          </p:nvSpPr>
          <p:spPr>
            <a:xfrm>
              <a:off x="6500198" y="2706755"/>
              <a:ext cx="913135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2400" dirty="0"/>
                <a:t>Illegal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80713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xfrm>
            <a:off x="1790700" y="116142"/>
            <a:ext cx="8610600" cy="1143000"/>
          </a:xfrm>
        </p:spPr>
        <p:txBody>
          <a:bodyPr>
            <a:normAutofit/>
          </a:bodyPr>
          <a:lstStyle/>
          <a:p>
            <a:pPr algn="ctr" eaLnBrk="1" hangingPunct="1"/>
            <a:r>
              <a:rPr lang="en-US" sz="3600" dirty="0" err="1"/>
              <a:t>Dijkstra’s</a:t>
            </a:r>
            <a:r>
              <a:rPr lang="en-US" sz="3600" dirty="0"/>
              <a:t> Algorithm [‘74]</a:t>
            </a:r>
          </a:p>
        </p:txBody>
      </p:sp>
      <p:sp>
        <p:nvSpPr>
          <p:cNvPr id="11277" name="Text Box 14"/>
          <p:cNvSpPr txBox="1">
            <a:spLocks noChangeArrowheads="1"/>
          </p:cNvSpPr>
          <p:nvPr/>
        </p:nvSpPr>
        <p:spPr bwMode="auto">
          <a:xfrm>
            <a:off x="890016" y="3849728"/>
            <a:ext cx="10277855" cy="21818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Arial Narrow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 Narrow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 Narrow" pitchFamily="34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</a:defRPr>
            </a:lvl9pPr>
          </a:lstStyle>
          <a:p>
            <a:r>
              <a:rPr lang="en-US" dirty="0">
                <a:latin typeface="+mj-lt"/>
              </a:rPr>
              <a:t>N processes: 0, 1, …, N-1</a:t>
            </a:r>
          </a:p>
          <a:p>
            <a:r>
              <a:rPr lang="en-US" dirty="0">
                <a:latin typeface="+mj-lt"/>
              </a:rPr>
              <a:t>state of each process j is a single integer variable x[j] </a:t>
            </a:r>
            <a:r>
              <a:rPr lang="en-US" dirty="0">
                <a:latin typeface="+mj-lt"/>
                <a:sym typeface="Symbol" pitchFamily="18" charset="2"/>
              </a:rPr>
              <a:t></a:t>
            </a:r>
            <a:r>
              <a:rPr lang="en-US" dirty="0">
                <a:latin typeface="+mj-lt"/>
              </a:rPr>
              <a:t> {0, 1, 2, K-1}, where K &gt; N</a:t>
            </a:r>
            <a:endParaRPr lang="en-US" i="1" dirty="0">
              <a:latin typeface="+mj-lt"/>
            </a:endParaRPr>
          </a:p>
          <a:p>
            <a:pPr algn="l">
              <a:lnSpc>
                <a:spcPct val="125000"/>
              </a:lnSpc>
            </a:pPr>
            <a:endParaRPr lang="en-US" i="1" dirty="0">
              <a:latin typeface="+mj-lt"/>
            </a:endParaRPr>
          </a:p>
          <a:p>
            <a:pPr algn="l">
              <a:lnSpc>
                <a:spcPct val="125000"/>
              </a:lnSpc>
            </a:pPr>
            <a:r>
              <a:rPr lang="en-US" i="1" dirty="0">
                <a:latin typeface="+mj-lt"/>
              </a:rPr>
              <a:t>P</a:t>
            </a:r>
            <a:r>
              <a:rPr lang="en-US" i="1" baseline="-25000" dirty="0">
                <a:latin typeface="+mj-lt"/>
              </a:rPr>
              <a:t>0</a:t>
            </a:r>
            <a:r>
              <a:rPr lang="en-US" dirty="0">
                <a:latin typeface="+mj-lt"/>
              </a:rPr>
              <a:t>		</a:t>
            </a:r>
            <a:r>
              <a:rPr lang="en-US" b="1" dirty="0">
                <a:latin typeface="+mj-lt"/>
              </a:rPr>
              <a:t>if </a:t>
            </a:r>
            <a:r>
              <a:rPr lang="en-US" dirty="0">
                <a:solidFill>
                  <a:srgbClr val="0070C0"/>
                </a:solidFill>
                <a:latin typeface="+mj-lt"/>
              </a:rPr>
              <a:t>x[0] = x[N-1] </a:t>
            </a:r>
            <a:r>
              <a:rPr lang="en-US" dirty="0">
                <a:latin typeface="+mj-lt"/>
              </a:rPr>
              <a:t>		</a:t>
            </a:r>
            <a:r>
              <a:rPr lang="en-US" b="1" dirty="0">
                <a:latin typeface="+mj-lt"/>
              </a:rPr>
              <a:t>then</a:t>
            </a:r>
            <a:r>
              <a:rPr lang="en-US" dirty="0">
                <a:latin typeface="+mj-lt"/>
              </a:rPr>
              <a:t> x[0] := x[0] + 1 mod K</a:t>
            </a:r>
          </a:p>
          <a:p>
            <a:pPr algn="l">
              <a:lnSpc>
                <a:spcPct val="125000"/>
              </a:lnSpc>
            </a:pPr>
            <a:r>
              <a:rPr lang="en-US" i="1" dirty="0" err="1">
                <a:latin typeface="+mj-lt"/>
              </a:rPr>
              <a:t>P</a:t>
            </a:r>
            <a:r>
              <a:rPr lang="en-US" i="1" baseline="-25000" dirty="0" err="1">
                <a:latin typeface="+mj-lt"/>
              </a:rPr>
              <a:t>j</a:t>
            </a:r>
            <a:r>
              <a:rPr lang="en-US" baseline="-25000" dirty="0">
                <a:latin typeface="+mj-lt"/>
              </a:rPr>
              <a:t> </a:t>
            </a:r>
            <a:r>
              <a:rPr lang="en-US" dirty="0">
                <a:latin typeface="+mj-lt"/>
              </a:rPr>
              <a:t> j &gt; 0	 	</a:t>
            </a:r>
            <a:r>
              <a:rPr lang="en-US" b="1" dirty="0">
                <a:latin typeface="+mj-lt"/>
              </a:rPr>
              <a:t>if</a:t>
            </a:r>
            <a:r>
              <a:rPr lang="en-US" dirty="0">
                <a:latin typeface="+mj-lt"/>
              </a:rPr>
              <a:t> </a:t>
            </a:r>
            <a:r>
              <a:rPr lang="en-US" dirty="0">
                <a:solidFill>
                  <a:srgbClr val="0070C0"/>
                </a:solidFill>
                <a:latin typeface="+mj-lt"/>
              </a:rPr>
              <a:t>x[j] ≠ x[j -1]</a:t>
            </a:r>
            <a:r>
              <a:rPr lang="en-US" dirty="0">
                <a:latin typeface="+mj-lt"/>
              </a:rPr>
              <a:t>	 	</a:t>
            </a:r>
            <a:r>
              <a:rPr lang="en-US" b="1" dirty="0">
                <a:latin typeface="+mj-lt"/>
              </a:rPr>
              <a:t>then</a:t>
            </a:r>
            <a:r>
              <a:rPr lang="en-US" dirty="0">
                <a:latin typeface="+mj-lt"/>
              </a:rPr>
              <a:t> x[j] := x[j-1] </a:t>
            </a:r>
          </a:p>
        </p:txBody>
      </p:sp>
      <p:sp>
        <p:nvSpPr>
          <p:cNvPr id="11279" name="Rectangle 16"/>
          <p:cNvSpPr>
            <a:spLocks noChangeArrowheads="1"/>
          </p:cNvSpPr>
          <p:nvPr/>
        </p:nvSpPr>
        <p:spPr bwMode="auto">
          <a:xfrm>
            <a:off x="2666999" y="6204283"/>
            <a:ext cx="7039043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r>
              <a:rPr lang="en-US" sz="2400" dirty="0">
                <a:solidFill>
                  <a:srgbClr val="B840C0"/>
                </a:solidFill>
              </a:rPr>
              <a:t>(p</a:t>
            </a:r>
            <a:r>
              <a:rPr lang="en-US" sz="2400" baseline="-25000" dirty="0">
                <a:solidFill>
                  <a:srgbClr val="B840C0"/>
                </a:solidFill>
              </a:rPr>
              <a:t>i</a:t>
            </a:r>
            <a:r>
              <a:rPr lang="en-US" sz="2400" dirty="0">
                <a:solidFill>
                  <a:srgbClr val="B840C0"/>
                </a:solidFill>
              </a:rPr>
              <a:t> has TOKEN if and only if the </a:t>
            </a:r>
            <a:r>
              <a:rPr lang="en-US" sz="2400" dirty="0">
                <a:solidFill>
                  <a:srgbClr val="0070C0"/>
                </a:solidFill>
              </a:rPr>
              <a:t>blue</a:t>
            </a:r>
            <a:r>
              <a:rPr lang="en-US" sz="2400" dirty="0">
                <a:solidFill>
                  <a:srgbClr val="B840C0"/>
                </a:solidFill>
              </a:rPr>
              <a:t> conditional is true)</a:t>
            </a:r>
            <a:endParaRPr lang="en-US" sz="2400" dirty="0"/>
          </a:p>
        </p:txBody>
      </p:sp>
      <p:pic>
        <p:nvPicPr>
          <p:cNvPr id="17" name="Picture 16"/>
          <p:cNvPicPr>
            <a:picLocks noChangeAspect="1"/>
          </p:cNvPicPr>
          <p:nvPr/>
        </p:nvPicPr>
        <p:blipFill rotWithShape="1">
          <a:blip r:embed="rId3"/>
          <a:srcRect t="-1" b="3493"/>
          <a:stretch/>
        </p:blipFill>
        <p:spPr>
          <a:xfrm>
            <a:off x="4108704" y="1143000"/>
            <a:ext cx="4425696" cy="2696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56967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279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ED9C9-21FD-B546-90A5-D4C2F7A205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Sample executions: from a legal state (single token)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95C3183-EE1D-A942-B019-BD9DC7E0D2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966" y="1690689"/>
            <a:ext cx="2535767" cy="160008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ED13FBE-3602-D647-B840-FE1970E4E7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3967" y="1690689"/>
            <a:ext cx="2535767" cy="160008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E0FD092-8921-C741-9613-2D13DAB657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7968" y="1690688"/>
            <a:ext cx="2541305" cy="160008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13595B4-96FE-2B4C-8B81-8E07FFCDF0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3834" y="1690688"/>
            <a:ext cx="2535767" cy="159454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B672E4E-7A2D-2E45-8ADA-62B7772C6153}"/>
              </a:ext>
            </a:extLst>
          </p:cNvPr>
          <p:cNvSpPr txBox="1"/>
          <p:nvPr/>
        </p:nvSpPr>
        <p:spPr>
          <a:xfrm>
            <a:off x="8961969" y="216818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CED51F-5934-6841-A750-C8C55173F082}"/>
              </a:ext>
            </a:extLst>
          </p:cNvPr>
          <p:cNvSpPr txBox="1"/>
          <p:nvPr/>
        </p:nvSpPr>
        <p:spPr>
          <a:xfrm>
            <a:off x="408284" y="4634271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1B6B542-55F2-6D4D-ACBC-11C6BD71C229}"/>
              </a:ext>
            </a:extLst>
          </p:cNvPr>
          <p:cNvSpPr txBox="1"/>
          <p:nvPr/>
        </p:nvSpPr>
        <p:spPr>
          <a:xfrm>
            <a:off x="3794022" y="4797979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60A9DBD-4CF2-E840-A71A-0B2A2B69F0D2}"/>
              </a:ext>
            </a:extLst>
          </p:cNvPr>
          <p:cNvSpPr txBox="1"/>
          <p:nvPr/>
        </p:nvSpPr>
        <p:spPr>
          <a:xfrm>
            <a:off x="7179763" y="4833389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E72185A9-B8D3-AC41-95D2-6571E93D2E9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5199" y="4036117"/>
            <a:ext cx="2544572" cy="160008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00AD284-651D-5A49-8AB3-8E3AB8B5D6D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51919" y="4184348"/>
            <a:ext cx="2535767" cy="159106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ABB01A2-4AD9-6941-AB76-E9C17026714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89683" y="4202534"/>
            <a:ext cx="2544572" cy="1602138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6B8EAC00-B23B-5B46-813D-37C4F747E692}"/>
                  </a:ext>
                </a:extLst>
              </p14:cNvPr>
              <p14:cNvContentPartPr/>
              <p14:nvPr/>
            </p14:nvContentPartPr>
            <p14:xfrm>
              <a:off x="539640" y="1441440"/>
              <a:ext cx="2184840" cy="79416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6B8EAC00-B23B-5B46-813D-37C4F747E692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30280" y="1432080"/>
                <a:ext cx="2203560" cy="812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7690755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1" grpId="0"/>
      <p:bldP spid="12" grpId="0"/>
      <p:bldP spid="1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32670-9060-F443-8FD2-1659B23ED1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Execution from an illegal state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5231629-FBC4-B842-90F1-A8156416DE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683" y="2146278"/>
            <a:ext cx="2863851" cy="179692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A466534-7A03-274B-B9A4-2C3C6EE4B7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9782" y="2146278"/>
            <a:ext cx="2863851" cy="1807102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7024E5B-44FB-1040-8D95-A15F6E26D1CD}"/>
              </a:ext>
            </a:extLst>
          </p:cNvPr>
          <p:cNvCxnSpPr>
            <a:cxnSpLocks/>
          </p:cNvCxnSpPr>
          <p:nvPr/>
        </p:nvCxnSpPr>
        <p:spPr>
          <a:xfrm flipH="1">
            <a:off x="2709334" y="1862667"/>
            <a:ext cx="355599" cy="283611"/>
          </a:xfrm>
          <a:prstGeom prst="straightConnector1">
            <a:avLst/>
          </a:prstGeom>
          <a:ln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A8F0D34-C692-0C45-BAD2-4F2BAAB1824A}"/>
              </a:ext>
            </a:extLst>
          </p:cNvPr>
          <p:cNvSpPr txBox="1"/>
          <p:nvPr/>
        </p:nvSpPr>
        <p:spPr>
          <a:xfrm>
            <a:off x="7416800" y="2184400"/>
            <a:ext cx="36354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Legal in single “step”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3A70AAD-B780-E549-966F-AF4246B770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9781" y="4408970"/>
            <a:ext cx="2863851" cy="180710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B2DE080-4AA2-FF4E-BE31-BDAF218C49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683" y="4419146"/>
            <a:ext cx="2863851" cy="1796926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D5F3F94-7F34-D64B-A904-00CC9526E368}"/>
              </a:ext>
            </a:extLst>
          </p:cNvPr>
          <p:cNvCxnSpPr>
            <a:cxnSpLocks/>
          </p:cNvCxnSpPr>
          <p:nvPr/>
        </p:nvCxnSpPr>
        <p:spPr>
          <a:xfrm flipH="1">
            <a:off x="1633009" y="4108665"/>
            <a:ext cx="355599" cy="283611"/>
          </a:xfrm>
          <a:prstGeom prst="straightConnector1">
            <a:avLst/>
          </a:prstGeom>
          <a:ln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A46F5C1-3497-2D4F-82B9-2A11BBE07A38}"/>
              </a:ext>
            </a:extLst>
          </p:cNvPr>
          <p:cNvCxnSpPr>
            <a:cxnSpLocks/>
          </p:cNvCxnSpPr>
          <p:nvPr/>
        </p:nvCxnSpPr>
        <p:spPr>
          <a:xfrm flipH="1">
            <a:off x="5918200" y="4108664"/>
            <a:ext cx="355599" cy="283611"/>
          </a:xfrm>
          <a:prstGeom prst="straightConnector1">
            <a:avLst/>
          </a:prstGeom>
          <a:ln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B57F659F-2C89-3545-BF3E-419BBEC1B2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2879" y="4419146"/>
            <a:ext cx="2863851" cy="1807102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8CA361BA-5CCC-6A40-9772-D72C47844C6F}"/>
              </a:ext>
            </a:extLst>
          </p:cNvPr>
          <p:cNvSpPr txBox="1"/>
          <p:nvPr/>
        </p:nvSpPr>
        <p:spPr>
          <a:xfrm>
            <a:off x="8385650" y="3747102"/>
            <a:ext cx="31406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Legal in two steps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D276459A-8839-9147-AF01-BE0D02AA0B3D}"/>
                  </a:ext>
                </a:extLst>
              </p14:cNvPr>
              <p14:cNvContentPartPr/>
              <p14:nvPr/>
            </p14:nvContentPartPr>
            <p14:xfrm>
              <a:off x="527040" y="1828800"/>
              <a:ext cx="2934000" cy="99108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D276459A-8839-9147-AF01-BE0D02AA0B3D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17680" y="1819440"/>
                <a:ext cx="2952720" cy="10098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4147247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Synchronous model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417CDEB-59C2-494C-B916-ABA6EEECE1D0}"/>
              </a:ext>
            </a:extLst>
          </p:cNvPr>
          <p:cNvSpPr txBox="1"/>
          <p:nvPr/>
        </p:nvSpPr>
        <p:spPr>
          <a:xfrm>
            <a:off x="838200" y="1325563"/>
            <a:ext cx="5739072" cy="50167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has_token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(x,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, N):</a:t>
            </a:r>
          </a:p>
          <a:p>
            <a:r>
              <a:rPr lang="en-US" sz="16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"""Return True if process </a:t>
            </a:r>
            <a:r>
              <a:rPr lang="en-US" sz="1600" b="0" dirty="0" err="1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sz="16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 has the token."""</a:t>
            </a:r>
            <a:endParaRPr lang="en-US" sz="16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== </a:t>
            </a:r>
            <a:r>
              <a:rPr lang="en-US" sz="16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r>
              <a:rPr lang="en-US" sz="1600" dirty="0">
                <a:solidFill>
                  <a:srgbClr val="0000FF"/>
                </a:solidFill>
                <a:latin typeface="Menlo" panose="020B0609030804020204" pitchFamily="49" charset="0"/>
              </a:rPr>
              <a:t>   </a:t>
            </a:r>
            <a:r>
              <a:rPr lang="en-US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x[</a:t>
            </a:r>
            <a:r>
              <a:rPr lang="en-US" sz="16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] == x[N - </a:t>
            </a:r>
            <a:r>
              <a:rPr lang="en-US" sz="16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]</a:t>
            </a:r>
          </a:p>
          <a:p>
            <a:r>
              <a:rPr lang="en-US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else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r>
              <a:rPr lang="en-US" sz="1600" dirty="0">
                <a:solidFill>
                  <a:srgbClr val="0000FF"/>
                </a:solidFill>
                <a:latin typeface="Menlo" panose="020B0609030804020204" pitchFamily="49" charset="0"/>
              </a:rPr>
              <a:t>   </a:t>
            </a:r>
            <a:r>
              <a:rPr lang="en-US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x[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] != x[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- </a:t>
            </a:r>
            <a:r>
              <a:rPr lang="en-US" sz="16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]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simulate(N, K, T,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delta_t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):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x = </a:t>
            </a:r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[0]*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N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while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t &lt;= T: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x_old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=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x.copy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() </a:t>
            </a:r>
            <a:r>
              <a:rPr lang="en-US" sz="1600" b="0" dirty="0">
                <a:solidFill>
                  <a:srgbClr val="00B050"/>
                </a:solidFill>
                <a:effectLst/>
                <a:latin typeface="Menlo" panose="020B0609030804020204" pitchFamily="49" charset="0"/>
              </a:rPr>
              <a:t>// Update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</a:b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</a:t>
            </a:r>
            <a:r>
              <a:rPr lang="en-US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for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in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range(N):</a:t>
            </a:r>
          </a:p>
          <a:p>
            <a:r>
              <a:rPr lang="en-US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      if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has_token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x_old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, N):</a:t>
            </a:r>
          </a:p>
          <a:p>
            <a:r>
              <a:rPr lang="en-US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         if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== </a:t>
            </a:r>
            <a:r>
              <a:rPr lang="en-US" sz="16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        x[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] = 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x_old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US" sz="16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] + </a:t>
            </a:r>
            <a:r>
              <a:rPr lang="en-US" sz="16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 % K</a:t>
            </a:r>
          </a:p>
          <a:p>
            <a:r>
              <a:rPr lang="en-US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         else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        x[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] =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x_old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- </a:t>
            </a:r>
            <a:r>
              <a:rPr lang="en-US" sz="16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]</a:t>
            </a:r>
          </a:p>
          <a:p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1285756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694944" y="0"/>
            <a:ext cx="10984992" cy="1325563"/>
          </a:xfrm>
        </p:spPr>
        <p:txBody>
          <a:bodyPr>
            <a:normAutofit/>
          </a:bodyPr>
          <a:lstStyle/>
          <a:p>
            <a:r>
              <a:rPr lang="en-US" dirty="0"/>
              <a:t>Synchronous state machine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417CDEB-59C2-494C-B916-ABA6EEECE1D0}"/>
                  </a:ext>
                </a:extLst>
              </p:cNvPr>
              <p:cNvSpPr txBox="1"/>
              <p:nvPr/>
            </p:nvSpPr>
            <p:spPr>
              <a:xfrm>
                <a:off x="838200" y="1137634"/>
                <a:ext cx="10984992" cy="52629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A </a:t>
                </a:r>
                <a:r>
                  <a:rPr lang="en-US" sz="2400" i="1" dirty="0"/>
                  <a:t>state machine </a:t>
                </a:r>
                <a:r>
                  <a:rPr lang="en-US" sz="2400" dirty="0"/>
                  <a:t>or an </a:t>
                </a:r>
                <a:r>
                  <a:rPr lang="en-US" sz="2400" i="1" dirty="0"/>
                  <a:t>automaton</a:t>
                </a:r>
                <a:r>
                  <a:rPr lang="en-US" sz="2400" dirty="0"/>
                  <a:t> models the behavior of a system in terms of valuations of  </a:t>
                </a:r>
                <a:r>
                  <a:rPr lang="en-US" sz="2400" i="1" dirty="0"/>
                  <a:t>state variables </a:t>
                </a:r>
                <a:r>
                  <a:rPr lang="en-US" sz="2400" dirty="0"/>
                  <a:t>and </a:t>
                </a:r>
                <a:r>
                  <a:rPr lang="en-US" sz="2400" i="1" dirty="0"/>
                  <a:t>transitions</a:t>
                </a:r>
                <a:r>
                  <a:rPr lang="en-US" sz="2400" dirty="0"/>
                  <a:t> </a:t>
                </a:r>
              </a:p>
              <a:p>
                <a:endParaRPr lang="en-US" sz="2400" b="1" dirty="0"/>
              </a:p>
              <a:p>
                <a:r>
                  <a:rPr lang="en-US" sz="2400" b="1" dirty="0"/>
                  <a:t>automaton</a:t>
                </a:r>
                <a:r>
                  <a:rPr lang="en-US" sz="2400" dirty="0"/>
                  <a:t> </a:t>
                </a:r>
                <a:r>
                  <a:rPr lang="en-US" sz="2400" dirty="0" err="1">
                    <a:solidFill>
                      <a:srgbClr val="0119FF"/>
                    </a:solidFill>
                  </a:rPr>
                  <a:t>DijkstraTR</a:t>
                </a:r>
                <a:r>
                  <a:rPr lang="en-US" sz="2400" dirty="0"/>
                  <a:t>(</a:t>
                </a:r>
                <a:r>
                  <a:rPr lang="en-US" sz="2400" dirty="0" err="1"/>
                  <a:t>N:</a:t>
                </a:r>
                <a:r>
                  <a:rPr lang="en-US" sz="2400" dirty="0" err="1">
                    <a:solidFill>
                      <a:srgbClr val="00B050"/>
                    </a:solidFill>
                  </a:rPr>
                  <a:t>Nat</a:t>
                </a:r>
                <a:r>
                  <a:rPr lang="en-US" sz="2400" dirty="0"/>
                  <a:t>, </a:t>
                </a:r>
                <a:r>
                  <a:rPr lang="en-US" sz="2400" dirty="0" err="1"/>
                  <a:t>K:</a:t>
                </a:r>
                <a:r>
                  <a:rPr lang="en-US" sz="2400" dirty="0" err="1">
                    <a:solidFill>
                      <a:srgbClr val="00B050"/>
                    </a:solidFill>
                  </a:rPr>
                  <a:t>Nat</a:t>
                </a:r>
                <a:r>
                  <a:rPr lang="en-US" sz="2400" dirty="0"/>
                  <a:t>), </a:t>
                </a:r>
                <a:r>
                  <a:rPr lang="en-US" sz="2400" b="1" dirty="0"/>
                  <a:t>where</a:t>
                </a:r>
                <a:r>
                  <a:rPr lang="en-US" sz="2400" dirty="0"/>
                  <a:t> K &gt; N</a:t>
                </a:r>
                <a:endParaRPr lang="en-US" sz="2400" b="1" dirty="0"/>
              </a:p>
              <a:p>
                <a:r>
                  <a:rPr lang="en-US" sz="2400" b="1" dirty="0"/>
                  <a:t>   variables</a:t>
                </a:r>
              </a:p>
              <a:p>
                <a:r>
                  <a:rPr lang="en-US" sz="2400" dirty="0"/>
                  <a:t>      </a:t>
                </a:r>
                <a:r>
                  <a:rPr lang="en-US" sz="2400" dirty="0">
                    <a:solidFill>
                      <a:srgbClr val="0119FF"/>
                    </a:solidFill>
                  </a:rPr>
                  <a:t>x</a:t>
                </a:r>
                <a:r>
                  <a:rPr lang="en-US" sz="2400" dirty="0"/>
                  <a:t>:[[N] -&gt; K]</a:t>
                </a:r>
              </a:p>
              <a:p>
                <a:endParaRPr lang="en-US" sz="2400" dirty="0"/>
              </a:p>
              <a:p>
                <a:r>
                  <a:rPr lang="en-US" sz="2400" dirty="0"/>
                  <a:t>   </a:t>
                </a:r>
                <a:r>
                  <a:rPr lang="en-US" sz="2400" b="1" dirty="0"/>
                  <a:t>transitions</a:t>
                </a:r>
              </a:p>
              <a:p>
                <a:r>
                  <a:rPr lang="en-US" sz="2400" b="1" dirty="0"/>
                  <a:t>       </a:t>
                </a:r>
                <a:r>
                  <a:rPr lang="en-US" sz="2400" dirty="0">
                    <a:solidFill>
                      <a:srgbClr val="0119FF"/>
                    </a:solidFill>
                  </a:rPr>
                  <a:t>Update</a:t>
                </a:r>
              </a:p>
              <a:p>
                <a:r>
                  <a:rPr lang="en-US" sz="2400" b="1" dirty="0"/>
                  <a:t>        for each </a:t>
                </a:r>
                <a:r>
                  <a:rPr lang="en-US" sz="2400" dirty="0" err="1"/>
                  <a:t>i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∈ </m:t>
                    </m:r>
                  </m:oMath>
                </a14:m>
                <a:r>
                  <a:rPr lang="en-US" sz="2400" dirty="0"/>
                  <a:t>[N]</a:t>
                </a:r>
                <a:endParaRPr lang="en-US" sz="2400" b="1" dirty="0"/>
              </a:p>
              <a:p>
                <a:r>
                  <a:rPr lang="en-US" sz="2400" b="1" dirty="0"/>
                  <a:t>            if </a:t>
                </a:r>
                <a:r>
                  <a:rPr lang="en-US" sz="2400" dirty="0" err="1"/>
                  <a:t>has_token</a:t>
                </a:r>
                <a:r>
                  <a:rPr lang="en-US" sz="2400" dirty="0"/>
                  <a:t>(</a:t>
                </a:r>
                <a:r>
                  <a:rPr lang="en-US" sz="2400" dirty="0" err="1"/>
                  <a:t>i</a:t>
                </a:r>
                <a:r>
                  <a:rPr lang="en-US" sz="2400" dirty="0"/>
                  <a:t>) and </a:t>
                </a:r>
                <a:r>
                  <a:rPr lang="en-US" sz="2400" dirty="0" err="1"/>
                  <a:t>i</a:t>
                </a:r>
                <a:r>
                  <a:rPr lang="en-US" sz="2400" dirty="0"/>
                  <a:t> == 0        </a:t>
                </a:r>
              </a:p>
              <a:p>
                <a:r>
                  <a:rPr lang="en-US" sz="2400" dirty="0"/>
                  <a:t>                   x[</a:t>
                </a:r>
                <a:r>
                  <a:rPr lang="en-US" sz="2400" dirty="0" err="1"/>
                  <a:t>i</a:t>
                </a:r>
                <a:r>
                  <a:rPr lang="en-US" sz="2400" dirty="0"/>
                  <a:t>] = (x[</a:t>
                </a:r>
                <a:r>
                  <a:rPr lang="en-US" sz="2400" dirty="0" err="1"/>
                  <a:t>i</a:t>
                </a:r>
                <a:r>
                  <a:rPr lang="en-US" sz="2400" dirty="0"/>
                  <a:t>] + 1) %  K</a:t>
                </a:r>
              </a:p>
              <a:p>
                <a:r>
                  <a:rPr lang="en-US" sz="2400" dirty="0"/>
                  <a:t>            </a:t>
                </a:r>
                <a:r>
                  <a:rPr lang="en-US" sz="2400" b="1" dirty="0"/>
                  <a:t>if </a:t>
                </a:r>
                <a:r>
                  <a:rPr lang="en-US" sz="2400" dirty="0" err="1"/>
                  <a:t>has_token</a:t>
                </a:r>
                <a:r>
                  <a:rPr lang="en-US" sz="2400" dirty="0"/>
                  <a:t>(</a:t>
                </a:r>
                <a:r>
                  <a:rPr lang="en-US" sz="2400" dirty="0" err="1"/>
                  <a:t>i</a:t>
                </a:r>
                <a:r>
                  <a:rPr lang="en-US" sz="2400" dirty="0"/>
                  <a:t>) and </a:t>
                </a:r>
                <a:r>
                  <a:rPr lang="en-US" sz="2400" dirty="0" err="1"/>
                  <a:t>i</a:t>
                </a:r>
                <a:r>
                  <a:rPr lang="en-US" sz="2400" dirty="0"/>
                  <a:t>&gt; 0        </a:t>
                </a:r>
              </a:p>
              <a:p>
                <a:r>
                  <a:rPr lang="en-US" sz="2400" dirty="0"/>
                  <a:t>                   x[</a:t>
                </a:r>
                <a:r>
                  <a:rPr lang="en-US" sz="2400" dirty="0" err="1"/>
                  <a:t>i</a:t>
                </a:r>
                <a:r>
                  <a:rPr lang="en-US" sz="2400" dirty="0"/>
                  <a:t>] = x[i-1]</a:t>
                </a: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417CDEB-59C2-494C-B916-ABA6EEECE1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137634"/>
                <a:ext cx="10984992" cy="5262979"/>
              </a:xfrm>
              <a:prstGeom prst="rect">
                <a:avLst/>
              </a:prstGeom>
              <a:blipFill>
                <a:blip r:embed="rId2"/>
                <a:stretch>
                  <a:fillRect l="-924" t="-962" b="-14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458011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694944" y="0"/>
            <a:ext cx="10984992" cy="1325563"/>
          </a:xfrm>
        </p:spPr>
        <p:txBody>
          <a:bodyPr>
            <a:normAutofit/>
          </a:bodyPr>
          <a:lstStyle/>
          <a:p>
            <a:r>
              <a:rPr lang="en-US" dirty="0"/>
              <a:t>Asynchronous Nondeterministic State Machine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417CDEB-59C2-494C-B916-ABA6EEECE1D0}"/>
              </a:ext>
            </a:extLst>
          </p:cNvPr>
          <p:cNvSpPr txBox="1"/>
          <p:nvPr/>
        </p:nvSpPr>
        <p:spPr>
          <a:xfrm>
            <a:off x="838200" y="1137634"/>
            <a:ext cx="6352701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automaton</a:t>
            </a:r>
            <a:r>
              <a:rPr lang="en-US" sz="2400" dirty="0"/>
              <a:t> </a:t>
            </a:r>
            <a:r>
              <a:rPr lang="en-US" sz="2400" dirty="0" err="1">
                <a:solidFill>
                  <a:srgbClr val="0119FF"/>
                </a:solidFill>
              </a:rPr>
              <a:t>DijkstraTR</a:t>
            </a:r>
            <a:r>
              <a:rPr lang="en-US" sz="2400" dirty="0"/>
              <a:t>(</a:t>
            </a:r>
            <a:r>
              <a:rPr lang="en-US" sz="2400" dirty="0" err="1"/>
              <a:t>N:</a:t>
            </a:r>
            <a:r>
              <a:rPr lang="en-US" sz="2400" dirty="0" err="1">
                <a:solidFill>
                  <a:srgbClr val="00B050"/>
                </a:solidFill>
              </a:rPr>
              <a:t>Nat</a:t>
            </a:r>
            <a:r>
              <a:rPr lang="en-US" sz="2400" dirty="0"/>
              <a:t>, </a:t>
            </a:r>
            <a:r>
              <a:rPr lang="en-US" sz="2400" dirty="0" err="1"/>
              <a:t>K:</a:t>
            </a:r>
            <a:r>
              <a:rPr lang="en-US" sz="2400" dirty="0" err="1">
                <a:solidFill>
                  <a:srgbClr val="00B050"/>
                </a:solidFill>
              </a:rPr>
              <a:t>Nat</a:t>
            </a:r>
            <a:r>
              <a:rPr lang="en-US" sz="2400" dirty="0"/>
              <a:t>), </a:t>
            </a:r>
            <a:r>
              <a:rPr lang="en-US" sz="2400" b="1" dirty="0"/>
              <a:t>where</a:t>
            </a:r>
            <a:r>
              <a:rPr lang="en-US" sz="2400" dirty="0"/>
              <a:t> K &gt; N</a:t>
            </a:r>
            <a:endParaRPr lang="en-US" sz="2400" b="1" dirty="0"/>
          </a:p>
          <a:p>
            <a:r>
              <a:rPr lang="en-US" sz="2400" b="1" dirty="0"/>
              <a:t>   variables</a:t>
            </a:r>
          </a:p>
          <a:p>
            <a:r>
              <a:rPr lang="en-US" sz="2400" dirty="0"/>
              <a:t>      </a:t>
            </a:r>
            <a:r>
              <a:rPr lang="en-US" sz="2400" dirty="0">
                <a:solidFill>
                  <a:srgbClr val="0119FF"/>
                </a:solidFill>
              </a:rPr>
              <a:t>x</a:t>
            </a:r>
            <a:r>
              <a:rPr lang="en-US" sz="2400" dirty="0"/>
              <a:t>:[[N] -&gt; K]</a:t>
            </a:r>
          </a:p>
          <a:p>
            <a:endParaRPr lang="en-US" sz="2400" dirty="0"/>
          </a:p>
          <a:p>
            <a:r>
              <a:rPr lang="en-US" sz="2400" dirty="0"/>
              <a:t>   </a:t>
            </a:r>
            <a:r>
              <a:rPr lang="en-US" sz="2400" b="1" dirty="0"/>
              <a:t>transitions</a:t>
            </a:r>
          </a:p>
          <a:p>
            <a:r>
              <a:rPr lang="en-US" sz="2400" b="1" dirty="0"/>
              <a:t>       </a:t>
            </a:r>
            <a:r>
              <a:rPr lang="en-US" sz="2400" dirty="0">
                <a:solidFill>
                  <a:srgbClr val="0119FF"/>
                </a:solidFill>
              </a:rPr>
              <a:t>Update(p=0)</a:t>
            </a:r>
          </a:p>
          <a:p>
            <a:r>
              <a:rPr lang="en-US" sz="2400" b="1" dirty="0"/>
              <a:t>       Pre </a:t>
            </a:r>
            <a:r>
              <a:rPr lang="en-US" sz="2400" dirty="0" err="1"/>
              <a:t>has_token</a:t>
            </a:r>
            <a:r>
              <a:rPr lang="en-US" sz="2400" dirty="0"/>
              <a:t>(</a:t>
            </a:r>
            <a:r>
              <a:rPr lang="en-US" sz="2400" dirty="0" err="1"/>
              <a:t>i</a:t>
            </a:r>
            <a:r>
              <a:rPr lang="en-US" sz="2400" dirty="0"/>
              <a:t>) and </a:t>
            </a:r>
            <a:r>
              <a:rPr lang="en-US" sz="2400" dirty="0" err="1"/>
              <a:t>i</a:t>
            </a:r>
            <a:r>
              <a:rPr lang="en-US" sz="2400" dirty="0"/>
              <a:t>== p        </a:t>
            </a:r>
          </a:p>
          <a:p>
            <a:r>
              <a:rPr lang="en-US" sz="2400" dirty="0"/>
              <a:t>       </a:t>
            </a:r>
            <a:r>
              <a:rPr lang="en-US" sz="2400" b="1" dirty="0"/>
              <a:t>Eff</a:t>
            </a:r>
            <a:r>
              <a:rPr lang="en-US" sz="2400" dirty="0"/>
              <a:t> x[</a:t>
            </a:r>
            <a:r>
              <a:rPr lang="en-US" sz="2400" dirty="0" err="1"/>
              <a:t>i</a:t>
            </a:r>
            <a:r>
              <a:rPr lang="en-US" sz="2400" dirty="0"/>
              <a:t>] = (x[</a:t>
            </a:r>
            <a:r>
              <a:rPr lang="en-US" sz="2400" dirty="0" err="1"/>
              <a:t>i</a:t>
            </a:r>
            <a:r>
              <a:rPr lang="en-US" sz="2400" dirty="0"/>
              <a:t>] + 1) %  K</a:t>
            </a:r>
          </a:p>
          <a:p>
            <a:r>
              <a:rPr lang="en-US" sz="2400" dirty="0"/>
              <a:t>       </a:t>
            </a:r>
            <a:r>
              <a:rPr lang="en-US" sz="2400" dirty="0">
                <a:solidFill>
                  <a:srgbClr val="0119FF"/>
                </a:solidFill>
              </a:rPr>
              <a:t>Update(p&gt;0)</a:t>
            </a:r>
            <a:endParaRPr lang="en-US" sz="2400" dirty="0"/>
          </a:p>
          <a:p>
            <a:r>
              <a:rPr lang="en-US" sz="2400" dirty="0"/>
              <a:t>       </a:t>
            </a:r>
            <a:r>
              <a:rPr lang="en-US" sz="2400" b="1" dirty="0"/>
              <a:t>Pre </a:t>
            </a:r>
            <a:r>
              <a:rPr lang="en-US" sz="2400" dirty="0" err="1"/>
              <a:t>has_token</a:t>
            </a:r>
            <a:r>
              <a:rPr lang="en-US" sz="2400" dirty="0"/>
              <a:t>(</a:t>
            </a:r>
            <a:r>
              <a:rPr lang="en-US" sz="2400" dirty="0" err="1"/>
              <a:t>i</a:t>
            </a:r>
            <a:r>
              <a:rPr lang="en-US" sz="2400" dirty="0"/>
              <a:t>) and </a:t>
            </a:r>
            <a:r>
              <a:rPr lang="en-US" sz="2400" dirty="0" err="1"/>
              <a:t>i</a:t>
            </a:r>
            <a:r>
              <a:rPr lang="en-US" sz="2400" dirty="0"/>
              <a:t> == p        </a:t>
            </a:r>
          </a:p>
          <a:p>
            <a:r>
              <a:rPr lang="en-US" sz="2400" dirty="0"/>
              <a:t>       </a:t>
            </a:r>
            <a:r>
              <a:rPr lang="en-US" sz="2400" b="1" dirty="0"/>
              <a:t>Eff </a:t>
            </a:r>
            <a:r>
              <a:rPr lang="en-US" sz="2400" dirty="0"/>
              <a:t>x[</a:t>
            </a:r>
            <a:r>
              <a:rPr lang="en-US" sz="2400" dirty="0" err="1"/>
              <a:t>i</a:t>
            </a:r>
            <a:r>
              <a:rPr lang="en-US" sz="2400" dirty="0"/>
              <a:t>] = x[i-1]</a:t>
            </a:r>
          </a:p>
        </p:txBody>
      </p:sp>
    </p:spTree>
    <p:extLst>
      <p:ext uri="{BB962C8B-B14F-4D97-AF65-F5344CB8AC3E}">
        <p14:creationId xmlns:p14="http://schemas.microsoft.com/office/powerpoint/2010/main" val="40955858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The language defines an automaton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863042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0" dirty="0">
                    <a:latin typeface="+mj-lt"/>
                    <a:ea typeface="Cambria Math" panose="02040503050406030204" pitchFamily="18" charset="0"/>
                  </a:rPr>
                  <a:t>An </a:t>
                </a:r>
                <a:r>
                  <a:rPr lang="en-US" b="1" dirty="0">
                    <a:latin typeface="+mj-lt"/>
                    <a:ea typeface="Cambria Math" panose="02040503050406030204" pitchFamily="18" charset="0"/>
                  </a:rPr>
                  <a:t>automaton</a:t>
                </a:r>
                <a:r>
                  <a:rPr lang="en-US" b="0" dirty="0">
                    <a:latin typeface="+mj-lt"/>
                    <a:ea typeface="Cambria Math" panose="02040503050406030204" pitchFamily="18" charset="0"/>
                  </a:rPr>
                  <a:t> is a tuple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=〈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𝒟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〉</m:t>
                    </m:r>
                  </m:oMath>
                </a14:m>
                <a:r>
                  <a:rPr lang="en-US" dirty="0">
                    <a:latin typeface="+mj-lt"/>
                  </a:rPr>
                  <a:t> where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>
                    <a:latin typeface="+mj-lt"/>
                  </a:rPr>
                  <a:t> is a set of names of variables; each variable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+mj-lt"/>
                  </a:rPr>
                  <a:t>is associated with a type,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𝑡𝑦𝑝𝑒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latin typeface="+mj-lt"/>
                </a:endParaRPr>
              </a:p>
              <a:p>
                <a:pPr lvl="1"/>
                <a:r>
                  <a:rPr lang="en-US" dirty="0">
                    <a:latin typeface="+mj-lt"/>
                  </a:rPr>
                  <a:t>A </a:t>
                </a:r>
                <a:r>
                  <a:rPr lang="en-US" b="1" dirty="0">
                    <a:latin typeface="+mj-lt"/>
                  </a:rPr>
                  <a:t>valuation</a:t>
                </a:r>
                <a:r>
                  <a:rPr lang="en-US" dirty="0">
                    <a:latin typeface="+mj-lt"/>
                  </a:rPr>
                  <a:t>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>
                    <a:latin typeface="+mj-lt"/>
                  </a:rPr>
                  <a:t> maps each variable name to its type</a:t>
                </a:r>
              </a:p>
              <a:p>
                <a:pPr lvl="1"/>
                <a:r>
                  <a:rPr lang="en-US" dirty="0">
                    <a:latin typeface="+mj-lt"/>
                  </a:rPr>
                  <a:t>Set of all valuations: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𝑣𝑎𝑙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</m:oMath>
                </a14:m>
                <a:r>
                  <a:rPr lang="en-US" dirty="0">
                    <a:latin typeface="+mj-lt"/>
                  </a:rPr>
                  <a:t> is the </a:t>
                </a:r>
                <a:r>
                  <a:rPr lang="en-US" b="1" dirty="0">
                    <a:latin typeface="+mj-lt"/>
                  </a:rPr>
                  <a:t>state space </a:t>
                </a:r>
                <a:r>
                  <a:rPr lang="en-US" dirty="0">
                    <a:latin typeface="+mj-lt"/>
                  </a:rPr>
                  <a:t>of the automaton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𝑣𝑎𝑙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+mj-lt"/>
                  </a:rPr>
                  <a:t> is the set of </a:t>
                </a:r>
                <a:r>
                  <a:rPr lang="en-US" b="1" dirty="0">
                    <a:latin typeface="+mj-lt"/>
                  </a:rPr>
                  <a:t>initial</a:t>
                </a:r>
                <a:r>
                  <a:rPr lang="en-US" dirty="0">
                    <a:latin typeface="+mj-lt"/>
                  </a:rPr>
                  <a:t> or </a:t>
                </a:r>
                <a:r>
                  <a:rPr lang="en-US" b="1" dirty="0">
                    <a:latin typeface="+mj-lt"/>
                  </a:rPr>
                  <a:t>start states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>
                    <a:latin typeface="+mj-lt"/>
                  </a:rPr>
                  <a:t> is a set of names of </a:t>
                </a:r>
                <a:r>
                  <a:rPr lang="en-US" b="1" dirty="0">
                    <a:latin typeface="+mj-lt"/>
                  </a:rPr>
                  <a:t>actions</a:t>
                </a:r>
                <a:r>
                  <a:rPr lang="en-US" dirty="0">
                    <a:latin typeface="+mj-lt"/>
                  </a:rPr>
                  <a:t> or </a:t>
                </a:r>
                <a:r>
                  <a:rPr lang="en-US" b="1" dirty="0">
                    <a:latin typeface="+mj-lt"/>
                  </a:rPr>
                  <a:t>labels</a:t>
                </a:r>
              </a:p>
              <a:p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𝒟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⊆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𝑣𝑎𝑙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𝑣𝑎𝑙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𝑉</m:t>
                        </m:r>
                      </m:e>
                    </m:d>
                  </m:oMath>
                </a14:m>
                <a:r>
                  <a:rPr lang="en-US" dirty="0">
                    <a:latin typeface="+mj-lt"/>
                  </a:rPr>
                  <a:t> is the set of </a:t>
                </a:r>
                <a:r>
                  <a:rPr lang="en-US" b="1" dirty="0">
                    <a:latin typeface="+mj-lt"/>
                  </a:rPr>
                  <a:t>transitions</a:t>
                </a:r>
              </a:p>
              <a:p>
                <a:pPr lvl="1"/>
                <a:r>
                  <a:rPr lang="en-US" dirty="0">
                    <a:latin typeface="+mj-lt"/>
                  </a:rPr>
                  <a:t>a transition is a triple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’)</m:t>
                    </m:r>
                  </m:oMath>
                </a14:m>
                <a:r>
                  <a:rPr lang="en-US" dirty="0">
                    <a:latin typeface="+mj-lt"/>
                  </a:rPr>
                  <a:t> </a:t>
                </a:r>
              </a:p>
              <a:p>
                <a:pPr lvl="1"/>
                <a:r>
                  <a:rPr lang="en-US" dirty="0">
                    <a:latin typeface="+mj-lt"/>
                  </a:rPr>
                  <a:t>We write it 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endParaRPr lang="en-US" dirty="0">
                  <a:latin typeface="+mj-lt"/>
                </a:endParaRPr>
              </a:p>
              <a:p>
                <a:pPr marL="914400" lvl="2" indent="0">
                  <a:buNone/>
                </a:pPr>
                <a:endParaRPr lang="en-US" dirty="0">
                  <a:latin typeface="+mj-lt"/>
                </a:endParaRP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863042"/>
              </a:xfrm>
              <a:blipFill>
                <a:blip r:embed="rId2"/>
                <a:stretch>
                  <a:fillRect l="-1206" t="-2083" r="-7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408605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40217"/>
            <a:ext cx="11734800" cy="1325563"/>
          </a:xfrm>
        </p:spPr>
        <p:txBody>
          <a:bodyPr>
            <a:normAutofit/>
          </a:bodyPr>
          <a:lstStyle/>
          <a:p>
            <a:pPr algn="ctr"/>
            <a:r>
              <a:rPr lang="en-US" sz="3200" dirty="0"/>
              <a:t>Variables, valuations, state space, </a:t>
            </a:r>
            <a:r>
              <a:rPr lang="en-US" sz="3200" dirty="0" err="1"/>
              <a:t>ececutions</a:t>
            </a:r>
            <a:endParaRPr lang="en-US" sz="3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79967" y="1690688"/>
                <a:ext cx="6113441" cy="48799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b="1" dirty="0">
                    <a:latin typeface="+mj-lt"/>
                  </a:rPr>
                  <a:t>variables</a:t>
                </a:r>
                <a:r>
                  <a:rPr lang="en-US" sz="2400" dirty="0">
                    <a:latin typeface="+mj-lt"/>
                  </a:rPr>
                  <a:t> s, v: Real; a: Bool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+mj-lt"/>
                  </a:rPr>
                  <a:t>X = {s, v, a}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+mj-lt"/>
                  </a:rPr>
                  <a:t>Example valuations of X</a:t>
                </a:r>
              </a:p>
              <a:p>
                <a14:m>
                  <m:oMath xmlns:m="http://schemas.openxmlformats.org/officeDocument/2006/math">
                    <m:d>
                      <m:dPr>
                        <m:begChr m:val="〈"/>
                        <m:endChr m:val="〉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↦0,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↦5.5,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↦0</m:t>
                        </m:r>
                      </m:e>
                    </m:d>
                  </m:oMath>
                </a14:m>
                <a:endParaRPr lang="en-US" sz="2400" b="0" dirty="0">
                  <a:latin typeface="+mj-lt"/>
                </a:endParaRPr>
              </a:p>
              <a:p>
                <a14:m>
                  <m:oMath xmlns:m="http://schemas.openxmlformats.org/officeDocument/2006/math">
                    <m:d>
                      <m:dPr>
                        <m:begChr m:val="〈"/>
                        <m:endChr m:val="〉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↦10, 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↦−2.5, 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↦1</m:t>
                        </m:r>
                      </m:e>
                    </m:d>
                  </m:oMath>
                </a14:m>
                <a:endParaRPr lang="en-US" sz="2400" b="0" dirty="0">
                  <a:latin typeface="+mj-lt"/>
                </a:endParaRPr>
              </a:p>
              <a:p>
                <a:pPr marL="0" indent="0">
                  <a:buNone/>
                </a:pPr>
                <a:endParaRPr lang="en-US" sz="2400" b="0" dirty="0">
                  <a:latin typeface="+mj-lt"/>
                </a:endParaRPr>
              </a:p>
              <a:p>
                <a:pPr marL="0" indent="0">
                  <a:buNone/>
                </a:pPr>
                <a:r>
                  <a:rPr lang="en-US" sz="2400" b="0" dirty="0">
                    <a:latin typeface="+mj-lt"/>
                  </a:rPr>
                  <a:t>set of all possible valuations or “state space” is written as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𝑣𝑎𝑙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</m:oMath>
                </a14:m>
                <a:endParaRPr lang="en-US" sz="2400" b="0" i="1" dirty="0">
                  <a:latin typeface="+mj-lt"/>
                </a:endParaRPr>
              </a:p>
              <a:p>
                <a:pPr marL="0" indent="0">
                  <a:buNone/>
                </a:pPr>
                <a:endParaRPr lang="en-US" sz="2400" b="0" i="1" dirty="0">
                  <a:latin typeface="+mj-lt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𝑣𝑎𝑙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 </m:t>
                    </m:r>
                  </m:oMath>
                </a14:m>
                <a:r>
                  <a:rPr lang="en-US" sz="2400" dirty="0">
                    <a:latin typeface="+mj-lt"/>
                  </a:rPr>
                  <a:t>{</a:t>
                </a:r>
                <a14:m>
                  <m:oMath xmlns:m="http://schemas.openxmlformats.org/officeDocument/2006/math">
                    <m:d>
                      <m:dPr>
                        <m:begChr m:val="〈"/>
                        <m:endChr m:val="〉"/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↦</m:t>
                        </m:r>
                        <m:sSub>
                          <m:sSubPr>
                            <m:ctrlP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↦</m:t>
                        </m:r>
                        <m:sSub>
                          <m:sSubPr>
                            <m:ctrlP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↦</m:t>
                        </m:r>
                        <m:sSub>
                          <m:sSubPr>
                            <m:ctrlP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e>
                    </m:d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| </m:t>
                    </m:r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∈{0,1}</m:t>
                    </m:r>
                  </m:oMath>
                </a14:m>
                <a:r>
                  <a:rPr lang="en-US" sz="2400" dirty="0">
                    <a:latin typeface="+mj-lt"/>
                  </a:rPr>
                  <a:t>}</a:t>
                </a:r>
              </a:p>
              <a:p>
                <a:pPr marL="0" indent="0">
                  <a:buNone/>
                </a:pPr>
                <a:endParaRPr lang="en-US" sz="2400" b="1" dirty="0">
                  <a:latin typeface="+mj-lt"/>
                </a:endParaRPr>
              </a:p>
              <a:p>
                <a:pPr lvl="1"/>
                <a:endParaRPr lang="en-US" sz="2000" dirty="0">
                  <a:latin typeface="+mj-lt"/>
                </a:endParaRPr>
              </a:p>
              <a:p>
                <a:endParaRPr lang="en-US" sz="2400" dirty="0">
                  <a:latin typeface="+mj-lt"/>
                </a:endParaRPr>
              </a:p>
              <a:p>
                <a:endParaRPr lang="en-US" sz="2400" dirty="0">
                  <a:latin typeface="+mj-lt"/>
                </a:endParaRPr>
              </a:p>
              <a:p>
                <a:endParaRPr lang="en-US" sz="2400" dirty="0">
                  <a:latin typeface="+mj-lt"/>
                </a:endParaRP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9967" y="1690688"/>
                <a:ext cx="6113441" cy="4879975"/>
              </a:xfrm>
              <a:blipFill>
                <a:blip r:embed="rId2"/>
                <a:stretch>
                  <a:fillRect l="-1656" t="-12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2E78D10F-D3D3-824B-85D3-4C81FE46D109}"/>
                  </a:ext>
                </a:extLst>
              </p:cNvPr>
              <p:cNvSpPr/>
              <p:nvPr/>
            </p:nvSpPr>
            <p:spPr>
              <a:xfrm>
                <a:off x="6481234" y="1383243"/>
                <a:ext cx="5710766" cy="557075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sz="2400" b="1" dirty="0">
                    <a:latin typeface="+mj-lt"/>
                  </a:rPr>
                  <a:t>type</a:t>
                </a:r>
                <a:r>
                  <a:rPr lang="en-US" sz="2400" dirty="0">
                    <a:latin typeface="+mj-lt"/>
                  </a:rPr>
                  <a:t> </a:t>
                </a:r>
                <a:r>
                  <a:rPr lang="en-US" sz="2400" dirty="0">
                    <a:solidFill>
                      <a:srgbClr val="0119FF"/>
                    </a:solidFill>
                    <a:latin typeface="+mj-lt"/>
                  </a:rPr>
                  <a:t>ID</a:t>
                </a:r>
                <a:r>
                  <a:rPr lang="en-US" sz="2400" dirty="0">
                    <a:latin typeface="+mj-lt"/>
                  </a:rPr>
                  <a:t>: [0,…,N-1]</a:t>
                </a:r>
              </a:p>
              <a:p>
                <a:r>
                  <a:rPr lang="en-US" sz="2400" b="1" dirty="0">
                    <a:latin typeface="+mj-lt"/>
                  </a:rPr>
                  <a:t>variables </a:t>
                </a:r>
                <a:r>
                  <a:rPr lang="en-US" sz="2400" dirty="0">
                    <a:solidFill>
                      <a:srgbClr val="0119FF"/>
                    </a:solidFill>
                    <a:latin typeface="+mj-lt"/>
                  </a:rPr>
                  <a:t>x</a:t>
                </a:r>
                <a:r>
                  <a:rPr lang="en-US" sz="2400" dirty="0">
                    <a:latin typeface="+mj-lt"/>
                  </a:rPr>
                  <a:t>: [ID&gt;</a:t>
                </a:r>
                <a:r>
                  <a:rPr lang="en-US" sz="2400" dirty="0" err="1">
                    <a:latin typeface="+mj-lt"/>
                  </a:rPr>
                  <a:t>Vals</a:t>
                </a:r>
                <a:r>
                  <a:rPr lang="en-US" sz="2400" dirty="0">
                    <a:latin typeface="+mj-lt"/>
                  </a:rPr>
                  <a:t>]</a:t>
                </a:r>
              </a:p>
              <a:p>
                <a:r>
                  <a:rPr lang="en-US" sz="2400" i="1" dirty="0">
                    <a:latin typeface="+mj-lt"/>
                  </a:rPr>
                  <a:t>Fix N = 5, K = 7</a:t>
                </a:r>
              </a:p>
              <a:p>
                <a:r>
                  <a:rPr lang="en-US" sz="2400" dirty="0">
                    <a:latin typeface="+mj-lt"/>
                  </a:rPr>
                  <a:t>x: [{0,…,4}</a:t>
                </a:r>
                <a:r>
                  <a:rPr lang="en-US" sz="2400" dirty="0">
                    <a:solidFill>
                      <a:srgbClr val="FF00FF"/>
                    </a:solidFill>
                    <a:latin typeface="+mj-lt"/>
                  </a:rPr>
                  <a:t> </a:t>
                </a:r>
                <a:r>
                  <a:rPr lang="en-US" sz="2400" dirty="0">
                    <a:latin typeface="+mj-lt"/>
                  </a:rPr>
                  <a:t>-&gt; {0,…,6}]</a:t>
                </a:r>
              </a:p>
              <a:p>
                <a:r>
                  <a:rPr lang="en-US" sz="2400" dirty="0">
                    <a:latin typeface="+mj-lt"/>
                  </a:rPr>
                  <a:t>Example valuations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endParaRPr lang="en-US" sz="2400" b="0" i="1" dirty="0">
                  <a:latin typeface="+mj-lt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〈"/>
                          <m:endChr m:val="〉"/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↦</m:t>
                          </m:r>
                          <m:d>
                            <m:dPr>
                              <m:begChr m:val="〈"/>
                              <m:endChr m:val="〉"/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0↦0, 1↦0, 2↦0, 3↦0, 4↦0 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sz="2000" b="0" i="1" dirty="0">
                  <a:latin typeface="+mj-lt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〈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↦</m:t>
                      </m:r>
                      <m:d>
                        <m:dPr>
                          <m:begChr m:val="〈"/>
                          <m:endChr m:val="〉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0↦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 1↦0, 2↦0, 3↦0, 4↦0, </m:t>
                          </m:r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〉</m:t>
                      </m:r>
                    </m:oMath>
                  </m:oMathPara>
                </a14:m>
                <a:endParaRPr lang="en-US" sz="2400" dirty="0">
                  <a:latin typeface="+mj-lt"/>
                </a:endParaRPr>
              </a:p>
              <a:p>
                <a:r>
                  <a:rPr lang="en-US" sz="2400" dirty="0">
                    <a:latin typeface="+mj-lt"/>
                  </a:rPr>
                  <a:t>Valuations are usually denoted by bold small characters</a:t>
                </a:r>
              </a:p>
              <a:p>
                <a:r>
                  <a:rPr lang="en-US" sz="2400" dirty="0">
                    <a:latin typeface="+mj-lt"/>
                  </a:rPr>
                  <a:t>E.g.,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𝒖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〈"/>
                          <m:endChr m:val="〉"/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↦</m:t>
                          </m:r>
                          <m:d>
                            <m:dPr>
                              <m:begChr m:val="〈"/>
                              <m:endChr m:val="〉"/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0↦0, 1↦0, 2↦0, 3↦0, 4↦0 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sz="2000" b="0" i="1" dirty="0">
                  <a:latin typeface="+mj-lt"/>
                </a:endParaRPr>
              </a:p>
              <a:p>
                <a:endParaRPr lang="en-US" sz="2400" dirty="0">
                  <a:latin typeface="+mj-lt"/>
                </a:endParaRPr>
              </a:p>
              <a:p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Notations </a:t>
                </a:r>
              </a:p>
              <a:p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000" b="0" i="1" dirty="0">
                    <a:solidFill>
                      <a:schemeClr val="tx1"/>
                    </a:solidFill>
                    <a:latin typeface="+mj-lt"/>
                  </a:rPr>
                  <a:t> </a:t>
                </a:r>
                <a:r>
                  <a:rPr lang="en-US" sz="2000" b="0" dirty="0">
                    <a:solidFill>
                      <a:schemeClr val="tx1"/>
                    </a:solidFill>
                    <a:latin typeface="+mj-lt"/>
                  </a:rPr>
                  <a:t>is the value of variable </a:t>
                </a:r>
                <a:r>
                  <a:rPr lang="en-US" sz="2000" b="0" i="1" dirty="0">
                    <a:solidFill>
                      <a:schemeClr val="tx1"/>
                    </a:solidFill>
                    <a:latin typeface="+mj-lt"/>
                  </a:rPr>
                  <a:t>x</a:t>
                </a:r>
                <a:r>
                  <a:rPr lang="en-US" sz="2000" b="0" dirty="0">
                    <a:solidFill>
                      <a:schemeClr val="tx1"/>
                    </a:solidFill>
                    <a:latin typeface="+mj-lt"/>
                  </a:rPr>
                  <a:t> in </a:t>
                </a:r>
                <a:r>
                  <a:rPr lang="en-US" sz="2000" b="1" i="1" dirty="0">
                    <a:solidFill>
                      <a:schemeClr val="tx1"/>
                    </a:solidFill>
                    <a:latin typeface="+mj-lt"/>
                  </a:rPr>
                  <a:t>u</a:t>
                </a:r>
              </a:p>
              <a:p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⌈ 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[4] =0 array notation [] works with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⌈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 as expected</a:t>
                </a:r>
              </a:p>
              <a:p>
                <a:endParaRPr lang="en-US" sz="2000" dirty="0">
                  <a:latin typeface="+mj-lt"/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2E78D10F-D3D3-824B-85D3-4C81FE46D10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1234" y="1383243"/>
                <a:ext cx="5710766" cy="5570756"/>
              </a:xfrm>
              <a:prstGeom prst="rect">
                <a:avLst/>
              </a:prstGeom>
              <a:blipFill>
                <a:blip r:embed="rId3"/>
                <a:stretch>
                  <a:fillRect l="-1552" t="-682" r="-6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97882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629A366-D322-A64E-9916-889C92B67AC1}"/>
              </a:ext>
            </a:extLst>
          </p:cNvPr>
          <p:cNvSpPr/>
          <p:nvPr/>
        </p:nvSpPr>
        <p:spPr>
          <a:xfrm>
            <a:off x="838200" y="2131346"/>
            <a:ext cx="4445000" cy="764254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A language for specifying automata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417CDEB-59C2-494C-B916-ABA6EEECE1D0}"/>
              </a:ext>
            </a:extLst>
          </p:cNvPr>
          <p:cNvSpPr txBox="1"/>
          <p:nvPr/>
        </p:nvSpPr>
        <p:spPr>
          <a:xfrm>
            <a:off x="926544" y="1022489"/>
            <a:ext cx="6352701" cy="56323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automaton</a:t>
            </a:r>
            <a:r>
              <a:rPr lang="en-US" sz="2400" dirty="0"/>
              <a:t> </a:t>
            </a:r>
            <a:r>
              <a:rPr lang="en-US" sz="2400" dirty="0" err="1">
                <a:solidFill>
                  <a:srgbClr val="0119FF"/>
                </a:solidFill>
              </a:rPr>
              <a:t>DijkstraTR</a:t>
            </a:r>
            <a:r>
              <a:rPr lang="en-US" sz="2400" dirty="0"/>
              <a:t>(</a:t>
            </a:r>
            <a:r>
              <a:rPr lang="en-US" sz="2400" dirty="0" err="1"/>
              <a:t>N:</a:t>
            </a:r>
            <a:r>
              <a:rPr lang="en-US" sz="2400" dirty="0" err="1">
                <a:solidFill>
                  <a:srgbClr val="00B050"/>
                </a:solidFill>
              </a:rPr>
              <a:t>Nat</a:t>
            </a:r>
            <a:r>
              <a:rPr lang="en-US" sz="2400" dirty="0"/>
              <a:t>, </a:t>
            </a:r>
            <a:r>
              <a:rPr lang="en-US" sz="2400" dirty="0" err="1"/>
              <a:t>K:</a:t>
            </a:r>
            <a:r>
              <a:rPr lang="en-US" sz="2400" dirty="0" err="1">
                <a:solidFill>
                  <a:srgbClr val="00B050"/>
                </a:solidFill>
              </a:rPr>
              <a:t>Nat</a:t>
            </a:r>
            <a:r>
              <a:rPr lang="en-US" sz="2400" dirty="0"/>
              <a:t>), </a:t>
            </a:r>
            <a:r>
              <a:rPr lang="en-US" sz="2400" b="1" dirty="0"/>
              <a:t>where</a:t>
            </a:r>
            <a:r>
              <a:rPr lang="en-US" sz="2400" dirty="0"/>
              <a:t> K &gt; N</a:t>
            </a:r>
          </a:p>
          <a:p>
            <a:r>
              <a:rPr lang="en-US" sz="2400" dirty="0"/>
              <a:t>  </a:t>
            </a:r>
            <a:r>
              <a:rPr lang="en-US" sz="2400" b="1" dirty="0"/>
              <a:t>type</a:t>
            </a:r>
            <a:r>
              <a:rPr lang="en-US" sz="2400" dirty="0"/>
              <a:t> </a:t>
            </a:r>
            <a:r>
              <a:rPr lang="en-US" sz="2400" dirty="0">
                <a:solidFill>
                  <a:srgbClr val="0119FF"/>
                </a:solidFill>
              </a:rPr>
              <a:t>ID</a:t>
            </a:r>
            <a:r>
              <a:rPr lang="en-US" sz="2400" dirty="0"/>
              <a:t>: </a:t>
            </a:r>
            <a:r>
              <a:rPr lang="en-US" sz="2400" b="1" dirty="0"/>
              <a:t>enumeration</a:t>
            </a:r>
            <a:r>
              <a:rPr lang="en-US" sz="2400" dirty="0"/>
              <a:t> [0,...,N-1]</a:t>
            </a:r>
          </a:p>
          <a:p>
            <a:r>
              <a:rPr lang="en-US" sz="2400" dirty="0"/>
              <a:t>  </a:t>
            </a:r>
            <a:r>
              <a:rPr lang="en-US" sz="2400" b="1" dirty="0"/>
              <a:t>type</a:t>
            </a:r>
            <a:r>
              <a:rPr lang="en-US" sz="2400" dirty="0"/>
              <a:t> </a:t>
            </a:r>
            <a:r>
              <a:rPr lang="en-US" sz="2400" dirty="0">
                <a:solidFill>
                  <a:srgbClr val="0119FF"/>
                </a:solidFill>
              </a:rPr>
              <a:t>Val</a:t>
            </a:r>
            <a:r>
              <a:rPr lang="en-US" sz="2400" dirty="0"/>
              <a:t>: </a:t>
            </a:r>
            <a:r>
              <a:rPr lang="en-US" sz="2400" b="1" dirty="0"/>
              <a:t>enumeration</a:t>
            </a:r>
            <a:r>
              <a:rPr lang="en-US" sz="2400" dirty="0"/>
              <a:t> [0,...,K]</a:t>
            </a:r>
          </a:p>
          <a:p>
            <a:r>
              <a:rPr lang="en-US" sz="2400" dirty="0"/>
              <a:t>  </a:t>
            </a:r>
            <a:r>
              <a:rPr lang="en-US" sz="2400" b="1" dirty="0"/>
              <a:t>actions</a:t>
            </a:r>
          </a:p>
          <a:p>
            <a:r>
              <a:rPr lang="en-US" sz="2400" dirty="0"/>
              <a:t>      </a:t>
            </a:r>
            <a:r>
              <a:rPr lang="en-US" sz="2400" dirty="0">
                <a:solidFill>
                  <a:srgbClr val="0119FF"/>
                </a:solidFill>
              </a:rPr>
              <a:t>update</a:t>
            </a:r>
            <a:r>
              <a:rPr lang="en-US" sz="2400" dirty="0"/>
              <a:t>(</a:t>
            </a:r>
            <a:r>
              <a:rPr lang="en-US" sz="2400" dirty="0" err="1"/>
              <a:t>i:ID</a:t>
            </a:r>
            <a:r>
              <a:rPr lang="en-US" sz="2400" dirty="0"/>
              <a:t>)</a:t>
            </a:r>
          </a:p>
          <a:p>
            <a:r>
              <a:rPr lang="en-US" sz="2400" dirty="0"/>
              <a:t>  </a:t>
            </a:r>
            <a:r>
              <a:rPr lang="en-US" sz="2400" b="1" dirty="0"/>
              <a:t>variables</a:t>
            </a:r>
          </a:p>
          <a:p>
            <a:r>
              <a:rPr lang="en-US" sz="2400" dirty="0"/>
              <a:t>      </a:t>
            </a:r>
            <a:r>
              <a:rPr lang="en-US" sz="2400" dirty="0">
                <a:solidFill>
                  <a:srgbClr val="0119FF"/>
                </a:solidFill>
              </a:rPr>
              <a:t>x</a:t>
            </a:r>
            <a:r>
              <a:rPr lang="en-US" sz="2400" dirty="0"/>
              <a:t>:[ID -&gt; Val]</a:t>
            </a:r>
          </a:p>
          <a:p>
            <a:r>
              <a:rPr lang="en-US" sz="2400" dirty="0"/>
              <a:t>   </a:t>
            </a:r>
            <a:r>
              <a:rPr lang="en-US" sz="2400" b="1" dirty="0"/>
              <a:t>transitions</a:t>
            </a:r>
          </a:p>
          <a:p>
            <a:r>
              <a:rPr lang="en-US" sz="2400" dirty="0"/>
              <a:t>      </a:t>
            </a:r>
            <a:r>
              <a:rPr lang="en-US" sz="2400" dirty="0">
                <a:solidFill>
                  <a:srgbClr val="0119FF"/>
                </a:solidFill>
              </a:rPr>
              <a:t>update</a:t>
            </a:r>
            <a:r>
              <a:rPr lang="en-US" sz="2400" dirty="0"/>
              <a:t>(</a:t>
            </a:r>
            <a:r>
              <a:rPr lang="en-US" sz="2400" dirty="0" err="1"/>
              <a:t>i:ID</a:t>
            </a:r>
            <a:r>
              <a:rPr lang="en-US" sz="2400" dirty="0"/>
              <a:t>) </a:t>
            </a:r>
          </a:p>
          <a:p>
            <a:r>
              <a:rPr lang="en-US" sz="2400" dirty="0"/>
              <a:t>        </a:t>
            </a:r>
            <a:r>
              <a:rPr lang="en-US" sz="2400" b="1" dirty="0"/>
              <a:t>pre</a:t>
            </a:r>
            <a:r>
              <a:rPr lang="en-US" sz="2400" dirty="0"/>
              <a:t> </a:t>
            </a:r>
            <a:r>
              <a:rPr lang="en-US" sz="2400" dirty="0" err="1"/>
              <a:t>i</a:t>
            </a:r>
            <a:r>
              <a:rPr lang="en-US" sz="2400" dirty="0"/>
              <a:t> = 0 /\ x[</a:t>
            </a:r>
            <a:r>
              <a:rPr lang="en-US" sz="2400" dirty="0" err="1"/>
              <a:t>i</a:t>
            </a:r>
            <a:r>
              <a:rPr lang="en-US" sz="2400" dirty="0"/>
              <a:t>] = x[N-1]</a:t>
            </a:r>
          </a:p>
          <a:p>
            <a:r>
              <a:rPr lang="en-US" sz="2400" dirty="0"/>
              <a:t>        </a:t>
            </a:r>
            <a:r>
              <a:rPr lang="en-US" sz="2400" b="1" dirty="0"/>
              <a:t>eff</a:t>
            </a:r>
            <a:r>
              <a:rPr lang="en-US" sz="2400" dirty="0"/>
              <a:t> x[</a:t>
            </a:r>
            <a:r>
              <a:rPr lang="en-US" sz="2400" dirty="0" err="1"/>
              <a:t>i</a:t>
            </a:r>
            <a:r>
              <a:rPr lang="en-US" sz="2400" dirty="0"/>
              <a:t>] := (x[</a:t>
            </a:r>
            <a:r>
              <a:rPr lang="en-US" sz="2400" dirty="0" err="1"/>
              <a:t>i</a:t>
            </a:r>
            <a:r>
              <a:rPr lang="en-US" sz="2400" dirty="0"/>
              <a:t>] + 1) %  K</a:t>
            </a:r>
          </a:p>
          <a:p>
            <a:r>
              <a:rPr lang="en-US" sz="2400" dirty="0"/>
              <a:t>   </a:t>
            </a:r>
          </a:p>
          <a:p>
            <a:r>
              <a:rPr lang="en-US" sz="2400" dirty="0"/>
              <a:t>       </a:t>
            </a:r>
            <a:r>
              <a:rPr lang="en-US" sz="2400" dirty="0">
                <a:solidFill>
                  <a:srgbClr val="0119FF"/>
                </a:solidFill>
              </a:rPr>
              <a:t>update</a:t>
            </a:r>
            <a:r>
              <a:rPr lang="en-US" sz="2400" dirty="0"/>
              <a:t>(</a:t>
            </a:r>
            <a:r>
              <a:rPr lang="en-US" sz="2400" dirty="0" err="1"/>
              <a:t>i:ID</a:t>
            </a:r>
            <a:r>
              <a:rPr lang="en-US" sz="2400" dirty="0"/>
              <a:t>)</a:t>
            </a:r>
          </a:p>
          <a:p>
            <a:r>
              <a:rPr lang="en-US" sz="2400" dirty="0"/>
              <a:t>         </a:t>
            </a:r>
            <a:r>
              <a:rPr lang="en-US" sz="2400" b="1" dirty="0"/>
              <a:t>pre</a:t>
            </a:r>
            <a:r>
              <a:rPr lang="en-US" sz="2400" dirty="0"/>
              <a:t> </a:t>
            </a:r>
            <a:r>
              <a:rPr lang="en-US" sz="2400" dirty="0" err="1"/>
              <a:t>i</a:t>
            </a:r>
            <a:r>
              <a:rPr lang="en-US" sz="2400" dirty="0"/>
              <a:t> &gt;0  /\ x[</a:t>
            </a:r>
            <a:r>
              <a:rPr lang="en-US" sz="2400" dirty="0" err="1"/>
              <a:t>i</a:t>
            </a:r>
            <a:r>
              <a:rPr lang="en-US" sz="2400" dirty="0"/>
              <a:t>] ~= x[i-1]</a:t>
            </a:r>
          </a:p>
          <a:p>
            <a:r>
              <a:rPr lang="en-US" sz="2400" dirty="0"/>
              <a:t>         </a:t>
            </a:r>
            <a:r>
              <a:rPr lang="en-US" sz="2400" b="1" dirty="0"/>
              <a:t>eff</a:t>
            </a:r>
            <a:r>
              <a:rPr lang="en-US" sz="2400" dirty="0"/>
              <a:t> x[</a:t>
            </a:r>
            <a:r>
              <a:rPr lang="en-US" sz="2400" dirty="0" err="1"/>
              <a:t>i</a:t>
            </a:r>
            <a:r>
              <a:rPr lang="en-US" sz="2400" dirty="0"/>
              <a:t>] := x[i-1]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C2086B-C1E3-3047-9A02-47CD138A1299}"/>
              </a:ext>
            </a:extLst>
          </p:cNvPr>
          <p:cNvSpPr txBox="1"/>
          <p:nvPr/>
        </p:nvSpPr>
        <p:spPr>
          <a:xfrm>
            <a:off x="8089106" y="1977682"/>
            <a:ext cx="364569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4">
                    <a:lumMod val="75000"/>
                  </a:schemeClr>
                </a:solidFill>
              </a:rPr>
              <a:t>declaration of “actions” or transition labels; actions can have parameter; this declares the actions update(0), update(1), …, update(N-1)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E56EDA-4014-D04A-9928-4956AA1A4C3A}"/>
              </a:ext>
            </a:extLst>
          </p:cNvPr>
          <p:cNvSpPr txBox="1"/>
          <p:nvPr/>
        </p:nvSpPr>
        <p:spPr>
          <a:xfrm>
            <a:off x="5544742" y="6155266"/>
            <a:ext cx="66472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4">
                    <a:lumMod val="75000"/>
                  </a:schemeClr>
                </a:solidFill>
              </a:rPr>
              <a:t>symbols -&gt; maps, /\ and, \/ or, ~= not equal, % mod</a:t>
            </a:r>
          </a:p>
        </p:txBody>
      </p:sp>
    </p:spTree>
    <p:extLst>
      <p:ext uri="{BB962C8B-B14F-4D97-AF65-F5344CB8AC3E}">
        <p14:creationId xmlns:p14="http://schemas.microsoft.com/office/powerpoint/2010/main" val="19338906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629A366-D322-A64E-9916-889C92B67AC1}"/>
              </a:ext>
            </a:extLst>
          </p:cNvPr>
          <p:cNvSpPr/>
          <p:nvPr/>
        </p:nvSpPr>
        <p:spPr>
          <a:xfrm>
            <a:off x="838200" y="2927212"/>
            <a:ext cx="4445000" cy="764254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A language for specifying automata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417CDEB-59C2-494C-B916-ABA6EEECE1D0}"/>
              </a:ext>
            </a:extLst>
          </p:cNvPr>
          <p:cNvSpPr txBox="1"/>
          <p:nvPr/>
        </p:nvSpPr>
        <p:spPr>
          <a:xfrm>
            <a:off x="926544" y="1022489"/>
            <a:ext cx="6352701" cy="56323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automaton</a:t>
            </a:r>
            <a:r>
              <a:rPr lang="en-US" sz="2400" dirty="0"/>
              <a:t> </a:t>
            </a:r>
            <a:r>
              <a:rPr lang="en-US" sz="2400" dirty="0" err="1">
                <a:solidFill>
                  <a:srgbClr val="0119FF"/>
                </a:solidFill>
              </a:rPr>
              <a:t>DijkstraTR</a:t>
            </a:r>
            <a:r>
              <a:rPr lang="en-US" sz="2400" dirty="0"/>
              <a:t>(</a:t>
            </a:r>
            <a:r>
              <a:rPr lang="en-US" sz="2400" dirty="0" err="1"/>
              <a:t>N:</a:t>
            </a:r>
            <a:r>
              <a:rPr lang="en-US" sz="2400" dirty="0" err="1">
                <a:solidFill>
                  <a:srgbClr val="00B050"/>
                </a:solidFill>
              </a:rPr>
              <a:t>Nat</a:t>
            </a:r>
            <a:r>
              <a:rPr lang="en-US" sz="2400" dirty="0"/>
              <a:t>, </a:t>
            </a:r>
            <a:r>
              <a:rPr lang="en-US" sz="2400" dirty="0" err="1"/>
              <a:t>K:</a:t>
            </a:r>
            <a:r>
              <a:rPr lang="en-US" sz="2400" dirty="0" err="1">
                <a:solidFill>
                  <a:srgbClr val="00B050"/>
                </a:solidFill>
              </a:rPr>
              <a:t>Nat</a:t>
            </a:r>
            <a:r>
              <a:rPr lang="en-US" sz="2400" dirty="0"/>
              <a:t>), </a:t>
            </a:r>
            <a:r>
              <a:rPr lang="en-US" sz="2400" b="1" dirty="0"/>
              <a:t>where</a:t>
            </a:r>
            <a:r>
              <a:rPr lang="en-US" sz="2400" dirty="0"/>
              <a:t> K &gt; N</a:t>
            </a:r>
          </a:p>
          <a:p>
            <a:r>
              <a:rPr lang="en-US" sz="2400" dirty="0"/>
              <a:t>  </a:t>
            </a:r>
            <a:r>
              <a:rPr lang="en-US" sz="2400" b="1" dirty="0"/>
              <a:t>type</a:t>
            </a:r>
            <a:r>
              <a:rPr lang="en-US" sz="2400" dirty="0"/>
              <a:t> </a:t>
            </a:r>
            <a:r>
              <a:rPr lang="en-US" sz="2400" dirty="0">
                <a:solidFill>
                  <a:srgbClr val="0119FF"/>
                </a:solidFill>
              </a:rPr>
              <a:t>ID</a:t>
            </a:r>
            <a:r>
              <a:rPr lang="en-US" sz="2400" dirty="0"/>
              <a:t>: </a:t>
            </a:r>
            <a:r>
              <a:rPr lang="en-US" sz="2400" b="1" dirty="0"/>
              <a:t>enumeration</a:t>
            </a:r>
            <a:r>
              <a:rPr lang="en-US" sz="2400" dirty="0"/>
              <a:t> [0,...,N-1]</a:t>
            </a:r>
          </a:p>
          <a:p>
            <a:r>
              <a:rPr lang="en-US" sz="2400" dirty="0"/>
              <a:t>  </a:t>
            </a:r>
            <a:r>
              <a:rPr lang="en-US" sz="2400" b="1" dirty="0"/>
              <a:t>type</a:t>
            </a:r>
            <a:r>
              <a:rPr lang="en-US" sz="2400" dirty="0"/>
              <a:t> </a:t>
            </a:r>
            <a:r>
              <a:rPr lang="en-US" sz="2400" dirty="0">
                <a:solidFill>
                  <a:srgbClr val="0119FF"/>
                </a:solidFill>
              </a:rPr>
              <a:t>Val</a:t>
            </a:r>
            <a:r>
              <a:rPr lang="en-US" sz="2400" dirty="0"/>
              <a:t>: </a:t>
            </a:r>
            <a:r>
              <a:rPr lang="en-US" sz="2400" b="1" dirty="0"/>
              <a:t>enumeration</a:t>
            </a:r>
            <a:r>
              <a:rPr lang="en-US" sz="2400" dirty="0"/>
              <a:t> [0,...,K]</a:t>
            </a:r>
          </a:p>
          <a:p>
            <a:r>
              <a:rPr lang="en-US" sz="2400" dirty="0"/>
              <a:t>  </a:t>
            </a:r>
            <a:r>
              <a:rPr lang="en-US" sz="2400" b="1" dirty="0"/>
              <a:t>actions</a:t>
            </a:r>
          </a:p>
          <a:p>
            <a:r>
              <a:rPr lang="en-US" sz="2400" dirty="0"/>
              <a:t>      </a:t>
            </a:r>
            <a:r>
              <a:rPr lang="en-US" sz="2400" dirty="0">
                <a:solidFill>
                  <a:srgbClr val="0119FF"/>
                </a:solidFill>
              </a:rPr>
              <a:t>update</a:t>
            </a:r>
            <a:r>
              <a:rPr lang="en-US" sz="2400" dirty="0"/>
              <a:t>(</a:t>
            </a:r>
            <a:r>
              <a:rPr lang="en-US" sz="2400" dirty="0" err="1"/>
              <a:t>i:ID</a:t>
            </a:r>
            <a:r>
              <a:rPr lang="en-US" sz="2400" dirty="0"/>
              <a:t>)</a:t>
            </a:r>
          </a:p>
          <a:p>
            <a:r>
              <a:rPr lang="en-US" sz="2400" dirty="0"/>
              <a:t>  </a:t>
            </a:r>
            <a:r>
              <a:rPr lang="en-US" sz="2400" b="1" dirty="0"/>
              <a:t>variables</a:t>
            </a:r>
          </a:p>
          <a:p>
            <a:r>
              <a:rPr lang="en-US" sz="2400" dirty="0"/>
              <a:t>      </a:t>
            </a:r>
            <a:r>
              <a:rPr lang="en-US" sz="2400" dirty="0">
                <a:solidFill>
                  <a:srgbClr val="0119FF"/>
                </a:solidFill>
              </a:rPr>
              <a:t>x</a:t>
            </a:r>
            <a:r>
              <a:rPr lang="en-US" sz="2400" dirty="0"/>
              <a:t>:[ID -&gt; Val]</a:t>
            </a:r>
          </a:p>
          <a:p>
            <a:r>
              <a:rPr lang="en-US" sz="2400" dirty="0"/>
              <a:t>   </a:t>
            </a:r>
            <a:r>
              <a:rPr lang="en-US" sz="2400" b="1" dirty="0"/>
              <a:t>transitions</a:t>
            </a:r>
          </a:p>
          <a:p>
            <a:r>
              <a:rPr lang="en-US" sz="2400" dirty="0"/>
              <a:t>      </a:t>
            </a:r>
            <a:r>
              <a:rPr lang="en-US" sz="2400" dirty="0">
                <a:solidFill>
                  <a:srgbClr val="0119FF"/>
                </a:solidFill>
              </a:rPr>
              <a:t>update</a:t>
            </a:r>
            <a:r>
              <a:rPr lang="en-US" sz="2400" dirty="0"/>
              <a:t>(</a:t>
            </a:r>
            <a:r>
              <a:rPr lang="en-US" sz="2400" dirty="0" err="1"/>
              <a:t>i:ID</a:t>
            </a:r>
            <a:r>
              <a:rPr lang="en-US" sz="2400" dirty="0"/>
              <a:t>)</a:t>
            </a:r>
          </a:p>
          <a:p>
            <a:r>
              <a:rPr lang="en-US" sz="2400" dirty="0"/>
              <a:t>        </a:t>
            </a:r>
            <a:r>
              <a:rPr lang="en-US" sz="2400" b="1" dirty="0"/>
              <a:t>pre</a:t>
            </a:r>
            <a:r>
              <a:rPr lang="en-US" sz="2400" dirty="0"/>
              <a:t> </a:t>
            </a:r>
            <a:r>
              <a:rPr lang="en-US" sz="2400" dirty="0" err="1"/>
              <a:t>i</a:t>
            </a:r>
            <a:r>
              <a:rPr lang="en-US" sz="2400" dirty="0"/>
              <a:t> = 0 /\ x[</a:t>
            </a:r>
            <a:r>
              <a:rPr lang="en-US" sz="2400" dirty="0" err="1"/>
              <a:t>i</a:t>
            </a:r>
            <a:r>
              <a:rPr lang="en-US" sz="2400" dirty="0"/>
              <a:t>] = x[N-1]</a:t>
            </a:r>
          </a:p>
          <a:p>
            <a:r>
              <a:rPr lang="en-US" sz="2400" dirty="0"/>
              <a:t>        </a:t>
            </a:r>
            <a:r>
              <a:rPr lang="en-US" sz="2400" b="1" dirty="0"/>
              <a:t>eff</a:t>
            </a:r>
            <a:r>
              <a:rPr lang="en-US" sz="2400" dirty="0"/>
              <a:t> x[</a:t>
            </a:r>
            <a:r>
              <a:rPr lang="en-US" sz="2400" dirty="0" err="1"/>
              <a:t>i</a:t>
            </a:r>
            <a:r>
              <a:rPr lang="en-US" sz="2400" dirty="0"/>
              <a:t>] := (x[</a:t>
            </a:r>
            <a:r>
              <a:rPr lang="en-US" sz="2400" dirty="0" err="1"/>
              <a:t>i</a:t>
            </a:r>
            <a:r>
              <a:rPr lang="en-US" sz="2400" dirty="0"/>
              <a:t>] + 1) %  K</a:t>
            </a:r>
          </a:p>
          <a:p>
            <a:r>
              <a:rPr lang="en-US" sz="2400" dirty="0"/>
              <a:t>   </a:t>
            </a:r>
          </a:p>
          <a:p>
            <a:r>
              <a:rPr lang="en-US" sz="2400" dirty="0"/>
              <a:t>       </a:t>
            </a:r>
            <a:r>
              <a:rPr lang="en-US" sz="2400" dirty="0">
                <a:solidFill>
                  <a:srgbClr val="0119FF"/>
                </a:solidFill>
              </a:rPr>
              <a:t>update</a:t>
            </a:r>
            <a:r>
              <a:rPr lang="en-US" sz="2400" dirty="0"/>
              <a:t>(</a:t>
            </a:r>
            <a:r>
              <a:rPr lang="en-US" sz="2400" dirty="0" err="1"/>
              <a:t>i:ID</a:t>
            </a:r>
            <a:r>
              <a:rPr lang="en-US" sz="2400" dirty="0"/>
              <a:t>)</a:t>
            </a:r>
          </a:p>
          <a:p>
            <a:r>
              <a:rPr lang="en-US" sz="2400" dirty="0"/>
              <a:t>         </a:t>
            </a:r>
            <a:r>
              <a:rPr lang="en-US" sz="2400" b="1" dirty="0"/>
              <a:t>pre</a:t>
            </a:r>
            <a:r>
              <a:rPr lang="en-US" sz="2400" dirty="0"/>
              <a:t> </a:t>
            </a:r>
            <a:r>
              <a:rPr lang="en-US" sz="2400" dirty="0" err="1"/>
              <a:t>i</a:t>
            </a:r>
            <a:r>
              <a:rPr lang="en-US" sz="2400" dirty="0"/>
              <a:t> &gt;0  /\ x[</a:t>
            </a:r>
            <a:r>
              <a:rPr lang="en-US" sz="2400" dirty="0" err="1"/>
              <a:t>i</a:t>
            </a:r>
            <a:r>
              <a:rPr lang="en-US" sz="2400" dirty="0"/>
              <a:t>] ~= x[i-1]</a:t>
            </a:r>
          </a:p>
          <a:p>
            <a:r>
              <a:rPr lang="en-US" sz="2400" dirty="0"/>
              <a:t>         </a:t>
            </a:r>
            <a:r>
              <a:rPr lang="en-US" sz="2400" b="1" dirty="0"/>
              <a:t>eff</a:t>
            </a:r>
            <a:r>
              <a:rPr lang="en-US" sz="2400" dirty="0"/>
              <a:t> x[</a:t>
            </a:r>
            <a:r>
              <a:rPr lang="en-US" sz="2400" dirty="0" err="1"/>
              <a:t>i</a:t>
            </a:r>
            <a:r>
              <a:rPr lang="en-US" sz="2400" dirty="0"/>
              <a:t>] := x[i-1]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C2086B-C1E3-3047-9A02-47CD138A1299}"/>
              </a:ext>
            </a:extLst>
          </p:cNvPr>
          <p:cNvSpPr txBox="1"/>
          <p:nvPr/>
        </p:nvSpPr>
        <p:spPr>
          <a:xfrm>
            <a:off x="8089106" y="1977682"/>
            <a:ext cx="364569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4">
                    <a:lumMod val="75000"/>
                  </a:schemeClr>
                </a:solidFill>
              </a:rPr>
              <a:t>declaration of state variables or variables; this declares an array x[0], x[1], …, x[N-1] of Val’s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FB572B-19F5-DC47-8D01-9D90083FF74A}"/>
              </a:ext>
            </a:extLst>
          </p:cNvPr>
          <p:cNvSpPr txBox="1"/>
          <p:nvPr/>
        </p:nvSpPr>
        <p:spPr>
          <a:xfrm>
            <a:off x="5544742" y="6155266"/>
            <a:ext cx="66472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4">
                    <a:lumMod val="75000"/>
                  </a:schemeClr>
                </a:solidFill>
              </a:rPr>
              <a:t>symbols -&gt; maps, /\ and, \/ or, ~= not equal, % mod</a:t>
            </a:r>
          </a:p>
        </p:txBody>
      </p:sp>
    </p:spTree>
    <p:extLst>
      <p:ext uri="{BB962C8B-B14F-4D97-AF65-F5344CB8AC3E}">
        <p14:creationId xmlns:p14="http://schemas.microsoft.com/office/powerpoint/2010/main" val="40592038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629A366-D322-A64E-9916-889C92B67AC1}"/>
              </a:ext>
            </a:extLst>
          </p:cNvPr>
          <p:cNvSpPr/>
          <p:nvPr/>
        </p:nvSpPr>
        <p:spPr>
          <a:xfrm>
            <a:off x="838200" y="3638410"/>
            <a:ext cx="4445000" cy="3016389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A language for specifying automata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417CDEB-59C2-494C-B916-ABA6EEECE1D0}"/>
              </a:ext>
            </a:extLst>
          </p:cNvPr>
          <p:cNvSpPr txBox="1"/>
          <p:nvPr/>
        </p:nvSpPr>
        <p:spPr>
          <a:xfrm>
            <a:off x="926544" y="1022489"/>
            <a:ext cx="6352701" cy="56323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automaton</a:t>
            </a:r>
            <a:r>
              <a:rPr lang="en-US" sz="2400" dirty="0"/>
              <a:t> </a:t>
            </a:r>
            <a:r>
              <a:rPr lang="en-US" sz="2400" dirty="0" err="1">
                <a:solidFill>
                  <a:srgbClr val="0119FF"/>
                </a:solidFill>
              </a:rPr>
              <a:t>DijkstraTR</a:t>
            </a:r>
            <a:r>
              <a:rPr lang="en-US" sz="2400" dirty="0"/>
              <a:t>(</a:t>
            </a:r>
            <a:r>
              <a:rPr lang="en-US" sz="2400" dirty="0" err="1"/>
              <a:t>N:</a:t>
            </a:r>
            <a:r>
              <a:rPr lang="en-US" sz="2400" dirty="0" err="1">
                <a:solidFill>
                  <a:srgbClr val="00B050"/>
                </a:solidFill>
              </a:rPr>
              <a:t>Nat</a:t>
            </a:r>
            <a:r>
              <a:rPr lang="en-US" sz="2400" dirty="0"/>
              <a:t>, </a:t>
            </a:r>
            <a:r>
              <a:rPr lang="en-US" sz="2400" dirty="0" err="1"/>
              <a:t>K:</a:t>
            </a:r>
            <a:r>
              <a:rPr lang="en-US" sz="2400" dirty="0" err="1">
                <a:solidFill>
                  <a:srgbClr val="00B050"/>
                </a:solidFill>
              </a:rPr>
              <a:t>Nat</a:t>
            </a:r>
            <a:r>
              <a:rPr lang="en-US" sz="2400" dirty="0"/>
              <a:t>), </a:t>
            </a:r>
            <a:r>
              <a:rPr lang="en-US" sz="2400" b="1" dirty="0"/>
              <a:t>where</a:t>
            </a:r>
            <a:r>
              <a:rPr lang="en-US" sz="2400" dirty="0"/>
              <a:t> K &gt; N</a:t>
            </a:r>
          </a:p>
          <a:p>
            <a:r>
              <a:rPr lang="en-US" sz="2400" dirty="0"/>
              <a:t>  </a:t>
            </a:r>
            <a:r>
              <a:rPr lang="en-US" sz="2400" b="1" dirty="0"/>
              <a:t>type</a:t>
            </a:r>
            <a:r>
              <a:rPr lang="en-US" sz="2400" dirty="0"/>
              <a:t> </a:t>
            </a:r>
            <a:r>
              <a:rPr lang="en-US" sz="2400" dirty="0">
                <a:solidFill>
                  <a:srgbClr val="0119FF"/>
                </a:solidFill>
              </a:rPr>
              <a:t>ID</a:t>
            </a:r>
            <a:r>
              <a:rPr lang="en-US" sz="2400" dirty="0"/>
              <a:t>: </a:t>
            </a:r>
            <a:r>
              <a:rPr lang="en-US" sz="2400" b="1" dirty="0"/>
              <a:t>enumeration</a:t>
            </a:r>
            <a:r>
              <a:rPr lang="en-US" sz="2400" dirty="0"/>
              <a:t> [0,...,N-1]</a:t>
            </a:r>
          </a:p>
          <a:p>
            <a:r>
              <a:rPr lang="en-US" sz="2400" dirty="0"/>
              <a:t>  </a:t>
            </a:r>
            <a:r>
              <a:rPr lang="en-US" sz="2400" b="1" dirty="0"/>
              <a:t>type</a:t>
            </a:r>
            <a:r>
              <a:rPr lang="en-US" sz="2400" dirty="0"/>
              <a:t> </a:t>
            </a:r>
            <a:r>
              <a:rPr lang="en-US" sz="2400" dirty="0">
                <a:solidFill>
                  <a:srgbClr val="0119FF"/>
                </a:solidFill>
              </a:rPr>
              <a:t>Val</a:t>
            </a:r>
            <a:r>
              <a:rPr lang="en-US" sz="2400" dirty="0"/>
              <a:t>: </a:t>
            </a:r>
            <a:r>
              <a:rPr lang="en-US" sz="2400" b="1" dirty="0"/>
              <a:t>enumeration</a:t>
            </a:r>
            <a:r>
              <a:rPr lang="en-US" sz="2400" dirty="0"/>
              <a:t> [0,...,K]</a:t>
            </a:r>
          </a:p>
          <a:p>
            <a:r>
              <a:rPr lang="en-US" sz="2400" dirty="0"/>
              <a:t>  </a:t>
            </a:r>
            <a:r>
              <a:rPr lang="en-US" sz="2400" b="1" dirty="0"/>
              <a:t>actions</a:t>
            </a:r>
          </a:p>
          <a:p>
            <a:r>
              <a:rPr lang="en-US" sz="2400" dirty="0"/>
              <a:t>      </a:t>
            </a:r>
            <a:r>
              <a:rPr lang="en-US" sz="2400" dirty="0">
                <a:solidFill>
                  <a:srgbClr val="0119FF"/>
                </a:solidFill>
              </a:rPr>
              <a:t>update</a:t>
            </a:r>
            <a:r>
              <a:rPr lang="en-US" sz="2400" dirty="0"/>
              <a:t>(</a:t>
            </a:r>
            <a:r>
              <a:rPr lang="en-US" sz="2400" dirty="0" err="1"/>
              <a:t>i:ID</a:t>
            </a:r>
            <a:r>
              <a:rPr lang="en-US" sz="2400" dirty="0"/>
              <a:t>)</a:t>
            </a:r>
          </a:p>
          <a:p>
            <a:r>
              <a:rPr lang="en-US" sz="2400" dirty="0"/>
              <a:t>  </a:t>
            </a:r>
            <a:r>
              <a:rPr lang="en-US" sz="2400" b="1" dirty="0"/>
              <a:t>variables</a:t>
            </a:r>
          </a:p>
          <a:p>
            <a:r>
              <a:rPr lang="en-US" sz="2400" dirty="0"/>
              <a:t>      </a:t>
            </a:r>
            <a:r>
              <a:rPr lang="en-US" sz="2400" dirty="0">
                <a:solidFill>
                  <a:srgbClr val="0119FF"/>
                </a:solidFill>
              </a:rPr>
              <a:t>x</a:t>
            </a:r>
            <a:r>
              <a:rPr lang="en-US" sz="2400" dirty="0"/>
              <a:t>:[ID -&gt; Val]</a:t>
            </a:r>
          </a:p>
          <a:p>
            <a:r>
              <a:rPr lang="en-US" sz="2400" dirty="0"/>
              <a:t>   </a:t>
            </a:r>
            <a:r>
              <a:rPr lang="en-US" sz="2400" b="1" dirty="0"/>
              <a:t>transitions</a:t>
            </a:r>
          </a:p>
          <a:p>
            <a:r>
              <a:rPr lang="en-US" sz="2400" dirty="0"/>
              <a:t>      </a:t>
            </a:r>
            <a:r>
              <a:rPr lang="en-US" sz="2400" dirty="0">
                <a:solidFill>
                  <a:srgbClr val="0119FF"/>
                </a:solidFill>
              </a:rPr>
              <a:t>update</a:t>
            </a:r>
            <a:r>
              <a:rPr lang="en-US" sz="2400" dirty="0"/>
              <a:t>(</a:t>
            </a:r>
            <a:r>
              <a:rPr lang="en-US" sz="2400" dirty="0" err="1"/>
              <a:t>i:ID</a:t>
            </a:r>
            <a:r>
              <a:rPr lang="en-US" sz="2400" dirty="0"/>
              <a:t>) </a:t>
            </a:r>
          </a:p>
          <a:p>
            <a:r>
              <a:rPr lang="en-US" sz="2400" b="1" dirty="0"/>
              <a:t>        pre</a:t>
            </a:r>
            <a:r>
              <a:rPr lang="en-US" sz="2400" dirty="0"/>
              <a:t> </a:t>
            </a:r>
            <a:r>
              <a:rPr lang="en-US" sz="2400" dirty="0" err="1"/>
              <a:t>i</a:t>
            </a:r>
            <a:r>
              <a:rPr lang="en-US" sz="2400" dirty="0"/>
              <a:t> = 0 /\ x[</a:t>
            </a:r>
            <a:r>
              <a:rPr lang="en-US" sz="2400" dirty="0" err="1"/>
              <a:t>i</a:t>
            </a:r>
            <a:r>
              <a:rPr lang="en-US" sz="2400" dirty="0"/>
              <a:t>] = x[N-1]</a:t>
            </a:r>
          </a:p>
          <a:p>
            <a:r>
              <a:rPr lang="en-US" sz="2400" dirty="0"/>
              <a:t>        </a:t>
            </a:r>
            <a:r>
              <a:rPr lang="en-US" sz="2400" b="1" dirty="0"/>
              <a:t>eff</a:t>
            </a:r>
            <a:r>
              <a:rPr lang="en-US" sz="2400" dirty="0"/>
              <a:t> x[</a:t>
            </a:r>
            <a:r>
              <a:rPr lang="en-US" sz="2400" dirty="0" err="1"/>
              <a:t>i</a:t>
            </a:r>
            <a:r>
              <a:rPr lang="en-US" sz="2400" dirty="0"/>
              <a:t>] := (x[</a:t>
            </a:r>
            <a:r>
              <a:rPr lang="en-US" sz="2400" dirty="0" err="1"/>
              <a:t>i</a:t>
            </a:r>
            <a:r>
              <a:rPr lang="en-US" sz="2400" dirty="0"/>
              <a:t>] + 1) %  K</a:t>
            </a:r>
          </a:p>
          <a:p>
            <a:r>
              <a:rPr lang="en-US" sz="2400" dirty="0"/>
              <a:t>   </a:t>
            </a:r>
          </a:p>
          <a:p>
            <a:r>
              <a:rPr lang="en-US" sz="2400" dirty="0"/>
              <a:t>       </a:t>
            </a:r>
            <a:r>
              <a:rPr lang="en-US" sz="2400" dirty="0">
                <a:solidFill>
                  <a:srgbClr val="0119FF"/>
                </a:solidFill>
              </a:rPr>
              <a:t>update</a:t>
            </a:r>
            <a:r>
              <a:rPr lang="en-US" sz="2400" dirty="0"/>
              <a:t>(</a:t>
            </a:r>
            <a:r>
              <a:rPr lang="en-US" sz="2400" dirty="0" err="1"/>
              <a:t>i:ID</a:t>
            </a:r>
            <a:r>
              <a:rPr lang="en-US" sz="2400" dirty="0"/>
              <a:t>)</a:t>
            </a:r>
          </a:p>
          <a:p>
            <a:r>
              <a:rPr lang="en-US" sz="2400" dirty="0"/>
              <a:t>         </a:t>
            </a:r>
            <a:r>
              <a:rPr lang="en-US" sz="2400" b="1" dirty="0"/>
              <a:t>pre</a:t>
            </a:r>
            <a:r>
              <a:rPr lang="en-US" sz="2400" dirty="0"/>
              <a:t> </a:t>
            </a:r>
            <a:r>
              <a:rPr lang="en-US" sz="2400" dirty="0" err="1"/>
              <a:t>i</a:t>
            </a:r>
            <a:r>
              <a:rPr lang="en-US" sz="2400" dirty="0"/>
              <a:t> &gt;0  /\ x[</a:t>
            </a:r>
            <a:r>
              <a:rPr lang="en-US" sz="2400" dirty="0" err="1"/>
              <a:t>i</a:t>
            </a:r>
            <a:r>
              <a:rPr lang="en-US" sz="2400" dirty="0"/>
              <a:t>] ~= x[i-1]</a:t>
            </a:r>
          </a:p>
          <a:p>
            <a:r>
              <a:rPr lang="en-US" sz="2400" dirty="0"/>
              <a:t>         </a:t>
            </a:r>
            <a:r>
              <a:rPr lang="en-US" sz="2400" b="1" dirty="0"/>
              <a:t>eff</a:t>
            </a:r>
            <a:r>
              <a:rPr lang="en-US" sz="2400" dirty="0"/>
              <a:t> x[</a:t>
            </a:r>
            <a:r>
              <a:rPr lang="en-US" sz="2400" dirty="0" err="1"/>
              <a:t>i</a:t>
            </a:r>
            <a:r>
              <a:rPr lang="en-US" sz="2400" dirty="0"/>
              <a:t>] := x[i-1]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C2086B-C1E3-3047-9A02-47CD138A1299}"/>
              </a:ext>
            </a:extLst>
          </p:cNvPr>
          <p:cNvSpPr txBox="1"/>
          <p:nvPr/>
        </p:nvSpPr>
        <p:spPr>
          <a:xfrm>
            <a:off x="8021373" y="3429000"/>
            <a:ext cx="364569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4">
                    <a:lumMod val="75000"/>
                  </a:schemeClr>
                </a:solidFill>
              </a:rPr>
              <a:t>declaration of transitions: for each action this defines when the action can occur (pre) and how the state is updated when the action does occur (eff)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E56BD4-9C72-9C4D-AD4D-0227A7ECF5F0}"/>
              </a:ext>
            </a:extLst>
          </p:cNvPr>
          <p:cNvSpPr txBox="1"/>
          <p:nvPr/>
        </p:nvSpPr>
        <p:spPr>
          <a:xfrm>
            <a:off x="5544742" y="6155266"/>
            <a:ext cx="66472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4">
                    <a:lumMod val="75000"/>
                  </a:schemeClr>
                </a:solidFill>
              </a:rPr>
              <a:t>symbols -&gt; maps, /\ and, \/ or, ~= not equal, % mod</a:t>
            </a:r>
          </a:p>
        </p:txBody>
      </p:sp>
    </p:spTree>
    <p:extLst>
      <p:ext uri="{BB962C8B-B14F-4D97-AF65-F5344CB8AC3E}">
        <p14:creationId xmlns:p14="http://schemas.microsoft.com/office/powerpoint/2010/main" val="57938920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511BB6-A486-375B-F43E-0D3D3860A8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CB30172-78C2-41FC-0390-4C8A6B5469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026943"/>
            <a:ext cx="6728604" cy="3323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415166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69408"/>
          </a:xfrm>
        </p:spPr>
        <p:txBody>
          <a:bodyPr>
            <a:normAutofit/>
          </a:bodyPr>
          <a:lstStyle/>
          <a:p>
            <a:r>
              <a:rPr lang="en-US" dirty="0"/>
              <a:t>States and predicates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47133" y="1151468"/>
                <a:ext cx="11497733" cy="5571066"/>
              </a:xfrm>
            </p:spPr>
            <p:txBody>
              <a:bodyPr>
                <a:noAutofit/>
              </a:bodyPr>
              <a:lstStyle/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A </a:t>
                </a:r>
                <a:r>
                  <a:rPr lang="en-US" sz="2000" b="1" i="1" dirty="0">
                    <a:solidFill>
                      <a:srgbClr val="0070C0"/>
                    </a:solidFill>
                    <a:latin typeface="+mj-lt"/>
                  </a:rPr>
                  <a:t>predicate</a:t>
                </a:r>
                <a:r>
                  <a:rPr lang="en-US" sz="2000" b="1" dirty="0">
                    <a:solidFill>
                      <a:schemeClr val="tx1"/>
                    </a:solidFill>
                    <a:latin typeface="+mj-lt"/>
                  </a:rPr>
                  <a:t> </a:t>
                </a:r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over a set of variable X is a Boolean-valued formula involving the variables in X Examples:</a:t>
                </a:r>
              </a:p>
              <a:p>
                <a:pPr>
                  <a:lnSpc>
                    <a:spcPct val="10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x</m:t>
                    </m:r>
                    <m:d>
                      <m:dPr>
                        <m:begChr m:val="["/>
                        <m:endChr m:val="]"/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sz="20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sz="2000" b="0" i="1" dirty="0">
                  <a:solidFill>
                    <a:schemeClr val="tx1"/>
                  </a:solidFill>
                  <a:latin typeface="+mj-lt"/>
                </a:endParaRPr>
              </a:p>
              <a:p>
                <a:pPr>
                  <a:lnSpc>
                    <a:spcPct val="10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𝐼𝐷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2000" dirty="0">
                  <a:solidFill>
                    <a:schemeClr val="tx1"/>
                  </a:solidFill>
                  <a:latin typeface="+mj-lt"/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A valuation </a:t>
                </a:r>
                <a:r>
                  <a:rPr lang="en-US" sz="2000" b="1" dirty="0">
                    <a:solidFill>
                      <a:schemeClr val="tx1"/>
                    </a:solidFill>
                    <a:latin typeface="+mj-lt"/>
                  </a:rPr>
                  <a:t>u</a:t>
                </a:r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 </a:t>
                </a:r>
                <a:r>
                  <a:rPr lang="en-US" sz="2000" b="1" dirty="0">
                    <a:solidFill>
                      <a:srgbClr val="0070C0"/>
                    </a:solidFill>
                    <a:latin typeface="+mj-lt"/>
                  </a:rPr>
                  <a:t>satisfies a predicate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𝝓</m:t>
                    </m:r>
                  </m:oMath>
                </a14:m>
                <a:r>
                  <a:rPr lang="en-US" sz="2000" b="1" dirty="0">
                    <a:solidFill>
                      <a:schemeClr val="tx1"/>
                    </a:solidFill>
                    <a:latin typeface="+mj-lt"/>
                  </a:rPr>
                  <a:t> </a:t>
                </a:r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if substituting the values of the variables in </a:t>
                </a:r>
                <a:r>
                  <a:rPr lang="en-US" sz="2000" b="1" dirty="0">
                    <a:solidFill>
                      <a:schemeClr val="tx1"/>
                    </a:solidFill>
                    <a:latin typeface="+mj-lt"/>
                  </a:rPr>
                  <a:t>u </a:t>
                </a:r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in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𝜙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 makes it evaluate to </a:t>
                </a:r>
                <a:r>
                  <a:rPr lang="en-US" sz="2000" b="1" dirty="0">
                    <a:solidFill>
                      <a:schemeClr val="tx1"/>
                    </a:solidFill>
                    <a:latin typeface="+mj-lt"/>
                  </a:rPr>
                  <a:t>True. 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We write </a:t>
                </a:r>
                <a:r>
                  <a:rPr lang="en-US" sz="2000" b="1" dirty="0">
                    <a:solidFill>
                      <a:srgbClr val="0070C0"/>
                    </a:solidFill>
                    <a:latin typeface="+mj-lt"/>
                  </a:rPr>
                  <a:t>u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⊨</m:t>
                    </m:r>
                    <m:r>
                      <a:rPr lang="en-US" sz="2000" b="1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𝝓</m:t>
                    </m:r>
                  </m:oMath>
                </a14:m>
                <a:endParaRPr lang="en-US" sz="2000" dirty="0">
                  <a:solidFill>
                    <a:schemeClr val="tx1"/>
                  </a:solidFill>
                  <a:latin typeface="+mj-lt"/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Examples: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〈"/>
                        <m:endChr m:val="〉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↦</m:t>
                        </m:r>
                        <m:d>
                          <m:dPr>
                            <m:begChr m:val="〈"/>
                            <m:endChr m:val="〉"/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0↦0, 1↦0, 2↦0, 3↦0, 4↦0 </m:t>
                            </m:r>
                          </m:e>
                        </m:d>
                      </m:e>
                    </m:d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 </a:t>
                </a:r>
                <a:r>
                  <a:rPr lang="en-US" sz="2000" dirty="0">
                    <a:latin typeface="+mj-lt"/>
                  </a:rPr>
                  <a:t>;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𝒗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〈"/>
                        <m:endChr m:val="〉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↦</m:t>
                        </m:r>
                        <m:d>
                          <m:dPr>
                            <m:begChr m:val="〈"/>
                            <m:endChr m:val="〉"/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0↦</m:t>
                            </m:r>
                            <m:r>
                              <a:rPr lang="en-US" sz="20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, 1↦0, 2↦0, 3↦0, 4↦0 </m:t>
                            </m:r>
                          </m:e>
                        </m:d>
                      </m:e>
                    </m:d>
                  </m:oMath>
                </a14:m>
                <a:endParaRPr lang="en-US" sz="2000" dirty="0">
                  <a:solidFill>
                    <a:schemeClr val="tx1"/>
                  </a:solidFill>
                  <a:latin typeface="+mj-lt"/>
                </a:endParaRPr>
              </a:p>
              <a:p>
                <a:pPr>
                  <a:lnSpc>
                    <a:spcPct val="100000"/>
                  </a:lnSpc>
                </a:pP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⊨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⊭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2000" b="1" dirty="0">
                    <a:solidFill>
                      <a:schemeClr val="tx1"/>
                    </a:solidFill>
                    <a:latin typeface="+mj-lt"/>
                  </a:rPr>
                  <a:t>,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𝒗</m:t>
                    </m:r>
                    <m:r>
                      <a:rPr lang="en-US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⊨</m:t>
                    </m:r>
                    <m:sSub>
                      <m:sSubPr>
                        <m:ctrlPr>
                          <a:rPr lang="en-US" sz="20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𝝓</m:t>
                        </m:r>
                      </m:e>
                      <m:sub>
                        <m:r>
                          <a:rPr lang="en-US" sz="20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-US" sz="2000" b="1" dirty="0">
                    <a:solidFill>
                      <a:schemeClr val="tx1"/>
                    </a:solidFill>
                    <a:latin typeface="+mj-lt"/>
                  </a:rPr>
                  <a:t> </a:t>
                </a:r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and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𝒗</m:t>
                    </m:r>
                    <m:r>
                      <a:rPr lang="en-US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⊭</m:t>
                    </m:r>
                    <m:sSub>
                      <m:sSubPr>
                        <m:ctrlPr>
                          <a:rPr lang="en-US" sz="20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𝝓</m:t>
                        </m:r>
                      </m:e>
                      <m:sub>
                        <m:r>
                          <a:rPr lang="en-US" sz="20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𝟐</m:t>
                        </m:r>
                      </m:sub>
                    </m:sSub>
                  </m:oMath>
                </a14:m>
                <a:endParaRPr lang="en-US" sz="2000" b="1" dirty="0">
                  <a:solidFill>
                    <a:schemeClr val="tx1"/>
                  </a:solidFill>
                  <a:latin typeface="+mj-lt"/>
                  <a:ea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sz="20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0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𝝓</m:t>
                            </m:r>
                          </m:e>
                        </m:d>
                      </m:e>
                    </m:d>
                    <m:r>
                      <a:rPr lang="en-US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 set of all valuations that satisfy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𝝓</m:t>
                    </m:r>
                  </m:oMath>
                </a14:m>
                <a:endParaRPr lang="en-US" sz="2000" dirty="0">
                  <a:solidFill>
                    <a:schemeClr val="tx1"/>
                  </a:solidFill>
                  <a:latin typeface="+mj-lt"/>
                </a:endParaRPr>
              </a:p>
              <a:p>
                <a:pPr>
                  <a:lnSpc>
                    <a:spcPct val="100000"/>
                  </a:lnSpc>
                </a:pP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𝜙</m:t>
                                </m:r>
                              </m:e>
                              <m:sub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en-US" sz="20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 </m:t>
                    </m:r>
                    <m:d>
                      <m:dPr>
                        <m:begChr m:val="{"/>
                        <m:endChr m:val="|"/>
                        <m:ctrlP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〈"/>
                            <m:endChr m:val="〉"/>
                            <m:ctrlP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↦</m:t>
                            </m:r>
                            <m:sSub>
                              <m:sSubPr>
                                <m:ctrlP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d>
                                  <m:dPr>
                                    <m:begChr m:val="〈"/>
                                    <m:endChr m:val="〉"/>
                                    <m:ctrlP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1↦0, </m:t>
                                    </m:r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↦</m:t>
                                    </m:r>
                                    <m:sSub>
                                      <m:sSubPr>
                                        <m:ctrlPr>
                                          <a:rPr lang="en-US" sz="20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𝑐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b>
                                <m:d>
                                  <m:dPr>
                                    <m:begChr m:val="{"/>
                                    <m:endChr m:val="}"/>
                                    <m:ctrlP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=0,2,…,5</m:t>
                                    </m:r>
                                  </m:e>
                                </m:d>
                              </m:sub>
                            </m:sSub>
                          </m:e>
                        </m:d>
                      </m:e>
                    </m:d>
                    <m:sSub>
                      <m:sSubPr>
                        <m:ctrlP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0,…,7</m:t>
                        </m:r>
                      </m:e>
                    </m:d>
                  </m:oMath>
                </a14:m>
                <a:endParaRPr lang="en-US" sz="2000" i="1" dirty="0">
                  <a:solidFill>
                    <a:schemeClr val="tx1"/>
                  </a:solidFill>
                  <a:latin typeface="+mj-lt"/>
                </a:endParaRPr>
              </a:p>
              <a:p>
                <a:pPr>
                  <a:lnSpc>
                    <a:spcPct val="100000"/>
                  </a:lnSpc>
                </a:pP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𝜙</m:t>
                                </m:r>
                              </m:e>
                              <m:sub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={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〈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↦</m:t>
                    </m:r>
                    <m:d>
                      <m:dPr>
                        <m:begChr m:val="〈"/>
                        <m:endChr m:val="〉"/>
                        <m:ctrlP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0↦0, 1↦0, 2↦0, 3↦0, 4↦0, 5↦0 </m:t>
                        </m:r>
                      </m:e>
                    </m:d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〉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2000" dirty="0">
                  <a:solidFill>
                    <a:schemeClr val="tx1"/>
                  </a:solidFill>
                  <a:latin typeface="+mj-lt"/>
                </a:endParaRPr>
              </a:p>
              <a:p>
                <a:pPr>
                  <a:lnSpc>
                    <a:spcPct val="100000"/>
                  </a:lnSpc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⊆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𝑣𝑎𝑙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 is the set of initial states of the automaton; </a:t>
                </a:r>
                <a:r>
                  <a:rPr lang="en-US" sz="2000" dirty="0">
                    <a:latin typeface="+mj-lt"/>
                  </a:rPr>
                  <a:t> o</a:t>
                </a:r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ften specified by a </a:t>
                </a:r>
                <a:r>
                  <a:rPr lang="en-US" sz="2000" b="1" dirty="0">
                    <a:solidFill>
                      <a:schemeClr val="tx1"/>
                    </a:solidFill>
                    <a:latin typeface="+mj-lt"/>
                  </a:rPr>
                  <a:t>predicate </a:t>
                </a:r>
                <a:r>
                  <a:rPr lang="en-US" sz="2000" dirty="0">
                    <a:solidFill>
                      <a:schemeClr val="tx1"/>
                    </a:solidFill>
                    <a:latin typeface="+mj-lt"/>
                  </a:rPr>
                  <a:t>over X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47133" y="1151468"/>
                <a:ext cx="11497733" cy="5571066"/>
              </a:xfrm>
              <a:blipFill>
                <a:blip r:embed="rId2"/>
                <a:stretch>
                  <a:fillRect l="-441" t="-6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953234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3200" b="1" dirty="0">
                    <a:latin typeface="+mj-lt"/>
                  </a:rPr>
                  <a:t>actions </a:t>
                </a:r>
                <a:r>
                  <a:rPr lang="en-US" sz="3200" dirty="0">
                    <a:latin typeface="+mj-lt"/>
                  </a:rPr>
                  <a:t>section defines the set of Actions of the automaton </a:t>
                </a:r>
              </a:p>
              <a:p>
                <a:r>
                  <a:rPr lang="en-US" sz="3200" dirty="0">
                    <a:latin typeface="+mj-lt"/>
                  </a:rPr>
                  <a:t>Examples</a:t>
                </a:r>
              </a:p>
              <a:p>
                <a:pPr lvl="1"/>
                <a:r>
                  <a:rPr lang="en-US" sz="3200" b="1" dirty="0">
                    <a:latin typeface="+mj-lt"/>
                  </a:rPr>
                  <a:t>actions</a:t>
                </a:r>
                <a:r>
                  <a:rPr lang="en-US" sz="3200" b="1" dirty="0">
                    <a:solidFill>
                      <a:srgbClr val="0119FF"/>
                    </a:solidFill>
                    <a:latin typeface="+mj-lt"/>
                  </a:rPr>
                  <a:t> </a:t>
                </a:r>
                <a:r>
                  <a:rPr lang="en-US" sz="3200" dirty="0">
                    <a:solidFill>
                      <a:srgbClr val="0119FF"/>
                    </a:solidFill>
                    <a:latin typeface="+mj-lt"/>
                  </a:rPr>
                  <a:t>update</a:t>
                </a:r>
                <a:r>
                  <a:rPr lang="en-US" sz="3200" dirty="0">
                    <a:latin typeface="+mj-lt"/>
                  </a:rPr>
                  <a:t>(</a:t>
                </a:r>
                <a:r>
                  <a:rPr lang="en-US" sz="3200" dirty="0" err="1">
                    <a:latin typeface="+mj-lt"/>
                  </a:rPr>
                  <a:t>i:ID</a:t>
                </a:r>
                <a:r>
                  <a:rPr lang="en-US" sz="3200" dirty="0">
                    <a:latin typeface="+mj-lt"/>
                  </a:rPr>
                  <a:t>)</a:t>
                </a:r>
              </a:p>
              <a:p>
                <a:pPr marL="457200" lvl="1" indent="0">
                  <a:buNone/>
                </a:pPr>
                <a:r>
                  <a:rPr lang="en-US" sz="3200" b="0" dirty="0">
                    <a:latin typeface="+mj-lt"/>
                  </a:rPr>
                  <a:t>	defines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sz="3200" b="1" dirty="0">
                    <a:latin typeface="+mj-lt"/>
                  </a:rPr>
                  <a:t>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={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𝑢𝑝𝑑𝑎𝑡𝑒</m:t>
                    </m:r>
                    <m:d>
                      <m:dPr>
                        <m:begChr m:val="["/>
                        <m:endChr m:val="]"/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,…,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𝑢𝑝𝑑𝑎𝑡𝑒</m:t>
                    </m:r>
                    <m:d>
                      <m:dPr>
                        <m:begChr m:val="["/>
                        <m:endChr m:val="]"/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e>
                    </m:d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3200" b="1" dirty="0">
                  <a:latin typeface="+mj-lt"/>
                </a:endParaRPr>
              </a:p>
              <a:p>
                <a:pPr lvl="1"/>
                <a:endParaRPr lang="en-US" sz="3200" dirty="0">
                  <a:latin typeface="+mj-lt"/>
                </a:endParaRPr>
              </a:p>
              <a:p>
                <a:pPr lvl="1"/>
                <a:r>
                  <a:rPr lang="en-US" sz="3200" b="1" dirty="0">
                    <a:latin typeface="+mj-lt"/>
                  </a:rPr>
                  <a:t>actions </a:t>
                </a:r>
                <a:r>
                  <a:rPr lang="en-US" sz="3200" dirty="0" err="1">
                    <a:latin typeface="+mj-lt"/>
                  </a:rPr>
                  <a:t>brakeOn</a:t>
                </a:r>
                <a:r>
                  <a:rPr lang="en-US" sz="3200" dirty="0">
                    <a:latin typeface="+mj-lt"/>
                  </a:rPr>
                  <a:t>, </a:t>
                </a:r>
                <a:r>
                  <a:rPr lang="en-US" sz="3200" dirty="0" err="1">
                    <a:latin typeface="+mj-lt"/>
                  </a:rPr>
                  <a:t>brakeOff</a:t>
                </a:r>
                <a:endParaRPr lang="en-US" sz="3200" dirty="0">
                  <a:latin typeface="+mj-lt"/>
                </a:endParaRPr>
              </a:p>
              <a:p>
                <a:pPr marL="457200" lvl="1" indent="0">
                  <a:buNone/>
                </a:pPr>
                <a:r>
                  <a:rPr lang="en-US" sz="2800" b="0" dirty="0">
                    <a:latin typeface="+mj-lt"/>
                  </a:rPr>
                  <a:t>	defines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={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𝑏𝑟𝑎𝑘𝑒𝑂𝑛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𝑏𝑟𝑎𝑘𝑒𝑂𝑓𝑓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2800" dirty="0">
                  <a:latin typeface="+mj-lt"/>
                </a:endParaRPr>
              </a:p>
              <a:p>
                <a:pPr marL="0" indent="0">
                  <a:buNone/>
                </a:pPr>
                <a:endParaRPr lang="en-US" sz="3200" b="1" dirty="0">
                  <a:latin typeface="+mj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32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43790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64570"/>
            <a:ext cx="10998200" cy="1325563"/>
          </a:xfrm>
        </p:spPr>
        <p:txBody>
          <a:bodyPr/>
          <a:lstStyle/>
          <a:p>
            <a:r>
              <a:rPr lang="en-US" dirty="0"/>
              <a:t>Transitions defined by preconditions and effects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490133"/>
                <a:ext cx="9999133" cy="4636031"/>
              </a:xfrm>
            </p:spPr>
            <p:txBody>
              <a:bodyPr>
                <a:noAutofit/>
              </a:bodyPr>
              <a:lstStyle/>
              <a:p>
                <a:pPr marL="0" lvl="1" indent="0">
                  <a:buNone/>
                </a:pPr>
                <a14:m>
                  <m:oMath xmlns:m="http://schemas.openxmlformats.org/officeDocument/2006/math">
                    <m:r>
                      <a:rPr lang="en-US" sz="28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𝒟</m:t>
                    </m:r>
                    <m:r>
                      <a:rPr lang="en-US" sz="28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⊆</m:t>
                    </m:r>
                    <m:r>
                      <a:rPr lang="en-US" sz="28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𝑣𝑎𝑙</m:t>
                    </m:r>
                    <m:d>
                      <m:dPr>
                        <m:ctrlP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𝑣𝑎𝑙</m:t>
                    </m:r>
                    <m:d>
                      <m:dPr>
                        <m:ctrlP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</m:oMath>
                </a14:m>
                <a:r>
                  <a:rPr lang="en-US" sz="2800" dirty="0">
                    <a:solidFill>
                      <a:schemeClr val="tx1"/>
                    </a:solidFill>
                    <a:latin typeface="+mj-lt"/>
                  </a:rPr>
                  <a:t> is the set of </a:t>
                </a:r>
                <a:r>
                  <a:rPr lang="en-US" sz="2800" b="1" dirty="0">
                    <a:solidFill>
                      <a:schemeClr val="tx1"/>
                    </a:solidFill>
                    <a:latin typeface="+mj-lt"/>
                  </a:rPr>
                  <a:t>transitions</a:t>
                </a:r>
              </a:p>
              <a:p>
                <a:pPr marL="0" lvl="1" indent="0">
                  <a:buNone/>
                </a:pPr>
                <a14:m>
                  <m:oMath xmlns:m="http://schemas.openxmlformats.org/officeDocument/2006/math"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𝒟</m:t>
                    </m:r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={</m:t>
                    </m:r>
                    <m:d>
                      <m:dPr>
                        <m:ctrlP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𝒖</m:t>
                        </m:r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sz="28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𝒖</m:t>
                            </m:r>
                          </m:e>
                          <m:sup>
                            <m:r>
                              <a:rPr lang="en-US" sz="28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 </m:t>
                    </m:r>
                  </m:oMath>
                </a14:m>
                <a:r>
                  <a:rPr lang="en-US" sz="2800" dirty="0">
                    <a:solidFill>
                      <a:schemeClr val="tx1"/>
                    </a:solidFill>
                    <a:latin typeface="+mj-lt"/>
                  </a:rPr>
                  <a:t>such that </a:t>
                </a:r>
                <a14:m>
                  <m:oMath xmlns:m="http://schemas.openxmlformats.org/officeDocument/2006/math">
                    <m:r>
                      <a:rPr lang="en-US" sz="2800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⊨</m:t>
                    </m:r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𝑃𝑟</m:t>
                    </m:r>
                    <m:sSub>
                      <m:sSubPr>
                        <m:ctrlP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</m:oMath>
                </a14:m>
                <a:r>
                  <a:rPr lang="en-US" sz="2800" dirty="0">
                    <a:solidFill>
                      <a:schemeClr val="tx1"/>
                    </a:solidFill>
                    <a:latin typeface="+mj-lt"/>
                  </a:rPr>
                  <a:t> and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𝒖</m:t>
                        </m:r>
                        <m:r>
                          <a:rPr lang="en-US" sz="28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sz="28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𝒖</m:t>
                            </m:r>
                          </m:e>
                          <m:sup>
                            <m:r>
                              <a:rPr lang="en-US" sz="28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28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⊨</m:t>
                    </m:r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𝐸𝑓</m:t>
                    </m:r>
                    <m:sSub>
                      <m:sSubPr>
                        <m:ctrlP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</m:oMath>
                </a14:m>
                <a:r>
                  <a:rPr lang="en-US" sz="2800" dirty="0">
                    <a:solidFill>
                      <a:schemeClr val="tx1"/>
                    </a:solidFill>
                    <a:latin typeface="+mj-lt"/>
                  </a:rPr>
                  <a:t>}</a:t>
                </a:r>
                <a:endParaRPr lang="en-US" sz="2800" b="1" dirty="0">
                  <a:solidFill>
                    <a:schemeClr val="tx1"/>
                  </a:solidFill>
                  <a:latin typeface="+mj-lt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𝒖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𝒖</m:t>
                            </m:r>
                          </m:e>
                          <m:sup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𝒟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dirty="0">
                    <a:solidFill>
                      <a:schemeClr val="tx1"/>
                    </a:solidFill>
                    <a:latin typeface="+mj-lt"/>
                  </a:rPr>
                  <a:t>is written as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𝒖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en-US" b="1" i="1" smtClean="0"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b="1" dirty="0">
                    <a:solidFill>
                      <a:schemeClr val="tx1"/>
                    </a:solidFill>
                    <a:latin typeface="+mj-lt"/>
                  </a:rPr>
                  <a:t> </a:t>
                </a:r>
              </a:p>
              <a:p>
                <a:pPr marL="0" indent="0">
                  <a:buNone/>
                </a:pPr>
                <a:r>
                  <a:rPr lang="en-US" b="1" dirty="0">
                    <a:solidFill>
                      <a:schemeClr val="tx1"/>
                    </a:solidFill>
                    <a:latin typeface="+mj-lt"/>
                  </a:rPr>
                  <a:t>Example:</a:t>
                </a:r>
              </a:p>
              <a:p>
                <a:pPr marL="0" indent="0">
                  <a:buNone/>
                </a:pPr>
                <a:r>
                  <a:rPr lang="en-US" b="1" dirty="0">
                    <a:solidFill>
                      <a:schemeClr val="tx1"/>
                    </a:solidFill>
                    <a:latin typeface="+mj-lt"/>
                  </a:rPr>
                  <a:t>internal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 update(</a:t>
                </a:r>
                <a:r>
                  <a:rPr lang="en-US" dirty="0" err="1">
                    <a:solidFill>
                      <a:schemeClr val="tx1"/>
                    </a:solidFill>
                    <a:latin typeface="+mj-lt"/>
                  </a:rPr>
                  <a:t>i:ID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)</a:t>
                </a: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   </a:t>
                </a:r>
                <a:r>
                  <a:rPr lang="en-US" b="1" dirty="0">
                    <a:solidFill>
                      <a:schemeClr val="tx1"/>
                    </a:solidFill>
                    <a:latin typeface="+mj-lt"/>
                  </a:rPr>
                  <a:t>pre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 </a:t>
                </a:r>
                <a:r>
                  <a:rPr lang="en-US" dirty="0" err="1">
                    <a:solidFill>
                      <a:schemeClr val="tx1"/>
                    </a:solidFill>
                    <a:latin typeface="+mj-lt"/>
                  </a:rPr>
                  <a:t>i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 = 0 /\ x[</a:t>
                </a:r>
                <a:r>
                  <a:rPr lang="en-US" dirty="0" err="1">
                    <a:solidFill>
                      <a:schemeClr val="tx1"/>
                    </a:solidFill>
                    <a:latin typeface="+mj-lt"/>
                  </a:rPr>
                  <a:t>i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] = x[n-1]</a:t>
                </a: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   </a:t>
                </a:r>
                <a:r>
                  <a:rPr lang="en-US" b="1" dirty="0">
                    <a:solidFill>
                      <a:schemeClr val="tx1"/>
                    </a:solidFill>
                    <a:latin typeface="+mj-lt"/>
                  </a:rPr>
                  <a:t>eff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 x[</a:t>
                </a:r>
                <a:r>
                  <a:rPr lang="en-US" dirty="0" err="1">
                    <a:solidFill>
                      <a:schemeClr val="tx1"/>
                    </a:solidFill>
                    <a:latin typeface="+mj-lt"/>
                  </a:rPr>
                  <a:t>i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] := x[</a:t>
                </a:r>
                <a:r>
                  <a:rPr lang="en-US" dirty="0" err="1">
                    <a:solidFill>
                      <a:schemeClr val="tx1"/>
                    </a:solidFill>
                    <a:latin typeface="+mj-lt"/>
                  </a:rPr>
                  <a:t>i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] + 1 mod k;</a:t>
                </a:r>
              </a:p>
              <a:p>
                <a:pPr marL="0" indent="0">
                  <a:buNone/>
                </a:pPr>
                <a:r>
                  <a:rPr lang="en-US" b="1" dirty="0">
                    <a:solidFill>
                      <a:schemeClr val="tx1"/>
                    </a:solidFill>
                    <a:latin typeface="+mj-lt"/>
                  </a:rPr>
                  <a:t>internal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 update(</a:t>
                </a:r>
                <a:r>
                  <a:rPr lang="en-US" dirty="0" err="1">
                    <a:solidFill>
                      <a:schemeClr val="tx1"/>
                    </a:solidFill>
                    <a:latin typeface="+mj-lt"/>
                  </a:rPr>
                  <a:t>i:ID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)</a:t>
                </a: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   </a:t>
                </a:r>
                <a:r>
                  <a:rPr lang="en-US" b="1" dirty="0">
                    <a:solidFill>
                      <a:schemeClr val="tx1"/>
                    </a:solidFill>
                    <a:latin typeface="+mj-lt"/>
                  </a:rPr>
                  <a:t>pre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 </a:t>
                </a:r>
                <a:r>
                  <a:rPr lang="en-US" dirty="0" err="1">
                    <a:solidFill>
                      <a:schemeClr val="tx1"/>
                    </a:solidFill>
                    <a:latin typeface="+mj-lt"/>
                  </a:rPr>
                  <a:t>i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 0 /\ x[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x[i-1]</a:t>
                </a: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   </a:t>
                </a:r>
                <a:r>
                  <a:rPr lang="en-US" b="1" dirty="0" err="1">
                    <a:solidFill>
                      <a:schemeClr val="tx1"/>
                    </a:solidFill>
                    <a:latin typeface="+mj-lt"/>
                  </a:rPr>
                  <a:t>eff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 x[</a:t>
                </a:r>
                <a:r>
                  <a:rPr lang="en-US" dirty="0" err="1">
                    <a:solidFill>
                      <a:schemeClr val="tx1"/>
                    </a:solidFill>
                    <a:latin typeface="+mj-lt"/>
                  </a:rPr>
                  <a:t>i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] := x[i-1];</a:t>
                </a:r>
              </a:p>
              <a:p>
                <a:pPr marL="0" lvl="1" indent="0">
                  <a:buNone/>
                </a:pPr>
                <a:endParaRPr lang="en-US" sz="2800" b="1" dirty="0">
                  <a:solidFill>
                    <a:schemeClr val="tx1"/>
                  </a:solidFill>
                  <a:latin typeface="+mj-lt"/>
                </a:endParaRPr>
              </a:p>
              <a:p>
                <a:pPr marL="0" lvl="1" indent="0">
                  <a:buNone/>
                </a:pPr>
                <a:endParaRPr lang="en-US" sz="2800" b="1" dirty="0">
                  <a:solidFill>
                    <a:schemeClr val="tx1"/>
                  </a:solidFill>
                  <a:latin typeface="+mj-lt"/>
                </a:endParaRPr>
              </a:p>
              <a:p>
                <a:pPr marL="0" lvl="1" indent="0">
                  <a:buNone/>
                </a:pPr>
                <a:endParaRPr lang="en-US" sz="2800" b="1" dirty="0">
                  <a:solidFill>
                    <a:schemeClr val="tx1"/>
                  </a:solidFill>
                  <a:latin typeface="+mj-lt"/>
                </a:endParaRPr>
              </a:p>
              <a:p>
                <a:pPr marL="342900" lvl="1" indent="-342900"/>
                <a:endParaRPr lang="en-US" sz="2800" b="1" dirty="0">
                  <a:solidFill>
                    <a:schemeClr val="tx1"/>
                  </a:solidFill>
                  <a:latin typeface="+mj-lt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tx1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490133"/>
                <a:ext cx="9999133" cy="4636031"/>
              </a:xfrm>
              <a:blipFill>
                <a:blip r:embed="rId2"/>
                <a:stretch>
                  <a:fillRect l="-1142" t="-2186" b="-117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5232400" y="3860365"/>
                <a:ext cx="6604000" cy="2794868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ctrlPr>
                          <a:rPr lang="en-US" sz="24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 dirty="0">
                            <a:latin typeface="Cambria Math" panose="02040503050406030204" pitchFamily="18" charset="0"/>
                          </a:rPr>
                          <m:t>𝒖</m:t>
                        </m:r>
                        <m:r>
                          <a:rPr lang="en-US" sz="2400" i="1" dirty="0" err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𝑢𝑝𝑑𝑎𝑡𝑒</m:t>
                        </m:r>
                        <m:d>
                          <m:d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 dirty="0" err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sz="2400" b="1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1" i="1" dirty="0">
                                <a:latin typeface="Cambria Math" panose="02040503050406030204" pitchFamily="18" charset="0"/>
                              </a:rPr>
                              <m:t>𝒖</m:t>
                            </m:r>
                          </m:e>
                          <m:sup>
                            <m:r>
                              <a:rPr lang="en-US" sz="2400" b="1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2400" i="1" dirty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𝒟</m:t>
                    </m:r>
                  </m:oMath>
                </a14:m>
                <a:r>
                  <a:rPr lang="en-US" sz="2400" i="1" dirty="0">
                    <a:latin typeface="+mj-lt"/>
                  </a:rPr>
                  <a:t> </a:t>
                </a:r>
                <a:r>
                  <a:rPr lang="en-US" sz="2400" i="1" dirty="0" err="1">
                    <a:latin typeface="+mj-lt"/>
                  </a:rPr>
                  <a:t>iff</a:t>
                </a:r>
                <a:endParaRPr lang="en-US" sz="2400" i="1" dirty="0">
                  <a:latin typeface="+mj-lt"/>
                </a:endParaRPr>
              </a:p>
              <a:p>
                <a:endParaRPr lang="en-US" sz="2400" dirty="0">
                  <a:latin typeface="+mj-lt"/>
                </a:endParaRPr>
              </a:p>
              <a:p>
                <a:r>
                  <a:rPr lang="en-US" sz="2400" dirty="0">
                    <a:latin typeface="+mj-lt"/>
                  </a:rPr>
                  <a:t>(a)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=0∧</m:t>
                    </m:r>
                    <m:r>
                      <a:rPr lang="en-US" sz="2400" b="1" i="1" dirty="0"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⌈ 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sz="24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5</m:t>
                        </m:r>
                      </m:e>
                    </m:d>
                  </m:oMath>
                </a14:m>
                <a:endParaRPr lang="en-US" sz="2400" i="1" dirty="0">
                  <a:latin typeface="+mj-lt"/>
                </a:endParaRPr>
              </a:p>
              <a:p>
                <a:r>
                  <a:rPr lang="en-US" sz="2400" dirty="0">
                    <a:latin typeface="+mj-lt"/>
                  </a:rPr>
                  <a:t>	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∧</m:t>
                    </m:r>
                    <m:sSup>
                      <m:sSupPr>
                        <m:ctrlPr>
                          <a:rPr lang="en-US" sz="2400" b="1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1" i="1" dirty="0">
                            <a:latin typeface="Cambria Math" panose="02040503050406030204" pitchFamily="18" charset="0"/>
                          </a:rPr>
                          <m:t>𝒖</m:t>
                        </m:r>
                      </m:e>
                      <m:sup>
                        <m:r>
                          <a:rPr lang="en-US" sz="2400" b="1" i="1" dirty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sz="24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1" dirty="0"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[0]+1 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𝑚𝑜𝑑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2400" i="1" dirty="0">
                    <a:latin typeface="+mj-lt"/>
                  </a:rPr>
                  <a:t>)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∨</m:t>
                    </m:r>
                  </m:oMath>
                </a14:m>
                <a:endParaRPr lang="en-US" sz="2400" i="1" dirty="0">
                  <a:latin typeface="+mj-lt"/>
                </a:endParaRPr>
              </a:p>
              <a:p>
                <a:r>
                  <a:rPr lang="en-US" sz="2400" dirty="0">
                    <a:latin typeface="+mj-lt"/>
                  </a:rPr>
                  <a:t>(b) (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≠0∧</m:t>
                    </m:r>
                    <m:r>
                      <a:rPr lang="en-US" sz="2400" b="1" i="1" dirty="0"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 ⌈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 err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sz="2400" i="1" dirty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sz="2400" b="1" i="1" dirty="0"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 ⌈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</m:oMath>
                </a14:m>
                <a:endParaRPr lang="en-US" sz="2400" i="1" dirty="0">
                  <a:latin typeface="+mj-lt"/>
                </a:endParaRPr>
              </a:p>
              <a:p>
                <a:r>
                  <a:rPr lang="en-US" sz="2400" dirty="0">
                    <a:latin typeface="+mj-lt"/>
                  </a:rPr>
                  <a:t>	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∧</m:t>
                    </m:r>
                    <m:sSup>
                      <m:sSupPr>
                        <m:ctrlPr>
                          <a:rPr lang="en-US" sz="2400" b="1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1" i="1" dirty="0">
                            <a:latin typeface="Cambria Math" panose="02040503050406030204" pitchFamily="18" charset="0"/>
                          </a:rPr>
                          <m:t>𝒖</m:t>
                        </m:r>
                      </m:e>
                      <m:sup>
                        <m:r>
                          <a:rPr lang="en-US" sz="2400" b="1" i="1" dirty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 ⌈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 err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sz="24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1" dirty="0"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−1]</m:t>
                    </m:r>
                  </m:oMath>
                </a14:m>
                <a:r>
                  <a:rPr lang="en-US" sz="2400" i="1" dirty="0">
                    <a:latin typeface="+mj-lt"/>
                  </a:rPr>
                  <a:t>)</a:t>
                </a:r>
              </a:p>
              <a:p>
                <a:pPr marL="342900" indent="-342900">
                  <a:buAutoNum type="alphaLcParenBoth"/>
                </a:pPr>
                <a:endParaRPr lang="en-US" sz="2400" i="1" dirty="0">
                  <a:latin typeface="+mj-lt"/>
                </a:endParaRP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2400" y="3860365"/>
                <a:ext cx="6604000" cy="2794868"/>
              </a:xfrm>
              <a:prstGeom prst="rect">
                <a:avLst/>
              </a:prstGeom>
              <a:blipFill>
                <a:blip r:embed="rId3"/>
                <a:stretch>
                  <a:fillRect l="-13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232086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Executions, Reachability, and Invariants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90134"/>
                <a:ext cx="10515600" cy="5367866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>
                    <a:latin typeface="+mj-lt"/>
                    <a:ea typeface="Cambria Math" panose="02040503050406030204" pitchFamily="18" charset="0"/>
                  </a:rPr>
                  <a:t>A</a:t>
                </a:r>
                <a:r>
                  <a:rPr lang="en-US" b="1" dirty="0">
                    <a:latin typeface="+mj-lt"/>
                    <a:ea typeface="Cambria Math" panose="02040503050406030204" pitchFamily="18" charset="0"/>
                  </a:rPr>
                  <a:t>utomaton</a:t>
                </a:r>
                <a:r>
                  <a:rPr lang="en-US" dirty="0">
                    <a:latin typeface="+mj-lt"/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=〈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𝒟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〉</m:t>
                    </m:r>
                  </m:oMath>
                </a14:m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>
                    <a:latin typeface="+mj-lt"/>
                  </a:rPr>
                  <a:t>An executions models a particular behavior of the automaton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>
                    <a:latin typeface="+mj-lt"/>
                  </a:rPr>
                  <a:t>An </a:t>
                </a:r>
                <a:r>
                  <a:rPr lang="en-US" b="1" i="1" dirty="0">
                    <a:solidFill>
                      <a:srgbClr val="0070C0"/>
                    </a:solidFill>
                    <a:latin typeface="+mj-lt"/>
                  </a:rPr>
                  <a:t>execution</a:t>
                </a:r>
                <a:r>
                  <a:rPr lang="en-US" dirty="0">
                    <a:latin typeface="+mj-lt"/>
                  </a:rPr>
                  <a:t> of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r>
                  <a:rPr lang="en-US" dirty="0">
                    <a:latin typeface="+mj-lt"/>
                  </a:rPr>
                  <a:t> is an alternating (possibly infinite) sequence of states and actions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…</m:t>
                    </m:r>
                  </m:oMath>
                </a14:m>
                <a:r>
                  <a:rPr lang="en-US" dirty="0">
                    <a:latin typeface="+mj-lt"/>
                  </a:rPr>
                  <a:t>such that:</a:t>
                </a:r>
              </a:p>
              <a:p>
                <a:pPr marL="971550" lvl="1" indent="-514350">
                  <a:lnSpc>
                    <a:spcPct val="120000"/>
                  </a:lnSpc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endParaRPr lang="en-US" dirty="0">
                  <a:latin typeface="+mj-lt"/>
                </a:endParaRPr>
              </a:p>
              <a:p>
                <a:pPr marL="971550" lvl="1" indent="-514350">
                  <a:lnSpc>
                    <a:spcPct val="120000"/>
                  </a:lnSpc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∀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+mj-lt"/>
                  </a:rPr>
                  <a:t>in the sequence,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→</m:t>
                        </m:r>
                      </m:e>
                      <m: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endParaRPr lang="en-US" b="0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>
                    <a:latin typeface="+mj-lt"/>
                  </a:rPr>
                  <a:t>For a </a:t>
                </a:r>
                <a:r>
                  <a:rPr lang="en-US" b="1" i="1" dirty="0">
                    <a:solidFill>
                      <a:srgbClr val="0070C0"/>
                    </a:solidFill>
                    <a:latin typeface="+mj-lt"/>
                  </a:rPr>
                  <a:t>finite</a:t>
                </a:r>
                <a:r>
                  <a:rPr lang="en-US" dirty="0">
                    <a:latin typeface="+mj-lt"/>
                  </a:rPr>
                  <a:t> execution,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dirty="0">
                    <a:latin typeface="+mj-lt"/>
                  </a:rPr>
                  <a:t> the </a:t>
                </a:r>
                <a:r>
                  <a:rPr lang="en-US" b="1" i="1" dirty="0">
                    <a:solidFill>
                      <a:srgbClr val="0070C0"/>
                    </a:solidFill>
                    <a:latin typeface="+mj-lt"/>
                  </a:rPr>
                  <a:t>last state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𝑙𝑠𝑡𝑎𝑡𝑒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dirty="0">
                    <a:latin typeface="+mj-lt"/>
                  </a:rPr>
                  <a:t> and the length of the execution is 3.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>
                    <a:latin typeface="+mj-lt"/>
                  </a:rPr>
                  <a:t>In general, how many executions does 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+mj-lt"/>
                  </a:rPr>
                  <a:t>have?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90134"/>
                <a:ext cx="10515600" cy="5367866"/>
              </a:xfrm>
              <a:blipFill>
                <a:blip r:embed="rId2"/>
                <a:stretch>
                  <a:fillRect l="-1086" r="-8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0228561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2D9A75-FB4D-6144-10CB-969A022E10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Collatz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3296AFD-92BC-0AC9-5242-EB26132CB1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8600" y="2702042"/>
            <a:ext cx="7772400" cy="3790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961959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011178-E247-853F-2425-5AEE5B0D24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Bit flip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CA82748-7106-3910-B75F-D72C53F3BD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1400" y="2254612"/>
            <a:ext cx="6891068" cy="4409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562435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Internal and External Nondeterminism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48419" y="1547521"/>
                <a:ext cx="10515600" cy="4351338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+mj-lt"/>
                  </a:rPr>
                  <a:t>For an action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sz="2400" dirty="0">
                    <a:latin typeface="+mj-lt"/>
                  </a:rPr>
                  <a:t>, Pre(a) is the formula defining its </a:t>
                </a:r>
                <a:r>
                  <a:rPr lang="en-US" sz="2400" b="1" dirty="0">
                    <a:latin typeface="+mj-lt"/>
                  </a:rPr>
                  <a:t>pre</a:t>
                </a:r>
                <a:r>
                  <a:rPr lang="en-US" sz="2400" dirty="0">
                    <a:latin typeface="+mj-lt"/>
                  </a:rPr>
                  <a:t>condition, and Eff(a) is the relation defining the </a:t>
                </a:r>
                <a:r>
                  <a:rPr lang="en-US" sz="2400" b="1" dirty="0">
                    <a:latin typeface="+mj-lt"/>
                  </a:rPr>
                  <a:t>eff</a:t>
                </a:r>
                <a:r>
                  <a:rPr lang="en-US" sz="2400" dirty="0">
                    <a:latin typeface="+mj-lt"/>
                  </a:rPr>
                  <a:t>ect.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+mj-lt"/>
                  </a:rPr>
                  <a:t>States satisfying precondition are said to </a:t>
                </a:r>
                <a:r>
                  <a:rPr lang="en-US" sz="2400" b="1" i="1" dirty="0">
                    <a:solidFill>
                      <a:srgbClr val="0070C0"/>
                    </a:solidFill>
                    <a:latin typeface="+mj-lt"/>
                  </a:rPr>
                  <a:t>enable</a:t>
                </a:r>
                <a:r>
                  <a:rPr lang="en-US" sz="2400" dirty="0">
                    <a:latin typeface="+mj-lt"/>
                  </a:rPr>
                  <a:t> the action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+mj-lt"/>
                  </a:rPr>
                  <a:t>In general Eff(a) could be a relation, but for this example it is a function</a:t>
                </a:r>
                <a:endParaRPr lang="en-US" sz="2400" b="1" dirty="0">
                  <a:latin typeface="+mj-lt"/>
                </a:endParaRPr>
              </a:p>
              <a:p>
                <a:pPr marL="0" indent="0">
                  <a:buNone/>
                </a:pPr>
                <a:r>
                  <a:rPr lang="en-US" sz="2400" b="1" dirty="0">
                    <a:latin typeface="+mj-lt"/>
                  </a:rPr>
                  <a:t>Nondeterminism</a:t>
                </a:r>
              </a:p>
              <a:p>
                <a:r>
                  <a:rPr lang="en-US" sz="2400" dirty="0">
                    <a:latin typeface="+mj-lt"/>
                  </a:rPr>
                  <a:t>Multiple initial states</a:t>
                </a:r>
              </a:p>
              <a:p>
                <a:r>
                  <a:rPr lang="en-US" sz="2400" dirty="0">
                    <a:latin typeface="+mj-lt"/>
                  </a:rPr>
                  <a:t>External nondeterminism: Multiple actions enabled from the same state</a:t>
                </a:r>
              </a:p>
              <a:p>
                <a:r>
                  <a:rPr lang="en-US" sz="2400" dirty="0">
                    <a:latin typeface="+mj-lt"/>
                  </a:rPr>
                  <a:t>Internal nondeterminism: Multiple post-states from the same state and action</a:t>
                </a:r>
              </a:p>
              <a:p>
                <a:pPr marL="285750" indent="-285750"/>
                <a:endParaRPr lang="en-US" sz="2400" dirty="0">
                  <a:latin typeface="+mj-lt"/>
                </a:endParaRPr>
              </a:p>
              <a:p>
                <a:endParaRPr lang="en-US" sz="2400" dirty="0">
                  <a:latin typeface="+mj-lt"/>
                </a:endParaRP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48419" y="1547521"/>
                <a:ext cx="10515600" cy="4351338"/>
              </a:xfrm>
              <a:blipFill>
                <a:blip r:embed="rId2"/>
                <a:stretch>
                  <a:fillRect l="-844" t="-14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EFE26BDA-EFDF-0C4D-AA4E-540BD5639B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65682" y="5181018"/>
            <a:ext cx="2288118" cy="14356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66413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48988-E462-964B-8BD4-776BFB79C9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Reachable states and invariants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FC5C8EB-1D1C-304E-86C5-55393B8F40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/>
                  <a:t>A state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𝒖</m:t>
                    </m:r>
                  </m:oMath>
                </a14:m>
                <a:r>
                  <a:rPr lang="en-US" dirty="0"/>
                  <a:t> is </a:t>
                </a:r>
                <a:r>
                  <a:rPr lang="en-US" b="1" i="1" dirty="0">
                    <a:solidFill>
                      <a:srgbClr val="0070C0"/>
                    </a:solidFill>
                  </a:rPr>
                  <a:t>reachable</a:t>
                </a:r>
                <a:r>
                  <a:rPr lang="en-US" b="1" dirty="0"/>
                  <a:t> </a:t>
                </a:r>
                <a:r>
                  <a:rPr lang="en-US" dirty="0"/>
                  <a:t>if there exists an execution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such that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𝑙𝑠𝑡𝑎𝑡𝑒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𝒖</m:t>
                    </m:r>
                  </m:oMath>
                </a14:m>
                <a:endParaRPr lang="en-US" dirty="0"/>
              </a:p>
              <a:p>
                <a:pPr marL="0" indent="0">
                  <a:lnSpc>
                    <a:spcPct val="120000"/>
                  </a:lnSpc>
                  <a:buNone/>
                </a:pP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𝑅𝑒𝑎𝑐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dirty="0"/>
                  <a:t> set of states reachable from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r>
                  <a:rPr lang="en-US" dirty="0"/>
                  <a:t> by automaton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endParaRPr lang="en-US" dirty="0"/>
              </a:p>
              <a:p>
                <a:pPr>
                  <a:lnSpc>
                    <a:spcPct val="120000"/>
                  </a:lnSpc>
                </a:pPr>
                <a:endParaRPr lang="en-US" dirty="0"/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/>
                  <a:t>An </a:t>
                </a:r>
                <a:r>
                  <a:rPr lang="en-US" b="1" i="1" dirty="0">
                    <a:solidFill>
                      <a:srgbClr val="0070C0"/>
                    </a:solidFill>
                  </a:rPr>
                  <a:t>invariant</a:t>
                </a:r>
                <a:r>
                  <a:rPr lang="en-US" b="1" dirty="0"/>
                  <a:t> </a:t>
                </a:r>
                <a:r>
                  <a:rPr lang="en-US" dirty="0"/>
                  <a:t>is a set of states I such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𝑅𝑒𝑎𝑐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FC5C8EB-1D1C-304E-86C5-55393B8F40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5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2164415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42B0EB57-4041-F549-90AD-A17251693A14}"/>
                  </a:ext>
                </a:extLst>
              </p:cNvPr>
              <p:cNvSpPr/>
              <p:nvPr/>
            </p:nvSpPr>
            <p:spPr>
              <a:xfrm>
                <a:off x="8054853" y="1661966"/>
                <a:ext cx="3864864" cy="4179760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val(X): All states e.g.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</a:p>
              <a:p>
                <a:pPr algn="ctr"/>
                <a:endParaRPr lang="en-US" dirty="0"/>
              </a:p>
              <a:p>
                <a:pPr algn="ctr"/>
                <a:endParaRPr lang="en-US" dirty="0"/>
              </a:p>
              <a:p>
                <a:pPr algn="ctr"/>
                <a:endParaRPr lang="en-US" dirty="0"/>
              </a:p>
              <a:p>
                <a:pPr algn="ctr"/>
                <a:endParaRPr lang="en-US" dirty="0"/>
              </a:p>
              <a:p>
                <a:pPr algn="ctr"/>
                <a:endParaRPr lang="en-US" dirty="0"/>
              </a:p>
              <a:p>
                <a:pPr algn="ctr"/>
                <a:endParaRPr lang="en-US" dirty="0"/>
              </a:p>
              <a:p>
                <a:pPr algn="ctr"/>
                <a:endParaRPr lang="en-US" dirty="0"/>
              </a:p>
              <a:p>
                <a:pPr algn="ctr"/>
                <a:endParaRPr lang="en-US" dirty="0"/>
              </a:p>
              <a:p>
                <a:pPr algn="ctr"/>
                <a:endParaRPr lang="en-US" dirty="0"/>
              </a:p>
              <a:p>
                <a:pPr algn="ctr"/>
                <a:endParaRPr lang="en-US" dirty="0"/>
              </a:p>
            </p:txBody>
          </p:sp>
        </mc:Choice>
        <mc:Fallback xmlns="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42B0EB57-4041-F549-90AD-A17251693A1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4853" y="1661966"/>
                <a:ext cx="3864864" cy="417976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363" name="Content Placeholder 3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: “Exactly one process has the token”.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≥1</m:t>
                        </m:r>
                      </m:sub>
                    </m:sSub>
                  </m:oMath>
                </a14:m>
                <a:r>
                  <a:rPr lang="en-US" dirty="0"/>
                  <a:t>: “At least one process has a token”.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dirty="0"/>
                  <a:t>: “All processes have values at most  K-1”.</a:t>
                </a:r>
                <a:endParaRPr lang="en-US" sz="2000" dirty="0"/>
              </a:p>
            </p:txBody>
          </p:sp>
        </mc:Choice>
        <mc:Fallback xmlns="">
          <p:sp>
            <p:nvSpPr>
              <p:cNvPr id="15363" name="Conten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4"/>
                <a:stretch>
                  <a:fillRect l="-241" t="-2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41D3715A-59A6-FB40-B0E7-1051C01D89C9}"/>
                  </a:ext>
                </a:extLst>
              </p:cNvPr>
              <p:cNvSpPr/>
              <p:nvPr/>
            </p:nvSpPr>
            <p:spPr>
              <a:xfrm>
                <a:off x="8232824" y="2828217"/>
                <a:ext cx="3508922" cy="2806788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b="0" dirty="0"/>
                  <a:t>Invariant e.g.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sz="2800" dirty="0"/>
              </a:p>
              <a:p>
                <a:pPr algn="ctr"/>
                <a:endParaRPr lang="en-US" sz="2800" dirty="0"/>
              </a:p>
              <a:p>
                <a:pPr algn="ctr"/>
                <a:endParaRPr lang="en-US" sz="2800" dirty="0"/>
              </a:p>
              <a:p>
                <a:pPr algn="ctr"/>
                <a:endParaRPr lang="en-US" sz="2800" dirty="0"/>
              </a:p>
              <a:p>
                <a:pPr algn="ctr"/>
                <a:endParaRPr lang="en-US" sz="2800" dirty="0"/>
              </a:p>
            </p:txBody>
          </p:sp>
        </mc:Choice>
        <mc:Fallback xmlns=""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41D3715A-59A6-FB40-B0E7-1051C01D89C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2824" y="2828217"/>
                <a:ext cx="3508922" cy="2806788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E65923C4-F7A6-EF45-B37D-E1317E0477F3}"/>
                  </a:ext>
                </a:extLst>
              </p:cNvPr>
              <p:cNvSpPr/>
              <p:nvPr/>
            </p:nvSpPr>
            <p:spPr>
              <a:xfrm>
                <a:off x="8472092" y="3719461"/>
                <a:ext cx="3030386" cy="1476573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𝑅𝑒𝑎𝑐h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𝒜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  <a:p>
                <a:pPr algn="ctr"/>
                <a:endParaRPr lang="en-US" sz="2400" dirty="0"/>
              </a:p>
            </p:txBody>
          </p:sp>
        </mc:Choice>
        <mc:Fallback xmlns="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E65923C4-F7A6-EF45-B37D-E1317E0477F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2092" y="3719461"/>
                <a:ext cx="3030386" cy="1476573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0180DBC7-5ECA-B140-AABA-39584D6D7284}"/>
                  </a:ext>
                </a:extLst>
              </p:cNvPr>
              <p:cNvSpPr/>
              <p:nvPr/>
            </p:nvSpPr>
            <p:spPr>
              <a:xfrm>
                <a:off x="9031194" y="4613651"/>
                <a:ext cx="1082070" cy="415549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𝒖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0180DBC7-5ECA-B140-AABA-39584D6D728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1194" y="4613651"/>
                <a:ext cx="1082070" cy="415549"/>
              </a:xfrm>
              <a:prstGeom prst="ellipse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dirty="0"/>
              <a:t>Candidate invariants for token Ring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08195EF-E195-CF42-9375-D4CE1207F918}"/>
              </a:ext>
            </a:extLst>
          </p:cNvPr>
          <p:cNvSpPr txBox="1"/>
          <p:nvPr/>
        </p:nvSpPr>
        <p:spPr>
          <a:xfrm>
            <a:off x="8977040" y="794426"/>
            <a:ext cx="20204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For any automaton </a:t>
            </a:r>
          </a:p>
        </p:txBody>
      </p:sp>
    </p:spTree>
    <p:extLst>
      <p:ext uri="{BB962C8B-B14F-4D97-AF65-F5344CB8AC3E}">
        <p14:creationId xmlns:p14="http://schemas.microsoft.com/office/powerpoint/2010/main" val="407592786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Reachability as graph search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Q1. Given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</m:oMath>
                </a14:m>
                <a:r>
                  <a:rPr lang="en-US" dirty="0"/>
                  <a:t>is a state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𝑣𝑎𝑙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</m:oMath>
                </a14:m>
                <a:r>
                  <a:rPr lang="en-US" dirty="0"/>
                  <a:t> reachable? </a:t>
                </a:r>
              </a:p>
              <a:p>
                <a:endParaRPr lang="en-US" dirty="0"/>
              </a:p>
              <a:p>
                <a:r>
                  <a:rPr lang="en-US" dirty="0"/>
                  <a:t>Define a graph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=〈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〉</m:t>
                    </m:r>
                  </m:oMath>
                </a14:m>
                <a:r>
                  <a:rPr lang="en-US" dirty="0"/>
                  <a:t> where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𝑣𝑎𝑙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∃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Q2. Does there exist a path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sub>
                    </m:sSub>
                  </m:oMath>
                </a14:m>
                <a:r>
                  <a:rPr lang="en-US" dirty="0"/>
                  <a:t> from any state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r>
                  <a:rPr lang="en-US" dirty="0"/>
                  <a:t>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?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Perform DFS/BFS 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</a:p>
              <a:p>
                <a:pPr marL="457200" lvl="1" indent="0">
                  <a:buNone/>
                </a:pPr>
                <a:r>
                  <a:rPr lang="en-US" dirty="0"/>
                  <a:t>  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44" t="-29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1165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Proving invariants by induction </a:t>
            </a:r>
            <a:r>
              <a:rPr lang="en-US"/>
              <a:t>(Chapter 7)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F8A6352-FDCE-A345-A6E7-0FD07B8E9A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1831974"/>
              </a:xfrm>
              <a:solidFill>
                <a:schemeClr val="accent1">
                  <a:lumMod val="20000"/>
                  <a:lumOff val="80000"/>
                </a:schemeClr>
              </a:solidFill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b="1" dirty="0">
                    <a:latin typeface="+mj-lt"/>
                  </a:rPr>
                  <a:t>Theorem 7.1.</a:t>
                </a:r>
                <a:r>
                  <a:rPr lang="en-US" dirty="0">
                    <a:latin typeface="+mj-lt"/>
                  </a:rPr>
                  <a:t> Given a automaton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=〈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𝒟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〉</m:t>
                    </m:r>
                  </m:oMath>
                </a14:m>
                <a:r>
                  <a:rPr lang="en-US" dirty="0">
                    <a:latin typeface="+mj-lt"/>
                  </a:rPr>
                  <a:t> and a set of states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⊆</m:t>
                    </m:r>
                    <m:r>
                      <m:rPr>
                        <m:sty m:val="p"/>
                      </m:rPr>
                      <a:rPr lang="en-US" i="1" dirty="0" err="1">
                        <a:latin typeface="Cambria Math" panose="02040503050406030204" pitchFamily="18" charset="0"/>
                      </a:rPr>
                      <m:t>val</m:t>
                    </m:r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+mj-lt"/>
                  </a:rPr>
                  <a:t>if: 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dirty="0">
                    <a:latin typeface="+mj-lt"/>
                  </a:rPr>
                  <a:t>(Start condition) for any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r>
                  <a:rPr lang="en-US" dirty="0">
                    <a:latin typeface="+mj-lt"/>
                  </a:rPr>
                  <a:t> implies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>
                    <a:latin typeface="+mj-lt"/>
                  </a:rPr>
                  <a:t>, and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dirty="0">
                    <a:latin typeface="+mj-lt"/>
                  </a:rPr>
                  <a:t>(Transition closure) for any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dirty="0">
                    <a:latin typeface="+mj-lt"/>
                  </a:rPr>
                  <a:t>’ and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>
                    <a:latin typeface="+mj-lt"/>
                  </a:rPr>
                  <a:t> implies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>
                    <a:latin typeface="+mj-lt"/>
                  </a:rPr>
                  <a:t>then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>
                    <a:latin typeface="+mj-lt"/>
                  </a:rPr>
                  <a:t> is an (inductive) invariant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r>
                  <a:rPr lang="en-US" dirty="0">
                    <a:latin typeface="+mj-lt"/>
                  </a:rPr>
                  <a:t>. That is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𝑅𝑒𝑎𝑐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Θ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⊆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>
                    <a:latin typeface="+mj-lt"/>
                  </a:rPr>
                  <a:t>.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endParaRPr lang="en-US" dirty="0">
                  <a:latin typeface="+mj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F8A6352-FDCE-A345-A6E7-0FD07B8E9A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1831974"/>
              </a:xfrm>
              <a:blipFill>
                <a:blip r:embed="rId2"/>
                <a:stretch>
                  <a:fillRect l="-603" t="-2778"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285173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Proving invariants by induction (Chapter 7)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F8A6352-FDCE-A345-A6E7-0FD07B8E9A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3428999"/>
                <a:ext cx="10515600" cy="3063875"/>
              </a:xfrm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b="1" dirty="0">
                    <a:latin typeface="+mj-lt"/>
                  </a:rPr>
                  <a:t>Proof. </a:t>
                </a:r>
                <a:r>
                  <a:rPr lang="en-US" dirty="0">
                    <a:latin typeface="+mj-lt"/>
                  </a:rPr>
                  <a:t>Consider any reachable state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dirty="0">
                    <a:latin typeface="+mj-lt"/>
                  </a:rPr>
                  <a:t>.  By the definition of a reachable state, there exists an execution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+mj-lt"/>
                  </a:rPr>
                  <a:t>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+mj-lt"/>
                  </a:rPr>
                  <a:t>such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𝑙𝑠𝑡𝑎𝑡𝑒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dirty="0">
                    <a:latin typeface="+mj-lt"/>
                  </a:rPr>
                  <a:t>. 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>
                    <a:latin typeface="+mj-lt"/>
                  </a:rPr>
                  <a:t>We proceed by induction on the length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>
                    <a:latin typeface="+mj-lt"/>
                  </a:rPr>
                  <a:t>For the base case,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+mj-lt"/>
                  </a:rPr>
                  <a:t>consists of a single starting state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r>
                  <a:rPr lang="en-US" dirty="0">
                    <a:latin typeface="+mj-lt"/>
                  </a:rPr>
                  <a:t>, and by the Start condition,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>
                    <a:latin typeface="+mj-lt"/>
                  </a:rPr>
                  <a:t>. 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>
                    <a:latin typeface="+mj-lt"/>
                  </a:rPr>
                  <a:t>For the inductive step,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dirty="0">
                    <a:latin typeface="+mj-lt"/>
                  </a:rPr>
                  <a:t> where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>
                    <a:latin typeface="+mj-lt"/>
                  </a:rPr>
                  <a:t>. By the induction hypothesis, we know that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𝑙𝑠𝑡𝑎𝑡𝑒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>
                    <a:latin typeface="+mj-lt"/>
                  </a:rPr>
                  <a:t>. 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>
                    <a:latin typeface="+mj-lt"/>
                  </a:rPr>
                  <a:t>Invoking Transition closure 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𝑙𝑠𝑡𝑎𝑡𝑒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→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+mj-lt"/>
                  </a:rPr>
                  <a:t>we obtain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dirty="0">
                    <a:latin typeface="+mj-lt"/>
                  </a:rPr>
                  <a:t>	QED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F8A6352-FDCE-A345-A6E7-0FD07B8E9A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428999"/>
                <a:ext cx="10515600" cy="3063875"/>
              </a:xfrm>
              <a:blipFill>
                <a:blip r:embed="rId2"/>
                <a:stretch>
                  <a:fillRect l="-603" t="-8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7238FEE1-78F8-C04C-959C-E1282FC4719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462371"/>
                <a:ext cx="10515600" cy="1831974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txBody>
              <a:bodyPr vert="horz" lIns="91440" tIns="45720" rIns="91440" bIns="45720" rtlCol="0">
                <a:normAutofit fontScale="77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20000"/>
                  </a:lnSpc>
                  <a:buFont typeface="Arial" panose="020B0604020202020204" pitchFamily="34" charset="0"/>
                  <a:buNone/>
                </a:pPr>
                <a:r>
                  <a:rPr lang="en-US" b="1" dirty="0">
                    <a:latin typeface="+mj-lt"/>
                  </a:rPr>
                  <a:t>Theorem 7.1.</a:t>
                </a:r>
                <a:r>
                  <a:rPr lang="en-US" dirty="0">
                    <a:latin typeface="+mj-lt"/>
                  </a:rPr>
                  <a:t> Given a automaton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=〈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𝒟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〉</m:t>
                    </m:r>
                  </m:oMath>
                </a14:m>
                <a:r>
                  <a:rPr lang="en-US" dirty="0">
                    <a:latin typeface="+mj-lt"/>
                  </a:rPr>
                  <a:t> and a set of states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⊆</m:t>
                    </m:r>
                    <m:r>
                      <m:rPr>
                        <m:sty m:val="p"/>
                      </m:rPr>
                      <a:rPr lang="en-US" i="1" dirty="0" err="1">
                        <a:latin typeface="Cambria Math" panose="02040503050406030204" pitchFamily="18" charset="0"/>
                      </a:rPr>
                      <m:t>val</m:t>
                    </m:r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+mj-lt"/>
                  </a:rPr>
                  <a:t>if: 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dirty="0">
                    <a:latin typeface="+mj-lt"/>
                  </a:rPr>
                  <a:t>(Start condition) for any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dirty="0" smtClean="0"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r>
                  <a:rPr lang="en-US" dirty="0">
                    <a:latin typeface="+mj-lt"/>
                  </a:rPr>
                  <a:t> implies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>
                    <a:latin typeface="+mj-lt"/>
                  </a:rPr>
                  <a:t>, and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dirty="0">
                    <a:latin typeface="+mj-lt"/>
                  </a:rPr>
                  <a:t>(Transition closure) for any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→</m:t>
                        </m:r>
                      </m:e>
                      <m:sub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>
                    <a:latin typeface="+mj-lt"/>
                  </a:rPr>
                  <a:t> and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>
                    <a:latin typeface="+mj-lt"/>
                  </a:rPr>
                  <a:t> implies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Font typeface="Arial" panose="020B0604020202020204" pitchFamily="34" charset="0"/>
                  <a:buNone/>
                </a:pPr>
                <a:r>
                  <a:rPr lang="en-US" dirty="0">
                    <a:latin typeface="+mj-lt"/>
                  </a:rPr>
                  <a:t>then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>
                    <a:latin typeface="+mj-lt"/>
                  </a:rPr>
                  <a:t> is an (inductive) invariant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r>
                  <a:rPr lang="en-US" dirty="0">
                    <a:latin typeface="+mj-lt"/>
                  </a:rPr>
                  <a:t>. That is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𝑅𝑒𝑎𝑐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sub>
                    </m:sSub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Θ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⊆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>
                    <a:latin typeface="+mj-lt"/>
                  </a:rPr>
                  <a:t>.</a:t>
                </a:r>
              </a:p>
              <a:p>
                <a:pPr marL="0" indent="0">
                  <a:lnSpc>
                    <a:spcPct val="120000"/>
                  </a:lnSpc>
                  <a:buFont typeface="Arial" panose="020B0604020202020204" pitchFamily="34" charset="0"/>
                  <a:buNone/>
                </a:pPr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Font typeface="Arial" panose="020B0604020202020204" pitchFamily="34" charset="0"/>
                  <a:buNone/>
                </a:pPr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Font typeface="Arial" panose="020B0604020202020204" pitchFamily="34" charset="0"/>
                  <a:buNone/>
                </a:pPr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Font typeface="Arial" panose="020B0604020202020204" pitchFamily="34" charset="0"/>
                  <a:buNone/>
                </a:pPr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Font typeface="Arial" panose="020B0604020202020204" pitchFamily="34" charset="0"/>
                  <a:buNone/>
                </a:pPr>
                <a:endParaRPr lang="en-US" dirty="0">
                  <a:latin typeface="+mj-lt"/>
                </a:endParaRP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7238FEE1-78F8-C04C-959C-E1282FC471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462371"/>
                <a:ext cx="10515600" cy="1831974"/>
              </a:xfrm>
              <a:prstGeom prst="rect">
                <a:avLst/>
              </a:prstGeom>
              <a:blipFill>
                <a:blip r:embed="rId3"/>
                <a:stretch>
                  <a:fillRect l="-603" t="-2069" b="-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648031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8DEA22-7141-D04F-BF3E-5840C64D7F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15144"/>
            <a:ext cx="10515600" cy="868683"/>
          </a:xfrm>
        </p:spPr>
        <p:txBody>
          <a:bodyPr/>
          <a:lstStyle/>
          <a:p>
            <a:r>
              <a:rPr lang="en-US" dirty="0"/>
              <a:t>Proving invariants by induction for Dijkstra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C226C4B-D7C6-FD43-A760-6045ED4E275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74319" y="2462939"/>
                <a:ext cx="7598043" cy="3847206"/>
              </a:xfrm>
            </p:spPr>
            <p:txBody>
              <a:bodyPr>
                <a:normAutofit fontScale="55000" lnSpcReduction="20000"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: </m:t>
                    </m:r>
                  </m:oMath>
                </a14:m>
                <a:r>
                  <a:rPr lang="en-US" dirty="0"/>
                  <a:t>“Exactly one process has the token”.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≡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∨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∨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…</m:t>
                    </m:r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∨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−2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(Start condition): Fix a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. 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⊨∀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 therefore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⊨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b="0" dirty="0"/>
              </a:p>
              <a:p>
                <a:pPr marL="0" indent="0">
                  <a:buNone/>
                </a:pPr>
                <a:r>
                  <a:rPr lang="en-US" dirty="0"/>
                  <a:t>(Transition closure): Fix a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→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/>
                  <a:t> such that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/>
                  <a:t>. </a:t>
                </a:r>
              </a:p>
              <a:p>
                <a:pPr marL="0" indent="0">
                  <a:buNone/>
                </a:pPr>
                <a:r>
                  <a:rPr lang="en-US" dirty="0"/>
                  <a:t>Two cases to consider. </a:t>
                </a:r>
              </a:p>
              <a:p>
                <a:pPr marL="0" indent="0">
                  <a:buNone/>
                </a:pPr>
                <a:r>
                  <a:rPr lang="en-US" dirty="0"/>
                  <a:t>1.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𝑢𝑝𝑑𝑎𝑡𝑒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(0)</m:t>
                    </m:r>
                  </m:oMath>
                </a14:m>
                <a:r>
                  <a:rPr lang="en-US" dirty="0"/>
                  <a:t> then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dirty="0"/>
                  <a:t>since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⊨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𝑃𝑟𝑒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𝑢𝑝𝑑𝑎𝑡𝑒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d>
                  </m:oMath>
                </a14:m>
                <a:r>
                  <a:rPr lang="en-US" dirty="0"/>
                  <a:t> it follows that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−1]</m:t>
                    </m:r>
                  </m:oMath>
                </a14:m>
                <a:endParaRPr lang="en-US" b="1" dirty="0"/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dirty="0"/>
                  <a:t>since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⊨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it follows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&gt;0 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−1]</m:t>
                    </m:r>
                  </m:oMath>
                </a14:m>
                <a:endParaRPr lang="en-US" dirty="0"/>
              </a:p>
              <a:p>
                <a:pPr marL="914400" lvl="1" indent="-457200">
                  <a:buFont typeface="+mj-lt"/>
                  <a:buAutoNum type="alphaLcParenR"/>
                </a:pP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b="1" i="1" smtClean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−1]</m:t>
                    </m:r>
                  </m:oMath>
                </a14:m>
                <a:r>
                  <a:rPr lang="en-US" b="1" dirty="0"/>
                  <a:t> 		</a:t>
                </a:r>
                <a:r>
                  <a:rPr lang="en-US" dirty="0"/>
                  <a:t>by applying (a)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𝐸𝑓𝑓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𝑢𝑝𝑑𝑎𝑡𝑒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d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to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en-US" b="1" dirty="0"/>
              </a:p>
              <a:p>
                <a:pPr marL="914400" lvl="1" indent="-457200">
                  <a:buFont typeface="+mj-lt"/>
                  <a:buAutoNum type="alphaLcParenR"/>
                </a:pP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′⌈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b="1" i="1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′⌈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[0]</m:t>
                    </m:r>
                  </m:oMath>
                </a14:m>
                <a:r>
                  <a:rPr lang="en-US" b="1" dirty="0"/>
                  <a:t> 		</a:t>
                </a:r>
                <a:r>
                  <a:rPr lang="en-US" dirty="0"/>
                  <a:t>by applying (b)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𝐸𝑓𝑓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𝑢𝑝𝑑𝑎𝑡𝑒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d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to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en-US" b="1" dirty="0"/>
              </a:p>
              <a:p>
                <a:pPr marL="914400" lvl="1" indent="-457200">
                  <a:buFont typeface="+mj-lt"/>
                  <a:buAutoNum type="alphaLcParenR"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&gt;1 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−1]</m:t>
                    </m:r>
                  </m:oMath>
                </a14:m>
                <a:r>
                  <a:rPr lang="en-US" dirty="0"/>
                  <a:t>	by applying (b)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𝐸𝑓𝑓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𝑢𝑝𝑑𝑎𝑡𝑒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d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to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en-US" b="1" dirty="0"/>
              </a:p>
              <a:p>
                <a:pPr marL="457200" lvl="1" indent="0">
                  <a:buNone/>
                </a:pPr>
                <a:r>
                  <a:rPr lang="en-US" dirty="0"/>
                  <a:t>Therefore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p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⊨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2. If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𝑢𝑝𝑑𝑎𝑡𝑒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i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&gt;0 </m:t>
                    </m:r>
                  </m:oMath>
                </a14:m>
                <a:r>
                  <a:rPr lang="en-US" dirty="0"/>
                  <a:t>then fix arbitrary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dirty="0"/>
                  <a:t> … (do it as an exercise) 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endParaRPr lang="en-US" dirty="0"/>
              </a:p>
              <a:p>
                <a:pPr marL="914400" lvl="1" indent="-457200">
                  <a:buFont typeface="+mj-lt"/>
                  <a:buAutoNum type="alphaLcParenR"/>
                </a:pPr>
                <a:endParaRPr lang="en-US" b="1" dirty="0"/>
              </a:p>
              <a:p>
                <a:pPr marL="457200" lvl="1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b="0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C226C4B-D7C6-FD43-A760-6045ED4E275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74319" y="2462939"/>
                <a:ext cx="7598043" cy="3847206"/>
              </a:xfrm>
              <a:blipFill>
                <a:blip r:embed="rId2"/>
                <a:stretch>
                  <a:fillRect l="-334" t="-19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C1763042-1426-EF4A-A930-DB43AD7F99DB}"/>
              </a:ext>
            </a:extLst>
          </p:cNvPr>
          <p:cNvSpPr txBox="1"/>
          <p:nvPr/>
        </p:nvSpPr>
        <p:spPr>
          <a:xfrm>
            <a:off x="7872362" y="753539"/>
            <a:ext cx="4280013" cy="384720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/>
              <a:t>automaton</a:t>
            </a:r>
            <a:r>
              <a:rPr lang="en-US" sz="1600" dirty="0"/>
              <a:t> </a:t>
            </a:r>
            <a:r>
              <a:rPr lang="en-US" sz="1600" dirty="0" err="1">
                <a:solidFill>
                  <a:srgbClr val="0119FF"/>
                </a:solidFill>
              </a:rPr>
              <a:t>DijkstraTR</a:t>
            </a:r>
            <a:r>
              <a:rPr lang="en-US" sz="1600" dirty="0"/>
              <a:t>(</a:t>
            </a:r>
            <a:r>
              <a:rPr lang="en-US" sz="1600" dirty="0" err="1"/>
              <a:t>N:</a:t>
            </a:r>
            <a:r>
              <a:rPr lang="en-US" sz="1600" dirty="0" err="1">
                <a:solidFill>
                  <a:srgbClr val="00B050"/>
                </a:solidFill>
              </a:rPr>
              <a:t>Nat</a:t>
            </a:r>
            <a:r>
              <a:rPr lang="en-US" sz="1600" dirty="0"/>
              <a:t>, </a:t>
            </a:r>
            <a:r>
              <a:rPr lang="en-US" sz="1600" dirty="0" err="1"/>
              <a:t>K:</a:t>
            </a:r>
            <a:r>
              <a:rPr lang="en-US" sz="1600" dirty="0" err="1">
                <a:solidFill>
                  <a:srgbClr val="00B050"/>
                </a:solidFill>
              </a:rPr>
              <a:t>Nat</a:t>
            </a:r>
            <a:r>
              <a:rPr lang="en-US" sz="1600" dirty="0"/>
              <a:t>), </a:t>
            </a:r>
            <a:r>
              <a:rPr lang="en-US" sz="1600" b="1" dirty="0"/>
              <a:t>where</a:t>
            </a:r>
            <a:r>
              <a:rPr lang="en-US" sz="1600" dirty="0"/>
              <a:t> K &gt; N</a:t>
            </a:r>
          </a:p>
          <a:p>
            <a:r>
              <a:rPr lang="en-US" sz="1600" dirty="0"/>
              <a:t>  </a:t>
            </a:r>
            <a:r>
              <a:rPr lang="en-US" sz="1600" b="1" dirty="0"/>
              <a:t>type</a:t>
            </a:r>
            <a:r>
              <a:rPr lang="en-US" sz="1600" dirty="0"/>
              <a:t> </a:t>
            </a:r>
            <a:r>
              <a:rPr lang="en-US" sz="1600" dirty="0">
                <a:solidFill>
                  <a:srgbClr val="0119FF"/>
                </a:solidFill>
              </a:rPr>
              <a:t>ID</a:t>
            </a:r>
            <a:r>
              <a:rPr lang="en-US" sz="1600" dirty="0"/>
              <a:t>: </a:t>
            </a:r>
            <a:r>
              <a:rPr lang="en-US" sz="1600" b="1" dirty="0"/>
              <a:t>enumeration</a:t>
            </a:r>
            <a:r>
              <a:rPr lang="en-US" sz="1600" dirty="0"/>
              <a:t> [0,...,N-1]</a:t>
            </a:r>
          </a:p>
          <a:p>
            <a:r>
              <a:rPr lang="en-US" sz="1600" dirty="0"/>
              <a:t>  </a:t>
            </a:r>
            <a:r>
              <a:rPr lang="en-US" sz="1600" b="1" dirty="0"/>
              <a:t>type</a:t>
            </a:r>
            <a:r>
              <a:rPr lang="en-US" sz="1600" dirty="0"/>
              <a:t> </a:t>
            </a:r>
            <a:r>
              <a:rPr lang="en-US" sz="1600" dirty="0">
                <a:solidFill>
                  <a:srgbClr val="0119FF"/>
                </a:solidFill>
              </a:rPr>
              <a:t>Val</a:t>
            </a:r>
            <a:r>
              <a:rPr lang="en-US" sz="1600" dirty="0"/>
              <a:t>: </a:t>
            </a:r>
            <a:r>
              <a:rPr lang="en-US" sz="1600" b="1" dirty="0"/>
              <a:t>enumeration</a:t>
            </a:r>
            <a:r>
              <a:rPr lang="en-US" sz="1600" dirty="0"/>
              <a:t> [0,...,K]</a:t>
            </a:r>
          </a:p>
          <a:p>
            <a:r>
              <a:rPr lang="en-US" sz="1600" dirty="0"/>
              <a:t>  </a:t>
            </a:r>
            <a:r>
              <a:rPr lang="en-US" sz="1600" b="1" dirty="0"/>
              <a:t>actions</a:t>
            </a:r>
          </a:p>
          <a:p>
            <a:r>
              <a:rPr lang="en-US" sz="1600" dirty="0"/>
              <a:t>      </a:t>
            </a:r>
            <a:r>
              <a:rPr lang="en-US" sz="1600" dirty="0">
                <a:solidFill>
                  <a:srgbClr val="0119FF"/>
                </a:solidFill>
              </a:rPr>
              <a:t>update</a:t>
            </a:r>
            <a:r>
              <a:rPr lang="en-US" sz="1600" dirty="0"/>
              <a:t>(</a:t>
            </a:r>
            <a:r>
              <a:rPr lang="en-US" sz="1600" dirty="0" err="1"/>
              <a:t>i:ID</a:t>
            </a:r>
            <a:r>
              <a:rPr lang="en-US" sz="1600" dirty="0"/>
              <a:t>)</a:t>
            </a:r>
          </a:p>
          <a:p>
            <a:r>
              <a:rPr lang="en-US" sz="1600" dirty="0"/>
              <a:t>  </a:t>
            </a:r>
            <a:r>
              <a:rPr lang="en-US" sz="1600" b="1" dirty="0"/>
              <a:t>variables</a:t>
            </a:r>
          </a:p>
          <a:p>
            <a:r>
              <a:rPr lang="en-US" sz="1600" dirty="0"/>
              <a:t>      </a:t>
            </a:r>
            <a:r>
              <a:rPr lang="en-US" sz="1600" dirty="0">
                <a:solidFill>
                  <a:srgbClr val="0119FF"/>
                </a:solidFill>
              </a:rPr>
              <a:t>x</a:t>
            </a:r>
            <a:r>
              <a:rPr lang="en-US" sz="1600" dirty="0"/>
              <a:t>:[ID -&gt; Val] </a:t>
            </a:r>
            <a:r>
              <a:rPr lang="en-US" sz="1600" b="1" dirty="0">
                <a:solidFill>
                  <a:srgbClr val="C00000"/>
                </a:solidFill>
              </a:rPr>
              <a:t>initially</a:t>
            </a:r>
            <a:r>
              <a:rPr lang="en-US" sz="1600" dirty="0">
                <a:solidFill>
                  <a:srgbClr val="C00000"/>
                </a:solidFill>
              </a:rPr>
              <a:t> </a:t>
            </a:r>
            <a:r>
              <a:rPr lang="en-US" sz="1600" b="1" dirty="0" err="1">
                <a:solidFill>
                  <a:srgbClr val="C00000"/>
                </a:solidFill>
              </a:rPr>
              <a:t>forall</a:t>
            </a:r>
            <a:r>
              <a:rPr lang="en-US" sz="1600" dirty="0">
                <a:solidFill>
                  <a:srgbClr val="C00000"/>
                </a:solidFill>
              </a:rPr>
              <a:t> </a:t>
            </a:r>
            <a:r>
              <a:rPr lang="en-US" sz="1600" dirty="0" err="1">
                <a:solidFill>
                  <a:srgbClr val="C00000"/>
                </a:solidFill>
              </a:rPr>
              <a:t>i:ID</a:t>
            </a:r>
            <a:r>
              <a:rPr lang="en-US" sz="1600" dirty="0">
                <a:solidFill>
                  <a:srgbClr val="C00000"/>
                </a:solidFill>
              </a:rPr>
              <a:t> x[</a:t>
            </a:r>
            <a:r>
              <a:rPr lang="en-US" sz="1600" dirty="0" err="1">
                <a:solidFill>
                  <a:srgbClr val="C00000"/>
                </a:solidFill>
              </a:rPr>
              <a:t>i</a:t>
            </a:r>
            <a:r>
              <a:rPr lang="en-US" sz="1600" dirty="0">
                <a:solidFill>
                  <a:srgbClr val="C00000"/>
                </a:solidFill>
              </a:rPr>
              <a:t>] = 0</a:t>
            </a:r>
          </a:p>
          <a:p>
            <a:r>
              <a:rPr lang="en-US" sz="1600" dirty="0"/>
              <a:t>   </a:t>
            </a:r>
            <a:r>
              <a:rPr lang="en-US" sz="1600" b="1" dirty="0"/>
              <a:t>transitions</a:t>
            </a:r>
          </a:p>
          <a:p>
            <a:r>
              <a:rPr lang="en-US" sz="1600" dirty="0"/>
              <a:t>      </a:t>
            </a:r>
            <a:r>
              <a:rPr lang="en-US" sz="1600" dirty="0">
                <a:solidFill>
                  <a:srgbClr val="0119FF"/>
                </a:solidFill>
              </a:rPr>
              <a:t>update</a:t>
            </a:r>
            <a:r>
              <a:rPr lang="en-US" sz="1600" dirty="0"/>
              <a:t>(</a:t>
            </a:r>
            <a:r>
              <a:rPr lang="en-US" sz="1600" dirty="0" err="1"/>
              <a:t>i:ID</a:t>
            </a:r>
            <a:r>
              <a:rPr lang="en-US" sz="1600" dirty="0"/>
              <a:t>) </a:t>
            </a:r>
          </a:p>
          <a:p>
            <a:r>
              <a:rPr lang="en-US" sz="1600" dirty="0"/>
              <a:t>        </a:t>
            </a:r>
            <a:r>
              <a:rPr lang="en-US" sz="1600" b="1" dirty="0"/>
              <a:t>pre</a:t>
            </a:r>
            <a:r>
              <a:rPr lang="en-US" sz="1600" dirty="0"/>
              <a:t> </a:t>
            </a:r>
            <a:r>
              <a:rPr lang="en-US" sz="1600" dirty="0" err="1"/>
              <a:t>i</a:t>
            </a:r>
            <a:r>
              <a:rPr lang="en-US" sz="1600" dirty="0"/>
              <a:t> = 0 /\ x[</a:t>
            </a:r>
            <a:r>
              <a:rPr lang="en-US" sz="1600" dirty="0" err="1"/>
              <a:t>i</a:t>
            </a:r>
            <a:r>
              <a:rPr lang="en-US" sz="1600" dirty="0"/>
              <a:t>] = x[(N-1)]</a:t>
            </a:r>
          </a:p>
          <a:p>
            <a:r>
              <a:rPr lang="en-US" sz="1600" dirty="0"/>
              <a:t>        </a:t>
            </a:r>
            <a:r>
              <a:rPr lang="en-US" sz="1600" b="1" dirty="0"/>
              <a:t>eff</a:t>
            </a:r>
            <a:r>
              <a:rPr lang="en-US" sz="1600" dirty="0"/>
              <a:t> x[</a:t>
            </a:r>
            <a:r>
              <a:rPr lang="en-US" sz="1600" dirty="0" err="1"/>
              <a:t>i</a:t>
            </a:r>
            <a:r>
              <a:rPr lang="en-US" sz="1600" dirty="0"/>
              <a:t>] := (x[</a:t>
            </a:r>
            <a:r>
              <a:rPr lang="en-US" sz="1600" dirty="0" err="1"/>
              <a:t>i</a:t>
            </a:r>
            <a:r>
              <a:rPr lang="en-US" sz="1600" dirty="0"/>
              <a:t>] + 1) %  K</a:t>
            </a:r>
          </a:p>
          <a:p>
            <a:r>
              <a:rPr lang="en-US" sz="1600" dirty="0"/>
              <a:t>   </a:t>
            </a:r>
          </a:p>
          <a:p>
            <a:r>
              <a:rPr lang="en-US" sz="1600" dirty="0"/>
              <a:t>       </a:t>
            </a:r>
            <a:r>
              <a:rPr lang="en-US" sz="1600" dirty="0">
                <a:solidFill>
                  <a:srgbClr val="0119FF"/>
                </a:solidFill>
              </a:rPr>
              <a:t>update</a:t>
            </a:r>
            <a:r>
              <a:rPr lang="en-US" sz="1600" dirty="0"/>
              <a:t>(</a:t>
            </a:r>
            <a:r>
              <a:rPr lang="en-US" sz="1600" dirty="0" err="1"/>
              <a:t>i:ID</a:t>
            </a:r>
            <a:r>
              <a:rPr lang="en-US" sz="1600" dirty="0"/>
              <a:t>)</a:t>
            </a:r>
          </a:p>
          <a:p>
            <a:r>
              <a:rPr lang="en-US" sz="1600" dirty="0"/>
              <a:t>         </a:t>
            </a:r>
            <a:r>
              <a:rPr lang="en-US" sz="1600" b="1" dirty="0"/>
              <a:t>pre</a:t>
            </a:r>
            <a:r>
              <a:rPr lang="en-US" sz="1600" dirty="0"/>
              <a:t> </a:t>
            </a:r>
            <a:r>
              <a:rPr lang="en-US" sz="1600" dirty="0" err="1"/>
              <a:t>i</a:t>
            </a:r>
            <a:r>
              <a:rPr lang="en-US" sz="1600" dirty="0"/>
              <a:t> &gt;0  /\ x[</a:t>
            </a:r>
            <a:r>
              <a:rPr lang="en-US" sz="1600" dirty="0" err="1"/>
              <a:t>i</a:t>
            </a:r>
            <a:r>
              <a:rPr lang="en-US" sz="1600" dirty="0"/>
              <a:t>] ~= x[i-1]</a:t>
            </a:r>
          </a:p>
          <a:p>
            <a:r>
              <a:rPr lang="en-US" sz="1600" dirty="0"/>
              <a:t>         </a:t>
            </a:r>
            <a:r>
              <a:rPr lang="en-US" sz="1600" b="1" dirty="0"/>
              <a:t>eff</a:t>
            </a:r>
            <a:r>
              <a:rPr lang="en-US" sz="1600" dirty="0"/>
              <a:t> x[</a:t>
            </a:r>
            <a:r>
              <a:rPr lang="en-US" sz="1600" dirty="0" err="1"/>
              <a:t>i</a:t>
            </a:r>
            <a:r>
              <a:rPr lang="en-US" sz="1600" dirty="0"/>
              <a:t>] := x[i-1]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19E9E936-0227-6742-A0A7-BDDE802C62C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74318" y="753539"/>
                <a:ext cx="7461504" cy="1518573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txBody>
              <a:bodyPr vert="horz" lIns="91440" tIns="45720" rIns="91440" bIns="45720" rtlCol="0">
                <a:normAutofit fontScale="32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20000"/>
                  </a:lnSpc>
                  <a:buFont typeface="Arial" panose="020B0604020202020204" pitchFamily="34" charset="0"/>
                  <a:buNone/>
                </a:pPr>
                <a:r>
                  <a:rPr lang="en-US" sz="4900" b="1" dirty="0">
                    <a:latin typeface="+mj-lt"/>
                  </a:rPr>
                  <a:t>Theorem 7.1.</a:t>
                </a:r>
                <a:r>
                  <a:rPr lang="en-US" sz="4900" dirty="0">
                    <a:latin typeface="+mj-lt"/>
                  </a:rPr>
                  <a:t> Given a automaton </a:t>
                </a:r>
                <a14:m>
                  <m:oMath xmlns:m="http://schemas.openxmlformats.org/officeDocument/2006/math">
                    <m:r>
                      <a:rPr lang="en-US" sz="49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4900" i="1">
                        <a:latin typeface="Cambria Math" panose="02040503050406030204" pitchFamily="18" charset="0"/>
                      </a:rPr>
                      <m:t>=〈</m:t>
                    </m:r>
                    <m:r>
                      <a:rPr lang="en-US" sz="49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4900" i="1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sz="490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4900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49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4900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49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𝒟</m:t>
                    </m:r>
                    <m:r>
                      <a:rPr lang="en-US" sz="49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〉</m:t>
                    </m:r>
                  </m:oMath>
                </a14:m>
                <a:r>
                  <a:rPr lang="en-US" sz="4900" dirty="0">
                    <a:latin typeface="+mj-lt"/>
                  </a:rPr>
                  <a:t> and a set of states </a:t>
                </a:r>
                <a14:m>
                  <m:oMath xmlns:m="http://schemas.openxmlformats.org/officeDocument/2006/math">
                    <m:r>
                      <a:rPr lang="en-US" sz="4900" i="1" dirty="0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sz="4900" i="1" dirty="0" smtClean="0">
                        <a:latin typeface="Cambria Math" panose="02040503050406030204" pitchFamily="18" charset="0"/>
                      </a:rPr>
                      <m:t>⊆</m:t>
                    </m:r>
                    <m:r>
                      <m:rPr>
                        <m:sty m:val="p"/>
                      </m:rPr>
                      <a:rPr lang="en-US" sz="4900" i="1" dirty="0" err="1">
                        <a:latin typeface="Cambria Math" panose="02040503050406030204" pitchFamily="18" charset="0"/>
                      </a:rPr>
                      <m:t>val</m:t>
                    </m:r>
                    <m:d>
                      <m:dPr>
                        <m:ctrlPr>
                          <a:rPr lang="en-US" sz="49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490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49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4900" dirty="0">
                    <a:latin typeface="+mj-lt"/>
                  </a:rPr>
                  <a:t>if: 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sz="4900" dirty="0">
                    <a:latin typeface="+mj-lt"/>
                  </a:rPr>
                  <a:t>(Start condition) for any </a:t>
                </a:r>
                <a14:m>
                  <m:oMath xmlns:m="http://schemas.openxmlformats.org/officeDocument/2006/math">
                    <m:r>
                      <a:rPr lang="en-US" sz="4900" b="1" i="1" dirty="0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490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sz="4900" dirty="0" smtClean="0"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r>
                  <a:rPr lang="en-US" sz="4900" dirty="0">
                    <a:latin typeface="+mj-lt"/>
                  </a:rPr>
                  <a:t> implies </a:t>
                </a:r>
                <a14:m>
                  <m:oMath xmlns:m="http://schemas.openxmlformats.org/officeDocument/2006/math">
                    <m:r>
                      <a:rPr lang="en-US" sz="4900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490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4900" i="1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sz="4900" dirty="0">
                    <a:latin typeface="+mj-lt"/>
                  </a:rPr>
                  <a:t>, and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sz="4900" dirty="0">
                    <a:latin typeface="+mj-lt"/>
                  </a:rPr>
                  <a:t>(Transition closure) for any </a:t>
                </a:r>
                <a14:m>
                  <m:oMath xmlns:m="http://schemas.openxmlformats.org/officeDocument/2006/math">
                    <m:r>
                      <a:rPr lang="en-US" sz="4900" b="1" i="1" smtClean="0">
                        <a:latin typeface="Cambria Math" panose="02040503050406030204" pitchFamily="18" charset="0"/>
                      </a:rPr>
                      <m:t>𝒙</m:t>
                    </m:r>
                    <m:sSub>
                      <m:sSubPr>
                        <m:ctrlPr>
                          <a:rPr lang="en-US" sz="49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4900" i="1" smtClean="0">
                            <a:latin typeface="Cambria Math" panose="02040503050406030204" pitchFamily="18" charset="0"/>
                          </a:rPr>
                          <m:t>→</m:t>
                        </m:r>
                      </m:e>
                      <m:sub>
                        <m:r>
                          <a:rPr lang="en-US" sz="490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en-US" sz="4900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4900" dirty="0">
                    <a:latin typeface="+mj-lt"/>
                  </a:rPr>
                  <a:t>’ and </a:t>
                </a:r>
                <a14:m>
                  <m:oMath xmlns:m="http://schemas.openxmlformats.org/officeDocument/2006/math">
                    <m:r>
                      <a:rPr lang="en-US" sz="4900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4900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4900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sz="4900" dirty="0">
                    <a:latin typeface="+mj-lt"/>
                  </a:rPr>
                  <a:t> implies </a:t>
                </a:r>
                <a14:m>
                  <m:oMath xmlns:m="http://schemas.openxmlformats.org/officeDocument/2006/math">
                    <m:r>
                      <a:rPr lang="en-US" sz="4900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4900" b="1" i="1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sz="4900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4900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endParaRPr lang="en-US" sz="4900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Font typeface="Arial" panose="020B0604020202020204" pitchFamily="34" charset="0"/>
                  <a:buNone/>
                </a:pPr>
                <a:r>
                  <a:rPr lang="en-US" sz="4900" dirty="0">
                    <a:latin typeface="+mj-lt"/>
                  </a:rPr>
                  <a:t>then </a:t>
                </a:r>
                <a14:m>
                  <m:oMath xmlns:m="http://schemas.openxmlformats.org/officeDocument/2006/math">
                    <m:r>
                      <a:rPr lang="en-US" sz="4900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sz="4900" dirty="0">
                    <a:latin typeface="+mj-lt"/>
                  </a:rPr>
                  <a:t> is an (inductive) invariant of </a:t>
                </a:r>
                <a14:m>
                  <m:oMath xmlns:m="http://schemas.openxmlformats.org/officeDocument/2006/math">
                    <m:r>
                      <a:rPr lang="en-US" sz="49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r>
                  <a:rPr lang="en-US" sz="4900" dirty="0">
                    <a:latin typeface="+mj-lt"/>
                  </a:rPr>
                  <a:t>. That is </a:t>
                </a:r>
                <a14:m>
                  <m:oMath xmlns:m="http://schemas.openxmlformats.org/officeDocument/2006/math">
                    <m:r>
                      <a:rPr lang="en-US" sz="4900" i="1">
                        <a:latin typeface="Cambria Math" panose="02040503050406030204" pitchFamily="18" charset="0"/>
                      </a:rPr>
                      <m:t>𝑅𝑒𝑎𝑐</m:t>
                    </m:r>
                    <m:sSub>
                      <m:sSubPr>
                        <m:ctrlPr>
                          <a:rPr lang="en-US" sz="49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49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49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sub>
                    </m:sSub>
                    <m:d>
                      <m:dPr>
                        <m:ctrlPr>
                          <a:rPr lang="en-US" sz="49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49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Θ</m:t>
                        </m:r>
                      </m:e>
                    </m:d>
                    <m:r>
                      <a:rPr lang="en-US" sz="4900" i="1">
                        <a:latin typeface="Cambria Math" panose="02040503050406030204" pitchFamily="18" charset="0"/>
                      </a:rPr>
                      <m:t>⊆</m:t>
                    </m:r>
                    <m:r>
                      <a:rPr lang="en-US" sz="4900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sz="4900" dirty="0">
                    <a:latin typeface="+mj-lt"/>
                  </a:rPr>
                  <a:t>.</a:t>
                </a:r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Font typeface="Arial" panose="020B0604020202020204" pitchFamily="34" charset="0"/>
                  <a:buNone/>
                </a:pPr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Font typeface="Arial" panose="020B0604020202020204" pitchFamily="34" charset="0"/>
                  <a:buNone/>
                </a:pPr>
                <a:endParaRPr lang="en-US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Font typeface="Arial" panose="020B0604020202020204" pitchFamily="34" charset="0"/>
                  <a:buNone/>
                </a:pPr>
                <a:endParaRPr lang="en-US" dirty="0">
                  <a:latin typeface="+mj-lt"/>
                </a:endParaRP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19E9E936-0227-6742-A0A7-BDDE802C62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318" y="753539"/>
                <a:ext cx="7461504" cy="1518573"/>
              </a:xfrm>
              <a:prstGeom prst="rect">
                <a:avLst/>
              </a:prstGeom>
              <a:blipFill>
                <a:blip r:embed="rId3"/>
                <a:stretch>
                  <a:fillRect l="-3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3BA6C93-3E53-3E4E-82EC-781A17BEDF1D}"/>
                  </a:ext>
                </a:extLst>
              </p:cNvPr>
              <p:cNvSpPr txBox="1"/>
              <p:nvPr/>
            </p:nvSpPr>
            <p:spPr>
              <a:xfrm>
                <a:off x="274320" y="6310144"/>
                <a:ext cx="11301984" cy="52322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From above  </a:t>
                </a:r>
                <a:r>
                  <a:rPr lang="en-US" sz="2800" b="1" dirty="0"/>
                  <a:t>Theorem</a:t>
                </a:r>
                <a:r>
                  <a:rPr lang="en-US" sz="2800" dirty="0"/>
                  <a:t> it follows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800" dirty="0"/>
                  <a:t> is an invariant of </a:t>
                </a:r>
                <a:r>
                  <a:rPr lang="en-US" sz="2800" dirty="0" err="1"/>
                  <a:t>DijkstraTR</a:t>
                </a:r>
                <a:endParaRPr lang="en-US" sz="28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3BA6C93-3E53-3E4E-82EC-781A17BEDF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320" y="6310144"/>
                <a:ext cx="11301984" cy="523220"/>
              </a:xfrm>
              <a:prstGeom prst="rect">
                <a:avLst/>
              </a:prstGeom>
              <a:blipFill>
                <a:blip r:embed="rId4"/>
                <a:stretch>
                  <a:fillRect l="-1122" t="-11905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58984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2C5B4-7FF3-7849-913E-9CF6303198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99BB7F-F822-664E-86EC-A9775DD45D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did we assume in arriving at the above conclusion?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What would we need to prove that statement automatically? 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47718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Reach as fixpoint of Post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188799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600201"/>
            <a:ext cx="7929608" cy="4952999"/>
          </a:xfrm>
        </p:spPr>
        <p:txBody>
          <a:bodyPr>
            <a:normAutofit/>
          </a:bodyPr>
          <a:lstStyle/>
          <a:p>
            <a:r>
              <a:rPr lang="en-US" dirty="0">
                <a:latin typeface="+mj-lt"/>
              </a:rPr>
              <a:t>Read. Modeling computation: Chapter 2 of </a:t>
            </a:r>
            <a:r>
              <a:rPr lang="en-US" dirty="0" err="1">
                <a:latin typeface="+mj-lt"/>
              </a:rPr>
              <a:t>CPSBook</a:t>
            </a:r>
            <a:r>
              <a:rPr lang="en-US" dirty="0">
                <a:latin typeface="+mj-lt"/>
              </a:rPr>
              <a:t>, first part of Chapter 7, and section on SAT/SMT</a:t>
            </a:r>
          </a:p>
          <a:p>
            <a:r>
              <a:rPr lang="en-US" dirty="0">
                <a:latin typeface="+mj-lt"/>
              </a:rPr>
              <a:t>Specification language: Appendix C of </a:t>
            </a:r>
            <a:r>
              <a:rPr lang="en-US" dirty="0" err="1">
                <a:latin typeface="+mj-lt"/>
              </a:rPr>
              <a:t>CPSBook</a:t>
            </a:r>
            <a:r>
              <a:rPr lang="en-US" dirty="0">
                <a:latin typeface="+mj-lt"/>
              </a:rPr>
              <a:t> </a:t>
            </a:r>
          </a:p>
          <a:p>
            <a:endParaRPr lang="en-US" dirty="0">
              <a:latin typeface="+mj-lt"/>
            </a:endParaRPr>
          </a:p>
          <a:p>
            <a:r>
              <a:rPr lang="en-US" dirty="0">
                <a:latin typeface="+mj-lt"/>
              </a:rPr>
              <a:t>Narrow down project choices to 2 options</a:t>
            </a:r>
          </a:p>
          <a:p>
            <a:endParaRPr lang="en-US" dirty="0">
              <a:latin typeface="+mj-lt"/>
            </a:endParaRPr>
          </a:p>
          <a:p>
            <a:r>
              <a:rPr lang="en-US" dirty="0">
                <a:latin typeface="+mj-lt"/>
              </a:rPr>
              <a:t>Next: Satisfiability</a:t>
            </a:r>
          </a:p>
        </p:txBody>
      </p:sp>
    </p:spTree>
    <p:extLst>
      <p:ext uri="{BB962C8B-B14F-4D97-AF65-F5344CB8AC3E}">
        <p14:creationId xmlns:p14="http://schemas.microsoft.com/office/powerpoint/2010/main" val="27646801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19426</TotalTime>
  <Words>3171</Words>
  <Application>Microsoft Macintosh PowerPoint</Application>
  <PresentationFormat>Widescreen</PresentationFormat>
  <Paragraphs>352</Paragraphs>
  <Slides>34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1" baseType="lpstr">
      <vt:lpstr>Arial</vt:lpstr>
      <vt:lpstr>Arial Narrow</vt:lpstr>
      <vt:lpstr>Calibri</vt:lpstr>
      <vt:lpstr>Calibri Light</vt:lpstr>
      <vt:lpstr>Cambria Math</vt:lpstr>
      <vt:lpstr>Menlo</vt:lpstr>
      <vt:lpstr>Office Theme</vt:lpstr>
      <vt:lpstr>Modeling Computation</vt:lpstr>
      <vt:lpstr>Outline</vt:lpstr>
      <vt:lpstr>Automata or discrete transition systems</vt:lpstr>
      <vt:lpstr>PowerPoint Presentation</vt:lpstr>
      <vt:lpstr>Example: Dijkstra’s mutual exclusion algorithm</vt:lpstr>
      <vt:lpstr>Token-based mutual exclusion in unidirectional ring</vt:lpstr>
      <vt:lpstr>Dijkstra’s Algorithm [‘74]</vt:lpstr>
      <vt:lpstr>Sample executions: from a legal state (single token)</vt:lpstr>
      <vt:lpstr>Execution from an illegal state</vt:lpstr>
      <vt:lpstr>Synchronous model</vt:lpstr>
      <vt:lpstr>Synchronous state machine</vt:lpstr>
      <vt:lpstr>Asynchronous Nondeterministic State Machine</vt:lpstr>
      <vt:lpstr>The language defines an automaton</vt:lpstr>
      <vt:lpstr>Variables, valuations, state space, ececutions</vt:lpstr>
      <vt:lpstr>A language for specifying automata</vt:lpstr>
      <vt:lpstr>A language for specifying automata</vt:lpstr>
      <vt:lpstr>A language for specifying automata</vt:lpstr>
      <vt:lpstr>PowerPoint Presentation</vt:lpstr>
      <vt:lpstr>States and predicates</vt:lpstr>
      <vt:lpstr>Actions</vt:lpstr>
      <vt:lpstr>Transitions defined by preconditions and effects</vt:lpstr>
      <vt:lpstr>Executions, Reachability, and Invariants </vt:lpstr>
      <vt:lpstr>Collatz</vt:lpstr>
      <vt:lpstr>Bit flip</vt:lpstr>
      <vt:lpstr>Internal and External Nondeterminism</vt:lpstr>
      <vt:lpstr>Reachable states and invariants</vt:lpstr>
      <vt:lpstr>Candidate invariants for token Ring</vt:lpstr>
      <vt:lpstr>Reachability as graph search</vt:lpstr>
      <vt:lpstr>Proving invariants by induction (Chapter 7)</vt:lpstr>
      <vt:lpstr>Proving invariants by induction (Chapter 7)</vt:lpstr>
      <vt:lpstr>Proving invariants by induction for Dijkstra</vt:lpstr>
      <vt:lpstr>Discussion</vt:lpstr>
      <vt:lpstr>Reach as fixpoint of Post</vt:lpstr>
      <vt:lpstr>Assignments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Modeling Computation</dc:title>
  <dc:creator>Mitra, Sayan</dc:creator>
  <cp:lastModifiedBy>Mitra, Sayan</cp:lastModifiedBy>
  <cp:revision>77</cp:revision>
  <cp:lastPrinted>2019-08-29T19:33:46Z</cp:lastPrinted>
  <dcterms:created xsi:type="dcterms:W3CDTF">2019-08-09T19:23:00Z</dcterms:created>
  <dcterms:modified xsi:type="dcterms:W3CDTF">2025-07-31T19:14:27Z</dcterms:modified>
</cp:coreProperties>
</file>