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24" r:id="rId2"/>
    <p:sldId id="434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458" r:id="rId14"/>
    <p:sldId id="459" r:id="rId15"/>
    <p:sldId id="460" r:id="rId16"/>
    <p:sldId id="461" r:id="rId17"/>
    <p:sldId id="462" r:id="rId18"/>
    <p:sldId id="463" r:id="rId19"/>
    <p:sldId id="464" r:id="rId20"/>
    <p:sldId id="465" r:id="rId21"/>
    <p:sldId id="466" r:id="rId22"/>
    <p:sldId id="469" r:id="rId23"/>
    <p:sldId id="468" r:id="rId24"/>
    <p:sldId id="472" r:id="rId25"/>
    <p:sldId id="473" r:id="rId26"/>
    <p:sldId id="47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95"/>
    <p:restoredTop sz="96197"/>
  </p:normalViewPr>
  <p:slideViewPr>
    <p:cSldViewPr snapToGrid="0">
      <p:cViewPr varScale="1">
        <p:scale>
          <a:sx n="80" d="100"/>
          <a:sy n="80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8616-8444-A344-9EC7-F8386F676CA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C702-7F77-EF43-AACF-E4C7D0FA0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8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fix-point implementation in tools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remove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init.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set.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Hytech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accept the automaton, but there is no guarantee on termination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2BFAB-8FF8-6341-B15F-2DC58818824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0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784A-FA36-F44B-C90A-227FB76D5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1F699-6BC8-8FE8-8B77-FCA6E08CA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0782B-5050-4209-ADE5-A6A341DD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47624-3122-2111-5266-5AF5B007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C1DFA-FC3E-D1B2-5D6F-795F22F6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3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AF2E-95CE-1602-9D4F-CB2F7611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D98F-BB85-A9D8-D0CB-FFA18AA8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CC0C-2449-4BDD-11EF-8EAA69319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FCC6F-1C33-E4A4-10B7-4FCF4E0A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6C0A6-FB7A-911F-078E-D395F022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9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4F45-FC4C-4FBE-9368-DC12D11A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5CC70-B4F3-211D-B3AB-ACD9FF73B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74CF-495D-0E4F-DC73-4A235B39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5D27A-C4E7-05EF-E976-603B6DA4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4155-E12B-1A50-F842-F37B03EB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D881-685D-E52B-D4F2-FB27C157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56712-F3E7-770E-6DC5-2D9185507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D0420-806A-0488-C4AF-DEF700B3B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EB6A9-1277-E116-6FF4-FB276319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679FB-4EAC-D3AA-D817-822F8E89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88536-6B20-6689-14D3-742F2ACA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6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B4EE-8ADF-8B4F-B5E5-A129485F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396BB-B852-7BBC-28D8-AE9814AEB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C7D88-3F56-3AC4-5707-07C9D2E4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C5B7B-F38F-5FA1-83DC-D4AA93B4D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0C89-A5F7-F53D-0AD3-7CE245B6F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8681B-ADC9-C708-DBE4-DAB827D3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3C5D8-2BDD-774C-19B6-66FC4740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DAA72-81FA-480C-0AAA-ADBE3A36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5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8F1D-41CA-39F6-ACA0-7A029EAE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A4321-7B63-398D-BCDF-8C533554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D2B98-600F-C9C0-CC60-757A0B23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CCC10-2D42-972D-4F31-F1EA60B2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0ABC8-5FA6-94CD-E2AC-56C5EBA9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0282E-874C-434F-CD15-B3D888DE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C8D95-6626-EC8E-5EFE-E611E82F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2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8AC2-552C-1FA3-E43D-283D32B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9D1A-8A9F-2802-FF0C-2EBE9F481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8883D-0504-7E00-4398-846A9D8DE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6D56B-4476-FBA1-D1E3-E381E5C8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EEB99-F112-E77C-C449-36C6060D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66072-246E-DF90-5208-06846B82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05D1-471D-98E6-491F-C4A918D0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27FAE-625F-C75F-CD1B-BAB86D5D1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BCE82-4ED8-9B8C-73A1-10BF13423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0CAC9-0965-B0FD-8762-B954718A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13B46-72AC-7700-EF7B-E63626E1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C0F03-8776-2F1D-3451-3700023A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3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1292-A234-607D-861D-8DF993C3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81C78-C244-5F43-CA7F-524C95678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2C41-90DD-AC1F-CE2D-0EE4C6D8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A0294-0EBB-EACD-CC56-62947E20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8E9A-A573-42DA-DEE3-91EE7C0D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0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DACA2-A0E1-3ED9-0E5E-1120E7D7B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22330-3A80-E3EF-EB49-0A88BF3C3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33D42-5371-D9E5-6EE2-5C97EF09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6C5EE-A09F-3E3D-44A2-B93B91BC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B7CA7-483F-F08C-027B-930138A6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28455-BA42-0623-63E0-6741B3D0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A4768-1E16-03F6-B0F3-497CC6257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D760-5298-025F-8A46-3E89D86F3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674C2-7B3B-7D47-8564-6D4B57625026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ED54E-9923-B299-75B5-F9B097EFC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D2252-993A-5837-A667-A965E42FC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C43F-DC2C-4A4B-9413-1B012167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7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engr-courses.engr.illinois.edu/ece584/papers/henz_whats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6.png"/><Relationship Id="rId7" Type="http://schemas.openxmlformats.org/officeDocument/2006/relationships/image" Target="../media/image7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4.png"/><Relationship Id="rId4" Type="http://schemas.openxmlformats.org/officeDocument/2006/relationships/image" Target="../media/image67.png"/><Relationship Id="rId9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png"/><Relationship Id="rId7" Type="http://schemas.openxmlformats.org/officeDocument/2006/relationships/image" Target="../media/image8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4" Type="http://schemas.openxmlformats.org/officeDocument/2006/relationships/image" Target="../media/image77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Generalizing from Timed to Hybrid Automata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8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5000">
              <a:schemeClr val="bg1"/>
            </a:gs>
            <a:gs pos="43000">
              <a:schemeClr val="bg1">
                <a:lumMod val="75000"/>
              </a:schemeClr>
            </a:gs>
            <a:gs pos="100000">
              <a:schemeClr val="tx1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Hybrid Automata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32AF7-57BB-8B8E-397A-4F4688D7DFCB}"/>
              </a:ext>
            </a:extLst>
          </p:cNvPr>
          <p:cNvCxnSpPr/>
          <p:nvPr/>
        </p:nvCxnSpPr>
        <p:spPr>
          <a:xfrm flipV="1">
            <a:off x="3994484" y="0"/>
            <a:ext cx="6882063" cy="68580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537A8-A363-A8AD-3404-61119D632416}"/>
              </a:ext>
            </a:extLst>
          </p:cNvPr>
          <p:cNvSpPr txBox="1"/>
          <p:nvPr/>
        </p:nvSpPr>
        <p:spPr>
          <a:xfrm>
            <a:off x="9192461" y="1106905"/>
            <a:ext cx="29995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2"/>
              </a:buClr>
              <a:buSzPct val="400000"/>
            </a:pPr>
            <a:r>
              <a:rPr lang="en-US" sz="2400" dirty="0">
                <a:solidFill>
                  <a:schemeClr val="accent2"/>
                </a:solidFill>
              </a:rPr>
              <a:t>        Nonlinear Hybrid </a:t>
            </a:r>
          </a:p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Automata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844D2-583D-0BAD-B3D5-D9B7C368AFBC}"/>
              </a:ext>
            </a:extLst>
          </p:cNvPr>
          <p:cNvSpPr txBox="1"/>
          <p:nvPr/>
        </p:nvSpPr>
        <p:spPr>
          <a:xfrm>
            <a:off x="4820655" y="5831305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Integral Timed Automata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5200D-80C7-E9B8-2BF9-8FD83BEED50E}"/>
              </a:ext>
            </a:extLst>
          </p:cNvPr>
          <p:cNvSpPr txBox="1"/>
          <p:nvPr/>
        </p:nvSpPr>
        <p:spPr>
          <a:xfrm>
            <a:off x="5422234" y="5181600"/>
            <a:ext cx="397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Rational Timed Automata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92A37-64D3-E423-EF27-5518F547C1CA}"/>
              </a:ext>
            </a:extLst>
          </p:cNvPr>
          <p:cNvSpPr txBox="1"/>
          <p:nvPr/>
        </p:nvSpPr>
        <p:spPr>
          <a:xfrm>
            <a:off x="6079961" y="4539916"/>
            <a:ext cx="3166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2"/>
                </a:solidFill>
              </a:rPr>
              <a:t>Multirate</a:t>
            </a:r>
            <a:r>
              <a:rPr lang="en-US" sz="2400" dirty="0">
                <a:solidFill>
                  <a:schemeClr val="accent2"/>
                </a:solidFill>
              </a:rPr>
              <a:t> Automata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AF886-7AE9-FE58-6DE4-A944E0CF6CB8}"/>
              </a:ext>
            </a:extLst>
          </p:cNvPr>
          <p:cNvSpPr txBox="1"/>
          <p:nvPr/>
        </p:nvSpPr>
        <p:spPr>
          <a:xfrm>
            <a:off x="7186866" y="3449052"/>
            <a:ext cx="4535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Rectangular Hybrid Automata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9EA15-7095-0925-0BA1-C25D168024A2}"/>
              </a:ext>
            </a:extLst>
          </p:cNvPr>
          <p:cNvSpPr txBox="1"/>
          <p:nvPr/>
        </p:nvSpPr>
        <p:spPr>
          <a:xfrm>
            <a:off x="7884697" y="2778837"/>
            <a:ext cx="4307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Rectangular Initialized Hybrid Automata</a:t>
            </a:r>
          </a:p>
        </p:txBody>
      </p:sp>
    </p:spTree>
    <p:extLst>
      <p:ext uri="{BB962C8B-B14F-4D97-AF65-F5344CB8AC3E}">
        <p14:creationId xmlns:p14="http://schemas.microsoft.com/office/powerpoint/2010/main" val="232097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Clocks and </a:t>
            </a:r>
            <a:r>
              <a:rPr lang="en-US" b="1" dirty="0"/>
              <a:t>Rational</a:t>
            </a:r>
            <a:r>
              <a:rPr lang="en-US" dirty="0"/>
              <a:t> Clock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A </a:t>
                </a:r>
                <a:r>
                  <a:rPr lang="en-US" b="1" dirty="0"/>
                  <a:t>clock variable </a:t>
                </a:r>
                <a:r>
                  <a:rPr lang="en-US" dirty="0"/>
                  <a:t>x is a continuous (analog) variable of type real such that along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𝜏</m:t>
                    </m:r>
                  </m:oMath>
                </a14:m>
                <a:r>
                  <a:rPr lang="en-US" dirty="0"/>
                  <a:t> of x, for all 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For a set X of clock variables,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(X) of </a:t>
                </a:r>
                <a:r>
                  <a:rPr lang="en-US" b="1" i="1" dirty="0">
                    <a:solidFill>
                      <a:schemeClr val="accent2"/>
                    </a:solidFill>
                  </a:rPr>
                  <a:t>rational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/>
                  <a:t>clock constraints </a:t>
                </a:r>
                <a:r>
                  <a:rPr lang="en-US" dirty="0"/>
                  <a:t>are expressions defined by the syntax: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g ::=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≤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≥</m:t>
                        </m:r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¬ 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r>
                      <a:rPr lang="en-US" b="0" i="1" smtClean="0">
                        <a:latin typeface="Cambria Math"/>
                      </a:rPr>
                      <m:t>  |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∧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𝑎𝑛𝑑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∈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Examples: x = 10.125;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[2.99, 5); true are valid rational clock constraints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Semantics of clock constraints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[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r>
                      <a:rPr lang="en-US" b="0" i="1" smtClean="0">
                        <a:latin typeface="Cambria Math"/>
                      </a:rPr>
                      <m:t>]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 Rational Timed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Definition. </a:t>
                </a:r>
                <a:r>
                  <a:rPr lang="en-US" dirty="0"/>
                  <a:t>A </a:t>
                </a:r>
                <a:r>
                  <a:rPr lang="en-US" b="1" i="1" dirty="0"/>
                  <a:t>rational timed automaton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is a HA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〈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lvl="1"/>
                <a:r>
                  <a:rPr lang="en-US" dirty="0"/>
                  <a:t>V 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is a set of n clocks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/>
                  <a:t> is a discrete state variable of finite type Ł</a:t>
                </a:r>
                <a:endParaRPr lang="en-US" baseline="-25000" dirty="0"/>
              </a:p>
              <a:p>
                <a:pPr lvl="1"/>
                <a:r>
                  <a:rPr lang="en-US" dirty="0"/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is a set of transitions such that </a:t>
                </a:r>
              </a:p>
              <a:p>
                <a:pPr lvl="2"/>
                <a:r>
                  <a:rPr lang="en-US" dirty="0"/>
                  <a:t>The guards are described by </a:t>
                </a:r>
                <a:r>
                  <a:rPr lang="en-US" b="1" dirty="0">
                    <a:solidFill>
                      <a:srgbClr val="00B050"/>
                    </a:solidFill>
                  </a:rPr>
                  <a:t>rational </a:t>
                </a:r>
                <a:r>
                  <a:rPr lang="en-US" dirty="0"/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set of clock trajectories for the clock variables in 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9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57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1" dirty="0">
                <a:solidFill>
                  <a:srgbClr val="00B0F0"/>
                </a:solidFill>
              </a:rPr>
              <a:t>Rational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Light switch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1" y="914400"/>
                <a:ext cx="9480883" cy="644892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Switch can be turned on whenever at least 2.25 time units have elapsed since the last turn off or on. Switches off automatically 15.5 time units after the last on.</a:t>
                </a:r>
                <a:endParaRPr lang="en-US" b="1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b="1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automaton </a:t>
                </a:r>
                <a:r>
                  <a:rPr lang="en-US" dirty="0"/>
                  <a:t>Switch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internal </a:t>
                </a:r>
                <a:r>
                  <a:rPr lang="en-US" dirty="0"/>
                  <a:t>push; pop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variables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internal </a:t>
                </a:r>
                <a:r>
                  <a:rPr lang="en-US" dirty="0"/>
                  <a:t>x, y:Real := 0, </a:t>
                </a:r>
                <a:r>
                  <a:rPr lang="en-US" dirty="0" err="1"/>
                  <a:t>loc</a:t>
                </a:r>
                <a:r>
                  <a:rPr lang="en-US" dirty="0"/>
                  <a:t>:{on,off} := off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transitions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   push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   pre </a:t>
                </a:r>
                <a:r>
                  <a:rPr lang="en-US" dirty="0"/>
                  <a:t>x &gt;=2.25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   eff if </a:t>
                </a:r>
                <a:r>
                  <a:rPr lang="en-US" dirty="0"/>
                  <a:t>loc = on </a:t>
                </a:r>
                <a:r>
                  <a:rPr lang="en-US" b="1" dirty="0"/>
                  <a:t>then </a:t>
                </a:r>
                <a:r>
                  <a:rPr lang="en-US" dirty="0"/>
                  <a:t>x := 0 </a:t>
                </a:r>
                <a:r>
                  <a:rPr lang="en-US" b="1" dirty="0"/>
                  <a:t>fi;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          </a:t>
                </a:r>
                <a:r>
                  <a:rPr lang="en-US" dirty="0"/>
                  <a:t>y := 0; loc := on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   pop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   pre </a:t>
                </a:r>
                <a:r>
                  <a:rPr lang="en-US" dirty="0"/>
                  <a:t>y = 15.5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/>
                  <a:t> loc = on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   eff </a:t>
                </a:r>
                <a:r>
                  <a:rPr lang="en-US" dirty="0"/>
                  <a:t>x := 0; loc = off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trajectories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  invariant </a:t>
                </a:r>
                <a:r>
                  <a:rPr lang="en-US" dirty="0"/>
                  <a:t>loc =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15.5</a:t>
                </a:r>
                <a:endParaRPr lang="en-US" b="1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s-ES" b="1" dirty="0"/>
                  <a:t>        </a:t>
                </a:r>
                <a:r>
                  <a:rPr lang="es-ES" b="1" dirty="0" err="1"/>
                  <a:t>evolve</a:t>
                </a:r>
                <a:r>
                  <a:rPr lang="es-ES" b="1" dirty="0"/>
                  <a:t> </a:t>
                </a:r>
                <a:r>
                  <a:rPr lang="es-ES" dirty="0"/>
                  <a:t>d(x) = 1; d(y) = 1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1" y="914400"/>
                <a:ext cx="9480883" cy="6448925"/>
              </a:xfrm>
              <a:blipFill>
                <a:blip r:embed="rId2"/>
                <a:stretch>
                  <a:fillRect l="-669" t="-591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79" y="3850105"/>
            <a:ext cx="5652417" cy="238860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6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Control State (Location) Reachability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RTA, check if a particular location is reachable from the initial states</a:t>
            </a:r>
          </a:p>
          <a:p>
            <a:r>
              <a:rPr lang="en-US" dirty="0"/>
              <a:t>Is problem decidable? 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ITA that is time-abstract </a:t>
            </a:r>
            <a:r>
              <a:rPr lang="en-US" dirty="0" err="1"/>
              <a:t>bisimilar</a:t>
            </a:r>
            <a:r>
              <a:rPr lang="en-US" dirty="0"/>
              <a:t> to the given RTA</a:t>
            </a:r>
          </a:p>
          <a:p>
            <a:pPr lvl="1"/>
            <a:r>
              <a:rPr lang="en-US" dirty="0"/>
              <a:t>Check CSR for ITA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4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ITA from RTA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Multiply all rational constants by a factor q that make them integral</a:t>
                </a:r>
              </a:p>
              <a:p>
                <a:r>
                  <a:rPr lang="en-US" dirty="0"/>
                  <a:t>Make d(x) = q for all the clocks</a:t>
                </a:r>
              </a:p>
              <a:p>
                <a:endParaRPr lang="en-US" dirty="0"/>
              </a:p>
              <a:p>
                <a:r>
                  <a:rPr lang="en-US" dirty="0"/>
                  <a:t>RTA Switch is </a:t>
                </a:r>
                <a:r>
                  <a:rPr lang="en-US" dirty="0" err="1"/>
                  <a:t>bisimilar</a:t>
                </a:r>
                <a:r>
                  <a:rPr lang="en-US" dirty="0"/>
                  <a:t> to ITA </a:t>
                </a:r>
                <a:r>
                  <a:rPr lang="en-US" dirty="0" err="1"/>
                  <a:t>Iswitch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Simulation relation R is given by </a:t>
                </a:r>
              </a:p>
              <a:p>
                <a:r>
                  <a:rPr lang="en-US" dirty="0"/>
                  <a:t>(</a:t>
                </a:r>
                <a:r>
                  <a:rPr lang="en-US" b="1" dirty="0" err="1"/>
                  <a:t>u,s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:r>
                  <a:rPr lang="en-US" b="1" dirty="0" err="1"/>
                  <a:t>u.</a:t>
                </a:r>
                <a:r>
                  <a:rPr lang="en-US" dirty="0" err="1"/>
                  <a:t>x</a:t>
                </a:r>
                <a:r>
                  <a:rPr lang="en-US" dirty="0"/>
                  <a:t> = 4 </a:t>
                </a:r>
                <a:r>
                  <a:rPr lang="en-US" b="1" dirty="0" err="1"/>
                  <a:t>s.</a:t>
                </a:r>
                <a:r>
                  <a:rPr lang="en-US" dirty="0" err="1"/>
                  <a:t>x</a:t>
                </a:r>
                <a:r>
                  <a:rPr lang="en-US" dirty="0"/>
                  <a:t> and </a:t>
                </a:r>
                <a:r>
                  <a:rPr lang="en-US" b="1" dirty="0" err="1"/>
                  <a:t>u.</a:t>
                </a:r>
                <a:r>
                  <a:rPr lang="en-US" dirty="0" err="1"/>
                  <a:t>y</a:t>
                </a:r>
                <a:r>
                  <a:rPr lang="en-US" dirty="0"/>
                  <a:t> = 4 </a:t>
                </a:r>
                <a:r>
                  <a:rPr lang="en-US" b="1" dirty="0" err="1"/>
                  <a:t>s.</a:t>
                </a:r>
                <a:r>
                  <a:rPr lang="en-US" dirty="0" err="1"/>
                  <a:t>y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7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43600" y="1600201"/>
                <a:ext cx="4648200" cy="452596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</a:t>
                </a:r>
                <a:r>
                  <a:rPr lang="en-US" dirty="0" err="1"/>
                  <a:t>ISwitch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internal </a:t>
                </a:r>
                <a:r>
                  <a:rPr lang="en-US" dirty="0"/>
                  <a:t>push; pop</a:t>
                </a:r>
              </a:p>
              <a:p>
                <a:pPr marL="0" indent="0">
                  <a:buNone/>
                </a:pPr>
                <a:r>
                  <a:rPr lang="en-US" b="1" dirty="0"/>
                  <a:t>variables</a:t>
                </a:r>
              </a:p>
              <a:p>
                <a:pPr marL="0" indent="0">
                  <a:buNone/>
                </a:pPr>
                <a:r>
                  <a:rPr lang="en-US" b="1" dirty="0"/>
                  <a:t>   internal </a:t>
                </a:r>
                <a:r>
                  <a:rPr lang="en-US" dirty="0"/>
                  <a:t>x, y:Real := 0, </a:t>
                </a:r>
                <a:r>
                  <a:rPr lang="en-US" dirty="0" err="1"/>
                  <a:t>loc</a:t>
                </a:r>
                <a:r>
                  <a:rPr lang="en-US" dirty="0"/>
                  <a:t>:{on,off} := off</a:t>
                </a:r>
              </a:p>
              <a:p>
                <a:pPr marL="0" indent="0">
                  <a:buNone/>
                </a:pPr>
                <a:r>
                  <a:rPr lang="en-US" b="1" dirty="0"/>
                  <a:t>transitions</a:t>
                </a:r>
              </a:p>
              <a:p>
                <a:pPr marL="0" indent="0">
                  <a:buNone/>
                </a:pPr>
                <a:r>
                  <a:rPr lang="en-US" dirty="0"/>
                  <a:t>   push</a:t>
                </a:r>
              </a:p>
              <a:p>
                <a:pPr marL="0" indent="0">
                  <a:buNone/>
                </a:pPr>
                <a:r>
                  <a:rPr lang="en-US" b="1" dirty="0"/>
                  <a:t>      pre </a:t>
                </a:r>
                <a:r>
                  <a:rPr lang="en-US" dirty="0"/>
                  <a:t>x &gt;=  9</a:t>
                </a:r>
              </a:p>
              <a:p>
                <a:pPr marL="0" indent="0">
                  <a:buNone/>
                </a:pPr>
                <a:r>
                  <a:rPr lang="en-US" b="1" dirty="0"/>
                  <a:t>      eff if </a:t>
                </a:r>
                <a:r>
                  <a:rPr lang="en-US" dirty="0"/>
                  <a:t>loc = on </a:t>
                </a:r>
                <a:r>
                  <a:rPr lang="en-US" b="1" dirty="0"/>
                  <a:t>then </a:t>
                </a:r>
                <a:r>
                  <a:rPr lang="en-US" dirty="0"/>
                  <a:t>x := 0 </a:t>
                </a:r>
                <a:r>
                  <a:rPr lang="en-US" b="1" dirty="0"/>
                  <a:t>fi; </a:t>
                </a:r>
                <a:r>
                  <a:rPr lang="en-US" dirty="0"/>
                  <a:t>y := 0; loc := on</a:t>
                </a:r>
              </a:p>
              <a:p>
                <a:pPr marL="0" indent="0">
                  <a:buNone/>
                </a:pPr>
                <a:r>
                  <a:rPr lang="en-US" dirty="0"/>
                  <a:t>    pop</a:t>
                </a:r>
              </a:p>
              <a:p>
                <a:pPr marL="0" indent="0">
                  <a:buNone/>
                </a:pPr>
                <a:r>
                  <a:rPr lang="en-US" b="1" dirty="0"/>
                  <a:t>       pre </a:t>
                </a:r>
                <a:r>
                  <a:rPr lang="en-US" dirty="0"/>
                  <a:t>y = 62</a:t>
                </a:r>
              </a:p>
              <a:p>
                <a:pPr marL="0" indent="0">
                  <a:buNone/>
                </a:pPr>
                <a:r>
                  <a:rPr lang="en-US" b="1" dirty="0"/>
                  <a:t>       eff </a:t>
                </a:r>
                <a:r>
                  <a:rPr lang="en-US" dirty="0"/>
                  <a:t>x := 0; loc = off</a:t>
                </a:r>
              </a:p>
              <a:p>
                <a:pPr marL="0" indent="0">
                  <a:buNone/>
                </a:pPr>
                <a:r>
                  <a:rPr lang="en-US" b="1" dirty="0"/>
                  <a:t>trajectories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      invariant </a:t>
                </a:r>
                <a:r>
                  <a:rPr lang="en-US" dirty="0"/>
                  <a:t>loc =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s-ES" b="1" dirty="0"/>
                  <a:t>      </a:t>
                </a:r>
                <a:r>
                  <a:rPr lang="es-ES" b="1" dirty="0" err="1"/>
                  <a:t>evolve</a:t>
                </a:r>
                <a:r>
                  <a:rPr lang="es-ES" b="1" dirty="0"/>
                  <a:t> </a:t>
                </a:r>
                <a:r>
                  <a:rPr lang="es-ES" dirty="0"/>
                  <a:t>d(x) = 4; d(y) = 4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43600" y="1600201"/>
                <a:ext cx="4648200" cy="4525963"/>
              </a:xfrm>
              <a:blipFill>
                <a:blip r:embed="rId3"/>
                <a:stretch>
                  <a:fillRect l="-109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94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Multi-Rate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Definition. </a:t>
                </a:r>
                <a:r>
                  <a:rPr lang="en-US" dirty="0"/>
                  <a:t>A </a:t>
                </a:r>
                <a:r>
                  <a:rPr lang="en-US" b="1" dirty="0" err="1">
                    <a:solidFill>
                      <a:srgbClr val="00B0F0"/>
                    </a:solidFill>
                  </a:rPr>
                  <a:t>multirate</a:t>
                </a:r>
                <a:r>
                  <a:rPr lang="en-US" b="1" dirty="0">
                    <a:solidFill>
                      <a:srgbClr val="00B0F0"/>
                    </a:solidFill>
                  </a:rPr>
                  <a:t> automaton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〈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𝑄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V 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is a set of n </a:t>
                </a:r>
                <a:r>
                  <a:rPr lang="en-US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𝑙𝑜𝑐</m:t>
                    </m:r>
                  </m:oMath>
                </a14:m>
                <a:r>
                  <a:rPr lang="en-US" dirty="0"/>
                  <a:t> is a discrete state variable of finite type Ł</a:t>
                </a:r>
                <a:endParaRPr lang="en-US" baseline="-25000" dirty="0"/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 is a finite set of actions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is a set of transitions such that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dirty="0"/>
                  <a:t>The 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</a:t>
                </a:r>
                <a:r>
                  <a:rPr lang="en-US" dirty="0">
                    <a:solidFill>
                      <a:schemeClr val="tx1"/>
                    </a:solidFill>
                  </a:rPr>
                  <a:t>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set of trajectories such that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	for 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 ∃</m:t>
                    </m:r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𝑠𝑢𝑐h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𝑡h𝑎𝑡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/>
                      </a:rPr>
                      <m:t>  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7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State (Location) Reachability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MRA, check if a particular location is reachable from the initial states</a:t>
            </a:r>
          </a:p>
          <a:p>
            <a:r>
              <a:rPr lang="en-US" dirty="0"/>
              <a:t>Is problem is decidable? 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RTA that is </a:t>
            </a:r>
            <a:r>
              <a:rPr lang="en-US" dirty="0" err="1"/>
              <a:t>bisimilar</a:t>
            </a:r>
            <a:r>
              <a:rPr lang="en-US" dirty="0"/>
              <a:t> to the given MRA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1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Multi-rate to rational TA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332" y="1252477"/>
            <a:ext cx="581977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89" y="3657601"/>
            <a:ext cx="583882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93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Rectangular 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300" y="1219200"/>
                <a:ext cx="84963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Definition. </a:t>
                </a:r>
                <a:r>
                  <a:rPr lang="en-US" sz="2000" dirty="0"/>
                  <a:t>An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rectangular hybrid automaton (RHA) </a:t>
                </a:r>
                <a:r>
                  <a:rPr lang="en-US" sz="2000" dirty="0"/>
                  <a:t>is a 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𝓐</m:t>
                    </m:r>
                    <m:r>
                      <a:rPr lang="en-US" sz="2000" b="1" i="1" dirty="0">
                        <a:latin typeface="Cambria Math" charset="0"/>
                        <a:ea typeface="Cambria Math"/>
                      </a:rPr>
                      <m:t>=⟨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𝑉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𝐴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,</m:t>
                    </m:r>
                  </m:oMath>
                </a14:m>
                <a:r>
                  <a:rPr lang="en-US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  where </a:t>
                </a:r>
              </a:p>
              <a:p>
                <a:pPr lvl="1"/>
                <a:r>
                  <a:rPr lang="en-US" sz="2000" dirty="0"/>
                  <a:t>V = 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 , where X is a set of 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𝑙𝑜𝑐</m:t>
                    </m:r>
                  </m:oMath>
                </a14:m>
                <a:r>
                  <a:rPr lang="en-US" sz="2000" dirty="0"/>
                  <a:t> is a discrete state variable of finite type Ł</a:t>
                </a:r>
                <a:endParaRPr lang="en-US" sz="2000" baseline="-25000" dirty="0"/>
              </a:p>
              <a:p>
                <a:pPr lvl="1"/>
                <a:r>
                  <a:rPr lang="en-US" sz="2000" dirty="0"/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/>
                  <a:t> set of trajectories for X</a:t>
                </a:r>
              </a:p>
              <a:p>
                <a:pPr lvl="2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/>
                  <a:t> either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or 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Equivalently,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914400" lvl="2" indent="0">
                  <a:buNone/>
                </a:pPr>
                <a:r>
                  <a:rPr lang="en-US" dirty="0"/>
                  <a:t>	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set of transitions such that </a:t>
                </a:r>
              </a:p>
              <a:p>
                <a:pPr lvl="2"/>
                <a:r>
                  <a:rPr lang="en-US" dirty="0"/>
                  <a:t>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clock constraings  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𝑜𝑟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300" y="1219200"/>
                <a:ext cx="8496300" cy="5029200"/>
              </a:xfrm>
              <a:blipFill>
                <a:blip r:embed="rId2"/>
                <a:stretch>
                  <a:fillRect l="-596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4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CSR Decidable for RHA?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RHA, check if a particular location is reachable from the initial states?</a:t>
            </a:r>
          </a:p>
          <a:p>
            <a:r>
              <a:rPr lang="en-US" dirty="0"/>
              <a:t>Is this problem decidable? </a:t>
            </a:r>
            <a:r>
              <a:rPr lang="en-US" dirty="0">
                <a:solidFill>
                  <a:srgbClr val="FF0000"/>
                </a:solidFill>
              </a:rPr>
              <a:t>No </a:t>
            </a:r>
          </a:p>
          <a:p>
            <a:pPr lvl="1"/>
            <a:r>
              <a:rPr lang="en-US" sz="2000" b="1" dirty="0"/>
              <a:t>[Henz95]</a:t>
            </a:r>
            <a:r>
              <a:rPr lang="en-US" sz="2000" dirty="0"/>
              <a:t> Thomas </a:t>
            </a:r>
            <a:r>
              <a:rPr lang="en-US" sz="2000" dirty="0" err="1"/>
              <a:t>Henzinger</a:t>
            </a:r>
            <a:r>
              <a:rPr lang="en-US" sz="2000" dirty="0"/>
              <a:t>, Peter </a:t>
            </a:r>
            <a:r>
              <a:rPr lang="en-US" sz="2000" dirty="0" err="1"/>
              <a:t>Kopke</a:t>
            </a:r>
            <a:r>
              <a:rPr lang="en-US" sz="2000" dirty="0"/>
              <a:t>, Anuj </a:t>
            </a:r>
            <a:r>
              <a:rPr lang="en-US" sz="2000" dirty="0" err="1"/>
              <a:t>Puri</a:t>
            </a:r>
            <a:r>
              <a:rPr lang="en-US" sz="2000" dirty="0"/>
              <a:t>, and Pravin </a:t>
            </a:r>
            <a:r>
              <a:rPr lang="en-US" sz="2000" dirty="0" err="1"/>
              <a:t>Varaiya</a:t>
            </a:r>
            <a:r>
              <a:rPr lang="en-US" sz="2000" dirty="0"/>
              <a:t>. </a:t>
            </a:r>
            <a:r>
              <a:rPr lang="en-US" sz="2000" dirty="0">
                <a:hlinkClick r:id="rId2"/>
              </a:rPr>
              <a:t>What's Decidable About Hybrid Automata?. Journal of Computer and System Sciences, pages 373–382. ACM Press, 1995. </a:t>
            </a:r>
            <a:endParaRPr lang="en-US" sz="2000" dirty="0"/>
          </a:p>
          <a:p>
            <a:pPr lvl="1"/>
            <a:r>
              <a:rPr lang="en-US" sz="2000" dirty="0"/>
              <a:t>CSR for RHA reduction to Halting problem for 2 counter machines</a:t>
            </a:r>
          </a:p>
          <a:p>
            <a:pPr lvl="1"/>
            <a:r>
              <a:rPr lang="en-US" sz="2000" dirty="0"/>
              <a:t>Halting problem for 2CM known to be undecidable</a:t>
            </a:r>
          </a:p>
          <a:p>
            <a:pPr lvl="1"/>
            <a:r>
              <a:rPr lang="en-US" sz="2000" dirty="0"/>
              <a:t>Reduction in next lecture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4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4. Initialized Rectangular 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219200"/>
                <a:ext cx="85344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Definition. </a:t>
                </a:r>
                <a:r>
                  <a:rPr lang="en-US" sz="2000" b="1" i="1" dirty="0"/>
                  <a:t>An initialized rectangular hybrid automaton </a:t>
                </a:r>
                <a:r>
                  <a:rPr lang="en-US" sz="2000" b="1" dirty="0"/>
                  <a:t>(IRHA) </a:t>
                </a:r>
                <a:r>
                  <a:rPr lang="en-US" sz="2000" dirty="0"/>
                  <a:t>is a RHA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sz="2000" dirty="0"/>
                  <a:t>  where </a:t>
                </a:r>
              </a:p>
              <a:p>
                <a:pPr lvl="1"/>
                <a:r>
                  <a:rPr lang="en-US" sz="2000" dirty="0"/>
                  <a:t>V = 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, where  X is a set of n continuous variables and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 is a discrete state variable of finite type Ł</a:t>
                </a:r>
                <a:endParaRPr lang="en-US" sz="2000" baseline="-25000" dirty="0"/>
              </a:p>
              <a:p>
                <a:pPr lvl="1"/>
                <a:r>
                  <a:rPr lang="en-US" sz="2000" dirty="0"/>
                  <a:t>A is a finite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/>
                  <a:t> set of trajectories for X</a:t>
                </a:r>
              </a:p>
              <a:p>
                <a:pPr lvl="2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/>
                  <a:t> either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or 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Equivalently,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914400" lvl="2" indent="0">
                  <a:buNone/>
                </a:pPr>
                <a:r>
                  <a:rPr lang="en-US" dirty="0"/>
                  <a:t>	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set of transitions such that </a:t>
                </a:r>
              </a:p>
              <a:p>
                <a:pPr lvl="2"/>
                <a:r>
                  <a:rPr lang="en-US" dirty="0"/>
                  <a:t>Guards are described by </a:t>
                </a:r>
                <a:r>
                  <a:rPr lang="en-US" b="1" dirty="0">
                    <a:solidFill>
                      <a:srgbClr val="00B050"/>
                    </a:solidFill>
                  </a:rPr>
                  <a:t>rational </a:t>
                </a:r>
                <a:r>
                  <a:rPr lang="en-US" dirty="0"/>
                  <a:t>clock constraings  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implies if dynamics changes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ℓ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ℓ′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otherwise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219200"/>
                <a:ext cx="8534400" cy="5029200"/>
              </a:xfrm>
              <a:blipFill>
                <a:blip r:embed="rId2"/>
                <a:stretch>
                  <a:fillRect l="-743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2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Rectangular Initialized 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3497070" y="1998138"/>
                <a:ext cx="1611961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1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070" y="1998138"/>
                <a:ext cx="1611961" cy="142596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7535670" y="1998138"/>
                <a:ext cx="1611961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2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  <m:r>
                            <a:rPr lang="en-US" sz="1600">
                              <a:latin typeface="Cambria Math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670" y="1998138"/>
                <a:ext cx="1611961" cy="142596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5582873" y="4436538"/>
                <a:ext cx="1735958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3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∈[</m:t>
                      </m:r>
                      <m:r>
                        <a:rPr lang="en-US" sz="1600" i="1">
                          <a:latin typeface="Cambria Math" charset="0"/>
                        </a:rPr>
                        <m:t>𝑎</m:t>
                      </m:r>
                      <m:r>
                        <a:rPr lang="en-US" sz="1600" i="1">
                          <a:latin typeface="Cambria Math" charset="0"/>
                        </a:rPr>
                        <m:t>,</m:t>
                      </m:r>
                      <m:r>
                        <a:rPr lang="en-US" sz="1600" i="1">
                          <a:latin typeface="Cambria Math" charset="0"/>
                        </a:rPr>
                        <m:t>𝑏</m:t>
                      </m:r>
                      <m:r>
                        <a:rPr lang="en-US" sz="1600" i="1"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873" y="4436538"/>
                <a:ext cx="1735958" cy="142596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4" idx="7"/>
            <a:endCxn id="5" idx="1"/>
          </p:cNvCxnSpPr>
          <p:nvPr/>
        </p:nvCxnSpPr>
        <p:spPr>
          <a:xfrm rot="5400000" flipH="1" flipV="1">
            <a:off x="6322349" y="757582"/>
            <a:ext cx="12700" cy="2898771"/>
          </a:xfrm>
          <a:prstGeom prst="curvedConnector3">
            <a:avLst>
              <a:gd name="adj1" fmla="val 344431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94491" y="1428526"/>
                <a:ext cx="274351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Pre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≥</m:t>
                    </m:r>
                    <m:r>
                      <a:rPr lang="en-US" sz="1600" i="1">
                        <a:latin typeface="Cambria Math" charset="0"/>
                      </a:rPr>
                      <m:t>𝐺</m:t>
                    </m:r>
                    <m:r>
                      <a:rPr lang="en-US" sz="1600" i="1">
                        <a:latin typeface="Cambria Math" charset="0"/>
                      </a:rPr>
                      <m:t>∧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≤</m:t>
                    </m:r>
                    <m:r>
                      <a:rPr lang="en-US" sz="1600" i="1">
                        <a:latin typeface="Cambria Math" charset="0"/>
                      </a:rPr>
                      <m:t>𝐺</m:t>
                    </m:r>
                    <m:r>
                      <a:rPr lang="en-US" sz="16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600" dirty="0"/>
                  <a:t> Eff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≔0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491" y="1428526"/>
                <a:ext cx="2743514" cy="584775"/>
              </a:xfrm>
              <a:prstGeom prst="rect">
                <a:avLst/>
              </a:prstGeom>
              <a:blipFill>
                <a:blip r:embed="rId5"/>
                <a:stretch>
                  <a:fillRect l="-922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/>
          <p:cNvCxnSpPr>
            <a:stCxn id="5" idx="5"/>
            <a:endCxn id="6" idx="6"/>
          </p:cNvCxnSpPr>
          <p:nvPr/>
        </p:nvCxnSpPr>
        <p:spPr>
          <a:xfrm rot="5400000">
            <a:off x="7148077" y="3386033"/>
            <a:ext cx="1934245" cy="159273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4" idx="3"/>
            <a:endCxn id="6" idx="2"/>
          </p:cNvCxnSpPr>
          <p:nvPr/>
        </p:nvCxnSpPr>
        <p:spPr>
          <a:xfrm rot="16200000" flipH="1">
            <a:off x="3690883" y="3257529"/>
            <a:ext cx="1934245" cy="184973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899232" y="4317733"/>
                <a:ext cx="113666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Both Pre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have to be reset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232" y="4317733"/>
                <a:ext cx="1136669" cy="1077218"/>
              </a:xfrm>
              <a:prstGeom prst="rect">
                <a:avLst/>
              </a:prstGeom>
              <a:blipFill>
                <a:blip r:embed="rId6"/>
                <a:stretch>
                  <a:fillRect l="-3333" t="-1163"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urved Connector 16"/>
          <p:cNvCxnSpPr>
            <a:cxnSpLocks/>
            <a:stCxn id="6" idx="7"/>
            <a:endCxn id="5" idx="2"/>
          </p:cNvCxnSpPr>
          <p:nvPr/>
        </p:nvCxnSpPr>
        <p:spPr>
          <a:xfrm rot="5400000" flipH="1" flipV="1">
            <a:off x="6333016" y="3442714"/>
            <a:ext cx="1934245" cy="47106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158130" y="5240326"/>
                <a:ext cx="20563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Eff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∈[</m:t>
                    </m:r>
                    <m:r>
                      <a:rPr lang="en-US" sz="1600" i="1">
                        <a:latin typeface="Cambria Math" charset="0"/>
                      </a:rPr>
                      <m:t>𝑐</m:t>
                    </m:r>
                    <m:r>
                      <a:rPr lang="en-US" sz="1600" i="1">
                        <a:latin typeface="Cambria Math" charset="0"/>
                      </a:rPr>
                      <m:t>,</m:t>
                    </m:r>
                    <m:r>
                      <a:rPr lang="en-US" sz="1600" i="1">
                        <a:latin typeface="Cambria Math" charset="0"/>
                      </a:rPr>
                      <m:t>𝑑</m:t>
                    </m:r>
                    <m:r>
                      <a:rPr lang="en-US" sz="1600" i="1">
                        <a:latin typeface="Cambria Math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130" y="5240326"/>
                <a:ext cx="2056300" cy="338554"/>
              </a:xfrm>
              <a:prstGeom prst="rect">
                <a:avLst/>
              </a:prstGeom>
              <a:blipFill>
                <a:blip r:embed="rId7"/>
                <a:stretch>
                  <a:fillRect l="-1840"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87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CSR Decidable for IRHA?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IRHA, check if a particular location is reachable from the initial states</a:t>
            </a:r>
          </a:p>
          <a:p>
            <a:r>
              <a:rPr lang="en-US" dirty="0"/>
              <a:t>Is this problem decidable? </a:t>
            </a:r>
            <a:r>
              <a:rPr lang="en-US" dirty="0">
                <a:solidFill>
                  <a:srgbClr val="00B0F0"/>
                </a:solidFill>
              </a:rPr>
              <a:t>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2n-dimensional </a:t>
            </a:r>
            <a:r>
              <a:rPr lang="en-US" b="1" dirty="0"/>
              <a:t>initialized m</a:t>
            </a:r>
            <a:r>
              <a:rPr lang="en-US" dirty="0"/>
              <a:t>ulti-rate automaton that is </a:t>
            </a:r>
            <a:r>
              <a:rPr lang="en-US" dirty="0" err="1"/>
              <a:t>bisimilar</a:t>
            </a:r>
            <a:r>
              <a:rPr lang="en-US" dirty="0"/>
              <a:t> to the given IRHA</a:t>
            </a:r>
          </a:p>
          <a:p>
            <a:pPr lvl="1"/>
            <a:r>
              <a:rPr lang="en-US" dirty="0"/>
              <a:t>Construct a ITA that is </a:t>
            </a:r>
            <a:r>
              <a:rPr lang="en-US" dirty="0" err="1"/>
              <a:t>bisimilar</a:t>
            </a:r>
            <a:r>
              <a:rPr lang="en-US" dirty="0"/>
              <a:t> to the Singular TA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9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IRHA to Singular HA conversion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981200" y="1600201"/>
            <a:ext cx="8382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every variable create two variables---tracking the upper and lower bounds</a:t>
            </a:r>
          </a:p>
          <a:p>
            <a:endParaRPr lang="en-US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46366" b="-46366"/>
          <a:stretch>
            <a:fillRect/>
          </a:stretch>
        </p:blipFill>
        <p:spPr>
          <a:xfrm>
            <a:off x="6477000" y="2438401"/>
            <a:ext cx="4038600" cy="4525963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828800" y="3329781"/>
              <a:ext cx="44958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1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3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IRHA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MRA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3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Evolve: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)∈ [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Evolve: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dirty="0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dirty="0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Eff: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Eff: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sub>
                                </m:sSub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Guard: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400" dirty="0" smtClean="0">
                                  <a:latin typeface="Cambria Math" panose="02040503050406030204" pitchFamily="18" charset="0"/>
                                </a:rPr>
                                <m:t>≥ 5 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sz="1400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it-IT" sz="1400" dirty="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it-IT" sz="1400" dirty="0">
                                    <a:latin typeface="Cambria Math" panose="02040503050406030204" pitchFamily="18" charset="0"/>
                                  </a:rPr>
                                  <m:t> 5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it-IT" sz="1400" dirty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≥5</m:t>
                              </m:r>
                            </m:oMath>
                          </a14:m>
                          <a:r>
                            <a:rPr lang="it-IT" sz="1400" dirty="0"/>
                            <a:t> Eff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1400" dirty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oMath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828800" y="3329781"/>
              <a:ext cx="44958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1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3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IRHA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MRA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100000" r="-129677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100000" r="-1005" b="-5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146341" r="-129677" b="-287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146341" r="-1005" b="-2878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348276" r="-12967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348276" r="-1005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448276" r="-12967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448276" r="-1005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530000" r="-12967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530000" r="-100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651724" r="-1005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2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IRHA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2590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1,3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∈[−3,−2]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600200"/>
                <a:ext cx="2209800" cy="1524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−4,−2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∈[−3,−2]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59510" y="1034534"/>
                <a:ext cx="1536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≔0;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510" y="1034534"/>
                <a:ext cx="15361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47474" y="3472624"/>
                <a:ext cx="17606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≤5∧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≤−3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474" y="3472624"/>
                <a:ext cx="176061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−4,−2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∈[1,2]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953001" y="4687670"/>
                <a:ext cx="10239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≤−5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4687670"/>
                <a:ext cx="102393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1,3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∈[1,2]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382000" y="3472623"/>
                <a:ext cx="188243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≥−3∧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≤−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∈[−1,−2]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472623"/>
                <a:ext cx="1882438" cy="646331"/>
              </a:xfrm>
              <a:prstGeom prst="rect">
                <a:avLst/>
              </a:prstGeom>
              <a:blipFill>
                <a:blip r:embed="rId9"/>
                <a:stretch>
                  <a:fillRect t="-3846" r="-134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800600" y="23622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227102" y="1715869"/>
                <a:ext cx="15091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≥0∧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02" y="1715869"/>
                <a:ext cx="1509196" cy="646331"/>
              </a:xfrm>
              <a:prstGeom prst="rect">
                <a:avLst/>
              </a:prstGeom>
              <a:blipFill>
                <a:blip r:embed="rId10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318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58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Initialized Singular 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=−3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≔0;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=1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5"/>
                <a:stretch>
                  <a:fillRect t="-3279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 dirty="0">
                                <a:latin typeface="Cambria Math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=3</m:t>
                            </m:r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eqArr>
                          </m:e>
                        </m:eqAr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 t="-3252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953000" y="2362200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23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010400" y="3447883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010400" y="1600201"/>
            <a:ext cx="0" cy="18476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010400" y="2165866"/>
            <a:ext cx="609600" cy="501134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010400" y="2133600"/>
            <a:ext cx="1828800" cy="83820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0400" y="2133600"/>
            <a:ext cx="228600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29400" y="1981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20" idx="4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759596" y="3201770"/>
                <a:ext cx="11934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96" y="3201770"/>
                <a:ext cx="119340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6992587" y="5791200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992587" y="3943517"/>
            <a:ext cx="0" cy="1847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010400" y="4620089"/>
            <a:ext cx="1600200" cy="99488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92588" y="4867359"/>
            <a:ext cx="475013" cy="74761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992587" y="5077088"/>
            <a:ext cx="228600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8025" y="491029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641658" y="2592963"/>
                <a:ext cx="4636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58" y="2592963"/>
                <a:ext cx="46365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298758" y="2223631"/>
                <a:ext cx="5104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58" y="2223631"/>
                <a:ext cx="510461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7641657" y="4682694"/>
                <a:ext cx="626646" cy="396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  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57" y="4682694"/>
                <a:ext cx="626646" cy="396455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7211290" y="5081518"/>
                <a:ext cx="496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90" y="5081518"/>
                <a:ext cx="496546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/>
          <p:nvPr/>
        </p:nvCxnSpPr>
        <p:spPr>
          <a:xfrm>
            <a:off x="7144987" y="5081519"/>
            <a:ext cx="0" cy="70968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721691" y="5094959"/>
            <a:ext cx="0" cy="70968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3772321" y="3848101"/>
                <a:ext cx="308454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≤−3</m:t>
                    </m:r>
                  </m:oMath>
                </a14:m>
                <a:r>
                  <a:rPr lang="en-US" i="1" dirty="0">
                    <a:latin typeface="Cambria Math"/>
                  </a:rPr>
                  <a:t> no reset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&gt;−3∧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≤−3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≔</m:t>
                    </m:r>
                  </m:oMath>
                </a14:m>
                <a:r>
                  <a:rPr lang="en-US" dirty="0"/>
                  <a:t>-3</a:t>
                </a: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321" y="3848101"/>
                <a:ext cx="3084544" cy="646331"/>
              </a:xfrm>
              <a:prstGeom prst="rect">
                <a:avLst/>
              </a:prstGeom>
              <a:blipFill>
                <a:blip r:embed="rId8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6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Initialized Singular 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=−3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≔0;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67768" y="3210341"/>
                <a:ext cx="2547813" cy="1231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≤5∧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≤−3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≤5∧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≤−3∧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&gt;−3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≔4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≔−3</m:t>
                      </m:r>
                    </m:oMath>
                  </m:oMathPara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68" y="3210341"/>
                <a:ext cx="2547813" cy="12311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=1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 t="-3279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953001" y="4687670"/>
                <a:ext cx="13457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≤−5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4687670"/>
                <a:ext cx="134575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 dirty="0">
                                <a:latin typeface="Cambria Math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=3</m:t>
                            </m:r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eqArr>
                          </m:e>
                        </m:eqAr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8"/>
                <a:stretch>
                  <a:fillRect t="-3252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29601" y="3340894"/>
                <a:ext cx="2656561" cy="1231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≥−3∧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≤−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≔−1</m:t>
                      </m:r>
                    </m:oMath>
                  </m:oMathPara>
                </a14:m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≥−3∧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≤−2 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&gt;−2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≔−1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1" y="3340894"/>
                <a:ext cx="2656561" cy="1231106"/>
              </a:xfrm>
              <a:prstGeom prst="rect">
                <a:avLst/>
              </a:prstGeom>
              <a:blipFill>
                <a:blip r:embed="rId9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953000" y="2362200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227103" y="1715869"/>
                <a:ext cx="160107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≥0∧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03" y="1715869"/>
                <a:ext cx="1601079" cy="646331"/>
              </a:xfrm>
              <a:prstGeom prst="rect">
                <a:avLst/>
              </a:prstGeom>
              <a:blipFill>
                <a:blip r:embed="rId10"/>
                <a:stretch>
                  <a:fillRect t="-3774" r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105400" y="2362199"/>
                <a:ext cx="2057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&lt;0∧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≥0∧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≔0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362199"/>
                <a:ext cx="20574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this be further generalized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initialized Rectangular HA, control state reachability is decidable</a:t>
            </a:r>
          </a:p>
          <a:p>
            <a:pPr lvl="1"/>
            <a:r>
              <a:rPr lang="en-US" dirty="0"/>
              <a:t>Can we drop the initialization restriction?</a:t>
            </a:r>
          </a:p>
          <a:p>
            <a:pPr lvl="2"/>
            <a:r>
              <a:rPr lang="en-US" dirty="0"/>
              <a:t>No, problem becomes undecidable (next time)</a:t>
            </a:r>
          </a:p>
          <a:p>
            <a:pPr lvl="1"/>
            <a:r>
              <a:rPr lang="en-US" dirty="0"/>
              <a:t>Can we drop the rectangular restriction?</a:t>
            </a:r>
          </a:p>
          <a:p>
            <a:pPr lvl="2"/>
            <a:r>
              <a:rPr lang="en-US" dirty="0"/>
              <a:t>No, problem becomes undecidable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33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in tools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354931"/>
            <a:ext cx="5657202" cy="2317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717809"/>
            <a:ext cx="5780690" cy="207033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73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structures make reachability go around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Hyperrectangles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mr-I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mr-IN" sz="2000" dirty="0">
                                    <a:latin typeface="Cambria Math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mr-IN" sz="2000" dirty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mr-IN" sz="2000" dirty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mr-IN" sz="2000" dirty="0">
                                    <a:latin typeface="Cambria Math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mr-IN" sz="2000" dirty="0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charset="0"/>
                          </a:rPr>
                          <m:t>𝑥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dirty="0">
                            <a:latin typeface="Cambria Math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latin typeface="Cambria Math" charset="0"/>
                          </a:rPr>
                          <m:t>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charset="0"/>
                                  </a:rPr>
                                  <m:t>x</m:t>
                                </m:r>
                                <m:r>
                                  <a:rPr lang="en-US" sz="2000" dirty="0">
                                    <a:latin typeface="Cambria Math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dirty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sz="2000" dirty="0">
                                <a:latin typeface="Cambria Math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∞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dirty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dirty="0">
                                    <a:latin typeface="Cambria Math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i="1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sz="2000" dirty="0">
                                <a:latin typeface="Cambria Math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∞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}</m:t>
                    </m:r>
                    <m:r>
                      <a:rPr lang="mr-IN" sz="2000" dirty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dirty="0">
                            <a:latin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1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r>
                  <a:rPr lang="en-US" sz="2400" dirty="0" err="1"/>
                  <a:t>Polyhedra</a:t>
                </a:r>
                <a:endParaRPr lang="en-US" sz="2400" dirty="0"/>
              </a:p>
              <a:p>
                <a:r>
                  <a:rPr lang="en-US" sz="2400" dirty="0"/>
                  <a:t>Zonotopes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[Girard 2005]</a:t>
                </a:r>
              </a:p>
              <a:p>
                <a:r>
                  <a:rPr lang="en-US" sz="2400" dirty="0"/>
                  <a:t>Ellipsoids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Kurzhanskiy</a:t>
                </a:r>
                <a:r>
                  <a:rPr lang="en-US" sz="2400" dirty="0">
                    <a:solidFill>
                      <a:srgbClr val="00B0F0"/>
                    </a:solidFill>
                  </a:rPr>
                  <a:t> 2001]</a:t>
                </a:r>
                <a:endParaRPr lang="en-US" sz="2400" dirty="0"/>
              </a:p>
              <a:p>
                <a:r>
                  <a:rPr lang="en-US" sz="2400" dirty="0"/>
                  <a:t>Support functions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Guernic</a:t>
                </a:r>
                <a:r>
                  <a:rPr lang="en-US" sz="2400" dirty="0">
                    <a:solidFill>
                      <a:srgbClr val="00B0F0"/>
                    </a:solidFill>
                  </a:rPr>
                  <a:t> et al. 2009]</a:t>
                </a:r>
              </a:p>
              <a:p>
                <a:r>
                  <a:rPr lang="en-US" sz="2400" dirty="0"/>
                  <a:t>Generalized star set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Duggirala</a:t>
                </a:r>
                <a:r>
                  <a:rPr lang="en-US" sz="2400" dirty="0">
                    <a:solidFill>
                      <a:srgbClr val="00B0F0"/>
                    </a:solidFill>
                  </a:rPr>
                  <a:t> and Viswanathan 2018]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40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817F-A90D-1B46-AB05-719F0D62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Data structures: rectangles and ellipsoids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82271-9E71-CB44-89C1-6991CC04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93" y="1756085"/>
            <a:ext cx="7286614" cy="473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25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4A62-9027-A54F-92EC-AFDBC495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Zonotopes and polytopes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3087D-FE68-094F-8A05-54EC853B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72" y="1277505"/>
            <a:ext cx="7846965" cy="531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39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ITA: Restricted class of hybrid automata</a:t>
            </a:r>
          </a:p>
          <a:p>
            <a:pPr lvl="1"/>
            <a:r>
              <a:rPr lang="en-US" dirty="0"/>
              <a:t>Clocks, integer constraints</a:t>
            </a:r>
          </a:p>
          <a:p>
            <a:pPr lvl="1"/>
            <a:r>
              <a:rPr lang="en-US" dirty="0"/>
              <a:t>No clock comparison, linear</a:t>
            </a:r>
          </a:p>
          <a:p>
            <a:r>
              <a:rPr lang="en-US" dirty="0"/>
              <a:t>Control state reachability with </a:t>
            </a:r>
            <a:r>
              <a:rPr lang="en-US" dirty="0" err="1"/>
              <a:t>Alur</a:t>
            </a:r>
            <a:r>
              <a:rPr lang="en-US" dirty="0"/>
              <a:t>-Dill’s algorithm (region automaton construction)</a:t>
            </a:r>
          </a:p>
          <a:p>
            <a:r>
              <a:rPr lang="en-US" dirty="0"/>
              <a:t>Rational coefficients; </a:t>
            </a:r>
            <a:r>
              <a:rPr lang="en-US" dirty="0" err="1"/>
              <a:t>multirate</a:t>
            </a:r>
            <a:r>
              <a:rPr lang="en-US" dirty="0"/>
              <a:t> Automata</a:t>
            </a:r>
          </a:p>
          <a:p>
            <a:r>
              <a:rPr lang="en-US" dirty="0"/>
              <a:t>Initialized Rectangular Hybrid Automata</a:t>
            </a:r>
          </a:p>
          <a:p>
            <a:r>
              <a:rPr lang="en-US" dirty="0" err="1"/>
              <a:t>HyTech</a:t>
            </a:r>
            <a:r>
              <a:rPr lang="en-US" dirty="0"/>
              <a:t>, </a:t>
            </a:r>
            <a:r>
              <a:rPr lang="en-US" dirty="0" err="1"/>
              <a:t>PHAVer</a:t>
            </a:r>
            <a:r>
              <a:rPr lang="en-US" dirty="0"/>
              <a:t> use polyhedral reachability computations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1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2154</Words>
  <Application>Microsoft Macintosh PowerPoint</Application>
  <PresentationFormat>Widescreen</PresentationFormat>
  <Paragraphs>297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Generalizing from Timed to Hybrid Automata</vt:lpstr>
      <vt:lpstr>Special Classes of Hybrid Automata</vt:lpstr>
      <vt:lpstr>Clocks and Rational Clock Constraints</vt:lpstr>
      <vt:lpstr>Step 1. Rational Timed Automata</vt:lpstr>
      <vt:lpstr>Example: Rational Light switch</vt:lpstr>
      <vt:lpstr>Control State (Location) Reachability Problem</vt:lpstr>
      <vt:lpstr>Construction of ITA from RTA</vt:lpstr>
      <vt:lpstr>Step 2. Multi-Rate Automaton</vt:lpstr>
      <vt:lpstr>Control State (Location) Reachability Problem</vt:lpstr>
      <vt:lpstr>Example: Multi-rate to rational TA</vt:lpstr>
      <vt:lpstr>Step 3. Rectangular HA</vt:lpstr>
      <vt:lpstr>CSR Decidable for RHA?</vt:lpstr>
      <vt:lpstr>Step 4. Initialized Rectangular HA</vt:lpstr>
      <vt:lpstr>Example: Rectangular Initialized HA</vt:lpstr>
      <vt:lpstr>CSR Decidable for IRHA?</vt:lpstr>
      <vt:lpstr>From IRHA to Singular HA conversion</vt:lpstr>
      <vt:lpstr>Example IRHA</vt:lpstr>
      <vt:lpstr>Initialized Singular HA</vt:lpstr>
      <vt:lpstr>Transitions</vt:lpstr>
      <vt:lpstr>Initialized Singular HA</vt:lpstr>
      <vt:lpstr>Can this be further generalized ? </vt:lpstr>
      <vt:lpstr>Verification in tools</vt:lpstr>
      <vt:lpstr>Data structures make reachability go around</vt:lpstr>
      <vt:lpstr>Data structures: rectangles and ellipsoids</vt:lpstr>
      <vt:lpstr>Zonotopes and polytopes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Generalizing from Timed to Hybrid Automata</dc:title>
  <dc:creator>Mitra, Sayan</dc:creator>
  <cp:lastModifiedBy>Mitra, Sayan</cp:lastModifiedBy>
  <cp:revision>11</cp:revision>
  <dcterms:created xsi:type="dcterms:W3CDTF">2025-10-23T15:50:23Z</dcterms:created>
  <dcterms:modified xsi:type="dcterms:W3CDTF">2025-10-23T17:15:08Z</dcterms:modified>
</cp:coreProperties>
</file>