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24" r:id="rId2"/>
    <p:sldId id="356" r:id="rId3"/>
    <p:sldId id="339" r:id="rId4"/>
    <p:sldId id="359" r:id="rId5"/>
    <p:sldId id="355" r:id="rId6"/>
    <p:sldId id="292" r:id="rId7"/>
    <p:sldId id="328" r:id="rId8"/>
    <p:sldId id="360" r:id="rId9"/>
    <p:sldId id="341" r:id="rId10"/>
    <p:sldId id="342" r:id="rId11"/>
    <p:sldId id="344" r:id="rId12"/>
    <p:sldId id="346" r:id="rId13"/>
    <p:sldId id="345" r:id="rId14"/>
    <p:sldId id="343" r:id="rId15"/>
    <p:sldId id="347" r:id="rId16"/>
    <p:sldId id="349" r:id="rId17"/>
    <p:sldId id="350" r:id="rId18"/>
    <p:sldId id="361" r:id="rId19"/>
    <p:sldId id="362" r:id="rId20"/>
    <p:sldId id="578" r:id="rId21"/>
    <p:sldId id="575" r:id="rId22"/>
    <p:sldId id="576" r:id="rId23"/>
    <p:sldId id="577" r:id="rId24"/>
    <p:sldId id="514" r:id="rId25"/>
    <p:sldId id="515" r:id="rId26"/>
    <p:sldId id="581" r:id="rId27"/>
    <p:sldId id="516" r:id="rId28"/>
    <p:sldId id="584" r:id="rId29"/>
    <p:sldId id="585" r:id="rId30"/>
    <p:sldId id="586" r:id="rId31"/>
    <p:sldId id="256" r:id="rId32"/>
    <p:sldId id="587" r:id="rId33"/>
    <p:sldId id="301" r:id="rId34"/>
    <p:sldId id="588" r:id="rId35"/>
    <p:sldId id="303" r:id="rId36"/>
    <p:sldId id="353" r:id="rId37"/>
    <p:sldId id="334" r:id="rId38"/>
    <p:sldId id="352" r:id="rId39"/>
    <p:sldId id="329" r:id="rId40"/>
    <p:sldId id="351" r:id="rId41"/>
    <p:sldId id="302" r:id="rId42"/>
    <p:sldId id="354" r:id="rId43"/>
    <p:sldId id="338" r:id="rId44"/>
    <p:sldId id="335" r:id="rId45"/>
    <p:sldId id="336" r:id="rId46"/>
    <p:sldId id="275" r:id="rId47"/>
    <p:sldId id="357" r:id="rId48"/>
    <p:sldId id="358" r:id="rId49"/>
    <p:sldId id="304" r:id="rId50"/>
    <p:sldId id="306" r:id="rId51"/>
    <p:sldId id="307" r:id="rId52"/>
    <p:sldId id="318" r:id="rId5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2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86"/>
    <p:restoredTop sz="93033" autoAdjust="0"/>
  </p:normalViewPr>
  <p:slideViewPr>
    <p:cSldViewPr showGuides="1">
      <p:cViewPr>
        <p:scale>
          <a:sx n="100" d="100"/>
          <a:sy n="100" d="100"/>
        </p:scale>
        <p:origin x="102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18:17:32.04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5380 6985 24575,'20'0'0,"27"0"0,-8 0 0,-1 0 0,2 0-1048,-11 0 1,-1 0 1047,10-1 0,-1 2 0,-10 7 0,1 0 0,6-6 0,2 0 0,0 6 0,-1-1 0,-8-6 0,1-2 0,6 1 0,-2 0 0,7 0 336,-13 0 1,-1 0-337,11 0 0,-1 0 346,0 0-346,1 0 0,-1 0 0,-16 0 0,21 0 0,-35 0 1076,35 0-1076,-36 0 0,27 16 0,-27-12 0,27 12 0,-27-16 0,12 0 0,-1 0 0,-11 0 0,12 0 0,-16 15 0,0-11 0,0 12 0,0-16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6E1B6EF-ED34-4915-9548-A59C8A6676F8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2F81894-4E42-4C20-B559-1A0CBC527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1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6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6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8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9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0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5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8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6A0C9-335D-425F-A2CE-581AAF9F335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27EDB-D4C7-497A-B9D7-5DFE52E43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1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11" Type="http://schemas.openxmlformats.org/officeDocument/2006/relationships/image" Target="../media/image51.png"/><Relationship Id="rId5" Type="http://schemas.openxmlformats.org/officeDocument/2006/relationships/image" Target="../media/image36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1.png"/><Relationship Id="rId4" Type="http://schemas.openxmlformats.org/officeDocument/2006/relationships/image" Target="../media/image33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310.png"/><Relationship Id="rId7" Type="http://schemas.openxmlformats.org/officeDocument/2006/relationships/image" Target="../media/image10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130.png"/><Relationship Id="rId4" Type="http://schemas.openxmlformats.org/officeDocument/2006/relationships/image" Target="../media/image430.png"/><Relationship Id="rId9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0.png"/><Relationship Id="rId4" Type="http://schemas.openxmlformats.org/officeDocument/2006/relationships/customXml" Target="../ink/ink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iff"/><Relationship Id="rId2" Type="http://schemas.openxmlformats.org/officeDocument/2006/relationships/image" Target="../media/image52.tif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f"/><Relationship Id="rId7" Type="http://schemas.openxmlformats.org/officeDocument/2006/relationships/image" Target="../media/image49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53.tif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745728"/>
          </a:xfrm>
        </p:spPr>
        <p:txBody>
          <a:bodyPr>
            <a:normAutofit/>
          </a:bodyPr>
          <a:lstStyle/>
          <a:p>
            <a:r>
              <a:rPr lang="en-US" sz="4000" dirty="0"/>
              <a:t>Composition</a:t>
            </a: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  <p:pic>
        <p:nvPicPr>
          <p:cNvPr id="1028" name="Picture 4" descr="Modular Solution – Two-Stack Type Generator | Denyo United Machinery">
            <a:extLst>
              <a:ext uri="{FF2B5EF4-FFF2-40B4-BE49-F238E27FC236}">
                <a16:creationId xmlns:a16="http://schemas.microsoft.com/office/drawing/2014/main" id="{D1A6D13C-394E-A14E-B37B-F5C53E9AE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538" y="1219200"/>
            <a:ext cx="3202607" cy="230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78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546C-56FF-B04C-9378-B9A6E19D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4099D-5E78-0645-8D01-CE3A60548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335447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7F18-81B4-6A4A-8850-A6EA806E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compose?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4059-5E04-AE4E-84DB-535D4392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Complex models are built by putting together </a:t>
            </a:r>
            <a:r>
              <a:rPr lang="en-US" sz="2400" b="1" dirty="0"/>
              <a:t>simpler</a:t>
            </a:r>
            <a:r>
              <a:rPr lang="en-US" sz="2400" dirty="0"/>
              <a:t> </a:t>
            </a:r>
            <a:r>
              <a:rPr lang="en-US" sz="2400" b="1" dirty="0"/>
              <a:t>components</a:t>
            </a:r>
            <a:r>
              <a:rPr lang="en-US" sz="2400" dirty="0"/>
              <a:t> or </a:t>
            </a:r>
            <a:r>
              <a:rPr lang="en-US" sz="2400" b="1" dirty="0"/>
              <a:t>modules</a:t>
            </a:r>
          </a:p>
          <a:p>
            <a:r>
              <a:rPr lang="en-US" sz="2400" b="1" dirty="0"/>
              <a:t>Enables </a:t>
            </a:r>
            <a:r>
              <a:rPr lang="en-US" sz="2400" dirty="0"/>
              <a:t>portability, reuse, modular reasoning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Composition: </a:t>
            </a:r>
            <a:r>
              <a:rPr lang="en-US" sz="2400" dirty="0"/>
              <a:t>operation of </a:t>
            </a:r>
            <a:r>
              <a:rPr lang="en-US" sz="2400" i="1" dirty="0"/>
              <a:t>putting together</a:t>
            </a:r>
          </a:p>
          <a:p>
            <a:endParaRPr lang="en-US" sz="2400" dirty="0"/>
          </a:p>
          <a:p>
            <a:r>
              <a:rPr lang="en-US" sz="2400" dirty="0"/>
              <a:t>Gives precise definition of module </a:t>
            </a:r>
            <a:r>
              <a:rPr lang="en-US" sz="2400" b="1" dirty="0"/>
              <a:t>interfaces</a:t>
            </a:r>
          </a:p>
          <a:p>
            <a:endParaRPr lang="en-US" sz="2400" dirty="0"/>
          </a:p>
          <a:p>
            <a:r>
              <a:rPr lang="en-US" sz="2400" dirty="0"/>
              <a:t>What properties are preserved under composition?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C8A35-889A-DA44-BEA2-4B914F29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637"/>
            <a:ext cx="2491552" cy="2053689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7088B2-EA9E-CD4D-A7F8-9B58D91E7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276" r="5918" b="9656"/>
          <a:stretch/>
        </p:blipFill>
        <p:spPr bwMode="auto">
          <a:xfrm>
            <a:off x="6398939" y="3962756"/>
            <a:ext cx="2491553" cy="14776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D4C7B7-39A5-5B48-8BA1-74CA17609FF0}"/>
              </a:ext>
            </a:extLst>
          </p:cNvPr>
          <p:cNvSpPr txBox="1"/>
          <p:nvPr/>
        </p:nvSpPr>
        <p:spPr>
          <a:xfrm>
            <a:off x="5863536" y="3488998"/>
            <a:ext cx="3308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model of a network of oscillators [Huang et. al 14]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FA116-5CE3-A34E-B8EE-CF841C81E6E8}"/>
              </a:ext>
            </a:extLst>
          </p:cNvPr>
          <p:cNvSpPr txBox="1"/>
          <p:nvPr/>
        </p:nvSpPr>
        <p:spPr>
          <a:xfrm>
            <a:off x="6220571" y="5556883"/>
            <a:ext cx="2923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Powertrain model from Toyota [</a:t>
            </a:r>
            <a:r>
              <a:rPr lang="en-US" sz="1200" dirty="0" err="1"/>
              <a:t>Jin</a:t>
            </a:r>
            <a:r>
              <a:rPr lang="en-US" sz="1200" dirty="0"/>
              <a:t> et al. 15]</a:t>
            </a:r>
          </a:p>
        </p:txBody>
      </p:sp>
      <p:pic>
        <p:nvPicPr>
          <p:cNvPr id="8" name="Picture 4" descr="Modular Solution – Two-Stack Type Generator | Denyo United Machinery">
            <a:extLst>
              <a:ext uri="{FF2B5EF4-FFF2-40B4-BE49-F238E27FC236}">
                <a16:creationId xmlns:a16="http://schemas.microsoft.com/office/drawing/2014/main" id="{4B5EF737-BCCA-CB49-95A8-172B16F81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178" y="-28097"/>
            <a:ext cx="1930398" cy="138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87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5238-FCF9-E14B-B52B-17C78E9D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“composition”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FE82-BCB8-8C4D-98F2-6DBDA91D8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Addition. A + B = C</a:t>
                </a:r>
              </a:p>
              <a:p>
                <a:r>
                  <a:rPr lang="en-US" dirty="0"/>
                  <a:t>Product. A x B = C</a:t>
                </a:r>
              </a:p>
              <a:p>
                <a:r>
                  <a:rPr lang="en-US" dirty="0"/>
                  <a:t>Concatenation. Append(A,B)</a:t>
                </a:r>
              </a:p>
              <a:p>
                <a:r>
                  <a:rPr lang="en-US" dirty="0"/>
                  <a:t>Function composition. A(B(x)) = C(x)</a:t>
                </a:r>
              </a:p>
              <a:p>
                <a:r>
                  <a:rPr lang="en-US" dirty="0"/>
                  <a:t>Automata (parallel) composition. C = A || B</a:t>
                </a:r>
              </a:p>
              <a:p>
                <a:r>
                  <a:rPr lang="en-US" dirty="0"/>
                  <a:t>Reasoning with composition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𝑖𝑚𝑝𝑙𝑖𝑒𝑠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𝑖𝑚𝑝𝑙𝑖𝑒𝑠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30FE82-BCB8-8C4D-98F2-6DBDA91D8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Modular Solution – Two-Stack Type Generator | Denyo United Machinery">
            <a:extLst>
              <a:ext uri="{FF2B5EF4-FFF2-40B4-BE49-F238E27FC236}">
                <a16:creationId xmlns:a16="http://schemas.microsoft.com/office/drawing/2014/main" id="{94E6D3F2-B7AC-494C-A96F-64B0466D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255" y="1143000"/>
            <a:ext cx="2500745" cy="179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25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4C82-0040-DA47-BD55-8191A37F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2CA-EBDE-B341-9BE3-FE2551253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examples of composition?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 your notion of composition is captured by what we will define</a:t>
            </a:r>
          </a:p>
        </p:txBody>
      </p:sp>
    </p:spTree>
    <p:extLst>
      <p:ext uri="{BB962C8B-B14F-4D97-AF65-F5344CB8AC3E}">
        <p14:creationId xmlns:p14="http://schemas.microsoft.com/office/powerpoint/2010/main" val="238970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Composition operation</a:t>
            </a:r>
          </a:p>
          <a:p>
            <a:pPr lvl="1"/>
            <a:r>
              <a:rPr lang="en-US" dirty="0"/>
              <a:t>Input/output interfaces</a:t>
            </a:r>
          </a:p>
          <a:p>
            <a:r>
              <a:rPr lang="en-US" dirty="0"/>
              <a:t>I/O automata</a:t>
            </a:r>
          </a:p>
          <a:p>
            <a:r>
              <a:rPr lang="en-US" dirty="0"/>
              <a:t>hybrid I/O automata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Properties of composition</a:t>
            </a:r>
          </a:p>
        </p:txBody>
      </p:sp>
    </p:spTree>
    <p:extLst>
      <p:ext uri="{BB962C8B-B14F-4D97-AF65-F5344CB8AC3E}">
        <p14:creationId xmlns:p14="http://schemas.microsoft.com/office/powerpoint/2010/main" val="85711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of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</a:t>
                </a:r>
                <a:r>
                  <a:rPr lang="en-US" i="1" dirty="0">
                    <a:solidFill>
                      <a:srgbClr val="00B0F0"/>
                    </a:solidFill>
                  </a:rPr>
                  <a:t>component automata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i="1" dirty="0">
                    <a:solidFill>
                      <a:srgbClr val="00B0F0"/>
                    </a:solidFill>
                  </a:rPr>
                  <a:t>composed</a:t>
                </a:r>
                <a:r>
                  <a:rPr lang="en-US" dirty="0"/>
                  <a:t> automaton</a:t>
                </a:r>
              </a:p>
              <a:p>
                <a:pPr lvl="1"/>
                <a:r>
                  <a:rPr lang="en-US" dirty="0">
                    <a:solidFill>
                      <a:srgbClr val="00B0F0"/>
                    </a:solidFill>
                  </a:rPr>
                  <a:t>||</a:t>
                </a:r>
                <a:r>
                  <a:rPr lang="en-US" dirty="0"/>
                  <a:t> symbol for the composition operator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48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F4FA-3A6D-D145-8255-0C1490A0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9F5A-548B-CD4D-9145-27B72D8C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471" y="1599637"/>
            <a:ext cx="4000326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general, every final state has to be merged with every start state.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particularly interesting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A1EC4B-AEA3-DD43-AEFE-F56315B02560}"/>
              </a:ext>
            </a:extLst>
          </p:cNvPr>
          <p:cNvGrpSpPr/>
          <p:nvPr/>
        </p:nvGrpSpPr>
        <p:grpSpPr>
          <a:xfrm>
            <a:off x="838201" y="1540103"/>
            <a:ext cx="1602722" cy="2803297"/>
            <a:chOff x="838200" y="1540103"/>
            <a:chExt cx="2016595" cy="352719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F160FA-E112-8240-84B6-45F99753B870}"/>
                </a:ext>
              </a:extLst>
            </p:cNvPr>
            <p:cNvSpPr/>
            <p:nvPr/>
          </p:nvSpPr>
          <p:spPr>
            <a:xfrm>
              <a:off x="838200" y="1981200"/>
              <a:ext cx="533400" cy="5334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9E10F25-A81E-B24E-83EA-BF906FE9F715}"/>
                </a:ext>
              </a:extLst>
            </p:cNvPr>
            <p:cNvSpPr/>
            <p:nvPr/>
          </p:nvSpPr>
          <p:spPr>
            <a:xfrm>
              <a:off x="838200" y="3257550"/>
              <a:ext cx="533400" cy="5334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671AD2B-5322-6944-B5EE-EAFD7667539C}"/>
                </a:ext>
              </a:extLst>
            </p:cNvPr>
            <p:cNvSpPr/>
            <p:nvPr/>
          </p:nvSpPr>
          <p:spPr>
            <a:xfrm>
              <a:off x="838200" y="4533900"/>
              <a:ext cx="533400" cy="5334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c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22E355B-E101-594A-9BA2-ACCE77807A56}"/>
                </a:ext>
              </a:extLst>
            </p:cNvPr>
            <p:cNvCxnSpPr>
              <a:stCxn id="4" idx="4"/>
              <a:endCxn id="5" idx="0"/>
            </p:cNvCxnSpPr>
            <p:nvPr/>
          </p:nvCxnSpPr>
          <p:spPr>
            <a:xfrm>
              <a:off x="1104900" y="2514600"/>
              <a:ext cx="0" cy="74295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5B31735-D0E8-1C41-8257-A8C35B36F068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1104900" y="3790950"/>
              <a:ext cx="0" cy="74295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389BB706-1CE5-FF4C-9CB3-C4EA8DC9A20E}"/>
                </a:ext>
              </a:extLst>
            </p:cNvPr>
            <p:cNvCxnSpPr>
              <a:stCxn id="6" idx="5"/>
              <a:endCxn id="6" idx="3"/>
            </p:cNvCxnSpPr>
            <p:nvPr/>
          </p:nvCxnSpPr>
          <p:spPr>
            <a:xfrm rot="5400000">
              <a:off x="1104900" y="4800600"/>
              <a:ext cx="12700" cy="377170"/>
            </a:xfrm>
            <a:prstGeom prst="curvedConnector3">
              <a:avLst>
                <a:gd name="adj1" fmla="val 3732157"/>
              </a:avLst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4CA8CF-27AF-5340-9661-AB9F6311CF0C}"/>
                    </a:ext>
                  </a:extLst>
                </p:cNvPr>
                <p:cNvSpPr txBox="1"/>
                <p:nvPr/>
              </p:nvSpPr>
              <p:spPr>
                <a:xfrm>
                  <a:off x="879005" y="1540103"/>
                  <a:ext cx="45179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4CA8CF-27AF-5340-9661-AB9F6311C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005" y="1540103"/>
                  <a:ext cx="451790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448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BD162F-58FD-C042-B314-8DBC36EA9088}"/>
                </a:ext>
              </a:extLst>
            </p:cNvPr>
            <p:cNvSpPr/>
            <p:nvPr/>
          </p:nvSpPr>
          <p:spPr>
            <a:xfrm>
              <a:off x="2321395" y="1981200"/>
              <a:ext cx="533400" cy="5334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ED433B-ABCA-5B43-B60C-799A427C8FE2}"/>
                </a:ext>
              </a:extLst>
            </p:cNvPr>
            <p:cNvSpPr/>
            <p:nvPr/>
          </p:nvSpPr>
          <p:spPr>
            <a:xfrm>
              <a:off x="2321395" y="325755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2A90BC7-D2F5-5649-90D7-84F78FEE1A6F}"/>
                </a:ext>
              </a:extLst>
            </p:cNvPr>
            <p:cNvSpPr/>
            <p:nvPr/>
          </p:nvSpPr>
          <p:spPr>
            <a:xfrm>
              <a:off x="2321395" y="45339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0653DF-68BB-0B4F-9004-9E880293BBB6}"/>
                </a:ext>
              </a:extLst>
            </p:cNvPr>
            <p:cNvCxnSpPr>
              <a:stCxn id="11" idx="4"/>
              <a:endCxn id="12" idx="0"/>
            </p:cNvCxnSpPr>
            <p:nvPr/>
          </p:nvCxnSpPr>
          <p:spPr>
            <a:xfrm>
              <a:off x="2588095" y="2514600"/>
              <a:ext cx="0" cy="7429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6F8878D-BF33-FE40-85CC-DA30B3446A48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2588095" y="3790950"/>
              <a:ext cx="0" cy="7429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ADA6C1AD-68DA-E349-BBD5-4CF429DC0A6B}"/>
                </a:ext>
              </a:extLst>
            </p:cNvPr>
            <p:cNvCxnSpPr>
              <a:cxnSpLocks/>
              <a:stCxn id="11" idx="2"/>
              <a:endCxn id="13" idx="2"/>
            </p:cNvCxnSpPr>
            <p:nvPr/>
          </p:nvCxnSpPr>
          <p:spPr>
            <a:xfrm rot="10800000" flipV="1">
              <a:off x="2321395" y="2247900"/>
              <a:ext cx="12700" cy="2552700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CD13728-3E5A-0A41-9673-2D8D396AD03B}"/>
                    </a:ext>
                  </a:extLst>
                </p:cNvPr>
                <p:cNvSpPr txBox="1"/>
                <p:nvPr/>
              </p:nvSpPr>
              <p:spPr>
                <a:xfrm>
                  <a:off x="2362200" y="1540103"/>
                  <a:ext cx="4016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CD13728-3E5A-0A41-9673-2D8D396AD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200" y="1540103"/>
                  <a:ext cx="401648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846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1C1005F0-1E87-DF44-92F1-D097AEA80983}"/>
                </a:ext>
              </a:extLst>
            </p:cNvPr>
            <p:cNvCxnSpPr>
              <a:cxnSpLocks/>
              <a:stCxn id="5" idx="2"/>
              <a:endCxn id="6" idx="2"/>
            </p:cNvCxnSpPr>
            <p:nvPr/>
          </p:nvCxnSpPr>
          <p:spPr>
            <a:xfrm rot="10800000" flipV="1">
              <a:off x="838200" y="3524250"/>
              <a:ext cx="12700" cy="1276350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2B2DAD73-2D9D-3D43-9EB9-52E0259A3FEA}"/>
              </a:ext>
            </a:extLst>
          </p:cNvPr>
          <p:cNvSpPr/>
          <p:nvPr/>
        </p:nvSpPr>
        <p:spPr>
          <a:xfrm>
            <a:off x="3190742" y="1890672"/>
            <a:ext cx="423928" cy="423928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7096DC-360D-6E4E-B42D-61BF72C1B3FB}"/>
              </a:ext>
            </a:extLst>
          </p:cNvPr>
          <p:cNvSpPr/>
          <p:nvPr/>
        </p:nvSpPr>
        <p:spPr>
          <a:xfrm>
            <a:off x="3190742" y="2905072"/>
            <a:ext cx="423928" cy="423928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4650A6-306D-1342-8095-41D6F546C0F3}"/>
              </a:ext>
            </a:extLst>
          </p:cNvPr>
          <p:cNvSpPr/>
          <p:nvPr/>
        </p:nvSpPr>
        <p:spPr>
          <a:xfrm>
            <a:off x="3190742" y="3919472"/>
            <a:ext cx="423928" cy="423928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BDF52D-2253-D446-A72C-E4892C8147FD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>
            <a:off x="3402706" y="2314600"/>
            <a:ext cx="0" cy="59047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4B3802-8485-1B43-8A42-5CCD94E9F1FE}"/>
              </a:ext>
            </a:extLst>
          </p:cNvPr>
          <p:cNvCxnSpPr>
            <a:cxnSpLocks/>
            <a:stCxn id="37" idx="4"/>
            <a:endCxn id="38" idx="0"/>
          </p:cNvCxnSpPr>
          <p:nvPr/>
        </p:nvCxnSpPr>
        <p:spPr>
          <a:xfrm>
            <a:off x="3402706" y="3329000"/>
            <a:ext cx="0" cy="59047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3EB7E7EA-7A51-B247-B7F5-9B5E9EAB81AB}"/>
              </a:ext>
            </a:extLst>
          </p:cNvPr>
          <p:cNvCxnSpPr>
            <a:cxnSpLocks/>
            <a:stCxn id="43" idx="6"/>
            <a:endCxn id="43" idx="7"/>
          </p:cNvCxnSpPr>
          <p:nvPr/>
        </p:nvCxnSpPr>
        <p:spPr>
          <a:xfrm flipH="1" flipV="1">
            <a:off x="3552587" y="3981555"/>
            <a:ext cx="62083" cy="149881"/>
          </a:xfrm>
          <a:prstGeom prst="curvedConnector4">
            <a:avLst>
              <a:gd name="adj1" fmla="val -368217"/>
              <a:gd name="adj2" fmla="val 293943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9CE55E-D58B-5940-8800-31B2F0E12306}"/>
                  </a:ext>
                </a:extLst>
              </p:cNvPr>
              <p:cNvSpPr txBox="1"/>
              <p:nvPr/>
            </p:nvSpPr>
            <p:spPr>
              <a:xfrm>
                <a:off x="3200401" y="1502203"/>
                <a:ext cx="6206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9CE55E-D58B-5940-8800-31B2F0E12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1" y="1502203"/>
                <a:ext cx="620683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002C8094-3050-8240-A98A-4EF93B596D85}"/>
              </a:ext>
            </a:extLst>
          </p:cNvPr>
          <p:cNvSpPr/>
          <p:nvPr/>
        </p:nvSpPr>
        <p:spPr>
          <a:xfrm>
            <a:off x="3190742" y="3919472"/>
            <a:ext cx="423928" cy="42392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B6877E-D0C0-1243-B5E2-9DD464A8D1E5}"/>
              </a:ext>
            </a:extLst>
          </p:cNvPr>
          <p:cNvSpPr/>
          <p:nvPr/>
        </p:nvSpPr>
        <p:spPr>
          <a:xfrm>
            <a:off x="3190742" y="4933872"/>
            <a:ext cx="423928" cy="42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237683-925F-2846-AA18-FE9A2F4AF9BF}"/>
              </a:ext>
            </a:extLst>
          </p:cNvPr>
          <p:cNvSpPr/>
          <p:nvPr/>
        </p:nvSpPr>
        <p:spPr>
          <a:xfrm>
            <a:off x="3190742" y="5948272"/>
            <a:ext cx="423928" cy="42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3CDDC0B-E359-574C-BF33-EFA384BB7A76}"/>
              </a:ext>
            </a:extLst>
          </p:cNvPr>
          <p:cNvCxnSpPr>
            <a:stCxn id="43" idx="4"/>
            <a:endCxn id="44" idx="0"/>
          </p:cNvCxnSpPr>
          <p:nvPr/>
        </p:nvCxnSpPr>
        <p:spPr>
          <a:xfrm>
            <a:off x="3402706" y="4343400"/>
            <a:ext cx="0" cy="5904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C91012-102A-2C41-A7C0-8405EF92E7D5}"/>
              </a:ext>
            </a:extLst>
          </p:cNvPr>
          <p:cNvCxnSpPr>
            <a:cxnSpLocks/>
            <a:stCxn id="44" idx="4"/>
            <a:endCxn id="45" idx="0"/>
          </p:cNvCxnSpPr>
          <p:nvPr/>
        </p:nvCxnSpPr>
        <p:spPr>
          <a:xfrm>
            <a:off x="3402706" y="5357800"/>
            <a:ext cx="0" cy="5904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41D1E274-8310-544B-A25D-4E26199AAC1D}"/>
              </a:ext>
            </a:extLst>
          </p:cNvPr>
          <p:cNvCxnSpPr>
            <a:cxnSpLocks/>
            <a:stCxn id="43" idx="2"/>
            <a:endCxn id="45" idx="2"/>
          </p:cNvCxnSpPr>
          <p:nvPr/>
        </p:nvCxnSpPr>
        <p:spPr>
          <a:xfrm rot="10800000" flipV="1">
            <a:off x="3190742" y="4131436"/>
            <a:ext cx="10094" cy="202880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93BA9049-54F9-D945-A51B-5FDC44CE21DD}"/>
              </a:ext>
            </a:extLst>
          </p:cNvPr>
          <p:cNvCxnSpPr>
            <a:cxnSpLocks/>
            <a:stCxn id="37" idx="2"/>
            <a:endCxn id="38" idx="2"/>
          </p:cNvCxnSpPr>
          <p:nvPr/>
        </p:nvCxnSpPr>
        <p:spPr>
          <a:xfrm rot="10800000" flipV="1">
            <a:off x="3190742" y="3117036"/>
            <a:ext cx="10094" cy="1014400"/>
          </a:xfrm>
          <a:prstGeom prst="curvedConnector3">
            <a:avLst>
              <a:gd name="adj1" fmla="val 1800000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91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2" grpId="0"/>
      <p:bldP spid="43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6CF6-1CB0-194B-A7D9-BF984943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6530"/>
          </a:xfrm>
        </p:spPr>
        <p:txBody>
          <a:bodyPr>
            <a:noAutofit/>
          </a:bodyPr>
          <a:lstStyle/>
          <a:p>
            <a:r>
              <a:rPr lang="en-US" sz="3200" dirty="0"/>
              <a:t>Parallel Composition: asynchronous transitions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A0B0D9-DA9A-7E41-94D1-716F24AF12D0}"/>
              </a:ext>
            </a:extLst>
          </p:cNvPr>
          <p:cNvSpPr/>
          <p:nvPr/>
        </p:nvSpPr>
        <p:spPr>
          <a:xfrm>
            <a:off x="838200" y="198120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8EEF6A-F66F-2646-A606-1BBC45BB07EA}"/>
              </a:ext>
            </a:extLst>
          </p:cNvPr>
          <p:cNvSpPr/>
          <p:nvPr/>
        </p:nvSpPr>
        <p:spPr>
          <a:xfrm>
            <a:off x="838200" y="325755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93093C-1874-034A-925F-71EBA4E04F01}"/>
              </a:ext>
            </a:extLst>
          </p:cNvPr>
          <p:cNvSpPr/>
          <p:nvPr/>
        </p:nvSpPr>
        <p:spPr>
          <a:xfrm>
            <a:off x="838200" y="453390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6E66C0-EF4E-F541-9114-A4DC1750891A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1104900" y="2514600"/>
            <a:ext cx="0" cy="7429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6DE491-03A6-AE47-881D-938404AF4BFC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1104900" y="3790950"/>
            <a:ext cx="0" cy="7429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907FFC4E-C0EC-6547-9C6F-CFB50182F063}"/>
              </a:ext>
            </a:extLst>
          </p:cNvPr>
          <p:cNvCxnSpPr>
            <a:stCxn id="6" idx="5"/>
            <a:endCxn id="6" idx="3"/>
          </p:cNvCxnSpPr>
          <p:nvPr/>
        </p:nvCxnSpPr>
        <p:spPr>
          <a:xfrm rot="5400000">
            <a:off x="1104900" y="4800600"/>
            <a:ext cx="12700" cy="377170"/>
          </a:xfrm>
          <a:prstGeom prst="curvedConnector3">
            <a:avLst>
              <a:gd name="adj1" fmla="val 3732157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2EADE7-C3D0-614C-AE75-C6DE450F1ABA}"/>
                  </a:ext>
                </a:extLst>
              </p:cNvPr>
              <p:cNvSpPr txBox="1"/>
              <p:nvPr/>
            </p:nvSpPr>
            <p:spPr>
              <a:xfrm>
                <a:off x="879005" y="1540103"/>
                <a:ext cx="451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2EADE7-C3D0-614C-AE75-C6DE450F1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5" y="1540103"/>
                <a:ext cx="45179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13B587CE-617E-FE46-8F92-FB0FFD520FD4}"/>
              </a:ext>
            </a:extLst>
          </p:cNvPr>
          <p:cNvSpPr/>
          <p:nvPr/>
        </p:nvSpPr>
        <p:spPr>
          <a:xfrm>
            <a:off x="2321395" y="198120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A6F961-C8F3-4F46-9BF6-0604B8408439}"/>
              </a:ext>
            </a:extLst>
          </p:cNvPr>
          <p:cNvSpPr/>
          <p:nvPr/>
        </p:nvSpPr>
        <p:spPr>
          <a:xfrm>
            <a:off x="2321395" y="325755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2DCC07B-FA05-E443-BE95-44ED231A7E4F}"/>
              </a:ext>
            </a:extLst>
          </p:cNvPr>
          <p:cNvSpPr/>
          <p:nvPr/>
        </p:nvSpPr>
        <p:spPr>
          <a:xfrm>
            <a:off x="2321395" y="453390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11DFD7-45F7-D248-8777-ECADA232D801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>
            <a:off x="2588095" y="2514600"/>
            <a:ext cx="0" cy="742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7B06CB-444E-334B-82D7-BDDACF9F75CF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2588095" y="3790950"/>
            <a:ext cx="0" cy="742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DFA0BE28-48A6-AC4D-9463-8D9F2018D34D}"/>
              </a:ext>
            </a:extLst>
          </p:cNvPr>
          <p:cNvCxnSpPr>
            <a:cxnSpLocks/>
            <a:stCxn id="17" idx="2"/>
            <a:endCxn id="19" idx="2"/>
          </p:cNvCxnSpPr>
          <p:nvPr/>
        </p:nvCxnSpPr>
        <p:spPr>
          <a:xfrm rot="10800000" flipV="1">
            <a:off x="2321395" y="2247900"/>
            <a:ext cx="12700" cy="255270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FAF366-5E27-E54A-9008-8CCAC94ED348}"/>
                  </a:ext>
                </a:extLst>
              </p:cNvPr>
              <p:cNvSpPr txBox="1"/>
              <p:nvPr/>
            </p:nvSpPr>
            <p:spPr>
              <a:xfrm>
                <a:off x="2362200" y="1540103"/>
                <a:ext cx="401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FAF366-5E27-E54A-9008-8CCAC94ED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540103"/>
                <a:ext cx="4016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09BC0F-B1D9-8D4B-9C71-7D598FA1F41A}"/>
                  </a:ext>
                </a:extLst>
              </p:cNvPr>
              <p:cNvSpPr txBox="1"/>
              <p:nvPr/>
            </p:nvSpPr>
            <p:spPr>
              <a:xfrm>
                <a:off x="5907551" y="1312038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09BC0F-B1D9-8D4B-9C71-7D598FA1F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51" y="1312038"/>
                <a:ext cx="763351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87683FC3-91A5-2745-9572-10E25E189E71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10800000" flipV="1">
            <a:off x="838200" y="3524250"/>
            <a:ext cx="12700" cy="1276350"/>
          </a:xfrm>
          <a:prstGeom prst="curvedConnector3">
            <a:avLst>
              <a:gd name="adj1" fmla="val 1800000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3F977A1-BD38-A74B-B6B9-F47EF4937C24}"/>
              </a:ext>
            </a:extLst>
          </p:cNvPr>
          <p:cNvGrpSpPr/>
          <p:nvPr/>
        </p:nvGrpSpPr>
        <p:grpSpPr>
          <a:xfrm>
            <a:off x="3953172" y="2017363"/>
            <a:ext cx="4874231" cy="3621437"/>
            <a:chOff x="3953172" y="2017363"/>
            <a:chExt cx="4874231" cy="3621437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946C74B7-CE97-B04C-9AED-710C640B0C6B}"/>
                </a:ext>
              </a:extLst>
            </p:cNvPr>
            <p:cNvSpPr/>
            <p:nvPr/>
          </p:nvSpPr>
          <p:spPr>
            <a:xfrm>
              <a:off x="5701469" y="506072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EE787F5-7D5E-FF4A-9FB9-A818CD585D3D}"/>
                </a:ext>
              </a:extLst>
            </p:cNvPr>
            <p:cNvSpPr/>
            <p:nvPr/>
          </p:nvSpPr>
          <p:spPr>
            <a:xfrm>
              <a:off x="6605558" y="426117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A86FE832-8534-2D46-A6EB-D6BB588205E6}"/>
                </a:ext>
              </a:extLst>
            </p:cNvPr>
            <p:cNvSpPr/>
            <p:nvPr/>
          </p:nvSpPr>
          <p:spPr>
            <a:xfrm>
              <a:off x="4826728" y="426117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92D3ECF-D5BA-1048-93EC-AD1FAB771CA1}"/>
                </a:ext>
              </a:extLst>
            </p:cNvPr>
            <p:cNvSpPr/>
            <p:nvPr/>
          </p:nvSpPr>
          <p:spPr>
            <a:xfrm>
              <a:off x="7509964" y="3540615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4BA43C7-C08A-1743-80D1-836AB074EC0E}"/>
                </a:ext>
              </a:extLst>
            </p:cNvPr>
            <p:cNvSpPr/>
            <p:nvPr/>
          </p:nvSpPr>
          <p:spPr>
            <a:xfrm>
              <a:off x="6553200" y="2743200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C12EE89-DA57-B04D-8F0D-9C7AFDF3DC50}"/>
                </a:ext>
              </a:extLst>
            </p:cNvPr>
            <p:cNvSpPr/>
            <p:nvPr/>
          </p:nvSpPr>
          <p:spPr>
            <a:xfrm>
              <a:off x="5701469" y="3519609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69D7A3E-F11C-6340-A2A7-C6D3AA1B8452}"/>
                </a:ext>
              </a:extLst>
            </p:cNvPr>
            <p:cNvSpPr/>
            <p:nvPr/>
          </p:nvSpPr>
          <p:spPr>
            <a:xfrm>
              <a:off x="3953172" y="3519609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B33D6D3-659F-BB4A-9841-182B4CDC3E88}"/>
                </a:ext>
              </a:extLst>
            </p:cNvPr>
            <p:cNvSpPr/>
            <p:nvPr/>
          </p:nvSpPr>
          <p:spPr>
            <a:xfrm>
              <a:off x="4826340" y="2734918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0F85CDD2-F577-2346-98CB-714E782A843B}"/>
                </a:ext>
              </a:extLst>
            </p:cNvPr>
            <p:cNvSpPr/>
            <p:nvPr/>
          </p:nvSpPr>
          <p:spPr>
            <a:xfrm>
              <a:off x="5630487" y="2017363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F299F1B-3803-F942-8584-7D9ACE7243E1}"/>
                </a:ext>
              </a:extLst>
            </p:cNvPr>
            <p:cNvGrpSpPr/>
            <p:nvPr/>
          </p:nvGrpSpPr>
          <p:grpSpPr>
            <a:xfrm>
              <a:off x="5872812" y="2098205"/>
              <a:ext cx="904089" cy="416395"/>
              <a:chOff x="5872812" y="2098205"/>
              <a:chExt cx="904089" cy="416395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24FBEE3-802E-7E4B-8643-B3430AA85E3A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0D06B5A-8842-594D-B08F-95B514BA0B5D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386B5EE-70A4-224F-9F2D-C117ECC0F0CD}"/>
                </a:ext>
              </a:extLst>
            </p:cNvPr>
            <p:cNvGrpSpPr/>
            <p:nvPr/>
          </p:nvGrpSpPr>
          <p:grpSpPr>
            <a:xfrm>
              <a:off x="6776901" y="2841155"/>
              <a:ext cx="904089" cy="416395"/>
              <a:chOff x="5872812" y="2098205"/>
              <a:chExt cx="904089" cy="416395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428884D-5A94-BB4F-8A54-FC22D4EF298F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033091E-547F-2E48-8A78-2BE5489B3580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19CB0D5-F6DA-AA43-972C-24DA6932B683}"/>
                </a:ext>
              </a:extLst>
            </p:cNvPr>
            <p:cNvGrpSpPr/>
            <p:nvPr/>
          </p:nvGrpSpPr>
          <p:grpSpPr>
            <a:xfrm>
              <a:off x="7680990" y="3600451"/>
              <a:ext cx="904089" cy="416395"/>
              <a:chOff x="5872812" y="2098205"/>
              <a:chExt cx="904089" cy="416395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3F97CFE-4A53-FB44-8AEC-7C4BC7DB1413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50631E0-5C9C-2B49-BE68-52B7DF86F7DA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7145FEB-89A7-BD4A-B300-B098171F3270}"/>
                </a:ext>
              </a:extLst>
            </p:cNvPr>
            <p:cNvGrpSpPr/>
            <p:nvPr/>
          </p:nvGrpSpPr>
          <p:grpSpPr>
            <a:xfrm>
              <a:off x="5039705" y="2839767"/>
              <a:ext cx="904089" cy="416395"/>
              <a:chOff x="5872812" y="2098205"/>
              <a:chExt cx="904089" cy="416395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4D5D7DE-56C0-8A45-8D2D-474B94B416C0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95E05072-4E5D-7C45-AD54-1109ECE18479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FAF64B3-695C-7A42-B4FA-038918074A77}"/>
                </a:ext>
              </a:extLst>
            </p:cNvPr>
            <p:cNvGrpSpPr/>
            <p:nvPr/>
          </p:nvGrpSpPr>
          <p:grpSpPr>
            <a:xfrm>
              <a:off x="5943794" y="3582717"/>
              <a:ext cx="904089" cy="416395"/>
              <a:chOff x="5872812" y="2098205"/>
              <a:chExt cx="904089" cy="416395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B77701B-8A3E-D141-B96B-31A638E9B712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E79FF62B-E6A8-1647-A74A-8E277A6AF720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BDEC9D0D-7D84-CD4B-91DC-CAC5098C67CB}"/>
                </a:ext>
              </a:extLst>
            </p:cNvPr>
            <p:cNvGrpSpPr/>
            <p:nvPr/>
          </p:nvGrpSpPr>
          <p:grpSpPr>
            <a:xfrm>
              <a:off x="6847883" y="4342013"/>
              <a:ext cx="904089" cy="416395"/>
              <a:chOff x="5872812" y="2098205"/>
              <a:chExt cx="904089" cy="416395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159F1D5-2CA1-E84E-B370-C81D336149E8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F2A5DF8-BFDA-C743-B689-50F2880145D6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BBCF827-4A01-0645-B05F-745B72116AC0}"/>
                </a:ext>
              </a:extLst>
            </p:cNvPr>
            <p:cNvGrpSpPr/>
            <p:nvPr/>
          </p:nvGrpSpPr>
          <p:grpSpPr>
            <a:xfrm>
              <a:off x="4158325" y="3600451"/>
              <a:ext cx="904089" cy="416395"/>
              <a:chOff x="5872812" y="2098205"/>
              <a:chExt cx="904089" cy="416395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DB0A3672-80EC-424D-BB50-BCAA0D2DF060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5C34B32-45D5-DC4D-98A8-FF0766A50568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99F32F0-98CB-4C45-8F01-EFED09A0A880}"/>
                </a:ext>
              </a:extLst>
            </p:cNvPr>
            <p:cNvGrpSpPr/>
            <p:nvPr/>
          </p:nvGrpSpPr>
          <p:grpSpPr>
            <a:xfrm>
              <a:off x="5062414" y="4343401"/>
              <a:ext cx="904089" cy="416395"/>
              <a:chOff x="5872812" y="2098205"/>
              <a:chExt cx="904089" cy="416395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F065132-AA26-D944-ABB3-6E2B7BDB5FAE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78616E7-96B5-4641-A74C-F264C84AD0A9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AA014C9-BCA8-FF43-8E18-06ED80A5C2C2}"/>
                </a:ext>
              </a:extLst>
            </p:cNvPr>
            <p:cNvGrpSpPr/>
            <p:nvPr/>
          </p:nvGrpSpPr>
          <p:grpSpPr>
            <a:xfrm>
              <a:off x="5966503" y="5102697"/>
              <a:ext cx="904089" cy="416395"/>
              <a:chOff x="5872812" y="2098205"/>
              <a:chExt cx="904089" cy="416395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4D18599F-0965-EF4C-A648-16FA25CE14ED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751D75C-AB98-B541-BF0E-8010E002202B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58E1FE2-6F9D-834E-A8E9-D0AA48906D49}"/>
              </a:ext>
            </a:extLst>
          </p:cNvPr>
          <p:cNvGrpSpPr/>
          <p:nvPr/>
        </p:nvGrpSpPr>
        <p:grpSpPr>
          <a:xfrm>
            <a:off x="4146106" y="2510783"/>
            <a:ext cx="1677315" cy="1586904"/>
            <a:chOff x="4146106" y="2510783"/>
            <a:chExt cx="1677315" cy="1586904"/>
          </a:xfrm>
        </p:grpSpPr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19497821-ABF7-B144-A17D-FC5A315C3CE0}"/>
                </a:ext>
              </a:extLst>
            </p:cNvPr>
            <p:cNvCxnSpPr>
              <a:cxnSpLocks/>
              <a:stCxn id="111" idx="3"/>
              <a:endCxn id="112" idx="0"/>
            </p:cNvCxnSpPr>
            <p:nvPr/>
          </p:nvCxnSpPr>
          <p:spPr>
            <a:xfrm flipH="1">
              <a:off x="5485060" y="2510783"/>
              <a:ext cx="338361" cy="22413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924433D-D052-654F-92B0-B76960A3F0EE}"/>
                </a:ext>
              </a:extLst>
            </p:cNvPr>
            <p:cNvCxnSpPr>
              <a:cxnSpLocks/>
              <a:stCxn id="112" idx="3"/>
              <a:endCxn id="113" idx="0"/>
            </p:cNvCxnSpPr>
            <p:nvPr/>
          </p:nvCxnSpPr>
          <p:spPr>
            <a:xfrm flipH="1">
              <a:off x="4611892" y="3228338"/>
              <a:ext cx="407382" cy="291271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urved Connector 126">
              <a:extLst>
                <a:ext uri="{FF2B5EF4-FFF2-40B4-BE49-F238E27FC236}">
                  <a16:creationId xmlns:a16="http://schemas.microsoft.com/office/drawing/2014/main" id="{32CBD5C9-7004-F34A-B942-B89A5AAD9BD6}"/>
                </a:ext>
              </a:extLst>
            </p:cNvPr>
            <p:cNvCxnSpPr>
              <a:cxnSpLocks/>
              <a:stCxn id="113" idx="4"/>
              <a:endCxn id="113" idx="3"/>
            </p:cNvCxnSpPr>
            <p:nvPr/>
          </p:nvCxnSpPr>
          <p:spPr>
            <a:xfrm rot="5400000" flipH="1">
              <a:off x="4336670" y="3822465"/>
              <a:ext cx="84658" cy="465786"/>
            </a:xfrm>
            <a:prstGeom prst="curvedConnector3">
              <a:avLst>
                <a:gd name="adj1" fmla="val -270028"/>
              </a:avLst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C9D96E8-7891-A040-BA09-BF020D31660A}"/>
              </a:ext>
            </a:extLst>
          </p:cNvPr>
          <p:cNvGrpSpPr/>
          <p:nvPr/>
        </p:nvGrpSpPr>
        <p:grpSpPr>
          <a:xfrm>
            <a:off x="6754992" y="2306402"/>
            <a:ext cx="1879477" cy="1318871"/>
            <a:chOff x="6754992" y="2306402"/>
            <a:chExt cx="1879477" cy="1318871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1831F486-527F-7645-892E-AF0F2476CC0E}"/>
                </a:ext>
              </a:extLst>
            </p:cNvPr>
            <p:cNvCxnSpPr>
              <a:cxnSpLocks/>
              <a:stCxn id="111" idx="5"/>
              <a:endCxn id="115" idx="0"/>
            </p:cNvCxnSpPr>
            <p:nvPr/>
          </p:nvCxnSpPr>
          <p:spPr>
            <a:xfrm>
              <a:off x="6754992" y="2510783"/>
              <a:ext cx="456928" cy="2324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BE21D930-7CB7-B246-99E9-B6C706ECE29B}"/>
                </a:ext>
              </a:extLst>
            </p:cNvPr>
            <p:cNvCxnSpPr>
              <a:cxnSpLocks/>
              <a:stCxn id="78" idx="5"/>
              <a:endCxn id="116" idx="0"/>
            </p:cNvCxnSpPr>
            <p:nvPr/>
          </p:nvCxnSpPr>
          <p:spPr>
            <a:xfrm>
              <a:off x="7620010" y="3196570"/>
              <a:ext cx="548674" cy="3440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urved Connector 135">
              <a:extLst>
                <a:ext uri="{FF2B5EF4-FFF2-40B4-BE49-F238E27FC236}">
                  <a16:creationId xmlns:a16="http://schemas.microsoft.com/office/drawing/2014/main" id="{2B2F5371-D555-5741-8FCE-28649A9F94AA}"/>
                </a:ext>
              </a:extLst>
            </p:cNvPr>
            <p:cNvCxnSpPr>
              <a:cxnSpLocks/>
              <a:stCxn id="111" idx="6"/>
              <a:endCxn id="116" idx="7"/>
            </p:cNvCxnSpPr>
            <p:nvPr/>
          </p:nvCxnSpPr>
          <p:spPr>
            <a:xfrm>
              <a:off x="6947926" y="2306402"/>
              <a:ext cx="1686543" cy="1318871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C6C2E99-64E1-9E42-A878-12C8378E5E7C}"/>
              </a:ext>
            </a:extLst>
          </p:cNvPr>
          <p:cNvGrpSpPr/>
          <p:nvPr/>
        </p:nvGrpSpPr>
        <p:grpSpPr>
          <a:xfrm>
            <a:off x="5950845" y="3156608"/>
            <a:ext cx="1779218" cy="1189222"/>
            <a:chOff x="5950845" y="3156608"/>
            <a:chExt cx="1779218" cy="1189222"/>
          </a:xfrm>
        </p:grpSpPr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3F24C971-826D-5A4F-915F-4F3791F7AA05}"/>
                </a:ext>
              </a:extLst>
            </p:cNvPr>
            <p:cNvCxnSpPr>
              <a:cxnSpLocks/>
              <a:stCxn id="112" idx="5"/>
              <a:endCxn id="114" idx="0"/>
            </p:cNvCxnSpPr>
            <p:nvPr/>
          </p:nvCxnSpPr>
          <p:spPr>
            <a:xfrm>
              <a:off x="5950845" y="3228338"/>
              <a:ext cx="409344" cy="2912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772DFCCA-EFC7-E248-A1AB-033C5E042223}"/>
                </a:ext>
              </a:extLst>
            </p:cNvPr>
            <p:cNvCxnSpPr>
              <a:cxnSpLocks/>
              <a:stCxn id="114" idx="5"/>
              <a:endCxn id="118" idx="0"/>
            </p:cNvCxnSpPr>
            <p:nvPr/>
          </p:nvCxnSpPr>
          <p:spPr>
            <a:xfrm>
              <a:off x="6825974" y="4013029"/>
              <a:ext cx="438304" cy="2481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urved Connector 151">
              <a:extLst>
                <a:ext uri="{FF2B5EF4-FFF2-40B4-BE49-F238E27FC236}">
                  <a16:creationId xmlns:a16="http://schemas.microsoft.com/office/drawing/2014/main" id="{D42531DB-5980-7146-83C3-4468F708493C}"/>
                </a:ext>
              </a:extLst>
            </p:cNvPr>
            <p:cNvCxnSpPr>
              <a:cxnSpLocks/>
              <a:endCxn id="118" idx="7"/>
            </p:cNvCxnSpPr>
            <p:nvPr/>
          </p:nvCxnSpPr>
          <p:spPr>
            <a:xfrm>
              <a:off x="6022884" y="3156608"/>
              <a:ext cx="1707179" cy="1189222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F85894A-BBED-F445-9E9B-042D3D3B4A53}"/>
              </a:ext>
            </a:extLst>
          </p:cNvPr>
          <p:cNvGrpSpPr/>
          <p:nvPr/>
        </p:nvGrpSpPr>
        <p:grpSpPr>
          <a:xfrm>
            <a:off x="5077677" y="3808648"/>
            <a:ext cx="1584718" cy="1294049"/>
            <a:chOff x="5985721" y="3021678"/>
            <a:chExt cx="1584718" cy="1294049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93291F48-B1F3-5349-9C78-DB1077446AC2}"/>
                </a:ext>
              </a:extLst>
            </p:cNvPr>
            <p:cNvCxnSpPr>
              <a:cxnSpLocks/>
              <a:stCxn id="113" idx="5"/>
              <a:endCxn id="117" idx="0"/>
            </p:cNvCxnSpPr>
            <p:nvPr/>
          </p:nvCxnSpPr>
          <p:spPr>
            <a:xfrm>
              <a:off x="5985721" y="3226059"/>
              <a:ext cx="407771" cy="2481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1C9C393-64AB-0846-810D-C831985B74E9}"/>
                </a:ext>
              </a:extLst>
            </p:cNvPr>
            <p:cNvCxnSpPr>
              <a:cxnSpLocks/>
              <a:stCxn id="117" idx="5"/>
              <a:endCxn id="119" idx="0"/>
            </p:cNvCxnSpPr>
            <p:nvPr/>
          </p:nvCxnSpPr>
          <p:spPr>
            <a:xfrm>
              <a:off x="6859277" y="3967622"/>
              <a:ext cx="408956" cy="3061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urved Connector 162">
              <a:extLst>
                <a:ext uri="{FF2B5EF4-FFF2-40B4-BE49-F238E27FC236}">
                  <a16:creationId xmlns:a16="http://schemas.microsoft.com/office/drawing/2014/main" id="{8F1EB7E1-BDE8-A848-8B5E-395C3EBB82CE}"/>
                </a:ext>
              </a:extLst>
            </p:cNvPr>
            <p:cNvCxnSpPr>
              <a:cxnSpLocks/>
              <a:stCxn id="113" idx="6"/>
              <a:endCxn id="110" idx="0"/>
            </p:cNvCxnSpPr>
            <p:nvPr/>
          </p:nvCxnSpPr>
          <p:spPr>
            <a:xfrm>
              <a:off x="6178655" y="3021678"/>
              <a:ext cx="1391784" cy="1294049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186F090-A42C-314F-A57F-1FF2BB971108}"/>
              </a:ext>
            </a:extLst>
          </p:cNvPr>
          <p:cNvGrpSpPr/>
          <p:nvPr/>
        </p:nvGrpSpPr>
        <p:grpSpPr>
          <a:xfrm>
            <a:off x="5019662" y="3236620"/>
            <a:ext cx="1726472" cy="1602630"/>
            <a:chOff x="4140527" y="2527509"/>
            <a:chExt cx="1726472" cy="1602630"/>
          </a:xfrm>
        </p:grpSpPr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02805154-87DA-3A44-BE1E-66D62CDC6B36}"/>
                </a:ext>
              </a:extLst>
            </p:cNvPr>
            <p:cNvCxnSpPr>
              <a:cxnSpLocks/>
              <a:stCxn id="115" idx="3"/>
              <a:endCxn id="114" idx="0"/>
            </p:cNvCxnSpPr>
            <p:nvPr/>
          </p:nvCxnSpPr>
          <p:spPr>
            <a:xfrm flipH="1">
              <a:off x="5481054" y="2527509"/>
              <a:ext cx="385945" cy="282989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4C58B79-C6D2-244B-878C-C49334E83572}"/>
                </a:ext>
              </a:extLst>
            </p:cNvPr>
            <p:cNvCxnSpPr>
              <a:cxnSpLocks/>
              <a:stCxn id="114" idx="3"/>
              <a:endCxn id="117" idx="0"/>
            </p:cNvCxnSpPr>
            <p:nvPr/>
          </p:nvCxnSpPr>
          <p:spPr>
            <a:xfrm flipH="1">
              <a:off x="4606313" y="3303918"/>
              <a:ext cx="408955" cy="24814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urved Connector 172">
              <a:extLst>
                <a:ext uri="{FF2B5EF4-FFF2-40B4-BE49-F238E27FC236}">
                  <a16:creationId xmlns:a16="http://schemas.microsoft.com/office/drawing/2014/main" id="{EB9FF6C0-63FD-504E-8760-74C111BF2C77}"/>
                </a:ext>
              </a:extLst>
            </p:cNvPr>
            <p:cNvCxnSpPr>
              <a:cxnSpLocks/>
              <a:stCxn id="117" idx="4"/>
              <a:endCxn id="117" idx="3"/>
            </p:cNvCxnSpPr>
            <p:nvPr/>
          </p:nvCxnSpPr>
          <p:spPr>
            <a:xfrm rot="5400000" flipH="1">
              <a:off x="4331091" y="3854917"/>
              <a:ext cx="84658" cy="465786"/>
            </a:xfrm>
            <a:prstGeom prst="curvedConnector3">
              <a:avLst>
                <a:gd name="adj1" fmla="val -270028"/>
              </a:avLst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DFFED34-603B-D44D-BDF5-31C8E761E7B1}"/>
              </a:ext>
            </a:extLst>
          </p:cNvPr>
          <p:cNvGrpSpPr/>
          <p:nvPr/>
        </p:nvGrpSpPr>
        <p:grpSpPr>
          <a:xfrm>
            <a:off x="5894403" y="4034035"/>
            <a:ext cx="1808495" cy="1604765"/>
            <a:chOff x="4080412" y="2579886"/>
            <a:chExt cx="1808495" cy="1604765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242A3BD2-9019-034D-976F-CDD1AEF8A7BC}"/>
                </a:ext>
              </a:extLst>
            </p:cNvPr>
            <p:cNvCxnSpPr>
              <a:cxnSpLocks/>
              <a:stCxn id="116" idx="3"/>
              <a:endCxn id="118" idx="0"/>
            </p:cNvCxnSpPr>
            <p:nvPr/>
          </p:nvCxnSpPr>
          <p:spPr>
            <a:xfrm flipH="1">
              <a:off x="5450287" y="2579886"/>
              <a:ext cx="438620" cy="2271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FB52FCBA-1048-C146-BA21-AD3F2426AFC2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4546198" y="3303918"/>
              <a:ext cx="469072" cy="30265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urved Connector 182">
              <a:extLst>
                <a:ext uri="{FF2B5EF4-FFF2-40B4-BE49-F238E27FC236}">
                  <a16:creationId xmlns:a16="http://schemas.microsoft.com/office/drawing/2014/main" id="{97A3C428-23C0-0443-890F-DD2B065BEE17}"/>
                </a:ext>
              </a:extLst>
            </p:cNvPr>
            <p:cNvCxnSpPr>
              <a:cxnSpLocks/>
              <a:stCxn id="119" idx="4"/>
              <a:endCxn id="119" idx="3"/>
            </p:cNvCxnSpPr>
            <p:nvPr/>
          </p:nvCxnSpPr>
          <p:spPr>
            <a:xfrm rot="5400000" flipH="1">
              <a:off x="4270976" y="3909429"/>
              <a:ext cx="84658" cy="465786"/>
            </a:xfrm>
            <a:prstGeom prst="curvedConnector3">
              <a:avLst>
                <a:gd name="adj1" fmla="val -270028"/>
              </a:avLst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8" name="Curved Connector 197">
            <a:extLst>
              <a:ext uri="{FF2B5EF4-FFF2-40B4-BE49-F238E27FC236}">
                <a16:creationId xmlns:a16="http://schemas.microsoft.com/office/drawing/2014/main" id="{C939784A-CB02-2842-968B-159BBFEAE90F}"/>
              </a:ext>
            </a:extLst>
          </p:cNvPr>
          <p:cNvCxnSpPr>
            <a:cxnSpLocks/>
            <a:stCxn id="112" idx="2"/>
            <a:endCxn id="113" idx="1"/>
          </p:cNvCxnSpPr>
          <p:nvPr/>
        </p:nvCxnSpPr>
        <p:spPr>
          <a:xfrm rot="10800000" flipV="1">
            <a:off x="4146106" y="3023957"/>
            <a:ext cx="680234" cy="580310"/>
          </a:xfrm>
          <a:prstGeom prst="curvedConnector2">
            <a:avLst/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urved Connector 200">
            <a:extLst>
              <a:ext uri="{FF2B5EF4-FFF2-40B4-BE49-F238E27FC236}">
                <a16:creationId xmlns:a16="http://schemas.microsoft.com/office/drawing/2014/main" id="{8F1B533C-EF5B-7D45-9594-E3CA6FCF2932}"/>
              </a:ext>
            </a:extLst>
          </p:cNvPr>
          <p:cNvCxnSpPr>
            <a:cxnSpLocks/>
            <a:stCxn id="114" idx="2"/>
            <a:endCxn id="117" idx="1"/>
          </p:cNvCxnSpPr>
          <p:nvPr/>
        </p:nvCxnSpPr>
        <p:spPr>
          <a:xfrm rot="10800000" flipV="1">
            <a:off x="5019663" y="3808648"/>
            <a:ext cx="681807" cy="537182"/>
          </a:xfrm>
          <a:prstGeom prst="curvedConnector2">
            <a:avLst/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urved Connector 203">
            <a:extLst>
              <a:ext uri="{FF2B5EF4-FFF2-40B4-BE49-F238E27FC236}">
                <a16:creationId xmlns:a16="http://schemas.microsoft.com/office/drawing/2014/main" id="{F556DCE7-F2C4-F34E-B13C-18A61AD04510}"/>
              </a:ext>
            </a:extLst>
          </p:cNvPr>
          <p:cNvCxnSpPr>
            <a:cxnSpLocks/>
            <a:stCxn id="118" idx="2"/>
            <a:endCxn id="119" idx="1"/>
          </p:cNvCxnSpPr>
          <p:nvPr/>
        </p:nvCxnSpPr>
        <p:spPr>
          <a:xfrm rot="10800000" flipV="1">
            <a:off x="5894404" y="4550210"/>
            <a:ext cx="711155" cy="595169"/>
          </a:xfrm>
          <a:prstGeom prst="curvedConnector2">
            <a:avLst/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2B5C3F3-3BD0-1345-B16D-BB45E160CCC4}"/>
                  </a:ext>
                </a:extLst>
              </p:cNvPr>
              <p:cNvSpPr txBox="1"/>
              <p:nvPr/>
            </p:nvSpPr>
            <p:spPr>
              <a:xfrm>
                <a:off x="1450883" y="6084255"/>
                <a:ext cx="58006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2B5C3F3-3BD0-1345-B16D-BB45E160C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83" y="6084255"/>
                <a:ext cx="5800693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6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E89B-D59E-BF47-82BD-D67F1DFA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 composition: synchronous transitions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850836-823E-A344-A7EF-29DA663D9A64}"/>
              </a:ext>
            </a:extLst>
          </p:cNvPr>
          <p:cNvGrpSpPr/>
          <p:nvPr/>
        </p:nvGrpSpPr>
        <p:grpSpPr>
          <a:xfrm>
            <a:off x="3953172" y="2013753"/>
            <a:ext cx="4874231" cy="3625047"/>
            <a:chOff x="3953172" y="2013753"/>
            <a:chExt cx="4874231" cy="362504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E7ED3B-1AC1-8C4F-9FA4-8235B70F2743}"/>
                </a:ext>
              </a:extLst>
            </p:cNvPr>
            <p:cNvSpPr/>
            <p:nvPr/>
          </p:nvSpPr>
          <p:spPr>
            <a:xfrm>
              <a:off x="5701469" y="506072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79A59BF-B99E-2048-80CA-7B50545C4C8A}"/>
                </a:ext>
              </a:extLst>
            </p:cNvPr>
            <p:cNvSpPr/>
            <p:nvPr/>
          </p:nvSpPr>
          <p:spPr>
            <a:xfrm>
              <a:off x="6605558" y="426117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014D288-5977-254B-A09A-6E9415EBCD5B}"/>
                </a:ext>
              </a:extLst>
            </p:cNvPr>
            <p:cNvSpPr/>
            <p:nvPr/>
          </p:nvSpPr>
          <p:spPr>
            <a:xfrm>
              <a:off x="4826728" y="4261172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7CB602-6D7D-4347-BA44-B9E147B48EED}"/>
                </a:ext>
              </a:extLst>
            </p:cNvPr>
            <p:cNvSpPr/>
            <p:nvPr/>
          </p:nvSpPr>
          <p:spPr>
            <a:xfrm>
              <a:off x="7509964" y="3540615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04BD83-E56B-1247-B7B3-F303CADA2ADF}"/>
                </a:ext>
              </a:extLst>
            </p:cNvPr>
            <p:cNvSpPr/>
            <p:nvPr/>
          </p:nvSpPr>
          <p:spPr>
            <a:xfrm>
              <a:off x="6553200" y="2743200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B0790C1-C9D3-A340-BC64-A0892FB908BA}"/>
                </a:ext>
              </a:extLst>
            </p:cNvPr>
            <p:cNvSpPr/>
            <p:nvPr/>
          </p:nvSpPr>
          <p:spPr>
            <a:xfrm>
              <a:off x="5701469" y="3519609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206636-F57E-3D46-83B3-AF265E51396C}"/>
                </a:ext>
              </a:extLst>
            </p:cNvPr>
            <p:cNvSpPr/>
            <p:nvPr/>
          </p:nvSpPr>
          <p:spPr>
            <a:xfrm>
              <a:off x="3953172" y="3519609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9EDCBE0-9DF6-4E4B-A344-2DB9A1000EFF}"/>
                </a:ext>
              </a:extLst>
            </p:cNvPr>
            <p:cNvSpPr/>
            <p:nvPr/>
          </p:nvSpPr>
          <p:spPr>
            <a:xfrm>
              <a:off x="4826340" y="2734918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BBCD5C-E679-9C4F-90DC-0ADCB255B5F3}"/>
                </a:ext>
              </a:extLst>
            </p:cNvPr>
            <p:cNvSpPr/>
            <p:nvPr/>
          </p:nvSpPr>
          <p:spPr>
            <a:xfrm>
              <a:off x="5701469" y="2013753"/>
              <a:ext cx="1317439" cy="5780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5893DF-D8E0-A843-81E2-9EFD891C2094}"/>
                </a:ext>
              </a:extLst>
            </p:cNvPr>
            <p:cNvGrpSpPr/>
            <p:nvPr/>
          </p:nvGrpSpPr>
          <p:grpSpPr>
            <a:xfrm>
              <a:off x="5943794" y="2094595"/>
              <a:ext cx="904089" cy="416395"/>
              <a:chOff x="5943794" y="2094595"/>
              <a:chExt cx="904089" cy="416395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141C18-D71D-7546-9488-61E4383BE54D}"/>
                  </a:ext>
                </a:extLst>
              </p:cNvPr>
              <p:cNvSpPr/>
              <p:nvPr/>
            </p:nvSpPr>
            <p:spPr>
              <a:xfrm>
                <a:off x="5943794" y="209459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494D845-3C40-6348-8C90-4979E0647183}"/>
                  </a:ext>
                </a:extLst>
              </p:cNvPr>
              <p:cNvSpPr/>
              <p:nvPr/>
            </p:nvSpPr>
            <p:spPr>
              <a:xfrm>
                <a:off x="6431488" y="209459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B359E4-7A7E-1541-A837-07005072C580}"/>
                </a:ext>
              </a:extLst>
            </p:cNvPr>
            <p:cNvGrpSpPr/>
            <p:nvPr/>
          </p:nvGrpSpPr>
          <p:grpSpPr>
            <a:xfrm>
              <a:off x="6776901" y="2841155"/>
              <a:ext cx="904089" cy="416395"/>
              <a:chOff x="5872812" y="2098205"/>
              <a:chExt cx="904089" cy="41639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9970A3F-0C42-8A41-9857-7D6CD89E5481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19CA647-9C16-D94D-A3B2-47C385EB2F7A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7D19330-5593-9F4A-9889-ABE117A938F6}"/>
                </a:ext>
              </a:extLst>
            </p:cNvPr>
            <p:cNvGrpSpPr/>
            <p:nvPr/>
          </p:nvGrpSpPr>
          <p:grpSpPr>
            <a:xfrm>
              <a:off x="7680990" y="3600451"/>
              <a:ext cx="904089" cy="416395"/>
              <a:chOff x="5872812" y="2098205"/>
              <a:chExt cx="904089" cy="41639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4C827B0-5DC7-4541-AFC8-F585F3F9D548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160BD16-1009-A54B-B250-230C39CD4E86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EE14B2-43B4-8648-956C-C15A4C606DDC}"/>
                </a:ext>
              </a:extLst>
            </p:cNvPr>
            <p:cNvGrpSpPr/>
            <p:nvPr/>
          </p:nvGrpSpPr>
          <p:grpSpPr>
            <a:xfrm>
              <a:off x="5039705" y="2839767"/>
              <a:ext cx="904089" cy="416395"/>
              <a:chOff x="5872812" y="2098205"/>
              <a:chExt cx="904089" cy="416395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0417F9D-D35D-FC46-8B5E-75D38AC76904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53DA799-52AE-1945-A0CB-B3CEEE0A8F9A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5CFFD95-4B10-CA48-BAD7-5833A428805A}"/>
                </a:ext>
              </a:extLst>
            </p:cNvPr>
            <p:cNvGrpSpPr/>
            <p:nvPr/>
          </p:nvGrpSpPr>
          <p:grpSpPr>
            <a:xfrm>
              <a:off x="5943794" y="3582717"/>
              <a:ext cx="904089" cy="416395"/>
              <a:chOff x="5872812" y="2098205"/>
              <a:chExt cx="904089" cy="4163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87D4F72-64DF-5B45-B809-1F8033E3FC8B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EB9A843-7802-FE44-AD8F-C7772A0B8941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B155D-D5D1-274F-B66B-0B164C065132}"/>
                </a:ext>
              </a:extLst>
            </p:cNvPr>
            <p:cNvGrpSpPr/>
            <p:nvPr/>
          </p:nvGrpSpPr>
          <p:grpSpPr>
            <a:xfrm>
              <a:off x="6847883" y="4342013"/>
              <a:ext cx="904089" cy="416395"/>
              <a:chOff x="5872812" y="2098205"/>
              <a:chExt cx="904089" cy="416395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4C06F30-BB70-E243-99F8-E3FB090AC900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40007C2-C138-314A-B58B-7279A0412A86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04820D9-ADCE-174D-82BD-287C941A1355}"/>
                </a:ext>
              </a:extLst>
            </p:cNvPr>
            <p:cNvGrpSpPr/>
            <p:nvPr/>
          </p:nvGrpSpPr>
          <p:grpSpPr>
            <a:xfrm>
              <a:off x="4158325" y="3600451"/>
              <a:ext cx="904089" cy="416395"/>
              <a:chOff x="5872812" y="2098205"/>
              <a:chExt cx="904089" cy="41639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8E1E80-0917-5D47-B46B-7DBDD1E5E657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99F97E4-2391-E646-9B80-D2185463729D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3368DC9-4CE5-CF48-9F97-B9F43F4FA176}"/>
                </a:ext>
              </a:extLst>
            </p:cNvPr>
            <p:cNvGrpSpPr/>
            <p:nvPr/>
          </p:nvGrpSpPr>
          <p:grpSpPr>
            <a:xfrm>
              <a:off x="5062414" y="4343401"/>
              <a:ext cx="904089" cy="416395"/>
              <a:chOff x="5872812" y="2098205"/>
              <a:chExt cx="904089" cy="416395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0ECAEDE-9F2D-7B41-84BA-30976A78E1CB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714DA50-CDB8-6840-A3E6-4772BA92A7C3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6DD977C-4475-914A-BD9D-5C26FF75592D}"/>
                </a:ext>
              </a:extLst>
            </p:cNvPr>
            <p:cNvGrpSpPr/>
            <p:nvPr/>
          </p:nvGrpSpPr>
          <p:grpSpPr>
            <a:xfrm>
              <a:off x="5966503" y="5102697"/>
              <a:ext cx="904089" cy="416395"/>
              <a:chOff x="5872812" y="2098205"/>
              <a:chExt cx="904089" cy="416395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9DE3090-7007-124A-9055-16A992BE5226}"/>
                  </a:ext>
                </a:extLst>
              </p:cNvPr>
              <p:cNvSpPr/>
              <p:nvPr/>
            </p:nvSpPr>
            <p:spPr>
              <a:xfrm>
                <a:off x="5872812" y="2098205"/>
                <a:ext cx="416395" cy="41639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114BA1A-61B3-A245-BCC4-68FBE4609C1B}"/>
                  </a:ext>
                </a:extLst>
              </p:cNvPr>
              <p:cNvSpPr/>
              <p:nvPr/>
            </p:nvSpPr>
            <p:spPr>
              <a:xfrm>
                <a:off x="6360506" y="2098205"/>
                <a:ext cx="416395" cy="41639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E8A89A4-BC6D-4B48-98E9-506818598126}"/>
              </a:ext>
            </a:extLst>
          </p:cNvPr>
          <p:cNvSpPr/>
          <p:nvPr/>
        </p:nvSpPr>
        <p:spPr>
          <a:xfrm>
            <a:off x="825703" y="228655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B48C6A7-E6B5-2740-B408-0BA97F8B9790}"/>
              </a:ext>
            </a:extLst>
          </p:cNvPr>
          <p:cNvSpPr/>
          <p:nvPr/>
        </p:nvSpPr>
        <p:spPr>
          <a:xfrm>
            <a:off x="825703" y="356290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DD9E85-53FA-CC42-9E17-011EB403225E}"/>
              </a:ext>
            </a:extLst>
          </p:cNvPr>
          <p:cNvSpPr/>
          <p:nvPr/>
        </p:nvSpPr>
        <p:spPr>
          <a:xfrm>
            <a:off x="825703" y="4839250"/>
            <a:ext cx="533400" cy="5334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C71D51-2963-B549-B043-D12ED1613944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>
            <a:off x="1092403" y="2819950"/>
            <a:ext cx="0" cy="7429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E89E681-C5F8-F04E-B446-3CCA4ACC146C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>
          <a:xfrm>
            <a:off x="1092403" y="4096300"/>
            <a:ext cx="0" cy="7429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42618ABB-B270-8548-A2A2-899F2CA050AD}"/>
              </a:ext>
            </a:extLst>
          </p:cNvPr>
          <p:cNvCxnSpPr>
            <a:stCxn id="43" idx="5"/>
            <a:endCxn id="43" idx="3"/>
          </p:cNvCxnSpPr>
          <p:nvPr/>
        </p:nvCxnSpPr>
        <p:spPr>
          <a:xfrm rot="5400000">
            <a:off x="1092403" y="5105950"/>
            <a:ext cx="12700" cy="377170"/>
          </a:xfrm>
          <a:prstGeom prst="curvedConnector3">
            <a:avLst>
              <a:gd name="adj1" fmla="val 3732157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29DC517-736D-E747-A3BF-167D4484153C}"/>
                  </a:ext>
                </a:extLst>
              </p:cNvPr>
              <p:cNvSpPr txBox="1"/>
              <p:nvPr/>
            </p:nvSpPr>
            <p:spPr>
              <a:xfrm>
                <a:off x="866508" y="1845453"/>
                <a:ext cx="451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29DC517-736D-E747-A3BF-167D44841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08" y="1845453"/>
                <a:ext cx="45179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28B8E5D0-F42D-4747-AABC-FDC0A94BF19B}"/>
              </a:ext>
            </a:extLst>
          </p:cNvPr>
          <p:cNvSpPr/>
          <p:nvPr/>
        </p:nvSpPr>
        <p:spPr>
          <a:xfrm>
            <a:off x="2308898" y="228655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D1471E-6140-7C4A-86DE-FF21B6E4B902}"/>
              </a:ext>
            </a:extLst>
          </p:cNvPr>
          <p:cNvSpPr/>
          <p:nvPr/>
        </p:nvSpPr>
        <p:spPr>
          <a:xfrm>
            <a:off x="2308898" y="356290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FF297D-E62B-9940-9E91-E7238059B7CF}"/>
              </a:ext>
            </a:extLst>
          </p:cNvPr>
          <p:cNvSpPr/>
          <p:nvPr/>
        </p:nvSpPr>
        <p:spPr>
          <a:xfrm>
            <a:off x="2308898" y="4839250"/>
            <a:ext cx="5334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3FBFCE5-B322-4743-9810-487F769D20A1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>
            <a:off x="2575598" y="2819950"/>
            <a:ext cx="0" cy="742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69644D4-B1A9-D64B-970E-DF1E3846BDF0}"/>
              </a:ext>
            </a:extLst>
          </p:cNvPr>
          <p:cNvCxnSpPr>
            <a:cxnSpLocks/>
            <a:stCxn id="49" idx="4"/>
            <a:endCxn id="50" idx="0"/>
          </p:cNvCxnSpPr>
          <p:nvPr/>
        </p:nvCxnSpPr>
        <p:spPr>
          <a:xfrm>
            <a:off x="2575598" y="4096300"/>
            <a:ext cx="0" cy="742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B80133DA-267A-1E46-BF8D-F6F46172E866}"/>
              </a:ext>
            </a:extLst>
          </p:cNvPr>
          <p:cNvCxnSpPr>
            <a:cxnSpLocks/>
            <a:stCxn id="48" idx="2"/>
            <a:endCxn id="50" idx="2"/>
          </p:cNvCxnSpPr>
          <p:nvPr/>
        </p:nvCxnSpPr>
        <p:spPr>
          <a:xfrm rot="10800000" flipV="1">
            <a:off x="2308898" y="2553250"/>
            <a:ext cx="12700" cy="255270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5FE706-382C-6D47-8908-DC93B6718BFD}"/>
                  </a:ext>
                </a:extLst>
              </p:cNvPr>
              <p:cNvSpPr txBox="1"/>
              <p:nvPr/>
            </p:nvSpPr>
            <p:spPr>
              <a:xfrm>
                <a:off x="2349703" y="1845453"/>
                <a:ext cx="401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5FE706-382C-6D47-8908-DC93B6718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703" y="1845453"/>
                <a:ext cx="4016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AE272352-F1CB-E34F-B778-935C85557FAD}"/>
              </a:ext>
            </a:extLst>
          </p:cNvPr>
          <p:cNvCxnSpPr>
            <a:cxnSpLocks/>
            <a:stCxn id="42" idx="2"/>
            <a:endCxn id="43" idx="2"/>
          </p:cNvCxnSpPr>
          <p:nvPr/>
        </p:nvCxnSpPr>
        <p:spPr>
          <a:xfrm rot="10800000" flipV="1">
            <a:off x="825703" y="3829600"/>
            <a:ext cx="12700" cy="1276350"/>
          </a:xfrm>
          <a:prstGeom prst="curvedConnector3">
            <a:avLst>
              <a:gd name="adj1" fmla="val 1800000"/>
            </a:avLst>
          </a:prstGeom>
          <a:ln w="28575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B92D86-1588-C446-9A92-A97824FE465F}"/>
              </a:ext>
            </a:extLst>
          </p:cNvPr>
          <p:cNvCxnSpPr>
            <a:cxnSpLocks/>
            <a:stCxn id="13" idx="4"/>
            <a:endCxn id="10" idx="0"/>
          </p:cNvCxnSpPr>
          <p:nvPr/>
        </p:nvCxnSpPr>
        <p:spPr>
          <a:xfrm>
            <a:off x="6360189" y="2591831"/>
            <a:ext cx="0" cy="92777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060835-B37F-6D47-A3CB-1031C4B6E69D}"/>
              </a:ext>
            </a:extLst>
          </p:cNvPr>
          <p:cNvCxnSpPr>
            <a:cxnSpLocks/>
            <a:stCxn id="10" idx="4"/>
            <a:endCxn id="5" idx="0"/>
          </p:cNvCxnSpPr>
          <p:nvPr/>
        </p:nvCxnSpPr>
        <p:spPr>
          <a:xfrm>
            <a:off x="6360189" y="4097687"/>
            <a:ext cx="0" cy="96303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FBA496C9-4F9B-6141-B26F-3414AB3D7A73}"/>
              </a:ext>
            </a:extLst>
          </p:cNvPr>
          <p:cNvCxnSpPr>
            <a:stCxn id="5" idx="2"/>
            <a:endCxn id="11" idx="3"/>
          </p:cNvCxnSpPr>
          <p:nvPr/>
        </p:nvCxnSpPr>
        <p:spPr>
          <a:xfrm rot="10800000">
            <a:off x="4146107" y="4013029"/>
            <a:ext cx="1555363" cy="1336732"/>
          </a:xfrm>
          <a:prstGeom prst="curvedConnector2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C36967-53F6-E04C-AC4C-9358B92192B8}"/>
              </a:ext>
            </a:extLst>
          </p:cNvPr>
          <p:cNvCxnSpPr>
            <a:cxnSpLocks/>
            <a:stCxn id="11" idx="5"/>
            <a:endCxn id="7" idx="0"/>
          </p:cNvCxnSpPr>
          <p:nvPr/>
        </p:nvCxnSpPr>
        <p:spPr>
          <a:xfrm>
            <a:off x="5077677" y="4013029"/>
            <a:ext cx="407771" cy="2481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A17CD65-74DA-584E-AD90-4EB195A952C0}"/>
              </a:ext>
            </a:extLst>
          </p:cNvPr>
          <p:cNvCxnSpPr>
            <a:cxnSpLocks/>
            <a:stCxn id="7" idx="5"/>
            <a:endCxn id="5" idx="0"/>
          </p:cNvCxnSpPr>
          <p:nvPr/>
        </p:nvCxnSpPr>
        <p:spPr>
          <a:xfrm>
            <a:off x="5951233" y="4754592"/>
            <a:ext cx="408956" cy="30613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7A9A8600-F7A3-9841-85F2-A0FC2BB531FD}"/>
              </a:ext>
            </a:extLst>
          </p:cNvPr>
          <p:cNvCxnSpPr>
            <a:cxnSpLocks/>
            <a:stCxn id="5" idx="2"/>
            <a:endCxn id="12" idx="2"/>
          </p:cNvCxnSpPr>
          <p:nvPr/>
        </p:nvCxnSpPr>
        <p:spPr>
          <a:xfrm rot="10800000">
            <a:off x="4826341" y="3023957"/>
            <a:ext cx="875129" cy="2325804"/>
          </a:xfrm>
          <a:prstGeom prst="curvedConnector3">
            <a:avLst>
              <a:gd name="adj1" fmla="val 263924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83AA6794-1981-2246-A435-68A077757451}"/>
              </a:ext>
            </a:extLst>
          </p:cNvPr>
          <p:cNvCxnSpPr>
            <a:cxnSpLocks/>
            <a:stCxn id="7" idx="2"/>
            <a:endCxn id="12" idx="2"/>
          </p:cNvCxnSpPr>
          <p:nvPr/>
        </p:nvCxnSpPr>
        <p:spPr>
          <a:xfrm rot="10800000">
            <a:off x="4826340" y="3023957"/>
            <a:ext cx="388" cy="1526254"/>
          </a:xfrm>
          <a:prstGeom prst="curvedConnector3">
            <a:avLst>
              <a:gd name="adj1" fmla="val 253701546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1EDC33A-4F91-2041-BB62-F887B610E443}"/>
              </a:ext>
            </a:extLst>
          </p:cNvPr>
          <p:cNvCxnSpPr>
            <a:cxnSpLocks/>
            <a:stCxn id="12" idx="4"/>
            <a:endCxn id="7" idx="0"/>
          </p:cNvCxnSpPr>
          <p:nvPr/>
        </p:nvCxnSpPr>
        <p:spPr>
          <a:xfrm>
            <a:off x="5485060" y="3312996"/>
            <a:ext cx="388" cy="94817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778405A-BA91-9946-8785-B51A7DF794B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6144167" y="4550211"/>
            <a:ext cx="46139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91">
            <a:extLst>
              <a:ext uri="{FF2B5EF4-FFF2-40B4-BE49-F238E27FC236}">
                <a16:creationId xmlns:a16="http://schemas.microsoft.com/office/drawing/2014/main" id="{56B69B72-3279-0742-B1AD-0A2A708EF15E}"/>
              </a:ext>
            </a:extLst>
          </p:cNvPr>
          <p:cNvCxnSpPr>
            <a:cxnSpLocks/>
            <a:stCxn id="6" idx="4"/>
            <a:endCxn id="11" idx="3"/>
          </p:cNvCxnSpPr>
          <p:nvPr/>
        </p:nvCxnSpPr>
        <p:spPr>
          <a:xfrm rot="5400000" flipH="1">
            <a:off x="5292081" y="2867054"/>
            <a:ext cx="826221" cy="3118172"/>
          </a:xfrm>
          <a:prstGeom prst="curvedConnector3">
            <a:avLst>
              <a:gd name="adj1" fmla="val -27668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0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98F7-FB78-834C-ADC3-7E2A7D68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Composition of (discrete)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FA11E-25B5-EA44-B622-77059A42E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ea typeface="Cambria Math" panose="02040503050406030204" pitchFamily="18" charset="0"/>
                  </a:rPr>
                  <a:t>More generally, some transitions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dirty="0"/>
                  <a:t> may synchronize, while others may not synchronize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Further, some transitions may be </a:t>
                </a:r>
                <a:r>
                  <a:rPr lang="en-US" b="1" dirty="0"/>
                  <a:t>controlled</a:t>
                </a:r>
                <a:r>
                  <a:rPr lang="en-US" dirty="0"/>
                  <a:t> by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which when occurs </a:t>
                </a:r>
                <a:r>
                  <a:rPr lang="en-US" b="1" dirty="0"/>
                  <a:t>forces</a:t>
                </a:r>
                <a:r>
                  <a:rPr lang="en-US" dirty="0"/>
                  <a:t> the corresponding transition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Thus, we will partition the set of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into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>
                    <a:solidFill>
                      <a:srgbClr val="00B0F0"/>
                    </a:solidFill>
                  </a:rPr>
                  <a:t>internal</a:t>
                </a:r>
                <a:r>
                  <a:rPr lang="en-US" dirty="0"/>
                  <a:t> (do not synchronize)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>
                    <a:solidFill>
                      <a:srgbClr val="00B0F0"/>
                    </a:solidFill>
                  </a:rPr>
                  <a:t>output</a:t>
                </a:r>
                <a:r>
                  <a:rPr lang="en-US" dirty="0"/>
                  <a:t> (synchronized and controlled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 (synchronized and controlled by some other automaton)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This gives rise to </a:t>
                </a:r>
                <a:r>
                  <a:rPr lang="en-US" b="1" dirty="0">
                    <a:solidFill>
                      <a:srgbClr val="00B0F0"/>
                    </a:solidFill>
                  </a:rPr>
                  <a:t>I/O automata </a:t>
                </a:r>
                <a:r>
                  <a:rPr lang="en-US" b="1" dirty="0"/>
                  <a:t>[Lynch, Tuttle 1996]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lvl="1"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FA11E-25B5-EA44-B622-77059A42E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6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88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E382-65C1-D947-AF7E-88B83E9E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029"/>
            <a:ext cx="8229600" cy="792162"/>
          </a:xfrm>
        </p:spPr>
        <p:txBody>
          <a:bodyPr/>
          <a:lstStyle/>
          <a:p>
            <a:r>
              <a:rPr lang="en-US" dirty="0"/>
              <a:t>Reactivity: Input enabling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972F-119E-8347-905F-BEBD54B3E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3" y="914400"/>
                <a:ext cx="6248397" cy="59436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900" dirty="0">
                    <a:latin typeface="+mj-lt"/>
                  </a:rPr>
                  <a:t>Consider a shared action </a:t>
                </a:r>
                <a:r>
                  <a:rPr lang="en-US" sz="2900" b="1" dirty="0" err="1">
                    <a:latin typeface="+mj-lt"/>
                  </a:rPr>
                  <a:t>brakeOn</a:t>
                </a:r>
                <a:r>
                  <a:rPr lang="en-US" sz="2900" dirty="0">
                    <a:latin typeface="+mj-lt"/>
                  </a:rPr>
                  <a:t> controlled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>
                    <a:latin typeface="+mj-lt"/>
                  </a:rPr>
                  <a:t> and </a:t>
                </a:r>
                <a:r>
                  <a:rPr lang="en-US" sz="2900" dirty="0" err="1">
                    <a:latin typeface="+mj-lt"/>
                  </a:rPr>
                  <a:t>listend</a:t>
                </a:r>
                <a:r>
                  <a:rPr lang="en-US" sz="2900" dirty="0">
                    <a:latin typeface="+mj-lt"/>
                  </a:rPr>
                  <a:t>-to or read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9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900" dirty="0">
                    <a:latin typeface="+mj-lt"/>
                  </a:rPr>
                  <a:t>What happens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900" dirty="0">
                    <a:latin typeface="+mj-lt"/>
                  </a:rPr>
                  <a:t> has a state x from which there is no well-defined behavior/transition labeled by </a:t>
                </a:r>
                <a:r>
                  <a:rPr lang="en-US" sz="2900" b="1" dirty="0" err="1">
                    <a:latin typeface="+mj-lt"/>
                  </a:rPr>
                  <a:t>brakeOn</a:t>
                </a:r>
                <a:r>
                  <a:rPr lang="en-US" sz="2900" b="1" dirty="0">
                    <a:latin typeface="+mj-lt"/>
                  </a:rPr>
                  <a:t>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900" dirty="0">
                    <a:latin typeface="+mj-lt"/>
                  </a:rPr>
                  <a:t>Input enabling ensures that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900" dirty="0">
                    <a:latin typeface="+mj-lt"/>
                  </a:rPr>
                  <a:t> are composed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900" dirty="0">
                    <a:latin typeface="+mj-lt"/>
                  </a:rPr>
                  <a:t> can react to </a:t>
                </a:r>
                <a:r>
                  <a:rPr lang="en-US" sz="2900" b="1" dirty="0" err="1">
                    <a:latin typeface="+mj-lt"/>
                  </a:rPr>
                  <a:t>brakeOn</a:t>
                </a:r>
                <a:r>
                  <a:rPr lang="en-US" sz="2900" dirty="0">
                    <a:latin typeface="+mj-lt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  <a:ea typeface="Cambria Math" panose="02040503050406030204" pitchFamily="18" charset="0"/>
                  </a:rPr>
                  <a:t>Definition</a:t>
                </a: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. An </a:t>
                </a:r>
                <a:r>
                  <a:rPr lang="en-US" b="1" dirty="0">
                    <a:solidFill>
                      <a:srgbClr val="00B0F0"/>
                    </a:solidFill>
                    <a:latin typeface="+mj-lt"/>
                    <a:ea typeface="Cambria Math" panose="02040503050406030204" pitchFamily="18" charset="0"/>
                  </a:rPr>
                  <a:t>input/output automaton</a:t>
                </a:r>
                <a:r>
                  <a:rPr lang="en-US" dirty="0">
                    <a:solidFill>
                      <a:srgbClr val="00B0F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is a tuple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where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is a set of names of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 is the set of initial states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is a set of names of actions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is the set of transitions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1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satisfies the input enabling condition: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E1. 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there exists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latin typeface="+mj-lt"/>
                </a:endParaRPr>
              </a:p>
              <a:p>
                <a:pPr marL="914400" lvl="2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>
                  <a:lnSpc>
                    <a:spcPct val="120000"/>
                  </a:lnSpc>
                </a:pPr>
                <a:endParaRPr lang="en-US" sz="28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972F-119E-8347-905F-BEBD54B3E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3" y="914400"/>
                <a:ext cx="6248397" cy="5943600"/>
              </a:xfrm>
              <a:blipFill>
                <a:blip r:embed="rId2"/>
                <a:stretch>
                  <a:fillRect l="-1217" t="-641"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8B0C5E-5184-494D-8280-BF8B1DEE84F9}"/>
                  </a:ext>
                </a:extLst>
              </p:cNvPr>
              <p:cNvSpPr/>
              <p:nvPr/>
            </p:nvSpPr>
            <p:spPr>
              <a:xfrm>
                <a:off x="6477000" y="1600200"/>
                <a:ext cx="1219200" cy="11430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0" dirty="0">
                    <a:latin typeface="Calibri" panose="020F0502020204030204" pitchFamily="34" charset="0"/>
                    <a:ea typeface="Cambria Math" panose="02040503050406030204" pitchFamily="18" charset="0"/>
                  </a:rPr>
                  <a:t>Controller</a:t>
                </a:r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8B0C5E-5184-494D-8280-BF8B1DEE8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600200"/>
                <a:ext cx="1219200" cy="1143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BC38334-79CD-7E46-B0CD-BF2E76EE7969}"/>
                  </a:ext>
                </a:extLst>
              </p:cNvPr>
              <p:cNvSpPr/>
              <p:nvPr/>
            </p:nvSpPr>
            <p:spPr>
              <a:xfrm>
                <a:off x="6477000" y="3801035"/>
                <a:ext cx="1219200" cy="11430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ea typeface="Cambria Math" panose="02040503050406030204" pitchFamily="18" charset="0"/>
                  </a:rPr>
                  <a:t>Vehicle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BC38334-79CD-7E46-B0CD-BF2E76EE7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801035"/>
                <a:ext cx="1219200" cy="1143000"/>
              </a:xfrm>
              <a:prstGeom prst="roundRect">
                <a:avLst/>
              </a:prstGeom>
              <a:blipFill>
                <a:blip r:embed="rId4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8D5C46-CF49-164B-9C77-E31615A2BD1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7086600" y="2743200"/>
            <a:ext cx="0" cy="1057835"/>
          </a:xfrm>
          <a:prstGeom prst="straightConnector1">
            <a:avLst/>
          </a:prstGeom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5CC462A-4BA5-1845-B44F-A6DA876DD92E}"/>
                  </a:ext>
                </a:extLst>
              </p:cNvPr>
              <p:cNvSpPr/>
              <p:nvPr/>
            </p:nvSpPr>
            <p:spPr>
              <a:xfrm>
                <a:off x="7705165" y="1787244"/>
                <a:ext cx="115300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𝑏𝑟𝑎𝑘𝑒𝑂𝑛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Pre Sensor&lt;= 5</a:t>
                </a:r>
              </a:p>
              <a:p>
                <a:r>
                  <a:rPr lang="en-US" sz="1200" dirty="0"/>
                  <a:t>Eff (do nothing)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5CC462A-4BA5-1845-B44F-A6DA876DD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165" y="1787244"/>
                <a:ext cx="1153008" cy="646331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1B0E78-9C9F-7849-9E6C-AA17163E3345}"/>
                  </a:ext>
                </a:extLst>
              </p:cNvPr>
              <p:cNvSpPr/>
              <p:nvPr/>
            </p:nvSpPr>
            <p:spPr>
              <a:xfrm>
                <a:off x="7696200" y="3836894"/>
                <a:ext cx="1013547" cy="1384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𝑏𝑟𝑎𝑘𝑒𝑂𝑛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>
                    <a:solidFill>
                      <a:srgbClr val="FF0000"/>
                    </a:solidFill>
                  </a:rPr>
                  <a:t>Pre ???</a:t>
                </a:r>
              </a:p>
              <a:p>
                <a:r>
                  <a:rPr lang="en-US" sz="1200" dirty="0"/>
                  <a:t>Eff </a:t>
                </a:r>
                <a:r>
                  <a:rPr lang="en-US" sz="1200" dirty="0" err="1"/>
                  <a:t>accel</a:t>
                </a:r>
                <a:r>
                  <a:rPr lang="en-US" sz="1200" dirty="0"/>
                  <a:t> := -5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Move</a:t>
                </a:r>
              </a:p>
              <a:p>
                <a:r>
                  <a:rPr lang="en-US" sz="1200" dirty="0"/>
                  <a:t>Pre  …</a:t>
                </a:r>
              </a:p>
              <a:p>
                <a:r>
                  <a:rPr lang="en-US" sz="1200" dirty="0"/>
                  <a:t>Eff …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1B0E78-9C9F-7849-9E6C-AA17163E33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3836894"/>
                <a:ext cx="1013547" cy="1384995"/>
              </a:xfrm>
              <a:prstGeom prst="rect">
                <a:avLst/>
              </a:prstGeom>
              <a:blipFill>
                <a:blip r:embed="rId6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B16F6E-ED0F-0E40-8804-6560D17E8208}"/>
                  </a:ext>
                </a:extLst>
              </p:cNvPr>
              <p:cNvSpPr/>
              <p:nvPr/>
            </p:nvSpPr>
            <p:spPr>
              <a:xfrm>
                <a:off x="7138759" y="3088665"/>
                <a:ext cx="11328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𝑏𝑟𝑎𝑘𝑒𝑂𝑛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B16F6E-ED0F-0E40-8804-6560D17E8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759" y="3088665"/>
                <a:ext cx="11328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79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F8F5-CD79-0645-B865-EB42F845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IOA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B95D4-BD38-0E49-8044-45C61BA62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067663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 pair of I/O automata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are compatible if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/>
                  <a:t> 	no unintended interactions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	no shared control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Extended to collection of automata in the natural way	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B95D4-BD38-0E49-8044-45C61BA62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067663" cy="4525963"/>
              </a:xfrm>
              <a:blipFill>
                <a:blip r:embed="rId2"/>
                <a:stretch>
                  <a:fillRect l="-1253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61D750F-9101-E84A-AEE0-60D41AE77568}"/>
                  </a:ext>
                </a:extLst>
              </p:cNvPr>
              <p:cNvSpPr/>
              <p:nvPr/>
            </p:nvSpPr>
            <p:spPr>
              <a:xfrm>
                <a:off x="6413317" y="1192306"/>
                <a:ext cx="1259936" cy="1295400"/>
              </a:xfrm>
              <a:prstGeom prst="roundRect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61D750F-9101-E84A-AEE0-60D41AE77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317" y="1192306"/>
                <a:ext cx="1259936" cy="1295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DDB7AFA-B882-7F4E-A644-6FD3FFEE6501}"/>
                  </a:ext>
                </a:extLst>
              </p:cNvPr>
              <p:cNvSpPr/>
              <p:nvPr/>
            </p:nvSpPr>
            <p:spPr>
              <a:xfrm>
                <a:off x="5207283" y="3029512"/>
                <a:ext cx="1259936" cy="1295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DDB7AFA-B882-7F4E-A644-6FD3FFEE6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283" y="3029512"/>
                <a:ext cx="1259936" cy="1295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986B556-F302-C247-A3AD-8F1866E248B9}"/>
              </a:ext>
            </a:extLst>
          </p:cNvPr>
          <p:cNvGrpSpPr/>
          <p:nvPr/>
        </p:nvGrpSpPr>
        <p:grpSpPr>
          <a:xfrm>
            <a:off x="5486400" y="3352800"/>
            <a:ext cx="151265" cy="875176"/>
            <a:chOff x="6830203" y="3738770"/>
            <a:chExt cx="533400" cy="30861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D0D0D8-92FB-F340-82A3-90A8198E8ABE}"/>
                </a:ext>
              </a:extLst>
            </p:cNvPr>
            <p:cNvSpPr/>
            <p:nvPr/>
          </p:nvSpPr>
          <p:spPr>
            <a:xfrm>
              <a:off x="6830203" y="373877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3CA676-81BA-F940-B265-4206484EA9C4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D336153-FEA1-FF40-A01F-8DCCDF0A2773}"/>
                </a:ext>
              </a:extLst>
            </p:cNvPr>
            <p:cNvSpPr/>
            <p:nvPr/>
          </p:nvSpPr>
          <p:spPr>
            <a:xfrm>
              <a:off x="6830203" y="629147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D4AC25C-C289-B948-A8B3-AF4E39195373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40FAC59-907F-4C41-93B9-F5E94DC27945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B1A3AF04-78BB-0D4B-A4D2-F2BAEDED51B7}"/>
                </a:ext>
              </a:extLst>
            </p:cNvPr>
            <p:cNvCxnSpPr>
              <a:cxnSpLocks/>
              <a:stCxn id="9" idx="2"/>
              <a:endCxn id="11" idx="2"/>
            </p:cNvCxnSpPr>
            <p:nvPr/>
          </p:nvCxnSpPr>
          <p:spPr>
            <a:xfrm rot="10800000" flipV="1">
              <a:off x="6830203" y="4005470"/>
              <a:ext cx="12700" cy="2552700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079DA1-EED6-2844-8B4D-70530B626313}"/>
              </a:ext>
            </a:extLst>
          </p:cNvPr>
          <p:cNvGrpSpPr/>
          <p:nvPr/>
        </p:nvGrpSpPr>
        <p:grpSpPr>
          <a:xfrm>
            <a:off x="7357132" y="1312499"/>
            <a:ext cx="153535" cy="888310"/>
            <a:chOff x="6171065" y="3761597"/>
            <a:chExt cx="533400" cy="30861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7E6BAD9-3BAE-664F-A4B4-AA20A552E2A4}"/>
                </a:ext>
              </a:extLst>
            </p:cNvPr>
            <p:cNvSpPr/>
            <p:nvPr/>
          </p:nvSpPr>
          <p:spPr>
            <a:xfrm>
              <a:off x="6171065" y="3761597"/>
              <a:ext cx="533400" cy="533400"/>
            </a:xfrm>
            <a:prstGeom prst="ellipse">
              <a:avLst/>
            </a:prstGeom>
            <a:ln w="127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83DE67-7335-6B4D-81DB-DDB810755053}"/>
                </a:ext>
              </a:extLst>
            </p:cNvPr>
            <p:cNvSpPr/>
            <p:nvPr/>
          </p:nvSpPr>
          <p:spPr>
            <a:xfrm>
              <a:off x="6171065" y="5037947"/>
              <a:ext cx="533400" cy="533400"/>
            </a:xfrm>
            <a:prstGeom prst="ellipse">
              <a:avLst/>
            </a:prstGeom>
            <a:ln w="127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57FE75F-6054-9944-BBFA-B963EC1E35BF}"/>
                </a:ext>
              </a:extLst>
            </p:cNvPr>
            <p:cNvSpPr/>
            <p:nvPr/>
          </p:nvSpPr>
          <p:spPr>
            <a:xfrm>
              <a:off x="6171065" y="6314297"/>
              <a:ext cx="533400" cy="533400"/>
            </a:xfrm>
            <a:prstGeom prst="ellipse">
              <a:avLst/>
            </a:prstGeom>
            <a:ln w="127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0070C0"/>
                  </a:solidFill>
                </a:rPr>
                <a:t>c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0424B0F-45B1-114D-A236-97F7FDE31D18}"/>
                </a:ext>
              </a:extLst>
            </p:cNvPr>
            <p:cNvCxnSpPr>
              <a:stCxn id="16" idx="4"/>
              <a:endCxn id="17" idx="0"/>
            </p:cNvCxnSpPr>
            <p:nvPr/>
          </p:nvCxnSpPr>
          <p:spPr>
            <a:xfrm>
              <a:off x="6437765" y="4294997"/>
              <a:ext cx="0" cy="742950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12E6722-695C-2841-A2E6-CC25400D7684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6437765" y="5571347"/>
              <a:ext cx="0" cy="742950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Curved Connector 20">
              <a:extLst>
                <a:ext uri="{FF2B5EF4-FFF2-40B4-BE49-F238E27FC236}">
                  <a16:creationId xmlns:a16="http://schemas.microsoft.com/office/drawing/2014/main" id="{0A2E802C-6825-3541-85C1-90A4A98CD3E2}"/>
                </a:ext>
              </a:extLst>
            </p:cNvPr>
            <p:cNvCxnSpPr>
              <a:stCxn id="18" idx="5"/>
              <a:endCxn id="18" idx="3"/>
            </p:cNvCxnSpPr>
            <p:nvPr/>
          </p:nvCxnSpPr>
          <p:spPr>
            <a:xfrm rot="5400000">
              <a:off x="6437765" y="6580997"/>
              <a:ext cx="12700" cy="377170"/>
            </a:xfrm>
            <a:prstGeom prst="curvedConnector3">
              <a:avLst>
                <a:gd name="adj1" fmla="val 3732157"/>
              </a:avLst>
            </a:prstGeom>
            <a:ln w="38100"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F3D1F545-1A05-8640-BE22-CB117AD26EA9}"/>
                </a:ext>
              </a:extLst>
            </p:cNvPr>
            <p:cNvCxnSpPr>
              <a:cxnSpLocks/>
              <a:stCxn id="17" idx="2"/>
              <a:endCxn id="18" idx="2"/>
            </p:cNvCxnSpPr>
            <p:nvPr/>
          </p:nvCxnSpPr>
          <p:spPr>
            <a:xfrm rot="10800000" flipV="1">
              <a:off x="6171065" y="5304647"/>
              <a:ext cx="12700" cy="1276350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328529FC-15FA-AA4A-B165-FEB82FC5FF1C}"/>
                  </a:ext>
                </a:extLst>
              </p:cNvPr>
              <p:cNvSpPr/>
              <p:nvPr/>
            </p:nvSpPr>
            <p:spPr>
              <a:xfrm>
                <a:off x="7699188" y="3029512"/>
                <a:ext cx="1259936" cy="129540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328529FC-15FA-AA4A-B165-FEB82FC5F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188" y="3029512"/>
                <a:ext cx="1259936" cy="12954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D45E5B6B-D85F-4940-BB94-B20A8F0B9173}"/>
                  </a:ext>
                </a:extLst>
              </p:cNvPr>
              <p:cNvSpPr/>
              <p:nvPr/>
            </p:nvSpPr>
            <p:spPr>
              <a:xfrm>
                <a:off x="6471019" y="4866718"/>
                <a:ext cx="1259936" cy="129540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D45E5B6B-D85F-4940-BB94-B20A8F0B9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019" y="4866718"/>
                <a:ext cx="1259936" cy="1295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C2024F-8F06-4C4B-B9DE-5BC5AC793033}"/>
              </a:ext>
            </a:extLst>
          </p:cNvPr>
          <p:cNvCxnSpPr>
            <a:cxnSpLocks/>
            <a:stCxn id="8" idx="3"/>
            <a:endCxn id="17" idx="4"/>
          </p:cNvCxnSpPr>
          <p:nvPr/>
        </p:nvCxnSpPr>
        <p:spPr>
          <a:xfrm flipV="1">
            <a:off x="6467219" y="1833421"/>
            <a:ext cx="966681" cy="1843791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D1D3B74-3664-804B-AE79-B9D27A63AE86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>
          <a:xfrm>
            <a:off x="6467219" y="3677212"/>
            <a:ext cx="1231969" cy="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126F4B2-95EF-9446-A44E-EFA625BBF1A3}"/>
              </a:ext>
            </a:extLst>
          </p:cNvPr>
          <p:cNvCxnSpPr>
            <a:cxnSpLocks/>
            <a:stCxn id="8" idx="3"/>
            <a:endCxn id="25" idx="0"/>
          </p:cNvCxnSpPr>
          <p:nvPr/>
        </p:nvCxnSpPr>
        <p:spPr>
          <a:xfrm>
            <a:off x="6467219" y="3677212"/>
            <a:ext cx="633768" cy="1189506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FFBF07-B36D-2E47-B144-508B2B82AC36}"/>
              </a:ext>
            </a:extLst>
          </p:cNvPr>
          <p:cNvCxnSpPr>
            <a:cxnSpLocks/>
            <a:endCxn id="8" idx="3"/>
          </p:cNvCxnSpPr>
          <p:nvPr/>
        </p:nvCxnSpPr>
        <p:spPr>
          <a:xfrm>
            <a:off x="5562600" y="3581400"/>
            <a:ext cx="904619" cy="95812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925E42E-81C2-D9FD-509B-42D0FAD3664B}"/>
                  </a:ext>
                </a:extLst>
              </p:cNvPr>
              <p:cNvSpPr/>
              <p:nvPr/>
            </p:nvSpPr>
            <p:spPr>
              <a:xfrm>
                <a:off x="5562600" y="3429000"/>
                <a:ext cx="659540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900" i="1" dirty="0">
                          <a:latin typeface="Cambria Math" panose="02040503050406030204" pitchFamily="18" charset="0"/>
                        </a:rPr>
                        <m:t>𝑏𝑟𝑎𝑘𝑒𝑂𝑛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925E42E-81C2-D9FD-509B-42D0FAD36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429000"/>
                <a:ext cx="659540" cy="2308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7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of I/O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76200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  <a:ea typeface="Cambria Math"/>
                  </a:rPr>
                  <a:t>Definition</a:t>
                </a:r>
                <a:r>
                  <a:rPr lang="en-US" dirty="0">
                    <a:ea typeface="Cambria Math"/>
                  </a:rPr>
                  <a:t>. For compatible automata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i="1" dirty="0">
                  <a:latin typeface="Cambria Math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𝑣𝑎𝑙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</m:oMath>
                </a14:m>
                <a:r>
                  <a:rPr lang="en-US" b="1" dirty="0"/>
                  <a:t> </a:t>
                </a:r>
                <a:endParaRPr lang="en-US" i="1" dirty="0">
                  <a:latin typeface="Cambria Math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:r>
                  <a:rPr lang="en-US" i="1" dirty="0" err="1">
                    <a:ea typeface="Cambria Math"/>
                  </a:rPr>
                  <a:t>iff</a:t>
                </a:r>
                <a:r>
                  <a:rPr lang="en-US" i="1" dirty="0">
                    <a:ea typeface="Cambria Math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∈{1,2}</m:t>
                    </m:r>
                  </m:oMath>
                </a14:m>
                <a:endParaRPr lang="en-US" i="1" dirty="0">
                  <a:ea typeface="Cambria Math"/>
                </a:endParaRP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</m:oMath>
                </a14:m>
                <a:endParaRPr lang="en-US" b="0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Calibri" panose="020F0502020204030204" pitchFamily="34" charset="0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7620000" cy="4525963"/>
              </a:xfrm>
              <a:blipFill>
                <a:blip r:embed="rId2"/>
                <a:stretch>
                  <a:fillRect l="-1500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86200" y="3733800"/>
                <a:ext cx="212167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/>
                        </a:rPr>
                        <m:t>}   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∪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𝑂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∪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𝐼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733800"/>
                <a:ext cx="2121671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63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B3DEE9-4E2E-FD4D-83DE-2DC438E5B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mbria Math"/>
                  </a:rPr>
                  <a:t>Theorem</a:t>
                </a: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. The class of IO-automata is closed under composition.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are compatible I/O automata then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is also an I/O automaton.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Calibri" panose="020F0502020204030204" pitchFamily="34" charset="0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Proof. Only 2 things to check</a:t>
                </a:r>
              </a:p>
              <a:p>
                <a:pPr>
                  <a:lnSpc>
                    <a:spcPct val="120000"/>
                  </a:lnSpc>
                  <a:buFontTx/>
                  <a:buChar char="-"/>
                </a:pP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Input, output, and internal actions are disjoint---by construction</a:t>
                </a:r>
              </a:p>
              <a:p>
                <a:pPr>
                  <a:lnSpc>
                    <a:spcPct val="12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  </a:t>
                </a:r>
                <a:r>
                  <a:rPr lang="en-US" dirty="0"/>
                  <a:t>satisfies </a:t>
                </a:r>
                <a:r>
                  <a:rPr lang="en-US" b="1" dirty="0"/>
                  <a:t>E1</a:t>
                </a:r>
                <a:r>
                  <a:rPr lang="en-US" dirty="0"/>
                  <a:t>. Consider any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any input action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is enabled in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b="1" dirty="0">
                    <a:latin typeface="Calibri" panose="020F0502020204030204" pitchFamily="34" charset="0"/>
                    <a:ea typeface="Cambria Math"/>
                  </a:rPr>
                  <a:t>. </a:t>
                </a:r>
              </a:p>
              <a:p>
                <a:pPr>
                  <a:lnSpc>
                    <a:spcPct val="120000"/>
                  </a:lnSpc>
                  <a:buFontTx/>
                  <a:buChar char="-"/>
                </a:pP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Suppose, </a:t>
                </a:r>
                <a:r>
                  <a:rPr lang="en-US" dirty="0" err="1">
                    <a:latin typeface="Calibri" panose="020F0502020204030204" pitchFamily="34" charset="0"/>
                    <a:ea typeface="Cambria Math"/>
                  </a:rPr>
                  <a:t>w.lo.g</a:t>
                </a: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mbria Math"/>
                </a:endParaRPr>
              </a:p>
              <a:p>
                <a:pPr lvl="1">
                  <a:lnSpc>
                    <a:spcPct val="120000"/>
                  </a:lnSpc>
                  <a:buFontTx/>
                  <a:buChar char="-"/>
                </a:pP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We know by </a:t>
                </a:r>
                <a:r>
                  <a:rPr lang="en-US" b="1" dirty="0"/>
                  <a:t>E1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 </a:t>
                </a:r>
                <a:r>
                  <a:rPr lang="en-US" dirty="0"/>
                  <a:t>that there exists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Calibri" panose="020F0502020204030204" pitchFamily="34" charset="0"/>
                    <a:ea typeface="Cambria Math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dirty="0">
                  <a:latin typeface="Calibri" panose="020F0502020204030204" pitchFamily="34" charset="0"/>
                  <a:ea typeface="Cambria Math"/>
                </a:endParaRPr>
              </a:p>
              <a:p>
                <a:pPr lvl="1">
                  <a:lnSpc>
                    <a:spcPct val="12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 (by compatibility)</a:t>
                </a:r>
              </a:p>
              <a:p>
                <a:pPr>
                  <a:lnSpc>
                    <a:spcPct val="120000"/>
                  </a:lnSpc>
                  <a:buFontTx/>
                  <a:buChar char="-"/>
                </a:pPr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 is a valid transition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mbria Math"/>
                  </a:rPr>
                  <a:t> (by definition of composition)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B3DEE9-4E2E-FD4D-83DE-2DC438E5B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  <a:blipFill>
                <a:blip r:embed="rId2"/>
                <a:stretch>
                  <a:fillRect l="-1080" t="-860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38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Sending process and channel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038600" y="3586858"/>
            <a:ext cx="5486400" cy="29601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/>
              <a:t>Sender(u)</a:t>
            </a:r>
          </a:p>
          <a:p>
            <a:pPr marL="0" indent="0">
              <a:buNone/>
            </a:pPr>
            <a:r>
              <a:rPr lang="en-US" sz="1800" b="1" dirty="0"/>
              <a:t>	variables internal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	    </a:t>
            </a:r>
            <a:r>
              <a:rPr lang="en-US" sz="1800" dirty="0" err="1">
                <a:solidFill>
                  <a:srgbClr val="7030A0"/>
                </a:solidFill>
              </a:rPr>
              <a:t>failed:Boolean</a:t>
            </a:r>
            <a:r>
              <a:rPr lang="en-US" sz="1800" dirty="0">
                <a:solidFill>
                  <a:srgbClr val="7030A0"/>
                </a:solidFill>
              </a:rPr>
              <a:t> := F </a:t>
            </a:r>
          </a:p>
          <a:p>
            <a:pPr marL="0" indent="0">
              <a:buNone/>
            </a:pPr>
            <a:r>
              <a:rPr lang="en-US" sz="1800" b="1" dirty="0"/>
              <a:t>	output </a:t>
            </a:r>
            <a:r>
              <a:rPr lang="en-US" sz="1800" dirty="0"/>
              <a:t>send(</a:t>
            </a:r>
            <a:r>
              <a:rPr lang="en-US" sz="1800" dirty="0" err="1"/>
              <a:t>m:M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1" dirty="0"/>
              <a:t>input</a:t>
            </a:r>
            <a:r>
              <a:rPr lang="en-US" sz="1800" dirty="0"/>
              <a:t> fail</a:t>
            </a:r>
          </a:p>
          <a:p>
            <a:pPr marL="0" indent="0">
              <a:buNone/>
            </a:pPr>
            <a:r>
              <a:rPr lang="en-US" sz="1800" b="1" dirty="0"/>
              <a:t>	transitions:</a:t>
            </a:r>
          </a:p>
          <a:p>
            <a:pPr marL="0" indent="0">
              <a:buNone/>
            </a:pPr>
            <a:r>
              <a:rPr lang="en-US" sz="1800" b="1" dirty="0"/>
              <a:t>	    output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sz="1800" b="1" dirty="0"/>
              <a:t>	        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~failed</a:t>
            </a:r>
          </a:p>
          <a:p>
            <a:pPr marL="0" indent="0">
              <a:buNone/>
            </a:pPr>
            <a:r>
              <a:rPr lang="en-US" sz="1800" b="1" dirty="0"/>
              <a:t>	        eff </a:t>
            </a:r>
            <a:r>
              <a:rPr lang="en-US" sz="1800" dirty="0">
                <a:solidFill>
                  <a:srgbClr val="FF0000"/>
                </a:solidFill>
              </a:rPr>
              <a:t>		</a:t>
            </a:r>
          </a:p>
          <a:p>
            <a:pPr marL="0" indent="0">
              <a:buNone/>
            </a:pPr>
            <a:r>
              <a:rPr lang="en-US" sz="1800" b="1" dirty="0"/>
              <a:t>	    input</a:t>
            </a:r>
            <a:r>
              <a:rPr lang="en-US" sz="1800" dirty="0">
                <a:solidFill>
                  <a:srgbClr val="FF0000"/>
                </a:solidFill>
              </a:rPr>
              <a:t> fail</a:t>
            </a:r>
          </a:p>
          <a:p>
            <a:pPr marL="0" indent="0">
              <a:buNone/>
            </a:pPr>
            <a:r>
              <a:rPr lang="en-US" sz="1800" b="1" dirty="0"/>
              <a:t>	        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1800" b="1" dirty="0"/>
              <a:t>	        eff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failed := T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4267200"/>
            <a:ext cx="1600200" cy="142964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Loc</a:t>
            </a:r>
            <a:r>
              <a:rPr lang="en-US" dirty="0"/>
              <a:t> 1</a:t>
            </a:r>
          </a:p>
          <a:p>
            <a:pPr algn="ctr"/>
            <a:endParaRPr lang="en-US" sz="1400" b="1" dirty="0">
              <a:solidFill>
                <a:srgbClr val="F62AF6"/>
              </a:solidFill>
            </a:endParaRPr>
          </a:p>
          <a:p>
            <a:pPr algn="ctr"/>
            <a:r>
              <a:rPr lang="en-US" sz="1400" b="1" dirty="0">
                <a:solidFill>
                  <a:srgbClr val="F62AF6"/>
                </a:solidFill>
              </a:rPr>
              <a:t>failed</a:t>
            </a:r>
            <a:endParaRPr lang="en-US" sz="1200" b="1" dirty="0">
              <a:solidFill>
                <a:srgbClr val="F62AF6"/>
              </a:solidFill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171700" y="3910810"/>
            <a:ext cx="12700" cy="1131512"/>
          </a:xfrm>
          <a:prstGeom prst="curvedConnector3">
            <a:avLst>
              <a:gd name="adj1" fmla="val 58716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784889" y="3079380"/>
            <a:ext cx="95891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~failed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838200" y="4982021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6" idx="3"/>
            <a:endCxn id="6" idx="5"/>
          </p:cNvCxnSpPr>
          <p:nvPr/>
        </p:nvCxnSpPr>
        <p:spPr>
          <a:xfrm rot="16200000" flipH="1">
            <a:off x="2171700" y="4921720"/>
            <a:ext cx="12700" cy="1131512"/>
          </a:xfrm>
          <a:prstGeom prst="curvedConnector3">
            <a:avLst>
              <a:gd name="adj1" fmla="val 6494701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651175" y="5951819"/>
            <a:ext cx="110030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fail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failed := 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B387D4-A0B9-0544-AFD8-5ED9B309AB28}"/>
              </a:ext>
            </a:extLst>
          </p:cNvPr>
          <p:cNvSpPr/>
          <p:nvPr/>
        </p:nvSpPr>
        <p:spPr>
          <a:xfrm>
            <a:off x="2460615" y="1531731"/>
            <a:ext cx="1259936" cy="1295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1600" dirty="0"/>
              <a:t>Sender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EDA7E4-2748-9B45-8748-6D93633D1E9A}"/>
              </a:ext>
            </a:extLst>
          </p:cNvPr>
          <p:cNvSpPr/>
          <p:nvPr/>
        </p:nvSpPr>
        <p:spPr>
          <a:xfrm>
            <a:off x="4952520" y="1531731"/>
            <a:ext cx="1259936" cy="1295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1600" dirty="0"/>
              <a:t>Channel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A8BBF1-9A82-3E4A-A54C-BC2E9AF09D79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720551" y="2179431"/>
            <a:ext cx="123196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AC690D6-52C5-7945-AA5E-67E35176DBA4}"/>
              </a:ext>
            </a:extLst>
          </p:cNvPr>
          <p:cNvSpPr/>
          <p:nvPr/>
        </p:nvSpPr>
        <p:spPr>
          <a:xfrm>
            <a:off x="3880268" y="1803737"/>
            <a:ext cx="95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send(m)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3B911C-FBEB-204A-AF44-2D7318EB4F0D}"/>
              </a:ext>
            </a:extLst>
          </p:cNvPr>
          <p:cNvCxnSpPr>
            <a:cxnSpLocks/>
          </p:cNvCxnSpPr>
          <p:nvPr/>
        </p:nvCxnSpPr>
        <p:spPr>
          <a:xfrm>
            <a:off x="6212456" y="2179431"/>
            <a:ext cx="123196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F371571-CEC8-FE47-8768-DAB6755DEC02}"/>
              </a:ext>
            </a:extLst>
          </p:cNvPr>
          <p:cNvSpPr/>
          <p:nvPr/>
        </p:nvSpPr>
        <p:spPr>
          <a:xfrm>
            <a:off x="6212456" y="1803737"/>
            <a:ext cx="1186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receive(m)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1C760C-A3E3-9344-B999-29E6815D9599}"/>
              </a:ext>
            </a:extLst>
          </p:cNvPr>
          <p:cNvCxnSpPr>
            <a:cxnSpLocks/>
          </p:cNvCxnSpPr>
          <p:nvPr/>
        </p:nvCxnSpPr>
        <p:spPr>
          <a:xfrm>
            <a:off x="1262122" y="2185793"/>
            <a:ext cx="123196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627EDA-EDDC-C446-8E66-6F51B41D47A1}"/>
              </a:ext>
            </a:extLst>
          </p:cNvPr>
          <p:cNvSpPr/>
          <p:nvPr/>
        </p:nvSpPr>
        <p:spPr>
          <a:xfrm>
            <a:off x="1667740" y="1810099"/>
            <a:ext cx="467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fail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C31CC0-4670-684A-B99D-22A1B73D7ACE}"/>
              </a:ext>
            </a:extLst>
          </p:cNvPr>
          <p:cNvSpPr/>
          <p:nvPr/>
        </p:nvSpPr>
        <p:spPr>
          <a:xfrm>
            <a:off x="7472392" y="1502401"/>
            <a:ext cx="1259936" cy="1295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1600" dirty="0"/>
              <a:t>Receiver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91F7969-2617-7843-A4FD-9420AD0EB704}"/>
              </a:ext>
            </a:extLst>
          </p:cNvPr>
          <p:cNvSpPr/>
          <p:nvPr/>
        </p:nvSpPr>
        <p:spPr>
          <a:xfrm>
            <a:off x="2208698" y="1364174"/>
            <a:ext cx="4192103" cy="16076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1600" dirty="0"/>
              <a:t>System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886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6" grpId="0" animBg="1"/>
      <p:bldP spid="14" grpId="0"/>
      <p:bldP spid="12" grpId="0" animBg="1"/>
      <p:bldP spid="13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099"/>
            <a:ext cx="8686800" cy="649701"/>
          </a:xfrm>
        </p:spPr>
        <p:txBody>
          <a:bodyPr>
            <a:normAutofit fontScale="90000"/>
          </a:bodyPr>
          <a:lstStyle/>
          <a:p>
            <a:r>
              <a:rPr lang="en-US" dirty="0"/>
              <a:t>FIFO channel &amp; Simple Failure Detector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0" y="3575775"/>
            <a:ext cx="5257800" cy="34591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Automaton </a:t>
            </a:r>
            <a:r>
              <a:rPr lang="en-US" sz="1600" dirty="0"/>
              <a:t>Channel(M)</a:t>
            </a:r>
          </a:p>
          <a:p>
            <a:pPr marL="0" indent="0">
              <a:buNone/>
            </a:pPr>
            <a:r>
              <a:rPr lang="en-US" sz="1600" b="1" dirty="0"/>
              <a:t>   variables internal </a:t>
            </a:r>
            <a:r>
              <a:rPr lang="en-US" sz="1600" dirty="0"/>
              <a:t>queue: </a:t>
            </a:r>
            <a:r>
              <a:rPr lang="en-US" sz="1600" b="1" dirty="0"/>
              <a:t>Queue</a:t>
            </a:r>
            <a:r>
              <a:rPr lang="en-US" sz="1600" dirty="0"/>
              <a:t>[M] := {}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actions input </a:t>
            </a:r>
            <a:r>
              <a:rPr lang="en-US" sz="1600" dirty="0"/>
              <a:t>send(</a:t>
            </a:r>
            <a:r>
              <a:rPr lang="en-US" sz="1600" dirty="0" err="1"/>
              <a:t>m:M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b="1" dirty="0"/>
              <a:t>output</a:t>
            </a:r>
            <a:r>
              <a:rPr lang="en-US" sz="1600" dirty="0"/>
              <a:t> receive(</a:t>
            </a:r>
            <a:r>
              <a:rPr lang="en-US" sz="1600" dirty="0" err="1"/>
              <a:t>m:M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b="1" dirty="0"/>
              <a:t>   transitions:</a:t>
            </a:r>
          </a:p>
          <a:p>
            <a:pPr marL="0" indent="0">
              <a:buNone/>
            </a:pPr>
            <a:r>
              <a:rPr lang="en-US" sz="1600" b="1" dirty="0"/>
              <a:t>        input </a:t>
            </a:r>
            <a:r>
              <a:rPr lang="en-US" sz="16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sz="1600" b="1" dirty="0"/>
              <a:t>           pre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1600" b="1" dirty="0"/>
              <a:t>           eff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queue := append(m, queue)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1600" dirty="0">
                <a:solidFill>
                  <a:srgbClr val="FF0000"/>
                </a:solidFill>
              </a:rPr>
              <a:t>    </a:t>
            </a:r>
            <a:r>
              <a:rPr lang="en-US" sz="1600" b="1" dirty="0"/>
              <a:t>output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            </a:t>
            </a:r>
            <a:r>
              <a:rPr lang="en-US" sz="1600" b="1" dirty="0"/>
              <a:t>pre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head(queue)=m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eff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A9A43D-2448-6644-991F-A0077C4AD9BE}"/>
              </a:ext>
            </a:extLst>
          </p:cNvPr>
          <p:cNvSpPr txBox="1">
            <a:spLocks/>
          </p:cNvSpPr>
          <p:nvPr/>
        </p:nvSpPr>
        <p:spPr>
          <a:xfrm>
            <a:off x="4572000" y="1477962"/>
            <a:ext cx="52578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b="1" dirty="0"/>
              <a:t>Automaton </a:t>
            </a:r>
            <a:r>
              <a:rPr lang="en-US" sz="1800" dirty="0"/>
              <a:t>System(M)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variables </a:t>
            </a:r>
            <a:r>
              <a:rPr lang="en-US" sz="1800" dirty="0"/>
              <a:t>queue: </a:t>
            </a:r>
            <a:r>
              <a:rPr lang="en-US" sz="1800" b="1" dirty="0"/>
              <a:t>Queue</a:t>
            </a:r>
            <a:r>
              <a:rPr lang="en-US" sz="1800" dirty="0"/>
              <a:t>[M] := {}, failed: Bool</a:t>
            </a:r>
            <a:endParaRPr lang="en-US" sz="1800" b="1" dirty="0"/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actions input </a:t>
            </a:r>
            <a:r>
              <a:rPr lang="en-US" sz="1800" dirty="0"/>
              <a:t>fail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b="1" dirty="0"/>
              <a:t>output</a:t>
            </a:r>
            <a:r>
              <a:rPr lang="en-US" sz="1800" dirty="0"/>
              <a:t> send(</a:t>
            </a:r>
            <a:r>
              <a:rPr lang="en-US" sz="1800" dirty="0" err="1"/>
              <a:t>m:M</a:t>
            </a:r>
            <a:r>
              <a:rPr lang="en-US" sz="1800" dirty="0"/>
              <a:t>), receive(</a:t>
            </a:r>
            <a:r>
              <a:rPr lang="en-US" sz="1800" dirty="0" err="1"/>
              <a:t>m:M</a:t>
            </a:r>
            <a:r>
              <a:rPr lang="en-US" sz="1800" dirty="0"/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transitions: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    output </a:t>
            </a:r>
            <a:r>
              <a:rPr lang="en-US" sz="18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       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~failed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       eff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 queue := append(m, queue)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1800" dirty="0">
                <a:solidFill>
                  <a:srgbClr val="FF0000"/>
                </a:solidFill>
              </a:rPr>
              <a:t>    </a:t>
            </a:r>
            <a:r>
              <a:rPr lang="en-US" sz="1800" b="1" dirty="0"/>
              <a:t>output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</a:t>
            </a:r>
            <a:r>
              <a:rPr lang="en-US" sz="1800" b="1" dirty="0"/>
              <a:t>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head(queue)=m</a:t>
            </a:r>
            <a:endParaRPr lang="en-US" sz="1800" b="1" dirty="0"/>
          </a:p>
          <a:p>
            <a:pPr marL="0" indent="0">
              <a:buFont typeface="Arial" pitchFamily="34" charset="0"/>
              <a:buNone/>
            </a:pPr>
            <a:r>
              <a:rPr lang="en-US" sz="1800" b="1" dirty="0"/>
              <a:t>           eff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         input</a:t>
            </a:r>
            <a:r>
              <a:rPr lang="en-US" sz="1800" dirty="0">
                <a:solidFill>
                  <a:srgbClr val="FF0000"/>
                </a:solidFill>
              </a:rPr>
              <a:t> fail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</a:t>
            </a:r>
            <a:r>
              <a:rPr lang="en-US" sz="1800" b="1" dirty="0"/>
              <a:t>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sz="1800" b="1" dirty="0"/>
              <a:t>eff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failed := true</a:t>
            </a:r>
          </a:p>
          <a:p>
            <a:pPr marL="0" indent="0">
              <a:buFont typeface="Arial" pitchFamily="34" charset="0"/>
              <a:buNone/>
            </a:pPr>
            <a:endParaRPr lang="en-US" sz="1800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4EB2B08-205C-3042-BB9D-94BD33415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5486400" cy="29601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/>
              <a:t>Sender(u)</a:t>
            </a:r>
          </a:p>
          <a:p>
            <a:pPr marL="0" indent="0">
              <a:buNone/>
            </a:pPr>
            <a:r>
              <a:rPr lang="en-US" sz="1800" b="1" dirty="0"/>
              <a:t>	variables internal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	    </a:t>
            </a:r>
            <a:r>
              <a:rPr lang="en-US" sz="1800" dirty="0" err="1">
                <a:solidFill>
                  <a:srgbClr val="7030A0"/>
                </a:solidFill>
              </a:rPr>
              <a:t>failed:Boolean</a:t>
            </a:r>
            <a:r>
              <a:rPr lang="en-US" sz="1800" dirty="0">
                <a:solidFill>
                  <a:srgbClr val="7030A0"/>
                </a:solidFill>
              </a:rPr>
              <a:t> := F </a:t>
            </a:r>
          </a:p>
          <a:p>
            <a:pPr marL="0" indent="0">
              <a:buNone/>
            </a:pPr>
            <a:r>
              <a:rPr lang="en-US" sz="1800" b="1" dirty="0"/>
              <a:t>	output </a:t>
            </a:r>
            <a:r>
              <a:rPr lang="en-US" sz="1800" dirty="0"/>
              <a:t>send(</a:t>
            </a:r>
            <a:r>
              <a:rPr lang="en-US" sz="1800" dirty="0" err="1"/>
              <a:t>m:M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1" dirty="0"/>
              <a:t>input</a:t>
            </a:r>
            <a:r>
              <a:rPr lang="en-US" sz="1800" dirty="0"/>
              <a:t> fail</a:t>
            </a:r>
          </a:p>
          <a:p>
            <a:pPr marL="0" indent="0">
              <a:buNone/>
            </a:pPr>
            <a:r>
              <a:rPr lang="en-US" sz="1800" b="1" dirty="0"/>
              <a:t>	transitions:</a:t>
            </a:r>
          </a:p>
          <a:p>
            <a:pPr marL="0" indent="0">
              <a:buNone/>
            </a:pPr>
            <a:r>
              <a:rPr lang="en-US" sz="1800" b="1" dirty="0"/>
              <a:t>	    output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sz="1800" b="1" dirty="0"/>
              <a:t>	        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~failed</a:t>
            </a:r>
          </a:p>
          <a:p>
            <a:pPr marL="0" indent="0">
              <a:buNone/>
            </a:pPr>
            <a:r>
              <a:rPr lang="en-US" sz="1800" b="1" dirty="0"/>
              <a:t>	        eff </a:t>
            </a:r>
            <a:r>
              <a:rPr lang="en-US" sz="1800" dirty="0">
                <a:solidFill>
                  <a:srgbClr val="FF0000"/>
                </a:solidFill>
              </a:rPr>
              <a:t>		</a:t>
            </a:r>
          </a:p>
          <a:p>
            <a:pPr marL="0" indent="0">
              <a:buNone/>
            </a:pPr>
            <a:r>
              <a:rPr lang="en-US" sz="1800" b="1" dirty="0"/>
              <a:t>	    input</a:t>
            </a:r>
            <a:r>
              <a:rPr lang="en-US" sz="1800" dirty="0">
                <a:solidFill>
                  <a:srgbClr val="FF0000"/>
                </a:solidFill>
              </a:rPr>
              <a:t> fail</a:t>
            </a:r>
          </a:p>
          <a:p>
            <a:pPr marL="0" indent="0">
              <a:buNone/>
            </a:pPr>
            <a:r>
              <a:rPr lang="en-US" sz="1800" b="1" dirty="0"/>
              <a:t>	        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1800" b="1" dirty="0"/>
              <a:t>	        eff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failed := T</a:t>
            </a:r>
          </a:p>
        </p:txBody>
      </p:sp>
    </p:spTree>
    <p:extLst>
      <p:ext uri="{BB962C8B-B14F-4D97-AF65-F5344CB8AC3E}">
        <p14:creationId xmlns:p14="http://schemas.microsoft.com/office/powerpoint/2010/main" val="301222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Compositions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Proposition.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an execution fragment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iff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are both execution fragments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Proof of the forward direction. Fix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:r>
                  <a:rPr lang="en-US" dirty="0" err="1"/>
                  <a:t>i</a:t>
                </a:r>
                <a:r>
                  <a:rPr lang="en-US" dirty="0"/>
                  <a:t>. We prove this by induction on the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lvl="1"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5029200"/>
              </a:xfrm>
              <a:blipFill>
                <a:blip r:embed="rId3"/>
                <a:stretch>
                  <a:fillRect l="-1852" t="-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2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3C05-6700-75A9-ED59-F656FCFB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and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F2C0C-A8AE-7F44-2BE0-22796B4E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04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685688-E75F-8144-8D8E-F8FCF0B9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638800" cy="1143000"/>
          </a:xfrm>
        </p:spPr>
        <p:txBody>
          <a:bodyPr/>
          <a:lstStyle/>
          <a:p>
            <a:r>
              <a:rPr lang="en-US" dirty="0"/>
              <a:t>Abstraction recap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1524000"/>
                <a:ext cx="9067800" cy="5334000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Definition of abstraction: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 panose="02040503050406030204" pitchFamily="18" charset="0"/>
                                <a:ea typeface="Cambria Math"/>
                              </a:rPr>
                              <m:t>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>
                                <a:latin typeface="Cambria Math" panose="02040503050406030204" pitchFamily="18" charset="0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: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Trace</m:t>
                    </m:r>
                    <m:sSub>
                      <m:sSubPr>
                        <m:ctrlPr>
                          <a:rPr lang="en-US" sz="20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sSub>
                          <m:sSubPr>
                            <m:ctrlPr>
                              <a:rPr lang="en-US" sz="200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Trace</m:t>
                    </m:r>
                    <m:sSub>
                      <m:sSubPr>
                        <m:ctrlPr>
                          <a:rPr lang="en-US" sz="20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sSub>
                          <m:sSubPr>
                            <m:ctrlPr>
                              <a:rPr lang="en-US" sz="200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2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called a refinement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sometimes called a refinement or implementation relation</a:t>
                </a:r>
              </a:p>
              <a:p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satisfies some property P that is quantified over all traces/executions (e.g., invariants)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also satisfies P</a:t>
                </a:r>
              </a:p>
              <a:p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Forward and backward simulation relations are sufficient for proving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Consider the set of all automata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with the same Input/Output actions</a:t>
                </a:r>
              </a:p>
              <a:p>
                <a:pPr lvl="1"/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We can compare some members of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transitive. </a:t>
                </a:r>
              </a:p>
              <a:p>
                <a:pPr lvl="1"/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sz="200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T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defines a preorder</a:t>
                </a:r>
              </a:p>
              <a:p>
                <a:r>
                  <a:rPr lang="en-US" sz="2000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CEGAR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a procedure for obtaining a refinement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0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such that some spurious behaviors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>
                        <a:latin typeface="Cambria Math" panose="02040503050406030204" pitchFamily="18" charset="0"/>
                      </a:rPr>
                      <m:t>Trace</m:t>
                    </m:r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are eliminated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>
                        <a:latin typeface="Cambria Math" panose="02040503050406030204" pitchFamily="18" charset="0"/>
                      </a:rPr>
                      <m:t>Trace</m:t>
                    </m:r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524000"/>
                <a:ext cx="9067800" cy="5334000"/>
              </a:xfrm>
              <a:blipFill>
                <a:blip r:embed="rId2"/>
                <a:stretch>
                  <a:fillRect l="-700" t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/>
              <p:nvPr/>
            </p:nvSpPr>
            <p:spPr>
              <a:xfrm>
                <a:off x="6533838" y="454454"/>
                <a:ext cx="933926" cy="951896"/>
              </a:xfrm>
              <a:prstGeom prst="roundRect">
                <a:avLst/>
              </a:prstGeom>
              <a:pattFill prst="pct20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3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838" y="454454"/>
                <a:ext cx="933926" cy="95189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/>
              <p:nvPr/>
            </p:nvSpPr>
            <p:spPr>
              <a:xfrm>
                <a:off x="8001000" y="457200"/>
                <a:ext cx="933926" cy="951896"/>
              </a:xfrm>
              <a:prstGeom prst="round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57200"/>
                <a:ext cx="933926" cy="9518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/>
              <p:nvPr/>
            </p:nvSpPr>
            <p:spPr>
              <a:xfrm>
                <a:off x="7467764" y="634766"/>
                <a:ext cx="5533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64" y="634766"/>
                <a:ext cx="553357" cy="553998"/>
              </a:xfrm>
              <a:prstGeom prst="rect">
                <a:avLst/>
              </a:prstGeom>
              <a:blipFill>
                <a:blip r:embed="rId5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0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2286000" y="3581400"/>
            <a:ext cx="4594860" cy="2351231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+mj-lt"/>
                <a:ea typeface="Cambria Math" panose="02040503050406030204" pitchFamily="18" charset="0"/>
              </a:rPr>
              <a:t>Concrete system</a:t>
            </a: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462772" cy="15240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Q. How does composition work with abstraction?</a:t>
            </a:r>
            <a:b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Q. When can we substitute an automaton with its abstraction or its refinement?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2893514" y="4185504"/>
            <a:ext cx="1342445" cy="1368275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24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4931864" y="4185504"/>
            <a:ext cx="1342445" cy="1368275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Controller</a:t>
            </a:r>
            <a:endParaRPr lang="en-US" sz="2100" b="1" i="1" dirty="0">
              <a:latin typeface="+mj-lt"/>
              <a:ea typeface="Cambria Math" panose="020405030504060302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4235959" y="4696182"/>
            <a:ext cx="695906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4235959" y="5189958"/>
            <a:ext cx="695906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561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2274570" y="2140759"/>
            <a:ext cx="4594860" cy="2351231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+mj-lt"/>
                <a:ea typeface="Cambria Math" panose="02040503050406030204" pitchFamily="18" charset="0"/>
              </a:rPr>
              <a:t>Abstract system</a:t>
            </a: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24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462772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Substituting an automaton with its abstraction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2882084" y="2744863"/>
            <a:ext cx="1342445" cy="1368275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24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4920434" y="4596861"/>
            <a:ext cx="1342445" cy="1368275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4224529" y="3255541"/>
            <a:ext cx="695906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4224529" y="3749317"/>
            <a:ext cx="695906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C97F79F-546C-554C-A12E-9C274C5324C0}"/>
              </a:ext>
            </a:extLst>
          </p:cNvPr>
          <p:cNvSpPr/>
          <p:nvPr/>
        </p:nvSpPr>
        <p:spPr>
          <a:xfrm>
            <a:off x="4920434" y="2744863"/>
            <a:ext cx="1342445" cy="1368275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</p:spTree>
    <p:extLst>
      <p:ext uri="{BB962C8B-B14F-4D97-AF65-F5344CB8AC3E}">
        <p14:creationId xmlns:p14="http://schemas.microsoft.com/office/powerpoint/2010/main" val="69726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462772" cy="994172"/>
          </a:xfrm>
        </p:spPr>
        <p:txBody>
          <a:bodyPr>
            <a:noAutofit/>
          </a:bodyPr>
          <a:lstStyle/>
          <a:p>
            <a:r>
              <a:rPr lang="en-US" sz="3600" dirty="0"/>
              <a:t>How is the abstract system related to the concrete system?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2968739" y="2204239"/>
            <a:ext cx="933926" cy="951896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BBDFA7-4D6B-3848-8B00-D40C4A02788A}"/>
              </a:ext>
            </a:extLst>
          </p:cNvPr>
          <p:cNvGrpSpPr/>
          <p:nvPr/>
        </p:nvGrpSpPr>
        <p:grpSpPr>
          <a:xfrm>
            <a:off x="4972050" y="4075183"/>
            <a:ext cx="2517529" cy="1288242"/>
            <a:chOff x="3032761" y="1711344"/>
            <a:chExt cx="6126479" cy="313497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983B053-D422-6149-919F-16C204A17455}"/>
                </a:ext>
              </a:extLst>
            </p:cNvPr>
            <p:cNvSpPr/>
            <p:nvPr/>
          </p:nvSpPr>
          <p:spPr>
            <a:xfrm>
              <a:off x="3032761" y="1711344"/>
              <a:ext cx="6126479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latin typeface="+mj-lt"/>
                  <a:ea typeface="Cambria Math" panose="02040503050406030204" pitchFamily="18" charset="0"/>
                </a:rPr>
                <a:t>Abstract system</a:t>
              </a:r>
            </a:p>
            <a:p>
              <a:pPr algn="ctr"/>
              <a:endParaRPr lang="en-US" sz="1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2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0FE79D2-5C9D-6844-A124-02C0263D24B2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1200" b="1" i="1" dirty="0">
                <a:latin typeface="+mj-lt"/>
                <a:ea typeface="Cambria Math" panose="02040503050406030204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14F3BA-0FCB-2443-BA9B-5BC81C46E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AE2ECA7-A386-5542-B1A6-42C706D93D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C97F79F-546C-554C-A12E-9C274C5324C0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i="1" dirty="0">
                  <a:latin typeface="+mj-lt"/>
                  <a:ea typeface="Cambria Math" panose="02040503050406030204" pitchFamily="18" charset="0"/>
                </a:rPr>
                <a:t>Abstract Controller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F3C945-4FE1-084C-8708-CDDBC23239A3}"/>
              </a:ext>
            </a:extLst>
          </p:cNvPr>
          <p:cNvGrpSpPr/>
          <p:nvPr/>
        </p:nvGrpSpPr>
        <p:grpSpPr>
          <a:xfrm>
            <a:off x="1587647" y="4081868"/>
            <a:ext cx="2517529" cy="1288242"/>
            <a:chOff x="3032760" y="1711344"/>
            <a:chExt cx="6126480" cy="313497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563559E-9A01-2F4D-8B5E-AACDE30810B6}"/>
                </a:ext>
              </a:extLst>
            </p:cNvPr>
            <p:cNvSpPr/>
            <p:nvPr/>
          </p:nvSpPr>
          <p:spPr>
            <a:xfrm>
              <a:off x="3032760" y="1711344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latin typeface="+mj-lt"/>
                  <a:ea typeface="Cambria Math" panose="02040503050406030204" pitchFamily="18" charset="0"/>
                </a:rPr>
                <a:t>Concrete system</a:t>
              </a:r>
            </a:p>
            <a:p>
              <a:pPr algn="ctr"/>
              <a:endParaRPr lang="en-US" sz="14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4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4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4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14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1F0B60A-59AB-8E46-A180-2D2D6F5340D4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1400" b="1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B4E58A8-138B-8B4C-8428-CD89805CFC02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i="1" dirty="0">
                  <a:latin typeface="+mj-lt"/>
                  <a:ea typeface="Cambria Math" panose="02040503050406030204" pitchFamily="18" charset="0"/>
                </a:rPr>
                <a:t>Controller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B24B4F-3F16-E042-B487-96E1E3023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B35953-9547-C845-B694-C5B3A52289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F5225A-F17B-654C-BC45-0C80427E88D2}"/>
              </a:ext>
            </a:extLst>
          </p:cNvPr>
          <p:cNvSpPr/>
          <p:nvPr/>
        </p:nvSpPr>
        <p:spPr>
          <a:xfrm>
            <a:off x="5198195" y="2138697"/>
            <a:ext cx="933926" cy="951896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/>
              <p:nvPr/>
            </p:nvSpPr>
            <p:spPr>
              <a:xfrm>
                <a:off x="4334207" y="2349187"/>
                <a:ext cx="5533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207" y="2349187"/>
                <a:ext cx="553357" cy="553998"/>
              </a:xfrm>
              <a:prstGeom prst="rect">
                <a:avLst/>
              </a:prstGeom>
              <a:blipFill>
                <a:blip r:embed="rId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/>
              <p:nvPr/>
            </p:nvSpPr>
            <p:spPr>
              <a:xfrm>
                <a:off x="4284817" y="4425599"/>
                <a:ext cx="55335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817" y="4425599"/>
                <a:ext cx="55335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E8A3672-0779-684F-9F4F-E9905CC26D0A}"/>
              </a:ext>
            </a:extLst>
          </p:cNvPr>
          <p:cNvSpPr txBox="1"/>
          <p:nvPr/>
        </p:nvSpPr>
        <p:spPr>
          <a:xfrm>
            <a:off x="1288956" y="2391646"/>
            <a:ext cx="10422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/>
              <a:t>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3CF35-15E3-6643-822A-3CAA33554F9C}"/>
              </a:ext>
            </a:extLst>
          </p:cNvPr>
          <p:cNvSpPr txBox="1"/>
          <p:nvPr/>
        </p:nvSpPr>
        <p:spPr>
          <a:xfrm>
            <a:off x="4088346" y="3228754"/>
            <a:ext cx="113204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/>
              <a:t>imply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EA4963-0D6B-4D4F-834A-221A0991D3D7}"/>
              </a:ext>
            </a:extLst>
          </p:cNvPr>
          <p:cNvSpPr txBox="1"/>
          <p:nvPr/>
        </p:nvSpPr>
        <p:spPr>
          <a:xfrm>
            <a:off x="7669221" y="4398331"/>
            <a:ext cx="38023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98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Substitutivity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B0F0"/>
                    </a:solidFill>
                  </a:rPr>
                  <a:t>Theorem 1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. </a:t>
                </a: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2 </a:t>
                </a:r>
                <a:r>
                  <a:rPr lang="en-US" sz="2400" dirty="0"/>
                  <a:t>and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2400" dirty="0"/>
                  <a:t> have the same external interface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2 </a:t>
                </a:r>
                <a:r>
                  <a:rPr lang="en-US" sz="2400" dirty="0"/>
                  <a:t>are compatible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24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2 </a:t>
                </a: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||</a:t>
                </a:r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2 </a:t>
                </a:r>
                <a:r>
                  <a:rPr lang="en-US" sz="2400" dirty="0"/>
                  <a:t>||</a:t>
                </a:r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Proof. Follows from the definition of composition and traces. Any enabled transition in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 is also an enabled transition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120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0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Substutivity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2. </a:t>
                </a: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HAs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are compatible with each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1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aseline="-250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Proof.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b="0" baseline="-25000" dirty="0">
                  <a:ea typeface="Cambria Math"/>
                </a:endParaRPr>
              </a:p>
              <a:p>
                <a:pPr marL="342900" lvl="1" indent="0">
                  <a:lnSpc>
                    <a:spcPct val="110000"/>
                  </a:lnSpc>
                  <a:buNone/>
                </a:pPr>
                <a:r>
                  <a:rPr lang="en-US" dirty="0"/>
                  <a:t>By transitivity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 </m:t>
                    </m:r>
                  </m:oMath>
                </a14:m>
                <a:r>
                  <a:rPr lang="en-US" dirty="0"/>
                  <a:t>relation </a:t>
                </a:r>
              </a:p>
              <a:p>
                <a:pPr marL="3429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1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873A-1519-FE4E-8943-61D7A098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 natural trace theorem for  compositions automata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F0"/>
                    </a:solidFill>
                  </a:rPr>
                  <a:t>Theorem 5.5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/>
                  <a:t>(from Theory of Timed I/O Automata by Lynch et. al.) </a:t>
                </a:r>
              </a:p>
              <a:p>
                <a:pPr marL="0" indent="0">
                  <a:buNone/>
                </a:pPr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||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 </a:t>
                </a:r>
                <a:r>
                  <a:rPr lang="en-US" sz="2000" dirty="0"/>
                  <a:t>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be the sets of input/output actions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 is exactly the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-sequences whose restrictions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baseline="-25000" dirty="0"/>
                  <a:t>2</a:t>
                </a:r>
                <a:r>
                  <a:rPr lang="en-US" sz="2000" dirty="0"/>
                  <a:t> are traces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and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</a:t>
                </a:r>
                <a:r>
                  <a:rPr lang="en-US" sz="2000" dirty="0"/>
                  <a:t> , respectively. That is, </a:t>
                </a:r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1800" dirty="0"/>
                  <a:t> = {</a:t>
                </a:r>
                <a:r>
                  <a:rPr lang="el-GR" sz="1800" dirty="0"/>
                  <a:t>β | β </a:t>
                </a:r>
                <a:r>
                  <a:rPr lang="en-US" sz="1800" dirty="0"/>
                  <a:t>is an E-sequence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/>
                              </a:rPr>
                              <m:t>Traces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sub>
                        </m:sSub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, </a:t>
                </a:r>
                <a:r>
                  <a:rPr lang="en-US" sz="1800" dirty="0" err="1"/>
                  <a:t>i</a:t>
                </a:r>
                <a:r>
                  <a:rPr lang="en-US" sz="1800" dirty="0"/>
                  <a:t> ∈ {1, 2}}.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617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07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Proof. Let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𝒜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ℬ</m:t>
                                </m:r>
                                <m:r>
                                  <a:rPr lang="en-US" i="1" baseline="-2500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𝛽</m:t>
                      </m:r>
                      <m:d>
                        <m:dPr>
                          <m:begChr m:val="⌈"/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Theorem 5.5 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 by assumption,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80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4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021001-6C90-A84D-8854-61F7BCED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Counter-example guided abstraction-refinement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84735B-28EF-714E-8E89-1D85C2C71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30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6B84-ADF2-7B4B-A18D-EBEB42D3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Counterexample guided abstraction refinement (CEGAR)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19B1-CC76-B243-9AF1-D4D018E0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general algorithmic framework  for automatically constructing and verifying property-specific abstractions </a:t>
            </a:r>
            <a:r>
              <a:rPr lang="en-US" dirty="0">
                <a:solidFill>
                  <a:srgbClr val="00B0F0"/>
                </a:solidFill>
              </a:rPr>
              <a:t>[Clarke:2000]</a:t>
            </a:r>
          </a:p>
          <a:p>
            <a:r>
              <a:rPr lang="en-US" dirty="0"/>
              <a:t>CEGAR has been applied to discrete automata, software, and hybrid systems </a:t>
            </a:r>
            <a:r>
              <a:rPr lang="en-US" dirty="0">
                <a:solidFill>
                  <a:srgbClr val="00B0F0"/>
                </a:solidFill>
              </a:rPr>
              <a:t>[Holzman 00,Ball 01, Alur 2006,Clarke 2003, Fehnker2005, Prabhakar 15, </a:t>
            </a:r>
            <a:r>
              <a:rPr lang="en-US" dirty="0" err="1">
                <a:solidFill>
                  <a:srgbClr val="00B0F0"/>
                </a:solidFill>
              </a:rPr>
              <a:t>Roohi</a:t>
            </a:r>
            <a:r>
              <a:rPr lang="en-US" dirty="0">
                <a:solidFill>
                  <a:srgbClr val="00B0F0"/>
                </a:solidFill>
              </a:rPr>
              <a:t> 17]</a:t>
            </a:r>
          </a:p>
          <a:p>
            <a:r>
              <a:rPr lang="en-US" dirty="0"/>
              <a:t>We will discuss  the basic idea of the CEGAR and the key design choices, and their implications.</a:t>
            </a:r>
          </a:p>
        </p:txBody>
      </p:sp>
    </p:spTree>
    <p:extLst>
      <p:ext uri="{BB962C8B-B14F-4D97-AF65-F5344CB8AC3E}">
        <p14:creationId xmlns:p14="http://schemas.microsoft.com/office/powerpoint/2010/main" val="2995687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129937C-A51F-964F-8257-53F04B668C86}"/>
              </a:ext>
            </a:extLst>
          </p:cNvPr>
          <p:cNvGrpSpPr/>
          <p:nvPr/>
        </p:nvGrpSpPr>
        <p:grpSpPr>
          <a:xfrm>
            <a:off x="657225" y="1038591"/>
            <a:ext cx="3686174" cy="4828809"/>
            <a:chOff x="876300" y="1422400"/>
            <a:chExt cx="4013653" cy="52578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FBED412-E6FA-0049-8887-E9D0A75B25EC}"/>
                </a:ext>
              </a:extLst>
            </p:cNvPr>
            <p:cNvSpPr/>
            <p:nvPr/>
          </p:nvSpPr>
          <p:spPr>
            <a:xfrm>
              <a:off x="876300" y="1422400"/>
              <a:ext cx="24384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dirty="0"/>
                <a:t>Start with coarse abstraction </a:t>
              </a:r>
              <a:r>
                <a:rPr lang="en-US" sz="1500" b="1" dirty="0"/>
                <a:t>B</a:t>
              </a:r>
              <a:r>
                <a:rPr lang="en-US" sz="1500" b="1" baseline="-25000" dirty="0"/>
                <a:t>0</a:t>
              </a:r>
            </a:p>
          </p:txBody>
        </p:sp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1A3D8B95-DA69-1147-BFB3-1D9856BC3FD3}"/>
                </a:ext>
              </a:extLst>
            </p:cNvPr>
            <p:cNvSpPr/>
            <p:nvPr/>
          </p:nvSpPr>
          <p:spPr>
            <a:xfrm>
              <a:off x="914400" y="2628900"/>
              <a:ext cx="23749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dirty="0"/>
                <a:t>Check </a:t>
              </a:r>
              <a:r>
                <a:rPr lang="en-US" sz="1500" b="1" dirty="0"/>
                <a:t>B</a:t>
              </a:r>
              <a:r>
                <a:rPr lang="en-US" sz="1500" b="1" baseline="-25000" dirty="0"/>
                <a:t>i</a:t>
              </a:r>
              <a:r>
                <a:rPr lang="en-US" sz="1500" dirty="0"/>
                <a:t> satisfies </a:t>
              </a:r>
              <a:r>
                <a:rPr lang="en-US" sz="1500" b="1" dirty="0"/>
                <a:t>S </a:t>
              </a:r>
              <a:r>
                <a:rPr lang="en-US" sz="1500" dirty="0"/>
                <a:t>?</a:t>
              </a:r>
              <a:endParaRPr lang="en-US" sz="1500" b="1" baseline="-25000" dirty="0"/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1F889584-68CF-274C-A3BE-6F3DFB215D86}"/>
                </a:ext>
              </a:extLst>
            </p:cNvPr>
            <p:cNvSpPr/>
            <p:nvPr/>
          </p:nvSpPr>
          <p:spPr>
            <a:xfrm>
              <a:off x="889000" y="4254500"/>
              <a:ext cx="24130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dirty="0">
                  <a:sym typeface="Symbol"/>
                </a:rPr>
                <a:t> </a:t>
              </a:r>
              <a:r>
                <a:rPr lang="en-US" sz="1500" dirty="0"/>
                <a:t>counter-example for </a:t>
              </a:r>
              <a:r>
                <a:rPr lang="en-US" sz="1500" b="1" dirty="0"/>
                <a:t>A</a:t>
              </a:r>
              <a:r>
                <a:rPr lang="en-US" sz="1500" dirty="0"/>
                <a:t>?</a:t>
              </a:r>
              <a:endParaRPr lang="en-US" sz="1500" b="1" baseline="-25000" dirty="0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D4A51E7-B419-DA4A-861E-04698B27BEA6}"/>
                </a:ext>
              </a:extLst>
            </p:cNvPr>
            <p:cNvSpPr/>
            <p:nvPr/>
          </p:nvSpPr>
          <p:spPr>
            <a:xfrm>
              <a:off x="914400" y="5918200"/>
              <a:ext cx="23622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dirty="0"/>
                <a:t>Refine </a:t>
              </a:r>
              <a:r>
                <a:rPr lang="en-US" sz="1500" b="1" dirty="0"/>
                <a:t>B</a:t>
              </a:r>
              <a:r>
                <a:rPr lang="en-US" sz="1500" b="1" baseline="-25000" dirty="0"/>
                <a:t>i</a:t>
              </a:r>
              <a:r>
                <a:rPr lang="en-US" sz="1500" b="1" dirty="0"/>
                <a:t> </a:t>
              </a:r>
              <a:r>
                <a:rPr lang="en-US" sz="1500" dirty="0"/>
                <a:t>to get </a:t>
              </a:r>
              <a:r>
                <a:rPr lang="en-US" sz="1500" b="1" dirty="0"/>
                <a:t>B</a:t>
              </a:r>
              <a:r>
                <a:rPr lang="en-US" sz="1500" b="1" baseline="-25000" dirty="0"/>
                <a:t>i+1</a:t>
              </a:r>
            </a:p>
          </p:txBody>
        </p: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90DCF74-BBBF-E249-B8D7-C6067E070E29}"/>
                </a:ext>
              </a:extLst>
            </p:cNvPr>
            <p:cNvCxnSpPr>
              <a:cxnSpLocks noChangeShapeType="1"/>
              <a:stCxn id="7" idx="1"/>
              <a:endCxn id="4" idx="1"/>
            </p:cNvCxnSpPr>
            <p:nvPr/>
          </p:nvCxnSpPr>
          <p:spPr bwMode="auto">
            <a:xfrm rot="10800000">
              <a:off x="876300" y="1803400"/>
              <a:ext cx="38100" cy="4495800"/>
            </a:xfrm>
            <a:prstGeom prst="bentConnector3">
              <a:avLst>
                <a:gd name="adj1" fmla="val 1280000"/>
              </a:avLst>
            </a:prstGeom>
            <a:noFill/>
            <a:ln w="38100" algn="ctr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BF958840-443C-3F4C-A346-A10481C0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925" y="3879850"/>
              <a:ext cx="1576457" cy="351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>
                  <a:sym typeface="Symbol" pitchFamily="-64" charset="2"/>
                </a:rPr>
                <a:t> = q</a:t>
              </a:r>
              <a:r>
                <a:rPr lang="en-US" sz="1500" baseline="-25000">
                  <a:sym typeface="Symbol" pitchFamily="-64" charset="2"/>
                </a:rPr>
                <a:t>0</a:t>
              </a:r>
              <a:r>
                <a:rPr lang="en-US" sz="1500">
                  <a:sym typeface="Symbol" pitchFamily="-64" charset="2"/>
                </a:rPr>
                <a:t> q</a:t>
              </a:r>
              <a:r>
                <a:rPr lang="en-US" sz="1500" baseline="-25000">
                  <a:sym typeface="Symbol" pitchFamily="-64" charset="2"/>
                </a:rPr>
                <a:t>1</a:t>
              </a:r>
              <a:r>
                <a:rPr lang="en-US" sz="1500">
                  <a:sym typeface="Symbol" pitchFamily="-64" charset="2"/>
                </a:rPr>
                <a:t> q</a:t>
              </a:r>
              <a:r>
                <a:rPr lang="en-US" sz="1500" baseline="-25000">
                  <a:sym typeface="Symbol" pitchFamily="-64" charset="2"/>
                </a:rPr>
                <a:t>2</a:t>
              </a:r>
              <a:r>
                <a:rPr lang="en-US" sz="1500">
                  <a:sym typeface="Symbol" pitchFamily="-64" charset="2"/>
                </a:rPr>
                <a:t> … q</a:t>
              </a:r>
              <a:r>
                <a:rPr lang="en-US" sz="1500" baseline="-25000">
                  <a:sym typeface="Symbol" pitchFamily="-64" charset="2"/>
                </a:rPr>
                <a:t>n</a:t>
              </a:r>
              <a:endParaRPr lang="en-US" sz="1500" baseline="-250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815213-961D-F643-87FA-B8E1268C0796}"/>
                </a:ext>
              </a:extLst>
            </p:cNvPr>
            <p:cNvCxnSpPr>
              <a:cxnSpLocks noChangeShapeType="1"/>
              <a:stCxn id="4" idx="2"/>
              <a:endCxn id="5" idx="0"/>
            </p:cNvCxnSpPr>
            <p:nvPr/>
          </p:nvCxnSpPr>
          <p:spPr bwMode="auto">
            <a:xfrm rot="16200000" flipH="1">
              <a:off x="1876425" y="2403475"/>
              <a:ext cx="4445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2E1341-0307-724B-A6F5-5424F959A8F7}"/>
                </a:ext>
              </a:extLst>
            </p:cNvPr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5400000">
              <a:off x="1920875" y="4073525"/>
              <a:ext cx="3556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E2D75B6-C912-7E46-8B72-4300F615910C}"/>
                </a:ext>
              </a:extLst>
            </p:cNvPr>
            <p:cNvCxnSpPr>
              <a:cxnSpLocks noChangeShapeType="1"/>
              <a:stCxn id="6" idx="2"/>
              <a:endCxn id="7" idx="0"/>
            </p:cNvCxnSpPr>
            <p:nvPr/>
          </p:nvCxnSpPr>
          <p:spPr bwMode="auto">
            <a:xfrm rot="5400000">
              <a:off x="1898651" y="5721350"/>
              <a:ext cx="393700" cy="31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1721DF-6474-1A4C-BC96-ED9B60D08436}"/>
                </a:ext>
              </a:extLst>
            </p:cNvPr>
            <p:cNvCxnSpPr>
              <a:cxnSpLocks noChangeShapeType="1"/>
              <a:stCxn id="5" idx="3"/>
              <a:endCxn id="14" idx="2"/>
            </p:cNvCxnSpPr>
            <p:nvPr/>
          </p:nvCxnSpPr>
          <p:spPr bwMode="auto">
            <a:xfrm>
              <a:off x="3289299" y="3263900"/>
              <a:ext cx="55959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7011D3-732D-A240-8F80-DAE166ED73B7}"/>
                </a:ext>
              </a:extLst>
            </p:cNvPr>
            <p:cNvSpPr/>
            <p:nvPr/>
          </p:nvSpPr>
          <p:spPr>
            <a:xfrm>
              <a:off x="3848893" y="2917824"/>
              <a:ext cx="1041060" cy="69215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b="1" dirty="0"/>
                <a:t>A</a:t>
              </a:r>
              <a:r>
                <a:rPr lang="en-US" sz="1500" dirty="0"/>
                <a:t> is safe</a:t>
              </a:r>
            </a:p>
          </p:txBody>
        </p:sp>
        <p:sp>
          <p:nvSpPr>
            <p:cNvPr id="15" name="TextBox 49">
              <a:extLst>
                <a:ext uri="{FF2B5EF4-FFF2-40B4-BE49-F238E27FC236}">
                  <a16:creationId xmlns:a16="http://schemas.microsoft.com/office/drawing/2014/main" id="{4A4F7EA9-6C0A-4A4E-9170-C5720CE0D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438" y="2873375"/>
              <a:ext cx="474055" cy="351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/>
                <a:t>Yes</a:t>
              </a:r>
            </a:p>
          </p:txBody>
        </p:sp>
        <p:sp>
          <p:nvSpPr>
            <p:cNvPr id="16" name="TextBox 50">
              <a:extLst>
                <a:ext uri="{FF2B5EF4-FFF2-40B4-BE49-F238E27FC236}">
                  <a16:creationId xmlns:a16="http://schemas.microsoft.com/office/drawing/2014/main" id="{836E0A55-CF4B-D348-9B0B-FA833C6F4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325" y="3894138"/>
              <a:ext cx="445429" cy="351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/>
                <a:t>No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E66E19-0ACF-074D-A802-8253BC4157E1}"/>
                </a:ext>
              </a:extLst>
            </p:cNvPr>
            <p:cNvSpPr/>
            <p:nvPr/>
          </p:nvSpPr>
          <p:spPr>
            <a:xfrm>
              <a:off x="3817938" y="4541838"/>
              <a:ext cx="1072015" cy="693737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500" b="1" dirty="0"/>
                <a:t>A</a:t>
              </a:r>
              <a:r>
                <a:rPr lang="en-US" sz="1500" dirty="0"/>
                <a:t> unsafe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232F87-F466-C246-B0A7-A630B9659EF6}"/>
                </a:ext>
              </a:extLst>
            </p:cNvPr>
            <p:cNvCxnSpPr>
              <a:cxnSpLocks noChangeShapeType="1"/>
              <a:stCxn id="6" idx="3"/>
              <a:endCxn id="17" idx="2"/>
            </p:cNvCxnSpPr>
            <p:nvPr/>
          </p:nvCxnSpPr>
          <p:spPr bwMode="auto">
            <a:xfrm flipV="1">
              <a:off x="3302001" y="4888707"/>
              <a:ext cx="515938" cy="79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9" name="TextBox 55">
              <a:extLst>
                <a:ext uri="{FF2B5EF4-FFF2-40B4-BE49-F238E27FC236}">
                  <a16:creationId xmlns:a16="http://schemas.microsoft.com/office/drawing/2014/main" id="{3F4C4461-B45D-584B-A42C-6802B6F9E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663" y="4511675"/>
              <a:ext cx="474055" cy="351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/>
                <a:t>Yes</a:t>
              </a:r>
            </a:p>
          </p:txBody>
        </p: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46178A12-7577-7F4A-8587-29D6B372B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075" y="5516563"/>
              <a:ext cx="445429" cy="351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/>
                <a:t>No</a:t>
              </a:r>
            </a:p>
          </p:txBody>
        </p:sp>
      </p:grpSp>
      <p:sp>
        <p:nvSpPr>
          <p:cNvPr id="22" name="Title 5">
            <a:extLst>
              <a:ext uri="{FF2B5EF4-FFF2-40B4-BE49-F238E27FC236}">
                <a16:creationId xmlns:a16="http://schemas.microsoft.com/office/drawing/2014/main" id="{F75E9478-795B-3245-808F-CF51FC80407E}"/>
              </a:ext>
            </a:extLst>
          </p:cNvPr>
          <p:cNvSpPr txBox="1">
            <a:spLocks/>
          </p:cNvSpPr>
          <p:nvPr/>
        </p:nvSpPr>
        <p:spPr>
          <a:xfrm>
            <a:off x="4806435" y="2139554"/>
            <a:ext cx="3704153" cy="2139553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/>
              <a:t>Idea of CEGAR</a:t>
            </a:r>
          </a:p>
        </p:txBody>
      </p:sp>
    </p:spTree>
    <p:extLst>
      <p:ext uri="{BB962C8B-B14F-4D97-AF65-F5344CB8AC3E}">
        <p14:creationId xmlns:p14="http://schemas.microsoft.com/office/powerpoint/2010/main" val="1115890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B17C-E0ED-B243-808E-5747394F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8FFB-0F73-1544-947D-F8F121CCC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of the abstract automata (finite, timed, linear)</a:t>
            </a:r>
          </a:p>
          <a:p>
            <a:r>
              <a:rPr lang="en-US" dirty="0"/>
              <a:t>Model checker for abstract automaton</a:t>
            </a:r>
          </a:p>
          <a:p>
            <a:r>
              <a:rPr lang="en-US" dirty="0"/>
              <a:t>Counter-example validation procedure</a:t>
            </a:r>
          </a:p>
          <a:p>
            <a:r>
              <a:rPr lang="en-US" dirty="0"/>
              <a:t>Refinement strategy</a:t>
            </a:r>
          </a:p>
        </p:txBody>
      </p:sp>
    </p:spTree>
    <p:extLst>
      <p:ext uri="{BB962C8B-B14F-4D97-AF65-F5344CB8AC3E}">
        <p14:creationId xmlns:p14="http://schemas.microsoft.com/office/powerpoint/2010/main" val="1071893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9">
            <a:extLst>
              <a:ext uri="{FF2B5EF4-FFF2-40B4-BE49-F238E27FC236}">
                <a16:creationId xmlns:a16="http://schemas.microsoft.com/office/drawing/2014/main" id="{2D9F7530-91FC-6E4F-A637-0460AAD2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183" y="1401702"/>
            <a:ext cx="5161823" cy="479665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E25FD5-CAEC-204F-AFE0-AC808DA728CB}"/>
              </a:ext>
            </a:extLst>
          </p:cNvPr>
          <p:cNvGraphicFramePr>
            <a:graphicFrameLocks noGrp="1"/>
          </p:cNvGraphicFramePr>
          <p:nvPr/>
        </p:nvGraphicFramePr>
        <p:xfrm>
          <a:off x="1523999" y="1396999"/>
          <a:ext cx="5155950" cy="33914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15595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31349604-F57C-4441-99FB-21FD14359886}"/>
              </a:ext>
            </a:extLst>
          </p:cNvPr>
          <p:cNvGrpSpPr/>
          <p:nvPr/>
        </p:nvGrpSpPr>
        <p:grpSpPr>
          <a:xfrm>
            <a:off x="1672580" y="2286175"/>
            <a:ext cx="4816550" cy="2094277"/>
            <a:chOff x="2832951" y="1959528"/>
            <a:chExt cx="5345112" cy="2324100"/>
          </a:xfrm>
        </p:grpSpPr>
        <p:sp>
          <p:nvSpPr>
            <p:cNvPr id="4" name="Oval 127">
              <a:extLst>
                <a:ext uri="{FF2B5EF4-FFF2-40B4-BE49-F238E27FC236}">
                  <a16:creationId xmlns:a16="http://schemas.microsoft.com/office/drawing/2014/main" id="{2635F9CB-2268-4D4A-946C-B85A82D4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" name="Line 128">
              <a:extLst>
                <a:ext uri="{FF2B5EF4-FFF2-40B4-BE49-F238E27FC236}">
                  <a16:creationId xmlns:a16="http://schemas.microsoft.com/office/drawing/2014/main" id="{165E9D23-D49F-AF47-B754-D3CD7D328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" name="Line 129">
              <a:extLst>
                <a:ext uri="{FF2B5EF4-FFF2-40B4-BE49-F238E27FC236}">
                  <a16:creationId xmlns:a16="http://schemas.microsoft.com/office/drawing/2014/main" id="{34061FD7-4E72-4C4F-94D2-46A7D765B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grpSp>
          <p:nvGrpSpPr>
            <p:cNvPr id="7" name="Group 130">
              <a:extLst>
                <a:ext uri="{FF2B5EF4-FFF2-40B4-BE49-F238E27FC236}">
                  <a16:creationId xmlns:a16="http://schemas.microsoft.com/office/drawing/2014/main" id="{6F37BA39-B7B7-D645-B56B-77F4A5F7A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8" name="Oval 131">
                <a:extLst>
                  <a:ext uri="{FF2B5EF4-FFF2-40B4-BE49-F238E27FC236}">
                    <a16:creationId xmlns:a16="http://schemas.microsoft.com/office/drawing/2014/main" id="{2CF09052-5AD5-E94B-8758-07568264B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9" name="Line 132">
                <a:extLst>
                  <a:ext uri="{FF2B5EF4-FFF2-40B4-BE49-F238E27FC236}">
                    <a16:creationId xmlns:a16="http://schemas.microsoft.com/office/drawing/2014/main" id="{43CDD12A-392F-B44E-814B-C1FD3B607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10" name="Line 133">
                <a:extLst>
                  <a:ext uri="{FF2B5EF4-FFF2-40B4-BE49-F238E27FC236}">
                    <a16:creationId xmlns:a16="http://schemas.microsoft.com/office/drawing/2014/main" id="{1F794BB2-FA98-7E42-A1C3-2F6B474B5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11" name="Oval 135">
              <a:extLst>
                <a:ext uri="{FF2B5EF4-FFF2-40B4-BE49-F238E27FC236}">
                  <a16:creationId xmlns:a16="http://schemas.microsoft.com/office/drawing/2014/main" id="{65CBFBE5-234E-A24B-8AD3-B191A5E61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2" name="Line 136">
              <a:extLst>
                <a:ext uri="{FF2B5EF4-FFF2-40B4-BE49-F238E27FC236}">
                  <a16:creationId xmlns:a16="http://schemas.microsoft.com/office/drawing/2014/main" id="{351EC032-E04E-0143-8948-FA8B1E3AF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3" name="Line 137">
              <a:extLst>
                <a:ext uri="{FF2B5EF4-FFF2-40B4-BE49-F238E27FC236}">
                  <a16:creationId xmlns:a16="http://schemas.microsoft.com/office/drawing/2014/main" id="{6AE8B8B6-FC21-5242-9B0B-CB4C228BA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5" name="Oval 144">
              <a:extLst>
                <a:ext uri="{FF2B5EF4-FFF2-40B4-BE49-F238E27FC236}">
                  <a16:creationId xmlns:a16="http://schemas.microsoft.com/office/drawing/2014/main" id="{4F0D6567-1BD6-3849-A0AA-946C1940F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409" y="3192112"/>
                <a:ext cx="198912" cy="145019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5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0409" y="3192112"/>
                <a:ext cx="198912" cy="145019"/>
              </a:xfrm>
              <a:prstGeom prst="rect">
                <a:avLst/>
              </a:prstGeom>
              <a:blipFill>
                <a:blip r:embed="rId2"/>
                <a:stretch>
                  <a:fillRect t="-8333" r="-31250" b="-3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/>
              <p:nvPr/>
            </p:nvSpPr>
            <p:spPr>
              <a:xfrm>
                <a:off x="1502478" y="1480229"/>
                <a:ext cx="1010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478" y="1480229"/>
                <a:ext cx="101046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/>
              <p:nvPr/>
            </p:nvSpPr>
            <p:spPr>
              <a:xfrm>
                <a:off x="4038892" y="3341312"/>
                <a:ext cx="595035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892" y="3341312"/>
                <a:ext cx="595035" cy="300082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/>
              <p:nvPr/>
            </p:nvSpPr>
            <p:spPr>
              <a:xfrm>
                <a:off x="1464087" y="2787263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087" y="2787263"/>
                <a:ext cx="465448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48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A36FDA2-F6E9-6F41-BBD7-F54392ADF80B}"/>
              </a:ext>
            </a:extLst>
          </p:cNvPr>
          <p:cNvGraphicFramePr>
            <a:graphicFrameLocks noGrp="1"/>
          </p:cNvGraphicFramePr>
          <p:nvPr/>
        </p:nvGraphicFramePr>
        <p:xfrm>
          <a:off x="1513612" y="1396999"/>
          <a:ext cx="5155950" cy="33914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15595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1656874" y="2286175"/>
            <a:ext cx="4816550" cy="2094277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174" y="3192112"/>
                <a:ext cx="177971" cy="130878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5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5174" y="3192112"/>
                <a:ext cx="177971" cy="130878"/>
              </a:xfrm>
              <a:prstGeom prst="rect">
                <a:avLst/>
              </a:prstGeom>
              <a:blipFill>
                <a:blip r:embed="rId2"/>
                <a:stretch>
                  <a:fillRect t="-9091" r="-46667" b="-3636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1496370" y="1500297"/>
                <a:ext cx="1010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370" y="1500297"/>
                <a:ext cx="101046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1464087" y="2787263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087" y="2787263"/>
                <a:ext cx="465448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4038892" y="3341312"/>
                <a:ext cx="595035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892" y="3341312"/>
                <a:ext cx="595035" cy="300082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48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49">
            <a:extLst>
              <a:ext uri="{FF2B5EF4-FFF2-40B4-BE49-F238E27FC236}">
                <a16:creationId xmlns:a16="http://schemas.microsoft.com/office/drawing/2014/main" id="{2C7DAE97-9AF1-BA49-AABD-87E5EB90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83" y="1443808"/>
            <a:ext cx="5161823" cy="479665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C03E1-EC9E-4F46-B352-A5A5FF06BDE1}"/>
              </a:ext>
            </a:extLst>
          </p:cNvPr>
          <p:cNvGraphicFramePr>
            <a:graphicFrameLocks noGrp="1"/>
          </p:cNvGraphicFramePr>
          <p:nvPr/>
        </p:nvGraphicFramePr>
        <p:xfrm>
          <a:off x="294412" y="1439104"/>
          <a:ext cx="5155950" cy="33914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15595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515595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48449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5408" marR="25408" marT="12704" marB="12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437674" y="2328281"/>
            <a:ext cx="4816550" cy="2094277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974" y="3234218"/>
                <a:ext cx="177971" cy="130878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5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974" y="3234218"/>
                <a:ext cx="177971" cy="130878"/>
              </a:xfrm>
              <a:prstGeom prst="rect">
                <a:avLst/>
              </a:prstGeom>
              <a:blipFill>
                <a:blip r:embed="rId2"/>
                <a:stretch>
                  <a:fillRect t="-9091" r="-46667" b="-4545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277170" y="1542403"/>
                <a:ext cx="1010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135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0" y="1542403"/>
                <a:ext cx="101046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244887" y="2829369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87" y="2829369"/>
                <a:ext cx="465448" cy="369332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2819692" y="3383418"/>
                <a:ext cx="595035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92" y="3383418"/>
                <a:ext cx="595035" cy="300082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/>
              <p:nvPr/>
            </p:nvSpPr>
            <p:spPr>
              <a:xfrm>
                <a:off x="283991" y="2388477"/>
                <a:ext cx="4601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91" y="2388477"/>
                <a:ext cx="460126" cy="369332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/>
              <p:nvPr/>
            </p:nvSpPr>
            <p:spPr>
              <a:xfrm>
                <a:off x="1317892" y="1958106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892" y="1958106"/>
                <a:ext cx="46544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/>
              <p:nvPr/>
            </p:nvSpPr>
            <p:spPr>
              <a:xfrm>
                <a:off x="1302083" y="1496353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083" y="1496353"/>
                <a:ext cx="465448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Freeform 77">
            <a:extLst>
              <a:ext uri="{FF2B5EF4-FFF2-40B4-BE49-F238E27FC236}">
                <a16:creationId xmlns:a16="http://schemas.microsoft.com/office/drawing/2014/main" id="{C4B43E9C-8D4E-2E4F-ADAA-91EF6FF20147}"/>
              </a:ext>
            </a:extLst>
          </p:cNvPr>
          <p:cNvSpPr/>
          <p:nvPr/>
        </p:nvSpPr>
        <p:spPr>
          <a:xfrm>
            <a:off x="298982" y="1921543"/>
            <a:ext cx="1550222" cy="441107"/>
          </a:xfrm>
          <a:custGeom>
            <a:avLst/>
            <a:gdLst>
              <a:gd name="connsiteX0" fmla="*/ 1413876 w 2066962"/>
              <a:gd name="connsiteY0" fmla="*/ 0 h 959198"/>
              <a:gd name="connsiteX1" fmla="*/ 2066962 w 2066962"/>
              <a:gd name="connsiteY1" fmla="*/ 0 h 959198"/>
              <a:gd name="connsiteX2" fmla="*/ 2066962 w 2066962"/>
              <a:gd name="connsiteY2" fmla="*/ 55221 h 959198"/>
              <a:gd name="connsiteX3" fmla="*/ 2006732 w 2066962"/>
              <a:gd name="connsiteY3" fmla="*/ 65829 h 959198"/>
              <a:gd name="connsiteX4" fmla="*/ 33720 w 2066962"/>
              <a:gd name="connsiteY4" fmla="*/ 927516 h 959198"/>
              <a:gd name="connsiteX5" fmla="*/ 0 w 2066962"/>
              <a:gd name="connsiteY5" fmla="*/ 959198 h 959198"/>
              <a:gd name="connsiteX6" fmla="*/ 0 w 2066962"/>
              <a:gd name="connsiteY6" fmla="*/ 458550 h 959198"/>
              <a:gd name="connsiteX7" fmla="*/ 55790 w 2066962"/>
              <a:gd name="connsiteY7" fmla="*/ 429010 h 959198"/>
              <a:gd name="connsiteX8" fmla="*/ 1335520 w 2066962"/>
              <a:gd name="connsiteY8" fmla="*/ 13801 h 959198"/>
              <a:gd name="connsiteX9" fmla="*/ 1413876 w 2066962"/>
              <a:gd name="connsiteY9" fmla="*/ 0 h 95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66962" h="959198">
                <a:moveTo>
                  <a:pt x="1413876" y="0"/>
                </a:moveTo>
                <a:lnTo>
                  <a:pt x="2066962" y="0"/>
                </a:lnTo>
                <a:lnTo>
                  <a:pt x="2066962" y="55221"/>
                </a:lnTo>
                <a:lnTo>
                  <a:pt x="2006732" y="65829"/>
                </a:lnTo>
                <a:cubicBezTo>
                  <a:pt x="1163807" y="237398"/>
                  <a:pt x="467573" y="543185"/>
                  <a:pt x="33720" y="927516"/>
                </a:cubicBezTo>
                <a:lnTo>
                  <a:pt x="0" y="959198"/>
                </a:lnTo>
                <a:lnTo>
                  <a:pt x="0" y="458550"/>
                </a:lnTo>
                <a:lnTo>
                  <a:pt x="55790" y="429010"/>
                </a:lnTo>
                <a:cubicBezTo>
                  <a:pt x="420076" y="253706"/>
                  <a:pt x="853849" y="111840"/>
                  <a:pt x="1335520" y="13801"/>
                </a:cubicBezTo>
                <a:lnTo>
                  <a:pt x="141387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/>
              <p:nvPr/>
            </p:nvSpPr>
            <p:spPr>
              <a:xfrm>
                <a:off x="301271" y="1958582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1" y="1958582"/>
                <a:ext cx="465448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/>
              <p:nvPr/>
            </p:nvSpPr>
            <p:spPr>
              <a:xfrm>
                <a:off x="810597" y="1958107"/>
                <a:ext cx="465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97" y="1958107"/>
                <a:ext cx="465448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/>
              <p:nvPr/>
            </p:nvSpPr>
            <p:spPr>
              <a:xfrm>
                <a:off x="5529094" y="1683016"/>
                <a:ext cx="3510705" cy="13017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=∅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094" y="1683016"/>
                <a:ext cx="3510705" cy="1301703"/>
              </a:xfrm>
              <a:prstGeom prst="rect">
                <a:avLst/>
              </a:prstGeom>
              <a:blipFill>
                <a:blip r:embed="rId11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1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43B62B-EACB-0348-8512-C1782820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hybrid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77AFC3-D54F-304B-AC16-69BE5DE09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85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IO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153386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In addition to interaction through shared actions hybrid input/output automata (HIOA) will allow interaction through </a:t>
                </a:r>
                <a:r>
                  <a:rPr lang="en-US" sz="1800" dirty="0">
                    <a:solidFill>
                      <a:srgbClr val="00B0F0"/>
                    </a:solidFill>
                  </a:rPr>
                  <a:t>shared variables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Recall a hybrid automaton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We will partition the set of variables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of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800" dirty="0"/>
                  <a:t> into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F0"/>
                    </a:solidFill>
                  </a:rPr>
                  <a:t>internal or state variables</a:t>
                </a:r>
                <a:r>
                  <a:rPr lang="en-US" sz="1800" dirty="0"/>
                  <a:t> (do not interact)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F0"/>
                    </a:solidFill>
                  </a:rPr>
                  <a:t>output</a:t>
                </a:r>
                <a:r>
                  <a:rPr lang="en-US" sz="1800" dirty="0"/>
                  <a:t> variables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F0"/>
                    </a:solidFill>
                  </a:rPr>
                  <a:t>input</a:t>
                </a:r>
                <a:r>
                  <a:rPr lang="en-US" sz="1800" dirty="0"/>
                  <a:t>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800" dirty="0"/>
                  <a:t>This gives rise to </a:t>
                </a:r>
                <a:r>
                  <a:rPr lang="en-US" sz="1800" b="1" dirty="0">
                    <a:solidFill>
                      <a:srgbClr val="00B0F0"/>
                    </a:solidFill>
                  </a:rPr>
                  <a:t>hybrid I/O automata (HIOA) </a:t>
                </a:r>
                <a:r>
                  <a:rPr lang="en-US" sz="1800" b="1" dirty="0"/>
                  <a:t>[Lynch, </a:t>
                </a:r>
                <a:r>
                  <a:rPr lang="en-US" sz="1800" b="1" dirty="0" err="1"/>
                  <a:t>Segala</a:t>
                </a:r>
                <a:r>
                  <a:rPr lang="en-US" sz="1800" b="1" dirty="0"/>
                  <a:t>, </a:t>
                </a:r>
                <a:r>
                  <a:rPr lang="en-US" sz="1800" b="1" dirty="0" err="1"/>
                  <a:t>Vaandrager</a:t>
                </a:r>
                <a:r>
                  <a:rPr lang="en-US" sz="1800" b="1" dirty="0"/>
                  <a:t> 2002]</a:t>
                </a:r>
                <a:endParaRPr lang="en-US" sz="1800" dirty="0">
                  <a:solidFill>
                    <a:srgbClr val="00B0F0"/>
                  </a:solidFill>
                </a:endParaRPr>
              </a:p>
              <a:p>
                <a:endParaRPr lang="en-US" sz="1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153386" cy="4525963"/>
              </a:xfrm>
              <a:blipFill>
                <a:blip r:embed="rId2"/>
                <a:stretch>
                  <a:fillRect l="-985" t="-560" r="-985" b="-16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867400" y="2971800"/>
                <a:ext cx="2209800" cy="1828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Plant</a:t>
                </a:r>
                <a:endParaRPr lang="en-US" b="0" dirty="0"/>
              </a:p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971800"/>
                <a:ext cx="2209800" cy="182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67400" y="5207280"/>
                <a:ext cx="2209800" cy="13760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Controller</a:t>
                </a:r>
              </a:p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5207280"/>
                <a:ext cx="2209800" cy="1376081"/>
              </a:xfrm>
              <a:prstGeom prst="rect">
                <a:avLst/>
              </a:prstGeom>
              <a:blipFill>
                <a:blip r:embed="rId4"/>
                <a:stretch>
                  <a:fillRect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lbow Connector 6"/>
          <p:cNvCxnSpPr>
            <a:cxnSpLocks/>
            <a:stCxn id="5" idx="1"/>
            <a:endCxn id="4" idx="1"/>
          </p:cNvCxnSpPr>
          <p:nvPr/>
        </p:nvCxnSpPr>
        <p:spPr>
          <a:xfrm rot="10800000">
            <a:off x="5867400" y="3886201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cxnSpLocks/>
            <a:stCxn id="4" idx="3"/>
            <a:endCxn id="5" idx="3"/>
          </p:cNvCxnSpPr>
          <p:nvPr/>
        </p:nvCxnSpPr>
        <p:spPr>
          <a:xfrm>
            <a:off x="8077200" y="3886200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294099" y="4837949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099" y="4837949"/>
                <a:ext cx="462434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195300" y="4800600"/>
                <a:ext cx="4677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300" y="4800600"/>
                <a:ext cx="467757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57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E382-65C1-D947-AF7E-88B83E9E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69332"/>
          </a:xfrm>
        </p:spPr>
        <p:txBody>
          <a:bodyPr>
            <a:normAutofit fontScale="90000"/>
          </a:bodyPr>
          <a:lstStyle/>
          <a:p>
            <a:r>
              <a:rPr lang="en-US" dirty="0"/>
              <a:t>Reactivity: Input trajectory enabling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972F-119E-8347-905F-BEBD54B3E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762000"/>
                <a:ext cx="7086599" cy="59436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>
                    <a:latin typeface="+mj-lt"/>
                  </a:rPr>
                  <a:t>Consider a shared variable </a:t>
                </a:r>
                <a:r>
                  <a:rPr lang="en-US" sz="1600" b="1" dirty="0">
                    <a:latin typeface="+mj-lt"/>
                  </a:rPr>
                  <a:t>throttle</a:t>
                </a:r>
                <a:r>
                  <a:rPr lang="en-US" sz="1600" dirty="0">
                    <a:latin typeface="+mj-lt"/>
                  </a:rPr>
                  <a:t> controlled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and listened-to or read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b="1" dirty="0">
                    <a:latin typeface="+mj-lt"/>
                  </a:rPr>
                  <a:t>Input trajectory enabling </a:t>
                </a:r>
                <a:r>
                  <a:rPr lang="en-US" sz="1600" dirty="0">
                    <a:latin typeface="+mj-lt"/>
                  </a:rPr>
                  <a:t>ensures that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are composed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can react to any signal generated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>
                    <a:latin typeface="+mj-lt"/>
                  </a:rPr>
                  <a:t>If the trajectories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are defined by ordinary differential equations, then input enabling is guaranteed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+mj-lt"/>
                  </a:rPr>
                  <a:t> only generates piece-wise continuous signals (throttle)</a:t>
                </a:r>
                <a:endParaRPr lang="en-US" sz="160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600" b="1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b="1" dirty="0">
                    <a:latin typeface="+mj-lt"/>
                    <a:ea typeface="Cambria Math" panose="02040503050406030204" pitchFamily="18" charset="0"/>
                  </a:rPr>
                  <a:t>Definition</a:t>
                </a:r>
                <a:r>
                  <a:rPr lang="en-US" sz="1600" dirty="0">
                    <a:latin typeface="+mj-lt"/>
                    <a:ea typeface="Cambria Math" panose="02040503050406030204" pitchFamily="18" charset="0"/>
                  </a:rPr>
                  <a:t>. An </a:t>
                </a:r>
                <a:r>
                  <a:rPr lang="en-US" sz="1600" b="1" dirty="0">
                    <a:solidFill>
                      <a:srgbClr val="00B0F0"/>
                    </a:solidFill>
                    <a:latin typeface="+mj-lt"/>
                    <a:ea typeface="Cambria Math" panose="02040503050406030204" pitchFamily="18" charset="0"/>
                  </a:rPr>
                  <a:t>hybrid input/output automaton</a:t>
                </a:r>
                <a:r>
                  <a:rPr lang="en-US" sz="1600" dirty="0">
                    <a:solidFill>
                      <a:srgbClr val="00B0F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+mj-lt"/>
                    <a:ea typeface="Cambria Math" panose="02040503050406030204" pitchFamily="18" charset="0"/>
                  </a:rPr>
                  <a:t>is a tuple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𝓓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 dirty="0">
                    <a:latin typeface="+mj-lt"/>
                  </a:rPr>
                  <a:t> where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00B0F0"/>
                    </a:solidFill>
                    <a:latin typeface="+mj-lt"/>
                  </a:rPr>
                  <a:t> </a:t>
                </a:r>
                <a:r>
                  <a:rPr lang="en-US" sz="1600" dirty="0">
                    <a:latin typeface="+mj-lt"/>
                  </a:rPr>
                  <a:t>is a set of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+mj-lt"/>
                  </a:rPr>
                  <a:t> is the set of initial states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00B0F0"/>
                    </a:solidFill>
                    <a:latin typeface="+mj-lt"/>
                  </a:rPr>
                  <a:t> </a:t>
                </a:r>
                <a:r>
                  <a:rPr lang="en-US" sz="1600" dirty="0">
                    <a:latin typeface="+mj-lt"/>
                  </a:rPr>
                  <a:t>is a set of actions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 dirty="0">
                    <a:latin typeface="+mj-lt"/>
                  </a:rPr>
                  <a:t> is the set of transitions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1600" dirty="0">
                    <a:latin typeface="+mj-lt"/>
                  </a:rPr>
                  <a:t> is a set of trajectories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600" dirty="0">
                    <a:latin typeface="+mj-lt"/>
                  </a:rPr>
                  <a:t> closed under prefix, suffix, and concatenation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b="1" dirty="0">
                    <a:latin typeface="+mj-lt"/>
                  </a:rPr>
                  <a:t>E1. </a:t>
                </a:r>
                <a:r>
                  <a:rPr lang="en-US" sz="1600" dirty="0">
                    <a:latin typeface="+mj-lt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600" b="1" dirty="0">
                    <a:latin typeface="+mj-lt"/>
                  </a:rPr>
                  <a:t> </a:t>
                </a:r>
                <a:r>
                  <a:rPr lang="en-US" sz="1600" dirty="0">
                    <a:latin typeface="+mj-lt"/>
                  </a:rPr>
                  <a:t>there exists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 b="1" dirty="0">
                    <a:latin typeface="+mj-lt"/>
                  </a:rPr>
                  <a:t> </a:t>
                </a:r>
                <a:r>
                  <a:rPr lang="en-US" sz="1600" dirty="0"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600" b="1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b="1" dirty="0">
                    <a:solidFill>
                      <a:srgbClr val="FF0000"/>
                    </a:solidFill>
                  </a:rPr>
                  <a:t>E2. </a:t>
                </a:r>
                <a:r>
                  <a:rPr lang="en-US" sz="1600" dirty="0">
                    <a:solidFill>
                      <a:srgbClr val="FF0000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should be able to react to any trajectory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 err="1">
                    <a:solidFill>
                      <a:srgbClr val="FF0000"/>
                    </a:solidFill>
                  </a:rPr>
                  <a:t>i.e</a:t>
                </a:r>
                <a:r>
                  <a:rPr lang="en-US" sz="16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↓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is a prefix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and  either (a)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↓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or  (b)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is closed and some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is enabled 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𝑙𝑠𝑡𝑎𝑡𝑒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972F-119E-8347-905F-BEBD54B3E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762000"/>
                <a:ext cx="7086599" cy="5943600"/>
              </a:xfrm>
              <a:blipFill>
                <a:blip r:embed="rId2"/>
                <a:stretch>
                  <a:fillRect l="-538" r="-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8B0C5E-5184-494D-8280-BF8B1DEE84F9}"/>
                  </a:ext>
                </a:extLst>
              </p:cNvPr>
              <p:cNvSpPr/>
              <p:nvPr/>
            </p:nvSpPr>
            <p:spPr>
              <a:xfrm>
                <a:off x="7445377" y="1600200"/>
                <a:ext cx="1219200" cy="11430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0" dirty="0">
                    <a:latin typeface="Calibri" panose="020F0502020204030204" pitchFamily="34" charset="0"/>
                    <a:ea typeface="Cambria Math" panose="02040503050406030204" pitchFamily="18" charset="0"/>
                  </a:rPr>
                  <a:t>Controller</a:t>
                </a:r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8B0C5E-5184-494D-8280-BF8B1DEE8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377" y="1600200"/>
                <a:ext cx="1219200" cy="1143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BC38334-79CD-7E46-B0CD-BF2E76EE7969}"/>
                  </a:ext>
                </a:extLst>
              </p:cNvPr>
              <p:cNvSpPr/>
              <p:nvPr/>
            </p:nvSpPr>
            <p:spPr>
              <a:xfrm>
                <a:off x="7445377" y="3801035"/>
                <a:ext cx="1219200" cy="11430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ea typeface="Cambria Math" panose="02040503050406030204" pitchFamily="18" charset="0"/>
                  </a:rPr>
                  <a:t>Vehicle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BC38334-79CD-7E46-B0CD-BF2E76EE7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377" y="3801035"/>
                <a:ext cx="1219200" cy="1143000"/>
              </a:xfrm>
              <a:prstGeom prst="roundRect">
                <a:avLst/>
              </a:prstGeom>
              <a:blipFill>
                <a:blip r:embed="rId4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8D5C46-CF49-164B-9C77-E31615A2BD1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8054977" y="2743200"/>
            <a:ext cx="0" cy="1057835"/>
          </a:xfrm>
          <a:prstGeom prst="straightConnector1">
            <a:avLst/>
          </a:prstGeom>
          <a:ln w="28575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B16F6E-ED0F-0E40-8804-6560D17E8208}"/>
                  </a:ext>
                </a:extLst>
              </p:cNvPr>
              <p:cNvSpPr/>
              <p:nvPr/>
            </p:nvSpPr>
            <p:spPr>
              <a:xfrm>
                <a:off x="8107136" y="3088665"/>
                <a:ext cx="10633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𝑡h𝑟𝑜𝑡𝑡𝑙𝑒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B16F6E-ED0F-0E40-8804-6560D17E8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136" y="3088665"/>
                <a:ext cx="10633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09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Compatibility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1065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j-lt"/>
                  </a:rPr>
                  <a:t>For the interaction of hybrid automata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>
                    <a:latin typeface="+mj-lt"/>
                  </a:rPr>
                  <a:t>1  </a:t>
                </a:r>
                <a:r>
                  <a:rPr lang="en-US" sz="28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>
                    <a:latin typeface="+mj-lt"/>
                  </a:rPr>
                  <a:t>2 </a:t>
                </a:r>
                <a:r>
                  <a:rPr lang="en-US" sz="2800" dirty="0">
                    <a:latin typeface="+mj-lt"/>
                  </a:rPr>
                  <a:t>to be well-defined we need to ensure that they have the right </a:t>
                </a:r>
                <a:r>
                  <a:rPr lang="en-US" sz="2800" i="1" dirty="0">
                    <a:solidFill>
                      <a:srgbClr val="00B0F0"/>
                    </a:solidFill>
                    <a:latin typeface="+mj-lt"/>
                  </a:rPr>
                  <a:t>interfaces</a:t>
                </a:r>
              </a:p>
              <a:p>
                <a:endParaRPr lang="en-US" sz="2800" i="1" dirty="0">
                  <a:solidFill>
                    <a:srgbClr val="00B0F0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j-lt"/>
                    <a:sym typeface="Wingdings" panose="05000000000000000000" pitchFamily="2" charset="2"/>
                  </a:rPr>
                  <a:t>Compatibility conditions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106596" cy="4525963"/>
              </a:xfrm>
              <a:blipFill>
                <a:blip r:embed="rId2"/>
                <a:stretch>
                  <a:fillRect l="-2730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5867400" y="2133600"/>
            <a:ext cx="3207945" cy="2063086"/>
            <a:chOff x="5250255" y="1518314"/>
            <a:chExt cx="3207945" cy="2063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5265345" y="1981200"/>
                  <a:ext cx="1219200" cy="114300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0" dirty="0">
                      <a:latin typeface="Calibri" panose="020F0502020204030204" pitchFamily="34" charset="0"/>
                      <a:ea typeface="Cambria Math" panose="02040503050406030204" pitchFamily="18" charset="0"/>
                    </a:rPr>
                    <a:t>Controller</a:t>
                  </a:r>
                </a:p>
                <a:p>
                  <a:pPr algn="ctr"/>
                  <a:endPara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  <a:p>
                  <a:pPr algn="ctr"/>
                  <a:endParaRPr lang="en-US" sz="1600" dirty="0"/>
                </a:p>
                <a:p>
                  <a:pPr algn="ctr"/>
                  <a:endParaRPr lang="en-US" sz="1600" dirty="0"/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345" y="1981200"/>
                  <a:ext cx="1219200" cy="1143000"/>
                </a:xfrm>
                <a:prstGeom prst="roundRect">
                  <a:avLst/>
                </a:prstGeom>
                <a:blipFill rotWithShape="0">
                  <a:blip r:embed="rId3"/>
                  <a:stretch>
                    <a:fillRect t="-78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7239000" y="1981200"/>
                  <a:ext cx="1219200" cy="114300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>
                      <a:ea typeface="Cambria Math" panose="02040503050406030204" pitchFamily="18" charset="0"/>
                    </a:rPr>
                    <a:t>Vehicle</a:t>
                  </a:r>
                </a:p>
                <a:p>
                  <a:pPr algn="ctr"/>
                  <a:endPara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1981200"/>
                  <a:ext cx="1219200" cy="1143000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 t="-36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6477000" y="2286000"/>
              <a:ext cx="762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330210" y="2153583"/>
                  <a:ext cx="103592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/>
                    <a:t>Output</a:t>
                  </a:r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𝑎𝑐𝑐𝑒𝑙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210" y="2153583"/>
                  <a:ext cx="1035925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588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7239000" y="2147499"/>
                  <a:ext cx="92050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/>
                    <a:t>Input</a:t>
                  </a:r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𝑎𝑐𝑐𝑒𝑙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2147499"/>
                  <a:ext cx="920508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662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6476443" y="1943072"/>
                  <a:ext cx="77065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𝑎𝑐𝑐𝑒𝑙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6443" y="1943072"/>
                  <a:ext cx="770659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5250255" y="2514051"/>
              <a:ext cx="3134668" cy="492247"/>
              <a:chOff x="5250255" y="2514051"/>
              <a:chExt cx="3134668" cy="492247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>
                <a:off x="6484545" y="2819400"/>
                <a:ext cx="754455" cy="0"/>
              </a:xfrm>
              <a:prstGeom prst="straightConnector1">
                <a:avLst/>
              </a:prstGeom>
              <a:ln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435211" y="2514051"/>
                    <a:ext cx="818879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𝑏𝑟𝑎𝑘𝑒𝑂𝑛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Rectangle 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5211" y="2514051"/>
                    <a:ext cx="818879" cy="276999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5250255" y="2729299"/>
                    <a:ext cx="127894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/>
                      <a:t>Output</a:t>
                    </a:r>
                    <a:r>
                      <a:rPr lang="en-US" sz="12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𝑏𝑟𝑎𝑘𝑒𝑂𝑛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0255" y="2729299"/>
                    <a:ext cx="1278940" cy="276999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7221399" y="2729298"/>
                    <a:ext cx="116352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/>
                      <a:t>Input</a:t>
                    </a:r>
                    <a:r>
                      <a:rPr lang="en-US" sz="12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𝑏𝑟𝑎𝑘𝑒𝑂𝑛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1399" y="2729298"/>
                    <a:ext cx="1163524" cy="276999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l="-526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Arrow Connector 12"/>
            <p:cNvCxnSpPr/>
            <p:nvPr/>
          </p:nvCxnSpPr>
          <p:spPr>
            <a:xfrm flipV="1">
              <a:off x="5562600" y="3124200"/>
              <a:ext cx="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508938" y="1518314"/>
              <a:ext cx="24006" cy="457200"/>
            </a:xfrm>
            <a:prstGeom prst="straightConnector1">
              <a:avLst/>
            </a:prstGeom>
            <a:ln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8135502" y="1537899"/>
              <a:ext cx="24006" cy="457200"/>
            </a:xfrm>
            <a:prstGeom prst="straightConnector1">
              <a:avLst/>
            </a:prstGeom>
            <a:ln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7" idx="2"/>
              <a:endCxn id="6" idx="2"/>
            </p:cNvCxnSpPr>
            <p:nvPr/>
          </p:nvCxnSpPr>
          <p:spPr>
            <a:xfrm rot="5400000">
              <a:off x="6861773" y="2137373"/>
              <a:ext cx="12700" cy="1973655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432978" y="3075535"/>
                  <a:ext cx="78842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𝑝𝑜𝑠𝑖𝑡𝑖𝑜𝑛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978" y="3075535"/>
                  <a:ext cx="788421" cy="27699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909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FC90-FE22-314F-9732-2A22C52E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HIOA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E3596C5-7E1A-D746-B645-D975D40D5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6553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 pair of hybrid I/O automata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are compatible if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 	no unintended discrete interactions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b="0" dirty="0">
                    <a:solidFill>
                      <a:schemeClr val="bg1">
                        <a:lumMod val="65000"/>
                      </a:schemeClr>
                    </a:solidFill>
                    <a:ea typeface="Cambria Math" panose="02040503050406030204" pitchFamily="18" charset="0"/>
                  </a:rPr>
                  <a:t>	no duplication of discrete authority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	no unintended continuous interactions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no duplication of continuous authority</a:t>
                </a:r>
              </a:p>
              <a:p>
                <a:pPr marL="0" indent="0">
                  <a:buNone/>
                </a:pPr>
                <a:endParaRPr lang="en-US" sz="2000" b="0" dirty="0">
                  <a:solidFill>
                    <a:schemeClr val="bg1">
                      <a:lumMod val="6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Extended to collection of automata in the natural way and captures most common notions of composition in, for example, </a:t>
                </a:r>
                <a:r>
                  <a:rPr lang="en-US" sz="2000" dirty="0" err="1"/>
                  <a:t>Matlab</a:t>
                </a:r>
                <a:r>
                  <a:rPr lang="en-US" sz="2000" dirty="0"/>
                  <a:t>/Simulink	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E3596C5-7E1A-D746-B645-D975D40D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6553200" cy="4525963"/>
              </a:xfrm>
              <a:blipFill>
                <a:blip r:embed="rId2"/>
                <a:stretch>
                  <a:fillRect l="-969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28DB7162-AFD4-464F-A5CF-B0149056D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276" r="5918" b="9656"/>
          <a:stretch/>
        </p:blipFill>
        <p:spPr bwMode="auto">
          <a:xfrm>
            <a:off x="6096000" y="4907318"/>
            <a:ext cx="2826159" cy="1676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40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9530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For compatible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𝑈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 ,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i="1" dirty="0">
                  <a:solidFill>
                    <a:srgbClr val="00B0F0"/>
                  </a:solidFill>
                  <a:latin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𝑣𝑎𝑙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endParaRPr lang="en-US" b="0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:r>
                  <a:rPr lang="en-US" i="1" dirty="0" err="1">
                    <a:ea typeface="Cambria Math"/>
                  </a:rPr>
                  <a:t>iff</a:t>
                </a:r>
                <a:r>
                  <a:rPr lang="en-US" i="1" dirty="0">
                    <a:ea typeface="Cambria Math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∈{1,2}</m:t>
                    </m:r>
                  </m:oMath>
                </a14:m>
                <a:endParaRPr lang="en-US" i="1" dirty="0">
                  <a:ea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</m:oMath>
                </a14:m>
                <a:endParaRPr lang="en-US" b="0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rgbClr val="00B0F0"/>
                    </a:solidFill>
                  </a:rPr>
                  <a:t>: </a:t>
                </a:r>
                <a:r>
                  <a:rPr lang="en-US" dirty="0">
                    <a:solidFill>
                      <a:srgbClr val="00B0F0"/>
                    </a:solidFill>
                  </a:rPr>
                  <a:t>set of </a:t>
                </a:r>
                <a:r>
                  <a:rPr lang="en-US" b="1" dirty="0">
                    <a:solidFill>
                      <a:srgbClr val="00B0F0"/>
                    </a:solidFill>
                  </a:rPr>
                  <a:t>trajectories</a:t>
                </a:r>
                <a:r>
                  <a:rPr lang="en-US" dirty="0">
                    <a:solidFill>
                      <a:srgbClr val="00B0F0"/>
                    </a:solidFill>
                  </a:rPr>
                  <a:t> for V</a:t>
                </a:r>
                <a:r>
                  <a:rPr lang="en-US" i="1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𝜏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iff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baseline="-25000" dirty="0" err="1">
                    <a:solidFill>
                      <a:srgbClr val="00B0F0"/>
                    </a:solidFill>
                  </a:rPr>
                  <a:t>i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953000"/>
              </a:xfrm>
              <a:blipFill>
                <a:blip r:embed="rId3"/>
                <a:stretch>
                  <a:fillRect l="-1061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47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/>
              <p:nvPr/>
            </p:nvSpPr>
            <p:spPr>
              <a:xfrm>
                <a:off x="3399692" y="248134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692" y="248134"/>
                <a:ext cx="2675975" cy="1672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E8BEDB-0F03-384B-B08E-903EC5925AB7}"/>
              </a:ext>
            </a:extLst>
          </p:cNvPr>
          <p:cNvSpPr/>
          <p:nvPr/>
        </p:nvSpPr>
        <p:spPr>
          <a:xfrm>
            <a:off x="691145" y="2092876"/>
            <a:ext cx="2675975" cy="2727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D705BC-758F-9C48-A1ED-E5E298551D1D}"/>
              </a:ext>
            </a:extLst>
          </p:cNvPr>
          <p:cNvGrpSpPr/>
          <p:nvPr/>
        </p:nvGrpSpPr>
        <p:grpSpPr>
          <a:xfrm>
            <a:off x="1311480" y="2232503"/>
            <a:ext cx="1563324" cy="2462698"/>
            <a:chOff x="6830202" y="3738770"/>
            <a:chExt cx="533401" cy="3086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/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72FAB1-241F-364D-AC98-4095B549C7D3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CB81BA-A3CF-DE4C-807B-15985D9482D8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321B22-7B47-644E-AC72-41F83A8D6E7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829CB8-ED48-3446-BA38-6701245A10A0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7F51A193-355B-E34B-8FEC-FEFE57717997}"/>
                </a:ext>
              </a:extLst>
            </p:cNvPr>
            <p:cNvCxnSpPr>
              <a:cxnSpLocks/>
              <a:stCxn id="7" idx="2"/>
              <a:endCxn id="9" idx="2"/>
            </p:cNvCxnSpPr>
            <p:nvPr/>
          </p:nvCxnSpPr>
          <p:spPr>
            <a:xfrm rot="10800000" flipV="1">
              <a:off x="6830203" y="4005470"/>
              <a:ext cx="12700" cy="2552700"/>
            </a:xfrm>
            <a:prstGeom prst="curvedConnector3">
              <a:avLst>
                <a:gd name="adj1" fmla="val 993358"/>
              </a:avLst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/>
              <p:nvPr/>
            </p:nvSpPr>
            <p:spPr>
              <a:xfrm>
                <a:off x="6130750" y="2620308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750" y="2620308"/>
                <a:ext cx="2675975" cy="16726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/>
              <p:nvPr/>
            </p:nvSpPr>
            <p:spPr>
              <a:xfrm>
                <a:off x="3522245" y="4992483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245" y="4992483"/>
                <a:ext cx="2675975" cy="16726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94F59A-86CA-6648-A147-FD98ED57717F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3367120" y="1920736"/>
            <a:ext cx="1370560" cy="153587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CD5961-3CFF-0849-A0E2-AEFA35CC7C7D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3367120" y="3456609"/>
            <a:ext cx="276363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F44230-9FA0-9441-8860-54BF87FEEF94}"/>
              </a:ext>
            </a:extLst>
          </p:cNvPr>
          <p:cNvCxnSpPr>
            <a:cxnSpLocks/>
            <a:stCxn id="5" idx="3"/>
            <a:endCxn id="22" idx="0"/>
          </p:cNvCxnSpPr>
          <p:nvPr/>
        </p:nvCxnSpPr>
        <p:spPr>
          <a:xfrm>
            <a:off x="3367120" y="3456609"/>
            <a:ext cx="1493113" cy="153587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73E200A-F1F6-7340-BE4A-13BD514A2957}"/>
              </a:ext>
            </a:extLst>
          </p:cNvPr>
          <p:cNvSpPr txBox="1"/>
          <p:nvPr/>
        </p:nvSpPr>
        <p:spPr>
          <a:xfrm>
            <a:off x="1719322" y="27559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72C4DD-FAFA-8244-A2C0-E0B7C3873169}"/>
              </a:ext>
            </a:extLst>
          </p:cNvPr>
          <p:cNvSpPr txBox="1"/>
          <p:nvPr/>
        </p:nvSpPr>
        <p:spPr>
          <a:xfrm>
            <a:off x="4218842" y="2424962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DA1BB6-CFAE-FF44-945D-2DA2784DC840}"/>
              </a:ext>
            </a:extLst>
          </p:cNvPr>
          <p:cNvSpPr txBox="1"/>
          <p:nvPr/>
        </p:nvSpPr>
        <p:spPr>
          <a:xfrm>
            <a:off x="4695603" y="303205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0FE23-A8C1-774E-B0BE-519E1096E1B5}"/>
              </a:ext>
            </a:extLst>
          </p:cNvPr>
          <p:cNvSpPr txBox="1"/>
          <p:nvPr/>
        </p:nvSpPr>
        <p:spPr>
          <a:xfrm>
            <a:off x="3806873" y="42245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E4628C-7610-C14E-A5BC-C393E9D85DD5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flipH="1">
            <a:off x="2029133" y="1084435"/>
            <a:ext cx="1370559" cy="100844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56053A8-0518-A24E-AD97-83AF19F131CF}"/>
              </a:ext>
            </a:extLst>
          </p:cNvPr>
          <p:cNvSpPr txBox="1"/>
          <p:nvPr/>
        </p:nvSpPr>
        <p:spPr>
          <a:xfrm>
            <a:off x="2221933" y="134474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1CFDBD3-E253-174A-B01A-22B02C859D4E}"/>
              </a:ext>
            </a:extLst>
          </p:cNvPr>
          <p:cNvCxnSpPr>
            <a:cxnSpLocks/>
            <a:stCxn id="4" idx="1"/>
            <a:endCxn id="22" idx="0"/>
          </p:cNvCxnSpPr>
          <p:nvPr/>
        </p:nvCxnSpPr>
        <p:spPr>
          <a:xfrm>
            <a:off x="3399692" y="1084435"/>
            <a:ext cx="1460541" cy="390804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776CBB-6CAC-D841-B64B-D836C7C08386}"/>
              </a:ext>
            </a:extLst>
          </p:cNvPr>
          <p:cNvGrpSpPr/>
          <p:nvPr/>
        </p:nvGrpSpPr>
        <p:grpSpPr>
          <a:xfrm>
            <a:off x="7352691" y="2711906"/>
            <a:ext cx="910424" cy="1434187"/>
            <a:chOff x="6830202" y="3738770"/>
            <a:chExt cx="533401" cy="3086099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224079-A866-6A42-A0D8-B1764C88A816}"/>
                </a:ext>
              </a:extLst>
            </p:cNvPr>
            <p:cNvSpPr/>
            <p:nvPr/>
          </p:nvSpPr>
          <p:spPr>
            <a:xfrm>
              <a:off x="6830203" y="373877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0C9F593-4129-754F-AED0-8F3120BA57C7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23D888D-1FBC-0043-8B50-BD767B73B56A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425DB77-DD16-B14A-B9AA-F1CCB9ABA58B}"/>
                </a:ext>
              </a:extLst>
            </p:cNvPr>
            <p:cNvCxnSpPr>
              <a:stCxn id="55" idx="4"/>
              <a:endCxn id="56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70640EB-220F-6441-8AB2-663C536E596D}"/>
                </a:ext>
              </a:extLst>
            </p:cNvPr>
            <p:cNvCxnSpPr>
              <a:cxnSpLocks/>
              <a:stCxn id="56" idx="4"/>
              <a:endCxn id="57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30BF66E-A2EC-A14D-8158-2692C9A571BC}"/>
              </a:ext>
            </a:extLst>
          </p:cNvPr>
          <p:cNvSpPr txBox="1"/>
          <p:nvPr/>
        </p:nvSpPr>
        <p:spPr>
          <a:xfrm>
            <a:off x="3831331" y="200253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9FCD25F-E334-E346-B8D2-9727709E8181}"/>
              </a:ext>
            </a:extLst>
          </p:cNvPr>
          <p:cNvSpPr/>
          <p:nvPr/>
        </p:nvSpPr>
        <p:spPr>
          <a:xfrm>
            <a:off x="3306735" y="997940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0B113F0-2927-F042-90D6-B67A5AFC0EAD}"/>
              </a:ext>
            </a:extLst>
          </p:cNvPr>
          <p:cNvSpPr/>
          <p:nvPr/>
        </p:nvSpPr>
        <p:spPr>
          <a:xfrm>
            <a:off x="3286516" y="3370895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8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7" grpId="0"/>
      <p:bldP spid="6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under 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ea typeface="Cambria Math"/>
                  </a:rPr>
                  <a:t>Conjecture. The class of HIOA is closed under composition.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/>
                  <a:t>1</a:t>
                </a:r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/>
                  <a:t>2 </a:t>
                </a:r>
                <a:r>
                  <a:rPr lang="en-US" sz="2800" dirty="0"/>
                  <a:t>are compatible HIOA then </a:t>
                </a:r>
                <a:r>
                  <a:rPr lang="en-US" sz="2800" baseline="-250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/>
                  <a:t>1</a:t>
                </a:r>
                <a:r>
                  <a:rPr lang="en-US" sz="2800" dirty="0"/>
                  <a:t>||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800" baseline="-25000" dirty="0"/>
                  <a:t>2 </a:t>
                </a:r>
                <a:r>
                  <a:rPr lang="en-US" sz="2800" dirty="0"/>
                  <a:t>is also a HIOA.</a:t>
                </a:r>
              </a:p>
              <a:p>
                <a:r>
                  <a:rPr lang="en-US" sz="2800" dirty="0">
                    <a:latin typeface="Calibri" panose="020F0502020204030204" pitchFamily="34" charset="0"/>
                    <a:ea typeface="Cambria Math"/>
                  </a:rPr>
                  <a:t>Can we ensure that input trajectory enabled condition is satisfied in the composed automaton? </a:t>
                </a:r>
              </a:p>
              <a:p>
                <a:r>
                  <a:rPr lang="en-US" sz="2800" dirty="0">
                    <a:solidFill>
                      <a:srgbClr val="FF0000"/>
                    </a:solidFill>
                    <a:latin typeface="Calibri" panose="020F0502020204030204" pitchFamily="34" charset="0"/>
                    <a:ea typeface="Cambria Math"/>
                  </a:rPr>
                  <a:t>No, in general</a:t>
                </a:r>
              </a:p>
              <a:p>
                <a:pPr lvl="1"/>
                <a:r>
                  <a:rPr lang="en-US" sz="2400" dirty="0">
                    <a:latin typeface="Calibri" panose="020F0502020204030204" pitchFamily="34" charset="0"/>
                    <a:ea typeface="Cambria Math"/>
                  </a:rPr>
                  <a:t>Additional conditions are needed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16550" y="4329953"/>
                <a:ext cx="2209800" cy="9714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Plant</a:t>
                </a:r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1400" b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pPr algn="ctr"/>
                <a:r>
                  <a:rPr lang="en-US" sz="1400" b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50" y="4329953"/>
                <a:ext cx="2209800" cy="971458"/>
              </a:xfrm>
              <a:prstGeom prst="rect">
                <a:avLst/>
              </a:prstGeom>
              <a:blipFill rotWithShape="0">
                <a:blip r:embed="rId3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316550" y="5858525"/>
                <a:ext cx="2209800" cy="98602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/>
              </a:p>
              <a:p>
                <a:pPr algn="ctr"/>
                <a:r>
                  <a:rPr lang="en-US" sz="1400" b="0" dirty="0"/>
                  <a:t>Controller</a:t>
                </a:r>
              </a:p>
              <a:p>
                <a:pPr algn="ctr"/>
                <a:r>
                  <a:rPr lang="en-US" sz="1400" b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charset="0"/>
                          </a:rPr>
                          <m:t>p</m:t>
                        </m:r>
                      </m:sub>
                    </m:sSub>
                  </m:oMath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b="0" dirty="0"/>
              </a:p>
              <a:p>
                <a:pPr algn="ctr"/>
                <a:r>
                  <a:rPr lang="en-US" sz="1400" b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b="0" dirty="0"/>
              </a:p>
              <a:p>
                <a:pPr algn="ctr"/>
                <a:endParaRPr lang="en-US" sz="1400" b="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50" y="5858525"/>
                <a:ext cx="2209800" cy="986028"/>
              </a:xfrm>
              <a:prstGeom prst="rect">
                <a:avLst/>
              </a:prstGeom>
              <a:blipFill rotWithShape="0">
                <a:blip r:embed="rId4"/>
                <a:stretch>
                  <a:fillRect t="-1205" b="-6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>
            <a:stCxn id="5" idx="1"/>
            <a:endCxn id="4" idx="1"/>
          </p:cNvCxnSpPr>
          <p:nvPr/>
        </p:nvCxnSpPr>
        <p:spPr>
          <a:xfrm rot="10800000">
            <a:off x="6316550" y="4815683"/>
            <a:ext cx="12700" cy="153585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Elbow Connector 6"/>
          <p:cNvCxnSpPr>
            <a:stCxn id="4" idx="3"/>
            <a:endCxn id="5" idx="3"/>
          </p:cNvCxnSpPr>
          <p:nvPr/>
        </p:nvCxnSpPr>
        <p:spPr>
          <a:xfrm>
            <a:off x="8526350" y="4815682"/>
            <a:ext cx="12700" cy="153585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743249" y="5338760"/>
                <a:ext cx="400751" cy="3243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249" y="5338760"/>
                <a:ext cx="400751" cy="32438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644450" y="5301411"/>
                <a:ext cx="40466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50" y="5301411"/>
                <a:ext cx="40466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2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IO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5257800" cy="51816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In addition to interaction through shared actions will allow interaction through </a:t>
                </a:r>
                <a:r>
                  <a:rPr lang="en-US" dirty="0">
                    <a:solidFill>
                      <a:srgbClr val="00B0F0"/>
                    </a:solidFill>
                  </a:rPr>
                  <a:t>shared variables</a:t>
                </a:r>
              </a:p>
              <a:p>
                <a:r>
                  <a:rPr lang="en-US" dirty="0"/>
                  <a:t>Set of variables partitioned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Y </a:t>
                </a:r>
              </a:p>
              <a:p>
                <a:pPr lvl="1"/>
                <a:r>
                  <a:rPr lang="en-US" dirty="0"/>
                  <a:t>X: set of </a:t>
                </a:r>
                <a:r>
                  <a:rPr lang="en-US" dirty="0">
                    <a:solidFill>
                      <a:srgbClr val="00B0F0"/>
                    </a:solidFill>
                  </a:rPr>
                  <a:t>internal </a:t>
                </a:r>
                <a:r>
                  <a:rPr lang="en-US" dirty="0"/>
                  <a:t>variables (not involved in interactions)</a:t>
                </a:r>
              </a:p>
              <a:p>
                <a:pPr lvl="1"/>
                <a:r>
                  <a:rPr lang="en-US" dirty="0"/>
                  <a:t>Y: set of </a:t>
                </a:r>
                <a:r>
                  <a:rPr lang="en-US" dirty="0">
                    <a:solidFill>
                      <a:srgbClr val="00B0F0"/>
                    </a:solidFill>
                  </a:rPr>
                  <a:t>output</a:t>
                </a:r>
                <a:r>
                  <a:rPr lang="en-US" dirty="0"/>
                  <a:t> variables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lvl="1"/>
                <a:r>
                  <a:rPr lang="en-US" dirty="0"/>
                  <a:t>U: set of </a:t>
                </a:r>
                <a:r>
                  <a:rPr lang="en-US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 variables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lvl="1"/>
                <a:endParaRPr lang="en-US" dirty="0">
                  <a:solidFill>
                    <a:srgbClr val="00B0F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Note. Given a trajectory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say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valid trajectory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if for all t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↓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5257800" cy="5181600"/>
              </a:xfrm>
              <a:blipFill rotWithShape="0">
                <a:blip r:embed="rId2"/>
                <a:stretch>
                  <a:fillRect l="-1622" t="-2118" r="-2549" b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7465" y="2343058"/>
                <a:ext cx="2209800" cy="1905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Plant</a:t>
                </a:r>
                <a:endParaRPr lang="en-US" b="0" dirty="0"/>
              </a:p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b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b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465" y="2343058"/>
                <a:ext cx="2209800" cy="19050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167465" y="4495800"/>
                <a:ext cx="2209800" cy="1828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0" dirty="0"/>
              </a:p>
              <a:p>
                <a:pPr algn="ctr"/>
                <a:r>
                  <a:rPr lang="en-US" b="0" dirty="0"/>
                  <a:t>Controller</a:t>
                </a:r>
              </a:p>
              <a:p>
                <a:pPr algn="ctr"/>
                <a:endParaRPr lang="en-US" b="0" dirty="0"/>
              </a:p>
              <a:p>
                <a:pPr algn="ctr"/>
                <a:r>
                  <a:rPr lang="en-US" b="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p</m:t>
                        </m:r>
                      </m:sub>
                    </m:sSub>
                  </m:oMath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b="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algn="ctr"/>
                <a:endParaRPr lang="en-US" b="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465" y="4495800"/>
                <a:ext cx="2209800" cy="1828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lbow Connector 6"/>
          <p:cNvCxnSpPr>
            <a:stCxn id="5" idx="1"/>
            <a:endCxn id="4" idx="1"/>
          </p:cNvCxnSpPr>
          <p:nvPr/>
        </p:nvCxnSpPr>
        <p:spPr>
          <a:xfrm rot="10800000">
            <a:off x="6167465" y="3295558"/>
            <a:ext cx="12700" cy="211464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4" idx="3"/>
            <a:endCxn id="5" idx="3"/>
          </p:cNvCxnSpPr>
          <p:nvPr/>
        </p:nvCxnSpPr>
        <p:spPr>
          <a:xfrm>
            <a:off x="8377265" y="3295558"/>
            <a:ext cx="12700" cy="211464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594164" y="4285407"/>
                <a:ext cx="464551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164" y="4285407"/>
                <a:ext cx="464551" cy="390748"/>
              </a:xfrm>
              <a:prstGeom prst="rect">
                <a:avLst/>
              </a:prstGeom>
              <a:blipFill rotWithShape="0"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495365" y="4248058"/>
                <a:ext cx="4704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365" y="4248058"/>
                <a:ext cx="470449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97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2: Periodically Sending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609487" y="1600200"/>
                <a:ext cx="54864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PeriodicSend</a:t>
                </a:r>
                <a:r>
                  <a:rPr lang="en-US" sz="1800" dirty="0"/>
                  <a:t>(u)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variables internal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	</a:t>
                </a:r>
                <a:r>
                  <a:rPr lang="en-US" sz="1800" dirty="0">
                    <a:solidFill>
                      <a:srgbClr val="7030A0"/>
                    </a:solidFill>
                  </a:rPr>
                  <a:t>clock: Reals := 0, z:Reals, </a:t>
                </a:r>
                <a:r>
                  <a:rPr lang="en-US" sz="1800" dirty="0" err="1">
                    <a:solidFill>
                      <a:srgbClr val="7030A0"/>
                    </a:solidFill>
                  </a:rPr>
                  <a:t>failed:Boolean</a:t>
                </a:r>
                <a:r>
                  <a:rPr lang="en-US" sz="1800" dirty="0">
                    <a:solidFill>
                      <a:srgbClr val="7030A0"/>
                    </a:solidFill>
                  </a:rPr>
                  <a:t> := F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signature output </a:t>
                </a:r>
                <a:r>
                  <a:rPr lang="en-US" sz="1800" dirty="0"/>
                  <a:t>send(</a:t>
                </a:r>
                <a:r>
                  <a:rPr lang="en-US" sz="1800" dirty="0" err="1"/>
                  <a:t>m:Reals</a:t>
                </a:r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		</a:t>
                </a:r>
                <a:r>
                  <a:rPr lang="en-US" sz="1800" b="1" dirty="0"/>
                  <a:t>input</a:t>
                </a:r>
                <a:r>
                  <a:rPr lang="en-US" sz="1800" dirty="0"/>
                  <a:t> fail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transitions: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output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send(m)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pre </a:t>
                </a:r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clock = u /\ m = z /\ ~failed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</a:t>
                </a:r>
                <a:r>
                  <a:rPr lang="en-US" sz="1800" b="1" dirty="0" err="1"/>
                  <a:t>eff</a:t>
                </a:r>
                <a:r>
                  <a:rPr lang="en-US" sz="1800" b="1" dirty="0"/>
                  <a:t>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clock := 0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0000"/>
                    </a:solidFill>
                  </a:rPr>
                  <a:t>		</a:t>
                </a:r>
                <a:r>
                  <a:rPr lang="en-US" sz="1800" b="1" dirty="0"/>
                  <a:t>input</a:t>
                </a:r>
                <a:r>
                  <a:rPr lang="en-US" sz="1800" dirty="0">
                    <a:solidFill>
                      <a:srgbClr val="FF0000"/>
                    </a:solidFill>
                  </a:rPr>
                  <a:t> fail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pre </a:t>
                </a:r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true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</a:t>
                </a:r>
                <a:r>
                  <a:rPr lang="en-US" sz="1800" b="1" dirty="0" err="1"/>
                  <a:t>eff</a:t>
                </a:r>
                <a:r>
                  <a:rPr lang="en-US" sz="1800" b="1" dirty="0"/>
                  <a:t>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failed := T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trajectories: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evolve </a:t>
                </a:r>
                <a:r>
                  <a:rPr lang="en-US" sz="1800" dirty="0">
                    <a:solidFill>
                      <a:srgbClr val="00B050"/>
                    </a:solidFill>
                  </a:rPr>
                  <a:t>d(clock) = 1, d(z) = f(z)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	invariant </a:t>
                </a:r>
                <a:r>
                  <a:rPr lang="en-US" sz="1800" dirty="0">
                    <a:solidFill>
                      <a:srgbClr val="F62AF6"/>
                    </a:solidFill>
                  </a:rPr>
                  <a:t>failed \/ clock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62AF6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800" dirty="0">
                    <a:solidFill>
                      <a:srgbClr val="F62AF6"/>
                    </a:solidFill>
                  </a:rPr>
                  <a:t>u</a:t>
                </a:r>
                <a:endParaRPr lang="en-US" sz="1800" b="1" dirty="0">
                  <a:solidFill>
                    <a:srgbClr val="F62AF6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609487" y="1600200"/>
                <a:ext cx="5486400" cy="4525963"/>
              </a:xfrm>
              <a:blipFill rotWithShape="0">
                <a:blip r:embed="rId2"/>
                <a:stretch>
                  <a:fillRect l="-667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276819" y="3370958"/>
                <a:ext cx="1600200" cy="142964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 err="1"/>
                  <a:t>Loc</a:t>
                </a:r>
                <a:r>
                  <a:rPr lang="en-US" dirty="0"/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𝑐𝑙𝑜𝑐𝑘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400" b="0" i="1" dirty="0">
                  <a:solidFill>
                    <a:srgbClr val="00B050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>
                  <a:solidFill>
                    <a:srgbClr val="00B050"/>
                  </a:solidFill>
                </a:endParaRPr>
              </a:p>
              <a:p>
                <a:pPr algn="ctr"/>
                <a:r>
                  <a:rPr lang="en-US" sz="1400" b="1" dirty="0">
                    <a:solidFill>
                      <a:srgbClr val="F62AF6"/>
                    </a:solidFill>
                  </a:rPr>
                  <a:t>~failed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1400" b="1" i="1" smtClean="0">
                        <a:solidFill>
                          <a:srgbClr val="F62AF6"/>
                        </a:solidFill>
                        <a:latin typeface="Cambria Math"/>
                      </a:rPr>
                      <m:t>𝒄𝒍𝒐𝒄𝒌</m:t>
                    </m:r>
                    <m:r>
                      <a:rPr lang="en-US" sz="1400" b="1" i="1" smtClean="0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400" b="1" i="1" smtClean="0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𝒖</m:t>
                    </m:r>
                  </m:oMath>
                </a14:m>
                <a:endParaRPr lang="en-US" sz="1200" b="1" dirty="0">
                  <a:solidFill>
                    <a:srgbClr val="F62AF6"/>
                  </a:solidFill>
                </a:endParaRP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19" y="3370958"/>
                <a:ext cx="1600200" cy="1429642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076919" y="3014568"/>
            <a:ext cx="12700" cy="1131512"/>
          </a:xfrm>
          <a:prstGeom prst="curvedConnector3">
            <a:avLst>
              <a:gd name="adj1" fmla="val 58716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7274" y="1902202"/>
            <a:ext cx="270490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clock = u /\ m = z /\ ~failed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clock := 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743419" y="4085779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69812" y="4191000"/>
            <a:ext cx="1007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clock:= 0</a:t>
            </a:r>
          </a:p>
        </p:txBody>
      </p:sp>
      <p:cxnSp>
        <p:nvCxnSpPr>
          <p:cNvPr id="18" name="Curved Connector 17"/>
          <p:cNvCxnSpPr>
            <a:stCxn id="6" idx="3"/>
            <a:endCxn id="6" idx="5"/>
          </p:cNvCxnSpPr>
          <p:nvPr/>
        </p:nvCxnSpPr>
        <p:spPr>
          <a:xfrm rot="16200000" flipH="1">
            <a:off x="2076919" y="4025478"/>
            <a:ext cx="12700" cy="1131512"/>
          </a:xfrm>
          <a:prstGeom prst="curvedConnector3">
            <a:avLst>
              <a:gd name="adj1" fmla="val 6494701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556394" y="5055577"/>
            <a:ext cx="110030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fail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failed := 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1A65B3-90ED-4F42-995F-8FE59AE6E3CB}"/>
                  </a:ext>
                </a:extLst>
              </p14:cNvPr>
              <p14:cNvContentPartPr/>
              <p14:nvPr/>
            </p14:nvContentPartPr>
            <p14:xfrm>
              <a:off x="1936800" y="2514240"/>
              <a:ext cx="406800" cy="3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1A65B3-90ED-4F42-995F-8FE59AE6E3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440" y="2504880"/>
                <a:ext cx="425520" cy="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82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bounded channel &amp; Simple Failure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600200"/>
                <a:ext cx="4495800" cy="49530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</a:t>
                </a:r>
                <a:r>
                  <a:rPr lang="en-US" dirty="0"/>
                  <a:t>Timeout(</a:t>
                </a:r>
                <a:r>
                  <a:rPr lang="en-US" dirty="0" err="1"/>
                  <a:t>u,M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b="1" dirty="0"/>
                  <a:t>   variables: </a:t>
                </a:r>
                <a:r>
                  <a:rPr lang="en-US" dirty="0"/>
                  <a:t>suspected: Boolean := F,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</a:rPr>
                  <a:t>	clock: Reals := 0</a:t>
                </a:r>
              </a:p>
              <a:p>
                <a:pPr marL="0" indent="0">
                  <a:buNone/>
                </a:pPr>
                <a:r>
                  <a:rPr lang="en-US" b="1" dirty="0"/>
                  <a:t>   signature input </a:t>
                </a:r>
                <a:r>
                  <a:rPr lang="en-US" dirty="0"/>
                  <a:t>receive(</a:t>
                </a:r>
                <a:r>
                  <a:rPr lang="en-US" dirty="0" err="1"/>
                  <a:t>m:M</a:t>
                </a:r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output </a:t>
                </a:r>
                <a:r>
                  <a:rPr lang="en-US" dirty="0"/>
                  <a:t>timeout</a:t>
                </a:r>
              </a:p>
              <a:p>
                <a:pPr marL="0" indent="0">
                  <a:buNone/>
                </a:pPr>
                <a:r>
                  <a:rPr lang="en-US" b="1" dirty="0"/>
                  <a:t>   transitions: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input </a:t>
                </a:r>
                <a:r>
                  <a:rPr lang="en-US" dirty="0">
                    <a:solidFill>
                      <a:srgbClr val="FF0000"/>
                    </a:solidFill>
                  </a:rPr>
                  <a:t>receive(m)</a:t>
                </a:r>
              </a:p>
              <a:p>
                <a:pPr marL="0" indent="0">
                  <a:buNone/>
                </a:pPr>
                <a:r>
                  <a:rPr lang="en-US" b="1" dirty="0"/>
                  <a:t>        pre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true</a:t>
                </a:r>
              </a:p>
              <a:p>
                <a:pPr marL="0" indent="0">
                  <a:buNone/>
                </a:pPr>
                <a:r>
                  <a:rPr lang="en-US" b="1" dirty="0"/>
                  <a:t>        </a:t>
                </a:r>
                <a:r>
                  <a:rPr lang="en-US" b="1" dirty="0" err="1"/>
                  <a:t>eff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clock := 0; suspected := false;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    </a:t>
                </a:r>
                <a:r>
                  <a:rPr lang="en-US" b="1" dirty="0"/>
                  <a:t>output </a:t>
                </a:r>
                <a:r>
                  <a:rPr lang="en-US" dirty="0">
                    <a:solidFill>
                      <a:srgbClr val="FF0000"/>
                    </a:solidFill>
                  </a:rPr>
                  <a:t>timeout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        </a:t>
                </a:r>
                <a:r>
                  <a:rPr lang="en-US" b="1" dirty="0"/>
                  <a:t>pre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~suspected /\ clock = u</a:t>
                </a:r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        </a:t>
                </a:r>
                <a:r>
                  <a:rPr lang="en-US" b="1" dirty="0" err="1"/>
                  <a:t>eff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suspected := true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  </a:t>
                </a:r>
                <a:r>
                  <a:rPr lang="en-US" b="1" dirty="0"/>
                  <a:t>trajectories: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evolve </a:t>
                </a:r>
                <a:r>
                  <a:rPr lang="en-US" dirty="0">
                    <a:solidFill>
                      <a:srgbClr val="00B050"/>
                    </a:solidFill>
                  </a:rPr>
                  <a:t>d(clock) = 1</a:t>
                </a:r>
              </a:p>
              <a:p>
                <a:pPr marL="0" indent="0">
                  <a:buNone/>
                </a:pPr>
                <a:r>
                  <a:rPr lang="en-US" b="1" dirty="0"/>
                  <a:t>        invariant </a:t>
                </a:r>
                <a:r>
                  <a:rPr lang="en-US" dirty="0">
                    <a:solidFill>
                      <a:srgbClr val="F62AF6"/>
                    </a:solidFill>
                    <a:latin typeface="Cambria Math"/>
                    <a:ea typeface="Cambria Math"/>
                  </a:rPr>
                  <a:t>clock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62AF6"/>
                        </a:solidFill>
                        <a:latin typeface="Cambria Math" panose="02040503050406030204" pitchFamily="18" charset="0"/>
                        <a:ea typeface="Cambria Math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62AF6"/>
                    </a:solidFill>
                    <a:latin typeface="Cambria Math"/>
                    <a:ea typeface="Cambria Math"/>
                  </a:rPr>
                  <a:t> u \/ suspected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600200"/>
                <a:ext cx="4495800" cy="4953000"/>
              </a:xfrm>
              <a:blipFill rotWithShape="0">
                <a:blip r:embed="rId2"/>
                <a:stretch>
                  <a:fillRect l="-1355" t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5257800" cy="51054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</a:t>
                </a:r>
                <a:r>
                  <a:rPr lang="en-US" dirty="0"/>
                  <a:t>Channel(</a:t>
                </a:r>
                <a:r>
                  <a:rPr lang="en-US" dirty="0" err="1"/>
                  <a:t>b,M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b="1" dirty="0"/>
                  <a:t>   variables internal </a:t>
                </a:r>
                <a:r>
                  <a:rPr lang="en-US" dirty="0"/>
                  <a:t>queue: </a:t>
                </a:r>
                <a:r>
                  <a:rPr lang="en-US" b="1" dirty="0"/>
                  <a:t>Queue</a:t>
                </a:r>
                <a:r>
                  <a:rPr lang="en-US" dirty="0"/>
                  <a:t>[</a:t>
                </a:r>
                <a:r>
                  <a:rPr lang="en-US" dirty="0" err="1"/>
                  <a:t>M,Reals</a:t>
                </a:r>
                <a:r>
                  <a:rPr lang="en-US" dirty="0"/>
                  <a:t>] := {}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	</a:t>
                </a:r>
                <a:r>
                  <a:rPr lang="en-US" dirty="0">
                    <a:solidFill>
                      <a:srgbClr val="7030A0"/>
                    </a:solidFill>
                  </a:rPr>
                  <a:t>clock: Reals := 0</a:t>
                </a:r>
              </a:p>
              <a:p>
                <a:pPr marL="0" indent="0">
                  <a:buNone/>
                </a:pPr>
                <a:r>
                  <a:rPr lang="en-US" b="1" dirty="0"/>
                  <a:t>   signature input </a:t>
                </a:r>
                <a:r>
                  <a:rPr lang="en-US" dirty="0"/>
                  <a:t>send(</a:t>
                </a:r>
                <a:r>
                  <a:rPr lang="en-US" dirty="0" err="1"/>
                  <a:t>m:M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output</a:t>
                </a:r>
                <a:r>
                  <a:rPr lang="en-US" dirty="0"/>
                  <a:t> receive(</a:t>
                </a:r>
                <a:r>
                  <a:rPr lang="en-US" dirty="0" err="1"/>
                  <a:t>m:M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b="1" dirty="0"/>
                  <a:t>   transitions: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input </a:t>
                </a:r>
                <a:r>
                  <a:rPr lang="en-US" dirty="0">
                    <a:solidFill>
                      <a:srgbClr val="FF0000"/>
                    </a:solidFill>
                  </a:rPr>
                  <a:t>send(m)</a:t>
                </a:r>
              </a:p>
              <a:p>
                <a:pPr marL="0" indent="0">
                  <a:buNone/>
                </a:pPr>
                <a:r>
                  <a:rPr lang="en-US" b="1" dirty="0"/>
                  <a:t>        pre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true</a:t>
                </a:r>
              </a:p>
              <a:p>
                <a:pPr marL="0" indent="0">
                  <a:buNone/>
                </a:pPr>
                <a:r>
                  <a:rPr lang="en-US" b="1" dirty="0"/>
                  <a:t>        </a:t>
                </a:r>
                <a:r>
                  <a:rPr lang="en-US" b="1" dirty="0" err="1"/>
                  <a:t>eff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queue := append(&lt;m,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clock+b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&gt;, queue)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    </a:t>
                </a:r>
                <a:r>
                  <a:rPr lang="en-US" b="1" dirty="0"/>
                  <a:t>output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receive(m)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        </a:t>
                </a:r>
                <a:r>
                  <a:rPr lang="en-US" b="1" dirty="0"/>
                  <a:t>pre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mbria Math"/>
                    <a:ea typeface="Cambria Math"/>
                  </a:rPr>
                  <a:t>head(queue)[1]=m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/>
                      </a:rPr>
                      <m:t>∧ 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mbria Math"/>
                    <a:ea typeface="Cambria Math"/>
                  </a:rPr>
                  <a:t>	head(queue)[2]=clock</a:t>
                </a:r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        </a:t>
                </a:r>
                <a:r>
                  <a:rPr lang="en-US" b="1" dirty="0" err="1"/>
                  <a:t>eff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queue :=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queue.tail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  </a:t>
                </a:r>
                <a:r>
                  <a:rPr lang="en-US" b="1" dirty="0"/>
                  <a:t>trajectories: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evolve </a:t>
                </a:r>
                <a:r>
                  <a:rPr lang="en-US" dirty="0">
                    <a:solidFill>
                      <a:srgbClr val="00B050"/>
                    </a:solidFill>
                  </a:rPr>
                  <a:t>d(clock) = 1</a:t>
                </a:r>
              </a:p>
              <a:p>
                <a:pPr marL="0" indent="0">
                  <a:buNone/>
                </a:pPr>
                <a:r>
                  <a:rPr lang="en-US" b="1" dirty="0"/>
                  <a:t>        invariant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62AF6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>
                    <a:solidFill>
                      <a:srgbClr val="F62AF6"/>
                    </a:solidFill>
                    <a:latin typeface="Cambria Math"/>
                    <a:ea typeface="Cambria Math"/>
                  </a:rPr>
                  <a:t>&lt;</a:t>
                </a:r>
                <a:r>
                  <a:rPr lang="en-US" dirty="0" err="1">
                    <a:solidFill>
                      <a:srgbClr val="F62AF6"/>
                    </a:solidFill>
                    <a:latin typeface="Cambria Math"/>
                    <a:ea typeface="Cambria Math"/>
                  </a:rPr>
                  <a:t>m,d</a:t>
                </a:r>
                <a:r>
                  <a:rPr lang="en-US" dirty="0">
                    <a:solidFill>
                      <a:srgbClr val="F62AF6"/>
                    </a:solidFill>
                    <a:latin typeface="Cambria Math"/>
                    <a:ea typeface="Cambria Math"/>
                  </a:rPr>
                  <a:t>&gt;∈ queue: </a:t>
                </a:r>
                <a:r>
                  <a:rPr lang="en-US" dirty="0">
                    <a:solidFill>
                      <a:srgbClr val="F62AF6"/>
                    </a:solidFill>
                  </a:rPr>
                  <a:t>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62AF6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F62AF6"/>
                    </a:solidFill>
                  </a:rPr>
                  <a:t> clock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5257800" cy="5105400"/>
              </a:xfrm>
              <a:blipFill rotWithShape="0">
                <a:blip r:embed="rId3"/>
                <a:stretch>
                  <a:fillRect l="-1276" t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94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0783-49DF-2B4D-8047-BE59704E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 3: Oscillator and pulse generator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B6014-5293-7842-AC81-2BC86FDA0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9" y="1417638"/>
            <a:ext cx="8584701" cy="49720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1A0D77-2791-F94D-A41C-D52985225CDD}"/>
              </a:ext>
            </a:extLst>
          </p:cNvPr>
          <p:cNvSpPr/>
          <p:nvPr/>
        </p:nvSpPr>
        <p:spPr>
          <a:xfrm>
            <a:off x="1216269" y="6373123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pulseGen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FA604-5AAA-B04B-8DB0-0CF5BB0F2273}"/>
              </a:ext>
            </a:extLst>
          </p:cNvPr>
          <p:cNvSpPr/>
          <p:nvPr/>
        </p:nvSpPr>
        <p:spPr>
          <a:xfrm>
            <a:off x="6324600" y="6356558"/>
            <a:ext cx="1068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Oscillator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07570A-AF58-ED41-9881-909DA080C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1143000"/>
            <a:ext cx="26924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05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88165A-537D-0944-8C6F-8DAC502F80CA}"/>
                  </a:ext>
                </a:extLst>
              </p:cNvPr>
              <p:cNvSpPr txBox="1"/>
              <p:nvPr/>
            </p:nvSpPr>
            <p:spPr>
              <a:xfrm rot="16200000">
                <a:off x="-412767" y="3534772"/>
                <a:ext cx="1742144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pre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𝑛𝑜𝑤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𝑂𝑓𝑓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b="1" dirty="0"/>
                  <a:t>eff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𝑛𝑜𝑤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88165A-537D-0944-8C6F-8DAC502F8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12767" y="3534772"/>
                <a:ext cx="1742144" cy="668581"/>
              </a:xfrm>
              <a:prstGeom prst="rect">
                <a:avLst/>
              </a:prstGeom>
              <a:blipFill>
                <a:blip r:embed="rId2"/>
                <a:stretch>
                  <a:fillRect l="-3774" r="-13208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81371FE-778D-A945-AF34-6A17D5E3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9" y="1168722"/>
            <a:ext cx="2711361" cy="19161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41D758-D6D7-D84E-A1B9-DB75CC3CB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860" y="1063049"/>
            <a:ext cx="2692400" cy="2038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88A82-6924-2F43-AC84-153F8CA8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BD7AB0C-6542-004C-BB4E-DAC7A874DE88}"/>
                  </a:ext>
                </a:extLst>
              </p:cNvPr>
              <p:cNvSpPr/>
              <p:nvPr/>
            </p:nvSpPr>
            <p:spPr>
              <a:xfrm>
                <a:off x="266148" y="1387821"/>
                <a:ext cx="3810000" cy="1598096"/>
              </a:xfrm>
              <a:prstGeom prst="roundRect">
                <a:avLst>
                  <a:gd name="adj" fmla="val 11692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On,Mode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+0.9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+0.9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𝑛𝑜𝑤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𝑂𝑛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BD7AB0C-6542-004C-BB4E-DAC7A874D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48" y="1387821"/>
                <a:ext cx="3810000" cy="1598096"/>
              </a:xfrm>
              <a:prstGeom prst="roundRect">
                <a:avLst>
                  <a:gd name="adj" fmla="val 11692"/>
                </a:avLst>
              </a:prstGeom>
              <a:blipFill>
                <a:blip r:embed="rId5"/>
                <a:stretch>
                  <a:fillRect t="-7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641BFCE-9D82-544A-87AC-3653007D0476}"/>
                  </a:ext>
                </a:extLst>
              </p:cNvPr>
              <p:cNvSpPr/>
              <p:nvPr/>
            </p:nvSpPr>
            <p:spPr>
              <a:xfrm>
                <a:off x="229705" y="4795215"/>
                <a:ext cx="3810000" cy="1598096"/>
              </a:xfrm>
              <a:prstGeom prst="roundRect">
                <a:avLst>
                  <a:gd name="adj" fmla="val 11692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Off,Mode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+0.9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+0.9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𝑛𝑜𝑤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𝑂𝑓𝑓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641BFCE-9D82-544A-87AC-3653007D04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05" y="4795215"/>
                <a:ext cx="3810000" cy="1598096"/>
              </a:xfrm>
              <a:prstGeom prst="roundRect">
                <a:avLst>
                  <a:gd name="adj" fmla="val 11692"/>
                </a:avLst>
              </a:prstGeom>
              <a:blipFill>
                <a:blip r:embed="rId6"/>
                <a:stretch>
                  <a:fillRect t="-23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82F8C-BA08-D549-B47E-8687CC94EB98}"/>
              </a:ext>
            </a:extLst>
          </p:cNvPr>
          <p:cNvCxnSpPr>
            <a:cxnSpLocks/>
          </p:cNvCxnSpPr>
          <p:nvPr/>
        </p:nvCxnSpPr>
        <p:spPr>
          <a:xfrm flipV="1">
            <a:off x="458305" y="2985918"/>
            <a:ext cx="0" cy="18092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11818E-ED36-5742-808B-247D7C635A2B}"/>
              </a:ext>
            </a:extLst>
          </p:cNvPr>
          <p:cNvCxnSpPr>
            <a:cxnSpLocks/>
          </p:cNvCxnSpPr>
          <p:nvPr/>
        </p:nvCxnSpPr>
        <p:spPr>
          <a:xfrm>
            <a:off x="3734905" y="2985917"/>
            <a:ext cx="0" cy="1809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EDD7C3-73CC-814F-B8B7-47E16748E873}"/>
                  </a:ext>
                </a:extLst>
              </p:cNvPr>
              <p:cNvSpPr txBox="1"/>
              <p:nvPr/>
            </p:nvSpPr>
            <p:spPr>
              <a:xfrm rot="16200000">
                <a:off x="2879804" y="3567401"/>
                <a:ext cx="165122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pre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𝑛𝑜𝑤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b="1" dirty="0"/>
                  <a:t>eff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𝑛𝑜𝑤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EDD7C3-73CC-814F-B8B7-47E16748E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79804" y="3567401"/>
                <a:ext cx="1651221" cy="646331"/>
              </a:xfrm>
              <a:prstGeom prst="rect">
                <a:avLst/>
              </a:prstGeom>
              <a:blipFill>
                <a:blip r:embed="rId7"/>
                <a:stretch>
                  <a:fillRect l="-1923" r="-13462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4B88F202-E61E-6D42-9F98-683BA99D652E}"/>
              </a:ext>
            </a:extLst>
          </p:cNvPr>
          <p:cNvGrpSpPr/>
          <p:nvPr/>
        </p:nvGrpSpPr>
        <p:grpSpPr>
          <a:xfrm>
            <a:off x="4400095" y="3137843"/>
            <a:ext cx="4680178" cy="3401621"/>
            <a:chOff x="4374756" y="3473400"/>
            <a:chExt cx="4697784" cy="3414417"/>
          </a:xfrm>
        </p:grpSpPr>
        <p:sp>
          <p:nvSpPr>
            <p:cNvPr id="51" name="Donut 50">
              <a:extLst>
                <a:ext uri="{FF2B5EF4-FFF2-40B4-BE49-F238E27FC236}">
                  <a16:creationId xmlns:a16="http://schemas.microsoft.com/office/drawing/2014/main" id="{6B482EF4-3EB8-9E48-BC65-E06C082BC2ED}"/>
                </a:ext>
              </a:extLst>
            </p:cNvPr>
            <p:cNvSpPr/>
            <p:nvPr/>
          </p:nvSpPr>
          <p:spPr>
            <a:xfrm>
              <a:off x="4862821" y="3581400"/>
              <a:ext cx="3657600" cy="3276600"/>
            </a:xfrm>
            <a:prstGeom prst="donut">
              <a:avLst>
                <a:gd name="adj" fmla="val 24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9BF74CBB-B864-AA4D-8DF9-0210A022B344}"/>
                </a:ext>
              </a:extLst>
            </p:cNvPr>
            <p:cNvSpPr/>
            <p:nvPr/>
          </p:nvSpPr>
          <p:spPr>
            <a:xfrm>
              <a:off x="6180918" y="4784946"/>
              <a:ext cx="1076624" cy="7913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+mj-lt"/>
                  <a:ea typeface="Cambria Math" panose="02040503050406030204" pitchFamily="18" charset="0"/>
                </a:rPr>
                <a:t>pulseGen</a:t>
              </a:r>
              <a:endParaRPr lang="en-US" sz="1600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521F14F-FDFE-3947-8070-A42AF1665534}"/>
                </a:ext>
              </a:extLst>
            </p:cNvPr>
            <p:cNvSpPr/>
            <p:nvPr/>
          </p:nvSpPr>
          <p:spPr>
            <a:xfrm>
              <a:off x="6180919" y="3473400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Oscillator1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75BB0B2-8468-2C4D-9064-2735FA7003C3}"/>
                </a:ext>
              </a:extLst>
            </p:cNvPr>
            <p:cNvSpPr/>
            <p:nvPr/>
          </p:nvSpPr>
          <p:spPr>
            <a:xfrm>
              <a:off x="7959472" y="4176338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Oscillator2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98590C41-384F-0746-9465-AC67C6961F6B}"/>
                </a:ext>
              </a:extLst>
            </p:cNvPr>
            <p:cNvSpPr/>
            <p:nvPr/>
          </p:nvSpPr>
          <p:spPr>
            <a:xfrm>
              <a:off x="7995915" y="5363325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Oscillator3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7A4ACB4C-867A-E840-9CE4-7C416ABF58DA}"/>
                </a:ext>
              </a:extLst>
            </p:cNvPr>
            <p:cNvSpPr/>
            <p:nvPr/>
          </p:nvSpPr>
          <p:spPr>
            <a:xfrm>
              <a:off x="6180918" y="6096493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Oscillator4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70DFADF-3C2E-124E-829D-33F020EFF015}"/>
                </a:ext>
              </a:extLst>
            </p:cNvPr>
            <p:cNvSpPr/>
            <p:nvPr/>
          </p:nvSpPr>
          <p:spPr>
            <a:xfrm>
              <a:off x="4374756" y="4176338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Oscillator6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A4DDA85F-A871-4D49-A10C-8AB7E1E3E7AB}"/>
                </a:ext>
              </a:extLst>
            </p:cNvPr>
            <p:cNvSpPr/>
            <p:nvPr/>
          </p:nvSpPr>
          <p:spPr>
            <a:xfrm>
              <a:off x="4411199" y="5363325"/>
              <a:ext cx="1076625" cy="791324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Oscillator5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27B3E3-D561-E140-93B4-A888B9D102BC}"/>
                </a:ext>
              </a:extLst>
            </p:cNvPr>
            <p:cNvCxnSpPr>
              <a:cxnSpLocks/>
              <a:stCxn id="20" idx="0"/>
              <a:endCxn id="22" idx="2"/>
            </p:cNvCxnSpPr>
            <p:nvPr/>
          </p:nvCxnSpPr>
          <p:spPr>
            <a:xfrm flipV="1">
              <a:off x="6719230" y="4264724"/>
              <a:ext cx="2" cy="5202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F19C28-E83B-9545-9409-9E4FECD66B15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7275763" y="4572000"/>
              <a:ext cx="683709" cy="3514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E32180A-940F-454B-9E35-A7F6C3025596}"/>
                </a:ext>
              </a:extLst>
            </p:cNvPr>
            <p:cNvCxnSpPr>
              <a:cxnSpLocks/>
              <a:stCxn id="20" idx="2"/>
              <a:endCxn id="26" idx="0"/>
            </p:cNvCxnSpPr>
            <p:nvPr/>
          </p:nvCxnSpPr>
          <p:spPr>
            <a:xfrm>
              <a:off x="6719230" y="5576271"/>
              <a:ext cx="1" cy="5202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B442CA8-9892-0C49-9E2D-B61EF913D269}"/>
                </a:ext>
              </a:extLst>
            </p:cNvPr>
            <p:cNvCxnSpPr>
              <a:cxnSpLocks/>
              <a:endCxn id="27" idx="3"/>
            </p:cNvCxnSpPr>
            <p:nvPr/>
          </p:nvCxnSpPr>
          <p:spPr>
            <a:xfrm flipH="1" flipV="1">
              <a:off x="5451381" y="4572000"/>
              <a:ext cx="729536" cy="3043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6741F4C-EE7E-B247-94DE-E4BA354ADF34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5487824" y="5395041"/>
              <a:ext cx="693093" cy="3639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F67586C-D32E-4440-8D9F-DB75CC29AC68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257542" y="5484914"/>
              <a:ext cx="738373" cy="2740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C406C6E-C5A5-9440-96D1-D629EDFC396B}"/>
              </a:ext>
            </a:extLst>
          </p:cNvPr>
          <p:cNvSpPr txBox="1"/>
          <p:nvPr/>
        </p:nvSpPr>
        <p:spPr>
          <a:xfrm>
            <a:off x="3994023" y="6575663"/>
            <a:ext cx="5194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Cardiac oscillator network models, </a:t>
            </a:r>
            <a:r>
              <a:rPr lang="en-US" sz="1400" dirty="0" err="1"/>
              <a:t>Grosu</a:t>
            </a:r>
            <a:r>
              <a:rPr lang="en-US" sz="1400" dirty="0"/>
              <a:t> et al. CAV, HSCC 2007-2015</a:t>
            </a:r>
          </a:p>
        </p:txBody>
      </p:sp>
    </p:spTree>
    <p:extLst>
      <p:ext uri="{BB962C8B-B14F-4D97-AF65-F5344CB8AC3E}">
        <p14:creationId xmlns:p14="http://schemas.microsoft.com/office/powerpoint/2010/main" val="213128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  <p:bldP spid="16" grpId="0"/>
      <p:bldP spid="5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sz="2800" dirty="0"/>
              <a:t>Restriction operation on </a:t>
            </a:r>
            <a:r>
              <a:rPr lang="en-US" sz="2800" dirty="0" err="1"/>
              <a:t>exections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800" dirty="0"/>
                  <a:t>Sometimes it is useful to restrict our attention to only some subset of variables and actions in an execution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Recall the </a:t>
                </a:r>
                <a:r>
                  <a:rPr lang="en-US" sz="2800" b="1" dirty="0"/>
                  <a:t>restriction</a:t>
                </a:r>
                <a:r>
                  <a:rPr lang="en-US" sz="2800" dirty="0"/>
                  <a:t> operations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be an execution fragment of a hybrid automaton with set of variables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and set of actions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 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be a set of actions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be a set of variables. </a:t>
                </a:r>
              </a:p>
              <a:p>
                <a:pPr>
                  <a:lnSpc>
                    <a:spcPct val="120000"/>
                  </a:lnSpc>
                </a:pPr>
                <a:endParaRPr lang="en-US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b="1" dirty="0"/>
                  <a:t>Restriction</a:t>
                </a:r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′,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2800" dirty="0"/>
                  <a:t>, written 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⌈(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r>
                  <a:rPr lang="en-US" sz="2800" dirty="0"/>
                  <a:t>is the sequence defined inductively as: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240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=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⌈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↓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100" dirty="0"/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⌈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𝑐𝑜𝑛𝑐𝑎𝑡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↓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∉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From the definition it follows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</m:oMath>
                </a14:m>
                <a:r>
                  <a:rPr lang="en-US" dirty="0"/>
                  <a:t> for any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>
                <a:blip r:embed="rId2"/>
                <a:stretch>
                  <a:fillRect l="-463" t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33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5029200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Proposition.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an execution fragment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iff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are both execution fragments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Proof of the forward direction. Fix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:r>
                  <a:rPr lang="en-US" dirty="0" err="1"/>
                  <a:t>i</a:t>
                </a:r>
                <a:r>
                  <a:rPr lang="en-US" dirty="0"/>
                  <a:t>. We prove this by induction on the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definition of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So,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by induction hypothesis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lstate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By the definition of composition: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It remains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↓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by the definition of composition: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by induction hypothesis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𝐸𝑥𝑒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/>
                  <a:t> be the last trajectory in that execution.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by the definition of composition: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By concatenation closure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it follows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𝑐𝑜𝑛𝑐𝑎𝑡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Therefore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20000"/>
                  </a:lnSpc>
                </a:pPr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5029200"/>
              </a:xfrm>
              <a:blipFill>
                <a:blip r:embed="rId3"/>
                <a:stretch>
                  <a:fillRect l="-309" t="-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98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properties of executions of composed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an </a:t>
                </a:r>
                <a:r>
                  <a:rPr lang="en-US" sz="2000" i="1" dirty="0"/>
                  <a:t>execution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2000" dirty="0"/>
                  <a:t> are both executions.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time bounded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2000" dirty="0"/>
                  <a:t> are both time bounded.</a:t>
                </a: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admissible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2000" dirty="0"/>
                  <a:t> are both admissible.</a:t>
                </a: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closed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2000" dirty="0"/>
                  <a:t> are both closed.</a:t>
                </a: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non-Zeno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⌈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2000" dirty="0"/>
                  <a:t> are both time non-Zeno.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1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Composition operation</a:t>
            </a:r>
          </a:p>
          <a:p>
            <a:pPr lvl="1"/>
            <a:r>
              <a:rPr lang="en-US" dirty="0"/>
              <a:t>I/O interfaces: actions and variables</a:t>
            </a:r>
          </a:p>
          <a:p>
            <a:pPr lvl="1"/>
            <a:r>
              <a:rPr lang="en-US" dirty="0"/>
              <a:t>Reactivity/input enabling</a:t>
            </a:r>
          </a:p>
          <a:p>
            <a:pPr lvl="1"/>
            <a:r>
              <a:rPr lang="en-US" dirty="0"/>
              <a:t>(non) Closure under composition</a:t>
            </a:r>
          </a:p>
          <a:p>
            <a:r>
              <a:rPr lang="en-US" dirty="0"/>
              <a:t>Properties of executions preserved under composition</a:t>
            </a:r>
          </a:p>
          <a:p>
            <a:r>
              <a:rPr lang="en-US" dirty="0"/>
              <a:t>Inductive invariants</a:t>
            </a:r>
          </a:p>
        </p:txBody>
      </p:sp>
    </p:spTree>
    <p:extLst>
      <p:ext uri="{BB962C8B-B14F-4D97-AF65-F5344CB8AC3E}">
        <p14:creationId xmlns:p14="http://schemas.microsoft.com/office/powerpoint/2010/main" val="1352345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13268</TotalTime>
  <Words>4133</Words>
  <Application>Microsoft Macintosh PowerPoint</Application>
  <PresentationFormat>On-screen Show (4:3)</PresentationFormat>
  <Paragraphs>710</Paragraphs>
  <Slides>52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Office Theme</vt:lpstr>
      <vt:lpstr>Composition</vt:lpstr>
      <vt:lpstr>PowerPoint Presentation</vt:lpstr>
      <vt:lpstr>Why compose? </vt:lpstr>
      <vt:lpstr>Examples of “composition”</vt:lpstr>
      <vt:lpstr>PowerPoint Presentation</vt:lpstr>
      <vt:lpstr>Outline</vt:lpstr>
      <vt:lpstr>Composition of automata</vt:lpstr>
      <vt:lpstr>Sequential composition</vt:lpstr>
      <vt:lpstr>Parallel Composition: asynchronous transitions</vt:lpstr>
      <vt:lpstr>parallel composition: synchronous transitions</vt:lpstr>
      <vt:lpstr>Composition of (discrete) automata</vt:lpstr>
      <vt:lpstr>Reactivity: Input enabling</vt:lpstr>
      <vt:lpstr>Compatibility IOA</vt:lpstr>
      <vt:lpstr>Composition of I/O automaton</vt:lpstr>
      <vt:lpstr>PowerPoint Presentation</vt:lpstr>
      <vt:lpstr>Example: Sending process and channel</vt:lpstr>
      <vt:lpstr>FIFO channel &amp; Simple Failure Detector</vt:lpstr>
      <vt:lpstr>Properties of Compositions</vt:lpstr>
      <vt:lpstr>Composition and Abstraction</vt:lpstr>
      <vt:lpstr>Abstraction recap</vt:lpstr>
      <vt:lpstr>Q. How does composition work with abstraction? Q. When can we substitute an automaton with its abstraction or its refinement?</vt:lpstr>
      <vt:lpstr>Substituting an automaton with its abstraction</vt:lpstr>
      <vt:lpstr>How is the abstract system related to the concrete system?</vt:lpstr>
      <vt:lpstr>Substitutivity</vt:lpstr>
      <vt:lpstr>Substutivity</vt:lpstr>
      <vt:lpstr>A natural trace theorem for  compositions automata</vt:lpstr>
      <vt:lpstr>A stronger substitutivity result</vt:lpstr>
      <vt:lpstr>A stronger substitutivity result</vt:lpstr>
      <vt:lpstr>Counter-example guided abstraction-refinement</vt:lpstr>
      <vt:lpstr>Counterexample guided abstraction refinement (CEGAR)</vt:lpstr>
      <vt:lpstr>PowerPoint Presentation</vt:lpstr>
      <vt:lpstr>Key design choices</vt:lpstr>
      <vt:lpstr>PowerPoint Presentation</vt:lpstr>
      <vt:lpstr>PowerPoint Presentation</vt:lpstr>
      <vt:lpstr>PowerPoint Presentation</vt:lpstr>
      <vt:lpstr>composing hybrid systems</vt:lpstr>
      <vt:lpstr>Hybrid IO Automaton</vt:lpstr>
      <vt:lpstr>Reactivity: Input trajectory enabling</vt:lpstr>
      <vt:lpstr>Compatibility of hybrid automata</vt:lpstr>
      <vt:lpstr>Compatibility HIOA</vt:lpstr>
      <vt:lpstr>Composition</vt:lpstr>
      <vt:lpstr>PowerPoint Presentation</vt:lpstr>
      <vt:lpstr>Closure under composition</vt:lpstr>
      <vt:lpstr>Hybrid IO Automaton</vt:lpstr>
      <vt:lpstr>Example 2: Periodically Sending Process</vt:lpstr>
      <vt:lpstr>Time bounded channel &amp; Simple Failure Detector</vt:lpstr>
      <vt:lpstr>Example 3: Oscillator and pulse generator</vt:lpstr>
      <vt:lpstr>Composed automaton</vt:lpstr>
      <vt:lpstr>Restriction operation on exections</vt:lpstr>
      <vt:lpstr>Properties of Compositions</vt:lpstr>
      <vt:lpstr>properties of executions of composed automata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Time Input/Output Automata</dc:title>
  <dc:creator>Sayan Mitras</dc:creator>
  <cp:lastModifiedBy>Mitra, Sayan</cp:lastModifiedBy>
  <cp:revision>199</cp:revision>
  <cp:lastPrinted>2012-09-13T02:08:59Z</cp:lastPrinted>
  <dcterms:created xsi:type="dcterms:W3CDTF">2012-09-05T03:58:04Z</dcterms:created>
  <dcterms:modified xsi:type="dcterms:W3CDTF">2025-11-20T17:05:37Z</dcterms:modified>
</cp:coreProperties>
</file>