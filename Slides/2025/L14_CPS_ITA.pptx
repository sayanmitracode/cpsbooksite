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324" r:id="rId2"/>
    <p:sldId id="951" r:id="rId3"/>
    <p:sldId id="952" r:id="rId4"/>
    <p:sldId id="264" r:id="rId5"/>
    <p:sldId id="286" r:id="rId6"/>
    <p:sldId id="491" r:id="rId7"/>
    <p:sldId id="916" r:id="rId8"/>
    <p:sldId id="915" r:id="rId9"/>
    <p:sldId id="917" r:id="rId10"/>
    <p:sldId id="493" r:id="rId11"/>
    <p:sldId id="949" r:id="rId12"/>
    <p:sldId id="950" r:id="rId13"/>
    <p:sldId id="257" r:id="rId14"/>
    <p:sldId id="334" r:id="rId15"/>
    <p:sldId id="325" r:id="rId16"/>
    <p:sldId id="326" r:id="rId17"/>
    <p:sldId id="327" r:id="rId18"/>
    <p:sldId id="328" r:id="rId19"/>
    <p:sldId id="330" r:id="rId20"/>
    <p:sldId id="331" r:id="rId21"/>
    <p:sldId id="957" r:id="rId22"/>
    <p:sldId id="959" r:id="rId23"/>
    <p:sldId id="958" r:id="rId24"/>
    <p:sldId id="332" r:id="rId25"/>
    <p:sldId id="335" r:id="rId26"/>
    <p:sldId id="259" r:id="rId27"/>
    <p:sldId id="260" r:id="rId28"/>
    <p:sldId id="261" r:id="rId29"/>
    <p:sldId id="262" r:id="rId30"/>
    <p:sldId id="263" r:id="rId31"/>
    <p:sldId id="960" r:id="rId32"/>
    <p:sldId id="266" r:id="rId33"/>
    <p:sldId id="271" r:id="rId34"/>
    <p:sldId id="265" r:id="rId35"/>
    <p:sldId id="267" r:id="rId36"/>
    <p:sldId id="268" r:id="rId37"/>
    <p:sldId id="269" r:id="rId38"/>
    <p:sldId id="270" r:id="rId39"/>
    <p:sldId id="434" r:id="rId40"/>
    <p:sldId id="448" r:id="rId41"/>
    <p:sldId id="449" r:id="rId42"/>
    <p:sldId id="450" r:id="rId43"/>
    <p:sldId id="451" r:id="rId44"/>
    <p:sldId id="452" r:id="rId45"/>
    <p:sldId id="453" r:id="rId46"/>
    <p:sldId id="454" r:id="rId47"/>
    <p:sldId id="455" r:id="rId48"/>
    <p:sldId id="456" r:id="rId49"/>
    <p:sldId id="457" r:id="rId50"/>
    <p:sldId id="458" r:id="rId51"/>
    <p:sldId id="459" r:id="rId52"/>
    <p:sldId id="460" r:id="rId53"/>
    <p:sldId id="461" r:id="rId54"/>
    <p:sldId id="462" r:id="rId55"/>
    <p:sldId id="463" r:id="rId56"/>
    <p:sldId id="464" r:id="rId57"/>
    <p:sldId id="465" r:id="rId58"/>
    <p:sldId id="466" r:id="rId59"/>
    <p:sldId id="469" r:id="rId60"/>
    <p:sldId id="468" r:id="rId61"/>
    <p:sldId id="472" r:id="rId62"/>
    <p:sldId id="473" r:id="rId63"/>
    <p:sldId id="47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7"/>
    <p:restoredTop sz="96197"/>
  </p:normalViewPr>
  <p:slideViewPr>
    <p:cSldViewPr snapToGrid="0">
      <p:cViewPr varScale="1">
        <p:scale>
          <a:sx n="86" d="100"/>
          <a:sy n="86" d="100"/>
        </p:scale>
        <p:origin x="23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4T18:06:36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24589 10707 24575,'43'0'0,"-6"0"0,-10 0 0,2 0 0,-3 0 0,-16 0 0,27 0 0,4 0 0,-15 0 0,2 0 0,3 0 0,12 0 0,-6 0 0,-9 0 0,3 0 0,-27 0 0,12 0 0,7 0 0,-17 0 0,17 0 0,-23 0 0,0 0 0,-23 0 0,17 0 0,-17 0 0,23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43E3A-FF90-2B44-94CA-714A280D429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83970-97DE-5945-B35A-12CE010E2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7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couple</a:t>
            </a:r>
            <a:r>
              <a:rPr lang="en-US" baseline="0" dirty="0"/>
              <a:t> of nice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Guard, Precondition</a:t>
            </a:r>
          </a:p>
          <a:p>
            <a:r>
              <a:rPr lang="en-US" dirty="0"/>
              <a:t>Effect, Reset map</a:t>
            </a:r>
          </a:p>
          <a:p>
            <a:r>
              <a:rPr lang="en-US" dirty="0"/>
              <a:t>Invariance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8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1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fix-point implementation in tools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remove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init.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set.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Hytech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accept the automaton, but there is no guarantee on termination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2BFAB-8FF8-6341-B15F-2DC58818824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0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598F-4121-9315-5FBD-0CD89D349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082C0-FEF8-AB01-A607-EF6905467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C3207-D94E-7054-3863-3CB46A3C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F4E29-2E69-E428-6637-184AB619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811E-470D-13C1-EA5F-1D39A793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2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7E88-F7FA-31B7-05A9-970B1FCA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E6B1-FB3B-86BE-B054-9CC628958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3CA2A-0239-91C1-7677-431F4E6B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B8B21-E40E-8675-1D47-DEA412EF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DE9FE-C4BC-75DC-E77F-E2321321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2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81BA-8537-77D5-C558-B80CB356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72B58-CE50-29B2-2A91-AC5A5618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A7EE7-9578-6DEC-2B28-DF0AFE4F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90EF-70BB-E021-72DE-4BF45CAF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64DE-4348-63BA-B540-20D7893C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F30D-53BA-809E-D5BD-4B7F6B0F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998D4-6106-C4B0-72C4-27EB197C8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A42C2-5779-870E-99BA-401B10C74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89030-8DBC-E0A5-ABE8-B9AA96A7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4B31-469D-3C18-2CDD-464C6E83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06A6D-A403-6378-8511-3A3DB6C1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8A01-B139-45E7-2559-4AC7CA12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2032B-C6E7-63F3-971D-006D5A7D0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0D409-293A-1179-E4E6-0C8DEAF6F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FA88A-5D1E-0EAD-5FF8-888518833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A954C-43C3-65AA-6FA0-68D578D89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0ECF1-A314-DAF4-47E6-9F7E6F92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ACFEB-C885-145F-30E8-01E833C7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F0849-9A29-5533-F6DC-E02F1562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0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F42E-741B-36A1-7BFC-D1750B47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1BA5E-21F6-079D-F8FE-87751003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35AEF-A679-E62C-A439-48C17620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C5D57-6838-4551-BDB6-BD29343F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2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F62DA-1A8F-C109-6D9C-689D2830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D9970-5F91-202E-B7EA-EDE0EE89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1C115-7901-607B-ECDA-8D83693D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C785-ED42-0F36-436B-227195E5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055A-099A-1B54-535D-6867260C0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3A46A-896F-BB73-EA4D-6D49556F5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504C4-E6B8-1B83-BE89-CC15D4A4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F3C9-9068-6A28-0A56-4EF5EC1F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C94B5-3606-0E71-241C-8C19AD71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1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413A-43A5-AAC8-1B48-671D0952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068A0-5302-410C-AE6C-BCBBF50B5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368C9-65C2-6B36-B456-C1DA10D42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FC63B-76F6-2455-889C-3433BF5B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3E05A-72E5-38C1-27B4-2ADDDD0C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D35EA-6C6A-114B-02B1-C1EBB0BE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6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6BE8-6B56-898E-C6C0-B36354DB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37EB2-F22A-B53D-707D-24C4C7A3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8F04-85A0-88A8-8A97-F8F3DB93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8B8D-3266-DE64-E0A9-5608CA3A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B5D46-962C-0D46-50BB-6CD27E84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9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76C73-E5A4-B215-91CA-01F721244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30859-B442-70E1-FCF9-21666D3AD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825D-296D-6F78-39E1-6641220E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5F549-5713-CA10-5F5D-7A4630D7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0472-7E69-244E-4215-1B0FDD9B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0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6D5D4-A317-6189-C058-1716A242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AD140-1C11-C1CE-7DAD-B6C65B9E0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562ED-E5E1-2D70-AA92-9D21FE966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8FF10-B70E-1B43-831B-B1E9792D449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AFD7-5FF8-3700-C2AF-5EC315B4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3FA3-02E9-D9E1-AA59-2D5672878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4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7.tiff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.xml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7" Type="http://schemas.microsoft.com/office/2007/relationships/hdphoto" Target="../media/hdphoto2.wdp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engr-courses.engr.illinois.edu/ece584/papers/alur_dill94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://engr-courses.engr.illinois.edu/ece584/papers/henz_whats.pdf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6.png"/><Relationship Id="rId7" Type="http://schemas.openxmlformats.org/officeDocument/2006/relationships/image" Target="../media/image7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4.png"/><Relationship Id="rId4" Type="http://schemas.openxmlformats.org/officeDocument/2006/relationships/image" Target="../media/image67.png"/><Relationship Id="rId9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png"/><Relationship Id="rId7" Type="http://schemas.openxmlformats.org/officeDocument/2006/relationships/image" Target="../media/image8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4" Type="http://schemas.openxmlformats.org/officeDocument/2006/relationships/image" Target="../media/image77.png"/><Relationship Id="rId9" Type="http://schemas.openxmlformats.org/officeDocument/2006/relationships/image" Target="../media/image8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Cyberphysical Systems: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8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6A42-60A7-C449-8930-90B43F4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3E42-F664-934E-B525-1A44AD45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Review: Modeling cyber-physical systems</a:t>
            </a:r>
          </a:p>
          <a:p>
            <a:pPr lvl="1"/>
            <a:r>
              <a:rPr lang="en-US" dirty="0"/>
              <a:t>Hybrid automata</a:t>
            </a:r>
          </a:p>
          <a:p>
            <a:pPr lvl="1"/>
            <a:r>
              <a:rPr lang="en-US" dirty="0"/>
              <a:t>Executions</a:t>
            </a:r>
          </a:p>
          <a:p>
            <a:pPr lvl="1"/>
            <a:r>
              <a:rPr lang="en-US" dirty="0"/>
              <a:t>Urgency</a:t>
            </a:r>
          </a:p>
          <a:p>
            <a:pPr lvl="1"/>
            <a:r>
              <a:rPr lang="en-US" dirty="0"/>
              <a:t>Zeno</a:t>
            </a:r>
          </a:p>
          <a:p>
            <a:pPr lvl="1"/>
            <a:r>
              <a:rPr lang="en-US" dirty="0"/>
              <a:t>Hybrid stability</a:t>
            </a:r>
          </a:p>
        </p:txBody>
      </p:sp>
    </p:spTree>
    <p:extLst>
      <p:ext uri="{BB962C8B-B14F-4D97-AF65-F5344CB8AC3E}">
        <p14:creationId xmlns:p14="http://schemas.microsoft.com/office/powerpoint/2010/main" val="393583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/>
          <a:lstStyle/>
          <a:p>
            <a:r>
              <a:rPr lang="en-US" dirty="0"/>
              <a:t>Example. Thermostat automaton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6" y="1363489"/>
            <a:ext cx="5839084" cy="164789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974529"/>
            <a:ext cx="595294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EF79F-021D-0142-9021-2353BD38BB67}"/>
              </a:ext>
            </a:extLst>
          </p:cNvPr>
          <p:cNvSpPr txBox="1"/>
          <p:nvPr/>
        </p:nvSpPr>
        <p:spPr>
          <a:xfrm>
            <a:off x="8099832" y="5615806"/>
            <a:ext cx="3253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Determinism vs nondeterminism</a:t>
            </a:r>
          </a:p>
          <a:p>
            <a:r>
              <a:rPr lang="en-US" dirty="0"/>
              <a:t>mode invariants</a:t>
            </a:r>
          </a:p>
        </p:txBody>
      </p:sp>
      <p:pic>
        <p:nvPicPr>
          <p:cNvPr id="3" name="Picture 2" descr="A graph of a controller with blue and green lines&#10;&#10;Description automatically generated">
            <a:extLst>
              <a:ext uri="{FF2B5EF4-FFF2-40B4-BE49-F238E27FC236}">
                <a16:creationId xmlns:a16="http://schemas.microsoft.com/office/drawing/2014/main" id="{DF83B790-1B88-6648-80B6-53F1C132F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0"/>
          <a:stretch/>
        </p:blipFill>
        <p:spPr>
          <a:xfrm>
            <a:off x="131404" y="3620812"/>
            <a:ext cx="5812352" cy="28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 variables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states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start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actions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A= E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∪ H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trajectories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for X</a:t>
                </a:r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which is closed under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prefix, suffix, and concatenation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  <a:blipFill>
                <a:blip r:embed="rId3"/>
                <a:stretch>
                  <a:fillRect l="-1520" t="-813" r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0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Semantics: Executions and Traces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execution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 is an (possibly infinite) alternating sequence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∀ </a:t>
                </a:r>
                <a:r>
                  <a:rPr lang="en-US" dirty="0" err="1">
                    <a:latin typeface="+mj-lt"/>
                    <a:ea typeface="Cambria Math"/>
                  </a:rPr>
                  <a:t>i</a:t>
                </a:r>
                <a:r>
                  <a:rPr lang="en-US" dirty="0">
                    <a:latin typeface="+mj-lt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⟶</m:t>
                          </m:r>
                        </m:e>
                      </m:mr>
                    </m:m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.</a:t>
                </a:r>
                <a:r>
                  <a:rPr lang="en-US" dirty="0" err="1">
                    <a:latin typeface="+mj-lt"/>
                  </a:rPr>
                  <a:t>fstate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is an </a:t>
                </a:r>
                <a:r>
                  <a:rPr lang="en-US" b="1" dirty="0">
                    <a:latin typeface="+mj-lt"/>
                  </a:rPr>
                  <a:t>execution</a:t>
                </a:r>
                <a:endParaRPr lang="en-US" b="1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Execs</a:t>
                </a:r>
                <a14:m>
                  <m:oMath xmlns:m="http://schemas.openxmlformats.org/officeDocument/2006/math">
                    <m:r>
                      <a:rPr lang="en-US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b="1" baseline="-25000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set of all executions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First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finite and closed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A state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i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reachable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if there exists an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+mj-lt"/>
                  <a:ea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  <a:blipFill>
                <a:blip r:embed="rId2"/>
                <a:stretch>
                  <a:fillRect l="-1643" t="-995" r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984752-55CF-8109-45DE-7840454F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979" y="1232823"/>
            <a:ext cx="4580675" cy="12927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6BC41C4-BBE3-6FBA-1EE0-E77F200BACC3}"/>
              </a:ext>
            </a:extLst>
          </p:cNvPr>
          <p:cNvGrpSpPr/>
          <p:nvPr/>
        </p:nvGrpSpPr>
        <p:grpSpPr>
          <a:xfrm>
            <a:off x="7304979" y="2923140"/>
            <a:ext cx="4580675" cy="2906850"/>
            <a:chOff x="7304979" y="2923140"/>
            <a:chExt cx="4580675" cy="2906850"/>
          </a:xfrm>
        </p:grpSpPr>
        <p:pic>
          <p:nvPicPr>
            <p:cNvPr id="3" name="Picture 2" descr="A graph of a controller with blue and green lines&#10;&#10;Description automatically generated">
              <a:extLst>
                <a:ext uri="{FF2B5EF4-FFF2-40B4-BE49-F238E27FC236}">
                  <a16:creationId xmlns:a16="http://schemas.microsoft.com/office/drawing/2014/main" id="{F192A976-672E-1D70-22E6-60E2304FE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260" r="22134"/>
            <a:stretch/>
          </p:blipFill>
          <p:spPr>
            <a:xfrm>
              <a:off x="7304979" y="2923140"/>
              <a:ext cx="4580675" cy="29068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5C3ED2-59BC-FA59-7BF4-14640D83B359}"/>
                </a:ext>
              </a:extLst>
            </p:cNvPr>
            <p:cNvSpPr txBox="1"/>
            <p:nvPr/>
          </p:nvSpPr>
          <p:spPr>
            <a:xfrm rot="16200000">
              <a:off x="7648381" y="3591528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643B60-046E-FCD3-2DFE-55D0F415FA85}"/>
                </a:ext>
              </a:extLst>
            </p:cNvPr>
            <p:cNvSpPr txBox="1"/>
            <p:nvPr/>
          </p:nvSpPr>
          <p:spPr>
            <a:xfrm rot="16200000">
              <a:off x="9372530" y="359152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89B711-3464-B7C5-9F59-141CF17E5240}"/>
                </a:ext>
              </a:extLst>
            </p:cNvPr>
            <p:cNvSpPr txBox="1"/>
            <p:nvPr/>
          </p:nvSpPr>
          <p:spPr>
            <a:xfrm rot="16200000">
              <a:off x="10737177" y="359152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764E3-7B53-D385-A177-DFF0311E7FC6}"/>
                </a:ext>
              </a:extLst>
            </p:cNvPr>
            <p:cNvSpPr txBox="1"/>
            <p:nvPr/>
          </p:nvSpPr>
          <p:spPr>
            <a:xfrm rot="16200000">
              <a:off x="9005205" y="3591526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9BADAA-262A-D205-B7E2-421023EC167D}"/>
                </a:ext>
              </a:extLst>
            </p:cNvPr>
            <p:cNvSpPr txBox="1"/>
            <p:nvPr/>
          </p:nvSpPr>
          <p:spPr>
            <a:xfrm rot="16200000">
              <a:off x="10330109" y="3583704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246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08"/>
          </a:xfrm>
        </p:spPr>
        <p:txBody>
          <a:bodyPr/>
          <a:lstStyle/>
          <a:p>
            <a:r>
              <a:rPr lang="en-US" dirty="0"/>
              <a:t>Example. Bouncing Ball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automaton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Bouncingball</a:t>
                </a:r>
                <a:r>
                  <a:rPr lang="en-US" sz="1800" dirty="0">
                    <a:solidFill>
                      <a:schemeClr val="tx1"/>
                    </a:solidFill>
                  </a:rPr>
                  <a:t>(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c,h,g</a:t>
                </a:r>
                <a:r>
                  <a:rPr lang="en-US" sz="18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variables: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x: Reals := h, v: Reals :=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actions: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transitions: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    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pre 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x = 0 /\ v &lt;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eff </a:t>
                </a:r>
                <a:r>
                  <a:rPr lang="en-US" sz="1800" dirty="0">
                    <a:solidFill>
                      <a:schemeClr val="tx1"/>
                    </a:solidFill>
                  </a:rPr>
                  <a:t>v := -cv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trajectories: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</a:t>
                </a:r>
                <a:r>
                  <a:rPr lang="en-US" sz="1800" dirty="0">
                    <a:solidFill>
                      <a:schemeClr val="tx1"/>
                    </a:solidFill>
                  </a:rPr>
                  <a:t>Loc1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evolve </a:t>
                </a:r>
                <a:r>
                  <a:rPr lang="en-US" sz="1800" dirty="0">
                    <a:solidFill>
                      <a:schemeClr val="tx1"/>
                    </a:solidFill>
                  </a:rPr>
                  <a:t>d(x) = v; d(v) = -g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  <a:blipFill>
                <a:blip r:embed="rId3"/>
                <a:stretch>
                  <a:fillRect l="-1155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Loc</a:t>
                </a:r>
                <a:r>
                  <a:rPr lang="en-US" dirty="0">
                    <a:solidFill>
                      <a:schemeClr val="tx1"/>
                    </a:solidFill>
                  </a:rPr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  <a:blipFill>
                <a:blip r:embed="rId4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010702" y="3016598"/>
            <a:ext cx="12700" cy="1131512"/>
          </a:xfrm>
          <a:prstGeom prst="curvedConnector3">
            <a:avLst>
              <a:gd name="adj1" fmla="val 521358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6349" y="584654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Graphical Representation used in many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82" y="1935050"/>
            <a:ext cx="135005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bounce</a:t>
            </a:r>
            <a:endParaRPr lang="en-US" i="1" dirty="0"/>
          </a:p>
          <a:p>
            <a:pPr algn="ctr"/>
            <a:r>
              <a:rPr lang="en-US" i="1" dirty="0"/>
              <a:t>x = 0 /\ v &lt; 0</a:t>
            </a:r>
          </a:p>
          <a:p>
            <a:pPr algn="ctr"/>
            <a:r>
              <a:rPr lang="en-US" i="1" dirty="0"/>
              <a:t>v’ := -cv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677202" y="4013406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7317" y="4104574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x:= 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F3E2E-D247-8B4E-A245-B00FC243FC2D}"/>
              </a:ext>
            </a:extLst>
          </p:cNvPr>
          <p:cNvSpPr/>
          <p:nvPr/>
        </p:nvSpPr>
        <p:spPr>
          <a:xfrm>
            <a:off x="9525000" y="5303108"/>
            <a:ext cx="2109963" cy="1293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 invariant, not to be confused with invariants of the automaton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69887C-AE55-6F47-8DC8-DB07A46E0A50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781800" y="5447348"/>
            <a:ext cx="2743200" cy="50256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pic>
        <p:nvPicPr>
          <p:cNvPr id="12" name="Picture 11" descr="A diagram of a ball&#10;&#10;Description automatically generated">
            <a:extLst>
              <a:ext uri="{FF2B5EF4-FFF2-40B4-BE49-F238E27FC236}">
                <a16:creationId xmlns:a16="http://schemas.microsoft.com/office/drawing/2014/main" id="{C7833F4E-9300-9171-ADB7-561F6365A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384" y="2694810"/>
            <a:ext cx="3516255" cy="2637191"/>
          </a:xfrm>
          <a:prstGeom prst="rect">
            <a:avLst/>
          </a:prstGeom>
        </p:spPr>
      </p:pic>
      <p:pic>
        <p:nvPicPr>
          <p:cNvPr id="19" name="Picture 18" descr="A graph of a ball automation&#10;&#10;Description automatically generated">
            <a:extLst>
              <a:ext uri="{FF2B5EF4-FFF2-40B4-BE49-F238E27FC236}">
                <a16:creationId xmlns:a16="http://schemas.microsoft.com/office/drawing/2014/main" id="{E2DE0411-978A-CCEE-EE52-02A67FDD7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922" y="15284"/>
            <a:ext cx="3267761" cy="261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19995"/>
            <a:ext cx="10515600" cy="1325563"/>
          </a:xfrm>
        </p:spPr>
        <p:txBody>
          <a:bodyPr/>
          <a:lstStyle/>
          <a:p>
            <a:r>
              <a:rPr lang="en-US" dirty="0"/>
              <a:t>Urgency: Must transitions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645558"/>
            <a:ext cx="4839607" cy="1365827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198803"/>
            <a:ext cx="424688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h,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+ d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- 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6E1C810-BD4E-804B-9EE1-2795D937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78" y="3784397"/>
            <a:ext cx="55941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urgent </a:t>
            </a:r>
            <a:r>
              <a:rPr kumimoji="0" lang="en-US" altLang="en-US" sz="240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transition (or action) is an action that has to occur as soon as it is enabled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0" i="0" baseline="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0" i="0" baseline="0" dirty="0"/>
              <a:t>Introduce special syntax for creating urgent transitions, but we can use mode invariants to accomplish this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681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D8CAAD5-FB22-BF43-A462-66B0D482F4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17" t="4153" r="6419" b="60587"/>
          <a:stretch/>
        </p:blipFill>
        <p:spPr>
          <a:xfrm>
            <a:off x="6096000" y="634717"/>
            <a:ext cx="2218016" cy="1189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19C787-532B-0A4B-B97E-4B8F61C7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BE937-AC0E-9F4C-8C90-A6C134DE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671"/>
            <a:ext cx="10515600" cy="494933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Achilles runs 10 times faster than than the tortoise, but the turtle gets to start 1 second earlier. Can Achilles ever catch Turtle?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Lesson: Mixing discrete transitions with continuous motion can be tricky!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ACD5C9-8453-FA48-9C03-9103CE217EEC}"/>
              </a:ext>
            </a:extLst>
          </p:cNvPr>
          <p:cNvSpPr/>
          <p:nvPr/>
        </p:nvSpPr>
        <p:spPr>
          <a:xfrm>
            <a:off x="838200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F79A4-DD6A-2948-A855-0A5E9DA63F1B}"/>
              </a:ext>
            </a:extLst>
          </p:cNvPr>
          <p:cNvSpPr/>
          <p:nvPr/>
        </p:nvSpPr>
        <p:spPr>
          <a:xfrm>
            <a:off x="6667499" y="7411"/>
            <a:ext cx="2723133" cy="583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Achilles, the fastest athlete,  greatest warrior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36BF9-E158-7F4F-83C4-E5D44909F608}"/>
              </a:ext>
            </a:extLst>
          </p:cNvPr>
          <p:cNvSpPr/>
          <p:nvPr/>
        </p:nvSpPr>
        <p:spPr>
          <a:xfrm>
            <a:off x="10343676" y="7412"/>
            <a:ext cx="1829274" cy="583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Zeno, Greek philosopher 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77DE7C9-15C9-7847-B7FA-D975C235AD40}"/>
              </a:ext>
            </a:extLst>
          </p:cNvPr>
          <p:cNvSpPr/>
          <p:nvPr/>
        </p:nvSpPr>
        <p:spPr>
          <a:xfrm>
            <a:off x="8915400" y="914400"/>
            <a:ext cx="1428276" cy="776288"/>
          </a:xfrm>
          <a:prstGeom prst="wedgeRoundRectCallout">
            <a:avLst>
              <a:gd name="adj1" fmla="val 72497"/>
              <a:gd name="adj2" fmla="val -3295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You couldn’t even beat a turtle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CDE728-459B-1C46-98C0-4B7A3B43429E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049867" y="5073651"/>
            <a:ext cx="6855409" cy="2240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910CB477-C5FE-3643-B7BD-46888D6C83D7}"/>
              </a:ext>
            </a:extLst>
          </p:cNvPr>
          <p:cNvSpPr/>
          <p:nvPr/>
        </p:nvSpPr>
        <p:spPr>
          <a:xfrm rot="10800000" flipV="1">
            <a:off x="944032" y="3660552"/>
            <a:ext cx="2645329" cy="2614530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C63F4360-FEB7-F745-BBB7-8A4C70F74E09}"/>
              </a:ext>
            </a:extLst>
          </p:cNvPr>
          <p:cNvSpPr/>
          <p:nvPr/>
        </p:nvSpPr>
        <p:spPr>
          <a:xfrm flipV="1">
            <a:off x="3589361" y="4547418"/>
            <a:ext cx="1279023" cy="1264132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8D5A4D8-F25A-5C43-8DC0-1F9A5ADAFECF}"/>
              </a:ext>
            </a:extLst>
          </p:cNvPr>
          <p:cNvSpPr/>
          <p:nvPr/>
        </p:nvSpPr>
        <p:spPr>
          <a:xfrm>
            <a:off x="3485294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56DE3C-97E2-7A48-9107-20BB815DAC00}"/>
              </a:ext>
            </a:extLst>
          </p:cNvPr>
          <p:cNvSpPr/>
          <p:nvPr/>
        </p:nvSpPr>
        <p:spPr>
          <a:xfrm>
            <a:off x="4762550" y="5006182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FD6D5CC0-A747-9145-BE8C-E1CD57F774E5}"/>
              </a:ext>
            </a:extLst>
          </p:cNvPr>
          <p:cNvSpPr/>
          <p:nvPr/>
        </p:nvSpPr>
        <p:spPr>
          <a:xfrm rot="10800000" flipV="1">
            <a:off x="3576621" y="4344241"/>
            <a:ext cx="1285815" cy="1270844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453BC72-90A4-5C4D-B174-547C93C56BB0}"/>
              </a:ext>
            </a:extLst>
          </p:cNvPr>
          <p:cNvSpPr/>
          <p:nvPr/>
        </p:nvSpPr>
        <p:spPr>
          <a:xfrm flipV="1">
            <a:off x="4889732" y="4898152"/>
            <a:ext cx="621695" cy="614456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F48F78-FC83-DB41-9E68-FD66D7436B55}"/>
              </a:ext>
            </a:extLst>
          </p:cNvPr>
          <p:cNvGrpSpPr/>
          <p:nvPr/>
        </p:nvGrpSpPr>
        <p:grpSpPr>
          <a:xfrm>
            <a:off x="4862163" y="4698601"/>
            <a:ext cx="967364" cy="653582"/>
            <a:chOff x="4879696" y="3698917"/>
            <a:chExt cx="3869756" cy="2614530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0FF734B2-C609-C948-A00D-B16101E0F227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A379434-ABB9-9A49-89B9-EF7891ACB776}"/>
                </a:ext>
              </a:extLst>
            </p:cNvPr>
            <p:cNvSpPr/>
            <p:nvPr/>
          </p:nvSpPr>
          <p:spPr>
            <a:xfrm flipV="1">
              <a:off x="7470429" y="5022551"/>
              <a:ext cx="1279023" cy="126413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C2324F20-1A49-8A48-B92F-FD828D28FCFF}"/>
              </a:ext>
            </a:extLst>
          </p:cNvPr>
          <p:cNvSpPr/>
          <p:nvPr/>
        </p:nvSpPr>
        <p:spPr>
          <a:xfrm>
            <a:off x="5405596" y="4979663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D188FA-983C-9C4F-936B-FD0EF45D8538}"/>
              </a:ext>
            </a:extLst>
          </p:cNvPr>
          <p:cNvGrpSpPr/>
          <p:nvPr/>
        </p:nvGrpSpPr>
        <p:grpSpPr>
          <a:xfrm>
            <a:off x="5506617" y="4830390"/>
            <a:ext cx="496447" cy="453633"/>
            <a:chOff x="4879696" y="3698917"/>
            <a:chExt cx="3707519" cy="3387777"/>
          </a:xfrm>
        </p:grpSpPr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CBF2E86F-E623-D64A-B365-CF970211C924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2370A31-1530-7A4E-BD06-B56C93059F2C}"/>
                </a:ext>
              </a:extLst>
            </p:cNvPr>
            <p:cNvSpPr/>
            <p:nvPr/>
          </p:nvSpPr>
          <p:spPr>
            <a:xfrm flipV="1">
              <a:off x="7308190" y="5822561"/>
              <a:ext cx="1279025" cy="1264133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D97085B7-C476-AB4F-9802-F23C64F3E102}"/>
              </a:ext>
            </a:extLst>
          </p:cNvPr>
          <p:cNvSpPr/>
          <p:nvPr/>
        </p:nvSpPr>
        <p:spPr>
          <a:xfrm>
            <a:off x="5736539" y="4982018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6CE58F-94DE-8F4E-906E-656869F391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6400" l="5042" r="94958">
                        <a14:foregroundMark x1="39076" y1="52400" x2="39076" y2="52400"/>
                        <a14:foregroundMark x1="42437" y1="45200" x2="42437" y2="45200"/>
                        <a14:foregroundMark x1="52521" y1="40400" x2="52521" y2="40400"/>
                        <a14:foregroundMark x1="68908" y1="51600" x2="68908" y2="51600"/>
                        <a14:foregroundMark x1="57563" y1="56800" x2="57563" y2="56800"/>
                        <a14:foregroundMark x1="45798" y1="65200" x2="45798" y2="65200"/>
                        <a14:foregroundMark x1="34874" y1="67200" x2="34874" y2="67200"/>
                        <a14:foregroundMark x1="65126" y1="66400" x2="65126" y2="66400"/>
                        <a14:foregroundMark x1="75210" y1="63200" x2="75210" y2="63200"/>
                        <a14:foregroundMark x1="80672" y1="54400" x2="80672" y2="54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228896" y="5123762"/>
            <a:ext cx="633943" cy="66590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A8341B4-63A6-9840-89BD-60535076D876}"/>
              </a:ext>
            </a:extLst>
          </p:cNvPr>
          <p:cNvSpPr/>
          <p:nvPr/>
        </p:nvSpPr>
        <p:spPr>
          <a:xfrm>
            <a:off x="7531741" y="2949228"/>
            <a:ext cx="4169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+mj-lt"/>
              </a:rPr>
              <a:t>After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Achilles reaches where the Turtle (T) started, and T has a head start of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second.</a:t>
            </a:r>
          </a:p>
          <a:p>
            <a:r>
              <a:rPr lang="en-US" sz="2000" i="1" dirty="0">
                <a:latin typeface="+mj-lt"/>
              </a:rPr>
              <a:t>After another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 catches up to where T was at t=1/10 sec, but T has a head start of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</a:t>
            </a:r>
          </a:p>
          <a:p>
            <a:r>
              <a:rPr lang="en-US" sz="2000" i="1" dirty="0">
                <a:latin typeface="+mj-lt"/>
              </a:rPr>
              <a:t>… </a:t>
            </a:r>
          </a:p>
          <a:p>
            <a:r>
              <a:rPr lang="en-US" sz="2000" i="1" dirty="0">
                <a:latin typeface="+mj-lt"/>
              </a:rPr>
              <a:t>T is always ahead …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4C06E-AF08-F24D-94D0-973D7575EE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120" b="95506" l="5385" r="95769"/>
                    </a14:imgEffect>
                  </a14:imgLayer>
                </a14:imgProps>
              </a:ext>
            </a:extLst>
          </a:blip>
          <a:srcRect l="8183" t="4153" r="6791" b="5003"/>
          <a:stretch/>
        </p:blipFill>
        <p:spPr>
          <a:xfrm>
            <a:off x="305799" y="3820977"/>
            <a:ext cx="1018308" cy="1113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3D097E-A5F7-B647-A140-63639C637A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6092" y="590550"/>
            <a:ext cx="1132770" cy="1540567"/>
          </a:xfrm>
          <a:prstGeom prst="rect">
            <a:avLst/>
          </a:prstGeom>
        </p:spPr>
      </p:pic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3D1C9467-C6A7-E84D-8DE7-2A366768C0C8}"/>
              </a:ext>
            </a:extLst>
          </p:cNvPr>
          <p:cNvSpPr/>
          <p:nvPr/>
        </p:nvSpPr>
        <p:spPr>
          <a:xfrm>
            <a:off x="7717450" y="659653"/>
            <a:ext cx="1110461" cy="480172"/>
          </a:xfrm>
          <a:prstGeom prst="wedgeRoundRectCallout">
            <a:avLst>
              <a:gd name="adj1" fmla="val -91761"/>
              <a:gd name="adj2" fmla="val 637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tx1"/>
                </a:solidFill>
                <a:latin typeface="Comic Sans MS" panose="030F0902030302020204" pitchFamily="66" charset="0"/>
              </a:rPr>
              <a:t>whatever!</a:t>
            </a:r>
          </a:p>
        </p:txBody>
      </p:sp>
    </p:spTree>
    <p:extLst>
      <p:ext uri="{BB962C8B-B14F-4D97-AF65-F5344CB8AC3E}">
        <p14:creationId xmlns:p14="http://schemas.microsoft.com/office/powerpoint/2010/main" val="207117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10807 0.000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463 L 0.2276 -0.00463 " pathEditMode="relative" ptsTypes="AA"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29 -0.00463 L 0.33372 -4.44444E-6 " pathEditMode="relative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46 0.00834 L 0.16223 0.00834 " pathEditMode="relative" ptsTypes="AA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6" grpId="1" animBg="1"/>
      <p:bldP spid="3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C57D90-9C83-A048-984C-A1697E8149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24" t="10877" r="10271" b="10333"/>
          <a:stretch/>
        </p:blipFill>
        <p:spPr>
          <a:xfrm>
            <a:off x="4823242" y="2282018"/>
            <a:ext cx="7187106" cy="4496960"/>
          </a:xfrm>
          <a:prstGeom prst="rect">
            <a:avLst/>
          </a:prstGeom>
        </p:spPr>
      </p:pic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CC7A9E2F-5622-CE4D-8B46-32D3011694A0}"/>
              </a:ext>
            </a:extLst>
          </p:cNvPr>
          <p:cNvSpPr/>
          <p:nvPr/>
        </p:nvSpPr>
        <p:spPr>
          <a:xfrm>
            <a:off x="2548884" y="5712350"/>
            <a:ext cx="1828800" cy="723636"/>
          </a:xfrm>
          <a:prstGeom prst="roundRect">
            <a:avLst/>
          </a:prstGeom>
          <a:noFill/>
          <a:ln w="76200">
            <a:solidFill>
              <a:srgbClr val="E47D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E47D01"/>
                </a:solidFill>
                <a:latin typeface="+mj-lt"/>
              </a:rPr>
              <a:t>Run</a:t>
            </a:r>
            <a:endParaRPr lang="en-US" sz="2000" b="1" dirty="0">
              <a:solidFill>
                <a:srgbClr val="E47D01"/>
              </a:solidFill>
              <a:latin typeface="+mj-lt"/>
            </a:endParaRPr>
          </a:p>
        </p:txBody>
      </p:sp>
      <p:sp>
        <p:nvSpPr>
          <p:cNvPr id="11" name="Rounded Rectangle 90">
            <a:extLst>
              <a:ext uri="{FF2B5EF4-FFF2-40B4-BE49-F238E27FC236}">
                <a16:creationId xmlns:a16="http://schemas.microsoft.com/office/drawing/2014/main" id="{C3E0AEC5-5C38-0A46-A608-8903DADD9611}"/>
              </a:ext>
            </a:extLst>
          </p:cNvPr>
          <p:cNvSpPr/>
          <p:nvPr/>
        </p:nvSpPr>
        <p:spPr>
          <a:xfrm>
            <a:off x="274526" y="4860758"/>
            <a:ext cx="1828800" cy="723636"/>
          </a:xfrm>
          <a:prstGeom prst="roundRect">
            <a:avLst/>
          </a:prstGeom>
          <a:noFill/>
          <a:ln w="76200">
            <a:solidFill>
              <a:srgbClr val="04B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4BFDA"/>
                </a:solidFill>
                <a:latin typeface="+mj-lt"/>
              </a:rPr>
              <a:t>Walk</a:t>
            </a:r>
            <a:endParaRPr lang="en-US" sz="2800" b="1" i="1" dirty="0">
              <a:solidFill>
                <a:srgbClr val="04BFDA"/>
              </a:solidFill>
              <a:latin typeface="+mj-lt"/>
            </a:endParaRPr>
          </a:p>
        </p:txBody>
      </p:sp>
      <p:cxnSp>
        <p:nvCxnSpPr>
          <p:cNvPr id="16" name="Connector: Curved 363">
            <a:extLst>
              <a:ext uri="{FF2B5EF4-FFF2-40B4-BE49-F238E27FC236}">
                <a16:creationId xmlns:a16="http://schemas.microsoft.com/office/drawing/2014/main" id="{F2326642-AD98-8043-96BD-BA0DFF5C9E1B}"/>
              </a:ext>
            </a:extLst>
          </p:cNvPr>
          <p:cNvCxnSpPr>
            <a:cxnSpLocks/>
            <a:stCxn id="11" idx="3"/>
            <a:endCxn id="10" idx="0"/>
          </p:cNvCxnSpPr>
          <p:nvPr/>
        </p:nvCxnSpPr>
        <p:spPr>
          <a:xfrm>
            <a:off x="2103326" y="5222577"/>
            <a:ext cx="1359958" cy="48977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363">
            <a:extLst>
              <a:ext uri="{FF2B5EF4-FFF2-40B4-BE49-F238E27FC236}">
                <a16:creationId xmlns:a16="http://schemas.microsoft.com/office/drawing/2014/main" id="{46CDCADB-B647-3944-9B0C-B0AA7E0561E8}"/>
              </a:ext>
            </a:extLst>
          </p:cNvPr>
          <p:cNvCxnSpPr>
            <a:cxnSpLocks/>
            <a:stCxn id="10" idx="1"/>
            <a:endCxn id="11" idx="2"/>
          </p:cNvCxnSpPr>
          <p:nvPr/>
        </p:nvCxnSpPr>
        <p:spPr>
          <a:xfrm rot="10800000">
            <a:off x="1188926" y="5584394"/>
            <a:ext cx="1359958" cy="48977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6A0CCC8C-AECD-914B-9E56-9887DDEEE59C}"/>
              </a:ext>
            </a:extLst>
          </p:cNvPr>
          <p:cNvSpPr txBox="1">
            <a:spLocks/>
          </p:cNvSpPr>
          <p:nvPr/>
        </p:nvSpPr>
        <p:spPr>
          <a:xfrm>
            <a:off x="488607" y="1779465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Each of the modes of a walking robot are asymptotically stable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Is it possible to switch between them to make the system unstable?</a:t>
            </a:r>
            <a:endParaRPr lang="en-US" sz="9600" b="1" i="1" dirty="0"/>
          </a:p>
          <a:p>
            <a:endParaRPr lang="en-US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56F5169-7142-C741-91D1-5A40A057C3BA}"/>
              </a:ext>
            </a:extLst>
          </p:cNvPr>
          <p:cNvSpPr/>
          <p:nvPr/>
        </p:nvSpPr>
        <p:spPr>
          <a:xfrm rot="10624941">
            <a:off x="8154186" y="3987537"/>
            <a:ext cx="158840" cy="471341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1CCE781-209E-3D45-8F01-70F1CE0CCC5F}"/>
              </a:ext>
            </a:extLst>
          </p:cNvPr>
          <p:cNvSpPr/>
          <p:nvPr/>
        </p:nvSpPr>
        <p:spPr>
          <a:xfrm rot="17470908">
            <a:off x="8345040" y="4059178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B2F44720-A257-8148-ACD3-FCDF48B83542}"/>
              </a:ext>
            </a:extLst>
          </p:cNvPr>
          <p:cNvSpPr/>
          <p:nvPr/>
        </p:nvSpPr>
        <p:spPr>
          <a:xfrm rot="694961">
            <a:off x="8292857" y="4243646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633F256A-D59A-6D4B-BE32-3680434A8BAF}"/>
              </a:ext>
            </a:extLst>
          </p:cNvPr>
          <p:cNvSpPr/>
          <p:nvPr/>
        </p:nvSpPr>
        <p:spPr>
          <a:xfrm rot="5400000">
            <a:off x="7985593" y="4100519"/>
            <a:ext cx="256833" cy="906269"/>
          </a:xfrm>
          <a:prstGeom prst="arc">
            <a:avLst>
              <a:gd name="adj1" fmla="val 16200000"/>
              <a:gd name="adj2" fmla="val 548359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38AB7C4F-7CC8-5C48-9DA8-1FDEF499F240}"/>
              </a:ext>
            </a:extLst>
          </p:cNvPr>
          <p:cNvSpPr/>
          <p:nvPr/>
        </p:nvSpPr>
        <p:spPr>
          <a:xfrm>
            <a:off x="7641802" y="2648933"/>
            <a:ext cx="1982963" cy="3214540"/>
          </a:xfrm>
          <a:prstGeom prst="arc">
            <a:avLst>
              <a:gd name="adj1" fmla="val 9922229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A1352D7-4B49-314C-B0B4-FE5CD7BBBB54}"/>
              </a:ext>
            </a:extLst>
          </p:cNvPr>
          <p:cNvSpPr txBox="1">
            <a:spLocks/>
          </p:cNvSpPr>
          <p:nvPr/>
        </p:nvSpPr>
        <p:spPr>
          <a:xfrm>
            <a:off x="488607" y="420806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Stability of a hybrid automaton</a:t>
            </a:r>
          </a:p>
        </p:txBody>
      </p:sp>
    </p:spTree>
    <p:extLst>
      <p:ext uri="{BB962C8B-B14F-4D97-AF65-F5344CB8AC3E}">
        <p14:creationId xmlns:p14="http://schemas.microsoft.com/office/powerpoint/2010/main" val="30114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kinds of executions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>
                    <a:latin typeface="+mj-lt"/>
                  </a:rPr>
                  <a:t>Infinite</a:t>
                </a:r>
                <a:r>
                  <a:rPr lang="en-US" dirty="0">
                    <a:latin typeface="+mj-lt"/>
                  </a:rPr>
                  <a:t>: Infinite sequence of transitions and trajectories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Closed</a:t>
                </a:r>
                <a:r>
                  <a:rPr lang="en-US" dirty="0">
                    <a:latin typeface="+mj-lt"/>
                  </a:rPr>
                  <a:t>: Finite with final trajectory with closed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=[0,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]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Admissible</a:t>
                </a:r>
                <a:r>
                  <a:rPr lang="en-US" dirty="0">
                    <a:latin typeface="+mj-lt"/>
                  </a:rPr>
                  <a:t>: Infinite duration</a:t>
                </a:r>
              </a:p>
              <a:p>
                <a:pPr lvl="1"/>
                <a:r>
                  <a:rPr lang="en-US" dirty="0">
                    <a:latin typeface="+mj-lt"/>
                  </a:rPr>
                  <a:t>May or may not be infinite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=[0,∞)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Zeno</a:t>
                </a:r>
                <a:r>
                  <a:rPr lang="en-US" dirty="0">
                    <a:latin typeface="+mj-lt"/>
                  </a:rPr>
                  <a:t>: Infinite but not admissible</a:t>
                </a:r>
              </a:p>
              <a:p>
                <a:pPr lvl="1"/>
                <a:r>
                  <a:rPr lang="en-US" dirty="0">
                    <a:latin typeface="+mj-lt"/>
                  </a:rPr>
                  <a:t>Infinite number of transitions in finite time</a:t>
                </a:r>
              </a:p>
              <a:p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b="-3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2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2AF7-9C95-FE42-A677-696B30E6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Rimless wheel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34D8A-8610-E44F-9EAE-EBEE08CDB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333500"/>
            <a:ext cx="6892331" cy="26633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E8EAB8-5E72-2D48-8F75-EACFBC61DF2D}"/>
                  </a:ext>
                </a:extLst>
              </p:cNvPr>
              <p:cNvSpPr txBox="1"/>
              <p:nvPr/>
            </p:nvSpPr>
            <p:spPr>
              <a:xfrm>
                <a:off x="7730531" y="178069"/>
                <a:ext cx="4322978" cy="6314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automaton</a:t>
                </a:r>
                <a:r>
                  <a:rPr lang="en-US" dirty="0"/>
                  <a:t> </a:t>
                </a:r>
                <a:r>
                  <a:rPr lang="en-US" dirty="0" err="1"/>
                  <a:t>RimlessWheel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Real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Nat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  const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Real :=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</a:t>
                </a:r>
                <a:r>
                  <a:rPr lang="en-US" b="1" dirty="0"/>
                  <a:t>type</a:t>
                </a:r>
                <a:r>
                  <a:rPr lang="en-US" dirty="0"/>
                  <a:t> Spokes: enumeration [1,...,n]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actions</a:t>
                </a:r>
              </a:p>
              <a:p>
                <a:r>
                  <a:rPr lang="en-US" b="1" dirty="0"/>
                  <a:t>    </a:t>
                </a:r>
                <a:r>
                  <a:rPr lang="en-US" dirty="0"/>
                  <a:t>impact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variables</a:t>
                </a:r>
              </a:p>
              <a:p>
                <a:r>
                  <a:rPr lang="en-US" dirty="0"/>
                  <a:t>    pivot: Spokes :=1</a:t>
                </a:r>
              </a:p>
              <a:p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:Real := 0</a:t>
                </a:r>
              </a:p>
              <a:p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: Real := 0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transitions</a:t>
                </a:r>
              </a:p>
              <a:p>
                <a:r>
                  <a:rPr lang="en-US" dirty="0"/>
                  <a:t>    impact</a:t>
                </a:r>
              </a:p>
              <a:p>
                <a:r>
                  <a:rPr lang="en-US" dirty="0"/>
                  <a:t>        pre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</a:t>
                </a:r>
                <a:r>
                  <a:rPr lang="en-US" b="1" dirty="0"/>
                  <a:t>eff</a:t>
                </a:r>
                <a:r>
                  <a:rPr lang="en-US" dirty="0"/>
                  <a:t> pivot := pivot + 1 mod n</a:t>
                </a:r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𝜇𝜔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  </a:t>
                </a:r>
                <a:r>
                  <a:rPr lang="en-US" b="1" dirty="0"/>
                  <a:t>trajectories</a:t>
                </a:r>
              </a:p>
              <a:p>
                <a:r>
                  <a:rPr lang="en-US" dirty="0"/>
                  <a:t>        swing</a:t>
                </a:r>
              </a:p>
              <a:p>
                <a:r>
                  <a:rPr lang="en-US" dirty="0"/>
                  <a:t>        </a:t>
                </a:r>
                <a:r>
                  <a:rPr lang="en-US" b="1" dirty="0"/>
                  <a:t>evolve</a:t>
                </a:r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	</a:t>
                </a: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        </a:t>
                </a:r>
                <a:r>
                  <a:rPr lang="en-US" b="1" dirty="0"/>
                  <a:t>invariant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E8EAB8-5E72-2D48-8F75-EACFBC61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531" y="178069"/>
                <a:ext cx="4322978" cy="6314806"/>
              </a:xfrm>
              <a:prstGeom prst="rect">
                <a:avLst/>
              </a:prstGeom>
              <a:blipFill>
                <a:blip r:embed="rId3"/>
                <a:stretch>
                  <a:fillRect l="-1173" t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3D1D5F6-DC40-6A4C-80D9-2B460FB6A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2104" y="3274088"/>
            <a:ext cx="3477909" cy="45008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C05336-9E6B-1E40-A531-79338ABA119B}"/>
                  </a:ext>
                </a:extLst>
              </p14:cNvPr>
              <p14:cNvContentPartPr/>
              <p14:nvPr/>
            </p14:nvContentPartPr>
            <p14:xfrm>
              <a:off x="8852040" y="3854520"/>
              <a:ext cx="19692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C05336-9E6B-1E40-A531-79338ABA11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2680" y="3845160"/>
                <a:ext cx="21564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09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3CBE-78DF-1443-BFC9-30D04CDC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Invariants and reachability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6231-6640-0343-A518-5DAD5F2E4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156" y="1825625"/>
                <a:ext cx="1080064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A state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a typeface="Cambria Math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ea typeface="Cambria Math"/>
                  </a:rPr>
                  <a:t> is </a:t>
                </a:r>
                <a:r>
                  <a:rPr lang="en-US" b="1" i="1" dirty="0">
                    <a:ea typeface="Cambria Math"/>
                  </a:rPr>
                  <a:t>reachable</a:t>
                </a:r>
                <a:r>
                  <a:rPr lang="en-US" dirty="0">
                    <a:ea typeface="Cambria Math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∃</m:t>
                    </m:r>
                  </m:oMath>
                </a14:m>
                <a:r>
                  <a:rPr lang="en-US" dirty="0">
                    <a:ea typeface="Cambria Math"/>
                  </a:rPr>
                  <a:t> an execution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ea typeface="Cambria Math"/>
                  </a:rPr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all reachable state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within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ithin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</m:oMath>
                </a14:m>
                <a:r>
                  <a:rPr lang="en-US" dirty="0">
                    <a:ea typeface="Cambria Math"/>
                  </a:rPr>
                  <a:t> transitions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up to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</m:oMath>
                </a14:m>
                <a:r>
                  <a:rPr lang="en-US" dirty="0">
                    <a:ea typeface="Cambria Math"/>
                  </a:rPr>
                  <a:t> transitions and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An invariant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is a set of states that contains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6231-6640-0343-A518-5DAD5F2E4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156" y="1825625"/>
                <a:ext cx="10800644" cy="4351338"/>
              </a:xfrm>
              <a:blipFill>
                <a:blip r:embed="rId2"/>
                <a:stretch>
                  <a:fillRect l="-1174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679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Recall the theorem we used for proving </a:t>
                </a:r>
                <a:r>
                  <a:rPr lang="en-US" sz="2000" i="1" dirty="0"/>
                  <a:t>I </a:t>
                </a:r>
                <a:r>
                  <a:rPr lang="en-US" sz="2000" dirty="0"/>
                  <a:t>is an invariant for automaton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𝐷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automaton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HIOA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r>
                  <a:rPr lang="en-US" sz="2000" dirty="0">
                    <a:solidFill>
                      <a:srgbClr val="0070C0"/>
                    </a:solidFill>
                  </a:rPr>
                  <a:t>(Trajectory closure) For any trajectory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299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923" y="1371600"/>
                <a:ext cx="10884877" cy="535744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HIOA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(Trajectory closure) For any trajectory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Proof. </a:t>
                </a:r>
                <a:r>
                  <a:rPr lang="en-US" sz="2000" dirty="0"/>
                  <a:t>Consider any reachable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. By the definition of a reachable state, there exists an execution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.  We proceed by induction on the length of the execution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. For the base case,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consists of a single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r>
                  <a:rPr lang="en-US" sz="2000" dirty="0"/>
                  <a:t>, and, by the </a:t>
                </a:r>
                <a:r>
                  <a:rPr lang="en-US" sz="2000" i="1" dirty="0"/>
                  <a:t>start condition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For the inductive step, we consider two subcases: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Case 1: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 point trajectory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 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the induction hypothesis, we know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invoking the </a:t>
                </a:r>
                <a:r>
                  <a:rPr lang="en-US" sz="2000" i="1" dirty="0"/>
                  <a:t>transition closure</a:t>
                </a:r>
                <a:r>
                  <a:rPr lang="en-US" sz="2000" dirty="0"/>
                  <a:t>, we obtain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Case 2: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trajectory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the </a:t>
                </a:r>
                <a:r>
                  <a:rPr lang="en-US" sz="2000" i="1" dirty="0"/>
                  <a:t>induction hypothesis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 by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invoking the </a:t>
                </a:r>
                <a:r>
                  <a:rPr lang="en-US" sz="2000" i="1" dirty="0"/>
                  <a:t>trajectory closure</a:t>
                </a:r>
                <a:r>
                  <a:rPr lang="en-US" sz="2000" dirty="0"/>
                  <a:t>, we deduce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923" y="1371600"/>
                <a:ext cx="10884877" cy="5357445"/>
              </a:xfrm>
              <a:blipFill>
                <a:blip r:embed="rId2"/>
                <a:stretch>
                  <a:fillRect l="-233" t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00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Candidate invariant: ``stays above ground’’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0≡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 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transition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𝑏𝑜𝑢𝑛𝑐𝑒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precondition we know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from effect we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1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mode invariant we know that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It follows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What part of </a:t>
                </a:r>
                <a:r>
                  <a:rPr lang="en-US" dirty="0" err="1"/>
                  <a:t>Bouncingball</a:t>
                </a:r>
                <a:r>
                  <a:rPr lang="en-US" dirty="0"/>
                  <a:t> was used ? What could be changed?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241" t="-1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115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86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Candidate invariant: ``stays above ground and below h’’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transition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𝑏𝑜𝑢𝑛𝑐𝑒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precondition we know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from effect we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mode invariant and inductive hypothesis we know that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solution of d(x) = v; d(v) = -g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Is this adequate to infer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418" t="-1464" r="-709" b="-1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324" y="1604334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4" y="1604334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924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78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86200" cy="1325563"/>
          </a:xfrm>
        </p:spPr>
        <p:txBody>
          <a:bodyPr/>
          <a:lstStyle/>
          <a:p>
            <a:r>
              <a:rPr lang="en-US" dirty="0"/>
              <a:t>Strengthened invariant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400" dirty="0"/>
                  <a:t>Candidate invariant: ``stays above ground and below h’’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400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400" b="1" dirty="0"/>
                  <a:t>Exercise</a:t>
                </a:r>
                <a:r>
                  <a:rPr lang="en-US" sz="2400" dirty="0"/>
                  <a:t>: Finish the rest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418" t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en-US" sz="1800" dirty="0">
                    <a:solidFill>
                      <a:srgbClr val="0070C0"/>
                    </a:solidFill>
                  </a:rPr>
                  <a:t> k: Nat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-cv; </a:t>
                </a:r>
                <a:r>
                  <a:rPr lang="en-US" sz="1800" dirty="0">
                    <a:solidFill>
                      <a:srgbClr val="0070C0"/>
                    </a:solidFill>
                  </a:rPr>
                  <a:t>k:= k + 1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1157" t="-1120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961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91BD-3DF4-7D43-9CC0-1298632F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C362-6F7D-7F45-87F5-9B2226E6A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Theorem 7.1 gives a sufficient condition for proving </a:t>
            </a:r>
            <a:r>
              <a:rPr lang="en-US" b="1" dirty="0"/>
              <a:t>inductive </a:t>
            </a:r>
            <a:r>
              <a:rPr lang="en-US" dirty="0"/>
              <a:t>invariants</a:t>
            </a:r>
          </a:p>
          <a:p>
            <a:r>
              <a:rPr lang="en-US" dirty="0"/>
              <a:t>Not all invariants are inductive</a:t>
            </a:r>
          </a:p>
          <a:p>
            <a:r>
              <a:rPr lang="en-US" dirty="0"/>
              <a:t>We often have to </a:t>
            </a:r>
            <a:r>
              <a:rPr lang="en-US" b="1" dirty="0"/>
              <a:t>strengthen</a:t>
            </a:r>
            <a:r>
              <a:rPr lang="en-US" b="1" i="1" dirty="0"/>
              <a:t> </a:t>
            </a:r>
            <a:r>
              <a:rPr lang="en-US" dirty="0"/>
              <a:t>invariants to make them inductive</a:t>
            </a:r>
          </a:p>
          <a:p>
            <a:r>
              <a:rPr lang="en-US" dirty="0"/>
              <a:t>Read examples in Chapter 7</a:t>
            </a:r>
          </a:p>
        </p:txBody>
      </p:sp>
    </p:spTree>
    <p:extLst>
      <p:ext uri="{BB962C8B-B14F-4D97-AF65-F5344CB8AC3E}">
        <p14:creationId xmlns:p14="http://schemas.microsoft.com/office/powerpoint/2010/main" val="2213217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DABF-5578-CE43-9449-483095C3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Sub-tangential conditions.</a:t>
            </a:r>
            <a:r>
              <a:rPr lang="en-US" sz="3600" dirty="0"/>
              <a:t> Checking trajectory conditions without solving ODEs [Bhatia and </a:t>
            </a:r>
            <a:r>
              <a:rPr lang="en-US" sz="3600" dirty="0" err="1"/>
              <a:t>Szegö</a:t>
            </a:r>
            <a:r>
              <a:rPr lang="en-US" sz="3600" dirty="0"/>
              <a:t> 67]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F9DF0-AFA4-7049-8F52-A10AD124C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8512834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+mj-lt"/>
                  </a:rPr>
                  <a:t>How to check trajectory closure: for 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?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+mj-lt"/>
                  </a:rPr>
                  <a:t>Use a Lyapunov function for each mode. How? Exercise.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>
                    <a:latin typeface="+mj-lt"/>
                  </a:rPr>
                  <a:t>Lemma.</a:t>
                </a:r>
                <a:r>
                  <a:rPr lang="en-US" sz="2400" dirty="0">
                    <a:latin typeface="+mj-lt"/>
                  </a:rPr>
                  <a:t> Consider the ODE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 for state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+mj-lt"/>
                  </a:rPr>
                  <a:t> describing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>
                    <a:latin typeface="+mj-lt"/>
                  </a:rPr>
                  <a:t>.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be a compact set containing the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+mj-lt"/>
                  </a:rPr>
                  <a:t>. </a:t>
                </a:r>
                <a:r>
                  <a:rPr lang="en-US" sz="2400" dirty="0"/>
                  <a:t>Boundary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is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1" i="1" dirty="0"/>
                  <a:t>. </a:t>
                </a:r>
                <a:r>
                  <a:rPr lang="en-US" sz="2400" dirty="0">
                    <a:latin typeface="+mj-lt"/>
                  </a:rPr>
                  <a:t>Then,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is an inductive invariant of the above ODE if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𝑏𝑜𝑢𝑛𝑑𝑎𝑟𝑦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+mj-lt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</a:rPr>
                  <a:t> is pointing inwards from the  boundary. That is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F9DF0-AFA4-7049-8F52-A10AD124C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8512834" cy="4351338"/>
              </a:xfrm>
              <a:blipFill>
                <a:blip r:embed="rId2"/>
                <a:stretch>
                  <a:fillRect l="-1192" t="-872"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0332070-91E6-4F4B-942A-BC71E3C76ACA}"/>
              </a:ext>
            </a:extLst>
          </p:cNvPr>
          <p:cNvSpPr txBox="1"/>
          <p:nvPr/>
        </p:nvSpPr>
        <p:spPr>
          <a:xfrm>
            <a:off x="838200" y="6334964"/>
            <a:ext cx="849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Related to the notions of Barrier Certificates and more general Control Barrier Functions.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F08D344-5403-4B4F-8916-DE5B184B4B77}"/>
              </a:ext>
            </a:extLst>
          </p:cNvPr>
          <p:cNvSpPr/>
          <p:nvPr/>
        </p:nvSpPr>
        <p:spPr>
          <a:xfrm>
            <a:off x="9747211" y="2085813"/>
            <a:ext cx="2034376" cy="3065935"/>
          </a:xfrm>
          <a:custGeom>
            <a:avLst/>
            <a:gdLst>
              <a:gd name="connsiteX0" fmla="*/ 2019220 w 2034376"/>
              <a:gd name="connsiteY0" fmla="*/ 1417815 h 3065935"/>
              <a:gd name="connsiteX1" fmla="*/ 1794933 w 2034376"/>
              <a:gd name="connsiteY1" fmla="*/ 227370 h 3065935"/>
              <a:gd name="connsiteX2" fmla="*/ 604487 w 2034376"/>
              <a:gd name="connsiteY2" fmla="*/ 106600 h 3065935"/>
              <a:gd name="connsiteX3" fmla="*/ 35144 w 2034376"/>
              <a:gd name="connsiteY3" fmla="*/ 1417815 h 3065935"/>
              <a:gd name="connsiteX4" fmla="*/ 224925 w 2034376"/>
              <a:gd name="connsiteY4" fmla="*/ 2953317 h 3065935"/>
              <a:gd name="connsiteX5" fmla="*/ 1553393 w 2034376"/>
              <a:gd name="connsiteY5" fmla="*/ 2780789 h 3065935"/>
              <a:gd name="connsiteX6" fmla="*/ 2019220 w 2034376"/>
              <a:gd name="connsiteY6" fmla="*/ 1417815 h 3065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4376" h="3065935">
                <a:moveTo>
                  <a:pt x="2019220" y="1417815"/>
                </a:moveTo>
                <a:cubicBezTo>
                  <a:pt x="2059477" y="992245"/>
                  <a:pt x="2030722" y="445906"/>
                  <a:pt x="1794933" y="227370"/>
                </a:cubicBezTo>
                <a:cubicBezTo>
                  <a:pt x="1559144" y="8834"/>
                  <a:pt x="897785" y="-91808"/>
                  <a:pt x="604487" y="106600"/>
                </a:cubicBezTo>
                <a:cubicBezTo>
                  <a:pt x="311189" y="305007"/>
                  <a:pt x="98404" y="943362"/>
                  <a:pt x="35144" y="1417815"/>
                </a:cubicBezTo>
                <a:cubicBezTo>
                  <a:pt x="-28116" y="1892268"/>
                  <a:pt x="-28117" y="2726155"/>
                  <a:pt x="224925" y="2953317"/>
                </a:cubicBezTo>
                <a:cubicBezTo>
                  <a:pt x="477966" y="3180479"/>
                  <a:pt x="1251468" y="3033831"/>
                  <a:pt x="1553393" y="2780789"/>
                </a:cubicBezTo>
                <a:cubicBezTo>
                  <a:pt x="1855317" y="2527748"/>
                  <a:pt x="1978963" y="1843385"/>
                  <a:pt x="2019220" y="141781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63BAD7-EC9C-D940-86E7-2483A0019FAD}"/>
                  </a:ext>
                </a:extLst>
              </p:cNvPr>
              <p:cNvSpPr txBox="1"/>
              <p:nvPr/>
            </p:nvSpPr>
            <p:spPr>
              <a:xfrm>
                <a:off x="9933335" y="5362207"/>
                <a:ext cx="20343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63BAD7-EC9C-D940-86E7-2483A0019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335" y="5362207"/>
                <a:ext cx="203437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908ED6-6946-1046-8DCE-02B260FEFFDA}"/>
                  </a:ext>
                </a:extLst>
              </p:cNvPr>
              <p:cNvSpPr txBox="1"/>
              <p:nvPr/>
            </p:nvSpPr>
            <p:spPr>
              <a:xfrm>
                <a:off x="9933335" y="3385180"/>
                <a:ext cx="20343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908ED6-6946-1046-8DCE-02B260FEF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335" y="3385180"/>
                <a:ext cx="203437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3F1790-A41B-C845-825A-CF0BB90A50C4}"/>
              </a:ext>
            </a:extLst>
          </p:cNvPr>
          <p:cNvCxnSpPr/>
          <p:nvPr/>
        </p:nvCxnSpPr>
        <p:spPr>
          <a:xfrm>
            <a:off x="11353800" y="2085813"/>
            <a:ext cx="613912" cy="64013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659EFB-3BF4-314A-8CD3-E47BF671CD9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1231592" y="2313183"/>
            <a:ext cx="310552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EBBE54-5A48-0744-A4CE-150329054E9B}"/>
                  </a:ext>
                </a:extLst>
              </p:cNvPr>
              <p:cNvSpPr txBox="1"/>
              <p:nvPr/>
            </p:nvSpPr>
            <p:spPr>
              <a:xfrm>
                <a:off x="10272623" y="2349921"/>
                <a:ext cx="1695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EBBE54-5A48-0744-A4CE-150329054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623" y="2349921"/>
                <a:ext cx="169508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9D0028-92C0-944B-AB52-12FE5B62C381}"/>
              </a:ext>
            </a:extLst>
          </p:cNvPr>
          <p:cNvCxnSpPr>
            <a:cxnSpLocks/>
          </p:cNvCxnSpPr>
          <p:nvPr/>
        </p:nvCxnSpPr>
        <p:spPr>
          <a:xfrm flipH="1">
            <a:off x="11353799" y="4146230"/>
            <a:ext cx="345599" cy="7330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5A3F0C-1177-DD47-9CC7-08D170C3310F}"/>
              </a:ext>
            </a:extLst>
          </p:cNvPr>
          <p:cNvCxnSpPr>
            <a:cxnSpLocks/>
          </p:cNvCxnSpPr>
          <p:nvPr/>
        </p:nvCxnSpPr>
        <p:spPr>
          <a:xfrm flipV="1">
            <a:off x="11519138" y="4146230"/>
            <a:ext cx="7460" cy="377917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2AE0E0-019F-AC45-A16C-D6D9EAAF8BFB}"/>
              </a:ext>
            </a:extLst>
          </p:cNvPr>
          <p:cNvCxnSpPr>
            <a:cxnSpLocks/>
          </p:cNvCxnSpPr>
          <p:nvPr/>
        </p:nvCxnSpPr>
        <p:spPr>
          <a:xfrm flipH="1">
            <a:off x="9709181" y="3225800"/>
            <a:ext cx="87395" cy="92043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F695E1-A37B-F74C-8913-F3CC9FD18C5B}"/>
              </a:ext>
            </a:extLst>
          </p:cNvPr>
          <p:cNvCxnSpPr>
            <a:cxnSpLocks/>
          </p:cNvCxnSpPr>
          <p:nvPr/>
        </p:nvCxnSpPr>
        <p:spPr>
          <a:xfrm>
            <a:off x="9747211" y="3657600"/>
            <a:ext cx="98729" cy="308709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70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157B-58F6-3914-722B-8C43FDA9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70"/>
            <a:ext cx="10515600" cy="907888"/>
          </a:xfrm>
        </p:spPr>
        <p:txBody>
          <a:bodyPr>
            <a:normAutofit/>
          </a:bodyPr>
          <a:lstStyle/>
          <a:p>
            <a:r>
              <a:rPr lang="en-US" sz="4000" dirty="0"/>
              <a:t>Proving invariance using </a:t>
            </a:r>
            <a:r>
              <a:rPr lang="en-US" sz="4000" dirty="0" err="1"/>
              <a:t>subtangential</a:t>
            </a:r>
            <a:r>
              <a:rPr lang="en-US" sz="4000" dirty="0"/>
              <a:t> 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954158"/>
                <a:ext cx="7796065" cy="5724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latin typeface="+mj-lt"/>
                  </a:rPr>
                  <a:t>Lemma.</a:t>
                </a:r>
                <a:r>
                  <a:rPr lang="en-US" sz="2000" dirty="0">
                    <a:latin typeface="+mj-lt"/>
                  </a:rPr>
                  <a:t> Consider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+mj-lt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≤0}</m:t>
                    </m:r>
                  </m:oMath>
                </a14:m>
                <a:r>
                  <a:rPr lang="en-US" sz="2000" dirty="0">
                    <a:latin typeface="+mj-lt"/>
                  </a:rPr>
                  <a:t> is compact and contains.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i="1" dirty="0"/>
                  <a:t> </a:t>
                </a:r>
                <a:r>
                  <a:rPr lang="en-US" sz="2000" dirty="0"/>
                  <a:t>is the boundary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and P is differentiable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+mj-lt"/>
                  </a:rPr>
                  <a:t> If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Sub-tangential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latin typeface="+mj-lt"/>
                  </a:rPr>
                  <a:t> is an invariant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Proof. Fix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We must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000" dirty="0"/>
                  <a:t>	[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≤0]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SFTC trajectory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leaves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at some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By continuity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there exists earliest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∈(0,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d>
                        <m:d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is nonincreasing and it is not possible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954158"/>
                <a:ext cx="7796065" cy="5724937"/>
              </a:xfrm>
              <a:blipFill>
                <a:blip r:embed="rId2"/>
                <a:stretch>
                  <a:fillRect l="-813" t="-1106" r="-163" b="-10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 descr="A graph with a spiral of colored lines&#10;&#10;Description automatically generated with medium confidence">
            <a:extLst>
              <a:ext uri="{FF2B5EF4-FFF2-40B4-BE49-F238E27FC236}">
                <a16:creationId xmlns:a16="http://schemas.microsoft.com/office/drawing/2014/main" id="{B5BBDA6F-3CB6-474C-342B-49A5AE347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0" r="5974"/>
          <a:stretch/>
        </p:blipFill>
        <p:spPr>
          <a:xfrm>
            <a:off x="7582505" y="2027301"/>
            <a:ext cx="4592079" cy="44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6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0"/>
                <a:ext cx="9214047" cy="667909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latin typeface="+mj-lt"/>
                  </a:rPr>
                  <a:t>Lemma.</a:t>
                </a:r>
                <a:r>
                  <a:rPr lang="en-US" sz="2000" dirty="0">
                    <a:latin typeface="+mj-lt"/>
                  </a:rPr>
                  <a:t> Consider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+mj-lt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≤0}</m:t>
                    </m:r>
                  </m:oMath>
                </a14:m>
                <a:r>
                  <a:rPr lang="en-US" sz="2000" dirty="0">
                    <a:latin typeface="+mj-lt"/>
                  </a:rPr>
                  <a:t> is compact and contains.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i="1" dirty="0"/>
                  <a:t> </a:t>
                </a:r>
                <a:r>
                  <a:rPr lang="en-US" sz="2000" dirty="0"/>
                  <a:t>is the boundary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and P is differentiable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+mj-lt"/>
                  </a:rPr>
                  <a:t> If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Sub-tangential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latin typeface="+mj-lt"/>
                  </a:rPr>
                  <a:t> is an invariant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600" dirty="0">
                    <a:latin typeface="+mj-lt"/>
                  </a:rPr>
                  <a:t>Example</a:t>
                </a:r>
                <a:r>
                  <a:rPr lang="en-US" sz="2000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)≤0}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=4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)+2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On the boundary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Completing the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0"/>
                <a:ext cx="9214047" cy="6679095"/>
              </a:xfrm>
              <a:blipFill>
                <a:blip r:embed="rId2"/>
                <a:stretch>
                  <a:fillRect l="-1102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 descr="A graph with a spiral of colored lines&#10;&#10;Description automatically generated with medium confidence">
            <a:extLst>
              <a:ext uri="{FF2B5EF4-FFF2-40B4-BE49-F238E27FC236}">
                <a16:creationId xmlns:a16="http://schemas.microsoft.com/office/drawing/2014/main" id="{B5BBDA6F-3CB6-474C-342B-49A5AE347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0" r="5974"/>
          <a:stretch/>
        </p:blipFill>
        <p:spPr>
          <a:xfrm>
            <a:off x="9316279" y="132240"/>
            <a:ext cx="2752288" cy="267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9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98B4-99E9-EFB5-7F62-1690B559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449"/>
          </a:xfrm>
        </p:spPr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4B783D-6E35-048B-5522-7F6F7BE81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8884" y="1891886"/>
            <a:ext cx="4528943" cy="4351338"/>
          </a:xfrm>
        </p:spPr>
      </p:pic>
    </p:spTree>
    <p:extLst>
      <p:ext uri="{BB962C8B-B14F-4D97-AF65-F5344CB8AC3E}">
        <p14:creationId xmlns:p14="http://schemas.microsoft.com/office/powerpoint/2010/main" val="639062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A383-6DB0-DF48-8CCB-D62A2B9A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960"/>
          </a:xfrm>
        </p:spPr>
        <p:txBody>
          <a:bodyPr>
            <a:normAutofit/>
          </a:bodyPr>
          <a:lstStyle/>
          <a:p>
            <a:r>
              <a:rPr lang="en-US" dirty="0"/>
              <a:t>Piece-wise sub-tangential conditions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0E306-087E-2240-B964-362084392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736" y="1904784"/>
            <a:ext cx="3461268" cy="40820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E5E724-12B8-D642-92DD-DAF9B4DAE0B9}"/>
              </a:ext>
            </a:extLst>
          </p:cNvPr>
          <p:cNvSpPr txBox="1"/>
          <p:nvPr/>
        </p:nvSpPr>
        <p:spPr>
          <a:xfrm>
            <a:off x="7946430" y="2105561"/>
            <a:ext cx="403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the boundary is defined in pieces, for example, one for each mode, then check the condition for each piece separately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4682F-9755-7226-B7C8-BB19B69D647E}"/>
              </a:ext>
            </a:extLst>
          </p:cNvPr>
          <p:cNvSpPr txBox="1"/>
          <p:nvPr/>
        </p:nvSpPr>
        <p:spPr>
          <a:xfrm>
            <a:off x="7739460" y="6378051"/>
            <a:ext cx="4452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Safety verification of model helicopter controller using hybrid input/output automata, Mitra, Wang, Lynch &amp; </a:t>
            </a:r>
            <a:r>
              <a:rPr lang="en-US" sz="1200" dirty="0" err="1"/>
              <a:t>Feron</a:t>
            </a:r>
            <a:r>
              <a:rPr lang="en-US" sz="1200" dirty="0"/>
              <a:t>, HSCC 2003.</a:t>
            </a:r>
          </a:p>
        </p:txBody>
      </p:sp>
      <p:pic>
        <p:nvPicPr>
          <p:cNvPr id="1026" name="Picture 2" descr="Quanser 3 DOF helicopter [23] | Download Scientific Diagram">
            <a:extLst>
              <a:ext uri="{FF2B5EF4-FFF2-40B4-BE49-F238E27FC236}">
                <a16:creationId xmlns:a16="http://schemas.microsoft.com/office/drawing/2014/main" id="{AD8110FE-8058-1905-9129-C6A4CBA90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" y="1690688"/>
            <a:ext cx="4069326" cy="250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673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2771-F091-C84A-80B6-F75F5D7A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3A21-D622-7948-B80D-ECD53654D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124" y="1467817"/>
            <a:ext cx="8064260" cy="50250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Interesting features in hybrid models </a:t>
            </a: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Interaction between transitions, trajectories, and mode invariants can lead to extra sources of nondeterminism; can be removed with urgency </a:t>
            </a: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Mode switches can make the system unstable</a:t>
            </a: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Zeno behavior</a:t>
            </a:r>
          </a:p>
          <a:p>
            <a:pPr marL="0" indent="0">
              <a:buNone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Inductive invariance proofs work with additional condition for trajectory closure</a:t>
            </a: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Trajectory closure can be checked with </a:t>
            </a:r>
            <a:r>
              <a:rPr lang="en-US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subtangential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condition, Lyapunov functions, Barrier certificates</a:t>
            </a: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This requires first finding an invariant/barrier; very active research on learning neural barriers by minimizing a loss representing violation of gradient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B5912-0107-9E42-91C8-6B6A1C0A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61" y="497993"/>
            <a:ext cx="4226139" cy="1192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BA83F-0AC0-2642-92C8-CFE8704DD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2" t="10289" r="9954" b="11279"/>
          <a:stretch/>
        </p:blipFill>
        <p:spPr>
          <a:xfrm>
            <a:off x="8902460" y="1823556"/>
            <a:ext cx="3223528" cy="24516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18206B6-EDDE-E749-8615-58924E67EAE0}"/>
              </a:ext>
            </a:extLst>
          </p:cNvPr>
          <p:cNvGrpSpPr/>
          <p:nvPr/>
        </p:nvGrpSpPr>
        <p:grpSpPr>
          <a:xfrm>
            <a:off x="9833932" y="4490207"/>
            <a:ext cx="1932499" cy="980501"/>
            <a:chOff x="2382856" y="3974748"/>
            <a:chExt cx="3620208" cy="1836802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B1C0ACC0-BBC6-7B4C-A5D2-FC306C0CCE21}"/>
                </a:ext>
              </a:extLst>
            </p:cNvPr>
            <p:cNvSpPr/>
            <p:nvPr/>
          </p:nvSpPr>
          <p:spPr>
            <a:xfrm flipV="1">
              <a:off x="3589361" y="4547418"/>
              <a:ext cx="1279023" cy="1264132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394D04-0949-6747-A149-29E6CBAD2AC2}"/>
                </a:ext>
              </a:extLst>
            </p:cNvPr>
            <p:cNvSpPr/>
            <p:nvPr/>
          </p:nvSpPr>
          <p:spPr>
            <a:xfrm>
              <a:off x="3485294" y="4967817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3CD913-73DB-3142-A3C4-0225D62B8F1C}"/>
                </a:ext>
              </a:extLst>
            </p:cNvPr>
            <p:cNvSpPr/>
            <p:nvPr/>
          </p:nvSpPr>
          <p:spPr>
            <a:xfrm>
              <a:off x="4762550" y="5006182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61718516-6600-BB48-8429-FCE05BCF03C5}"/>
                </a:ext>
              </a:extLst>
            </p:cNvPr>
            <p:cNvSpPr/>
            <p:nvPr/>
          </p:nvSpPr>
          <p:spPr>
            <a:xfrm rot="10800000" flipV="1">
              <a:off x="3576621" y="4344241"/>
              <a:ext cx="1285815" cy="127084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0792766F-BF4F-F848-A98E-C9620E25C4F2}"/>
                </a:ext>
              </a:extLst>
            </p:cNvPr>
            <p:cNvSpPr/>
            <p:nvPr/>
          </p:nvSpPr>
          <p:spPr>
            <a:xfrm flipV="1">
              <a:off x="4889732" y="4898152"/>
              <a:ext cx="621695" cy="614456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58601D-2E4B-7C43-BA18-BC6FB60F112A}"/>
                </a:ext>
              </a:extLst>
            </p:cNvPr>
            <p:cNvGrpSpPr/>
            <p:nvPr/>
          </p:nvGrpSpPr>
          <p:grpSpPr>
            <a:xfrm>
              <a:off x="4862163" y="4698601"/>
              <a:ext cx="967364" cy="653582"/>
              <a:chOff x="4879696" y="3698917"/>
              <a:chExt cx="3869756" cy="2614530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C827B453-0105-7747-833F-901AD2B2E5AE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9D8EA0BC-BF2B-6F4B-AE18-2A11F00326D2}"/>
                  </a:ext>
                </a:extLst>
              </p:cNvPr>
              <p:cNvSpPr/>
              <p:nvPr/>
            </p:nvSpPr>
            <p:spPr>
              <a:xfrm flipV="1">
                <a:off x="7470429" y="5022551"/>
                <a:ext cx="1279023" cy="1264134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334D706-6738-1B4E-9C48-347AEB537E12}"/>
                </a:ext>
              </a:extLst>
            </p:cNvPr>
            <p:cNvSpPr/>
            <p:nvPr/>
          </p:nvSpPr>
          <p:spPr>
            <a:xfrm>
              <a:off x="5405596" y="4979663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CEF7FA-5751-1D4F-A135-C5F06C372C9F}"/>
                </a:ext>
              </a:extLst>
            </p:cNvPr>
            <p:cNvGrpSpPr/>
            <p:nvPr/>
          </p:nvGrpSpPr>
          <p:grpSpPr>
            <a:xfrm>
              <a:off x="5506617" y="4830390"/>
              <a:ext cx="496447" cy="453633"/>
              <a:chOff x="4879696" y="3698917"/>
              <a:chExt cx="3707519" cy="3387777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FDE757C2-E7B3-0244-AFBD-E7C3BC98DAC3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157589A-7C0B-3C42-B574-208907889AC6}"/>
                  </a:ext>
                </a:extLst>
              </p:cNvPr>
              <p:cNvSpPr/>
              <p:nvPr/>
            </p:nvSpPr>
            <p:spPr>
              <a:xfrm flipV="1">
                <a:off x="7308190" y="5822561"/>
                <a:ext cx="1279025" cy="1264133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A610A8-C5CA-F446-AEDB-8415AD9BC710}"/>
                </a:ext>
              </a:extLst>
            </p:cNvPr>
            <p:cNvSpPr/>
            <p:nvPr/>
          </p:nvSpPr>
          <p:spPr>
            <a:xfrm>
              <a:off x="5736539" y="4982018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0BF58B-5397-2E47-B223-5D2422CDD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6400" l="5042" r="94958">
                          <a14:foregroundMark x1="39076" y1="52400" x2="39076" y2="52400"/>
                          <a14:foregroundMark x1="42437" y1="45200" x2="42437" y2="45200"/>
                          <a14:foregroundMark x1="52521" y1="40400" x2="52521" y2="40400"/>
                          <a14:foregroundMark x1="68908" y1="51600" x2="68908" y2="51600"/>
                          <a14:foregroundMark x1="57563" y1="56800" x2="57563" y2="56800"/>
                          <a14:foregroundMark x1="45798" y1="65200" x2="45798" y2="65200"/>
                          <a14:foregroundMark x1="34874" y1="67200" x2="34874" y2="67200"/>
                          <a14:foregroundMark x1="65126" y1="66400" x2="65126" y2="66400"/>
                          <a14:foregroundMark x1="75210" y1="63200" x2="75210" y2="63200"/>
                          <a14:foregroundMark x1="80672" y1="54400" x2="80672" y2="544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3228896" y="5123762"/>
              <a:ext cx="633943" cy="6659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CFE2513-57F9-4B46-9044-E333AB891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120" b="95506" l="5385" r="95769"/>
                      </a14:imgEffect>
                    </a14:imgLayer>
                  </a14:imgProps>
                </a:ext>
              </a:extLst>
            </a:blip>
            <a:srcRect l="8183" t="4153" r="6791" b="5003"/>
            <a:stretch/>
          </p:blipFill>
          <p:spPr>
            <a:xfrm>
              <a:off x="2382856" y="3974748"/>
              <a:ext cx="1018308" cy="1113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63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Hybrid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2"/>
            <a:ext cx="10515599" cy="3505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Algorithmic analysis of (Alur-Dill’s) Timed Automata[1]</a:t>
            </a:r>
          </a:p>
          <a:p>
            <a:pPr marL="0" indent="0">
              <a:buNone/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Timed Automata are a restricted class of hybrid automata with only clock variables which are amenable to automatic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5638801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[1] Rajeev </a:t>
            </a:r>
            <a:r>
              <a:rPr lang="en-US" dirty="0" err="1"/>
              <a:t>Alur</a:t>
            </a:r>
            <a:r>
              <a:rPr lang="en-US" dirty="0"/>
              <a:t> and David L. Dill. </a:t>
            </a:r>
            <a:r>
              <a:rPr lang="en-US" dirty="0">
                <a:hlinkClick r:id="rId2"/>
              </a:rPr>
              <a:t>A theory of timed automata</a:t>
            </a:r>
            <a:r>
              <a:rPr lang="en-US" dirty="0"/>
              <a:t>. Theoretical Computer Science, 126:183-235, 1994.</a:t>
            </a:r>
          </a:p>
        </p:txBody>
      </p:sp>
    </p:spTree>
    <p:extLst>
      <p:ext uri="{BB962C8B-B14F-4D97-AF65-F5344CB8AC3E}">
        <p14:creationId xmlns:p14="http://schemas.microsoft.com/office/powerpoint/2010/main" val="354822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Clocks and Clock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272" y="1375920"/>
                <a:ext cx="11497456" cy="484499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</a:t>
                </a:r>
                <a:r>
                  <a:rPr lang="en-US" sz="2400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clock variable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 is a continuous (analog) variable of type real such that along any trajectory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τ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of x, for all 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τ</m:t>
                    </m:r>
                    <m:r>
                      <a:rPr lang="en-US" sz="2400" b="0" i="0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dom</m:t>
                    </m:r>
                    <m:r>
                      <a:rPr lang="en-US" sz="2400" b="0" i="0" smtClean="0"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US" sz="24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τ</m:t>
                        </m:r>
                        <m:r>
                          <a:rPr lang="en-US" sz="2400" b="0" i="0" smtClean="0">
                            <a:latin typeface="Cambria Math"/>
                          </a:rPr>
                          <m:t>↓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x</m:t>
                        </m:r>
                      </m:e>
                    </m:d>
                    <m:d>
                      <m:dPr>
                        <m:ctrlPr>
                          <a:rPr lang="en-US" sz="24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t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a set X of clock variables,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(X) of </a:t>
                </a:r>
                <a:r>
                  <a:rPr lang="en-US" sz="2400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integral clock constraints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are expressions defined by the syntax: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 ::= x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q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8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x</m:t>
                        </m:r>
                        <m:r>
                          <a:rPr lang="en-US" sz="1800" b="0" i="0" smtClean="0">
                            <a:latin typeface="Cambria Math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q</m:t>
                        </m:r>
                        <m:r>
                          <a:rPr lang="en-US" sz="1800" b="0" i="0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1800" b="0" i="0" smtClean="0">
                        <a:latin typeface="Cambria Math"/>
                      </a:rPr>
                      <m:t> ¬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g</m:t>
                    </m:r>
                    <m:r>
                      <a:rPr lang="en-US" sz="1800" b="0" i="0" smtClean="0">
                        <a:latin typeface="Cambria Math"/>
                      </a:rPr>
                      <m:t>  | </m:t>
                    </m:r>
                    <m:sSub>
                      <m:sSubPr>
                        <m:ctrlPr>
                          <a:rPr lang="en-US" sz="18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8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∧  </m:t>
                    </m:r>
                    <m:sSub>
                      <m:sSubPr>
                        <m:ctrlPr>
                          <a:rPr lang="en-US" sz="18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8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x</m:t>
                    </m:r>
                    <m:r>
                      <a:rPr lang="en-US" sz="1800" b="0" i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X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and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q</m:t>
                    </m:r>
                    <m:r>
                      <a:rPr lang="en-US" sz="1800" b="0" i="0" smtClean="0">
                        <a:latin typeface="Cambria Math"/>
                      </a:rPr>
                      <m:t>∈ 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ℤ</m:t>
                    </m:r>
                  </m:oMath>
                </a14:m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Examples: x = 10; x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[2, 5); true are valid clock constraints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What do clock constraints look like?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Semantics of clock constraints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[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g</m:t>
                    </m:r>
                    <m:r>
                      <a:rPr lang="en-US" sz="2400" b="0" i="0" smtClean="0">
                        <a:latin typeface="Cambria Math"/>
                      </a:rPr>
                      <m:t>]</m:t>
                    </m:r>
                  </m:oMath>
                </a14:m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272" y="1375920"/>
                <a:ext cx="11497456" cy="4844998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9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Timed Automata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Definition. An </a:t>
                </a:r>
                <a:r>
                  <a:rPr lang="en-US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integral timed automaton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is a HIOA 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V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Θ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A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where </a:t>
                </a:r>
              </a:p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 = X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l</m:t>
                        </m:r>
                      </m:e>
                    </m:d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a set of n clocks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l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a discrete state variable of finite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baseline="-25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is a finite set </a:t>
                </a:r>
              </a:p>
              <a:p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is a set of transitions such that </a:t>
                </a:r>
              </a:p>
              <a:p>
                <a:pPr lvl="1"/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guards are described by 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Φ</m:t>
                    </m:r>
                    <m:r>
                      <a:rPr lang="en-US" b="0" i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  <m:r>
                      <a:rPr lang="en-US" b="0" i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x</m:t>
                        </m:r>
                        <m:r>
                          <a:rPr lang="en-US" b="0" i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l</m:t>
                        </m:r>
                      </m:e>
                    </m:d>
                    <m:r>
                      <a:rPr lang="en-US" b="0" i="0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a</m:t>
                    </m:r>
                    <m:r>
                      <a:rPr lang="en-US" b="0" i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en-US" b="0" i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l</m:t>
                            </m:r>
                          </m:e>
                          <m:sup>
                            <m:r>
                              <a:rPr lang="en-US" b="0" i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x</m:t>
                        </m:r>
                      </m:e>
                      <m:sup>
                        <m:r>
                          <a:rPr lang="en-US" b="0" i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  <m:r>
                      <a:rPr lang="en-US" b="0" i="0">
                        <a:latin typeface="Cambria Math"/>
                      </a:rPr>
                      <m:t>=0</m:t>
                    </m:r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set of clock trajectories for the clock variables in X</a:t>
                </a:r>
              </a:p>
              <a:p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879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Light switch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539875"/>
                <a:ext cx="4724400" cy="4953000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sz="3400" b="1" dirty="0"/>
                  <a:t>Math Formulation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automaton </a:t>
                </a:r>
                <a:r>
                  <a:rPr lang="en-US" sz="3400" dirty="0"/>
                  <a:t>Switch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variables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x, y:Real := 0, </a:t>
                </a:r>
                <a:r>
                  <a:rPr lang="en-US" sz="3400" dirty="0" err="1"/>
                  <a:t>loc</a:t>
                </a:r>
                <a:r>
                  <a:rPr lang="en-US" sz="3400" dirty="0"/>
                  <a:t>: {on,off} := off</a:t>
                </a:r>
              </a:p>
              <a:p>
                <a:pPr marL="400050" lvl="1" indent="0">
                  <a:buNone/>
                </a:pPr>
                <a:endParaRPr lang="en-US" sz="3400" dirty="0"/>
              </a:p>
              <a:p>
                <a:pPr marL="400050" lvl="1" indent="0">
                  <a:buNone/>
                </a:pPr>
                <a:r>
                  <a:rPr lang="en-US" sz="3400" b="1" dirty="0"/>
                  <a:t>transitions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push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pre </a:t>
                </a:r>
                <a:r>
                  <a:rPr lang="en-US" sz="3400" dirty="0"/>
                  <a:t>x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/>
                      </a:rPr>
                      <m:t>≥</m:t>
                    </m:r>
                  </m:oMath>
                </a14:m>
                <a:r>
                  <a:rPr lang="en-US" sz="3400" dirty="0"/>
                  <a:t> 2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eff if </a:t>
                </a:r>
                <a:r>
                  <a:rPr lang="en-US" sz="3400" dirty="0"/>
                  <a:t>loc = on </a:t>
                </a:r>
                <a:r>
                  <a:rPr lang="en-US" sz="3400" b="1" dirty="0"/>
                  <a:t>then </a:t>
                </a:r>
                <a:r>
                  <a:rPr lang="en-US" sz="3400" dirty="0"/>
                  <a:t>x := 0 </a:t>
                </a:r>
                <a:r>
                  <a:rPr lang="en-US" sz="34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3400" dirty="0"/>
                  <a:t>	    </a:t>
                </a:r>
                <a:r>
                  <a:rPr lang="en-US" sz="3400" b="1" dirty="0"/>
                  <a:t>else</a:t>
                </a:r>
                <a:r>
                  <a:rPr lang="en-US" sz="3400" dirty="0"/>
                  <a:t> </a:t>
                </a:r>
                <a:r>
                  <a:rPr lang="en-US" sz="3400" dirty="0" err="1"/>
                  <a:t>x,y</a:t>
                </a:r>
                <a:r>
                  <a:rPr lang="en-US" sz="3400" dirty="0"/>
                  <a:t> := 0; loc := off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pop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pre </a:t>
                </a:r>
                <a:r>
                  <a:rPr lang="en-US" sz="3400" dirty="0"/>
                  <a:t>y = 15 /\ </a:t>
                </a:r>
                <a:r>
                  <a:rPr lang="en-US" sz="3400" dirty="0" err="1"/>
                  <a:t>loc</a:t>
                </a:r>
                <a:r>
                  <a:rPr lang="en-US" sz="3400" dirty="0"/>
                  <a:t> = off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</a:t>
                </a:r>
                <a:r>
                  <a:rPr lang="en-US" sz="3400" b="1" dirty="0" err="1"/>
                  <a:t>eff</a:t>
                </a:r>
                <a:r>
                  <a:rPr lang="en-US" sz="3400" b="1" dirty="0"/>
                  <a:t> </a:t>
                </a:r>
                <a:r>
                  <a:rPr lang="en-US" sz="3400" dirty="0"/>
                  <a:t>x := 0</a:t>
                </a:r>
              </a:p>
              <a:p>
                <a:pPr marL="0" indent="0">
                  <a:buNone/>
                </a:pPr>
                <a:endParaRPr lang="en-US" sz="3400" dirty="0"/>
              </a:p>
              <a:p>
                <a:pPr marL="400050" lvl="1" indent="0">
                  <a:buNone/>
                </a:pPr>
                <a:r>
                  <a:rPr lang="en-US" sz="3400" b="1" dirty="0"/>
                  <a:t>trajectories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invariant </a:t>
                </a:r>
                <a:r>
                  <a:rPr lang="en-US" sz="3400" dirty="0"/>
                  <a:t>loc = off =&gt; y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400" dirty="0"/>
                  <a:t> 15 </a:t>
                </a:r>
              </a:p>
              <a:p>
                <a:pPr marL="0" indent="0">
                  <a:buNone/>
                </a:pPr>
                <a:r>
                  <a:rPr lang="es-ES" sz="3400" b="1" dirty="0"/>
                  <a:t>	</a:t>
                </a:r>
                <a:r>
                  <a:rPr lang="es-ES" sz="3400" b="1" dirty="0" err="1"/>
                  <a:t>evolve</a:t>
                </a:r>
                <a:r>
                  <a:rPr lang="es-ES" sz="3400" b="1" dirty="0"/>
                  <a:t> </a:t>
                </a:r>
                <a:r>
                  <a:rPr lang="es-ES" sz="3400" dirty="0"/>
                  <a:t>d(x) = 1; d(y) = 1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539875"/>
                <a:ext cx="4724400" cy="4953000"/>
              </a:xfrm>
              <a:blipFill>
                <a:blip r:embed="rId2"/>
                <a:stretch>
                  <a:fillRect l="-804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81401"/>
            <a:ext cx="5625355" cy="251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74229" y="1524001"/>
            <a:ext cx="552815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Description</a:t>
            </a:r>
          </a:p>
          <a:p>
            <a:r>
              <a:rPr lang="en-US" dirty="0"/>
              <a:t>Switch can be turned on whenever at least 2 time units have elapsed since the last turn on. Switches off automatically 15 time units after the last on.</a:t>
            </a:r>
          </a:p>
        </p:txBody>
      </p:sp>
    </p:spTree>
    <p:extLst>
      <p:ext uri="{BB962C8B-B14F-4D97-AF65-F5344CB8AC3E}">
        <p14:creationId xmlns:p14="http://schemas.microsoft.com/office/powerpoint/2010/main" val="2937931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Control State (Location) Reachability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Given an ITA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check if a particular (discrete) control state is reachable from the initial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Why is control state reachability (CSR) good enough?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This problem is decidable [Alur Dill]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Key idea: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Construct a finite automaton that is </a:t>
                </a: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time-abstract </a:t>
                </a:r>
                <a:r>
                  <a:rPr lang="en-US" b="1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bisimilar</a:t>
                </a: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to the ITA (behaves identically with respect to control state reachability)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Check reachability of FSM 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328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An equivalence relation with a finite quotient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9764" y="1439056"/>
                <a:ext cx="11377534" cy="473790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Under what conditions do two states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of the automaton 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 behave identically with respect to control state reachability (CSR)?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do they satisfy the same set of clock constraints? 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would they continue to satisfy the same set of clock constraints? </a:t>
                </a:r>
              </a:p>
              <a:p>
                <a:pPr lvl="1"/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.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loc</m:t>
                    </m:r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sz="2400" baseline="-25000" dirty="0" smtClean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oc</m:t>
                    </m:r>
                    <m:r>
                      <a:rPr lang="en-US" sz="2400" b="0" i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</a:t>
                </a: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satisfy the same set of clock constraints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each clock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=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or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latin typeface="Cambria Math"/>
                      </a:rPr>
                      <m:t>)≥</m:t>
                    </m:r>
                    <m:sSub>
                      <m:sSubPr>
                        <m:ctrlPr>
                          <a:rPr lang="en-US" sz="18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latin typeface="Cambria Math"/>
                      </a:rPr>
                      <m:t>)≥</m:t>
                    </m:r>
                    <m:sSub>
                      <m:sSub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the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maxium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clock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guard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each clock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with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  <m:r>
                      <a:rPr lang="en-US" sz="1800" b="0" i="0">
                        <a:latin typeface="Cambria Math"/>
                      </a:rPr>
                      <m:t>)=0 </m:t>
                    </m:r>
                  </m:oMath>
                </a14:m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iff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  <m:r>
                      <a:rPr lang="en-US" sz="1800" b="0" i="0">
                        <a:latin typeface="Cambria Math"/>
                      </a:rPr>
                      <m:t>)=0</m:t>
                    </m:r>
                  </m:oMath>
                </a14:m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any two clocks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with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z</m:t>
                    </m:r>
                    <m: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z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0" i="0">
                        <a:latin typeface="Cambria Math"/>
                      </a:rPr>
                      <m:t>≤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iff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0" i="0">
                        <a:latin typeface="Cambria Math"/>
                      </a:rPr>
                      <m:t>≤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Lemma.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This is a equivalence relation on </a:t>
                </a:r>
                <a:r>
                  <a:rPr lang="en-US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val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(V) the states of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partition of </a:t>
                </a:r>
                <a:r>
                  <a:rPr lang="en-US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val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(V) induced by this relation is are called clock regions </a:t>
                </a:r>
              </a:p>
              <a:p>
                <a:pPr lvl="1"/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764" y="1439056"/>
                <a:ext cx="11377534" cy="4737907"/>
              </a:xfrm>
              <a:blipFill>
                <a:blip r:embed="rId2"/>
                <a:stretch>
                  <a:fillRect l="-780" t="-1604" b="-7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76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the clock regions look like?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524001"/>
            <a:ext cx="7119078" cy="526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24852" y="1840676"/>
                <a:ext cx="3661349" cy="2337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Example of Two Clocks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X = {</a:t>
                </a:r>
                <a:r>
                  <a:rPr lang="en-US" sz="2400" dirty="0" err="1"/>
                  <a:t>y,z</a:t>
                </a:r>
                <a:r>
                  <a:rPr lang="en-US" sz="2400" dirty="0"/>
                  <a:t>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=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400" dirty="0"/>
                  <a:t> = 3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2" y="1840676"/>
                <a:ext cx="3661349" cy="2337499"/>
              </a:xfrm>
              <a:prstGeom prst="rect">
                <a:avLst/>
              </a:prstGeom>
              <a:blipFill>
                <a:blip r:embed="rId3"/>
                <a:stretch>
                  <a:fillRect l="-2414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722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7404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Lemma</a:t>
                </a:r>
                <a:r>
                  <a:rPr lang="en-US" dirty="0"/>
                  <a:t>. The number of clock regions is bounded by |X|! 2</a:t>
                </a:r>
                <a:r>
                  <a:rPr lang="en-US" baseline="30000" dirty="0"/>
                  <a:t>|X|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/>
                          </a:rPr>
                          <m:t>𝑧</m:t>
                        </m:r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  <a:ea typeface="Cambria Math"/>
                          </a:rPr>
                          <m:t>+2)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74049" cy="4351338"/>
              </a:xfrm>
              <a:blipFill>
                <a:blip r:embed="rId2"/>
                <a:stretch>
                  <a:fillRect l="-1039" t="-7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979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9"/>
                <a:ext cx="82296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Given an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sz="2000" dirty="0"/>
                  <a:t>, we construct the corresponding </a:t>
                </a:r>
                <a:r>
                  <a:rPr lang="en-US" sz="2000" b="1" dirty="0"/>
                  <a:t>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 such that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visits the same set of locations (but does not have  timing information) and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finite state machine.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ITA (clock constants) defines a set of  clock regions,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. The set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is the set of states contain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000" dirty="0"/>
                  <a:t>We add the transitions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(regions)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Time successors</a:t>
                </a:r>
                <a:r>
                  <a:rPr lang="en-US" sz="1600" dirty="0"/>
                  <a:t>: Consider two clock regions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and</m:t>
                    </m:r>
                    <m:r>
                      <a:rPr lang="en-US" sz="160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, we say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 is a time successor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if there exits a trajectory of ITA starting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that ends in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’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Discrete transitions</a:t>
                </a:r>
                <a:r>
                  <a:rPr lang="en-US" sz="1600" dirty="0"/>
                  <a:t>: Same as the ITA</a:t>
                </a:r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Theorem.</a:t>
                </a:r>
                <a:r>
                  <a:rPr lang="en-US" sz="2000" dirty="0"/>
                  <a:t> A location of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reachable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it is also reachable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(we say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time abstract </a:t>
                </a:r>
                <a:r>
                  <a:rPr lang="en-US" sz="2000" i="1" dirty="0" err="1"/>
                  <a:t>bisimilar</a:t>
                </a:r>
                <a:r>
                  <a:rPr lang="en-US" sz="2000" i="1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9"/>
                <a:ext cx="8229600" cy="4525963"/>
              </a:xfrm>
              <a:blipFill>
                <a:blip r:embed="rId3"/>
                <a:stretch>
                  <a:fillRect l="-770" b="-20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39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successors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1"/>
            <a:ext cx="46291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43750" y="1905000"/>
            <a:ext cx="32004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clock regions in blue are time successors of the clock region in red. </a:t>
            </a:r>
          </a:p>
        </p:txBody>
      </p:sp>
    </p:spTree>
    <p:extLst>
      <p:ext uri="{BB962C8B-B14F-4D97-AF65-F5344CB8AC3E}">
        <p14:creationId xmlns:p14="http://schemas.microsoft.com/office/powerpoint/2010/main" val="3400157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Region Automata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29" y="1524001"/>
            <a:ext cx="5080862" cy="129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3657601"/>
            <a:ext cx="6219825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772484"/>
            <a:ext cx="1219200" cy="6659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err="1"/>
              <a:t>ITA</a:t>
            </a:r>
            <a:endParaRPr lang="en-US" sz="32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828800" y="2857500"/>
            <a:ext cx="35814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200" dirty="0"/>
              <a:t>Corresponding FA</a:t>
            </a:r>
          </a:p>
        </p:txBody>
      </p:sp>
    </p:spTree>
    <p:extLst>
      <p:ext uri="{BB962C8B-B14F-4D97-AF65-F5344CB8AC3E}">
        <p14:creationId xmlns:p14="http://schemas.microsoft.com/office/powerpoint/2010/main" val="3766278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" r="3399"/>
          <a:stretch/>
        </p:blipFill>
        <p:spPr bwMode="auto">
          <a:xfrm>
            <a:off x="3733801" y="1828801"/>
            <a:ext cx="5355771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4114800"/>
            <a:ext cx="26289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133600" y="2310229"/>
            <a:ext cx="1219200" cy="6659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err="1"/>
              <a:t>ITA</a:t>
            </a:r>
            <a:endParaRPr lang="en-US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55371" y="4800600"/>
            <a:ext cx="19050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Clock Regions</a:t>
            </a:r>
          </a:p>
        </p:txBody>
      </p:sp>
    </p:spTree>
    <p:extLst>
      <p:ext uri="{BB962C8B-B14F-4D97-AF65-F5344CB8AC3E}">
        <p14:creationId xmlns:p14="http://schemas.microsoft.com/office/powerpoint/2010/main" val="633469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"/>
            <a:ext cx="4852988" cy="610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|X|! 2</a:t>
                </a:r>
                <a:r>
                  <a:rPr lang="en-US" baseline="30000" dirty="0"/>
                  <a:t>|X|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𝑧</m:t>
                        </m:r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  <a:ea typeface="Cambria Math"/>
                          </a:rPr>
                          <m:t>+2)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  <a:blipFill>
                <a:blip r:embed="rId3"/>
                <a:stretch>
                  <a:fillRect l="-1563" t="-110000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147455" y="4008521"/>
            <a:ext cx="1066800" cy="8382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38301" y="304800"/>
            <a:ext cx="35814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200" dirty="0"/>
              <a:t>Corresponding FA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47455" y="5029200"/>
            <a:ext cx="2653145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Drastically increasing with the number of clocks</a:t>
            </a:r>
          </a:p>
        </p:txBody>
      </p:sp>
    </p:spTree>
    <p:extLst>
      <p:ext uri="{BB962C8B-B14F-4D97-AF65-F5344CB8AC3E}">
        <p14:creationId xmlns:p14="http://schemas.microsoft.com/office/powerpoint/2010/main" val="1678656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Hybrid Automata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4600" y="1600200"/>
            <a:ext cx="7696200" cy="5257800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ym typeface="Wingdings" pitchFamily="2" charset="2"/>
              </a:rPr>
              <a:t>Timed Automata </a:t>
            </a:r>
            <a:r>
              <a:rPr lang="en-US" dirty="0">
                <a:sym typeface="Wingdings"/>
              </a:rPr>
              <a:t> 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Rational time automata</a:t>
            </a:r>
          </a:p>
          <a:p>
            <a:pPr lvl="1"/>
            <a:r>
              <a:rPr lang="en-US" dirty="0" err="1">
                <a:sym typeface="Wingdings" pitchFamily="2" charset="2"/>
              </a:rPr>
              <a:t>Multirate</a:t>
            </a:r>
            <a:r>
              <a:rPr lang="en-US" dirty="0">
                <a:sym typeface="Wingdings" pitchFamily="2" charset="2"/>
              </a:rPr>
              <a:t> automata</a:t>
            </a:r>
          </a:p>
          <a:p>
            <a:pPr lvl="1"/>
            <a:r>
              <a:rPr lang="en-US" dirty="0">
                <a:sym typeface="Wingdings" pitchFamily="2" charset="2"/>
              </a:rPr>
              <a:t>Rectangular Initialized HA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Rectangular HA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/>
              <a:t>Linear HA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Nonlinear HA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7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Clocks and </a:t>
            </a:r>
            <a:r>
              <a:rPr lang="en-US" b="1" dirty="0"/>
              <a:t>Rational</a:t>
            </a:r>
            <a:r>
              <a:rPr lang="en-US" dirty="0"/>
              <a:t> Clock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A </a:t>
                </a:r>
                <a:r>
                  <a:rPr lang="en-US" b="1" dirty="0"/>
                  <a:t>clock variable </a:t>
                </a:r>
                <a:r>
                  <a:rPr lang="en-US" dirty="0"/>
                  <a:t>x is a continuous (analog) variable of type real such that along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𝜏</m:t>
                    </m:r>
                  </m:oMath>
                </a14:m>
                <a:r>
                  <a:rPr lang="en-US" dirty="0"/>
                  <a:t> of x, for all 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𝜏</m:t>
                        </m:r>
                        <m:r>
                          <a:rPr lang="en-US" b="0" i="1" smtClean="0">
                            <a:latin typeface="Cambria Math"/>
                          </a:rPr>
                          <m:t>↓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For a set X of clock variables,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(X) of </a:t>
                </a:r>
                <a:r>
                  <a:rPr lang="en-US" b="1" i="1" dirty="0"/>
                  <a:t>rational</a:t>
                </a:r>
                <a:r>
                  <a:rPr lang="en-US" b="1" dirty="0"/>
                  <a:t> clock constraints </a:t>
                </a:r>
                <a:r>
                  <a:rPr lang="en-US" dirty="0"/>
                  <a:t>are expressions defined by the syntax: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g ::=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≤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≥</m:t>
                        </m:r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¬ 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r>
                      <a:rPr lang="en-US" b="0" i="1" smtClean="0">
                        <a:latin typeface="Cambria Math"/>
                      </a:rPr>
                      <m:t>  |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∧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𝑎𝑛𝑑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∈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Examples: x = 10.125;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[2.99, 5); true are valid rational clock constraints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Semantics of clock constraints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[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r>
                      <a:rPr lang="en-US" b="0" i="1" smtClean="0">
                        <a:latin typeface="Cambria Math"/>
                      </a:rPr>
                      <m:t>]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0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 Rational Timed Automata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Definition. </a:t>
                </a:r>
                <a:r>
                  <a:rPr lang="en-US" dirty="0"/>
                  <a:t>A </a:t>
                </a:r>
                <a:r>
                  <a:rPr lang="en-US" b="1" i="1" dirty="0"/>
                  <a:t>rational timed automaton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is a HA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〈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lvl="1"/>
                <a:r>
                  <a:rPr lang="en-US" dirty="0"/>
                  <a:t>V 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is a set of n clocks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/>
                  <a:t> is a discrete state variable of finite type Ł</a:t>
                </a:r>
                <a:endParaRPr lang="en-US" baseline="-25000" dirty="0"/>
              </a:p>
              <a:p>
                <a:pPr lvl="1"/>
                <a:r>
                  <a:rPr lang="en-US" dirty="0"/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is a set of transitions such that </a:t>
                </a:r>
              </a:p>
              <a:p>
                <a:pPr lvl="2"/>
                <a:r>
                  <a:rPr lang="en-US" dirty="0"/>
                  <a:t>The guards are described by </a:t>
                </a:r>
                <a:r>
                  <a:rPr lang="en-US" b="1" dirty="0">
                    <a:solidFill>
                      <a:srgbClr val="00B050"/>
                    </a:solidFill>
                  </a:rPr>
                  <a:t>rational </a:t>
                </a:r>
                <a:r>
                  <a:rPr lang="en-US" dirty="0"/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set of clock trajectories for the clock variables in X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9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1" dirty="0">
                <a:solidFill>
                  <a:srgbClr val="00B0F0"/>
                </a:solidFill>
              </a:rPr>
              <a:t>Rational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Light switch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981200" y="1570038"/>
                <a:ext cx="6858000" cy="4525963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Switch can be turned on whenever at least 2.25 time units have elapsed since the last turn off or on. Switches off automatically 15.5 time units after the last on.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automaton </a:t>
                </a:r>
                <a:r>
                  <a:rPr lang="en-US" dirty="0"/>
                  <a:t>Switch</a:t>
                </a:r>
              </a:p>
              <a:p>
                <a:pPr marL="0" indent="0">
                  <a:buNone/>
                </a:pPr>
                <a:r>
                  <a:rPr lang="en-US" b="1" dirty="0"/>
                  <a:t>  internal </a:t>
                </a:r>
                <a:r>
                  <a:rPr lang="en-US" dirty="0"/>
                  <a:t>push; pop</a:t>
                </a:r>
              </a:p>
              <a:p>
                <a:pPr marL="0" indent="0">
                  <a:buNone/>
                </a:pPr>
                <a:r>
                  <a:rPr lang="en-US" b="1" dirty="0"/>
                  <a:t>    variables</a:t>
                </a:r>
              </a:p>
              <a:p>
                <a:pPr marL="0" indent="0">
                  <a:buNone/>
                </a:pPr>
                <a:r>
                  <a:rPr lang="en-US" b="1" dirty="0"/>
                  <a:t>       internal </a:t>
                </a:r>
                <a:r>
                  <a:rPr lang="en-US" dirty="0"/>
                  <a:t>x, y:Real := 0, </a:t>
                </a:r>
                <a:r>
                  <a:rPr lang="en-US" dirty="0" err="1"/>
                  <a:t>loc</a:t>
                </a:r>
                <a:r>
                  <a:rPr lang="en-US" dirty="0"/>
                  <a:t>:{on,off} := off</a:t>
                </a:r>
              </a:p>
              <a:p>
                <a:pPr marL="0" indent="0">
                  <a:buNone/>
                </a:pPr>
                <a:r>
                  <a:rPr lang="en-US" b="1" dirty="0"/>
                  <a:t>     transitions</a:t>
                </a:r>
              </a:p>
              <a:p>
                <a:pPr marL="0" indent="0">
                  <a:buNone/>
                </a:pPr>
                <a:r>
                  <a:rPr lang="en-US" dirty="0"/>
                  <a:t>        push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pre </a:t>
                </a:r>
                <a:r>
                  <a:rPr lang="en-US" dirty="0"/>
                  <a:t>x &gt;=2.25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eff if </a:t>
                </a:r>
                <a:r>
                  <a:rPr lang="en-US" dirty="0" err="1"/>
                  <a:t>loc</a:t>
                </a:r>
                <a:r>
                  <a:rPr lang="en-US" dirty="0"/>
                  <a:t> = on </a:t>
                </a:r>
                <a:r>
                  <a:rPr lang="en-US" b="1" dirty="0"/>
                  <a:t>then </a:t>
                </a:r>
                <a:r>
                  <a:rPr lang="en-US" dirty="0"/>
                  <a:t>y := 0 </a:t>
                </a:r>
                <a:r>
                  <a:rPr lang="en-US" b="1" dirty="0"/>
                  <a:t>fi; </a:t>
                </a:r>
                <a:r>
                  <a:rPr lang="en-US" dirty="0"/>
                  <a:t>x := 0; </a:t>
                </a:r>
                <a:r>
                  <a:rPr lang="en-US" dirty="0" err="1"/>
                  <a:t>loc</a:t>
                </a:r>
                <a:r>
                  <a:rPr lang="en-US" dirty="0"/>
                  <a:t> := off</a:t>
                </a:r>
              </a:p>
              <a:p>
                <a:pPr marL="0" indent="0">
                  <a:buNone/>
                </a:pPr>
                <a:r>
                  <a:rPr lang="en-US" dirty="0"/>
                  <a:t>        pop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pre </a:t>
                </a:r>
                <a:r>
                  <a:rPr lang="en-US" dirty="0"/>
                  <a:t>y = 15.5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eff </a:t>
                </a:r>
                <a:r>
                  <a:rPr lang="en-US" dirty="0"/>
                  <a:t>x := 0</a:t>
                </a:r>
              </a:p>
              <a:p>
                <a:pPr marL="0" indent="0">
                  <a:buNone/>
                </a:pPr>
                <a:r>
                  <a:rPr lang="en-US" b="1" dirty="0"/>
                  <a:t>     trajectories</a:t>
                </a:r>
              </a:p>
              <a:p>
                <a:pPr marL="0" indent="0">
                  <a:buNone/>
                </a:pPr>
                <a:r>
                  <a:rPr lang="en-US" b="1" dirty="0"/>
                  <a:t>        invariant </a:t>
                </a:r>
                <a:r>
                  <a:rPr lang="en-US" dirty="0" err="1"/>
                  <a:t>loc</a:t>
                </a:r>
                <a:r>
                  <a:rPr lang="en-US" dirty="0"/>
                  <a:t> = on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/>
                        <a:ea typeface="Cambria Math"/>
                      </a:rPr>
                      <m:t>∨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stop when </a:t>
                </a:r>
                <a:r>
                  <a:rPr lang="en-US" dirty="0"/>
                  <a:t>y = 15.5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</a:p>
              <a:p>
                <a:pPr marL="0" indent="0">
                  <a:buNone/>
                </a:pPr>
                <a:r>
                  <a:rPr lang="es-ES" b="1" dirty="0"/>
                  <a:t>        </a:t>
                </a:r>
                <a:r>
                  <a:rPr lang="es-ES" b="1" dirty="0" err="1"/>
                  <a:t>evolve</a:t>
                </a:r>
                <a:r>
                  <a:rPr lang="es-ES" b="1" dirty="0"/>
                  <a:t> </a:t>
                </a:r>
                <a:r>
                  <a:rPr lang="es-ES" dirty="0"/>
                  <a:t>d(x) = 1; d(y) = 1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981200" y="1570038"/>
                <a:ext cx="6858000" cy="4525963"/>
              </a:xfrm>
              <a:blipFill>
                <a:blip r:embed="rId2"/>
                <a:stretch>
                  <a:fillRect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572000"/>
            <a:ext cx="3619500" cy="166671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6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Control State (Location) Reachability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RTA, check if a particular location is reachable from the initial states</a:t>
            </a:r>
          </a:p>
          <a:p>
            <a:r>
              <a:rPr lang="en-US" dirty="0"/>
              <a:t>Is problem decidable? 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ITA that is time-abstract </a:t>
            </a:r>
            <a:r>
              <a:rPr lang="en-US" dirty="0" err="1"/>
              <a:t>bisimilar</a:t>
            </a:r>
            <a:r>
              <a:rPr lang="en-US" dirty="0"/>
              <a:t> to the given RTA</a:t>
            </a:r>
          </a:p>
          <a:p>
            <a:pPr lvl="1"/>
            <a:r>
              <a:rPr lang="en-US" dirty="0"/>
              <a:t>Check CSR for ITA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4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ITA from RTA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Multiply all rational constants by a factor q that make them integral</a:t>
                </a:r>
              </a:p>
              <a:p>
                <a:r>
                  <a:rPr lang="en-US" dirty="0"/>
                  <a:t>Make d(x) = q for all the clocks</a:t>
                </a:r>
              </a:p>
              <a:p>
                <a:endParaRPr lang="en-US" dirty="0"/>
              </a:p>
              <a:p>
                <a:r>
                  <a:rPr lang="en-US" dirty="0"/>
                  <a:t>RTA Switch is </a:t>
                </a:r>
                <a:r>
                  <a:rPr lang="en-US" dirty="0" err="1"/>
                  <a:t>bisimilar</a:t>
                </a:r>
                <a:r>
                  <a:rPr lang="en-US" dirty="0"/>
                  <a:t> to ITA </a:t>
                </a:r>
                <a:r>
                  <a:rPr lang="en-US" dirty="0" err="1"/>
                  <a:t>Iswitch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Simulation relation R is given by </a:t>
                </a:r>
              </a:p>
              <a:p>
                <a:r>
                  <a:rPr lang="en-US" dirty="0"/>
                  <a:t>(</a:t>
                </a:r>
                <a:r>
                  <a:rPr lang="en-US" b="1" dirty="0" err="1"/>
                  <a:t>u,s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:r>
                  <a:rPr lang="en-US" b="1" dirty="0" err="1"/>
                  <a:t>u.</a:t>
                </a:r>
                <a:r>
                  <a:rPr lang="en-US" dirty="0" err="1"/>
                  <a:t>x</a:t>
                </a:r>
                <a:r>
                  <a:rPr lang="en-US" dirty="0"/>
                  <a:t> = 4 </a:t>
                </a:r>
                <a:r>
                  <a:rPr lang="en-US" b="1" dirty="0" err="1"/>
                  <a:t>s.</a:t>
                </a:r>
                <a:r>
                  <a:rPr lang="en-US" dirty="0" err="1"/>
                  <a:t>x</a:t>
                </a:r>
                <a:r>
                  <a:rPr lang="en-US" dirty="0"/>
                  <a:t> and </a:t>
                </a:r>
                <a:r>
                  <a:rPr lang="en-US" b="1" dirty="0" err="1"/>
                  <a:t>u.</a:t>
                </a:r>
                <a:r>
                  <a:rPr lang="en-US" dirty="0" err="1"/>
                  <a:t>y</a:t>
                </a:r>
                <a:r>
                  <a:rPr lang="en-US" dirty="0"/>
                  <a:t> = 4 </a:t>
                </a:r>
                <a:r>
                  <a:rPr lang="en-US" b="1" dirty="0" err="1"/>
                  <a:t>s.</a:t>
                </a:r>
                <a:r>
                  <a:rPr lang="en-US" dirty="0" err="1"/>
                  <a:t>y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89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43600" y="1600201"/>
                <a:ext cx="4648200" cy="452596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</a:t>
                </a:r>
                <a:r>
                  <a:rPr lang="en-US" dirty="0" err="1"/>
                  <a:t>ISwitch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internal </a:t>
                </a:r>
                <a:r>
                  <a:rPr lang="en-US" dirty="0"/>
                  <a:t>push; pop</a:t>
                </a:r>
              </a:p>
              <a:p>
                <a:pPr marL="0" indent="0">
                  <a:buNone/>
                </a:pPr>
                <a:r>
                  <a:rPr lang="en-US" b="1" dirty="0"/>
                  <a:t>variables</a:t>
                </a:r>
              </a:p>
              <a:p>
                <a:pPr marL="0" indent="0">
                  <a:buNone/>
                </a:pPr>
                <a:r>
                  <a:rPr lang="en-US" b="1" dirty="0"/>
                  <a:t>   internal </a:t>
                </a:r>
                <a:r>
                  <a:rPr lang="en-US" dirty="0"/>
                  <a:t>x, y:Real := 0, </a:t>
                </a:r>
                <a:r>
                  <a:rPr lang="en-US" dirty="0" err="1"/>
                  <a:t>loc</a:t>
                </a:r>
                <a:r>
                  <a:rPr lang="en-US" dirty="0"/>
                  <a:t>:{on,off} := off</a:t>
                </a:r>
              </a:p>
              <a:p>
                <a:pPr marL="0" indent="0">
                  <a:buNone/>
                </a:pPr>
                <a:r>
                  <a:rPr lang="en-US" b="1" dirty="0"/>
                  <a:t>transitions</a:t>
                </a:r>
              </a:p>
              <a:p>
                <a:pPr marL="0" indent="0">
                  <a:buNone/>
                </a:pPr>
                <a:r>
                  <a:rPr lang="en-US" dirty="0"/>
                  <a:t>   push</a:t>
                </a:r>
              </a:p>
              <a:p>
                <a:pPr marL="0" indent="0">
                  <a:buNone/>
                </a:pPr>
                <a:r>
                  <a:rPr lang="en-US" b="1" dirty="0"/>
                  <a:t>      pre </a:t>
                </a:r>
                <a:r>
                  <a:rPr lang="en-US" dirty="0"/>
                  <a:t>x &gt;=  9</a:t>
                </a:r>
              </a:p>
              <a:p>
                <a:pPr marL="0" indent="0">
                  <a:buNone/>
                </a:pPr>
                <a:r>
                  <a:rPr lang="en-US" b="1" dirty="0"/>
                  <a:t>      eff if </a:t>
                </a:r>
                <a:r>
                  <a:rPr lang="en-US" dirty="0" err="1"/>
                  <a:t>loc</a:t>
                </a:r>
                <a:r>
                  <a:rPr lang="en-US" dirty="0"/>
                  <a:t> = on </a:t>
                </a:r>
                <a:r>
                  <a:rPr lang="en-US" b="1" dirty="0"/>
                  <a:t>then </a:t>
                </a:r>
                <a:r>
                  <a:rPr lang="en-US" dirty="0"/>
                  <a:t>y := 0 </a:t>
                </a:r>
                <a:r>
                  <a:rPr lang="en-US" b="1" dirty="0"/>
                  <a:t>fi; </a:t>
                </a:r>
                <a:r>
                  <a:rPr lang="en-US" dirty="0"/>
                  <a:t>x := 0; </a:t>
                </a:r>
                <a:r>
                  <a:rPr lang="en-US" dirty="0" err="1"/>
                  <a:t>loc</a:t>
                </a:r>
                <a:r>
                  <a:rPr lang="en-US" dirty="0"/>
                  <a:t> := off</a:t>
                </a:r>
              </a:p>
              <a:p>
                <a:pPr marL="0" indent="0">
                  <a:buNone/>
                </a:pPr>
                <a:r>
                  <a:rPr lang="en-US" dirty="0"/>
                  <a:t>    pop</a:t>
                </a:r>
              </a:p>
              <a:p>
                <a:pPr marL="0" indent="0">
                  <a:buNone/>
                </a:pPr>
                <a:r>
                  <a:rPr lang="en-US" b="1" dirty="0"/>
                  <a:t>       pre </a:t>
                </a:r>
                <a:r>
                  <a:rPr lang="en-US" dirty="0"/>
                  <a:t>y = 62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</a:p>
              <a:p>
                <a:pPr marL="0" indent="0">
                  <a:buNone/>
                </a:pPr>
                <a:r>
                  <a:rPr lang="en-US" b="1" dirty="0"/>
                  <a:t>       eff </a:t>
                </a:r>
                <a:r>
                  <a:rPr lang="en-US" dirty="0"/>
                  <a:t>x := 0</a:t>
                </a:r>
              </a:p>
              <a:p>
                <a:pPr marL="0" indent="0">
                  <a:buNone/>
                </a:pPr>
                <a:r>
                  <a:rPr lang="en-US" b="1" dirty="0"/>
                  <a:t>trajectories</a:t>
                </a:r>
              </a:p>
              <a:p>
                <a:pPr marL="0" indent="0">
                  <a:buNone/>
                </a:pPr>
                <a:r>
                  <a:rPr lang="en-US" b="1" dirty="0"/>
                  <a:t>    invariant </a:t>
                </a:r>
                <a:r>
                  <a:rPr lang="en-US" dirty="0" err="1"/>
                  <a:t>loc</a:t>
                </a:r>
                <a:r>
                  <a:rPr lang="en-US" dirty="0"/>
                  <a:t> = on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>
                        <a:latin typeface="Cambria Math"/>
                        <a:ea typeface="Cambria Math"/>
                      </a:rPr>
                      <m:t>∨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stop when </a:t>
                </a:r>
                <a:r>
                  <a:rPr lang="en-US" dirty="0"/>
                  <a:t>y = 62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loc</a:t>
                </a:r>
                <a:r>
                  <a:rPr lang="en-US" dirty="0"/>
                  <a:t> = off</a:t>
                </a:r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s-ES" b="1" dirty="0" err="1"/>
                  <a:t>evolve</a:t>
                </a:r>
                <a:r>
                  <a:rPr lang="es-ES" b="1" dirty="0"/>
                  <a:t> </a:t>
                </a:r>
                <a:r>
                  <a:rPr lang="es-ES" dirty="0"/>
                  <a:t>d(x) = 4; d(y) = 4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43600" y="1600201"/>
                <a:ext cx="4648200" cy="4525963"/>
              </a:xfrm>
              <a:blipFill>
                <a:blip r:embed="rId3"/>
                <a:stretch>
                  <a:fillRect l="-545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94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Multi-Rate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Definition. </a:t>
                </a:r>
                <a:r>
                  <a:rPr lang="en-US" dirty="0"/>
                  <a:t>A </a:t>
                </a:r>
                <a:r>
                  <a:rPr lang="en-US" b="1" dirty="0" err="1">
                    <a:solidFill>
                      <a:srgbClr val="00B0F0"/>
                    </a:solidFill>
                  </a:rPr>
                  <a:t>multirate</a:t>
                </a:r>
                <a:r>
                  <a:rPr lang="en-US" b="1" dirty="0">
                    <a:solidFill>
                      <a:srgbClr val="00B0F0"/>
                    </a:solidFill>
                  </a:rPr>
                  <a:t> automaton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〈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𝑄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V =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is a set of n </a:t>
                </a:r>
                <a:r>
                  <a:rPr lang="en-US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𝑙𝑜𝑐</m:t>
                    </m:r>
                  </m:oMath>
                </a14:m>
                <a:r>
                  <a:rPr lang="en-US" dirty="0"/>
                  <a:t> is a discrete state variable of finite type Ł</a:t>
                </a:r>
                <a:endParaRPr lang="en-US" baseline="-25000" dirty="0"/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 is a finite set of actions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is a set of transitions such that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dirty="0"/>
                  <a:t>The 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</a:t>
                </a:r>
                <a:r>
                  <a:rPr lang="en-US" dirty="0">
                    <a:solidFill>
                      <a:schemeClr val="tx1"/>
                    </a:solidFill>
                  </a:rPr>
                  <a:t>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𝑜𝑟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set of trajectories such that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	for 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 ∃</m:t>
                    </m:r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𝑠𝑢𝑐h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𝑡h𝑎𝑡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/>
                      </a:rPr>
                      <m:t>  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796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State (Location) Reachability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MRA, check if a particular location is reachable from the initial states</a:t>
            </a:r>
          </a:p>
          <a:p>
            <a:r>
              <a:rPr lang="en-US" dirty="0"/>
              <a:t>Is problem is decidable? 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RTA that is </a:t>
            </a:r>
            <a:r>
              <a:rPr lang="en-US" dirty="0" err="1"/>
              <a:t>bisimilar</a:t>
            </a:r>
            <a:r>
              <a:rPr lang="en-US" dirty="0"/>
              <a:t> to the given MRA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1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Multi-rate to rational TA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332" y="1252477"/>
            <a:ext cx="581977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89" y="3657601"/>
            <a:ext cx="583882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6933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Rectangular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300" y="1219200"/>
                <a:ext cx="84963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Definition. </a:t>
                </a:r>
                <a:r>
                  <a:rPr lang="en-US" sz="2000" dirty="0"/>
                  <a:t>An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rectangular hybrid automaton (RHA) </a:t>
                </a:r>
                <a:r>
                  <a:rPr lang="en-US" sz="2000" dirty="0"/>
                  <a:t>is a 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𝓐</m:t>
                    </m:r>
                    <m:r>
                      <a:rPr lang="en-US" sz="2000" b="1" i="1" dirty="0">
                        <a:latin typeface="Cambria Math" charset="0"/>
                        <a:ea typeface="Cambria Math"/>
                      </a:rPr>
                      <m:t>=⟨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𝑉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𝐴</m:t>
                    </m:r>
                    <m:r>
                      <a:rPr lang="en-US" sz="2000" i="1" dirty="0">
                        <a:latin typeface="Cambria Math" charset="0"/>
                        <a:ea typeface="Cambria Math"/>
                      </a:rPr>
                      <m:t>,</m:t>
                    </m:r>
                  </m:oMath>
                </a14:m>
                <a:r>
                  <a:rPr lang="en-US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  where </a:t>
                </a:r>
              </a:p>
              <a:p>
                <a:pPr lvl="1"/>
                <a:r>
                  <a:rPr lang="en-US" sz="2000" dirty="0"/>
                  <a:t>V = 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 , where X is a set of n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continuous variables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𝑙𝑜𝑐</m:t>
                    </m:r>
                  </m:oMath>
                </a14:m>
                <a:r>
                  <a:rPr lang="en-US" sz="2000" dirty="0"/>
                  <a:t> is a discrete state variable of finite type Ł</a:t>
                </a:r>
                <a:endParaRPr lang="en-US" sz="2000" baseline="-25000" dirty="0"/>
              </a:p>
              <a:p>
                <a:pPr lvl="1"/>
                <a:r>
                  <a:rPr lang="en-US" sz="2000" dirty="0"/>
                  <a:t>A is a finite set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/>
                  <a:t> set of trajectories for X</a:t>
                </a:r>
              </a:p>
              <a:p>
                <a:pPr lvl="2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/>
                  <a:t> either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or 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Equivalently,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914400" lvl="2" indent="0">
                  <a:buNone/>
                </a:pPr>
                <a:r>
                  <a:rPr lang="en-US" dirty="0"/>
                  <a:t>	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set of transitions such that </a:t>
                </a:r>
              </a:p>
              <a:p>
                <a:pPr lvl="2"/>
                <a:r>
                  <a:rPr lang="en-US" dirty="0"/>
                  <a:t>Guards are described by </a:t>
                </a:r>
                <a:r>
                  <a:rPr lang="en-US" b="1" dirty="0">
                    <a:solidFill>
                      <a:srgbClr val="00B0F0"/>
                    </a:solidFill>
                  </a:rPr>
                  <a:t>rational</a:t>
                </a:r>
                <a:r>
                  <a:rPr lang="en-US" b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clock constraings  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𝑜𝑟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300" y="1219200"/>
                <a:ext cx="8496300" cy="5029200"/>
              </a:xfrm>
              <a:blipFill>
                <a:blip r:embed="rId2"/>
                <a:stretch>
                  <a:fillRect l="-596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481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CSR Decidable for RHA?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RHA, check if a particular location is reachable from the initial states?</a:t>
            </a:r>
          </a:p>
          <a:p>
            <a:r>
              <a:rPr lang="en-US" dirty="0"/>
              <a:t>Is this problem decidable? </a:t>
            </a:r>
            <a:r>
              <a:rPr lang="en-US" dirty="0">
                <a:solidFill>
                  <a:srgbClr val="FF0000"/>
                </a:solidFill>
              </a:rPr>
              <a:t>No </a:t>
            </a:r>
          </a:p>
          <a:p>
            <a:pPr lvl="1"/>
            <a:r>
              <a:rPr lang="en-US" sz="2000" b="1" dirty="0"/>
              <a:t>[Henz95]</a:t>
            </a:r>
            <a:r>
              <a:rPr lang="en-US" sz="2000" dirty="0"/>
              <a:t> Thomas </a:t>
            </a:r>
            <a:r>
              <a:rPr lang="en-US" sz="2000" dirty="0" err="1"/>
              <a:t>Henzinger</a:t>
            </a:r>
            <a:r>
              <a:rPr lang="en-US" sz="2000" dirty="0"/>
              <a:t>, Peter </a:t>
            </a:r>
            <a:r>
              <a:rPr lang="en-US" sz="2000" dirty="0" err="1"/>
              <a:t>Kopke</a:t>
            </a:r>
            <a:r>
              <a:rPr lang="en-US" sz="2000" dirty="0"/>
              <a:t>, Anuj </a:t>
            </a:r>
            <a:r>
              <a:rPr lang="en-US" sz="2000" dirty="0" err="1"/>
              <a:t>Puri</a:t>
            </a:r>
            <a:r>
              <a:rPr lang="en-US" sz="2000" dirty="0"/>
              <a:t>, and Pravin </a:t>
            </a:r>
            <a:r>
              <a:rPr lang="en-US" sz="2000" dirty="0" err="1"/>
              <a:t>Varaiya</a:t>
            </a:r>
            <a:r>
              <a:rPr lang="en-US" sz="2000" dirty="0"/>
              <a:t>. </a:t>
            </a:r>
            <a:r>
              <a:rPr lang="en-US" sz="2000" dirty="0">
                <a:hlinkClick r:id="rId2"/>
              </a:rPr>
              <a:t>What's Decidable About Hybrid Automata?. Journal of Computer and System Sciences, pages 373–382. ACM Press, 1995. </a:t>
            </a:r>
            <a:endParaRPr lang="en-US" sz="2000" dirty="0"/>
          </a:p>
          <a:p>
            <a:pPr lvl="1"/>
            <a:r>
              <a:rPr lang="en-US" sz="2000" dirty="0"/>
              <a:t>CSR for RHA reduction to Halting problem for 2 counter machines</a:t>
            </a:r>
          </a:p>
          <a:p>
            <a:pPr lvl="1"/>
            <a:r>
              <a:rPr lang="en-US" sz="2000" dirty="0"/>
              <a:t>Halting problem for 2CM known to be undecidable</a:t>
            </a:r>
          </a:p>
          <a:p>
            <a:pPr lvl="1"/>
            <a:r>
              <a:rPr lang="en-US" sz="2000" dirty="0"/>
              <a:t>Reduction in next lecture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4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4. Initialized Rectangular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219200"/>
                <a:ext cx="85344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Definition. </a:t>
                </a:r>
                <a:r>
                  <a:rPr lang="en-US" sz="2000" b="1" i="1" dirty="0"/>
                  <a:t>An initialized rectangular hybrid automaton </a:t>
                </a:r>
                <a:r>
                  <a:rPr lang="en-US" sz="2000" b="1" dirty="0"/>
                  <a:t>(IRHA) </a:t>
                </a:r>
                <a:r>
                  <a:rPr lang="en-US" sz="2000" dirty="0"/>
                  <a:t>is a RHA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sz="2000" dirty="0"/>
                  <a:t>  where </a:t>
                </a:r>
              </a:p>
              <a:p>
                <a:pPr lvl="1"/>
                <a:r>
                  <a:rPr lang="en-US" sz="2000" dirty="0"/>
                  <a:t>V = 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, where  X is a set of n continuous variables and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𝑙𝑜𝑐</m:t>
                        </m:r>
                      </m:e>
                    </m:d>
                  </m:oMath>
                </a14:m>
                <a:r>
                  <a:rPr lang="en-US" sz="2000" dirty="0"/>
                  <a:t> is a discrete state variable of finite type Ł</a:t>
                </a:r>
                <a:endParaRPr lang="en-US" sz="2000" baseline="-25000" dirty="0"/>
              </a:p>
              <a:p>
                <a:pPr lvl="1"/>
                <a:r>
                  <a:rPr lang="en-US" sz="2000" dirty="0"/>
                  <a:t>A is a finite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∪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  <a:ea typeface="Cambria Math"/>
                              </a:rPr>
                              <m:t>ℓ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000" dirty="0"/>
                  <a:t> set of trajectories for X</a:t>
                </a:r>
              </a:p>
              <a:p>
                <a:pPr lvl="2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m:rPr>
                        <m:lit/>
                      </m:rPr>
                      <a:rPr lang="en-US" i="1">
                        <a:latin typeface="Cambria Math" charset="0"/>
                      </a:rPr>
                      <m:t> </m:t>
                    </m:r>
                    <m:r>
                      <a:rPr lang="en-US" i="1">
                        <a:latin typeface="Cambria Math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/>
                      </a:rPr>
                      <m:t>, 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/>
                      </a:rPr>
                      <m:t>𝑋</m:t>
                    </m:r>
                  </m:oMath>
                </a14:m>
                <a:r>
                  <a:rPr lang="en-US" dirty="0"/>
                  <a:t> either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or 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ℓ1 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ℓ2 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Equivalently, 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914400" lvl="2" indent="0">
                  <a:buNone/>
                </a:pPr>
                <a:r>
                  <a:rPr lang="en-US" dirty="0"/>
                  <a:t>	(ii)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</a:rPr>
                      <m:t>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𝜏</m:t>
                    </m:r>
                    <m:r>
                      <a:rPr lang="en-US" i="1">
                        <a:latin typeface="Cambria Math" charset="0"/>
                      </a:rPr>
                      <m:t>(0)⌈</m:t>
                    </m:r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ℓ</m:t>
                        </m:r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set of transitions such that </a:t>
                </a:r>
              </a:p>
              <a:p>
                <a:pPr lvl="2"/>
                <a:r>
                  <a:rPr lang="en-US" dirty="0"/>
                  <a:t>Guards are described by </a:t>
                </a:r>
                <a:r>
                  <a:rPr lang="en-US" b="1" dirty="0">
                    <a:solidFill>
                      <a:srgbClr val="00B050"/>
                    </a:solidFill>
                  </a:rPr>
                  <a:t>rational </a:t>
                </a:r>
                <a:r>
                  <a:rPr lang="en-US" dirty="0"/>
                  <a:t>clock constraings  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e>
                    </m:d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〈"/>
                        <m:endChr m:val="〉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implies if dynamics changes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ℓ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ℓ′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∈[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otherwise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219200"/>
                <a:ext cx="8534400" cy="5029200"/>
              </a:xfrm>
              <a:blipFill>
                <a:blip r:embed="rId2"/>
                <a:stretch>
                  <a:fillRect l="-743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27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Rectangular Initialized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/>
              <p:cNvSpPr/>
              <p:nvPr/>
            </p:nvSpPr>
            <p:spPr>
              <a:xfrm>
                <a:off x="3497070" y="1998138"/>
                <a:ext cx="1611961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1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070" y="1998138"/>
                <a:ext cx="1611961" cy="142596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7535670" y="1998138"/>
                <a:ext cx="1611961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2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  <m:r>
                            <a:rPr lang="en-US" sz="1600">
                              <a:latin typeface="Cambria Math" charset="0"/>
                            </a:rPr>
                            <m:t>′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670" y="1998138"/>
                <a:ext cx="1611961" cy="142596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/>
              <p:cNvSpPr/>
              <p:nvPr/>
            </p:nvSpPr>
            <p:spPr>
              <a:xfrm>
                <a:off x="5582873" y="4436538"/>
                <a:ext cx="1735958" cy="14259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600" dirty="0"/>
                  <a:t>3</a:t>
                </a:r>
              </a:p>
              <a:p>
                <a:pPr algn="ctr"/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∈[</m:t>
                      </m:r>
                      <m:r>
                        <a:rPr lang="en-US" sz="1600" i="1">
                          <a:latin typeface="Cambria Math" charset="0"/>
                        </a:rPr>
                        <m:t>𝑎</m:t>
                      </m:r>
                      <m:r>
                        <a:rPr lang="en-US" sz="1600" i="1">
                          <a:latin typeface="Cambria Math" charset="0"/>
                        </a:rPr>
                        <m:t>,</m:t>
                      </m:r>
                      <m:r>
                        <a:rPr lang="en-US" sz="1600" i="1">
                          <a:latin typeface="Cambria Math" charset="0"/>
                        </a:rPr>
                        <m:t>𝑏</m:t>
                      </m:r>
                      <m:r>
                        <a:rPr lang="en-US" sz="1600" i="1"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charset="0"/>
                        </a:rPr>
                        <m:t>𝑑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charset="0"/>
                            </a:rPr>
                            <m:t>k</m:t>
                          </m:r>
                        </m:e>
                        <m:sub>
                          <m:r>
                            <a:rPr lang="en-US" sz="160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873" y="4436538"/>
                <a:ext cx="1735958" cy="142596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4" idx="7"/>
            <a:endCxn id="5" idx="1"/>
          </p:cNvCxnSpPr>
          <p:nvPr/>
        </p:nvCxnSpPr>
        <p:spPr>
          <a:xfrm rot="5400000" flipH="1" flipV="1">
            <a:off x="6322349" y="757582"/>
            <a:ext cx="12700" cy="2898771"/>
          </a:xfrm>
          <a:prstGeom prst="curvedConnector3">
            <a:avLst>
              <a:gd name="adj1" fmla="val 344431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5194491" y="1428526"/>
                <a:ext cx="274351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Pre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≥</m:t>
                    </m:r>
                    <m:r>
                      <a:rPr lang="en-US" sz="1600" i="1">
                        <a:latin typeface="Cambria Math" charset="0"/>
                      </a:rPr>
                      <m:t>𝐺</m:t>
                    </m:r>
                    <m:r>
                      <a:rPr lang="en-US" sz="1600" i="1">
                        <a:latin typeface="Cambria Math" charset="0"/>
                      </a:rPr>
                      <m:t>∧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≤</m:t>
                    </m:r>
                    <m:r>
                      <a:rPr lang="en-US" sz="1600" i="1">
                        <a:latin typeface="Cambria Math" charset="0"/>
                      </a:rPr>
                      <m:t>𝐺</m:t>
                    </m:r>
                    <m:r>
                      <a:rPr lang="en-US" sz="16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600" dirty="0"/>
                  <a:t> Eff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≔0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491" y="1428526"/>
                <a:ext cx="2743514" cy="584775"/>
              </a:xfrm>
              <a:prstGeom prst="rect">
                <a:avLst/>
              </a:prstGeom>
              <a:blipFill>
                <a:blip r:embed="rId5"/>
                <a:stretch>
                  <a:fillRect l="-922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/>
          <p:cNvCxnSpPr>
            <a:stCxn id="5" idx="5"/>
            <a:endCxn id="6" idx="6"/>
          </p:cNvCxnSpPr>
          <p:nvPr/>
        </p:nvCxnSpPr>
        <p:spPr>
          <a:xfrm rot="5400000">
            <a:off x="7148077" y="3386033"/>
            <a:ext cx="1934245" cy="159273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4" idx="3"/>
            <a:endCxn id="6" idx="2"/>
          </p:cNvCxnSpPr>
          <p:nvPr/>
        </p:nvCxnSpPr>
        <p:spPr>
          <a:xfrm rot="16200000" flipH="1">
            <a:off x="3690883" y="3257529"/>
            <a:ext cx="1934245" cy="184973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2899232" y="4317733"/>
                <a:ext cx="113666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Both Pre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have to be reset</a:t>
                </a:r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232" y="4317733"/>
                <a:ext cx="1136669" cy="1077218"/>
              </a:xfrm>
              <a:prstGeom prst="rect">
                <a:avLst/>
              </a:prstGeom>
              <a:blipFill>
                <a:blip r:embed="rId6"/>
                <a:stretch>
                  <a:fillRect l="-3333" t="-1163"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urved Connector 16"/>
          <p:cNvCxnSpPr>
            <a:cxnSpLocks/>
            <a:stCxn id="6" idx="7"/>
            <a:endCxn id="5" idx="2"/>
          </p:cNvCxnSpPr>
          <p:nvPr/>
        </p:nvCxnSpPr>
        <p:spPr>
          <a:xfrm rot="5400000" flipH="1" flipV="1">
            <a:off x="6333016" y="3442714"/>
            <a:ext cx="1934245" cy="471063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8158130" y="5240326"/>
                <a:ext cx="20563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Eff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charset="0"/>
                      </a:rPr>
                      <m:t>∈[</m:t>
                    </m:r>
                    <m:r>
                      <a:rPr lang="en-US" sz="1600" i="1">
                        <a:latin typeface="Cambria Math" charset="0"/>
                      </a:rPr>
                      <m:t>𝑐</m:t>
                    </m:r>
                    <m:r>
                      <a:rPr lang="en-US" sz="1600" i="1">
                        <a:latin typeface="Cambria Math" charset="0"/>
                      </a:rPr>
                      <m:t>,</m:t>
                    </m:r>
                    <m:r>
                      <a:rPr lang="en-US" sz="1600" i="1">
                        <a:latin typeface="Cambria Math" charset="0"/>
                      </a:rPr>
                      <m:t>𝑑</m:t>
                    </m:r>
                    <m:r>
                      <a:rPr lang="en-US" sz="1600" i="1">
                        <a:latin typeface="Cambria Math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130" y="5240326"/>
                <a:ext cx="2056300" cy="338554"/>
              </a:xfrm>
              <a:prstGeom prst="rect">
                <a:avLst/>
              </a:prstGeom>
              <a:blipFill>
                <a:blip r:embed="rId7"/>
                <a:stretch>
                  <a:fillRect l="-1840"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87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CSR Decidable for IRHA?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IRHA, check if a particular location is reachable from the initial states</a:t>
            </a:r>
          </a:p>
          <a:p>
            <a:r>
              <a:rPr lang="en-US" dirty="0"/>
              <a:t>Is this problem decidable? </a:t>
            </a:r>
            <a:r>
              <a:rPr lang="en-US" dirty="0">
                <a:solidFill>
                  <a:srgbClr val="00B0F0"/>
                </a:solidFill>
              </a:rPr>
              <a:t>Yes</a:t>
            </a:r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Construct a 2n-dimensional </a:t>
            </a:r>
            <a:r>
              <a:rPr lang="en-US" b="1" dirty="0"/>
              <a:t>initialized m</a:t>
            </a:r>
            <a:r>
              <a:rPr lang="en-US" dirty="0"/>
              <a:t>ulti-rate automaton that is </a:t>
            </a:r>
            <a:r>
              <a:rPr lang="en-US" dirty="0" err="1"/>
              <a:t>bisimilar</a:t>
            </a:r>
            <a:r>
              <a:rPr lang="en-US" dirty="0"/>
              <a:t> to the given IRHA</a:t>
            </a:r>
          </a:p>
          <a:p>
            <a:pPr lvl="1"/>
            <a:r>
              <a:rPr lang="en-US" dirty="0"/>
              <a:t>Construct a ITA that is </a:t>
            </a:r>
            <a:r>
              <a:rPr lang="en-US" dirty="0" err="1"/>
              <a:t>bisimilar</a:t>
            </a:r>
            <a:r>
              <a:rPr lang="en-US" dirty="0"/>
              <a:t> to the Singular TA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9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IRHA to Singular HA conversion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981200" y="1600201"/>
            <a:ext cx="8382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every variable create two variables---tracking the upper and lower bounds</a:t>
            </a:r>
          </a:p>
          <a:p>
            <a:endParaRPr lang="en-US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46366" b="-46366"/>
          <a:stretch>
            <a:fillRect/>
          </a:stretch>
        </p:blipFill>
        <p:spPr>
          <a:xfrm>
            <a:off x="6477000" y="2438401"/>
            <a:ext cx="4038600" cy="4525963"/>
          </a:xfr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828800" y="3329781"/>
              <a:ext cx="44958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1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3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IRHA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MRA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3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Evolve: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)∈ [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Evolve: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dirty="0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dirty="0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Eff: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2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Eff: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sub>
                                </m:sSub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Guard: </a:t>
                          </a:r>
                          <a14:m>
                            <m:oMath xmlns:m="http://schemas.openxmlformats.org/officeDocument/2006/math">
                              <m:r>
                                <a:rPr lang="it-IT" sz="140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400" dirty="0" smtClean="0">
                                  <a:latin typeface="Cambria Math" panose="02040503050406030204" pitchFamily="18" charset="0"/>
                                </a:rPr>
                                <m:t>≥ 5 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sz="1400" dirty="0" err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it-IT" sz="1400" dirty="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it-IT" sz="1400" dirty="0">
                                    <a:latin typeface="Cambria Math" panose="02040503050406030204" pitchFamily="18" charset="0"/>
                                  </a:rPr>
                                  <m:t> 5</m:t>
                                </m:r>
                              </m:oMath>
                            </m:oMathPara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it-IT" sz="1400" dirty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≥5</m:t>
                              </m:r>
                            </m:oMath>
                          </a14:m>
                          <a:r>
                            <a:rPr lang="it-IT" sz="1400" dirty="0"/>
                            <a:t> Eff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dirty="0" err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1400" dirty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oMath>
                          </a14:m>
                          <a:endParaRPr lang="it-IT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828800" y="3329781"/>
              <a:ext cx="44958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71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3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IRHA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MRA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100000" r="-129677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100000" r="-1005" b="-5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146341" r="-129677" b="-287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146341" r="-1005" b="-2878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348276" r="-12967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348276" r="-1005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448276" r="-12967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448276" r="-1005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" t="-530000" r="-12967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530000" r="-100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392" t="-651724" r="-1005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213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IRHA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/>
              <p:cNvSpPr/>
              <p:nvPr/>
            </p:nvSpPr>
            <p:spPr>
              <a:xfrm>
                <a:off x="2590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1,3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∈[−3,−2]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600200"/>
                <a:ext cx="2209800" cy="1524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−4,−2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∈[−3,−2]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59510" y="1034534"/>
                <a:ext cx="1536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≔0;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510" y="1034534"/>
                <a:ext cx="15361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747474" y="3472624"/>
                <a:ext cx="17606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≤5∧</m:t>
                      </m:r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≤−3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474" y="3472624"/>
                <a:ext cx="176061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−4,−2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∈[1,2]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53001" y="4687670"/>
                <a:ext cx="10239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≤−5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4687670"/>
                <a:ext cx="102393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1,3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∈[1,2]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382000" y="3472623"/>
                <a:ext cx="188243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≥−3∧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≤−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∈[−1,−2]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472623"/>
                <a:ext cx="1882438" cy="646331"/>
              </a:xfrm>
              <a:prstGeom prst="rect">
                <a:avLst/>
              </a:prstGeom>
              <a:blipFill>
                <a:blip r:embed="rId9"/>
                <a:stretch>
                  <a:fillRect t="-3846" r="-134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800600" y="23622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227102" y="1715869"/>
                <a:ext cx="15091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≥0∧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02" y="1715869"/>
                <a:ext cx="1509196" cy="646331"/>
              </a:xfrm>
              <a:prstGeom prst="rect">
                <a:avLst/>
              </a:prstGeom>
              <a:blipFill>
                <a:blip r:embed="rId10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318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58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Initialized Singular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−3</m:t>
                      </m:r>
                      <m:r>
                        <a:rPr lang="en-US" sz="16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=−3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sz="1600" dirty="0"/>
                  <a:t> </a:t>
                </a:r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≔0;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5"/>
                <a:stretch>
                  <a:fillRect t="-3279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 dirty="0">
                                <a:latin typeface="Cambria Math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eqArr>
                          </m:e>
                        </m:eqAr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 t="-3252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953000" y="2362200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230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010400" y="3447883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010400" y="1600201"/>
            <a:ext cx="0" cy="18476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010400" y="2165866"/>
            <a:ext cx="609600" cy="501134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010400" y="2133600"/>
            <a:ext cx="1828800" cy="83820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0400" y="2133600"/>
            <a:ext cx="228600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29400" y="1981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−3</m:t>
                      </m:r>
                      <m:r>
                        <a:rPr lang="en-US" sz="16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20" idx="4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759596" y="3201770"/>
                <a:ext cx="11934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96" y="3201770"/>
                <a:ext cx="119340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6992587" y="5791200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992587" y="3943517"/>
            <a:ext cx="0" cy="1847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010400" y="4620089"/>
            <a:ext cx="1600200" cy="99488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92588" y="4867359"/>
            <a:ext cx="475013" cy="74761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992587" y="5077088"/>
            <a:ext cx="228600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8025" y="491029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/>
              <p:cNvSpPr/>
              <p:nvPr/>
            </p:nvSpPr>
            <p:spPr>
              <a:xfrm>
                <a:off x="7641658" y="2592963"/>
                <a:ext cx="4636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58" y="2592963"/>
                <a:ext cx="46365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7298758" y="2223631"/>
                <a:ext cx="5104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758" y="2223631"/>
                <a:ext cx="510461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/>
              <p:cNvSpPr/>
              <p:nvPr/>
            </p:nvSpPr>
            <p:spPr>
              <a:xfrm>
                <a:off x="7641657" y="4682694"/>
                <a:ext cx="626646" cy="396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  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57" y="4682694"/>
                <a:ext cx="626646" cy="396455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/>
              <p:cNvSpPr/>
              <p:nvPr/>
            </p:nvSpPr>
            <p:spPr>
              <a:xfrm>
                <a:off x="7211290" y="5081518"/>
                <a:ext cx="496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90" y="5081518"/>
                <a:ext cx="496546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/>
          <p:nvPr/>
        </p:nvCxnSpPr>
        <p:spPr>
          <a:xfrm>
            <a:off x="7144987" y="5081519"/>
            <a:ext cx="0" cy="70968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721691" y="5094959"/>
            <a:ext cx="0" cy="70968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/>
              <p:cNvSpPr/>
              <p:nvPr/>
            </p:nvSpPr>
            <p:spPr>
              <a:xfrm>
                <a:off x="3772321" y="3848101"/>
                <a:ext cx="308454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−3</m:t>
                    </m:r>
                  </m:oMath>
                </a14:m>
                <a:r>
                  <a:rPr lang="en-US" i="1" dirty="0">
                    <a:latin typeface="Cambria Math"/>
                  </a:rPr>
                  <a:t> no reset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&gt;−3∧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≤−3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≔</m:t>
                    </m:r>
                  </m:oMath>
                </a14:m>
                <a:r>
                  <a:rPr lang="en-US" dirty="0"/>
                  <a:t>-3</a:t>
                </a:r>
              </a:p>
            </p:txBody>
          </p:sp>
        </mc:Choice>
        <mc:Fallback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321" y="3848101"/>
                <a:ext cx="3084544" cy="646331"/>
              </a:xfrm>
              <a:prstGeom prst="rect">
                <a:avLst/>
              </a:prstGeom>
              <a:blipFill>
                <a:blip r:embed="rId8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69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Initialized Singular HA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/>
              <p:cNvSpPr/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=3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−3</m:t>
                      </m:r>
                      <m:r>
                        <a:rPr lang="en-US" sz="16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600" i="1" dirty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a:rPr lang="en-US" sz="16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00200"/>
                <a:ext cx="2514600" cy="1524000"/>
              </a:xfrm>
              <a:prstGeom prst="ellipse">
                <a:avLst/>
              </a:prstGeom>
              <a:blipFill>
                <a:blip r:embed="rId2"/>
                <a:stretch>
                  <a:fillRect t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latin typeface="Cambria Math"/>
                  </a:rPr>
                  <a:t>v2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600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=−3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/>
                                    </a:rPr>
                                    <m:t>=−2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 algn="ctr"/>
                <a:r>
                  <a:rPr lang="en-US" sz="1600" dirty="0"/>
                  <a:t> </a:t>
                </a:r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72000"/>
                <a:ext cx="2209800" cy="1524000"/>
              </a:xfrm>
              <a:prstGeom prst="ellipse">
                <a:avLst/>
              </a:prstGeom>
              <a:blipFill>
                <a:blip r:embed="rId3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95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≔0;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84" y="1230868"/>
                <a:ext cx="23144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467768" y="3210341"/>
                <a:ext cx="2547813" cy="1231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≤5∧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≤−3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≔4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≤5∧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≤−3</m:t>
                      </m:r>
                      <m:r>
                        <a:rPr lang="en-US" sz="1400" i="1">
                          <a:latin typeface="Cambria Math"/>
                        </a:rPr>
                        <m:t>∧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&gt;−3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≔4</m:t>
                      </m:r>
                      <m:r>
                        <a:rPr lang="en-US" sz="14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≔−3</m:t>
                      </m:r>
                    </m:oMath>
                  </m:oMathPara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68" y="3210341"/>
                <a:ext cx="2547813" cy="12311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/>
              <p:cNvSpPr/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 dirty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=−2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 dirty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</a:rPr>
                                    <m:t>=2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 </m:t>
                                  </m:r>
                                </m:e>
                              </m:eqArr>
                            </m:e>
                          </m:eqAr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2209800" cy="1524000"/>
              </a:xfrm>
              <a:prstGeom prst="ellipse">
                <a:avLst/>
              </a:prstGeom>
              <a:blipFill>
                <a:blip r:embed="rId6"/>
                <a:stretch>
                  <a:fillRect t="-3279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5" idx="6"/>
            <a:endCxn id="10" idx="2"/>
          </p:cNvCxnSpPr>
          <p:nvPr/>
        </p:nvCxnSpPr>
        <p:spPr>
          <a:xfrm>
            <a:off x="4800600" y="5334000"/>
            <a:ext cx="236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53001" y="4687670"/>
                <a:ext cx="13457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≤−5</m:t>
                      </m:r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4687670"/>
                <a:ext cx="134575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/>
              <p:cNvSpPr/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latin typeface="Cambria Math"/>
                  </a:rPr>
                  <a:t>v4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 dirty="0">
                                <a:latin typeface="Cambria Math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e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latin typeface="Cambria Math"/>
                                  </a:rPr>
                                  <m:t>=2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eqArr>
                          </m:e>
                        </m:eqAr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600200"/>
                <a:ext cx="2209800" cy="1524000"/>
              </a:xfrm>
              <a:prstGeom prst="ellipse">
                <a:avLst/>
              </a:prstGeom>
              <a:blipFill>
                <a:blip r:embed="rId8"/>
                <a:stretch>
                  <a:fillRect t="-3252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0" idx="0"/>
            <a:endCxn id="15" idx="4"/>
          </p:cNvCxnSpPr>
          <p:nvPr/>
        </p:nvCxnSpPr>
        <p:spPr>
          <a:xfrm flipV="1">
            <a:off x="8267700" y="31242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229601" y="3340894"/>
                <a:ext cx="2656561" cy="1231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≥−3∧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≤−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≔−1</m:t>
                      </m:r>
                    </m:oMath>
                  </m:oMathPara>
                </a14:m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≥−3∧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</m:t>
                    </m:r>
                    <m:r>
                      <a:rPr lang="en-US" sz="1400" i="1">
                        <a:latin typeface="Cambria Math"/>
                      </a:rPr>
                      <m:t>−2 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&gt;−2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≔−2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≔−1</m:t>
                      </m:r>
                      <m:r>
                        <a:rPr lang="en-US" sz="14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1" y="3340894"/>
                <a:ext cx="2656561" cy="1231106"/>
              </a:xfrm>
              <a:prstGeom prst="rect">
                <a:avLst/>
              </a:prstGeom>
              <a:blipFill>
                <a:blip r:embed="rId9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5" idx="2"/>
            <a:endCxn id="4" idx="6"/>
          </p:cNvCxnSpPr>
          <p:nvPr/>
        </p:nvCxnSpPr>
        <p:spPr>
          <a:xfrm flipH="1">
            <a:off x="4953000" y="2362200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227103" y="1715869"/>
                <a:ext cx="160107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≥0∧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</m:oMath>
                </a14:m>
                <a:r>
                  <a:rPr lang="en-US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03" y="1715869"/>
                <a:ext cx="1601079" cy="646331"/>
              </a:xfrm>
              <a:prstGeom prst="rect">
                <a:avLst/>
              </a:prstGeom>
              <a:blipFill>
                <a:blip r:embed="rId10"/>
                <a:stretch>
                  <a:fillRect t="-3774" r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4" idx="0"/>
          </p:cNvCxnSpPr>
          <p:nvPr/>
        </p:nvCxnSpPr>
        <p:spPr>
          <a:xfrm>
            <a:off x="3695700" y="838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5105400" y="2362199"/>
                <a:ext cx="2057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&lt;</m:t>
                    </m:r>
                    <m:r>
                      <a:rPr lang="en-US" sz="1400" i="1">
                        <a:latin typeface="Cambria Math"/>
                      </a:rPr>
                      <m:t>0</m:t>
                    </m:r>
                    <m:r>
                      <a:rPr lang="en-US" sz="1400" i="1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≥0</m:t>
                    </m:r>
                    <m:r>
                      <a:rPr lang="en-US" sz="1400" i="1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≤</m:t>
                    </m:r>
                  </m:oMath>
                </a14:m>
                <a:r>
                  <a:rPr lang="en-US" sz="1400" i="1" dirty="0">
                    <a:latin typeface="Cambria Math"/>
                  </a:rPr>
                  <a:t>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≔0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sz="1400" i="1">
                          <a:latin typeface="Cambria Math"/>
                        </a:rPr>
                        <m:t>≔1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362199"/>
                <a:ext cx="20574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20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this be further generalized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initialized Rectangular HA, control state reachability is decidable</a:t>
            </a:r>
          </a:p>
          <a:p>
            <a:pPr lvl="1"/>
            <a:r>
              <a:rPr lang="en-US" dirty="0"/>
              <a:t>Can we drop the initialization restriction?</a:t>
            </a:r>
          </a:p>
          <a:p>
            <a:pPr lvl="2"/>
            <a:r>
              <a:rPr lang="en-US" dirty="0"/>
              <a:t>No, problem becomes undecidable (next time)</a:t>
            </a:r>
          </a:p>
          <a:p>
            <a:pPr lvl="1"/>
            <a:r>
              <a:rPr lang="en-US" dirty="0"/>
              <a:t>Can we drop the rectangular restriction?</a:t>
            </a:r>
          </a:p>
          <a:p>
            <a:pPr lvl="2"/>
            <a:r>
              <a:rPr lang="en-US" dirty="0"/>
              <a:t>No, problem becomes undecidable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33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in tools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354931"/>
            <a:ext cx="5657202" cy="2317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717809"/>
            <a:ext cx="5780690" cy="207033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733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structures make reachability go around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Hyperrectangles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mr-I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mr-IN" sz="2000" dirty="0">
                                    <a:latin typeface="Cambria Math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mr-IN" sz="2000" dirty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mr-IN" sz="2000" dirty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mr-IN" sz="2000" dirty="0">
                                    <a:latin typeface="Cambria Math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mr-IN" sz="2000" dirty="0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charset="0"/>
                          </a:rPr>
                          <m:t>𝑥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dirty="0">
                            <a:latin typeface="Cambria Math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latin typeface="Cambria Math" charset="0"/>
                          </a:rPr>
                          <m:t>  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charset="0"/>
                                  </a:rPr>
                                  <m:t>x</m:t>
                                </m:r>
                                <m:r>
                                  <a:rPr lang="en-US" sz="2000" dirty="0">
                                    <a:latin typeface="Cambria Math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dirty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sz="2000" dirty="0">
                                <a:latin typeface="Cambria Math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∞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dirty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dirty="0">
                                    <a:latin typeface="Cambria Math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i="1" dirty="0">
                                        <a:latin typeface="Cambria Math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sz="2000" dirty="0">
                                <a:latin typeface="Cambria Math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∞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}</m:t>
                    </m:r>
                    <m:r>
                      <a:rPr lang="mr-IN" sz="2000" dirty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dirty="0">
                            <a:latin typeface="Cambria Math" charset="0"/>
                          </a:rPr>
                          <m:t>Π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[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1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r>
                  <a:rPr lang="en-US" sz="2400" dirty="0" err="1"/>
                  <a:t>Polyhedra</a:t>
                </a:r>
                <a:endParaRPr lang="en-US" sz="2400" dirty="0"/>
              </a:p>
              <a:p>
                <a:r>
                  <a:rPr lang="en-US" sz="2400" dirty="0"/>
                  <a:t>Zonotopes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[Girard 2005]</a:t>
                </a:r>
              </a:p>
              <a:p>
                <a:r>
                  <a:rPr lang="en-US" sz="2400" dirty="0"/>
                  <a:t>Ellipsoids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Kurzhanskiy</a:t>
                </a:r>
                <a:r>
                  <a:rPr lang="en-US" sz="2400" dirty="0">
                    <a:solidFill>
                      <a:srgbClr val="00B0F0"/>
                    </a:solidFill>
                  </a:rPr>
                  <a:t> 2001]</a:t>
                </a:r>
                <a:endParaRPr lang="en-US" sz="2400" dirty="0"/>
              </a:p>
              <a:p>
                <a:r>
                  <a:rPr lang="en-US" sz="2400" dirty="0"/>
                  <a:t>Support functions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Guernic</a:t>
                </a:r>
                <a:r>
                  <a:rPr lang="en-US" sz="2400" dirty="0">
                    <a:solidFill>
                      <a:srgbClr val="00B0F0"/>
                    </a:solidFill>
                  </a:rPr>
                  <a:t> et al. 2009]</a:t>
                </a:r>
              </a:p>
              <a:p>
                <a:r>
                  <a:rPr lang="en-US" sz="2400" dirty="0"/>
                  <a:t>Generalized star set </a:t>
                </a:r>
                <a:r>
                  <a:rPr lang="en-US" sz="2400" dirty="0">
                    <a:solidFill>
                      <a:srgbClr val="00B0F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00B0F0"/>
                    </a:solidFill>
                  </a:rPr>
                  <a:t>Duggirala</a:t>
                </a:r>
                <a:r>
                  <a:rPr lang="en-US" sz="2400" dirty="0">
                    <a:solidFill>
                      <a:srgbClr val="00B0F0"/>
                    </a:solidFill>
                  </a:rPr>
                  <a:t> and Viswanathan 2018]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409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817F-A90D-1B46-AB05-719F0D62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Data structures: rectangles and ellipsoids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82271-9E71-CB44-89C1-6991CC04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93" y="1756085"/>
            <a:ext cx="7286614" cy="473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258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4A62-9027-A54F-92EC-AFDBC495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Zonotopes and polytopes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3087D-FE68-094F-8A05-54EC853B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72" y="1277505"/>
            <a:ext cx="7846965" cy="531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39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ITA: Restricted class of hybrid automata</a:t>
            </a:r>
          </a:p>
          <a:p>
            <a:pPr lvl="1"/>
            <a:r>
              <a:rPr lang="en-US" dirty="0"/>
              <a:t>Clocks, integer constraints</a:t>
            </a:r>
          </a:p>
          <a:p>
            <a:pPr lvl="1"/>
            <a:r>
              <a:rPr lang="en-US" dirty="0"/>
              <a:t>No clock comparison, linear</a:t>
            </a:r>
          </a:p>
          <a:p>
            <a:r>
              <a:rPr lang="en-US" dirty="0"/>
              <a:t>Control state reachability with </a:t>
            </a:r>
            <a:r>
              <a:rPr lang="en-US" dirty="0" err="1"/>
              <a:t>Alur</a:t>
            </a:r>
            <a:r>
              <a:rPr lang="en-US" dirty="0"/>
              <a:t>-Dill’s algorithm (region automaton construction)</a:t>
            </a:r>
          </a:p>
          <a:p>
            <a:r>
              <a:rPr lang="en-US" dirty="0"/>
              <a:t>Rational coefficients; </a:t>
            </a:r>
            <a:r>
              <a:rPr lang="en-US" dirty="0" err="1"/>
              <a:t>multirate</a:t>
            </a:r>
            <a:r>
              <a:rPr lang="en-US" dirty="0"/>
              <a:t> Automata</a:t>
            </a:r>
          </a:p>
          <a:p>
            <a:r>
              <a:rPr lang="en-US" dirty="0"/>
              <a:t>Initialized Rectangular Hybrid Automata</a:t>
            </a:r>
          </a:p>
          <a:p>
            <a:r>
              <a:rPr lang="en-US" dirty="0" err="1"/>
              <a:t>HyTech</a:t>
            </a:r>
            <a:r>
              <a:rPr lang="en-US" dirty="0"/>
              <a:t>, </a:t>
            </a:r>
            <a:r>
              <a:rPr lang="en-US" dirty="0" err="1"/>
              <a:t>PHAVer</a:t>
            </a:r>
            <a:r>
              <a:rPr lang="en-US" dirty="0"/>
              <a:t> use polyhedral reachability computations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1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6120</Words>
  <Application>Microsoft Macintosh PowerPoint</Application>
  <PresentationFormat>Widescreen</PresentationFormat>
  <Paragraphs>708</Paragraphs>
  <Slides>63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Aptos</vt:lpstr>
      <vt:lpstr>Aptos Display</vt:lpstr>
      <vt:lpstr>Arial</vt:lpstr>
      <vt:lpstr>Calibri Light</vt:lpstr>
      <vt:lpstr>Cambria Math</vt:lpstr>
      <vt:lpstr>Comic Sans MS</vt:lpstr>
      <vt:lpstr>NimbusMonL</vt:lpstr>
      <vt:lpstr>NimbusRomNo9L</vt:lpstr>
      <vt:lpstr>NimbusSanL</vt:lpstr>
      <vt:lpstr>rtxmi</vt:lpstr>
      <vt:lpstr>rtxr</vt:lpstr>
      <vt:lpstr>txsy</vt:lpstr>
      <vt:lpstr>Office Theme</vt:lpstr>
      <vt:lpstr>Cyberphysical Systems: Part 2</vt:lpstr>
      <vt:lpstr>Outline</vt:lpstr>
      <vt:lpstr>Example. Thermostat automaton</vt:lpstr>
      <vt:lpstr>Hybrid Automaton</vt:lpstr>
      <vt:lpstr>Semantics: Executions and Traces</vt:lpstr>
      <vt:lpstr>Example. Bouncing Ball</vt:lpstr>
      <vt:lpstr>Urgency: Must transitions</vt:lpstr>
      <vt:lpstr>Zeno’s Paradox</vt:lpstr>
      <vt:lpstr>PowerPoint Presentation</vt:lpstr>
      <vt:lpstr>Special kinds of executions</vt:lpstr>
      <vt:lpstr>Rimless wheel</vt:lpstr>
      <vt:lpstr>Invariants and reachability</vt:lpstr>
      <vt:lpstr>How to prove invariants of hybrid automata</vt:lpstr>
      <vt:lpstr>How to prove invariants of hybrid automata</vt:lpstr>
      <vt:lpstr>How to prove invariants of hybrid automata</vt:lpstr>
      <vt:lpstr>An application</vt:lpstr>
      <vt:lpstr>An application</vt:lpstr>
      <vt:lpstr>Strengthened invariant</vt:lpstr>
      <vt:lpstr>Summary</vt:lpstr>
      <vt:lpstr>Sub-tangential conditions. Checking trajectory conditions without solving ODEs [Bhatia and Szegö 67]</vt:lpstr>
      <vt:lpstr>Proving invariance using subtangential condition</vt:lpstr>
      <vt:lpstr>PowerPoint Presentation</vt:lpstr>
      <vt:lpstr>Another example</vt:lpstr>
      <vt:lpstr>Piece-wise sub-tangential conditions</vt:lpstr>
      <vt:lpstr>Summary</vt:lpstr>
      <vt:lpstr>Special Classes of Hybrid Automata</vt:lpstr>
      <vt:lpstr>Clocks and Clock Constraints</vt:lpstr>
      <vt:lpstr>Integral Timed Automata</vt:lpstr>
      <vt:lpstr>Example: Light switch</vt:lpstr>
      <vt:lpstr>Control State (Location) Reachability Problem</vt:lpstr>
      <vt:lpstr>An equivalence relation with a finite quotient</vt:lpstr>
      <vt:lpstr>What do the clock regions look like?</vt:lpstr>
      <vt:lpstr>Complexity</vt:lpstr>
      <vt:lpstr>Region automaton R(A) </vt:lpstr>
      <vt:lpstr>Time successors</vt:lpstr>
      <vt:lpstr>Example 1: Region Automata</vt:lpstr>
      <vt:lpstr>Example 2</vt:lpstr>
      <vt:lpstr>PowerPoint Presentation</vt:lpstr>
      <vt:lpstr>Special Classes of Hybrid Automata</vt:lpstr>
      <vt:lpstr>Clocks and Rational Clock Constraints</vt:lpstr>
      <vt:lpstr>Step 1. Rational Timed Automata</vt:lpstr>
      <vt:lpstr>Example: Rational Light switch</vt:lpstr>
      <vt:lpstr>Control State (Location) Reachability Problem</vt:lpstr>
      <vt:lpstr>Construction of ITA from RTA</vt:lpstr>
      <vt:lpstr>Step 2. Multi-Rate Automaton</vt:lpstr>
      <vt:lpstr>Control State (Location) Reachability Problem</vt:lpstr>
      <vt:lpstr>Example: Multi-rate to rational TA</vt:lpstr>
      <vt:lpstr>Step 3. Rectangular HA</vt:lpstr>
      <vt:lpstr>CSR Decidable for RHA?</vt:lpstr>
      <vt:lpstr>Step 4. Initialized Rectangular HA</vt:lpstr>
      <vt:lpstr>Example: Rectangular Initialized HA</vt:lpstr>
      <vt:lpstr>CSR Decidable for IRHA?</vt:lpstr>
      <vt:lpstr>From IRHA to Singular HA conversion</vt:lpstr>
      <vt:lpstr>Example IRHA</vt:lpstr>
      <vt:lpstr>Initialized Singular HA</vt:lpstr>
      <vt:lpstr>Transitions</vt:lpstr>
      <vt:lpstr>Initialized Singular HA</vt:lpstr>
      <vt:lpstr>Can this be further generalized ? </vt:lpstr>
      <vt:lpstr>Verification in tools</vt:lpstr>
      <vt:lpstr>Data structures make reachability go around</vt:lpstr>
      <vt:lpstr>Data structures: rectangles and ellipsoids</vt:lpstr>
      <vt:lpstr>Zonotopes and polytopes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Cyberphysical Systems: Part 2</dc:title>
  <dc:creator>Mitra, Sayan</dc:creator>
  <cp:lastModifiedBy>Mitra, Sayan</cp:lastModifiedBy>
  <cp:revision>12</cp:revision>
  <dcterms:created xsi:type="dcterms:W3CDTF">2025-10-14T16:14:11Z</dcterms:created>
  <dcterms:modified xsi:type="dcterms:W3CDTF">2025-10-14T16:45:17Z</dcterms:modified>
</cp:coreProperties>
</file>