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324" r:id="rId2"/>
    <p:sldId id="951" r:id="rId3"/>
    <p:sldId id="952" r:id="rId4"/>
    <p:sldId id="264" r:id="rId5"/>
    <p:sldId id="286" r:id="rId6"/>
    <p:sldId id="491" r:id="rId7"/>
    <p:sldId id="916" r:id="rId8"/>
    <p:sldId id="915" r:id="rId9"/>
    <p:sldId id="917" r:id="rId10"/>
    <p:sldId id="493" r:id="rId11"/>
    <p:sldId id="949" r:id="rId12"/>
    <p:sldId id="950" r:id="rId13"/>
    <p:sldId id="257" r:id="rId14"/>
    <p:sldId id="334" r:id="rId15"/>
    <p:sldId id="325" r:id="rId16"/>
    <p:sldId id="326" r:id="rId17"/>
    <p:sldId id="327" r:id="rId18"/>
    <p:sldId id="328" r:id="rId19"/>
    <p:sldId id="330" r:id="rId20"/>
    <p:sldId id="331" r:id="rId21"/>
    <p:sldId id="957" r:id="rId22"/>
    <p:sldId id="959" r:id="rId23"/>
    <p:sldId id="958" r:id="rId24"/>
    <p:sldId id="332" r:id="rId25"/>
    <p:sldId id="96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75"/>
    <p:restoredTop sz="96197"/>
  </p:normalViewPr>
  <p:slideViewPr>
    <p:cSldViewPr snapToGrid="0">
      <p:cViewPr varScale="1">
        <p:scale>
          <a:sx n="111" d="100"/>
          <a:sy n="111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9-09-24T18:06:36.35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24589 10707 24575,'43'0'0,"-6"0"0,-10 0 0,2 0 0,-3 0 0,-16 0 0,27 0 0,4 0 0,-15 0 0,2 0 0,3 0 0,12 0 0,-6 0 0,-9 0 0,3 0 0,-27 0 0,12 0 0,7 0 0,-17 0 0,17 0 0,-23 0 0,0 0 0,-23 0 0,17 0 0,-17 0 0,23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543E3A-FF90-2B44-94CA-714A280D4294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F83970-97DE-5945-B35A-12CE010E2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177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a couple</a:t>
            </a:r>
            <a:r>
              <a:rPr lang="en-US" baseline="0" dirty="0"/>
              <a:t> of nice examples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F81894-4E42-4C20-B559-1A0CBC527A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6506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Guard, Precondition</a:t>
            </a:r>
          </a:p>
          <a:p>
            <a:r>
              <a:rPr lang="en-US" dirty="0"/>
              <a:t>Effect, Reset map</a:t>
            </a:r>
          </a:p>
          <a:p>
            <a:r>
              <a:rPr lang="en-US" dirty="0"/>
              <a:t>Invariance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F81894-4E42-4C20-B559-1A0CBC527A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8802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2075C-BB6B-1242-B0E9-C1B429E7B4C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701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598F-4121-9315-5FBD-0CD89D3498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082C0-FEF8-AB01-A607-EF6905467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C3207-D94E-7054-3863-3CB46A3C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F4E29-2E69-E428-6637-184AB619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811E-470D-13C1-EA5F-1D39A793A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24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47E88-F7FA-31B7-05A9-970B1FCAC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AE6B1-FB3B-86BE-B054-9CC628958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3CA2A-0239-91C1-7677-431F4E6B1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B8B21-E40E-8675-1D47-DEA412EF3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0DE9FE-C4BC-75DC-E77F-E23213215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2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81BA-8537-77D5-C558-B80CB3567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372B58-CE50-29B2-2A91-AC5A5618E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A7EE7-9578-6DEC-2B28-DF0AFE4FE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90EF-70BB-E021-72DE-4BF45CAF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F64DE-4348-63BA-B540-20D7893C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061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2F30D-53BA-809E-D5BD-4B7F6B0F7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998D4-6106-C4B0-72C4-27EB197C84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7A42C2-5779-870E-99BA-401B10C74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389030-8DBC-E0A5-ABE8-B9AA96A7D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544B31-469D-3C18-2CDD-464C6E83B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06A6D-A403-6378-8511-3A3DB6C1E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33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8A01-B139-45E7-2559-4AC7CA120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2032B-C6E7-63F3-971D-006D5A7D0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0D409-293A-1179-E4E6-0C8DEAF6FC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EFA88A-5D1E-0EAD-5FF8-8885188338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A954C-43C3-65AA-6FA0-68D578D895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90ECF1-A314-DAF4-47E6-9F7E6F92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2ACFEB-C885-145F-30E8-01E833C7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8F0849-9A29-5533-F6DC-E02F15620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09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F42E-741B-36A1-7BFC-D1750B479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D1BA5E-21F6-079D-F8FE-877510039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F35AEF-A679-E62C-A439-48C17620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EC5D57-6838-4551-BDB6-BD29343F6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28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DF62DA-1A8F-C109-6D9C-689D2830B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4D9970-5F91-202E-B7EA-EDE0EE891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1C115-7901-607B-ECDA-8D83693D8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3C785-ED42-0F36-436B-227195E5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B055A-099A-1B54-535D-6867260C0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3A46A-896F-BB73-EA4D-6D49556F5A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7504C4-E6B8-1B83-BE89-CC15D4A4B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3F3C9-9068-6A28-0A56-4EF5EC1FE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C94B5-3606-0E71-241C-8C19AD712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1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8413A-43A5-AAC8-1B48-671D0952C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068A0-5302-410C-AE6C-BCBBF50B51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D368C9-65C2-6B36-B456-C1DA10D42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FC63B-76F6-2455-889C-3433BF5B5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3E05A-72E5-38C1-27B4-2ADDDD0CD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4D35EA-6C6A-114B-02B1-C1EBB0BE2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366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16BE8-6B56-898E-C6C0-B36354DB5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437EB2-F22A-B53D-707D-24C4C7A38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A8F04-85A0-88A8-8A97-F8F3DB93F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68B8D-3266-DE64-E0A9-5608CA3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B5D46-962C-0D46-50BB-6CD27E841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94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E76C73-E5A4-B215-91CA-01F721244C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F30859-B442-70E1-FCF9-21666D3AD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F825D-296D-6F78-39E1-6641220E7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5F549-5713-CA10-5F5D-7A4630D7D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C0472-7E69-244E-4215-1B0FDD9BE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400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6D5D4-A317-6189-C058-1716A2421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AD140-1C11-C1CE-7DAD-B6C65B9E0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C562ED-E5E1-2D70-AA92-9D21FE9666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38FF10-B70E-1B43-831B-B1E9792D449D}" type="datetimeFigureOut">
              <a:rPr lang="en-US" smtClean="0"/>
              <a:t>10/16/25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7AFD7-5FF8-3700-C2AF-5EC315B43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53FA3-02E9-D9E1-AA59-2D56728785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85E0D2-20A5-1046-BD37-94EF0A5D7E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347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tiff"/><Relationship Id="rId3" Type="http://schemas.openxmlformats.org/officeDocument/2006/relationships/image" Target="../media/image7.tiff"/><Relationship Id="rId7" Type="http://schemas.microsoft.com/office/2007/relationships/hdphoto" Target="../media/hdphoto2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customXml" Target="../ink/ink1.xml"/><Relationship Id="rId4" Type="http://schemas.openxmlformats.org/officeDocument/2006/relationships/image" Target="../media/image16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Cyberphysical Systems: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80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C6A42-60A7-C449-8930-90B43F45B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3E42-F664-934E-B525-1A44AD459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Review: Modeling cyber-physical systems</a:t>
            </a:r>
          </a:p>
          <a:p>
            <a:pPr lvl="1"/>
            <a:r>
              <a:rPr lang="en-US" dirty="0"/>
              <a:t>Hybrid automata</a:t>
            </a:r>
          </a:p>
          <a:p>
            <a:pPr lvl="1"/>
            <a:r>
              <a:rPr lang="en-US" dirty="0"/>
              <a:t>Executions</a:t>
            </a:r>
          </a:p>
          <a:p>
            <a:pPr lvl="1"/>
            <a:r>
              <a:rPr lang="en-US" dirty="0"/>
              <a:t>Urgency</a:t>
            </a:r>
          </a:p>
          <a:p>
            <a:pPr lvl="1"/>
            <a:r>
              <a:rPr lang="en-US" dirty="0"/>
              <a:t>Zeno</a:t>
            </a:r>
          </a:p>
          <a:p>
            <a:pPr lvl="1"/>
            <a:r>
              <a:rPr lang="en-US" dirty="0"/>
              <a:t>Hybrid stability</a:t>
            </a:r>
          </a:p>
        </p:txBody>
      </p:sp>
    </p:spTree>
    <p:extLst>
      <p:ext uri="{BB962C8B-B14F-4D97-AF65-F5344CB8AC3E}">
        <p14:creationId xmlns:p14="http://schemas.microsoft.com/office/powerpoint/2010/main" val="393583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B8960-AB09-BE42-9E8A-A6C12B9DE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9092"/>
          </a:xfrm>
        </p:spPr>
        <p:txBody>
          <a:bodyPr/>
          <a:lstStyle/>
          <a:p>
            <a:r>
              <a:rPr lang="en-US" dirty="0"/>
              <a:t>Example. Thermostat automaton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16046-AC4B-ED49-9AE3-4BB081C80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06" y="1363489"/>
            <a:ext cx="5839084" cy="1647898"/>
          </a:xfrm>
          <a:prstGeom prst="rect">
            <a:avLst/>
          </a:prstGeom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C5A7AC65-9D5F-4744-8882-C507A4191A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1" y="974529"/>
            <a:ext cx="5952940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automaton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Thermostat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h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MonL"/>
              </a:rPr>
              <a:t>Real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 where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&gt;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type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Status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MonL"/>
              </a:rPr>
              <a:t>enumeration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[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]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actions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 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;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;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imbusRomNo9L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variables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MonL"/>
              </a:rPr>
              <a:t>Real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 loc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Status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transitions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  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pre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≤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i="1" dirty="0"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imbusRomNo9L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trajectories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  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modeOn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NimbusSan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evolve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h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−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invariant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≤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1028" name="Picture 4" descr="page75image7967904">
            <a:extLst>
              <a:ext uri="{FF2B5EF4-FFF2-40B4-BE49-F238E27FC236}">
                <a16:creationId xmlns:a16="http://schemas.microsoft.com/office/drawing/2014/main" id="{387B2CD3-C3A0-6049-BEE7-BAA0CA40F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754063"/>
            <a:ext cx="455930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12A16590-659E-F647-9F4C-830CCB4ED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687" y="2107016"/>
            <a:ext cx="3538613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pre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≥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i="1" dirty="0"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3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modeOff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evolve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−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Kx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invariant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≥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DEF79F-021D-0142-9021-2353BD38BB67}"/>
              </a:ext>
            </a:extLst>
          </p:cNvPr>
          <p:cNvSpPr txBox="1"/>
          <p:nvPr/>
        </p:nvSpPr>
        <p:spPr>
          <a:xfrm>
            <a:off x="8099832" y="5615806"/>
            <a:ext cx="32539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Determinism vs nondeterminism</a:t>
            </a:r>
          </a:p>
          <a:p>
            <a:r>
              <a:rPr lang="en-US" dirty="0"/>
              <a:t>mode invariants</a:t>
            </a:r>
          </a:p>
        </p:txBody>
      </p:sp>
      <p:pic>
        <p:nvPicPr>
          <p:cNvPr id="3" name="Picture 2" descr="A graph of a controller with blue and green lines&#10;&#10;Description automatically generated">
            <a:extLst>
              <a:ext uri="{FF2B5EF4-FFF2-40B4-BE49-F238E27FC236}">
                <a16:creationId xmlns:a16="http://schemas.microsoft.com/office/drawing/2014/main" id="{DF83B790-1B88-6648-80B6-53F1C132FA6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260"/>
          <a:stretch/>
        </p:blipFill>
        <p:spPr>
          <a:xfrm>
            <a:off x="131404" y="3620812"/>
            <a:ext cx="5812352" cy="2872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7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Hybrid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7510670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𝒟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𝒯</m:t>
                        </m:r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  <a:latin typeface="+mj-lt"/>
                  <a:ea typeface="Cambria Math"/>
                </a:endParaRP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: 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state variables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𝑣𝑎𝑙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states</a:t>
                </a: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 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start states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set of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</a:rPr>
                  <a:t>actions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</a:rPr>
                  <a:t>, A= E 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∪ H</a:t>
                </a: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𝒟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 ⊆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𝑄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×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𝑄</m:t>
                    </m:r>
                  </m:oMath>
                </a14:m>
                <a:endParaRPr lang="en-US" b="0" i="1" dirty="0">
                  <a:solidFill>
                    <a:schemeClr val="tx1"/>
                  </a:solidFill>
                  <a:latin typeface="+mj-lt"/>
                  <a:ea typeface="Cambria Math"/>
                </a:endParaRPr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/>
                      </a:rPr>
                      <m:t>𝒯</m:t>
                    </m:r>
                  </m:oMath>
                </a14:m>
                <a:r>
                  <a:rPr lang="en-US" i="1" dirty="0">
                    <a:solidFill>
                      <a:schemeClr val="accent1"/>
                    </a:solidFill>
                    <a:latin typeface="+mj-lt"/>
                  </a:rPr>
                  <a:t>: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</a:rPr>
                  <a:t>set of </a:t>
                </a:r>
                <a:r>
                  <a:rPr lang="en-US" b="1" dirty="0">
                    <a:solidFill>
                      <a:schemeClr val="accent1"/>
                    </a:solidFill>
                    <a:latin typeface="+mj-lt"/>
                  </a:rPr>
                  <a:t>trajectories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</a:rPr>
                  <a:t> for X</a:t>
                </a:r>
                <a:r>
                  <a:rPr lang="en-US" i="1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</a:rPr>
                  <a:t>which is closed under </a:t>
                </a:r>
                <a:r>
                  <a:rPr lang="en-US" b="1" dirty="0">
                    <a:solidFill>
                      <a:schemeClr val="accent1"/>
                    </a:solidFill>
                    <a:latin typeface="+mj-lt"/>
                  </a:rPr>
                  <a:t>prefix, suffix, and concatenation</a:t>
                </a:r>
              </a:p>
              <a:p>
                <a:pPr>
                  <a:lnSpc>
                    <a:spcPct val="110000"/>
                  </a:lnSpc>
                </a:pPr>
                <a:endParaRPr lang="en-US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7510670" cy="4667250"/>
              </a:xfrm>
              <a:blipFill>
                <a:blip r:embed="rId3"/>
                <a:stretch>
                  <a:fillRect l="-1520" t="-813" r="-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6103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Semantics: Executions and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751113" y="1600200"/>
                <a:ext cx="6183083" cy="51054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latin typeface="+mj-lt"/>
                  </a:rPr>
                  <a:t>An </a:t>
                </a:r>
                <a:r>
                  <a:rPr lang="en-US" b="1" i="1" dirty="0">
                    <a:solidFill>
                      <a:srgbClr val="0070C0"/>
                    </a:solidFill>
                    <a:latin typeface="+mj-lt"/>
                  </a:rPr>
                  <a:t>execution </a:t>
                </a:r>
                <a:r>
                  <a:rPr lang="en-US" dirty="0">
                    <a:latin typeface="+mj-lt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dirty="0">
                    <a:latin typeface="+mj-lt"/>
                  </a:rPr>
                  <a:t> is an (possibly infinite) alternating sequence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…</m:t>
                    </m:r>
                  </m:oMath>
                </a14:m>
                <a:r>
                  <a:rPr lang="en-US" dirty="0">
                    <a:latin typeface="+mj-lt"/>
                  </a:rPr>
                  <a:t> where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>
                    <a:latin typeface="+mj-lt"/>
                    <a:ea typeface="Cambria Math"/>
                  </a:rPr>
                  <a:t>∀ </a:t>
                </a:r>
                <a:r>
                  <a:rPr lang="en-US" dirty="0" err="1">
                    <a:latin typeface="+mj-lt"/>
                    <a:ea typeface="Cambria Math"/>
                  </a:rPr>
                  <a:t>i</a:t>
                </a:r>
                <a:r>
                  <a:rPr lang="en-US" dirty="0">
                    <a:latin typeface="+mj-lt"/>
                    <a:ea typeface="Cambria Math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mPr>
                      <m:m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  <m:t>+1</m:t>
                              </m:r>
                            </m:sub>
                          </m:sSub>
                        </m:e>
                      </m:mr>
                      <m:m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  <m:t>⟶</m:t>
                          </m:r>
                        </m:e>
                      </m:mr>
                    </m:m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𝑓𝑠𝑡𝑎𝑡𝑒</m:t>
                    </m:r>
                  </m:oMath>
                </a14:m>
                <a:endParaRPr lang="en-US" b="0" dirty="0">
                  <a:latin typeface="+mj-lt"/>
                  <a:ea typeface="Cambria Math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>
                    <a:latin typeface="+mj-lt"/>
                    <a:ea typeface="Cambria Math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.</a:t>
                </a:r>
                <a:r>
                  <a:rPr lang="en-US" dirty="0" err="1">
                    <a:latin typeface="+mj-lt"/>
                  </a:rPr>
                  <a:t>fstate</a:t>
                </a:r>
                <a:r>
                  <a:rPr lang="en-US" dirty="0">
                    <a:latin typeface="+mj-lt"/>
                  </a:rPr>
                  <a:t> </a:t>
                </a:r>
                <a:r>
                  <a:rPr lang="en-US" dirty="0">
                    <a:latin typeface="+mj-lt"/>
                    <a:ea typeface="Cambria Math"/>
                  </a:rPr>
                  <a:t>∈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</m:oMath>
                </a14:m>
                <a:r>
                  <a:rPr lang="en-US" dirty="0">
                    <a:latin typeface="+mj-lt"/>
                  </a:rPr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dirty="0">
                    <a:latin typeface="+mj-lt"/>
                  </a:rPr>
                  <a:t>is an </a:t>
                </a:r>
                <a:r>
                  <a:rPr lang="en-US" b="1" dirty="0">
                    <a:latin typeface="+mj-lt"/>
                  </a:rPr>
                  <a:t>execution</a:t>
                </a:r>
                <a:endParaRPr lang="en-US" b="1" dirty="0">
                  <a:latin typeface="+mj-lt"/>
                  <a:ea typeface="Cambria Math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Execs</a:t>
                </a:r>
                <a14:m>
                  <m:oMath xmlns:m="http://schemas.openxmlformats.org/officeDocument/2006/math">
                    <m:r>
                      <a:rPr lang="en-US" b="1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</m:oMath>
                </a14:m>
                <a:r>
                  <a:rPr lang="en-US" b="1" baseline="-25000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set of all executions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First state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 is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𝑓𝑠𝑡𝑎𝑡𝑒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𝑓𝑠𝑡𝑎𝑡𝑒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+mj-lt"/>
                  <a:ea typeface="Cambria Math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is </a:t>
                </a:r>
                <a:r>
                  <a:rPr lang="en-US" b="1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finite and closed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</m:oMath>
                </a14:m>
                <a:endParaRPr lang="en-US" b="0" dirty="0">
                  <a:latin typeface="+mj-lt"/>
                  <a:ea typeface="Cambria Math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A state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is </a:t>
                </a:r>
                <a:r>
                  <a:rPr lang="en-US" i="1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reachable</a:t>
                </a:r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 if there exists an execution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+mj-lt"/>
                    <a:ea typeface="Cambria Math"/>
                  </a:rPr>
                  <a:t> </a:t>
                </a:r>
              </a:p>
              <a:p>
                <a:pPr>
                  <a:lnSpc>
                    <a:spcPct val="120000"/>
                  </a:lnSpc>
                </a:pPr>
                <a:endParaRPr lang="en-US" dirty="0">
                  <a:latin typeface="+mj-lt"/>
                  <a:ea typeface="Cambria Math"/>
                </a:endParaRPr>
              </a:p>
              <a:p>
                <a:pPr marL="457200" lvl="1" indent="0">
                  <a:lnSpc>
                    <a:spcPct val="120000"/>
                  </a:lnSpc>
                  <a:buNone/>
                </a:pP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51113" y="1600200"/>
                <a:ext cx="6183083" cy="5105400"/>
              </a:xfrm>
              <a:blipFill>
                <a:blip r:embed="rId2"/>
                <a:stretch>
                  <a:fillRect l="-1643" t="-995" r="-14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984752-55CF-8109-45DE-7840454FC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979" y="1232823"/>
            <a:ext cx="4580675" cy="129275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6BC41C4-BBE3-6FBA-1EE0-E77F200BACC3}"/>
              </a:ext>
            </a:extLst>
          </p:cNvPr>
          <p:cNvGrpSpPr/>
          <p:nvPr/>
        </p:nvGrpSpPr>
        <p:grpSpPr>
          <a:xfrm>
            <a:off x="7304979" y="2923140"/>
            <a:ext cx="4580675" cy="2906850"/>
            <a:chOff x="7304979" y="2923140"/>
            <a:chExt cx="4580675" cy="2906850"/>
          </a:xfrm>
        </p:grpSpPr>
        <p:pic>
          <p:nvPicPr>
            <p:cNvPr id="3" name="Picture 2" descr="A graph of a controller with blue and green lines&#10;&#10;Description automatically generated">
              <a:extLst>
                <a:ext uri="{FF2B5EF4-FFF2-40B4-BE49-F238E27FC236}">
                  <a16:creationId xmlns:a16="http://schemas.microsoft.com/office/drawing/2014/main" id="{F192A976-672E-1D70-22E6-60E2304FE9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6260" r="22134"/>
            <a:stretch/>
          </p:blipFill>
          <p:spPr>
            <a:xfrm>
              <a:off x="7304979" y="2923140"/>
              <a:ext cx="4580675" cy="29068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5C3ED2-59BC-FA59-7BF4-14640D83B359}"/>
                </a:ext>
              </a:extLst>
            </p:cNvPr>
            <p:cNvSpPr txBox="1"/>
            <p:nvPr/>
          </p:nvSpPr>
          <p:spPr>
            <a:xfrm rot="16200000">
              <a:off x="7648381" y="3591528"/>
              <a:ext cx="7841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turnOn</a:t>
              </a:r>
              <a:endParaRPr lang="en-US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A643B60-046E-FCD3-2DFE-55D0F415FA85}"/>
                </a:ext>
              </a:extLst>
            </p:cNvPr>
            <p:cNvSpPr txBox="1"/>
            <p:nvPr/>
          </p:nvSpPr>
          <p:spPr>
            <a:xfrm rot="16200000">
              <a:off x="9372530" y="3591527"/>
              <a:ext cx="7841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turnOn</a:t>
              </a:r>
              <a:endParaRPr lang="en-US" sz="16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E89B711-3464-B7C5-9F59-141CF17E5240}"/>
                </a:ext>
              </a:extLst>
            </p:cNvPr>
            <p:cNvSpPr txBox="1"/>
            <p:nvPr/>
          </p:nvSpPr>
          <p:spPr>
            <a:xfrm rot="16200000">
              <a:off x="10737177" y="3591526"/>
              <a:ext cx="7841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turnOn</a:t>
              </a:r>
              <a:endParaRPr lang="en-US" sz="16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68764E3-7B53-D385-A177-DFF0311E7FC6}"/>
                </a:ext>
              </a:extLst>
            </p:cNvPr>
            <p:cNvSpPr txBox="1"/>
            <p:nvPr/>
          </p:nvSpPr>
          <p:spPr>
            <a:xfrm rot="16200000">
              <a:off x="9005205" y="3591526"/>
              <a:ext cx="7998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turnOff</a:t>
              </a:r>
              <a:endParaRPr lang="en-US" sz="16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29BADAA-262A-D205-B7E2-421023EC167D}"/>
                </a:ext>
              </a:extLst>
            </p:cNvPr>
            <p:cNvSpPr txBox="1"/>
            <p:nvPr/>
          </p:nvSpPr>
          <p:spPr>
            <a:xfrm rot="16200000">
              <a:off x="10330109" y="3583704"/>
              <a:ext cx="7998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turnOff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6246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6308"/>
          </a:xfrm>
        </p:spPr>
        <p:txBody>
          <a:bodyPr/>
          <a:lstStyle/>
          <a:p>
            <a:r>
              <a:rPr lang="en-US" dirty="0"/>
              <a:t>Example. Bouncing Ball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/>
              <p:cNvSpPr>
                <a:spLocks noGrp="1"/>
              </p:cNvSpPr>
              <p:nvPr>
                <p:ph sz="half" idx="1"/>
              </p:nvPr>
            </p:nvSpPr>
            <p:spPr>
              <a:xfrm>
                <a:off x="4038600" y="1410652"/>
                <a:ext cx="5486400" cy="4525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automaton </a:t>
                </a:r>
                <a:r>
                  <a:rPr lang="en-US" sz="1800" dirty="0" err="1">
                    <a:solidFill>
                      <a:schemeClr val="tx1"/>
                    </a:solidFill>
                  </a:rPr>
                  <a:t>Bouncingball</a:t>
                </a:r>
                <a:r>
                  <a:rPr lang="en-US" sz="1800" dirty="0">
                    <a:solidFill>
                      <a:schemeClr val="tx1"/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tx1"/>
                    </a:solidFill>
                  </a:rPr>
                  <a:t>c,h,g</a:t>
                </a:r>
                <a:r>
                  <a:rPr lang="en-US" sz="18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      variables: </a:t>
                </a:r>
                <a:r>
                  <a:rPr lang="en-US" sz="1800" dirty="0">
                    <a:solidFill>
                      <a:schemeClr val="tx1"/>
                    </a:solidFill>
                  </a:rPr>
                  <a:t>x: Reals := h, v: Reals := 0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      actions: </a:t>
                </a:r>
                <a:r>
                  <a:rPr lang="en-US" sz="1800" dirty="0">
                    <a:solidFill>
                      <a:schemeClr val="tx1"/>
                    </a:solidFill>
                  </a:rPr>
                  <a:t>bounce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      transitions: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            </a:t>
                </a:r>
                <a:r>
                  <a:rPr lang="en-US" sz="1800" dirty="0">
                    <a:solidFill>
                      <a:schemeClr val="tx1"/>
                    </a:solidFill>
                  </a:rPr>
                  <a:t>bounce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	pre </a:t>
                </a:r>
                <a:r>
                  <a:rPr lang="en-US" sz="1800" i="1" dirty="0">
                    <a:solidFill>
                      <a:schemeClr val="tx1"/>
                    </a:solidFill>
                  </a:rPr>
                  <a:t>x = 0 /\ v &lt; 0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	eff </a:t>
                </a:r>
                <a:r>
                  <a:rPr lang="en-US" sz="1800" dirty="0">
                    <a:solidFill>
                      <a:schemeClr val="tx1"/>
                    </a:solidFill>
                  </a:rPr>
                  <a:t>v := -cv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       trajectories: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	</a:t>
                </a:r>
                <a:r>
                  <a:rPr lang="en-US" sz="1800" dirty="0">
                    <a:solidFill>
                      <a:schemeClr val="tx1"/>
                    </a:solidFill>
                  </a:rPr>
                  <a:t>Loc1</a:t>
                </a:r>
              </a:p>
              <a:p>
                <a:pPr marL="0" indent="0">
                  <a:buNone/>
                </a:pPr>
                <a:r>
                  <a:rPr lang="en-US" sz="1800" b="1" dirty="0"/>
                  <a:t>	</a:t>
                </a:r>
                <a:r>
                  <a:rPr lang="en-US" sz="1800" b="1" dirty="0">
                    <a:solidFill>
                      <a:schemeClr val="tx1"/>
                    </a:solidFill>
                  </a:rPr>
                  <a:t>evolve </a:t>
                </a:r>
                <a:r>
                  <a:rPr lang="en-US" sz="1800" dirty="0">
                    <a:solidFill>
                      <a:schemeClr val="tx1"/>
                    </a:solidFill>
                  </a:rPr>
                  <a:t>d(x) = v; d(v) = -g</a:t>
                </a:r>
              </a:p>
              <a:p>
                <a:pPr marL="0" indent="0">
                  <a:buNone/>
                </a:pPr>
                <a:r>
                  <a:rPr lang="en-US" sz="1800" b="1" dirty="0">
                    <a:solidFill>
                      <a:schemeClr val="tx1"/>
                    </a:solidFill>
                  </a:rPr>
                  <a:t>	invariant </a:t>
                </a:r>
                <a14:m>
                  <m:oMath xmlns:m="http://schemas.openxmlformats.org/officeDocument/2006/math">
                    <m:r>
                      <a:rPr lang="en-US" sz="1800" b="1" i="1">
                        <a:solidFill>
                          <a:schemeClr val="tx1"/>
                        </a:solidFill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sz="1800" b="1" i="1">
                        <a:solidFill>
                          <a:schemeClr val="tx1"/>
                        </a:solidFill>
                        <a:latin typeface="Cambria Math"/>
                        <a:ea typeface="Cambria Math"/>
                      </a:rPr>
                      <m:t>≥</m:t>
                    </m:r>
                    <m:r>
                      <a:rPr lang="en-US" sz="1800" b="1" i="1">
                        <a:solidFill>
                          <a:schemeClr val="tx1"/>
                        </a:solidFill>
                        <a:latin typeface="Cambria Math"/>
                        <a:ea typeface="Cambria Math"/>
                      </a:rPr>
                      <m:t>𝟎</m:t>
                    </m:r>
                  </m:oMath>
                </a14:m>
                <a:endParaRPr lang="en-US" sz="1600" b="1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38600" y="1410652"/>
                <a:ext cx="5486400" cy="4525963"/>
              </a:xfrm>
              <a:blipFill>
                <a:blip r:embed="rId3"/>
                <a:stretch>
                  <a:fillRect l="-1155"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/>
              <p:cNvSpPr/>
              <p:nvPr/>
            </p:nvSpPr>
            <p:spPr>
              <a:xfrm>
                <a:off x="1210602" y="3403806"/>
                <a:ext cx="1600200" cy="12192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Loc</a:t>
                </a:r>
                <a:r>
                  <a:rPr lang="en-US" dirty="0">
                    <a:solidFill>
                      <a:schemeClr val="tx1"/>
                    </a:solidFill>
                  </a:rPr>
                  <a:t> 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/>
                        </a:rPr>
                        <m:t>𝑑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/>
                        </a:rPr>
                        <m:t>𝑣</m:t>
                      </m:r>
                    </m:oMath>
                  </m:oMathPara>
                </a14:m>
                <a:endParaRPr lang="en-US" sz="1400" i="1" dirty="0">
                  <a:solidFill>
                    <a:schemeClr val="tx1"/>
                  </a:solidFill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/>
                        </a:rPr>
                        <m:t>𝑑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𝑣</m:t>
                          </m:r>
                        </m:e>
                      </m:d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/>
                        </a:rPr>
                        <m:t>=−</m:t>
                      </m:r>
                      <m:r>
                        <a:rPr lang="en-US" sz="1400" i="1">
                          <a:solidFill>
                            <a:schemeClr val="tx1"/>
                          </a:solidFill>
                          <a:latin typeface="Cambria Math"/>
                        </a:rPr>
                        <m:t>𝑔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</a:rPr>
                        <m:t>𝒙</m:t>
                      </m:r>
                      <m:r>
                        <a:rPr lang="en-US" sz="1400" b="1" i="1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</a:rPr>
                        <m:t>≥</m:t>
                      </m:r>
                      <m:r>
                        <a:rPr lang="en-US" sz="1400" b="1" i="1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</a:rPr>
                        <m:t>𝟎</m:t>
                      </m:r>
                    </m:oMath>
                  </m:oMathPara>
                </a14:m>
                <a:endParaRPr lang="en-US" sz="1200" b="1" dirty="0">
                  <a:solidFill>
                    <a:schemeClr val="tx1"/>
                  </a:solidFill>
                </a:endParaRP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602" y="3403806"/>
                <a:ext cx="1600200" cy="1219200"/>
              </a:xfrm>
              <a:prstGeom prst="ellipse">
                <a:avLst/>
              </a:prstGeom>
              <a:blipFill>
                <a:blip r:embed="rId4"/>
                <a:stretch>
                  <a:fillRect t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/>
          <p:cNvCxnSpPr>
            <a:stCxn id="6" idx="1"/>
            <a:endCxn id="6" idx="7"/>
          </p:cNvCxnSpPr>
          <p:nvPr/>
        </p:nvCxnSpPr>
        <p:spPr>
          <a:xfrm rot="5400000" flipH="1" flipV="1">
            <a:off x="2010702" y="3016598"/>
            <a:ext cx="12700" cy="1131512"/>
          </a:xfrm>
          <a:prstGeom prst="curvedConnector3">
            <a:avLst>
              <a:gd name="adj1" fmla="val 5213583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6349" y="5846543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Graphical Representation used in many articles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82" y="1935050"/>
            <a:ext cx="135005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bounce</a:t>
            </a:r>
            <a:endParaRPr lang="en-US" i="1" dirty="0"/>
          </a:p>
          <a:p>
            <a:pPr algn="ctr"/>
            <a:r>
              <a:rPr lang="en-US" i="1" dirty="0"/>
              <a:t>x = 0 /\ v &lt; 0</a:t>
            </a:r>
          </a:p>
          <a:p>
            <a:pPr algn="ctr"/>
            <a:r>
              <a:rPr lang="en-US" i="1" dirty="0"/>
              <a:t>v’ := -cv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22" name="Straight Arrow Connector 21"/>
          <p:cNvCxnSpPr>
            <a:endCxn id="6" idx="2"/>
          </p:cNvCxnSpPr>
          <p:nvPr/>
        </p:nvCxnSpPr>
        <p:spPr>
          <a:xfrm>
            <a:off x="677202" y="4013406"/>
            <a:ext cx="5334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57317" y="4104574"/>
            <a:ext cx="6367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x:= h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Lecture Slides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en-US" dirty="0"/>
              <a:t>Sayan Mitra</a:t>
            </a:r>
            <a:r>
              <a:rPr lang="de-DE" dirty="0"/>
              <a:t> </a:t>
            </a:r>
            <a:r>
              <a:rPr lang="de-DE" dirty="0" err="1"/>
              <a:t>mitras@illinois.edu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4F3E2E-D247-8B4E-A245-B00FC243FC2D}"/>
              </a:ext>
            </a:extLst>
          </p:cNvPr>
          <p:cNvSpPr/>
          <p:nvPr/>
        </p:nvSpPr>
        <p:spPr>
          <a:xfrm>
            <a:off x="9525000" y="5303108"/>
            <a:ext cx="2109963" cy="12936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mode invariant, not to be confused with invariants of the automaton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069887C-AE55-6F47-8DC8-DB07A46E0A50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6781800" y="5447348"/>
            <a:ext cx="2743200" cy="502563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</p:cxnSp>
      <p:pic>
        <p:nvPicPr>
          <p:cNvPr id="12" name="Picture 11" descr="A diagram of a ball&#10;&#10;Description automatically generated">
            <a:extLst>
              <a:ext uri="{FF2B5EF4-FFF2-40B4-BE49-F238E27FC236}">
                <a16:creationId xmlns:a16="http://schemas.microsoft.com/office/drawing/2014/main" id="{C7833F4E-9300-9171-ADB7-561F6365A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4384" y="2694810"/>
            <a:ext cx="3516255" cy="2637191"/>
          </a:xfrm>
          <a:prstGeom prst="rect">
            <a:avLst/>
          </a:prstGeom>
        </p:spPr>
      </p:pic>
      <p:pic>
        <p:nvPicPr>
          <p:cNvPr id="19" name="Picture 18" descr="A graph of a ball automation&#10;&#10;Description automatically generated">
            <a:extLst>
              <a:ext uri="{FF2B5EF4-FFF2-40B4-BE49-F238E27FC236}">
                <a16:creationId xmlns:a16="http://schemas.microsoft.com/office/drawing/2014/main" id="{E2DE0411-978A-CCEE-EE52-02A67FDD70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922" y="15284"/>
            <a:ext cx="3267761" cy="261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445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B8960-AB09-BE42-9E8A-A6C12B9DE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19995"/>
            <a:ext cx="10515600" cy="1325563"/>
          </a:xfrm>
        </p:spPr>
        <p:txBody>
          <a:bodyPr/>
          <a:lstStyle/>
          <a:p>
            <a:r>
              <a:rPr lang="en-US" dirty="0"/>
              <a:t>Urgency: Must transitions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16046-AC4B-ED49-9AE3-4BB081C80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" y="1645558"/>
            <a:ext cx="4839607" cy="1365827"/>
          </a:xfrm>
          <a:prstGeom prst="rect">
            <a:avLst/>
          </a:prstGeom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C5A7AC65-9D5F-4744-8882-C507A4191A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1" y="198803"/>
            <a:ext cx="424688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automaton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Thermostat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,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h,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NimbusRomNo9L"/>
              </a:rPr>
              <a:t>d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NimbusRomNo9L"/>
              </a:rPr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NimbusMonL"/>
              </a:rPr>
              <a:t>Real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 where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mi"/>
              </a:rPr>
              <a:t>&gt;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type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Status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MonL"/>
              </a:rPr>
              <a:t>enumeration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[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,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]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actions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 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;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;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imbusRomNo9L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variables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MonL"/>
              </a:rPr>
              <a:t>Real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 loc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Status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transitions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  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pre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≤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i="1" dirty="0"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imbusRomNo9L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trajectories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  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modeOn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NimbusSan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evolve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h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−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invariant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≤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NimbusRomNo9L"/>
              </a:rPr>
              <a:t>+ d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</a:endParaRPr>
          </a:p>
        </p:txBody>
      </p:sp>
      <p:pic>
        <p:nvPicPr>
          <p:cNvPr id="1028" name="Picture 4" descr="page75image7967904">
            <a:extLst>
              <a:ext uri="{FF2B5EF4-FFF2-40B4-BE49-F238E27FC236}">
                <a16:creationId xmlns:a16="http://schemas.microsoft.com/office/drawing/2014/main" id="{387B2CD3-C3A0-6049-BEE7-BAA0CA40F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754063"/>
            <a:ext cx="455930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12A16590-659E-F647-9F4C-830CCB4ED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687" y="2107016"/>
            <a:ext cx="3538613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turnOff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pre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≥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u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i="1" dirty="0"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3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modeOff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SanL"/>
              </a:rPr>
              <a:t> 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evolve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(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−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Kx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   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invariant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loc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txr"/>
              </a:rPr>
              <a:t>=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off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∧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x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xsy"/>
              </a:rPr>
              <a:t>≥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l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NimbusRomNo9L"/>
              </a:rPr>
              <a:t>- 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imbusRomNo9L"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6E1C810-BD4E-804B-9EE1-2795D937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778" y="3784397"/>
            <a:ext cx="559412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1" i="1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urgent </a:t>
            </a:r>
            <a:r>
              <a:rPr kumimoji="0" lang="en-US" altLang="en-US" sz="240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transition (or action) is an action that has to occur as soon as it is enabled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0" i="0" baseline="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0" i="0" baseline="0" dirty="0"/>
              <a:t>Introduce special syntax for creating urgent transitions, but we can use mode invariants to accomplish this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06811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4D8CAAD5-FB22-BF43-A462-66B0D482F4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317" t="4153" r="6419" b="60587"/>
          <a:stretch/>
        </p:blipFill>
        <p:spPr>
          <a:xfrm>
            <a:off x="6096000" y="634717"/>
            <a:ext cx="2218016" cy="1189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19C787-532B-0A4B-B97E-4B8F61C7B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Zeno’s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BE937-AC0E-9F4C-8C90-A6C134DE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8671"/>
            <a:ext cx="10515600" cy="4949330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i="1" dirty="0">
                <a:latin typeface="+mj-lt"/>
              </a:rPr>
              <a:t>Achilles runs 10 times faster than than the tortoise, but the turtle gets to start 1 second earlier. Can Achilles ever catch Turtle? </a:t>
            </a: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2400" i="1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400" i="1" dirty="0">
                <a:latin typeface="+mj-lt"/>
              </a:rPr>
              <a:t>Lesson: Mixing discrete transitions with continuous motion can be tricky!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7ACD5C9-8453-FA48-9C03-9103CE217EEC}"/>
              </a:ext>
            </a:extLst>
          </p:cNvPr>
          <p:cNvSpPr/>
          <p:nvPr/>
        </p:nvSpPr>
        <p:spPr>
          <a:xfrm>
            <a:off x="838200" y="4967817"/>
            <a:ext cx="211667" cy="211667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AF79A4-DD6A-2948-A855-0A5E9DA63F1B}"/>
              </a:ext>
            </a:extLst>
          </p:cNvPr>
          <p:cNvSpPr/>
          <p:nvPr/>
        </p:nvSpPr>
        <p:spPr>
          <a:xfrm>
            <a:off x="6667499" y="7411"/>
            <a:ext cx="2723133" cy="5831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Comic Sans MS" panose="030F0902030302020204" pitchFamily="66" charset="0"/>
              </a:rPr>
              <a:t>Achilles, the fastest athlete,  greatest warrior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C36BF9-E158-7F4F-83C4-E5D44909F608}"/>
              </a:ext>
            </a:extLst>
          </p:cNvPr>
          <p:cNvSpPr/>
          <p:nvPr/>
        </p:nvSpPr>
        <p:spPr>
          <a:xfrm>
            <a:off x="10343676" y="7412"/>
            <a:ext cx="1829274" cy="5831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omic Sans MS" panose="030F0902030302020204" pitchFamily="66" charset="0"/>
              </a:rPr>
              <a:t>Zeno, Greek philosopher 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677DE7C9-15C9-7847-B7FA-D975C235AD40}"/>
              </a:ext>
            </a:extLst>
          </p:cNvPr>
          <p:cNvSpPr/>
          <p:nvPr/>
        </p:nvSpPr>
        <p:spPr>
          <a:xfrm>
            <a:off x="8915400" y="914400"/>
            <a:ext cx="1428276" cy="776288"/>
          </a:xfrm>
          <a:prstGeom prst="wedgeRoundRectCallout">
            <a:avLst>
              <a:gd name="adj1" fmla="val 72497"/>
              <a:gd name="adj2" fmla="val -32954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Comic Sans MS" panose="030F0902030302020204" pitchFamily="66" charset="0"/>
              </a:rPr>
              <a:t>You couldn’t even beat a turtle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CDE728-459B-1C46-98C0-4B7A3B43429E}"/>
              </a:ext>
            </a:extLst>
          </p:cNvPr>
          <p:cNvCxnSpPr>
            <a:cxnSpLocks/>
            <a:stCxn id="4" idx="6"/>
          </p:cNvCxnSpPr>
          <p:nvPr/>
        </p:nvCxnSpPr>
        <p:spPr>
          <a:xfrm>
            <a:off x="1049867" y="5073651"/>
            <a:ext cx="6855409" cy="22407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910CB477-C5FE-3643-B7BD-46888D6C83D7}"/>
              </a:ext>
            </a:extLst>
          </p:cNvPr>
          <p:cNvSpPr/>
          <p:nvPr/>
        </p:nvSpPr>
        <p:spPr>
          <a:xfrm rot="10800000" flipV="1">
            <a:off x="944032" y="3660552"/>
            <a:ext cx="2645329" cy="2614530"/>
          </a:xfrm>
          <a:prstGeom prst="arc">
            <a:avLst>
              <a:gd name="adj1" fmla="val 10759906"/>
              <a:gd name="adj2" fmla="val 0"/>
            </a:avLst>
          </a:prstGeom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63F4360-FEB7-F745-BBB7-8A4C70F74E09}"/>
              </a:ext>
            </a:extLst>
          </p:cNvPr>
          <p:cNvSpPr/>
          <p:nvPr/>
        </p:nvSpPr>
        <p:spPr>
          <a:xfrm flipV="1">
            <a:off x="3589361" y="4547418"/>
            <a:ext cx="1279023" cy="1264132"/>
          </a:xfrm>
          <a:prstGeom prst="arc">
            <a:avLst>
              <a:gd name="adj1" fmla="val 10759906"/>
              <a:gd name="adj2" fmla="val 0"/>
            </a:avLst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8D5A4D8-F25A-5C43-8DC0-1F9A5ADAFECF}"/>
              </a:ext>
            </a:extLst>
          </p:cNvPr>
          <p:cNvSpPr/>
          <p:nvPr/>
        </p:nvSpPr>
        <p:spPr>
          <a:xfrm>
            <a:off x="3485294" y="4967817"/>
            <a:ext cx="211667" cy="211667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656DE3C-97E2-7A48-9107-20BB815DAC00}"/>
              </a:ext>
            </a:extLst>
          </p:cNvPr>
          <p:cNvSpPr/>
          <p:nvPr/>
        </p:nvSpPr>
        <p:spPr>
          <a:xfrm>
            <a:off x="4762550" y="5006182"/>
            <a:ext cx="211667" cy="211667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FD6D5CC0-A747-9145-BE8C-E1CD57F774E5}"/>
              </a:ext>
            </a:extLst>
          </p:cNvPr>
          <p:cNvSpPr/>
          <p:nvPr/>
        </p:nvSpPr>
        <p:spPr>
          <a:xfrm rot="10800000" flipV="1">
            <a:off x="3576621" y="4344241"/>
            <a:ext cx="1285815" cy="1270844"/>
          </a:xfrm>
          <a:prstGeom prst="arc">
            <a:avLst>
              <a:gd name="adj1" fmla="val 10759906"/>
              <a:gd name="adj2" fmla="val 0"/>
            </a:avLst>
          </a:prstGeom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D453BC72-90A4-5C4D-B174-547C93C56BB0}"/>
              </a:ext>
            </a:extLst>
          </p:cNvPr>
          <p:cNvSpPr/>
          <p:nvPr/>
        </p:nvSpPr>
        <p:spPr>
          <a:xfrm flipV="1">
            <a:off x="4889732" y="4898152"/>
            <a:ext cx="621695" cy="614456"/>
          </a:xfrm>
          <a:prstGeom prst="arc">
            <a:avLst>
              <a:gd name="adj1" fmla="val 10759906"/>
              <a:gd name="adj2" fmla="val 0"/>
            </a:avLst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3F48F78-FC83-DB41-9E68-FD66D7436B55}"/>
              </a:ext>
            </a:extLst>
          </p:cNvPr>
          <p:cNvGrpSpPr/>
          <p:nvPr/>
        </p:nvGrpSpPr>
        <p:grpSpPr>
          <a:xfrm>
            <a:off x="4862163" y="4698601"/>
            <a:ext cx="967364" cy="653582"/>
            <a:chOff x="4879696" y="3698917"/>
            <a:chExt cx="3869756" cy="2614530"/>
          </a:xfrm>
        </p:grpSpPr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0FF734B2-C609-C948-A00D-B16101E0F227}"/>
                </a:ext>
              </a:extLst>
            </p:cNvPr>
            <p:cNvSpPr/>
            <p:nvPr/>
          </p:nvSpPr>
          <p:spPr>
            <a:xfrm rot="10800000" flipV="1">
              <a:off x="4879696" y="3698917"/>
              <a:ext cx="2645329" cy="2614530"/>
            </a:xfrm>
            <a:prstGeom prst="arc">
              <a:avLst>
                <a:gd name="adj1" fmla="val 10759906"/>
                <a:gd name="adj2" fmla="val 0"/>
              </a:avLst>
            </a:prstGeom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A379434-ABB9-9A49-89B9-EF7891ACB776}"/>
                </a:ext>
              </a:extLst>
            </p:cNvPr>
            <p:cNvSpPr/>
            <p:nvPr/>
          </p:nvSpPr>
          <p:spPr>
            <a:xfrm flipV="1">
              <a:off x="7470429" y="5022551"/>
              <a:ext cx="1279023" cy="1264134"/>
            </a:xfrm>
            <a:prstGeom prst="arc">
              <a:avLst>
                <a:gd name="adj1" fmla="val 10759906"/>
                <a:gd name="adj2" fmla="val 0"/>
              </a:avLst>
            </a:prstGeom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Oval 25">
            <a:extLst>
              <a:ext uri="{FF2B5EF4-FFF2-40B4-BE49-F238E27FC236}">
                <a16:creationId xmlns:a16="http://schemas.microsoft.com/office/drawing/2014/main" id="{C2324F20-1A49-8A48-B92F-FD828D28FCFF}"/>
              </a:ext>
            </a:extLst>
          </p:cNvPr>
          <p:cNvSpPr/>
          <p:nvPr/>
        </p:nvSpPr>
        <p:spPr>
          <a:xfrm>
            <a:off x="5405596" y="4979663"/>
            <a:ext cx="211667" cy="211667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AD188FA-983C-9C4F-936B-FD0EF45D8538}"/>
              </a:ext>
            </a:extLst>
          </p:cNvPr>
          <p:cNvGrpSpPr/>
          <p:nvPr/>
        </p:nvGrpSpPr>
        <p:grpSpPr>
          <a:xfrm>
            <a:off x="5506617" y="4830390"/>
            <a:ext cx="496447" cy="453633"/>
            <a:chOff x="4879696" y="3698917"/>
            <a:chExt cx="3707519" cy="3387777"/>
          </a:xfrm>
        </p:grpSpPr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CBF2E86F-E623-D64A-B365-CF970211C924}"/>
                </a:ext>
              </a:extLst>
            </p:cNvPr>
            <p:cNvSpPr/>
            <p:nvPr/>
          </p:nvSpPr>
          <p:spPr>
            <a:xfrm rot="10800000" flipV="1">
              <a:off x="4879696" y="3698917"/>
              <a:ext cx="2645329" cy="2614530"/>
            </a:xfrm>
            <a:prstGeom prst="arc">
              <a:avLst>
                <a:gd name="adj1" fmla="val 10759906"/>
                <a:gd name="adj2" fmla="val 0"/>
              </a:avLst>
            </a:prstGeom>
            <a:ln w="3810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B2370A31-1530-7A4E-BD06-B56C93059F2C}"/>
                </a:ext>
              </a:extLst>
            </p:cNvPr>
            <p:cNvSpPr/>
            <p:nvPr/>
          </p:nvSpPr>
          <p:spPr>
            <a:xfrm flipV="1">
              <a:off x="7308190" y="5822561"/>
              <a:ext cx="1279025" cy="1264133"/>
            </a:xfrm>
            <a:prstGeom prst="arc">
              <a:avLst>
                <a:gd name="adj1" fmla="val 10759906"/>
                <a:gd name="adj2" fmla="val 0"/>
              </a:avLst>
            </a:prstGeom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Oval 30">
            <a:extLst>
              <a:ext uri="{FF2B5EF4-FFF2-40B4-BE49-F238E27FC236}">
                <a16:creationId xmlns:a16="http://schemas.microsoft.com/office/drawing/2014/main" id="{D97085B7-C476-AB4F-9802-F23C64F3E102}"/>
              </a:ext>
            </a:extLst>
          </p:cNvPr>
          <p:cNvSpPr/>
          <p:nvPr/>
        </p:nvSpPr>
        <p:spPr>
          <a:xfrm>
            <a:off x="5736539" y="4982018"/>
            <a:ext cx="211667" cy="211667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6CE58F-94DE-8F4E-906E-656869F3912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biLevel thresh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6400" l="5042" r="94958">
                        <a14:foregroundMark x1="39076" y1="52400" x2="39076" y2="52400"/>
                        <a14:foregroundMark x1="42437" y1="45200" x2="42437" y2="45200"/>
                        <a14:foregroundMark x1="52521" y1="40400" x2="52521" y2="40400"/>
                        <a14:foregroundMark x1="68908" y1="51600" x2="68908" y2="51600"/>
                        <a14:foregroundMark x1="57563" y1="56800" x2="57563" y2="56800"/>
                        <a14:foregroundMark x1="45798" y1="65200" x2="45798" y2="65200"/>
                        <a14:foregroundMark x1="34874" y1="67200" x2="34874" y2="67200"/>
                        <a14:foregroundMark x1="65126" y1="66400" x2="65126" y2="66400"/>
                        <a14:foregroundMark x1="75210" y1="63200" x2="75210" y2="63200"/>
                        <a14:foregroundMark x1="80672" y1="54400" x2="80672" y2="544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3228896" y="5123762"/>
            <a:ext cx="633943" cy="665906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A8341B4-63A6-9840-89BD-60535076D876}"/>
              </a:ext>
            </a:extLst>
          </p:cNvPr>
          <p:cNvSpPr/>
          <p:nvPr/>
        </p:nvSpPr>
        <p:spPr>
          <a:xfrm>
            <a:off x="7531741" y="2949228"/>
            <a:ext cx="4169783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i="1" dirty="0">
                <a:latin typeface="+mj-lt"/>
              </a:rPr>
              <a:t>After 1/10</a:t>
            </a:r>
            <a:r>
              <a:rPr lang="en-US" sz="2000" i="1" baseline="30000" dirty="0">
                <a:latin typeface="+mj-lt"/>
              </a:rPr>
              <a:t>th</a:t>
            </a:r>
            <a:r>
              <a:rPr lang="en-US" sz="2000" i="1" dirty="0">
                <a:latin typeface="+mj-lt"/>
              </a:rPr>
              <a:t> of a second, Achilles reaches where the Turtle (T) started, and T has a head start of 1/10</a:t>
            </a:r>
            <a:r>
              <a:rPr lang="en-US" sz="2000" i="1" baseline="30000" dirty="0">
                <a:latin typeface="+mj-lt"/>
              </a:rPr>
              <a:t>th</a:t>
            </a:r>
            <a:r>
              <a:rPr lang="en-US" sz="2000" i="1" dirty="0">
                <a:latin typeface="+mj-lt"/>
              </a:rPr>
              <a:t> second.</a:t>
            </a:r>
          </a:p>
          <a:p>
            <a:r>
              <a:rPr lang="en-US" sz="2000" i="1" dirty="0">
                <a:latin typeface="+mj-lt"/>
              </a:rPr>
              <a:t>After another 1/100</a:t>
            </a:r>
            <a:r>
              <a:rPr lang="en-US" sz="2000" i="1" baseline="30000" dirty="0">
                <a:latin typeface="+mj-lt"/>
              </a:rPr>
              <a:t>th</a:t>
            </a:r>
            <a:r>
              <a:rPr lang="en-US" sz="2000" i="1" dirty="0">
                <a:latin typeface="+mj-lt"/>
              </a:rPr>
              <a:t> of a second, A catches up to where T was at t=1/10 sec, but T has a head start of 1/100</a:t>
            </a:r>
            <a:r>
              <a:rPr lang="en-US" sz="2000" i="1" baseline="30000" dirty="0">
                <a:latin typeface="+mj-lt"/>
              </a:rPr>
              <a:t>th</a:t>
            </a:r>
            <a:r>
              <a:rPr lang="en-US" sz="2000" i="1" dirty="0">
                <a:latin typeface="+mj-lt"/>
              </a:rPr>
              <a:t> </a:t>
            </a:r>
          </a:p>
          <a:p>
            <a:r>
              <a:rPr lang="en-US" sz="2000" i="1" dirty="0">
                <a:latin typeface="+mj-lt"/>
              </a:rPr>
              <a:t>… </a:t>
            </a:r>
          </a:p>
          <a:p>
            <a:r>
              <a:rPr lang="en-US" sz="2000" i="1" dirty="0">
                <a:latin typeface="+mj-lt"/>
              </a:rPr>
              <a:t>T is always ahead …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94C06E-AF08-F24D-94D0-973D7575EEE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4120" b="95506" l="5385" r="95769"/>
                    </a14:imgEffect>
                  </a14:imgLayer>
                </a14:imgProps>
              </a:ext>
            </a:extLst>
          </a:blip>
          <a:srcRect l="8183" t="4153" r="6791" b="5003"/>
          <a:stretch/>
        </p:blipFill>
        <p:spPr>
          <a:xfrm>
            <a:off x="305799" y="3820977"/>
            <a:ext cx="1018308" cy="1113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73D097E-A5F7-B647-A140-63639C637A6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26092" y="590550"/>
            <a:ext cx="1132770" cy="1540567"/>
          </a:xfrm>
          <a:prstGeom prst="rect">
            <a:avLst/>
          </a:prstGeom>
        </p:spPr>
      </p:pic>
      <p:sp>
        <p:nvSpPr>
          <p:cNvPr id="12" name="Rounded Rectangular Callout 11">
            <a:extLst>
              <a:ext uri="{FF2B5EF4-FFF2-40B4-BE49-F238E27FC236}">
                <a16:creationId xmlns:a16="http://schemas.microsoft.com/office/drawing/2014/main" id="{3D1C9467-C6A7-E84D-8DE7-2A366768C0C8}"/>
              </a:ext>
            </a:extLst>
          </p:cNvPr>
          <p:cNvSpPr/>
          <p:nvPr/>
        </p:nvSpPr>
        <p:spPr>
          <a:xfrm>
            <a:off x="7717450" y="659653"/>
            <a:ext cx="1110461" cy="480172"/>
          </a:xfrm>
          <a:prstGeom prst="wedgeRoundRectCallout">
            <a:avLst>
              <a:gd name="adj1" fmla="val -91761"/>
              <a:gd name="adj2" fmla="val 6377"/>
              <a:gd name="adj3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i="1" dirty="0">
                <a:solidFill>
                  <a:schemeClr val="tx1"/>
                </a:solidFill>
                <a:latin typeface="Comic Sans MS" panose="030F0902030302020204" pitchFamily="66" charset="0"/>
              </a:rPr>
              <a:t>whatever!</a:t>
            </a:r>
          </a:p>
        </p:txBody>
      </p:sp>
    </p:spTree>
    <p:extLst>
      <p:ext uri="{BB962C8B-B14F-4D97-AF65-F5344CB8AC3E}">
        <p14:creationId xmlns:p14="http://schemas.microsoft.com/office/powerpoint/2010/main" val="2071171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1.85185E-6 L 0.10807 0.000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404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5 -0.00463 L 0.2276 -0.00463 " pathEditMode="relative" ptsTypes="AA">
                                      <p:cBhvr>
                                        <p:cTn id="3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2929 -0.00463 L 0.33372 -4.44444E-6 " pathEditMode="relative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546 0.00834 L 0.16223 0.00834 " pathEditMode="relative" ptsTypes="AA">
                                      <p:cBhvr>
                                        <p:cTn id="5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2" dur="2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2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2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9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9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00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01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2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1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6" grpId="0" animBg="1"/>
      <p:bldP spid="26" grpId="1" animBg="1"/>
      <p:bldP spid="31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C57D90-9C83-A048-984C-A1697E8149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24" t="10877" r="10271" b="10333"/>
          <a:stretch/>
        </p:blipFill>
        <p:spPr>
          <a:xfrm>
            <a:off x="4823242" y="2282018"/>
            <a:ext cx="7187106" cy="4496960"/>
          </a:xfrm>
          <a:prstGeom prst="rect">
            <a:avLst/>
          </a:prstGeom>
        </p:spPr>
      </p:pic>
      <p:sp>
        <p:nvSpPr>
          <p:cNvPr id="10" name="Rounded Rectangle 14">
            <a:extLst>
              <a:ext uri="{FF2B5EF4-FFF2-40B4-BE49-F238E27FC236}">
                <a16:creationId xmlns:a16="http://schemas.microsoft.com/office/drawing/2014/main" id="{CC7A9E2F-5622-CE4D-8B46-32D3011694A0}"/>
              </a:ext>
            </a:extLst>
          </p:cNvPr>
          <p:cNvSpPr/>
          <p:nvPr/>
        </p:nvSpPr>
        <p:spPr>
          <a:xfrm>
            <a:off x="2548884" y="5712350"/>
            <a:ext cx="1828800" cy="723636"/>
          </a:xfrm>
          <a:prstGeom prst="roundRect">
            <a:avLst/>
          </a:prstGeom>
          <a:noFill/>
          <a:ln w="76200">
            <a:solidFill>
              <a:srgbClr val="E47D0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rgbClr val="E47D01"/>
                </a:solidFill>
                <a:latin typeface="+mj-lt"/>
              </a:rPr>
              <a:t>Run</a:t>
            </a:r>
            <a:endParaRPr lang="en-US" sz="2000" b="1" dirty="0">
              <a:solidFill>
                <a:srgbClr val="E47D01"/>
              </a:solidFill>
              <a:latin typeface="+mj-lt"/>
            </a:endParaRPr>
          </a:p>
        </p:txBody>
      </p:sp>
      <p:sp>
        <p:nvSpPr>
          <p:cNvPr id="11" name="Rounded Rectangle 90">
            <a:extLst>
              <a:ext uri="{FF2B5EF4-FFF2-40B4-BE49-F238E27FC236}">
                <a16:creationId xmlns:a16="http://schemas.microsoft.com/office/drawing/2014/main" id="{C3E0AEC5-5C38-0A46-A608-8903DADD9611}"/>
              </a:ext>
            </a:extLst>
          </p:cNvPr>
          <p:cNvSpPr/>
          <p:nvPr/>
        </p:nvSpPr>
        <p:spPr>
          <a:xfrm>
            <a:off x="274526" y="4860758"/>
            <a:ext cx="1828800" cy="723636"/>
          </a:xfrm>
          <a:prstGeom prst="roundRect">
            <a:avLst/>
          </a:prstGeom>
          <a:noFill/>
          <a:ln w="76200">
            <a:solidFill>
              <a:srgbClr val="04BF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4BFDA"/>
                </a:solidFill>
                <a:latin typeface="+mj-lt"/>
              </a:rPr>
              <a:t>Walk</a:t>
            </a:r>
            <a:endParaRPr lang="en-US" sz="2800" b="1" i="1" dirty="0">
              <a:solidFill>
                <a:srgbClr val="04BFDA"/>
              </a:solidFill>
              <a:latin typeface="+mj-lt"/>
            </a:endParaRPr>
          </a:p>
        </p:txBody>
      </p:sp>
      <p:cxnSp>
        <p:nvCxnSpPr>
          <p:cNvPr id="16" name="Connector: Curved 363">
            <a:extLst>
              <a:ext uri="{FF2B5EF4-FFF2-40B4-BE49-F238E27FC236}">
                <a16:creationId xmlns:a16="http://schemas.microsoft.com/office/drawing/2014/main" id="{F2326642-AD98-8043-96BD-BA0DFF5C9E1B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>
            <a:off x="2103326" y="5222577"/>
            <a:ext cx="1359958" cy="489772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363">
            <a:extLst>
              <a:ext uri="{FF2B5EF4-FFF2-40B4-BE49-F238E27FC236}">
                <a16:creationId xmlns:a16="http://schemas.microsoft.com/office/drawing/2014/main" id="{46CDCADB-B647-3944-9B0C-B0AA7E0561E8}"/>
              </a:ext>
            </a:extLst>
          </p:cNvPr>
          <p:cNvCxnSpPr>
            <a:cxnSpLocks/>
            <a:stCxn id="10" idx="1"/>
            <a:endCxn id="11" idx="2"/>
          </p:cNvCxnSpPr>
          <p:nvPr/>
        </p:nvCxnSpPr>
        <p:spPr>
          <a:xfrm rot="10800000">
            <a:off x="1188926" y="5584394"/>
            <a:ext cx="1359958" cy="489774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itle 1">
            <a:extLst>
              <a:ext uri="{FF2B5EF4-FFF2-40B4-BE49-F238E27FC236}">
                <a16:creationId xmlns:a16="http://schemas.microsoft.com/office/drawing/2014/main" id="{6A0CCC8C-AECD-914B-9E56-9887DDEEE59C}"/>
              </a:ext>
            </a:extLst>
          </p:cNvPr>
          <p:cNvSpPr txBox="1">
            <a:spLocks/>
          </p:cNvSpPr>
          <p:nvPr/>
        </p:nvSpPr>
        <p:spPr>
          <a:xfrm>
            <a:off x="488607" y="1779465"/>
            <a:ext cx="8669270" cy="7738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Each of the modes of a walking robot are asymptotically stable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Is it possible to switch between them to make the system unstable?</a:t>
            </a:r>
            <a:endParaRPr lang="en-US" sz="9600" b="1" i="1" dirty="0"/>
          </a:p>
          <a:p>
            <a:endParaRPr lang="en-US" dirty="0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B56F5169-7142-C741-91D1-5A40A057C3BA}"/>
              </a:ext>
            </a:extLst>
          </p:cNvPr>
          <p:cNvSpPr/>
          <p:nvPr/>
        </p:nvSpPr>
        <p:spPr>
          <a:xfrm rot="10624941">
            <a:off x="8154186" y="3987537"/>
            <a:ext cx="158840" cy="471341"/>
          </a:xfrm>
          <a:prstGeom prst="arc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51CCE781-209E-3D45-8F01-70F1CE0CCC5F}"/>
              </a:ext>
            </a:extLst>
          </p:cNvPr>
          <p:cNvSpPr/>
          <p:nvPr/>
        </p:nvSpPr>
        <p:spPr>
          <a:xfrm rot="17470908">
            <a:off x="8345040" y="4059178"/>
            <a:ext cx="266196" cy="617208"/>
          </a:xfrm>
          <a:prstGeom prst="arc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B2F44720-A257-8148-ACD3-FCDF48B83542}"/>
              </a:ext>
            </a:extLst>
          </p:cNvPr>
          <p:cNvSpPr/>
          <p:nvPr/>
        </p:nvSpPr>
        <p:spPr>
          <a:xfrm rot="694961">
            <a:off x="8292857" y="4243646"/>
            <a:ext cx="266196" cy="617208"/>
          </a:xfrm>
          <a:prstGeom prst="arc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c 28">
            <a:extLst>
              <a:ext uri="{FF2B5EF4-FFF2-40B4-BE49-F238E27FC236}">
                <a16:creationId xmlns:a16="http://schemas.microsoft.com/office/drawing/2014/main" id="{633F256A-D59A-6D4B-BE32-3680434A8BAF}"/>
              </a:ext>
            </a:extLst>
          </p:cNvPr>
          <p:cNvSpPr/>
          <p:nvPr/>
        </p:nvSpPr>
        <p:spPr>
          <a:xfrm rot="5400000">
            <a:off x="7985593" y="4100519"/>
            <a:ext cx="256833" cy="906269"/>
          </a:xfrm>
          <a:prstGeom prst="arc">
            <a:avLst>
              <a:gd name="adj1" fmla="val 16200000"/>
              <a:gd name="adj2" fmla="val 5483597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38AB7C4F-7CC8-5C48-9DA8-1FDEF499F240}"/>
              </a:ext>
            </a:extLst>
          </p:cNvPr>
          <p:cNvSpPr/>
          <p:nvPr/>
        </p:nvSpPr>
        <p:spPr>
          <a:xfrm>
            <a:off x="7641802" y="2648933"/>
            <a:ext cx="1982963" cy="3214540"/>
          </a:xfrm>
          <a:prstGeom prst="arc">
            <a:avLst>
              <a:gd name="adj1" fmla="val 9922229"/>
              <a:gd name="adj2" fmla="val 0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A1352D7-4B49-314C-B0B4-FE5CD7BBBB54}"/>
              </a:ext>
            </a:extLst>
          </p:cNvPr>
          <p:cNvSpPr txBox="1">
            <a:spLocks/>
          </p:cNvSpPr>
          <p:nvPr/>
        </p:nvSpPr>
        <p:spPr>
          <a:xfrm>
            <a:off x="488607" y="420806"/>
            <a:ext cx="8669270" cy="7738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Stability of a hybrid automaton</a:t>
            </a:r>
          </a:p>
        </p:txBody>
      </p:sp>
    </p:spTree>
    <p:extLst>
      <p:ext uri="{BB962C8B-B14F-4D97-AF65-F5344CB8AC3E}">
        <p14:creationId xmlns:p14="http://schemas.microsoft.com/office/powerpoint/2010/main" val="3011487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kinds of executions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>
                    <a:latin typeface="+mj-lt"/>
                  </a:rPr>
                  <a:t>Infinite</a:t>
                </a:r>
                <a:r>
                  <a:rPr lang="en-US" dirty="0">
                    <a:latin typeface="+mj-lt"/>
                  </a:rPr>
                  <a:t>: Infinite sequence of transitions and trajectories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…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r>
                  <a:rPr lang="en-US" b="1" dirty="0">
                    <a:latin typeface="+mj-lt"/>
                  </a:rPr>
                  <a:t>Closed</a:t>
                </a:r>
                <a:r>
                  <a:rPr lang="en-US" dirty="0">
                    <a:latin typeface="+mj-lt"/>
                  </a:rPr>
                  <a:t>: Finite with final trajectory with closed domain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𝑑𝑜𝑚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=[0,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]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r>
                  <a:rPr lang="en-US" b="1" dirty="0">
                    <a:latin typeface="+mj-lt"/>
                  </a:rPr>
                  <a:t>Admissible</a:t>
                </a:r>
                <a:r>
                  <a:rPr lang="en-US" dirty="0">
                    <a:latin typeface="+mj-lt"/>
                  </a:rPr>
                  <a:t>: Infinite duration</a:t>
                </a:r>
              </a:p>
              <a:p>
                <a:pPr lvl="1"/>
                <a:r>
                  <a:rPr lang="en-US" dirty="0">
                    <a:latin typeface="+mj-lt"/>
                  </a:rPr>
                  <a:t>May or may not be infinite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…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𝑑𝑜𝑚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=[0,∞)</m:t>
                    </m:r>
                  </m:oMath>
                </a14:m>
                <a:endParaRPr lang="en-US" dirty="0">
                  <a:latin typeface="+mj-lt"/>
                </a:endParaRPr>
              </a:p>
              <a:p>
                <a:r>
                  <a:rPr lang="en-US" b="1" dirty="0">
                    <a:latin typeface="+mj-lt"/>
                  </a:rPr>
                  <a:t>Zeno</a:t>
                </a:r>
                <a:r>
                  <a:rPr lang="en-US" dirty="0">
                    <a:latin typeface="+mj-lt"/>
                  </a:rPr>
                  <a:t>: Infinite but not admissible</a:t>
                </a:r>
              </a:p>
              <a:p>
                <a:pPr lvl="1"/>
                <a:r>
                  <a:rPr lang="en-US" dirty="0">
                    <a:latin typeface="+mj-lt"/>
                  </a:rPr>
                  <a:t>Infinite number of transitions in finite time</a:t>
                </a:r>
              </a:p>
              <a:p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 b="-3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920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12AF7-9C95-FE42-A677-696B30E6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Rimless wheel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34D8A-8610-E44F-9EAE-EBEE08CDB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0" y="1333500"/>
            <a:ext cx="6892331" cy="26633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E8EAB8-5E72-2D48-8F75-EACFBC61DF2D}"/>
                  </a:ext>
                </a:extLst>
              </p:cNvPr>
              <p:cNvSpPr txBox="1"/>
              <p:nvPr/>
            </p:nvSpPr>
            <p:spPr>
              <a:xfrm>
                <a:off x="7730531" y="178069"/>
                <a:ext cx="4322978" cy="63148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automaton</a:t>
                </a:r>
                <a:r>
                  <a:rPr lang="en-US" dirty="0"/>
                  <a:t> </a:t>
                </a:r>
                <a:r>
                  <a:rPr lang="en-US" dirty="0" err="1"/>
                  <a:t>RimlessWheel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i="1" dirty="0">
                        <a:latin typeface="Cambria Math" panose="02040503050406030204" pitchFamily="18" charset="0"/>
                      </a:rPr>
                      <m:t>Real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Nat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  const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: Real := 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 </a:t>
                </a:r>
                <a:r>
                  <a:rPr lang="en-US" b="1" dirty="0"/>
                  <a:t>type</a:t>
                </a:r>
                <a:r>
                  <a:rPr lang="en-US" dirty="0"/>
                  <a:t> Spokes: enumeration [1,...,n]</a:t>
                </a:r>
              </a:p>
              <a:p>
                <a:r>
                  <a:rPr lang="en-US" dirty="0"/>
                  <a:t>  </a:t>
                </a:r>
                <a:r>
                  <a:rPr lang="en-US" b="1" dirty="0"/>
                  <a:t>actions</a:t>
                </a:r>
              </a:p>
              <a:p>
                <a:r>
                  <a:rPr lang="en-US" b="1" dirty="0"/>
                  <a:t>    </a:t>
                </a:r>
                <a:r>
                  <a:rPr lang="en-US" dirty="0"/>
                  <a:t>impact</a:t>
                </a:r>
              </a:p>
              <a:p>
                <a:r>
                  <a:rPr lang="en-US" dirty="0"/>
                  <a:t>  </a:t>
                </a:r>
                <a:r>
                  <a:rPr lang="en-US" b="1" dirty="0"/>
                  <a:t>variables</a:t>
                </a:r>
              </a:p>
              <a:p>
                <a:r>
                  <a:rPr lang="en-US" dirty="0"/>
                  <a:t>    pivot: Spokes :=1</a:t>
                </a:r>
              </a:p>
              <a:p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:Real := 0</a:t>
                </a:r>
              </a:p>
              <a:p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: Real := 0</a:t>
                </a:r>
              </a:p>
              <a:p>
                <a:r>
                  <a:rPr lang="en-US" dirty="0"/>
                  <a:t>  </a:t>
                </a:r>
                <a:r>
                  <a:rPr lang="en-US" b="1" dirty="0"/>
                  <a:t>transitions</a:t>
                </a:r>
              </a:p>
              <a:p>
                <a:r>
                  <a:rPr lang="en-US" dirty="0"/>
                  <a:t>    impact</a:t>
                </a:r>
              </a:p>
              <a:p>
                <a:r>
                  <a:rPr lang="en-US" dirty="0"/>
                  <a:t>        pre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       </a:t>
                </a:r>
                <a:r>
                  <a:rPr lang="en-US" b="1" dirty="0"/>
                  <a:t>eff</a:t>
                </a:r>
                <a:r>
                  <a:rPr lang="en-US" dirty="0"/>
                  <a:t> pivot := pivot + 1 mod n</a:t>
                </a:r>
              </a:p>
              <a:p>
                <a:r>
                  <a:rPr lang="en-US" dirty="0"/>
                  <a:t>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𝜇𝜔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    </a:t>
                </a:r>
                <a:r>
                  <a:rPr lang="en-US" b="1" dirty="0"/>
                  <a:t>trajectories</a:t>
                </a:r>
              </a:p>
              <a:p>
                <a:r>
                  <a:rPr lang="en-US" dirty="0"/>
                  <a:t>        swing</a:t>
                </a:r>
              </a:p>
              <a:p>
                <a:r>
                  <a:rPr lang="en-US" dirty="0"/>
                  <a:t>        </a:t>
                </a:r>
                <a:r>
                  <a:rPr lang="en-US" b="1" dirty="0"/>
                  <a:t>evolve</a:t>
                </a:r>
              </a:p>
              <a:p>
                <a:r>
                  <a:rPr lang="en-US" dirty="0"/>
                  <a:t>   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	</a:t>
                </a:r>
              </a:p>
              <a:p>
                <a:r>
                  <a:rPr lang="en-US" b="0" dirty="0"/>
                  <a:t>           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        </a:t>
                </a:r>
                <a:r>
                  <a:rPr lang="en-US" b="1" dirty="0"/>
                  <a:t>invariant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E8EAB8-5E72-2D48-8F75-EACFBC61D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0531" y="178069"/>
                <a:ext cx="4322978" cy="6314806"/>
              </a:xfrm>
              <a:prstGeom prst="rect">
                <a:avLst/>
              </a:prstGeom>
              <a:blipFill>
                <a:blip r:embed="rId3"/>
                <a:stretch>
                  <a:fillRect l="-1173" t="-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3D1D5F6-DC40-6A4C-80D9-2B460FB6AC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472104" y="3274088"/>
            <a:ext cx="3477909" cy="45008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BC05336-9E6B-1E40-A531-79338ABA119B}"/>
                  </a:ext>
                </a:extLst>
              </p14:cNvPr>
              <p14:cNvContentPartPr/>
              <p14:nvPr/>
            </p14:nvContentPartPr>
            <p14:xfrm>
              <a:off x="8852040" y="3854520"/>
              <a:ext cx="19692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BC05336-9E6B-1E40-A531-79338ABA119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842680" y="3845160"/>
                <a:ext cx="21564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909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F3CBE-78DF-1443-BFC9-30D04CDC5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Invariants and reachability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1A6231-6640-0343-A518-5DAD5F2E4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56" y="1825625"/>
                <a:ext cx="1080064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ea typeface="Cambria Math"/>
                  </a:rPr>
                  <a:t>A state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ea typeface="Cambria Math"/>
                  </a:rPr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dirty="0">
                    <a:ea typeface="Cambria Math"/>
                  </a:rPr>
                  <a:t> is </a:t>
                </a:r>
                <a:r>
                  <a:rPr lang="en-US" b="1" i="1" dirty="0">
                    <a:ea typeface="Cambria Math"/>
                  </a:rPr>
                  <a:t>reachable</a:t>
                </a:r>
                <a:r>
                  <a:rPr lang="en-US" dirty="0">
                    <a:ea typeface="Cambria Math"/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∃</m:t>
                    </m:r>
                  </m:oMath>
                </a14:m>
                <a:r>
                  <a:rPr lang="en-US" dirty="0">
                    <a:ea typeface="Cambria Math"/>
                  </a:rPr>
                  <a:t> an execution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</m:oMath>
                </a14:m>
                <a:r>
                  <a:rPr lang="en-US" dirty="0">
                    <a:ea typeface="Cambria Math"/>
                  </a:rPr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all reachable state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</m:oMath>
                </a14:m>
                <a:endParaRPr lang="en-US" dirty="0">
                  <a:ea typeface="Cambria Math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𝒜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states reachable within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𝑇</m:t>
                    </m:r>
                  </m:oMath>
                </a14:m>
                <a:endParaRPr lang="en-US" dirty="0">
                  <a:ea typeface="Cambria Math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𝒜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states reachable w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/>
                      </a:rPr>
                      <m:t>ithin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𝑘</m:t>
                    </m:r>
                  </m:oMath>
                </a14:m>
                <a:r>
                  <a:rPr lang="en-US" dirty="0">
                    <a:ea typeface="Cambria Math"/>
                  </a:rPr>
                  <a:t> transitions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𝒜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states reachable up to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𝑘</m:t>
                    </m:r>
                  </m:oMath>
                </a14:m>
                <a:r>
                  <a:rPr lang="en-US" dirty="0">
                    <a:ea typeface="Cambria Math"/>
                  </a:rPr>
                  <a:t> transitions and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𝑇</m:t>
                    </m:r>
                  </m:oMath>
                </a14:m>
                <a:endParaRPr lang="en-US" dirty="0">
                  <a:ea typeface="Cambria Math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>
                    <a:ea typeface="Cambria Math"/>
                  </a:rPr>
                  <a:t>An invariant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is a set of states that contains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𝑅𝑒𝑎𝑐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𝒜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1A6231-6640-0343-A518-5DAD5F2E4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56" y="1825625"/>
                <a:ext cx="10800644" cy="4351338"/>
              </a:xfrm>
              <a:blipFill>
                <a:blip r:embed="rId2"/>
                <a:stretch>
                  <a:fillRect l="-1174" t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8679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86D81-0FA4-F143-92C1-1D573E9DF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invariants of hybrid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98A46-4D5E-814C-9922-14281262A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Recall the theorem we used for proving </a:t>
                </a:r>
                <a:r>
                  <a:rPr lang="en-US" sz="2000" i="1" dirty="0"/>
                  <a:t>I </a:t>
                </a:r>
                <a:r>
                  <a:rPr lang="en-US" sz="2000" dirty="0"/>
                  <a:t>is an invariant for automaton</a:t>
                </a:r>
                <a14:m>
                  <m:oMath xmlns:m="http://schemas.openxmlformats.org/officeDocument/2006/math"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=⟨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sz="2000" b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𝐷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/>
                      </a:rPr>
                      <m:t>⟩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Theorem 7.1</a:t>
                </a:r>
                <a:r>
                  <a:rPr lang="en-US" sz="2000" dirty="0"/>
                  <a:t>. Given an automaton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=⟨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𝑫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⟩</m:t>
                    </m:r>
                  </m:oMath>
                </a14:m>
                <a:r>
                  <a:rPr lang="en-US" sz="2000" dirty="0"/>
                  <a:t>, if a set of states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𝑣𝑎𝑙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000" dirty="0"/>
                  <a:t> satisfies the following: </a:t>
                </a:r>
              </a:p>
              <a:p>
                <a:r>
                  <a:rPr lang="en-US" sz="2000" dirty="0"/>
                  <a:t>(Start condition) For any starting state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and</a:t>
                </a:r>
              </a:p>
              <a:p>
                <a:r>
                  <a:rPr lang="en-US" sz="2000" dirty="0"/>
                  <a:t>(Transition closure) For any action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a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</m:oMath>
                </a14:m>
                <a:r>
                  <a:rPr lang="en-US" sz="2000" dirty="0"/>
                  <a:t>, if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→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𝒂</m:t>
                        </m:r>
                      </m:sub>
                    </m:sSub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, and </a:t>
                </a:r>
              </a:p>
              <a:p>
                <a:pPr marL="0" indent="0">
                  <a:buNone/>
                </a:pPr>
                <a:r>
                  <a:rPr lang="en-US" sz="2000" dirty="0"/>
                  <a:t>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is an inductive invariant of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98A46-4D5E-814C-9922-14281262A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7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86D81-0FA4-F143-92C1-1D573E9DF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invariants of hybrid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98A46-4D5E-814C-9922-14281262A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Theorem 7.1</a:t>
                </a:r>
                <a:r>
                  <a:rPr lang="en-US" sz="2000" dirty="0"/>
                  <a:t>. Given an HIOA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=⟨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𝑫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/>
                      </a:rPr>
                      <m:t>𝑻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⟩</m:t>
                    </m:r>
                  </m:oMath>
                </a14:m>
                <a:r>
                  <a:rPr lang="en-US" sz="2000" dirty="0"/>
                  <a:t>, if a set of states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𝑣𝑎𝑙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000" dirty="0"/>
                  <a:t> satisfies the following: </a:t>
                </a:r>
              </a:p>
              <a:p>
                <a:r>
                  <a:rPr lang="en-US" sz="2000" dirty="0"/>
                  <a:t>(Start condition) For any starting state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and</a:t>
                </a:r>
              </a:p>
              <a:p>
                <a:r>
                  <a:rPr lang="en-US" sz="2000" dirty="0"/>
                  <a:t>(Transition closure) For any action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a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</m:oMath>
                </a14:m>
                <a:r>
                  <a:rPr lang="en-US" sz="2000" dirty="0"/>
                  <a:t>, if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→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𝒂</m:t>
                        </m:r>
                      </m:sub>
                    </m:sSub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, and 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</a:rPr>
                  <a:t>(Trajectory closure) For any trajectory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/>
                      </a:rPr>
                      <m:t>𝑻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𝑓𝑠𝑡𝑎𝑡𝑒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sz="2000" dirty="0"/>
                  <a:t>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is an inductive invariant of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98A46-4D5E-814C-9922-14281262A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 r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529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86D81-0FA4-F143-92C1-1D573E9DF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en-US" dirty="0"/>
              <a:t>How to prove invariants of hybrid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98A46-4D5E-814C-9922-14281262A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923" y="1371600"/>
                <a:ext cx="10884877" cy="535744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Theorem 7.1</a:t>
                </a:r>
                <a:r>
                  <a:rPr lang="en-US" sz="2000" dirty="0"/>
                  <a:t>. Given an HIOA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=⟨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,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𝑫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𝑻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⟩</m:t>
                    </m:r>
                  </m:oMath>
                </a14:m>
                <a:r>
                  <a:rPr lang="en-US" sz="2000" dirty="0"/>
                  <a:t>, if a set of states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𝑣𝑎𝑙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000" dirty="0"/>
                  <a:t> satisfies the following: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(Start condition) For any starting state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and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(Transition closure) For any action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a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</m:oMath>
                </a14:m>
                <a:r>
                  <a:rPr lang="en-US" sz="2000" dirty="0"/>
                  <a:t>, if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→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𝒂</m:t>
                        </m:r>
                      </m:sub>
                    </m:sSub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, and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000" dirty="0"/>
                  <a:t>(Trajectory closure) For any trajectory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𝑻</m:t>
                    </m:r>
                  </m:oMath>
                </a14:m>
                <a:r>
                  <a:rPr lang="en-US" sz="2000" dirty="0"/>
                  <a:t>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is an inductive invariant of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Proof. </a:t>
                </a:r>
                <a:r>
                  <a:rPr lang="en-US" sz="2000" dirty="0"/>
                  <a:t>Consider any reachable state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𝑅𝑒𝑎𝑐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h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000" dirty="0"/>
                  <a:t>. By the definition of a reachable state, there exists an execution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</m:oMath>
                </a14:m>
                <a:r>
                  <a:rPr lang="en-US" sz="2000" dirty="0"/>
                  <a:t>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sz="2000" dirty="0"/>
                  <a:t> 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𝑥</m:t>
                    </m:r>
                  </m:oMath>
                </a14:m>
                <a:r>
                  <a:rPr lang="en-US" sz="2000" dirty="0"/>
                  <a:t>.  We proceed by induction on the length of the execution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/>
                  <a:t>. For the base case,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consists of a single starting state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/>
                      </a:rPr>
                      <m:t>Θ</m:t>
                    </m:r>
                  </m:oMath>
                </a14:m>
                <a:r>
                  <a:rPr lang="en-US" sz="2000" dirty="0"/>
                  <a:t>, and, by the </a:t>
                </a:r>
                <a:r>
                  <a:rPr lang="en-US" sz="2000" i="1" dirty="0"/>
                  <a:t>start condition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. For the inductive step, we consider two subcases: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Case 1: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𝛼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(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)</m:t>
                    </m:r>
                  </m:oMath>
                </a14:m>
                <a:r>
                  <a:rPr lang="en-US" sz="2000" dirty="0"/>
                  <a:t>,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is a point trajectory at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dirty="0"/>
                  <a:t> 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By the induction hypothesis, we know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𝛼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By invoking the </a:t>
                </a:r>
                <a:r>
                  <a:rPr lang="en-US" sz="2000" i="1" dirty="0"/>
                  <a:t>transition closure</a:t>
                </a:r>
                <a:r>
                  <a:rPr lang="en-US" sz="2000" dirty="0"/>
                  <a:t>, we obtain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Case 2: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𝛼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</m:oMath>
                </a14:m>
                <a:r>
                  <a:rPr lang="en-US" sz="2000" dirty="0"/>
                  <a:t>,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000" dirty="0"/>
                  <a:t>is a trajectory of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By the </a:t>
                </a:r>
                <a:r>
                  <a:rPr lang="en-US" sz="2000" i="1" dirty="0"/>
                  <a:t>induction hypothesis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𝛼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r>
                  <a:rPr lang="en-US" sz="2000" dirty="0"/>
                  <a:t> and by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invoking the </a:t>
                </a:r>
                <a:r>
                  <a:rPr lang="en-US" sz="2000" i="1" dirty="0"/>
                  <a:t>trajectory closure</a:t>
                </a:r>
                <a:r>
                  <a:rPr lang="en-US" sz="2000" dirty="0"/>
                  <a:t>, we deduce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𝑙𝑠𝑡𝑎𝑡𝑒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98A46-4D5E-814C-9922-14281262A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923" y="1371600"/>
                <a:ext cx="10884877" cy="5357445"/>
              </a:xfrm>
              <a:blipFill>
                <a:blip r:embed="rId2"/>
                <a:stretch>
                  <a:fillRect l="-233" t="-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700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DEF0-9BF0-9148-A21F-B6C918A5F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application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82DE08-D3DD-9C4B-A6EB-7C66C9B54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908" y="504092"/>
                <a:ext cx="7151077" cy="6060831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Candidate invariant: ``stays above ground’’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0≡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</m:t>
                          </m:r>
                          <m:d>
                            <m:d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 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Applying Theorem 7.1: 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Consider any initial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b="1" dirty="0"/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Consider any transition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𝑏𝑜𝑢𝑛𝑐𝑒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/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From precondition we know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; from effect we know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=0≥0</m:t>
                    </m:r>
                  </m:oMath>
                </a14:m>
                <a:endParaRPr lang="en-US" b="1" dirty="0"/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b="1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Consider any trajectory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From mode invariant we know that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b="1" dirty="0"/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It follows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What part of </a:t>
                </a:r>
                <a:r>
                  <a:rPr lang="en-US" dirty="0" err="1"/>
                  <a:t>Bouncingball</a:t>
                </a:r>
                <a:r>
                  <a:rPr lang="en-US" dirty="0"/>
                  <a:t> was used ? What could be changed?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82DE08-D3DD-9C4B-A6EB-7C66C9B54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908" y="504092"/>
                <a:ext cx="7151077" cy="6060831"/>
              </a:xfrm>
              <a:blipFill>
                <a:blip r:embed="rId2"/>
                <a:stretch>
                  <a:fillRect l="-1241" t="-1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10">
                <a:extLst>
                  <a:ext uri="{FF2B5EF4-FFF2-40B4-BE49-F238E27FC236}">
                    <a16:creationId xmlns:a16="http://schemas.microsoft.com/office/drawing/2014/main" id="{62E97287-D77F-CE40-BC54-DA249B5CF6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6139" y="1776047"/>
                <a:ext cx="5486400" cy="4525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automaton </a:t>
                </a:r>
                <a:r>
                  <a:rPr lang="en-US" sz="1800" dirty="0" err="1"/>
                  <a:t>Bouncingball</a:t>
                </a:r>
                <a:r>
                  <a:rPr lang="en-US" sz="1800" dirty="0"/>
                  <a:t>(</a:t>
                </a:r>
                <a:r>
                  <a:rPr lang="en-US" sz="1800" dirty="0" err="1"/>
                  <a:t>c,h,g</a:t>
                </a:r>
                <a:r>
                  <a:rPr lang="en-US" sz="1800" dirty="0"/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variables: </a:t>
                </a:r>
                <a:r>
                  <a:rPr lang="en-US" sz="1800" dirty="0"/>
                  <a:t>x: Reals := h, v: Reals := 0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actions: </a:t>
                </a:r>
                <a:r>
                  <a:rPr lang="en-US" sz="1800" dirty="0"/>
                  <a:t>bounce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transitions: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      </a:t>
                </a:r>
                <a:r>
                  <a:rPr lang="en-US" sz="1800" dirty="0"/>
                  <a:t>bounce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pre </a:t>
                </a:r>
                <a:r>
                  <a:rPr lang="en-US" sz="1800" i="1" dirty="0"/>
                  <a:t>x = 0 /\ v &lt; 0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eff </a:t>
                </a:r>
                <a:r>
                  <a:rPr lang="en-US" sz="1800" dirty="0"/>
                  <a:t>v := -cv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 trajectories: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</a:t>
                </a:r>
                <a:r>
                  <a:rPr lang="en-US" sz="1800" dirty="0"/>
                  <a:t>Loc1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evolve </a:t>
                </a:r>
                <a:r>
                  <a:rPr lang="en-US" sz="1800" dirty="0"/>
                  <a:t>d(x) = v; d(v) = -g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invariant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sz="1800" b="1" i="1">
                        <a:latin typeface="Cambria Math"/>
                        <a:ea typeface="Cambria Math"/>
                      </a:rPr>
                      <m:t>≥</m:t>
                    </m:r>
                    <m:r>
                      <a:rPr lang="en-US" sz="1800" b="1" i="1">
                        <a:latin typeface="Cambria Math"/>
                        <a:ea typeface="Cambria Math"/>
                      </a:rPr>
                      <m:t>𝟎</m:t>
                    </m:r>
                  </m:oMath>
                </a14:m>
                <a:endParaRPr lang="en-US" sz="1600" b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b="1" dirty="0"/>
              </a:p>
            </p:txBody>
          </p:sp>
        </mc:Choice>
        <mc:Fallback xmlns="">
          <p:sp>
            <p:nvSpPr>
              <p:cNvPr id="4" name="Content Placeholder 10">
                <a:extLst>
                  <a:ext uri="{FF2B5EF4-FFF2-40B4-BE49-F238E27FC236}">
                    <a16:creationId xmlns:a16="http://schemas.microsoft.com/office/drawing/2014/main" id="{62E97287-D77F-CE40-BC54-DA249B5CF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9" y="1776047"/>
                <a:ext cx="5486400" cy="4525963"/>
              </a:xfrm>
              <a:prstGeom prst="rect">
                <a:avLst/>
              </a:prstGeom>
              <a:blipFill>
                <a:blip r:embed="rId3"/>
                <a:stretch>
                  <a:fillRect l="-1157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0861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DEF0-9BF0-9148-A21F-B6C918A5F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application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82DE08-D3DD-9C4B-A6EB-7C66C9B54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908" y="504092"/>
                <a:ext cx="7151077" cy="606083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Candidate invariant: ``stays above ground and below h’’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Applying Theorem 7.1: 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Consider any initial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b="1" dirty="0">
                  <a:solidFill>
                    <a:srgbClr val="0070C0"/>
                  </a:solidFill>
                </a:endParaRP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Consider any transition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𝑏𝑜𝑢𝑛𝑐𝑒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/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From precondition we know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; from effect we know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therefore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b="1" dirty="0">
                  <a:solidFill>
                    <a:srgbClr val="0070C0"/>
                  </a:solidFill>
                </a:endParaRP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Consider any trajectory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10000"/>
                  </a:lnSpc>
                </a:pPr>
                <a:r>
                  <a:rPr lang="en-US" dirty="0"/>
                  <a:t>From mode invariant and inductive hypothesis we know that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b="1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∈[0,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solution of d(x) = v; d(v) = -g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>
                    <a:solidFill>
                      <a:srgbClr val="FF0000"/>
                    </a:solidFill>
                  </a:rPr>
                  <a:t>Is this adequate to infer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b="1" dirty="0">
                  <a:solidFill>
                    <a:srgbClr val="0070C0"/>
                  </a:solidFill>
                </a:endParaRPr>
              </a:p>
              <a:p>
                <a:pPr lvl="1"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82DE08-D3DD-9C4B-A6EB-7C66C9B54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908" y="504092"/>
                <a:ext cx="7151077" cy="6060831"/>
              </a:xfrm>
              <a:blipFill>
                <a:blip r:embed="rId2"/>
                <a:stretch>
                  <a:fillRect l="-1418" t="-1464" r="-709" b="-1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10">
                <a:extLst>
                  <a:ext uri="{FF2B5EF4-FFF2-40B4-BE49-F238E27FC236}">
                    <a16:creationId xmlns:a16="http://schemas.microsoft.com/office/drawing/2014/main" id="{62E97287-D77F-CE40-BC54-DA249B5CF6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9324" y="1604334"/>
                <a:ext cx="5486400" cy="4525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automaton </a:t>
                </a:r>
                <a:r>
                  <a:rPr lang="en-US" sz="1800" dirty="0" err="1"/>
                  <a:t>Bouncingball</a:t>
                </a:r>
                <a:r>
                  <a:rPr lang="en-US" sz="1800" dirty="0"/>
                  <a:t>(</a:t>
                </a:r>
                <a:r>
                  <a:rPr lang="en-US" sz="1800" dirty="0" err="1"/>
                  <a:t>c,h,g</a:t>
                </a:r>
                <a:r>
                  <a:rPr lang="en-US" sz="1800" dirty="0"/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variables: </a:t>
                </a:r>
                <a:r>
                  <a:rPr lang="en-US" sz="1800" dirty="0"/>
                  <a:t>x: Reals := h, v: Reals := 0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actions: </a:t>
                </a:r>
                <a:r>
                  <a:rPr lang="en-US" sz="1800" dirty="0"/>
                  <a:t>bounce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transitions: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      </a:t>
                </a:r>
                <a:r>
                  <a:rPr lang="en-US" sz="1800" dirty="0"/>
                  <a:t>bounce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pre </a:t>
                </a:r>
                <a:r>
                  <a:rPr lang="en-US" sz="1800" i="1" dirty="0"/>
                  <a:t>x = 0 /\ v &lt; 0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eff </a:t>
                </a:r>
                <a:r>
                  <a:rPr lang="en-US" sz="1800" dirty="0"/>
                  <a:t>v := -cv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 trajectories: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</a:t>
                </a:r>
                <a:r>
                  <a:rPr lang="en-US" sz="1800" dirty="0"/>
                  <a:t>Loc1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evolve </a:t>
                </a:r>
                <a:r>
                  <a:rPr lang="en-US" sz="1800" dirty="0"/>
                  <a:t>d(x) = v; d(v) = -g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invariant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sz="1800" b="1" i="1">
                        <a:latin typeface="Cambria Math"/>
                        <a:ea typeface="Cambria Math"/>
                      </a:rPr>
                      <m:t>≥</m:t>
                    </m:r>
                    <m:r>
                      <a:rPr lang="en-US" sz="1800" b="1" i="1">
                        <a:latin typeface="Cambria Math"/>
                        <a:ea typeface="Cambria Math"/>
                      </a:rPr>
                      <m:t>𝟎</m:t>
                    </m:r>
                  </m:oMath>
                </a14:m>
                <a:endParaRPr lang="en-US" sz="1600" b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b="1" dirty="0"/>
              </a:p>
            </p:txBody>
          </p:sp>
        </mc:Choice>
        <mc:Fallback xmlns="">
          <p:sp>
            <p:nvSpPr>
              <p:cNvPr id="4" name="Content Placeholder 10">
                <a:extLst>
                  <a:ext uri="{FF2B5EF4-FFF2-40B4-BE49-F238E27FC236}">
                    <a16:creationId xmlns:a16="http://schemas.microsoft.com/office/drawing/2014/main" id="{62E97287-D77F-CE40-BC54-DA249B5CF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324" y="1604334"/>
                <a:ext cx="5486400" cy="4525963"/>
              </a:xfrm>
              <a:prstGeom prst="rect">
                <a:avLst/>
              </a:prstGeom>
              <a:blipFill>
                <a:blip r:embed="rId3"/>
                <a:stretch>
                  <a:fillRect l="-924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0785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DEF0-9BF0-9148-A21F-B6C918A5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6200" cy="1325563"/>
          </a:xfrm>
        </p:spPr>
        <p:txBody>
          <a:bodyPr/>
          <a:lstStyle/>
          <a:p>
            <a:r>
              <a:rPr lang="en-US" dirty="0"/>
              <a:t>Strengthened invariant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82DE08-D3DD-9C4B-A6EB-7C66C9B54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908" y="504092"/>
                <a:ext cx="7151077" cy="606083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400" dirty="0"/>
                  <a:t>Candidate invariant: ``stays above ground and below h’’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b="0" dirty="0">
                  <a:solidFill>
                    <a:srgbClr val="0070C0"/>
                  </a:solidFill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400" dirty="0"/>
                  <a:t>Applying Theorem 7.1: 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sz="2400" dirty="0"/>
                  <a:t>Consider any initial state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b="1" dirty="0">
                    <a:solidFill>
                      <a:srgbClr val="0070C0"/>
                    </a:solidFill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1" dirty="0">
                  <a:solidFill>
                    <a:srgbClr val="0070C0"/>
                  </a:solidFill>
                </a:endParaRP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endParaRPr lang="en-US" sz="2000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110000"/>
                  </a:lnSpc>
                </a:pPr>
                <a:r>
                  <a:rPr lang="en-US" sz="2400" b="1" dirty="0"/>
                  <a:t>Exercise</a:t>
                </a:r>
                <a:r>
                  <a:rPr lang="en-US" sz="2400" dirty="0"/>
                  <a:t>: Finish the rest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82DE08-D3DD-9C4B-A6EB-7C66C9B54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908" y="504092"/>
                <a:ext cx="7151077" cy="6060831"/>
              </a:xfrm>
              <a:blipFill>
                <a:blip r:embed="rId2"/>
                <a:stretch>
                  <a:fillRect l="-1418" t="-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10">
                <a:extLst>
                  <a:ext uri="{FF2B5EF4-FFF2-40B4-BE49-F238E27FC236}">
                    <a16:creationId xmlns:a16="http://schemas.microsoft.com/office/drawing/2014/main" id="{62E97287-D77F-CE40-BC54-DA249B5CF6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6139" y="1776047"/>
                <a:ext cx="5486400" cy="4525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automaton </a:t>
                </a:r>
                <a:r>
                  <a:rPr lang="en-US" sz="1800" dirty="0" err="1"/>
                  <a:t>Bouncingball</a:t>
                </a:r>
                <a:r>
                  <a:rPr lang="en-US" sz="1800" dirty="0"/>
                  <a:t>(</a:t>
                </a:r>
                <a:r>
                  <a:rPr lang="en-US" sz="1800" dirty="0" err="1"/>
                  <a:t>c,h,g</a:t>
                </a:r>
                <a:r>
                  <a:rPr lang="en-US" sz="1800" dirty="0"/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variables: </a:t>
                </a:r>
                <a:r>
                  <a:rPr lang="en-US" sz="1800" dirty="0"/>
                  <a:t>x: Reals := h, v: Reals := 0</a:t>
                </a:r>
              </a:p>
              <a:p>
                <a:pPr marL="0" indent="0">
                  <a:buNone/>
                </a:pPr>
                <a:r>
                  <a:rPr lang="en-US" sz="1800" dirty="0"/>
                  <a:t>	</a:t>
                </a:r>
                <a:r>
                  <a:rPr lang="en-US" sz="1800" dirty="0">
                    <a:solidFill>
                      <a:srgbClr val="0070C0"/>
                    </a:solidFill>
                  </a:rPr>
                  <a:t> k: Nat := 0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actions: </a:t>
                </a:r>
                <a:r>
                  <a:rPr lang="en-US" sz="1800" dirty="0"/>
                  <a:t>bounce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transitions: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      </a:t>
                </a:r>
                <a:r>
                  <a:rPr lang="en-US" sz="1800" dirty="0"/>
                  <a:t>bounce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pre </a:t>
                </a:r>
                <a:r>
                  <a:rPr lang="en-US" sz="1800" i="1" dirty="0"/>
                  <a:t>x = 0 /\ v &lt; 0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eff </a:t>
                </a:r>
                <a:r>
                  <a:rPr lang="en-US" sz="1800" dirty="0"/>
                  <a:t>v := -cv; </a:t>
                </a:r>
                <a:r>
                  <a:rPr lang="en-US" sz="1800" dirty="0">
                    <a:solidFill>
                      <a:srgbClr val="0070C0"/>
                    </a:solidFill>
                  </a:rPr>
                  <a:t>k:= k + 1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       trajectories: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</a:t>
                </a:r>
                <a:r>
                  <a:rPr lang="en-US" sz="1800" dirty="0"/>
                  <a:t>Loc1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evolve </a:t>
                </a:r>
                <a:r>
                  <a:rPr lang="en-US" sz="1800" dirty="0"/>
                  <a:t>d(x) = v; d(v) = -g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b="1" dirty="0"/>
                  <a:t>	invariant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sz="1800" b="1" i="1">
                        <a:latin typeface="Cambria Math"/>
                        <a:ea typeface="Cambria Math"/>
                      </a:rPr>
                      <m:t>≥</m:t>
                    </m:r>
                    <m:r>
                      <a:rPr lang="en-US" sz="1800" b="1" i="1">
                        <a:latin typeface="Cambria Math"/>
                        <a:ea typeface="Cambria Math"/>
                      </a:rPr>
                      <m:t>𝟎</m:t>
                    </m:r>
                  </m:oMath>
                </a14:m>
                <a:endParaRPr lang="en-US" sz="1600" b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b="1" dirty="0"/>
              </a:p>
            </p:txBody>
          </p:sp>
        </mc:Choice>
        <mc:Fallback xmlns="">
          <p:sp>
            <p:nvSpPr>
              <p:cNvPr id="4" name="Content Placeholder 10">
                <a:extLst>
                  <a:ext uri="{FF2B5EF4-FFF2-40B4-BE49-F238E27FC236}">
                    <a16:creationId xmlns:a16="http://schemas.microsoft.com/office/drawing/2014/main" id="{62E97287-D77F-CE40-BC54-DA249B5CF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9" y="1776047"/>
                <a:ext cx="5486400" cy="4525963"/>
              </a:xfrm>
              <a:prstGeom prst="rect">
                <a:avLst/>
              </a:prstGeom>
              <a:blipFill>
                <a:blip r:embed="rId3"/>
                <a:stretch>
                  <a:fillRect l="-1157" t="-1120" b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961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1BD-3DF4-7D43-9CC0-1298632F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9C362-6F7D-7F45-87F5-9B2226E6A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Theorem 7.1 gives a sufficient condition for proving </a:t>
            </a:r>
            <a:r>
              <a:rPr lang="en-US" b="1" dirty="0"/>
              <a:t>inductive </a:t>
            </a:r>
            <a:r>
              <a:rPr lang="en-US" dirty="0"/>
              <a:t>invariants</a:t>
            </a:r>
          </a:p>
          <a:p>
            <a:r>
              <a:rPr lang="en-US" dirty="0"/>
              <a:t>Not all invariants are inductive</a:t>
            </a:r>
          </a:p>
          <a:p>
            <a:r>
              <a:rPr lang="en-US" dirty="0"/>
              <a:t>We often have to </a:t>
            </a:r>
            <a:r>
              <a:rPr lang="en-US" b="1" dirty="0"/>
              <a:t>strengthen</a:t>
            </a:r>
            <a:r>
              <a:rPr lang="en-US" b="1" i="1" dirty="0"/>
              <a:t> </a:t>
            </a:r>
            <a:r>
              <a:rPr lang="en-US" dirty="0"/>
              <a:t>invariants to make them inductive</a:t>
            </a:r>
          </a:p>
          <a:p>
            <a:r>
              <a:rPr lang="en-US" dirty="0"/>
              <a:t>Read examples in Chapter 7</a:t>
            </a:r>
          </a:p>
        </p:txBody>
      </p:sp>
    </p:spTree>
    <p:extLst>
      <p:ext uri="{BB962C8B-B14F-4D97-AF65-F5344CB8AC3E}">
        <p14:creationId xmlns:p14="http://schemas.microsoft.com/office/powerpoint/2010/main" val="2213217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FDABF-5578-CE43-9449-483095C39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Sub-tangential conditions.</a:t>
            </a:r>
            <a:r>
              <a:rPr lang="en-US" sz="3600" dirty="0"/>
              <a:t> Checking trajectory conditions without solving ODEs [Bhatia and </a:t>
            </a:r>
            <a:r>
              <a:rPr lang="en-US" sz="3600" dirty="0" err="1"/>
              <a:t>Szegö</a:t>
            </a:r>
            <a:r>
              <a:rPr lang="en-US" sz="3600" dirty="0"/>
              <a:t> 67]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FF9DF0-AFA4-7049-8F52-A10AD124C9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8512834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>
                    <a:latin typeface="+mj-lt"/>
                  </a:rPr>
                  <a:t>How to check trajectory closure: for any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/>
                      </a:rPr>
                      <m:t>𝑻</m:t>
                    </m:r>
                  </m:oMath>
                </a14:m>
                <a:r>
                  <a:rPr lang="en-US" sz="2400" dirty="0">
                    <a:latin typeface="+mj-lt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𝑓𝑠𝑡𝑎𝑡𝑒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400" dirty="0">
                    <a:latin typeface="+mj-lt"/>
                  </a:rPr>
                  <a:t> then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𝑙𝑠𝑡𝑎𝑡𝑒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400" dirty="0">
                    <a:latin typeface="+mj-lt"/>
                  </a:rPr>
                  <a:t> ?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>
                    <a:latin typeface="+mj-lt"/>
                  </a:rPr>
                  <a:t>Use a Lyapunov function for each mode. How? Exercise.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b="1" dirty="0">
                    <a:latin typeface="+mj-lt"/>
                  </a:rPr>
                  <a:t>Lemma.</a:t>
                </a:r>
                <a:r>
                  <a:rPr lang="en-US" sz="2400" dirty="0">
                    <a:latin typeface="+mj-lt"/>
                  </a:rPr>
                  <a:t> Consider the ODE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+mj-lt"/>
                  </a:rPr>
                  <a:t> for state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+mj-lt"/>
                  </a:rPr>
                  <a:t> describing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2400" dirty="0">
                    <a:latin typeface="+mj-lt"/>
                  </a:rPr>
                  <a:t>. 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400" dirty="0">
                    <a:latin typeface="+mj-lt"/>
                  </a:rPr>
                  <a:t> be a compact set containing the initial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400" dirty="0">
                    <a:latin typeface="+mj-lt"/>
                  </a:rPr>
                  <a:t>. </a:t>
                </a:r>
                <a:r>
                  <a:rPr lang="en-US" sz="2400" dirty="0"/>
                  <a:t>Boundary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is defined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b="1" i="1" dirty="0"/>
                  <a:t>. </a:t>
                </a:r>
                <a:r>
                  <a:rPr lang="en-US" sz="2400" dirty="0">
                    <a:latin typeface="+mj-lt"/>
                  </a:rPr>
                  <a:t>Then,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400" dirty="0">
                    <a:latin typeface="+mj-lt"/>
                  </a:rPr>
                  <a:t> is an inductive invariant of the above ODE if for each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𝑜𝑛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𝑡h𝑒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𝑏𝑜𝑢𝑛𝑑𝑎𝑟𝑦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+mj-lt"/>
                  </a:rPr>
                  <a:t> 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+mj-lt"/>
                  </a:rPr>
                  <a:t> is pointing inwards from the  boundary. That is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FF9DF0-AFA4-7049-8F52-A10AD124C9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8512834" cy="4351338"/>
              </a:xfrm>
              <a:blipFill>
                <a:blip r:embed="rId2"/>
                <a:stretch>
                  <a:fillRect l="-1192" t="-872" r="-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0332070-91E6-4F4B-942A-BC71E3C76ACA}"/>
              </a:ext>
            </a:extLst>
          </p:cNvPr>
          <p:cNvSpPr txBox="1"/>
          <p:nvPr/>
        </p:nvSpPr>
        <p:spPr>
          <a:xfrm>
            <a:off x="838200" y="6334964"/>
            <a:ext cx="849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Related to the notions of Barrier Certificates and more general Control Barrier Functions.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F08D344-5403-4B4F-8916-DE5B184B4B77}"/>
              </a:ext>
            </a:extLst>
          </p:cNvPr>
          <p:cNvSpPr/>
          <p:nvPr/>
        </p:nvSpPr>
        <p:spPr>
          <a:xfrm>
            <a:off x="9747211" y="2085813"/>
            <a:ext cx="2034376" cy="3065935"/>
          </a:xfrm>
          <a:custGeom>
            <a:avLst/>
            <a:gdLst>
              <a:gd name="connsiteX0" fmla="*/ 2019220 w 2034376"/>
              <a:gd name="connsiteY0" fmla="*/ 1417815 h 3065935"/>
              <a:gd name="connsiteX1" fmla="*/ 1794933 w 2034376"/>
              <a:gd name="connsiteY1" fmla="*/ 227370 h 3065935"/>
              <a:gd name="connsiteX2" fmla="*/ 604487 w 2034376"/>
              <a:gd name="connsiteY2" fmla="*/ 106600 h 3065935"/>
              <a:gd name="connsiteX3" fmla="*/ 35144 w 2034376"/>
              <a:gd name="connsiteY3" fmla="*/ 1417815 h 3065935"/>
              <a:gd name="connsiteX4" fmla="*/ 224925 w 2034376"/>
              <a:gd name="connsiteY4" fmla="*/ 2953317 h 3065935"/>
              <a:gd name="connsiteX5" fmla="*/ 1553393 w 2034376"/>
              <a:gd name="connsiteY5" fmla="*/ 2780789 h 3065935"/>
              <a:gd name="connsiteX6" fmla="*/ 2019220 w 2034376"/>
              <a:gd name="connsiteY6" fmla="*/ 1417815 h 3065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34376" h="3065935">
                <a:moveTo>
                  <a:pt x="2019220" y="1417815"/>
                </a:moveTo>
                <a:cubicBezTo>
                  <a:pt x="2059477" y="992245"/>
                  <a:pt x="2030722" y="445906"/>
                  <a:pt x="1794933" y="227370"/>
                </a:cubicBezTo>
                <a:cubicBezTo>
                  <a:pt x="1559144" y="8834"/>
                  <a:pt x="897785" y="-91808"/>
                  <a:pt x="604487" y="106600"/>
                </a:cubicBezTo>
                <a:cubicBezTo>
                  <a:pt x="311189" y="305007"/>
                  <a:pt x="98404" y="943362"/>
                  <a:pt x="35144" y="1417815"/>
                </a:cubicBezTo>
                <a:cubicBezTo>
                  <a:pt x="-28116" y="1892268"/>
                  <a:pt x="-28117" y="2726155"/>
                  <a:pt x="224925" y="2953317"/>
                </a:cubicBezTo>
                <a:cubicBezTo>
                  <a:pt x="477966" y="3180479"/>
                  <a:pt x="1251468" y="3033831"/>
                  <a:pt x="1553393" y="2780789"/>
                </a:cubicBezTo>
                <a:cubicBezTo>
                  <a:pt x="1855317" y="2527748"/>
                  <a:pt x="1978963" y="1843385"/>
                  <a:pt x="2019220" y="141781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63BAD7-EC9C-D940-86E7-2483A0019FAD}"/>
                  </a:ext>
                </a:extLst>
              </p:cNvPr>
              <p:cNvSpPr txBox="1"/>
              <p:nvPr/>
            </p:nvSpPr>
            <p:spPr>
              <a:xfrm>
                <a:off x="9933335" y="5362207"/>
                <a:ext cx="20343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63BAD7-EC9C-D940-86E7-2483A0019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3335" y="5362207"/>
                <a:ext cx="203437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908ED6-6946-1046-8DCE-02B260FEFFDA}"/>
                  </a:ext>
                </a:extLst>
              </p:cNvPr>
              <p:cNvSpPr txBox="1"/>
              <p:nvPr/>
            </p:nvSpPr>
            <p:spPr>
              <a:xfrm>
                <a:off x="9933335" y="3385180"/>
                <a:ext cx="20343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908ED6-6946-1046-8DCE-02B260FEF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3335" y="3385180"/>
                <a:ext cx="203437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3F1790-A41B-C845-825A-CF0BB90A50C4}"/>
              </a:ext>
            </a:extLst>
          </p:cNvPr>
          <p:cNvCxnSpPr/>
          <p:nvPr/>
        </p:nvCxnSpPr>
        <p:spPr>
          <a:xfrm>
            <a:off x="11353800" y="2085813"/>
            <a:ext cx="613912" cy="64013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659EFB-3BF4-314A-8CD3-E47BF671CD9E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11231592" y="2313183"/>
            <a:ext cx="310552" cy="0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EBBE54-5A48-0744-A4CE-150329054E9B}"/>
                  </a:ext>
                </a:extLst>
              </p:cNvPr>
              <p:cNvSpPr txBox="1"/>
              <p:nvPr/>
            </p:nvSpPr>
            <p:spPr>
              <a:xfrm>
                <a:off x="10272623" y="2349921"/>
                <a:ext cx="16950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EBBE54-5A48-0744-A4CE-150329054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2623" y="2349921"/>
                <a:ext cx="1695089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C9D0028-92C0-944B-AB52-12FE5B62C381}"/>
              </a:ext>
            </a:extLst>
          </p:cNvPr>
          <p:cNvCxnSpPr>
            <a:cxnSpLocks/>
          </p:cNvCxnSpPr>
          <p:nvPr/>
        </p:nvCxnSpPr>
        <p:spPr>
          <a:xfrm flipH="1">
            <a:off x="11353799" y="4146230"/>
            <a:ext cx="345599" cy="733083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5A3F0C-1177-DD47-9CC7-08D170C3310F}"/>
              </a:ext>
            </a:extLst>
          </p:cNvPr>
          <p:cNvCxnSpPr>
            <a:cxnSpLocks/>
          </p:cNvCxnSpPr>
          <p:nvPr/>
        </p:nvCxnSpPr>
        <p:spPr>
          <a:xfrm flipV="1">
            <a:off x="11519138" y="4146230"/>
            <a:ext cx="7460" cy="377917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2AE0E0-019F-AC45-A16C-D6D9EAAF8BFB}"/>
              </a:ext>
            </a:extLst>
          </p:cNvPr>
          <p:cNvCxnSpPr>
            <a:cxnSpLocks/>
          </p:cNvCxnSpPr>
          <p:nvPr/>
        </p:nvCxnSpPr>
        <p:spPr>
          <a:xfrm flipH="1">
            <a:off x="9709181" y="3225800"/>
            <a:ext cx="87395" cy="92043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F695E1-A37B-F74C-8913-F3CC9FD18C5B}"/>
              </a:ext>
            </a:extLst>
          </p:cNvPr>
          <p:cNvCxnSpPr>
            <a:cxnSpLocks/>
          </p:cNvCxnSpPr>
          <p:nvPr/>
        </p:nvCxnSpPr>
        <p:spPr>
          <a:xfrm>
            <a:off x="9747211" y="3657600"/>
            <a:ext cx="98729" cy="308709"/>
          </a:xfrm>
          <a:prstGeom prst="line">
            <a:avLst/>
          </a:prstGeom>
          <a:ln w="12700">
            <a:solidFill>
              <a:schemeClr val="accent2">
                <a:lumMod val="75000"/>
              </a:schemeClr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670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4157B-58F6-3914-722B-8C43FDA9B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270"/>
            <a:ext cx="10515600" cy="907888"/>
          </a:xfrm>
        </p:spPr>
        <p:txBody>
          <a:bodyPr>
            <a:normAutofit/>
          </a:bodyPr>
          <a:lstStyle/>
          <a:p>
            <a:r>
              <a:rPr lang="en-US" sz="4000" dirty="0"/>
              <a:t>Proving invariance using </a:t>
            </a:r>
            <a:r>
              <a:rPr lang="en-US" sz="4000" dirty="0" err="1"/>
              <a:t>subtangential</a:t>
            </a:r>
            <a:r>
              <a:rPr lang="en-US" sz="4000" dirty="0"/>
              <a:t> condition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FB58-F59B-DAE9-B30A-38ED2660A2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954158"/>
                <a:ext cx="7796065" cy="572493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1" dirty="0">
                    <a:latin typeface="+mj-lt"/>
                  </a:rPr>
                  <a:t>Lemma.</a:t>
                </a:r>
                <a:r>
                  <a:rPr lang="en-US" sz="2000" dirty="0">
                    <a:latin typeface="+mj-lt"/>
                  </a:rPr>
                  <a:t> Consider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000" dirty="0">
                    <a:latin typeface="+mj-lt"/>
                  </a:rPr>
                  <a:t> and let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000" dirty="0">
                    <a:latin typeface="+mj-lt"/>
                  </a:rPr>
                  <a:t> be a continuous function such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≤0}</m:t>
                    </m:r>
                  </m:oMath>
                </a14:m>
                <a:r>
                  <a:rPr lang="en-US" sz="2000" dirty="0">
                    <a:latin typeface="+mj-lt"/>
                  </a:rPr>
                  <a:t> is compact and contains.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b="1" i="1" dirty="0"/>
                  <a:t> </a:t>
                </a:r>
                <a:r>
                  <a:rPr lang="en-US" sz="2000" dirty="0"/>
                  <a:t>is the boundary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and P is differentiable over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>
                    <a:latin typeface="+mj-lt"/>
                  </a:rPr>
                  <a:t> If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/>
                  <a:t>Sub-tangential condition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/>
                  <a:t>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>
                    <a:latin typeface="+mj-lt"/>
                  </a:rPr>
                  <a:t> is an invariant</a:t>
                </a:r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Proof. Fix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000" b="0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/>
                  <a:t> We must show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Define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sz="2000" b="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sz="2000" dirty="0"/>
                  <a:t>	[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000" b="0" i="0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≤0]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SFTC trajectory from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2000" dirty="0"/>
                  <a:t> leaves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at some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That is,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By continuity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there exists earliest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∈(0,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such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000" dirty="0"/>
                  <a:t> for some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d>
                        <m:dPr>
                          <m:ctrlPr>
                            <a:rPr lang="en-US" sz="20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≤0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/>
                  <a:t> is nonincreasing and it is not possible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FB58-F59B-DAE9-B30A-38ED2660A2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954158"/>
                <a:ext cx="7796065" cy="5724937"/>
              </a:xfrm>
              <a:blipFill>
                <a:blip r:embed="rId2"/>
                <a:stretch>
                  <a:fillRect l="-813" t="-1106" r="-163" b="-10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 descr="A graph with a spiral of colored lines&#10;&#10;Description automatically generated with medium confidence">
            <a:extLst>
              <a:ext uri="{FF2B5EF4-FFF2-40B4-BE49-F238E27FC236}">
                <a16:creationId xmlns:a16="http://schemas.microsoft.com/office/drawing/2014/main" id="{B5BBDA6F-3CB6-474C-342B-49A5AE3478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30" r="5974"/>
          <a:stretch/>
        </p:blipFill>
        <p:spPr>
          <a:xfrm>
            <a:off x="7582505" y="2027301"/>
            <a:ext cx="4592079" cy="4465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461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FB58-F59B-DAE9-B30A-38ED2660A2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0"/>
                <a:ext cx="9214047" cy="667909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1" dirty="0">
                    <a:latin typeface="+mj-lt"/>
                  </a:rPr>
                  <a:t>Lemma.</a:t>
                </a:r>
                <a:r>
                  <a:rPr lang="en-US" sz="2000" dirty="0">
                    <a:latin typeface="+mj-lt"/>
                  </a:rPr>
                  <a:t> Consider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000" dirty="0">
                    <a:latin typeface="+mj-lt"/>
                  </a:rPr>
                  <a:t> and let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2000" dirty="0">
                    <a:latin typeface="+mj-lt"/>
                  </a:rPr>
                  <a:t> be a continuous function such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≤0}</m:t>
                    </m:r>
                  </m:oMath>
                </a14:m>
                <a:r>
                  <a:rPr lang="en-US" sz="2000" dirty="0">
                    <a:latin typeface="+mj-lt"/>
                  </a:rPr>
                  <a:t> is compact and contains.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b="1" i="1" dirty="0"/>
                  <a:t> </a:t>
                </a:r>
                <a:r>
                  <a:rPr lang="en-US" sz="2000" dirty="0"/>
                  <a:t>is the boundary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/>
                  <a:t> and P is differentiable over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>
                    <a:latin typeface="+mj-lt"/>
                  </a:rPr>
                  <a:t> If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/>
                  <a:t>Sub-tangential condition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/>
                  <a:t>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2000" dirty="0">
                    <a:latin typeface="+mj-lt"/>
                  </a:rPr>
                  <a:t> is an invariant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600" dirty="0">
                    <a:latin typeface="+mj-lt"/>
                  </a:rPr>
                  <a:t>Example</a:t>
                </a:r>
                <a:r>
                  <a:rPr lang="en-US" sz="2000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1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)≤0}</m:t>
                    </m:r>
                  </m:oMath>
                </a14:m>
                <a:r>
                  <a:rPr lang="en-US" sz="2000" dirty="0"/>
                  <a:t>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   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</m:d>
                  </m:oMath>
                </a14:m>
                <a:endParaRPr lang="en-US" sz="2000" b="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=4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)+2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 	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=4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=2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On the boundary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−2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−2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sz="2000" b="0" dirty="0"/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000" dirty="0"/>
                  <a:t>Completing the square: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−2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sSubSup>
                          <m:sSub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000" dirty="0"/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FB58-F59B-DAE9-B30A-38ED2660A2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0"/>
                <a:ext cx="9214047" cy="6679095"/>
              </a:xfrm>
              <a:blipFill>
                <a:blip r:embed="rId2"/>
                <a:stretch>
                  <a:fillRect l="-1102" t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 descr="A graph with a spiral of colored lines&#10;&#10;Description automatically generated with medium confidence">
            <a:extLst>
              <a:ext uri="{FF2B5EF4-FFF2-40B4-BE49-F238E27FC236}">
                <a16:creationId xmlns:a16="http://schemas.microsoft.com/office/drawing/2014/main" id="{B5BBDA6F-3CB6-474C-342B-49A5AE3478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30" r="5974"/>
          <a:stretch/>
        </p:blipFill>
        <p:spPr>
          <a:xfrm>
            <a:off x="9316279" y="132240"/>
            <a:ext cx="2752288" cy="2676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798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698B4-99E9-EFB5-7F62-1690B5591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7449"/>
          </a:xfrm>
        </p:spPr>
        <p:txBody>
          <a:bodyPr/>
          <a:lstStyle/>
          <a:p>
            <a:r>
              <a:rPr lang="en-US" dirty="0"/>
              <a:t>Another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4B783D-6E35-048B-5522-7F6F7BE81E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28884" y="1891886"/>
            <a:ext cx="4528943" cy="4351338"/>
          </a:xfrm>
        </p:spPr>
      </p:pic>
    </p:spTree>
    <p:extLst>
      <p:ext uri="{BB962C8B-B14F-4D97-AF65-F5344CB8AC3E}">
        <p14:creationId xmlns:p14="http://schemas.microsoft.com/office/powerpoint/2010/main" val="639062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BA383-6DB0-DF48-8CCB-D62A2B9A9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28960"/>
          </a:xfrm>
        </p:spPr>
        <p:txBody>
          <a:bodyPr>
            <a:normAutofit/>
          </a:bodyPr>
          <a:lstStyle/>
          <a:p>
            <a:r>
              <a:rPr lang="en-US" dirty="0"/>
              <a:t>Piece-wise sub-tangential conditions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D0E306-087E-2240-B964-362084392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736" y="1904784"/>
            <a:ext cx="3461268" cy="408203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E5E724-12B8-D642-92DD-DAF9B4DAE0B9}"/>
              </a:ext>
            </a:extLst>
          </p:cNvPr>
          <p:cNvSpPr txBox="1"/>
          <p:nvPr/>
        </p:nvSpPr>
        <p:spPr>
          <a:xfrm>
            <a:off x="7946430" y="2105561"/>
            <a:ext cx="4038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the boundary is defined in pieces, for example, one for each mode, then check the condition for each piece separately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4682F-9755-7226-B7C8-BB19B69D647E}"/>
              </a:ext>
            </a:extLst>
          </p:cNvPr>
          <p:cNvSpPr txBox="1"/>
          <p:nvPr/>
        </p:nvSpPr>
        <p:spPr>
          <a:xfrm>
            <a:off x="7739460" y="6378051"/>
            <a:ext cx="44525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Safety verification of model helicopter controller using hybrid input/output automata, Mitra, Wang, Lynch &amp; </a:t>
            </a:r>
            <a:r>
              <a:rPr lang="en-US" sz="1200" dirty="0" err="1"/>
              <a:t>Feron</a:t>
            </a:r>
            <a:r>
              <a:rPr lang="en-US" sz="1200" dirty="0"/>
              <a:t>, HSCC 2003.</a:t>
            </a:r>
          </a:p>
        </p:txBody>
      </p:sp>
      <p:pic>
        <p:nvPicPr>
          <p:cNvPr id="1026" name="Picture 2" descr="Quanser 3 DOF helicopter [23] | Download Scientific Diagram">
            <a:extLst>
              <a:ext uri="{FF2B5EF4-FFF2-40B4-BE49-F238E27FC236}">
                <a16:creationId xmlns:a16="http://schemas.microsoft.com/office/drawing/2014/main" id="{AD8110FE-8058-1905-9129-C6A4CBA906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" y="1690688"/>
            <a:ext cx="4069326" cy="2506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6673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E9BE8-6630-7B0B-7BDD-7CF5B2A37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9FD4A-D659-BBE5-9FC5-BC8757194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Definitions of reachability and invariance for hybrid automata generalize those definitions for (discrete) automata by introducing trajectories</a:t>
            </a:r>
          </a:p>
          <a:p>
            <a:r>
              <a:rPr lang="en-US" dirty="0"/>
              <a:t>We can prove inductive invariants for hybrid automata by checking trajectory closure, in addition to transition closure</a:t>
            </a:r>
          </a:p>
          <a:p>
            <a:r>
              <a:rPr lang="en-US" dirty="0"/>
              <a:t>Trajectory closure for trajectories defined by ODEs can be checked using the </a:t>
            </a:r>
            <a:r>
              <a:rPr lang="en-US" dirty="0" err="1"/>
              <a:t>subtangential</a:t>
            </a:r>
            <a:r>
              <a:rPr lang="en-US" dirty="0"/>
              <a:t> conditions which do not </a:t>
            </a:r>
            <a:r>
              <a:rPr lang="en-US"/>
              <a:t>require solving ODEs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785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2951</Words>
  <Application>Microsoft Macintosh PowerPoint</Application>
  <PresentationFormat>Widescreen</PresentationFormat>
  <Paragraphs>318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Comic Sans MS</vt:lpstr>
      <vt:lpstr>NimbusMonL</vt:lpstr>
      <vt:lpstr>NimbusRomNo9L</vt:lpstr>
      <vt:lpstr>NimbusSanL</vt:lpstr>
      <vt:lpstr>rtxmi</vt:lpstr>
      <vt:lpstr>rtxr</vt:lpstr>
      <vt:lpstr>txsy</vt:lpstr>
      <vt:lpstr>Office Theme</vt:lpstr>
      <vt:lpstr>Cyberphysical Systems: Part 2</vt:lpstr>
      <vt:lpstr>Outline</vt:lpstr>
      <vt:lpstr>Example. Thermostat automaton</vt:lpstr>
      <vt:lpstr>Hybrid Automaton</vt:lpstr>
      <vt:lpstr>Semantics: Executions and Traces</vt:lpstr>
      <vt:lpstr>Example. Bouncing Ball</vt:lpstr>
      <vt:lpstr>Urgency: Must transitions</vt:lpstr>
      <vt:lpstr>Zeno’s Paradox</vt:lpstr>
      <vt:lpstr>PowerPoint Presentation</vt:lpstr>
      <vt:lpstr>Special kinds of executions</vt:lpstr>
      <vt:lpstr>Rimless wheel</vt:lpstr>
      <vt:lpstr>Invariants and reachability</vt:lpstr>
      <vt:lpstr>How to prove invariants of hybrid automata</vt:lpstr>
      <vt:lpstr>How to prove invariants of hybrid automata</vt:lpstr>
      <vt:lpstr>How to prove invariants of hybrid automata</vt:lpstr>
      <vt:lpstr>An application</vt:lpstr>
      <vt:lpstr>An application</vt:lpstr>
      <vt:lpstr>Strengthened invariant</vt:lpstr>
      <vt:lpstr>Summary so far</vt:lpstr>
      <vt:lpstr>Sub-tangential conditions. Checking trajectory conditions without solving ODEs [Bhatia and Szegö 67]</vt:lpstr>
      <vt:lpstr>Proving invariance using subtangential condition</vt:lpstr>
      <vt:lpstr>PowerPoint Presentation</vt:lpstr>
      <vt:lpstr>Another example</vt:lpstr>
      <vt:lpstr>Piece-wise sub-tangential conditions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Modeling Cyberphysical Systems: Part 2</dc:title>
  <dc:creator>Mitra, Sayan</dc:creator>
  <cp:lastModifiedBy>Mitra, Sayan</cp:lastModifiedBy>
  <cp:revision>14</cp:revision>
  <dcterms:created xsi:type="dcterms:W3CDTF">2025-10-14T16:14:11Z</dcterms:created>
  <dcterms:modified xsi:type="dcterms:W3CDTF">2025-10-16T17:19:41Z</dcterms:modified>
</cp:coreProperties>
</file>