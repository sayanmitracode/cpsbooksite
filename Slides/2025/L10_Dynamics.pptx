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24" r:id="rId2"/>
    <p:sldId id="389" r:id="rId3"/>
    <p:sldId id="1253" r:id="rId4"/>
    <p:sldId id="1257" r:id="rId5"/>
    <p:sldId id="558" r:id="rId6"/>
    <p:sldId id="559" r:id="rId7"/>
    <p:sldId id="568" r:id="rId8"/>
    <p:sldId id="560" r:id="rId9"/>
    <p:sldId id="561" r:id="rId10"/>
    <p:sldId id="562" r:id="rId11"/>
    <p:sldId id="563" r:id="rId12"/>
    <p:sldId id="390" r:id="rId13"/>
    <p:sldId id="946" r:id="rId14"/>
    <p:sldId id="564" r:id="rId15"/>
    <p:sldId id="1258" r:id="rId16"/>
    <p:sldId id="391" r:id="rId17"/>
    <p:sldId id="392" r:id="rId18"/>
    <p:sldId id="393" r:id="rId19"/>
    <p:sldId id="394" r:id="rId20"/>
    <p:sldId id="1254" r:id="rId21"/>
    <p:sldId id="1255" r:id="rId22"/>
    <p:sldId id="1256" r:id="rId23"/>
    <p:sldId id="395" r:id="rId24"/>
    <p:sldId id="39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07"/>
    <p:restoredTop sz="89859"/>
  </p:normalViewPr>
  <p:slideViewPr>
    <p:cSldViewPr showGuides="1">
      <p:cViewPr varScale="1">
        <p:scale>
          <a:sx n="99" d="100"/>
          <a:sy n="99" d="100"/>
        </p:scale>
        <p:origin x="184" y="3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2BD878-CB87-AC49-9AD4-B55B9A9C8C11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177EA-5FA2-FC4D-B806-DB3ED58BC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725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Weather prediction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1D770-1E3A-4068-8773-94408BE38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042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81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26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883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00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97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85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82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9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30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91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76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50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tras@illinoi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94304"/>
          </a:xfrm>
        </p:spPr>
        <p:txBody>
          <a:bodyPr>
            <a:normAutofit/>
          </a:bodyPr>
          <a:lstStyle/>
          <a:p>
            <a:r>
              <a:rPr lang="en-US" sz="3600" dirty="0"/>
              <a:t>Modeling Physics: Dynamical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Sayan Mitra</a:t>
            </a:r>
          </a:p>
          <a:p>
            <a:r>
              <a:rPr lang="en-US" dirty="0"/>
              <a:t>Verifying </a:t>
            </a:r>
            <a:r>
              <a:rPr lang="en-US"/>
              <a:t>cyberphysical</a:t>
            </a:r>
            <a:r>
              <a:rPr lang="en-US" dirty="0"/>
              <a:t> systems</a:t>
            </a:r>
          </a:p>
          <a:p>
            <a:r>
              <a:rPr lang="en-US" dirty="0">
                <a:hlinkClick r:id="rId2"/>
              </a:rPr>
              <a:t>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01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Dynamical system models</a:t>
            </a:r>
          </a:p>
          <a:p>
            <a:pPr lvl="1"/>
            <a:r>
              <a:rPr lang="en-US" dirty="0"/>
              <a:t>notions of solutions</a:t>
            </a:r>
          </a:p>
          <a:p>
            <a:pPr lvl="1"/>
            <a:r>
              <a:rPr lang="en-US" dirty="0"/>
              <a:t>Linear dynamical systems</a:t>
            </a:r>
          </a:p>
          <a:p>
            <a:pPr lvl="1"/>
            <a:r>
              <a:rPr lang="en-US" dirty="0"/>
              <a:t>Connection to automata</a:t>
            </a:r>
          </a:p>
          <a:p>
            <a:pPr lvl="1"/>
            <a:r>
              <a:rPr lang="en-US" dirty="0"/>
              <a:t>Stability</a:t>
            </a:r>
          </a:p>
          <a:p>
            <a:pPr lvl="1"/>
            <a:r>
              <a:rPr lang="en-US" dirty="0"/>
              <a:t>Lyapunov method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892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FA9978-7A37-1127-97EC-1C63201AC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26984"/>
            <a:ext cx="4495800" cy="38210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19E954-01F5-63CC-0935-2A4375C12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60336"/>
            <a:ext cx="11582400" cy="844717"/>
          </a:xfrm>
        </p:spPr>
        <p:txBody>
          <a:bodyPr>
            <a:noAutofit/>
          </a:bodyPr>
          <a:lstStyle/>
          <a:p>
            <a:r>
              <a:rPr lang="en-US" sz="3600" dirty="0"/>
              <a:t>Example: The Lorentz Attractor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E1E947-46A7-1A20-040C-962BBAF756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326984"/>
                <a:ext cx="6019799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0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num>
                      <m:den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sz="2000" i="1" dirty="0">
                    <a:latin typeface="Cambria Math" panose="02040503050406030204" pitchFamily="18" charset="0"/>
                  </a:rPr>
                </a:br>
                <a:r>
                  <a:rPr lang="en-US" sz="2000" i="1" dirty="0"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200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l-GR" sz="20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i="1" dirty="0">
                    <a:latin typeface="Cambria Math" panose="02040503050406030204" pitchFamily="18" charset="0"/>
                  </a:rPr>
                  <a:t>	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charset="0"/>
                      </a:rPr>
                      <m:t>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3</m:t>
                        </m:r>
                      </m:sup>
                    </m:sSup>
                  </m:oMath>
                </a14:m>
                <a:br>
                  <a:rPr lang="en-US" sz="2000" i="1" dirty="0">
                    <a:latin typeface="Cambria Math" panose="02040503050406030204" pitchFamily="18" charset="0"/>
                  </a:rPr>
                </a:br>
                <a:r>
                  <a:rPr lang="en-US" sz="2000" i="1" dirty="0"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𝑑𝑧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sz="20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0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mr>
                            </m:m>
                          </m:e>
                        </m:d>
                      </m:e>
                    </m:acc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l-GR" sz="20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l-GR" sz="20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sz="2000" i="1" dirty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r>
                                    <a:rPr lang="el-GR" sz="20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nor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l-GR" sz="2000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E1E947-46A7-1A20-040C-962BBAF756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326984"/>
                <a:ext cx="6019799" cy="4525963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8917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128AC-F642-02EE-4D7F-A0559C51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Epidemiology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41DEB-6D8D-E87C-5212-FC8CD8451D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6400800" cy="45259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 number of </a:t>
                </a:r>
                <a:r>
                  <a:rPr lang="en-US" sz="2000" b="1" dirty="0"/>
                  <a:t>susceptible</a:t>
                </a:r>
                <a:r>
                  <a:rPr lang="en-US" sz="2000" dirty="0"/>
                  <a:t> individuals</a:t>
                </a:r>
              </a:p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 number of </a:t>
                </a:r>
                <a:r>
                  <a:rPr lang="en-US" sz="2000" b="1" dirty="0"/>
                  <a:t>infected</a:t>
                </a:r>
                <a:r>
                  <a:rPr lang="en-US" sz="2000" dirty="0"/>
                  <a:t> individuals</a:t>
                </a:r>
              </a:p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 number of </a:t>
                </a:r>
                <a:r>
                  <a:rPr lang="en-US" sz="2000" b="1" dirty="0"/>
                  <a:t>recovered</a:t>
                </a:r>
                <a:r>
                  <a:rPr lang="en-US" sz="2000" dirty="0"/>
                  <a:t> (or removed) individuals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000" dirty="0"/>
                  <a:t>: infection/transmission rate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000" dirty="0"/>
                  <a:t>: recovery rate (~5-7 days = 0.14-0.2 for SARS-COV-2)</a:t>
                </a:r>
              </a:p>
              <a:p>
                <a:pPr marL="0" indent="0">
                  <a:buNone/>
                </a:pPr>
                <a:r>
                  <a:rPr lang="en-US" sz="2000" b="0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num>
                      <m:den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𝑆𝐼</m:t>
                    </m:r>
                  </m:oMath>
                </a14:m>
                <a:br>
                  <a:rPr lang="en-US" sz="2000" i="1" dirty="0">
                    <a:latin typeface="Cambria Math" panose="02040503050406030204" pitchFamily="18" charset="0"/>
                  </a:rPr>
                </a:br>
                <a:r>
                  <a:rPr lang="en-US" sz="2000" i="1" dirty="0"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</a:rPr>
                      <m:t>𝑆𝐼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i="1" dirty="0"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𝑑𝑅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41DEB-6D8D-E87C-5212-FC8CD8451D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6400800" cy="4525963"/>
              </a:xfrm>
              <a:blipFill>
                <a:blip r:embed="rId2"/>
                <a:stretch>
                  <a:fillRect l="-794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CC75CD4-CB21-7377-5113-0782D329E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1535079"/>
            <a:ext cx="5003800" cy="378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013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dynamical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Behaviors of physical processes are described in terms of instantaneous laws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Common notation:</a:t>
                </a:r>
                <a:r>
                  <a:rPr lang="en-US" i="1" dirty="0">
                    <a:latin typeface="Cambria Math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</a:rPr>
                          <m:t>𝑑𝑥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𝑢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 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where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𝑡</m:t>
                    </m:r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</m:oMath>
                </a14:m>
                <a:r>
                  <a:rPr lang="en-US" dirty="0"/>
                  <a:t>;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𝑖𝑛𝑝𝑢𝑡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 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</m:sup>
                    </m:sSup>
                    <m:r>
                      <a:rPr lang="en-US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; </m:t>
                    </m:r>
                    <m:r>
                      <a:rPr lang="en-US" b="0" i="1" smtClean="0">
                        <a:latin typeface="Cambria Math" charset="0"/>
                      </a:rPr>
                      <m:t>𝑓</m:t>
                    </m:r>
                    <m:r>
                      <a:rPr lang="en-US" b="0" i="1" smtClean="0">
                        <a:latin typeface="Cambria Math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× 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Example.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charset="0"/>
                          </a:rPr>
                          <m:t>𝑑𝑥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charset="0"/>
                          </a:rPr>
                          <m:t>𝑑𝑡</m:t>
                        </m:r>
                      </m:den>
                    </m:f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charset="0"/>
                          </a:rPr>
                          <m:t>𝑑𝑡</m:t>
                        </m:r>
                      </m:den>
                    </m:f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Initial value problem: Given system (1) and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</m:oMath>
                </a14:m>
                <a:r>
                  <a:rPr lang="en-US" dirty="0"/>
                  <a:t>, and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𝑢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: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</m:oMath>
                </a14:m>
                <a:r>
                  <a:rPr lang="en-US" dirty="0"/>
                  <a:t> find a state trajectory or </a:t>
                </a:r>
                <a:r>
                  <a:rPr lang="en-US" i="1" dirty="0"/>
                  <a:t>solution </a:t>
                </a:r>
                <a:r>
                  <a:rPr lang="en-US" dirty="0"/>
                  <a:t>of (1).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 t="-1401" b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159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Notions of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7416800" cy="4525963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What is a solution? Many different notions.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solidFill>
                      <a:srgbClr val="3399FF"/>
                    </a:solidFill>
                  </a:rPr>
                  <a:t>Definition 1. </a:t>
                </a:r>
                <a:r>
                  <a:rPr lang="en-US" dirty="0"/>
                  <a:t>(First attempt) Given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𝑢</m:t>
                    </m:r>
                    <m:r>
                      <a:rPr lang="en-US" b="0" i="1" smtClean="0">
                        <a:latin typeface="Cambria Math" charset="0"/>
                      </a:rPr>
                      <m:t>,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charset="0"/>
                      </a:rPr>
                      <m:t>: 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is a solution or trajectory </a:t>
                </a:r>
                <a:r>
                  <a:rPr lang="en-US" dirty="0" err="1"/>
                  <a:t>iff</a:t>
                </a:r>
                <a:r>
                  <a:rPr lang="en-US" dirty="0"/>
                  <a:t> </a:t>
                </a:r>
              </a:p>
              <a:p>
                <a:pPr marL="514350" indent="-514350">
                  <a:lnSpc>
                    <a:spcPct val="120000"/>
                  </a:lnSpc>
                  <a:buAutoNum type="arabicParenBoth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</a:p>
              <a:p>
                <a:pPr marL="514350" indent="-514350">
                  <a:lnSpc>
                    <a:spcPct val="120000"/>
                  </a:lnSpc>
                  <a:buAutoNum type="arabicParenBoth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</a:rPr>
                      <m:t>𝑓</m:t>
                    </m:r>
                    <m:r>
                      <a:rPr lang="en-US" b="0" i="1" smtClean="0">
                        <a:latin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,</m:t>
                    </m:r>
                    <m:r>
                      <a:rPr lang="en-US" b="0" i="1" smtClean="0">
                        <a:latin typeface="Cambria Math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,</m:t>
                    </m:r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  <m:r>
                      <a:rPr lang="en-US" b="0" i="1" smtClean="0">
                        <a:latin typeface="Cambria Math" charset="0"/>
                      </a:rPr>
                      <m:t>)), ∀</m:t>
                    </m:r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Mathematically makes sense, but too restrictive. Assumes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is not only continuous, but also differentiable. This disallows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charset="0"/>
                      </a:rPr>
                      <m:t>u</m:t>
                    </m:r>
                    <m:r>
                      <a:rPr lang="en-US" b="0" i="1" smtClean="0">
                        <a:latin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  <m:r>
                      <a:rPr lang="en-US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dirty="0"/>
                  <a:t> to be discontinuous, which is often required for optimal control.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7416800" cy="4525963"/>
              </a:xfrm>
              <a:blipFill>
                <a:blip r:embed="rId2"/>
                <a:stretch>
                  <a:fillRect l="-1197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CB1781-B202-4053-0722-FEA67EBF6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244" y="1828800"/>
            <a:ext cx="3839756" cy="301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742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502F8-D835-AC4D-8900-A4FE0DAB1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from point a to point 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631354-7650-A64A-8A9E-0B28E138E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60" y="1417638"/>
            <a:ext cx="6759540" cy="515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05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Modified notion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1" y="1600200"/>
                <a:ext cx="6705599" cy="5257800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Definition.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 is a piece-wise continuous with set of discontinuity points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𝐷</m:t>
                    </m:r>
                    <m:r>
                      <a:rPr lang="en-US" b="0" i="1" smtClean="0">
                        <a:latin typeface="Cambria Math" charset="0"/>
                      </a:rPr>
                      <m:t>⊆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 if </a:t>
                </a:r>
              </a:p>
              <a:p>
                <a:pPr marL="514350" indent="-514350">
                  <a:lnSpc>
                    <a:spcPct val="120000"/>
                  </a:lnSpc>
                  <a:buAutoNum type="arabicParenBoth"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∀</m:t>
                    </m:r>
                    <m:r>
                      <a:rPr lang="en-US" b="0" i="1" smtClean="0">
                        <a:latin typeface="Cambria Math" charset="0"/>
                      </a:rPr>
                      <m:t>𝜏</m:t>
                    </m:r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r>
                      <a:rPr lang="en-US" b="0" i="1" smtClean="0">
                        <a:latin typeface="Cambria Math" charset="0"/>
                      </a:rPr>
                      <m:t>𝐷</m:t>
                    </m:r>
                    <m:r>
                      <a:rPr lang="en-US" b="0" i="1" smtClean="0">
                        <a:latin typeface="Cambria Math" charset="0"/>
                      </a:rPr>
                      <m:t>,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𝜏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charset="0"/>
                          </a:rPr>
                          <m:t>𝑢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charset="0"/>
                      </a:rPr>
                      <m:t>&lt;∞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𝜏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−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i="1">
                            <a:latin typeface="Cambria Math" charset="0"/>
                          </a:rPr>
                          <m:t>𝑢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charset="0"/>
                          </a:rPr>
                          <m:t>&lt;∞</m:t>
                        </m:r>
                      </m:e>
                    </m:func>
                  </m:oMath>
                </a14:m>
                <a:endParaRPr lang="en-US" dirty="0"/>
              </a:p>
              <a:p>
                <a:pPr marL="514350" indent="-514350">
                  <a:lnSpc>
                    <a:spcPct val="120000"/>
                  </a:lnSpc>
                  <a:buAutoNum type="arabicParenBoth"/>
                </a:pPr>
                <a:r>
                  <a:rPr lang="en-US" dirty="0"/>
                  <a:t>Continuous from right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</a:rPr>
                      <m:t> 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𝜏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charset="0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i="1">
                            <a:latin typeface="Cambria Math" charset="0"/>
                          </a:rPr>
                          <m:t>𝑢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</m:oMath>
                </a14:m>
                <a:endParaRPr lang="en-US" b="0" dirty="0"/>
              </a:p>
              <a:p>
                <a:pPr marL="514350" indent="-514350">
                  <a:lnSpc>
                    <a:spcPct val="120000"/>
                  </a:lnSpc>
                  <a:buAutoNum type="arabicParenBoth"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∀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∩</m:t>
                    </m:r>
                    <m:r>
                      <a:rPr lang="en-US" b="0" i="1" smtClean="0">
                        <a:latin typeface="Cambria Math" charset="0"/>
                      </a:rPr>
                      <m:t>𝐷</m:t>
                    </m:r>
                  </m:oMath>
                </a14:m>
                <a:r>
                  <a:rPr lang="en-US" dirty="0"/>
                  <a:t> is finite </a:t>
                </a:r>
              </a:p>
              <a:p>
                <a:pPr marL="514350" indent="-514350">
                  <a:lnSpc>
                    <a:spcPct val="120000"/>
                  </a:lnSpc>
                  <a:buAutoNum type="arabicParenBoth"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𝑃𝐶</m:t>
                    </m:r>
                    <m:r>
                      <a:rPr lang="en-US" b="0" i="1" smtClean="0">
                        <a:latin typeface="Cambria Math" charset="0"/>
                      </a:rPr>
                      <m:t>(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) is the set of all piece-wise continuous functions over the domain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Define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𝑢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,</m:t>
                    </m:r>
                  </m:oMath>
                </a14:m>
                <a:r>
                  <a:rPr lang="en-US" dirty="0"/>
                  <a:t> for a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.</m:t>
                    </m:r>
                  </m:oMath>
                </a14:m>
                <a:r>
                  <a:rPr lang="en-US" dirty="0"/>
                  <a:t> 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is PC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so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𝑝</m:t>
                    </m:r>
                  </m:oMath>
                </a14:m>
                <a:r>
                  <a:rPr lang="en-US" dirty="0"/>
                  <a:t> in the second argument.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Definition 2. Given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𝑢</m:t>
                    </m:r>
                    <m:r>
                      <a:rPr lang="en-US" i="1">
                        <a:latin typeface="Cambria Math" charset="0"/>
                      </a:rPr>
                      <m:t>,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𝜉</m:t>
                    </m:r>
                    <m:r>
                      <a:rPr lang="en-US" i="1">
                        <a:latin typeface="Cambria Math" charset="0"/>
                      </a:rPr>
                      <m:t>: 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is a solution or trajectory </a:t>
                </a:r>
                <a:r>
                  <a:rPr lang="en-US" dirty="0" err="1"/>
                  <a:t>iff</a:t>
                </a:r>
                <a:r>
                  <a:rPr lang="en-US" dirty="0"/>
                  <a:t> (1)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(2)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latin typeface="Cambria Math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</a:rPr>
                      <m:t>𝑝</m:t>
                    </m:r>
                    <m:r>
                      <a:rPr lang="en-US" i="1">
                        <a:latin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,</m:t>
                    </m:r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  <m:r>
                      <a:rPr lang="en-US" i="1">
                        <a:latin typeface="Cambria Math" charset="0"/>
                      </a:rPr>
                      <m:t>), ∀</m:t>
                    </m:r>
                    <m:r>
                      <a:rPr lang="en-US" i="1">
                        <a:latin typeface="Cambria Math" charset="0"/>
                      </a:rPr>
                      <m:t>𝑡</m:t>
                    </m:r>
                    <m:r>
                      <a:rPr lang="en-US" i="1">
                        <a:latin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\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D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514350" indent="-514350">
                  <a:lnSpc>
                    <a:spcPct val="120000"/>
                  </a:lnSpc>
                  <a:buAutoNum type="arabicParenBoth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1" y="1600200"/>
                <a:ext cx="6705599" cy="5257800"/>
              </a:xfrm>
              <a:blipFill>
                <a:blip r:embed="rId2"/>
                <a:stretch>
                  <a:fillRect l="-758" t="-725" r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>
            <a:off x="7848600" y="3124200"/>
            <a:ext cx="25146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7848600" y="1417638"/>
            <a:ext cx="0" cy="17065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/>
          <p:nvPr/>
        </p:nvCxnSpPr>
        <p:spPr>
          <a:xfrm flipV="1">
            <a:off x="7848600" y="2286000"/>
            <a:ext cx="685800" cy="609600"/>
          </a:xfrm>
          <a:prstGeom prst="curvedConnector3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/>
          <p:nvPr/>
        </p:nvCxnSpPr>
        <p:spPr>
          <a:xfrm>
            <a:off x="8534400" y="1973494"/>
            <a:ext cx="914400" cy="464907"/>
          </a:xfrm>
          <a:prstGeom prst="curvedConnector3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/>
          <p:nvPr/>
        </p:nvCxnSpPr>
        <p:spPr>
          <a:xfrm flipV="1">
            <a:off x="9448800" y="1442302"/>
            <a:ext cx="762000" cy="428682"/>
          </a:xfrm>
          <a:prstGeom prst="curvedConnector3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8534400" y="1870985"/>
            <a:ext cx="0" cy="1268297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9448800" y="1870985"/>
            <a:ext cx="0" cy="1268297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8360250" y="3262185"/>
                <a:ext cx="4453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0250" y="3262185"/>
                <a:ext cx="44537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9226112" y="3252685"/>
                <a:ext cx="4507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6112" y="3252685"/>
                <a:ext cx="45070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7248143" y="2138538"/>
                <a:ext cx="6650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143" y="2138538"/>
                <a:ext cx="66505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/>
          <p:cNvSpPr/>
          <p:nvPr/>
        </p:nvSpPr>
        <p:spPr>
          <a:xfrm>
            <a:off x="8458200" y="1905000"/>
            <a:ext cx="152809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9372192" y="1828800"/>
            <a:ext cx="152809" cy="152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372601" y="2362200"/>
            <a:ext cx="152809" cy="1524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8458201" y="2209800"/>
            <a:ext cx="152809" cy="1524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85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Is PC input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adequate for guaranteeing existence of solutions?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t="-17021" r="-815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800" dirty="0"/>
                  <a:t>Example.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sz="2800" i="1" dirty="0">
                        <a:latin typeface="Cambria Math" charset="0"/>
                      </a:rPr>
                      <m:t>=−</m:t>
                    </m:r>
                    <m:r>
                      <a:rPr lang="en-US" sz="2800" i="1" dirty="0">
                        <a:latin typeface="Cambria Math" charset="0"/>
                      </a:rPr>
                      <m:t>𝑠𝑔𝑛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 dirty="0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800" i="1" dirty="0">
                        <a:latin typeface="Cambria Math" charset="0"/>
                      </a:rPr>
                      <m:t>;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charset="0"/>
                      </a:rPr>
                      <m:t>=</m:t>
                    </m:r>
                    <m:r>
                      <a:rPr lang="en-US" sz="2800" i="1">
                        <a:latin typeface="Cambria Math" charset="0"/>
                      </a:rPr>
                      <m:t>𝑐</m:t>
                    </m:r>
                    <m:r>
                      <a:rPr lang="en-US" sz="2800" i="1">
                        <a:latin typeface="Cambria Math" charset="0"/>
                      </a:rPr>
                      <m:t>;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charset="0"/>
                      </a:rPr>
                      <m:t>=0;</m:t>
                    </m:r>
                    <m:r>
                      <a:rPr lang="en-US" sz="2800" i="1">
                        <a:latin typeface="Cambria Math" charset="0"/>
                      </a:rPr>
                      <m:t>𝑐</m:t>
                    </m:r>
                    <m:r>
                      <a:rPr lang="en-US" sz="2800" i="1">
                        <a:latin typeface="Cambria Math" charset="0"/>
                      </a:rPr>
                      <m:t>&gt;0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800" dirty="0"/>
                  <a:t>Solution: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sz="2800" i="1">
                        <a:latin typeface="Cambria Math" charset="0"/>
                      </a:rPr>
                      <m:t>=</m:t>
                    </m:r>
                    <m:r>
                      <a:rPr lang="en-US" sz="2800" i="1">
                        <a:latin typeface="Cambria Math" charset="0"/>
                      </a:rPr>
                      <m:t>𝑐</m:t>
                    </m:r>
                    <m:r>
                      <a:rPr lang="en-US" sz="2800" i="1">
                        <a:latin typeface="Cambria Math" charset="0"/>
                      </a:rPr>
                      <m:t>−</m:t>
                    </m:r>
                    <m:r>
                      <a:rPr lang="en-US" sz="2800" i="1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sz="2800" dirty="0"/>
                  <a:t> for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𝑡</m:t>
                    </m:r>
                    <m:r>
                      <a:rPr lang="en-US" sz="2800" i="1">
                        <a:latin typeface="Cambria Math" charset="0"/>
                      </a:rPr>
                      <m:t>≤</m:t>
                    </m:r>
                    <m:r>
                      <a:rPr lang="en-US" sz="2800" i="1">
                        <a:latin typeface="Cambria Math" charset="0"/>
                      </a:rPr>
                      <m:t>𝑐</m:t>
                    </m:r>
                  </m:oMath>
                </a14:m>
                <a:r>
                  <a:rPr lang="en-US" sz="2800" dirty="0"/>
                  <a:t>; check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)=−1</m:t>
                    </m:r>
                  </m:oMath>
                </a14:m>
                <a:endParaRPr lang="en-US" sz="28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800" dirty="0"/>
                  <a:t>Problem: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𝑓</m:t>
                    </m:r>
                  </m:oMath>
                </a14:m>
                <a:r>
                  <a:rPr lang="en-US" sz="2800" dirty="0"/>
                  <a:t> discontinuous is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𝑥</m:t>
                    </m:r>
                  </m:oMath>
                </a14:m>
                <a:endParaRPr lang="en-US" sz="2800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28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800" dirty="0"/>
                  <a:t>Example.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sz="2800" i="1" dirty="0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sz="2800" i="1" dirty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800" i="1" dirty="0">
                        <a:latin typeface="Cambria Math" charset="0"/>
                      </a:rPr>
                      <m:t>;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charset="0"/>
                      </a:rPr>
                      <m:t>=</m:t>
                    </m:r>
                    <m:r>
                      <a:rPr lang="en-US" sz="2800" i="1">
                        <a:latin typeface="Cambria Math" charset="0"/>
                      </a:rPr>
                      <m:t>𝑐</m:t>
                    </m:r>
                    <m:r>
                      <a:rPr lang="en-US" sz="2800" i="1">
                        <a:latin typeface="Cambria Math" charset="0"/>
                      </a:rPr>
                      <m:t>;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charset="0"/>
                      </a:rPr>
                      <m:t>=0;</m:t>
                    </m:r>
                    <m:r>
                      <a:rPr lang="en-US" sz="2800" i="1">
                        <a:latin typeface="Cambria Math" charset="0"/>
                      </a:rPr>
                      <m:t>𝑐</m:t>
                    </m:r>
                    <m:r>
                      <a:rPr lang="en-US" sz="2800" i="1">
                        <a:latin typeface="Cambria Math" charset="0"/>
                      </a:rPr>
                      <m:t>&gt;0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800" dirty="0"/>
                  <a:t>Solution: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sz="28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charset="0"/>
                          </a:rPr>
                          <m:t>𝑐</m:t>
                        </m:r>
                      </m:num>
                      <m:den>
                        <m:r>
                          <a:rPr lang="en-US" sz="2800" i="1">
                            <a:latin typeface="Cambria Math" charset="0"/>
                          </a:rPr>
                          <m:t>1−</m:t>
                        </m:r>
                        <m:r>
                          <a:rPr lang="en-US" sz="2800" i="1">
                            <a:latin typeface="Cambria Math" charset="0"/>
                          </a:rPr>
                          <m:t>𝑡𝑐</m:t>
                        </m:r>
                      </m:den>
                    </m:f>
                  </m:oMath>
                </a14:m>
                <a:r>
                  <a:rPr lang="en-US" sz="2800" dirty="0"/>
                  <a:t> works for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𝑡</m:t>
                    </m:r>
                    <m:r>
                      <a:rPr lang="en-US" sz="2800" i="1">
                        <a:latin typeface="Cambria Math" charset="0"/>
                      </a:rPr>
                      <m:t>&lt;1/</m:t>
                    </m:r>
                    <m:r>
                      <a:rPr lang="en-US" sz="2800" i="1">
                        <a:latin typeface="Cambria Math" charset="0"/>
                      </a:rPr>
                      <m:t>𝑐</m:t>
                    </m:r>
                  </m:oMath>
                </a14:m>
                <a:r>
                  <a:rPr lang="en-US" sz="2800" dirty="0"/>
                  <a:t>; check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sz="28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800" dirty="0"/>
                  <a:t>Problem: As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𝑡</m:t>
                    </m:r>
                    <m:r>
                      <a:rPr lang="en-US" sz="2800" i="1">
                        <a:latin typeface="Cambria Math" charset="0"/>
                      </a:rPr>
                      <m:t>→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sz="2800" dirty="0"/>
                  <a:t> then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𝑥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sz="2800" i="1">
                        <a:latin typeface="Cambria Math" charset="0"/>
                      </a:rPr>
                      <m:t>→∞</m:t>
                    </m:r>
                  </m:oMath>
                </a14:m>
                <a:r>
                  <a:rPr lang="en-US" sz="2800" dirty="0"/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𝑝</m:t>
                    </m:r>
                  </m:oMath>
                </a14:m>
                <a:r>
                  <a:rPr lang="en-US" sz="2800" dirty="0"/>
                  <a:t> grows too fast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28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2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84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Lipschitz continuity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6351154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800" dirty="0"/>
                  <a:t>A function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𝑓</m:t>
                    </m:r>
                    <m:r>
                      <a:rPr lang="en-US" sz="2800" b="0" i="1" smtClean="0">
                        <a:latin typeface="Cambria Math" charset="0"/>
                      </a:rPr>
                      <m:t>: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</m:oMath>
                </a14:m>
                <a:r>
                  <a:rPr lang="en-US" sz="2800" dirty="0"/>
                  <a:t> is Lipschitz continuous if there exist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charset="0"/>
                      </a:rPr>
                      <m:t>𝐿</m:t>
                    </m:r>
                    <m:r>
                      <a:rPr lang="en-US" sz="2800" b="0" i="1" smtClean="0">
                        <a:latin typeface="Cambria Math" charset="0"/>
                      </a:rPr>
                      <m:t>&gt;0</m:t>
                    </m:r>
                  </m:oMath>
                </a14:m>
                <a:r>
                  <a:rPr lang="en-US" sz="2800" dirty="0"/>
                  <a:t> such that for any pair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charset="0"/>
                      </a:rPr>
                      <m:t>𝑥</m:t>
                    </m:r>
                    <m:r>
                      <a:rPr lang="en-US" sz="2800" b="0" i="1" smtClean="0">
                        <a:latin typeface="Cambria Math" charset="0"/>
                      </a:rPr>
                      <m:t>,</m:t>
                    </m:r>
                    <m:r>
                      <a:rPr lang="en-US" sz="2800" b="0" i="1" smtClean="0">
                        <a:latin typeface="Cambria Math" charset="0"/>
                      </a:rPr>
                      <m:t>𝑥</m:t>
                    </m:r>
                    <m:r>
                      <a:rPr lang="en-US" sz="2800" b="0" i="1" smtClean="0">
                        <a:latin typeface="Cambria Math" charset="0"/>
                      </a:rPr>
                      <m:t>′∈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dirty="0"/>
                  <a:t>, </a:t>
                </a:r>
                <a:endParaRPr lang="en-US" sz="2800" b="0" i="1" dirty="0">
                  <a:latin typeface="Cambria Math" panose="02040503050406030204" pitchFamily="18" charset="0"/>
                  <a:ea typeface="Cambria Math" charset="0"/>
                  <a:cs typeface="Cambria Math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𝑥</m:t>
                                  </m:r>
                                  <m:r>
                                    <a:rPr lang="en-US" sz="2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′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  <m:r>
                                <a:rPr lang="en-US" sz="2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sz="2800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28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800" dirty="0"/>
                  <a:t>Examples: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charset="0"/>
                      </a:rPr>
                      <m:t>6</m:t>
                    </m:r>
                    <m:r>
                      <a:rPr lang="en-US" sz="2800" b="0" i="1" smtClean="0">
                        <a:latin typeface="Cambria Math" charset="0"/>
                      </a:rPr>
                      <m:t>𝑥</m:t>
                    </m:r>
                    <m:r>
                      <a:rPr lang="en-US" sz="2800" b="0" i="1" smtClean="0">
                        <a:latin typeface="Cambria Math" charset="0"/>
                      </a:rPr>
                      <m:t>+4;</m:t>
                    </m:r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charset="0"/>
                      </a:rPr>
                      <m:t>;</m:t>
                    </m:r>
                  </m:oMath>
                </a14:m>
                <a:r>
                  <a:rPr lang="en-US" sz="2800" dirty="0"/>
                  <a:t> all differentiable functions with bounded derivatives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28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800" b="0" dirty="0"/>
                  <a:t>Non-examples: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latin typeface="Cambria Math" charset="0"/>
                          </a:rPr>
                          <m:t>𝑥</m:t>
                        </m:r>
                      </m:e>
                    </m:rad>
                    <m:r>
                      <a:rPr lang="en-US" sz="2800" b="0" i="1" smtClean="0">
                        <a:latin typeface="Cambria Math" charset="0"/>
                      </a:rPr>
                      <m:t>; 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/>
                  <a:t> (locally Lipschitz)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6351154" cy="4525963"/>
              </a:xfrm>
              <a:blipFill>
                <a:blip r:embed="rId2"/>
                <a:stretch>
                  <a:fillRect l="-2196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p:pic>
        <p:nvPicPr>
          <p:cNvPr id="5" name="Picture 4" descr="A graph of a function&#10;&#10;Description automatically generated">
            <a:extLst>
              <a:ext uri="{FF2B5EF4-FFF2-40B4-BE49-F238E27FC236}">
                <a16:creationId xmlns:a16="http://schemas.microsoft.com/office/drawing/2014/main" id="{DEBF6A03-FC17-B9B6-B8C2-7BF855E266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754" y="2743200"/>
            <a:ext cx="5231246" cy="324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71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Existence and uniqueness of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B0F0"/>
                    </a:solidFill>
                  </a:rPr>
                  <a:t>Theorem.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𝑝</m:t>
                    </m:r>
                    <m:r>
                      <a:rPr lang="en-US" b="0" i="1" smtClean="0">
                        <a:latin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,</m:t>
                    </m:r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  <m:r>
                      <a:rPr lang="en-US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dirty="0"/>
                  <a:t> is Lipschitz continuous in the first argument then (1) has unique solutions.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Exercise. Write an automaton / transition system model corresponding to the discretized solution of a dynamical system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7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342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system and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r>
                        <a:rPr lang="en-US" b="0" i="1" smtClean="0">
                          <a:latin typeface="Cambria Math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𝑢</m:t>
                      </m:r>
                      <m:r>
                        <a:rPr lang="en-US" b="0" i="1" smtClean="0">
                          <a:latin typeface="Cambria Math" charset="0"/>
                        </a:rPr>
                        <m:t>(</m:t>
                      </m:r>
                      <m:r>
                        <a:rPr lang="en-US" b="0" i="1" smtClean="0">
                          <a:latin typeface="Cambria Math" charset="0"/>
                        </a:rPr>
                        <m:t>𝑡</m:t>
                      </m:r>
                      <m:r>
                        <a:rPr lang="en-US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a given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𝑎𝑛𝑑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𝑢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(.)∈</m:t>
                    </m:r>
                    <m:r>
                      <a:rPr lang="en-US" b="0" i="1" smtClean="0">
                        <a:latin typeface="Cambria Math" charset="0"/>
                      </a:rPr>
                      <m:t>𝑃𝐶</m:t>
                    </m:r>
                    <m:r>
                      <a:rPr lang="en-US" b="0" i="1" smtClean="0">
                        <a:latin typeface="Cambria Math" charset="0"/>
                      </a:rPr>
                      <m:t>(</m:t>
                    </m:r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dirty="0"/>
                  <a:t> the </a:t>
                </a:r>
                <a:r>
                  <a:rPr lang="en-US" i="1" dirty="0"/>
                  <a:t>solution</a:t>
                </a:r>
                <a:r>
                  <a:rPr lang="en-US" dirty="0"/>
                  <a:t> is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.,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→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Restrictive but important and widely-studied class of dynamical systems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05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Example: Simple model of an economy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6172200" cy="4525963"/>
              </a:xfrm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charset="0"/>
                      </a:rPr>
                      <m:t>𝑥</m:t>
                    </m:r>
                  </m:oMath>
                </a14:m>
                <a:r>
                  <a:rPr lang="en-US" dirty="0"/>
                  <a:t>: national income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𝑦</m:t>
                    </m:r>
                    <m:r>
                      <a:rPr lang="en-US" b="0" i="1" smtClean="0">
                        <a:latin typeface="Cambria Math" charset="0"/>
                      </a:rPr>
                      <m:t>:</m:t>
                    </m:r>
                  </m:oMath>
                </a14:m>
                <a:r>
                  <a:rPr lang="en-US" dirty="0"/>
                  <a:t> rate of consumer spending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𝑔</m:t>
                    </m:r>
                  </m:oMath>
                </a14:m>
                <a:r>
                  <a:rPr lang="en-US" dirty="0"/>
                  <a:t>: rate government expenditure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: propensity to consume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: responsiveness of consumption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latin typeface="Cambria Math" charset="0"/>
                      </a:rPr>
                      <m:t>=</m:t>
                    </m:r>
                    <m:r>
                      <a:rPr lang="en-US" b="0" i="1" dirty="0" smtClean="0">
                        <a:latin typeface="Cambria Math" charset="0"/>
                      </a:rPr>
                      <m:t>𝑥</m:t>
                    </m:r>
                    <m:r>
                      <a:rPr lang="en-US" b="0" i="1" dirty="0" smtClean="0">
                        <a:latin typeface="Cambria Math" charset="0"/>
                      </a:rPr>
                      <m:t> −</m:t>
                    </m:r>
                    <m:r>
                      <a:rPr lang="en-US" b="0" i="1" dirty="0" smtClean="0">
                        <a:latin typeface="Cambria Math" charset="0"/>
                      </a:rPr>
                      <m:t>𝛼</m:t>
                    </m:r>
                    <m:r>
                      <a:rPr lang="en-US" b="0" i="1" dirty="0" smtClean="0">
                        <a:latin typeface="Cambria Math" charset="0"/>
                      </a:rPr>
                      <m:t>𝑦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charset="0"/>
                      </a:rPr>
                      <m:t>=</m:t>
                    </m:r>
                    <m:r>
                      <a:rPr lang="en-US" b="0" i="1" dirty="0" smtClean="0">
                        <a:latin typeface="Cambria Math" charset="0"/>
                      </a:rPr>
                      <m:t>𝛽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charset="0"/>
                          </a:rPr>
                          <m:t>𝑦</m:t>
                        </m:r>
                        <m:r>
                          <a:rPr lang="en-US" b="0" i="1" dirty="0" smtClean="0">
                            <a:latin typeface="Cambria Math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charset="0"/>
                          </a:rPr>
                          <m:t>𝑔</m:t>
                        </m:r>
                      </m:e>
                    </m:d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6172200" cy="4525963"/>
              </a:xfrm>
              <a:blipFill>
                <a:blip r:embed="rId2"/>
                <a:stretch>
                  <a:fillRect l="-2259" t="-168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9E20EA8-1ECC-FA48-B220-35E095804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135201"/>
            <a:ext cx="5715000" cy="372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67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 time-varying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10820400" cy="5257800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In general, for nonlinear dynamical systems we do not have closed form solutions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,</m:t>
                    </m:r>
                  </m:oMath>
                </a14:m>
                <a:r>
                  <a:rPr lang="en-US" dirty="0"/>
                  <a:t> but there are numerical solvers like CAPD, VNODE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b="0" i="1" dirty="0">
                  <a:latin typeface="Cambria Math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latin typeface="Cambria Math" charset="0"/>
                      </a:rPr>
                      <m:t>𝐵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b="0" dirty="0"/>
                  <a:t> --- (2)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r>
                        <a:rPr lang="en-US" b="0" i="1" smtClean="0">
                          <a:latin typeface="Cambria Math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 </m:t>
                      </m:r>
                    </m:oMath>
                  </m:oMathPara>
                </a14:m>
                <a:endParaRPr lang="en-US" b="0" i="1" dirty="0">
                  <a:latin typeface="Cambria Math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b="0" i="1" dirty="0">
                  <a:latin typeface="Cambria Math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/>
                  <a:t> continuous everywhere except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solidFill>
                      <a:srgbClr val="00B0F0"/>
                    </a:solidFill>
                  </a:rPr>
                  <a:t>Theorem. 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dirty="0"/>
                  <a:t> be the solution for (2) with points of discontinuity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  <m:r>
                      <a:rPr lang="en-US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,</m:t>
                    </m:r>
                    <m:r>
                      <a:rPr lang="en-US" b="0" i="1" smtClean="0">
                        <a:latin typeface="Cambria Math" charset="0"/>
                      </a:rPr>
                      <m:t>𝑢</m:t>
                    </m:r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r>
                      <a:rPr lang="en-US" b="0" i="1" smtClean="0">
                        <a:latin typeface="Cambria Math" charset="0"/>
                      </a:rPr>
                      <m:t>𝑃𝐶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a:rPr lang="en-US" b="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𝑚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charset="0"/>
                          </a:rPr>
                          <m:t>⋅,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charset="0"/>
                          </a:rPr>
                          <m:t>𝑢</m:t>
                        </m:r>
                      </m:e>
                    </m:d>
                    <m:r>
                      <a:rPr lang="en-US" b="0" i="1" dirty="0" smtClean="0">
                        <a:latin typeface="Cambria Math" charset="0"/>
                      </a:rPr>
                      <m:t>: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is continuous and differentiable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∀ </m:t>
                    </m:r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∀</m:t>
                    </m:r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  <m:r>
                      <a:rPr lang="en-US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  <m:r>
                      <a:rPr lang="en-US" i="1">
                        <a:latin typeface="Cambria Math" charset="0"/>
                      </a:rPr>
                      <m:t>,</m:t>
                    </m:r>
                    <m:r>
                      <a:rPr lang="en-US" i="1" smtClean="0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𝑢</m:t>
                    </m:r>
                    <m:r>
                      <a:rPr lang="en-US" i="1">
                        <a:latin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</a:rPr>
                      <m:t>𝑃𝐶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a:rPr lang="en-US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𝑚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charset="0"/>
                          </a:rPr>
                          <m:t>𝑡</m:t>
                        </m:r>
                        <m:r>
                          <a:rPr lang="en-US" i="1" dirty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dirty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dirty="0">
                            <a:latin typeface="Cambria Math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charset="0"/>
                          </a:rPr>
                          <m:t>⋅</m:t>
                        </m:r>
                        <m:r>
                          <a:rPr lang="en-US" i="1" dirty="0">
                            <a:latin typeface="Cambria Math" charset="0"/>
                          </a:rPr>
                          <m:t>,</m:t>
                        </m:r>
                        <m:r>
                          <a:rPr lang="en-US" i="1" dirty="0">
                            <a:latin typeface="Cambria Math" charset="0"/>
                          </a:rPr>
                          <m:t>𝑢</m:t>
                        </m:r>
                      </m:e>
                    </m:d>
                    <m:r>
                      <a:rPr lang="en-US" i="1" dirty="0">
                        <a:latin typeface="Cambria Math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is continuous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</a:rPr>
                      <m:t>∀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,</m:t>
                        </m:r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  <m:r>
                      <a:rPr lang="en-US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02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1,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</a:rPr>
                      <m:t>𝑃𝐶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a:rPr lang="en-US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𝑚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𝑥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charset="0"/>
                          </a:rPr>
                          <m:t>𝑡</m:t>
                        </m:r>
                        <m:r>
                          <a:rPr lang="en-US" i="1" dirty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dirty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dirty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charset="0"/>
                              </a:rPr>
                              <m:t>0</m:t>
                            </m:r>
                            <m:r>
                              <a:rPr lang="en-US" b="0" i="1" dirty="0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charset="0"/>
                              </a:rPr>
                              <m:t>02</m:t>
                            </m:r>
                          </m:sub>
                        </m:sSub>
                        <m:r>
                          <a:rPr lang="en-US" i="1" dirty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charset="0"/>
                          </a:rPr>
                          <m:t>𝑡</m:t>
                        </m:r>
                        <m:r>
                          <a:rPr lang="en-US" i="1" dirty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dirty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dirty="0">
                            <a:latin typeface="Cambria Math" charset="0"/>
                          </a:rPr>
                          <m:t>,</m:t>
                        </m:r>
                        <m:r>
                          <a:rPr lang="en-US" i="1" dirty="0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charset="0"/>
                              </a:rPr>
                              <m:t>01</m:t>
                            </m:r>
                          </m:sub>
                        </m:sSub>
                        <m:r>
                          <a:rPr lang="en-US" i="1" dirty="0">
                            <a:latin typeface="Cambria Math" charset="0"/>
                          </a:rPr>
                          <m:t>,</m:t>
                        </m:r>
                        <m:r>
                          <a:rPr lang="en-US" i="1" dirty="0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 dirty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charset="0"/>
                          </a:rPr>
                          <m:t>𝑡</m:t>
                        </m:r>
                        <m:r>
                          <a:rPr lang="en-US" i="1" dirty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dirty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dirty="0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charset="0"/>
                              </a:rPr>
                              <m:t>0</m:t>
                            </m:r>
                            <m:r>
                              <a:rPr lang="en-US" b="0" i="1" dirty="0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∀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  <m:r>
                      <a:rPr lang="en-US" i="1">
                        <a:latin typeface="Cambria Math" charset="0"/>
                      </a:rPr>
                      <m:t>,</m:t>
                    </m:r>
                    <m:r>
                      <a:rPr lang="en-US" i="1" smtClean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,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𝑢</m:t>
                    </m:r>
                    <m:r>
                      <a:rPr lang="en-US" i="1">
                        <a:latin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</a:rPr>
                      <m:t>𝑃𝐶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a:rPr lang="en-US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𝑚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charset="0"/>
                          </a:rPr>
                          <m:t>𝑡</m:t>
                        </m:r>
                        <m:r>
                          <a:rPr lang="en-US" i="1" dirty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dirty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dirty="0">
                            <a:latin typeface="Cambria Math" charset="0"/>
                          </a:rPr>
                          <m:t>,</m:t>
                        </m:r>
                        <m:r>
                          <a:rPr lang="en-US" i="1" dirty="0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dirty="0">
                            <a:latin typeface="Cambria Math" charset="0"/>
                          </a:rPr>
                          <m:t>,</m:t>
                        </m:r>
                        <m:r>
                          <a:rPr lang="en-US" i="1" dirty="0" smtClean="0">
                            <a:latin typeface="Cambria Math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charset="0"/>
                          </a:rPr>
                          <m:t>𝑢</m:t>
                        </m:r>
                      </m:e>
                    </m:d>
                    <m:r>
                      <a:rPr lang="en-US" i="1" dirty="0">
                        <a:latin typeface="Cambria Math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charset="0"/>
                          </a:rPr>
                          <m:t>𝑡</m:t>
                        </m:r>
                        <m:r>
                          <a:rPr lang="en-US" i="1" dirty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dirty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dirty="0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dirty="0">
                            <a:latin typeface="Cambria Math" charset="0"/>
                          </a:rPr>
                          <m:t>, </m:t>
                        </m:r>
                        <m:r>
                          <a:rPr lang="en-US" b="1" i="1" dirty="0" smtClean="0">
                            <a:latin typeface="Cambria Math" charset="0"/>
                          </a:rPr>
                          <m:t>𝟎</m:t>
                        </m:r>
                      </m:e>
                    </m:d>
                    <m:r>
                      <a:rPr lang="en-US" i="1" dirty="0">
                        <a:latin typeface="Cambria Math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charset="0"/>
                          </a:rPr>
                          <m:t>𝑡</m:t>
                        </m:r>
                        <m:r>
                          <a:rPr lang="en-US" i="1" dirty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dirty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dirty="0">
                            <a:latin typeface="Cambria Math" charset="0"/>
                          </a:rPr>
                          <m:t>, </m:t>
                        </m:r>
                        <m:r>
                          <a:rPr lang="en-US" b="0" i="1" dirty="0" smtClean="0">
                            <a:latin typeface="Cambria Math" charset="0"/>
                          </a:rPr>
                          <m:t>0</m:t>
                        </m:r>
                        <m:r>
                          <a:rPr lang="en-US" i="1" dirty="0">
                            <a:latin typeface="Cambria Math" charset="0"/>
                          </a:rPr>
                          <m:t>, </m:t>
                        </m:r>
                        <m:r>
                          <a:rPr lang="en-US" b="0" i="1" dirty="0" smtClean="0">
                            <a:latin typeface="Cambria Math" charset="0"/>
                          </a:rPr>
                          <m:t>𝑢</m:t>
                        </m:r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10820400" cy="5257800"/>
              </a:xfrm>
              <a:blipFill>
                <a:blip r:embed="rId2"/>
                <a:stretch>
                  <a:fillRect l="-469" t="-725" r="-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788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B55BC0-BE9E-D387-1D4C-247AE067C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734" y="274638"/>
            <a:ext cx="7125866" cy="65833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2DFC76-E572-B237-F74D-B331E93A6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4038600" cy="1143000"/>
          </a:xfrm>
        </p:spPr>
        <p:txBody>
          <a:bodyPr>
            <a:noAutofit/>
          </a:bodyPr>
          <a:lstStyle/>
          <a:p>
            <a:r>
              <a:rPr lang="en-US" sz="3200" dirty="0"/>
              <a:t>Properties of linear dynamical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80BDFE-A204-543C-CB51-9516EFB39D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40386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𝐴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charset="0"/>
                        </a:rPr>
                        <m:t>𝑥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𝐵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charset="0"/>
                        </a:rPr>
                        <m:t>𝑢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80BDFE-A204-543C-CB51-9516EFB39D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4038600" cy="4525963"/>
              </a:xfrm>
              <a:blipFill>
                <a:blip r:embed="rId3"/>
                <a:stretch>
                  <a:fillRect l="-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A4BDD33-3F77-804C-40A0-3428FB338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67" y="3429000"/>
            <a:ext cx="4648200" cy="33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873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system and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r>
                          <a:rPr lang="en-US" i="1">
                            <a:latin typeface="Cambria Math" charset="0"/>
                          </a:rPr>
                          <m:t>𝑢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→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is a linear function of the initial state and input,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r>
                          <a:rPr lang="en-US" i="1">
                            <a:latin typeface="Cambria Math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r>
                          <a:rPr lang="en-US" i="1">
                            <a:latin typeface="Cambria Math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Let us focus on the linear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Define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.,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r>
                          <a:rPr lang="en-US" i="1">
                            <a:latin typeface="Cambria Math" charset="0"/>
                          </a:rPr>
                          <m:t>𝑢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charset="0"/>
                      </a:rPr>
                      <m:t>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→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is called the </a:t>
                </a:r>
                <a:r>
                  <a:rPr lang="en-US" u="sng" dirty="0"/>
                  <a:t>state transition matrix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7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454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Properties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charset="0"/>
                      </a:rPr>
                      <m:t>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.,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→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en-US" dirty="0"/>
                  <a:t> is the unique solution of (2) and is defined by a (</a:t>
                </a:r>
                <a:r>
                  <a:rPr lang="en-US" dirty="0" err="1"/>
                  <a:t>Peano</a:t>
                </a:r>
                <a:r>
                  <a:rPr lang="en-US" dirty="0"/>
                  <a:t>-Baker) infinite sequence of integrals</a:t>
                </a:r>
                <a:endParaRPr lang="en-US" b="0" dirty="0">
                  <a:ea typeface="Cambria Math" charset="0"/>
                  <a:cs typeface="Cambria Math" charset="0"/>
                </a:endParaRPr>
              </a:p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US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US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Φ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𝑡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𝐼</m:t>
                    </m:r>
                  </m:oMath>
                </a14:m>
                <a:endParaRPr lang="en-US" b="0" dirty="0">
                  <a:ea typeface="Cambria Math" charset="0"/>
                  <a:cs typeface="Cambria Math" charset="0"/>
                </a:endParaRPr>
              </a:p>
              <a:p>
                <a:pPr lvl="1">
                  <a:lnSpc>
                    <a:spcPct val="160000"/>
                  </a:lnSpc>
                </a:pPr>
                <a:r>
                  <a:rPr lang="en-US" dirty="0"/>
                  <a:t>Continuous everywhere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n-US" dirty="0"/>
                  <a:t>Differentiable everywhere except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isn’t)</a:t>
                </a:r>
              </a:p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b="0" dirty="0">
                  <a:ea typeface="Cambria Math" charset="0"/>
                  <a:cs typeface="Cambria Math" charset="0"/>
                </a:endParaRPr>
              </a:p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invertible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Φ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>
                  <a:lnSpc>
                    <a:spcPct val="16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37" b="-8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62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Solution of linear systems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charset="0"/>
                      </a:rPr>
                      <m:t>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ea typeface="Cambria Math" charset="0"/>
                    <a:cs typeface="Cambria Math" charset="0"/>
                  </a:rPr>
                  <a:t>Theorem.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𝑢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87" t="-33053" b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632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time invariant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=</m:t>
                      </m:r>
                      <m:r>
                        <a:rPr lang="en-US" i="1">
                          <a:latin typeface="Cambria Math" charset="0"/>
                        </a:rPr>
                        <m:t>𝐴𝑥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+</m:t>
                      </m:r>
                      <m:r>
                        <a:rPr lang="en-US" i="1">
                          <a:latin typeface="Cambria Math" charset="0"/>
                        </a:rPr>
                        <m:t>𝐵𝑢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Matrix exponential: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𝐴𝑡</m:t>
                          </m:r>
                        </m:sup>
                      </m:sSup>
                      <m:r>
                        <a:rPr lang="en-US" i="1">
                          <a:latin typeface="Cambria Math" charset="0"/>
                        </a:rPr>
                        <m:t>=1+</m:t>
                      </m:r>
                      <m:r>
                        <a:rPr lang="en-US" i="1">
                          <a:latin typeface="Cambria Math" charset="0"/>
                        </a:rPr>
                        <m:t>𝐴𝑡</m:t>
                      </m:r>
                      <m:r>
                        <a:rPr lang="en-US" i="1">
                          <a:latin typeface="Cambria Math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𝐴𝑡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charset="0"/>
                        </a:rPr>
                        <m:t>+ …</m:t>
                      </m:r>
                      <m:r>
                        <a:rPr lang="en-US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𝐴𝑡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Theorem.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charset="0"/>
                      </a:rPr>
                      <m:t>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sup>
                    </m:sSup>
                  </m:oMath>
                </a14:m>
                <a:r>
                  <a:rPr lang="en-US" dirty="0"/>
                  <a:t>, that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,</m:t>
                          </m:r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𝑢</m:t>
                          </m:r>
                        </m:e>
                      </m:d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e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)</m:t>
                          </m:r>
                        </m:sup>
                      </m:sSup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𝜏</m:t>
                              </m:r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𝐵𝑢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6" t="-840" b="-5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6E32D7-A1DD-E443-AB30-5A85C74DE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1996886"/>
            <a:ext cx="4130054" cy="326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46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9EF43-D781-9FDC-3A0B-FC60DD657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Gradient 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8E6AED-3C27-6C1D-71A0-02F365D7E6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066800"/>
                <a:ext cx="8610600" cy="5364162"/>
              </a:xfrm>
            </p:spPr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Consider the regression problem of fitting a straight line to data using gradient flow. The behavior of this learning algorithm can be modeled and analyzed as a dynamical system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Given data: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dirty="0"/>
                  <a:t> we want to fit a linear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𝜃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by finding the </a:t>
                </a:r>
                <a:r>
                  <a:rPr lang="en-US" b="1" i="1" dirty="0"/>
                  <a:t>best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Minimizing the squared loss: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nary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b="0" dirty="0"/>
                  <a:t>Gradient of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.2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Gradient descent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	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is a parameter called learning rate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0" dirty="0"/>
                  <a:t>  			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Gradient flow is the continuous-time limit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0" dirty="0"/>
                  <a:t>			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		LTI system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Solution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8E6AED-3C27-6C1D-71A0-02F365D7E6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066800"/>
                <a:ext cx="8610600" cy="5364162"/>
              </a:xfrm>
              <a:blipFill>
                <a:blip r:embed="rId2"/>
                <a:stretch>
                  <a:fillRect l="-590" t="-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2EC3FF-1D49-B58B-4943-B0D7477B9BAB}"/>
                  </a:ext>
                </a:extLst>
              </p:cNvPr>
              <p:cNvSpPr txBox="1"/>
              <p:nvPr/>
            </p:nvSpPr>
            <p:spPr>
              <a:xfrm>
                <a:off x="9224682" y="1447800"/>
                <a:ext cx="3001078" cy="16422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Gradient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2EC3FF-1D49-B58B-4943-B0D7477B9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682" y="1447800"/>
                <a:ext cx="3001078" cy="1642244"/>
              </a:xfrm>
              <a:prstGeom prst="rect">
                <a:avLst/>
              </a:prstGeom>
              <a:blipFill>
                <a:blip r:embed="rId3"/>
                <a:stretch>
                  <a:fillRect l="-1688" b="-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538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927F4-9B3F-88AA-26DD-C6AA069EF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Gradient flow convergence to an optimal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6B195F-8564-66E3-2223-E3A66DC4A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897" y="914400"/>
            <a:ext cx="6638691" cy="54710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E22B79-909B-6B33-B508-EF08EADE8022}"/>
                  </a:ext>
                </a:extLst>
              </p:cNvPr>
              <p:cNvSpPr txBox="1"/>
              <p:nvPr/>
            </p:nvSpPr>
            <p:spPr>
              <a:xfrm>
                <a:off x="228600" y="1026459"/>
                <a:ext cx="5410200" cy="3689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Consider the regression problem of fitting a straight line to data using gradient flow. The behavior of this learning algorithm can be modeled and analyzed as a dynamical system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Given data: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dirty="0"/>
                  <a:t> we want to fit a linear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𝜃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by finding the </a:t>
                </a:r>
                <a:r>
                  <a:rPr lang="en-US" b="1" i="1" dirty="0"/>
                  <a:t>best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Minimizing the squared loss: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nary>
                  </m:oMath>
                </a14:m>
                <a:endParaRPr lang="en-US" b="0" dirty="0"/>
              </a:p>
              <a:p>
                <a:pPr>
                  <a:lnSpc>
                    <a:spcPct val="120000"/>
                  </a:lnSpc>
                </a:pPr>
                <a:r>
                  <a:rPr lang="en-US" b="0" dirty="0"/>
                  <a:t>Gradient of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Gradient descent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Gradient flow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E22B79-909B-6B33-B508-EF08EADE8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026459"/>
                <a:ext cx="5410200" cy="3689215"/>
              </a:xfrm>
              <a:prstGeom prst="rect">
                <a:avLst/>
              </a:prstGeom>
              <a:blipFill>
                <a:blip r:embed="rId3"/>
                <a:stretch>
                  <a:fillRect l="-1171" r="-1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4717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010B2-3285-458F-564A-F51E32531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Grad flow converging but to an undesirable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F1814-ACF9-2182-EB4A-31309418E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6019800" cy="4525963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6543FE-C035-E175-E5CB-7A3CCE728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295400"/>
            <a:ext cx="7772400" cy="539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66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Discrete time models / discrete transition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+1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charset="0"/>
                          </a:rPr>
                          <m:t>,</m:t>
                        </m:r>
                        <m:r>
                          <a:rPr lang="en-US" i="1" smtClean="0"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latin typeface="Cambria Math" charset="0"/>
                          </a:rPr>
                          <m:t>𝑢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+1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</a:rPr>
                      <m:t>𝑓</m:t>
                    </m:r>
                    <m:r>
                      <a:rPr lang="en-US" b="0" i="1" smtClean="0">
                        <a:latin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dirty="0"/>
                  <a:t> autonomous</a:t>
                </a:r>
              </a:p>
              <a:p>
                <a:r>
                  <a:rPr lang="en-US" b="0" dirty="0"/>
                  <a:t>Execution: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,</m:t>
                    </m:r>
                    <m:r>
                      <a:rPr lang="en-US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,… 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</a:rPr>
                      <m:t>𝑨</m:t>
                    </m:r>
                    <m:r>
                      <a:rPr lang="en-US" b="0" i="1" smtClean="0">
                        <a:latin typeface="Cambria Math" charset="0"/>
                      </a:rPr>
                      <m:t>=⟨</m:t>
                    </m:r>
                    <m:r>
                      <a:rPr lang="en-US" b="0" i="1" smtClean="0">
                        <a:latin typeface="Cambria Math" charset="0"/>
                      </a:rPr>
                      <m:t>𝑄</m:t>
                    </m:r>
                    <m:r>
                      <a:rPr lang="en-US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,</m:t>
                    </m:r>
                    <m:r>
                      <a:rPr lang="en-US" b="0" i="1" smtClean="0">
                        <a:latin typeface="Cambria Math" charset="0"/>
                      </a:rPr>
                      <m:t>𝑇</m:t>
                    </m:r>
                    <m:r>
                      <a:rPr lang="en-US" b="0" i="1" smtClean="0">
                        <a:latin typeface="Cambria Math" charset="0"/>
                      </a:rPr>
                      <m:t>⟩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𝑄</m:t>
                    </m:r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b="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: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i="1" dirty="0">
                    <a:latin typeface="Cambria Math" charset="0"/>
                    <a:ea typeface="Cambria Math" charset="0"/>
                    <a:cs typeface="Cambria Math" charset="0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T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 =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𝑓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en-US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r>
                  <a:rPr lang="en-US" dirty="0">
                    <a:ea typeface="Cambria Math" charset="0"/>
                    <a:cs typeface="Cambria Math" charset="0"/>
                  </a:rPr>
                  <a:t>Deterministic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134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Discretized or sampled-time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sz="2800" i="1">
                        <a:latin typeface="Cambria Math" charset="0"/>
                      </a:rPr>
                      <m:t>=</m:t>
                    </m:r>
                    <m:r>
                      <a:rPr lang="en-US" sz="28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800" i="1">
                            <a:latin typeface="Cambria Math" charset="0"/>
                          </a:rPr>
                          <m:t>, </m:t>
                        </m:r>
                        <m:r>
                          <a:rPr lang="en-US" sz="2800" i="1">
                            <a:latin typeface="Cambria Math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800" dirty="0"/>
                  <a:t>Assume: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𝑢</m:t>
                    </m:r>
                    <m:r>
                      <a:rPr lang="en-US" sz="2800" i="1">
                        <a:latin typeface="Cambria Math" charset="0"/>
                      </a:rPr>
                      <m:t>∈</m:t>
                    </m:r>
                    <m:r>
                      <a:rPr lang="en-US" sz="2800" i="1">
                        <a:latin typeface="Cambria Math" charset="0"/>
                      </a:rPr>
                      <m:t>𝑃𝐶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r>
                          <a:rPr lang="en-US" sz="2800" i="1">
                            <a:latin typeface="Cambria Math" charset="0"/>
                          </a:rPr>
                          <m:t>𝑈</m:t>
                        </m:r>
                      </m:e>
                    </m:d>
                    <m:r>
                      <a:rPr lang="en-US" sz="2800" i="1">
                        <a:latin typeface="Cambria Math" charset="0"/>
                      </a:rPr>
                      <m:t> </m:t>
                    </m:r>
                    <m:r>
                      <a:rPr lang="en-US" sz="2800" i="1">
                        <a:latin typeface="Cambria Math" charset="0"/>
                      </a:rPr>
                      <m:t>𝑤h𝑒𝑟𝑒</m:t>
                    </m:r>
                    <m:r>
                      <a:rPr lang="en-US" sz="2800" i="1">
                        <a:latin typeface="Cambria Math" charset="0"/>
                      </a:rPr>
                      <m:t> </m:t>
                    </m:r>
                    <m:r>
                      <a:rPr lang="en-US" sz="2800" i="1">
                        <a:latin typeface="Cambria Math" charset="0"/>
                      </a:rPr>
                      <m:t>𝑈</m:t>
                    </m:r>
                    <m:r>
                      <a:rPr lang="en-US" sz="2800" i="1">
                        <a:latin typeface="Cambria Math" charset="0"/>
                      </a:rPr>
                      <m:t>⊆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800" dirty="0"/>
                  <a:t> is a finite set</a:t>
                </a:r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𝜉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charset="0"/>
                          </a:rPr>
                          <m:t>𝑡</m:t>
                        </m:r>
                        <m:r>
                          <a:rPr lang="en-US" sz="28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</a:rPr>
                          <m:t>,</m:t>
                        </m:r>
                        <m:r>
                          <a:rPr lang="en-US" sz="2800" i="1">
                            <a:latin typeface="Cambria Math" charset="0"/>
                          </a:rPr>
                          <m:t>𝑢</m:t>
                        </m:r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800" dirty="0">
                    <a:latin typeface="+mj-lt"/>
                  </a:rPr>
                  <a:t>Fix a sampling period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𝛿</m:t>
                    </m:r>
                    <m:r>
                      <a:rPr lang="en-US" sz="2800" i="1">
                        <a:latin typeface="Cambria Math" charset="0"/>
                      </a:rPr>
                      <m:t>&gt;0 </m:t>
                    </m:r>
                  </m:oMath>
                </a14:m>
                <a:endParaRPr lang="en-US" sz="2800" dirty="0">
                  <a:latin typeface="+mj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2800" b="1" i="1">
                            <a:latin typeface="Cambria Math" charset="0"/>
                          </a:rPr>
                          <m:t>𝜹</m:t>
                        </m:r>
                      </m:sub>
                    </m:sSub>
                    <m:r>
                      <a:rPr lang="en-US" sz="2800" i="1">
                        <a:latin typeface="Cambria Math" charset="0"/>
                      </a:rPr>
                      <m:t>=⟨</m:t>
                    </m:r>
                    <m:r>
                      <a:rPr lang="en-US" sz="2800" i="1">
                        <a:latin typeface="Cambria Math" charset="0"/>
                      </a:rPr>
                      <m:t>𝑄</m:t>
                    </m:r>
                    <m:r>
                      <a:rPr lang="en-US" sz="28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charset="0"/>
                      </a:rPr>
                      <m:t>,</m:t>
                    </m:r>
                    <m:r>
                      <a:rPr lang="en-US" sz="2800" i="1">
                        <a:latin typeface="Cambria Math" charset="0"/>
                      </a:rPr>
                      <m:t>𝑈</m:t>
                    </m:r>
                    <m:r>
                      <a:rPr lang="en-US" sz="2800" i="1">
                        <a:latin typeface="Cambria Math" charset="0"/>
                      </a:rPr>
                      <m:t>,</m:t>
                    </m:r>
                    <m:r>
                      <a:rPr lang="en-US" sz="2800" i="1">
                        <a:latin typeface="Cambria Math" charset="0"/>
                      </a:rPr>
                      <m:t>𝑇</m:t>
                    </m:r>
                    <m:r>
                      <a:rPr lang="en-US" sz="2800" i="1">
                        <a:latin typeface="Cambria Math" charset="0"/>
                      </a:rPr>
                      <m:t>⟩</m:t>
                    </m:r>
                  </m:oMath>
                </a14:m>
                <a:endParaRPr lang="en-US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𝑄</m:t>
                    </m:r>
                    <m:r>
                      <a:rPr lang="en-US" sz="2400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𝐴𝑐𝑡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𝑈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</m:oMath>
                </a14:m>
                <a:endParaRPr lang="en-US" sz="240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𝑇</m:t>
                        </m:r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⊆</m:t>
                        </m:r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𝑈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×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i="1" dirty="0">
                    <a:latin typeface="Cambria Math" charset="0"/>
                    <a:ea typeface="Cambria Math" charset="0"/>
                    <a:cs typeface="Cambria Math" charset="0"/>
                  </a:rPr>
                  <a:t>;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𝑢</m:t>
                        </m:r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T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400" i="1" dirty="0">
                    <a:latin typeface="Cambria Math" charset="0"/>
                    <a:ea typeface="Cambria Math" charset="0"/>
                    <a:cs typeface="Cambria Math" charset="0"/>
                  </a:rPr>
                  <a:t>iff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𝜉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𝛿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, 0,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𝑢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en-US" sz="240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457200" lvl="1" indent="0">
                  <a:buNone/>
                </a:pPr>
                <a:endParaRPr lang="en-US" sz="240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:endParaRPr lang="en-US" sz="2400" dirty="0"/>
              </a:p>
              <a:p>
                <a:endParaRPr lang="en-US" sz="2800" dirty="0"/>
              </a:p>
              <a:p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402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29176</TotalTime>
  <Words>1783</Words>
  <Application>Microsoft Macintosh PowerPoint</Application>
  <PresentationFormat>Widescreen</PresentationFormat>
  <Paragraphs>198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 Math</vt:lpstr>
      <vt:lpstr>Office Theme</vt:lpstr>
      <vt:lpstr>Modeling Physics: Dynamical Systems</vt:lpstr>
      <vt:lpstr>Plan</vt:lpstr>
      <vt:lpstr>Example: The Lorentz Attractor</vt:lpstr>
      <vt:lpstr>Example: Epidemiology</vt:lpstr>
      <vt:lpstr>Introduction to dynamical systems</vt:lpstr>
      <vt:lpstr>Notions of solution</vt:lpstr>
      <vt:lpstr>Getting from point a to point b</vt:lpstr>
      <vt:lpstr>Modified notion</vt:lpstr>
      <vt:lpstr>Is PC input u(t) adequate for guaranteeing existence of solutions? </vt:lpstr>
      <vt:lpstr>Lipschitz continuity </vt:lpstr>
      <vt:lpstr>Existence and uniqueness of solutions</vt:lpstr>
      <vt:lpstr>Linear system and solutions</vt:lpstr>
      <vt:lpstr>Example: Simple model of an economy</vt:lpstr>
      <vt:lpstr>Linear time-varying systems</vt:lpstr>
      <vt:lpstr>Properties of linear dynamical systems</vt:lpstr>
      <vt:lpstr>Linear system and solutions</vt:lpstr>
      <vt:lpstr>Properties of Φ</vt:lpstr>
      <vt:lpstr>Solution of linear systems in Φ</vt:lpstr>
      <vt:lpstr>Linear time invariant system</vt:lpstr>
      <vt:lpstr>Example: Gradient flow</vt:lpstr>
      <vt:lpstr>Gradient flow convergence to an optimal model</vt:lpstr>
      <vt:lpstr>Grad flow converging but to an undesirable value</vt:lpstr>
      <vt:lpstr>Discrete time models / discrete transition systems</vt:lpstr>
      <vt:lpstr>Discretized or sampled-time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 584/CS 584: Embedded System Verification SpaceEx and Linear Hybrid Syatems</dc:title>
  <dc:creator>Sayan Mitras</dc:creator>
  <cp:lastModifiedBy>Mitra, Sayan</cp:lastModifiedBy>
  <cp:revision>145</cp:revision>
  <cp:lastPrinted>2017-10-12T04:42:23Z</cp:lastPrinted>
  <dcterms:created xsi:type="dcterms:W3CDTF">2012-10-11T16:05:22Z</dcterms:created>
  <dcterms:modified xsi:type="dcterms:W3CDTF">2025-10-02T13:56:52Z</dcterms:modified>
</cp:coreProperties>
</file>